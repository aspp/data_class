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4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9" r:id="rId18"/>
    <p:sldId id="295" r:id="rId19"/>
    <p:sldId id="305" r:id="rId20"/>
    <p:sldId id="304" r:id="rId21"/>
    <p:sldId id="307" r:id="rId22"/>
    <p:sldId id="306" r:id="rId23"/>
    <p:sldId id="271" r:id="rId24"/>
    <p:sldId id="272" r:id="rId25"/>
    <p:sldId id="273" r:id="rId26"/>
    <p:sldId id="308" r:id="rId27"/>
    <p:sldId id="298" r:id="rId28"/>
    <p:sldId id="300" r:id="rId29"/>
    <p:sldId id="301" r:id="rId30"/>
    <p:sldId id="309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11"/>
    <p:restoredTop sz="96928"/>
  </p:normalViewPr>
  <p:slideViewPr>
    <p:cSldViewPr snapToGrid="0">
      <p:cViewPr varScale="1">
        <p:scale>
          <a:sx n="143" d="100"/>
          <a:sy n="143" d="100"/>
        </p:scale>
        <p:origin x="224" y="1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4A78FA-EB70-4046-8053-A8E7106D3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78F2A-FF6F-47E4-0AD0-57BBE723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67244-04D0-5705-1980-C3A908B1F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B9D03-A8DA-E9A8-C60E-57DE56560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46E91-1E5A-0093-91D5-0AE0D27E532B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70186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D124DA-8B45-46ED-8FF7-7B07FDD172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19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16BA6E-A60C-4871-A3C5-C79D130FB3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2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F4CB17A-539F-4855-A420-10DB322BC5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1,2 examples and the notebook with the rules/ their implementation</a:t>
            </a:r>
          </a:p>
        </p:txBody>
      </p:sp>
      <p:sp>
        <p:nvSpPr>
          <p:cNvPr id="506" name="PlaceHolder 3"/>
          <p:cNvSpPr>
            <a:spLocks noGrp="1"/>
          </p:cNvSpPr>
          <p:nvPr>
            <p:ph type="sldNum" idx="12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4B47EF-D770-4DD4-9C07-2E5C2C896B1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v3.0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 dirty="0"/>
              <a:t>Data, v3.0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Big-O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7081BE80-10E3-4B16-AED9-B33E9CE07884}" type="slidenum">
              <a:rPr/>
              <a:t>7</a:t>
            </a:fld>
            <a:endParaRPr/>
          </a:p>
        </p:txBody>
      </p:sp>
      <p:sp>
        <p:nvSpPr>
          <p:cNvPr id="19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8</a:t>
            </a:fld>
            <a:endParaRPr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lang="en-CH" sz="2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800" cy="82296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9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10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11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12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5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13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19218EB-1F89-478F-A9A7-427F287ABEE7}" type="slidenum">
              <a:rPr/>
              <a:t>14</a:t>
            </a:fld>
            <a:endParaRPr/>
          </a:p>
        </p:txBody>
      </p:sp>
      <p:sp>
        <p:nvSpPr>
          <p:cNvPr id="300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3">
            <a:extLst>
              <a:ext uri="{FF2B5EF4-FFF2-40B4-BE49-F238E27FC236}">
                <a16:creationId xmlns:a16="http://schemas.microsoft.com/office/drawing/2014/main" id="{30E49534-FFE0-AA12-B2CA-98B0CA437EF9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15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CEE6-6AEE-65C6-AC1B-A6AA0DD3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4E41-DA06-61E3-FF26-1C856A246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1FB4E7-C103-0A5C-F0FB-14D961E78501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537DEC-75A8-B623-ED68-7533023AA1CC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100596-F114-255E-7491-FEB2D1DE7389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F5A3FA5-828E-0E06-7530-BEA6A27CFE4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B90235-C39E-91C1-37DB-BD40D80DA148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24A88FA-142A-7A5A-3907-08FF6142E0A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849838A-689D-8204-6ADD-75315708A98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D292E-0D48-AB19-665D-34F98462656F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DFD849-C76F-C777-9FBE-046DB5E18E69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sz="2000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20802-F607-60B3-CCFE-6780B5A1C051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87906E-F14D-8A8E-88D6-48428BDFDC33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4898AB-E8DE-D7A3-58CD-55CC74D938C9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E70758-8B48-1C1B-6C09-D97AE098FE5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A99B43D-6483-49AF-76F9-BE4B1172C876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FB01C8F7-EA62-E88A-B931-5EF3AD27E7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0DE17D6-603A-8E48-C5ED-68EFA7832020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D1F0-7440-74CC-077E-5299674320C5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8F2F3-6A59-438E-CB5C-09F31EACFD4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36406F2-8EB6-A013-988B-333ED391B238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3D9EF99-4AA6-3305-55FF-8E719506417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7320550-78EB-6D6C-1E66-A6411E7B6FC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F6864C-F920-C34C-EFC1-9EFEBD08DFBB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97AD0F-3B98-4305-4B8E-E441234FE3F8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413127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22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 dirty="0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D37EB49-E534-4ABA-1AF4-F29B45B27AE8}"/>
              </a:ext>
            </a:extLst>
          </p:cNvPr>
          <p:cNvSpPr/>
          <p:nvPr/>
        </p:nvSpPr>
        <p:spPr>
          <a:xfrm>
            <a:off x="8955590" y="5413591"/>
            <a:ext cx="2271860" cy="2158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ysClr val="windowText" lastClr="000000"/>
                </a:solidFill>
              </a:rPr>
              <a:t>Make this into a live coding thing?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23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24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v3.0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 dirty="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29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30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31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32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33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34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E55838D-478B-4A4B-820B-57616DA85180}" type="slidenum">
              <a:rPr/>
              <a:t>35</a:t>
            </a:fld>
            <a:endParaRPr/>
          </a:p>
        </p:txBody>
      </p:sp>
      <p:sp>
        <p:nvSpPr>
          <p:cNvPr id="38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B2F3B2C-D770-4D6C-AA49-8799C2E506E6}" type="slidenum">
              <a:rPr/>
              <a:t>36</a:t>
            </a:fld>
            <a:endParaRPr/>
          </a:p>
        </p:txBody>
      </p:sp>
      <p:sp>
        <p:nvSpPr>
          <p:cNvPr id="39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/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/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/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/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/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/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478CB6D-29F1-419E-B4D2-F900FCA74414}" type="slidenum">
              <a:rPr/>
              <a:t>37</a:t>
            </a:fld>
            <a:endParaRPr/>
          </a:p>
        </p:txBody>
      </p:sp>
      <p:sp>
        <p:nvSpPr>
          <p:cNvPr id="406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/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EBEE1ECC-DB65-448C-ADB7-30D1E75B8C45}" type="slidenum">
              <a:rPr/>
              <a:t>38</a:t>
            </a:fld>
            <a:endParaRPr/>
          </a:p>
        </p:txBody>
      </p:sp>
      <p:sp>
        <p:nvSpPr>
          <p:cNvPr id="40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/>
          <p:cNvPicPr/>
          <p:nvPr/>
        </p:nvPicPr>
        <p:blipFill>
          <a:blip r:embed="rId3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/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/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/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/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/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/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/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/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601691DC-6FE0-4B51-9618-21BB4EB54CCC}" type="slidenum">
              <a:rPr/>
              <a:t>39</a:t>
            </a:fld>
            <a:endParaRPr/>
          </a:p>
        </p:txBody>
      </p:sp>
      <p:sp>
        <p:nvSpPr>
          <p:cNvPr id="421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23"/>
          <p:cNvSpPr/>
          <p:nvPr/>
        </p:nvSpPr>
        <p:spPr>
          <a:xfrm>
            <a:off x="2218680" y="2315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5"/>
          <p:cNvSpPr/>
          <p:nvPr/>
        </p:nvSpPr>
        <p:spPr>
          <a:xfrm>
            <a:off x="7468920" y="231552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(4,) + (3,) -&gt; ERROR!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8" name="Picture 26"/>
          <p:cNvPicPr/>
          <p:nvPr/>
        </p:nvPicPr>
        <p:blipFill>
          <a:blip r:embed="rId3"/>
          <a:stretch/>
        </p:blipFill>
        <p:spPr>
          <a:xfrm>
            <a:off x="2322000" y="2624040"/>
            <a:ext cx="5257080" cy="921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41C600BD-DA0B-40B2-AFA0-DE7FA5659519}" type="slidenum">
              <a:rPr/>
              <a:t>40</a:t>
            </a:fld>
            <a:endParaRPr/>
          </a:p>
        </p:txBody>
      </p:sp>
      <p:sp>
        <p:nvSpPr>
          <p:cNvPr id="430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TextBox 5"/>
          <p:cNvSpPr/>
          <p:nvPr/>
        </p:nvSpPr>
        <p:spPr>
          <a:xfrm>
            <a:off x="7464240" y="401796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8"/>
          <p:cNvSpPr/>
          <p:nvPr/>
        </p:nvSpPr>
        <p:spPr>
          <a:xfrm>
            <a:off x="2218680" y="31197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Box 9"/>
          <p:cNvSpPr/>
          <p:nvPr/>
        </p:nvSpPr>
        <p:spPr>
          <a:xfrm>
            <a:off x="2016000" y="2668320"/>
            <a:ext cx="595044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 an extra dimension using np.newaxis to align them: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0"/>
          <p:cNvSpPr/>
          <p:nvPr/>
        </p:nvSpPr>
        <p:spPr>
          <a:xfrm>
            <a:off x="7464240" y="319572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(4, 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2"/>
          <p:cNvSpPr/>
          <p:nvPr/>
        </p:nvSpPr>
        <p:spPr>
          <a:xfrm>
            <a:off x="2218680" y="3447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7464240" y="350604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(1, 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218680" y="40179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b[np.newaxis, :]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6"/>
          <p:cNvSpPr/>
          <p:nvPr/>
        </p:nvSpPr>
        <p:spPr>
          <a:xfrm>
            <a:off x="2007720" y="4797000"/>
            <a:ext cx="3135600" cy="3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This also works (align right!):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7464240" y="5175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lang="en-US" sz="1800" b="1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3,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lang="en-US" sz="1800" b="0" u="none" strike="noStrik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2218680" y="5175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38482A-6963-4E5D-BAE3-9E7D13F699B7}" type="slidenum">
              <a:rPr/>
              <a:t>41</a:t>
            </a:fld>
            <a:endParaRPr/>
          </a:p>
        </p:txBody>
      </p:sp>
      <p:sp>
        <p:nvSpPr>
          <p:cNvPr id="44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Broadcasting summary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609300" y="1613160"/>
            <a:ext cx="10972440" cy="3985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Broadcasting creates a view, and is an O(1) operation that does not require extra memory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Rules of broadcasting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1: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the two arrays differ in their number of dimensions, the shape of the one with fewer dimensions is </a:t>
            </a:r>
            <a:r>
              <a:rPr lang="en-GB" sz="2400" b="0" i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padded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 with ones on its leading (left) side.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2: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the shape of the two arrays does not match in any dimension, the array with shape equal to 1 in that dimension is stretched to match the other shape.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1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3: </a:t>
            </a:r>
            <a:r>
              <a:rPr lang="en-GB" sz="2400" b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If in any dimension the sizes disagree and neither is equal to 1, an error is raised.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448" name="Group 12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449" name="Rectangle 13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450" name="TextBox 14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51" name="Graphic 15"/>
            <p:cNvPicPr/>
            <p:nvPr/>
          </p:nvPicPr>
          <p:blipFill>
            <a:blip r:embed="rId3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52" name="TextBox 16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exercises/numpy_broadcasting/</a:t>
              </a:r>
              <a:br>
                <a:rPr sz="1400"/>
              </a:br>
              <a:r>
                <a:rPr lang="en-GB" sz="1400" b="0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broadcasting.ipynb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42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v3.0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171694</TotalTime>
  <Words>4035</Words>
  <Application>Microsoft Macintosh PowerPoint</Application>
  <PresentationFormat>Widescreen</PresentationFormat>
  <Paragraphs>1088</Paragraphs>
  <Slides>44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Same data, different views</vt:lpstr>
      <vt:lpstr>Same data, different views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vs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  <vt:lpstr>Broadcasting matching rule: dimensions are aligned to the right and match if they are equal, or equal to 1</vt:lpstr>
      <vt:lpstr>You can always add a new dimensions to make things match</vt:lpstr>
      <vt:lpstr>You can always add a new dimensions to make things match</vt:lpstr>
      <vt:lpstr>Broadcasting summary</vt:lpstr>
      <vt:lpstr>Up next: Tabular Data</vt:lpstr>
      <vt:lpstr>PowerPoint Presentation</vt:lpstr>
      <vt:lpstr>Fancy indexing in NumPy – reference slide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1730</cp:revision>
  <cp:lastPrinted>2017-08-28T05:46:03Z</cp:lastPrinted>
  <dcterms:created xsi:type="dcterms:W3CDTF">2010-10-01T16:09:12Z</dcterms:created>
  <dcterms:modified xsi:type="dcterms:W3CDTF">2026-07-15T15:08:08Z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