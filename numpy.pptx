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4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89" r:id="rId18"/>
    <p:sldId id="295" r:id="rId19"/>
    <p:sldId id="305" r:id="rId20"/>
    <p:sldId id="304" r:id="rId21"/>
    <p:sldId id="303" r:id="rId22"/>
    <p:sldId id="302" r:id="rId23"/>
    <p:sldId id="298" r:id="rId24"/>
    <p:sldId id="300" r:id="rId25"/>
    <p:sldId id="301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08"/>
    <p:restoredTop sz="94677"/>
  </p:normalViewPr>
  <p:slideViewPr>
    <p:cSldViewPr snapToGrid="0">
      <p:cViewPr varScale="1">
        <p:scale>
          <a:sx n="197" d="100"/>
          <a:sy n="197" d="100"/>
        </p:scale>
        <p:origin x="22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sldNum" idx="114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4A78FA-EB70-4046-8053-A8E7106D3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Notes Placeholder 5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7F861-26AA-80E1-FBBF-7EC29452C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67B4A1-0E2D-F216-F636-04D93C276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9B3230-9405-E188-C91D-BC9F6579C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82AD8-905F-B632-930C-B66692CC399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0918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21A2-A5FE-EBFC-A9D3-30F5FC216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D1D60D-BF87-13E2-8AAD-3B7923E5E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A61F14-CA0C-3BFF-A543-A6FDAA099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480C5C-07EB-BC69-00F2-0E5D9E9CFCA7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11507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751418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86417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86483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118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D124DA-8B45-46ED-8FF7-7B07FDD172F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119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16BA6E-A60C-4871-A3C5-C79D130FB3A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12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F4CB17A-539F-4855-A420-10DB322BC59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1,2 examples and the notebook with the rules/ their implementation</a:t>
            </a:r>
          </a:p>
        </p:txBody>
      </p:sp>
      <p:sp>
        <p:nvSpPr>
          <p:cNvPr id="506" name="PlaceHolder 3"/>
          <p:cNvSpPr>
            <a:spLocks noGrp="1"/>
          </p:cNvSpPr>
          <p:nvPr>
            <p:ph type="sldNum" idx="12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4B47EF-D770-4DD4-9C07-2E5C2C896B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v3.0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The machine-nativeness of the data structure means that common operations and algorithms can be implemented with less per-element overhead, making them faster than a Python list-of-lists</a:t>
            </a:r>
            <a:br>
              <a:rPr sz="2800"/>
            </a:b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Big-O complexity is the same. E.g., square matrix multiplication is still O(n³)</a:t>
            </a:r>
            <a:r>
              <a:rPr lang="en-CH" sz="2400" b="0" u="none" strike="noStrike" baseline="30000">
                <a:solidFill>
                  <a:srgbClr val="000000"/>
                </a:solidFill>
                <a:effectLst/>
                <a:uFillTx/>
                <a:latin typeface="Calibri"/>
              </a:rPr>
              <a:t>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OpenBLAS that implements a O(n**3) algorithm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/>
          <p:cNvGraphicFramePr/>
          <p:nvPr/>
        </p:nvGraphicFramePr>
        <p:xfrm>
          <a:off x="124560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15"/>
          <p:cNvGraphicFramePr/>
          <p:nvPr/>
        </p:nvGraphicFramePr>
        <p:xfrm>
          <a:off x="8210880" y="338400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9" name="TextBox 16"/>
          <p:cNvSpPr/>
          <p:nvPr/>
        </p:nvSpPr>
        <p:spPr>
          <a:xfrm>
            <a:off x="8148960" y="297756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riangle 26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9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" name="Table 23"/>
          <p:cNvGraphicFramePr/>
          <p:nvPr/>
        </p:nvGraphicFramePr>
        <p:xfrm>
          <a:off x="124092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7081BE80-10E3-4B16-AED9-B33E9CE07884}" type="slidenum">
              <a:rPr/>
              <a:t>7</a:t>
            </a:fld>
            <a:endParaRPr/>
          </a:p>
        </p:txBody>
      </p:sp>
      <p:sp>
        <p:nvSpPr>
          <p:cNvPr id="19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96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7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7491960" y="381492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riangle 20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20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3" name="Table 22"/>
          <p:cNvGraphicFramePr/>
          <p:nvPr/>
        </p:nvGraphicFramePr>
        <p:xfrm>
          <a:off x="7597080" y="4264560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8</a:t>
            </a:fld>
            <a:endParaRPr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375240" y="18176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/>
        </p:nvGraphicFramePr>
        <p:xfrm>
          <a:off x="6588720" y="3611160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/>
        </p:nvGraphicFramePr>
        <p:xfrm>
          <a:off x="6588720" y="4389120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/>
        </p:nvGraphicFramePr>
        <p:xfrm>
          <a:off x="6588720" y="2163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/>
        </p:nvGraphicFramePr>
        <p:xfrm>
          <a:off x="767520" y="1214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15960" y="784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67520" y="33022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8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4172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21870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8136000" y="270000"/>
            <a:ext cx="3204000" cy="1614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NumPy can execute a command by just changing the metadata, it does.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result is a </a:t>
            </a:r>
            <a:r>
              <a:rPr lang="en-CH" sz="2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view of the same data in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/>
        </p:nvGraphicFramePr>
        <p:xfrm>
          <a:off x="3859560" y="33321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81764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/>
        </p:nvGraphicFramePr>
        <p:xfrm>
          <a:off x="3859560" y="44773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/>
        </p:nvGraphicFramePr>
        <p:xfrm>
          <a:off x="3859560" y="21873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5324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x.reshape((2, 6))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/>
        </p:nvGraphicFramePr>
        <p:xfrm>
          <a:off x="3859560" y="56221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/>
        </p:nvGraphicFramePr>
        <p:xfrm>
          <a:off x="6588720" y="5738040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9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10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29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30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11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12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4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5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3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13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81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7" name="TextBox 13"/>
          <p:cNvSpPr/>
          <p:nvPr/>
        </p:nvSpPr>
        <p:spPr>
          <a:xfrm>
            <a:off x="987480" y="4621320"/>
            <a:ext cx="323568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2, 3], [1, 2, 1]]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vs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19218EB-1F89-478F-A9A7-427F287ABEE7}" type="slidenum">
              <a:rPr/>
              <a:t>14</a:t>
            </a:fld>
            <a:endParaRPr/>
          </a:p>
        </p:txBody>
      </p:sp>
      <p:sp>
        <p:nvSpPr>
          <p:cNvPr id="300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1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2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3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8" name="TextBox 15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???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1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31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31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8" name="TextBox 14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25"/>
          <p:cNvSpPr/>
          <p:nvPr/>
        </p:nvSpPr>
        <p:spPr>
          <a:xfrm>
            <a:off x="987480" y="4621320"/>
            <a:ext cx="323568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2, 3], [1, 2, 1]]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6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15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numpy_view_or_copy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10FE82C-7F45-8055-17B4-F2A1E8FA5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485" y="1627584"/>
            <a:ext cx="6563977" cy="4922983"/>
          </a:xfrm>
          <a:prstGeom prst="rect">
            <a:avLst/>
          </a:prstGeom>
        </p:spPr>
      </p:pic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an animal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EE74803-A2FD-1F6A-4B9B-E4B5A6D207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55E40F2-416D-B4B7-CDE9-4B5537ECCED0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3EB8ED6-90A3-F1C1-8B65-EC80A554B7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83EA84C-F7F8-1598-8E0B-69FF1ABEDE8F}"/>
              </a:ext>
            </a:extLst>
          </p:cNvPr>
          <p:cNvGrpSpPr/>
          <p:nvPr/>
        </p:nvGrpSpPr>
        <p:grpSpPr>
          <a:xfrm>
            <a:off x="9449785" y="4499111"/>
            <a:ext cx="1544012" cy="484418"/>
            <a:chOff x="9129274" y="4499111"/>
            <a:chExt cx="1544012" cy="48441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1D9CAD7-ED50-0B73-A09F-0C3A99DE98D8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B1C27558-1F54-AC29-8A84-BA471FECB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FE60FEE1-D941-533D-512D-E67BB7DFC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C1079ED-DBD7-8CEE-30E1-D736217D39E1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617A969-20AC-40B4-99A7-D6B203003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A63C7BA-E96F-D45C-FD81-A012183536D5}"/>
              </a:ext>
            </a:extLst>
          </p:cNvPr>
          <p:cNvGrpSpPr/>
          <p:nvPr/>
        </p:nvGrpSpPr>
        <p:grpSpPr>
          <a:xfrm>
            <a:off x="9449785" y="4499111"/>
            <a:ext cx="1544012" cy="484418"/>
            <a:chOff x="9129274" y="4499111"/>
            <a:chExt cx="1544012" cy="48441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BC9CCFB-66A0-42D8-FEEF-0F9821D3F09F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13D5AA26-A4BA-ACB0-7CD0-80DF772FE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3927CD-804B-17FB-1120-8D384E753935}"/>
              </a:ext>
            </a:extLst>
          </p:cNvPr>
          <p:cNvGrpSpPr/>
          <p:nvPr/>
        </p:nvGrpSpPr>
        <p:grpSpPr>
          <a:xfrm>
            <a:off x="9473532" y="5173765"/>
            <a:ext cx="1544012" cy="484418"/>
            <a:chOff x="9129274" y="4499111"/>
            <a:chExt cx="1544012" cy="484418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C21225A-B987-054B-8F90-BA96FB6D1B40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2D4B94FC-83B0-5968-75FB-F732D4AA1D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EE1F49A-65D8-F5AA-3C16-A0892426F3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10C618D-91AA-4824-41E6-DC7AC4C5A5B8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21D632A-0BE5-D39E-42A5-F0A1409179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EFE660C-66F3-A61C-D197-0FF734759D20}"/>
              </a:ext>
            </a:extLst>
          </p:cNvPr>
          <p:cNvSpPr txBox="1"/>
          <p:nvPr/>
        </p:nvSpPr>
        <p:spPr>
          <a:xfrm>
            <a:off x="8729430" y="5831545"/>
            <a:ext cx="324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  "], ["  "]]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8DCC277-9861-38DA-3A8D-B553FF4BA59A}"/>
              </a:ext>
            </a:extLst>
          </p:cNvPr>
          <p:cNvGrpSpPr/>
          <p:nvPr/>
        </p:nvGrpSpPr>
        <p:grpSpPr>
          <a:xfrm>
            <a:off x="9449785" y="4499111"/>
            <a:ext cx="1544012" cy="484418"/>
            <a:chOff x="9129274" y="4499111"/>
            <a:chExt cx="1544012" cy="48441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D269C41-4DE7-0190-24DF-9BC3091590C7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CD1F62EA-B84D-D804-8FCE-DADCC6C60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007216A2-1EB2-3ADC-074B-E5EAD2A916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9637055" y="5831545"/>
            <a:ext cx="410588" cy="461665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6179BA2-4C69-C751-18BD-1151E05C72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10973435" y="5840511"/>
            <a:ext cx="410588" cy="46166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D2EED4A-48A8-27C8-AC03-F4A309DD87B5}"/>
              </a:ext>
            </a:extLst>
          </p:cNvPr>
          <p:cNvGrpSpPr/>
          <p:nvPr/>
        </p:nvGrpSpPr>
        <p:grpSpPr>
          <a:xfrm>
            <a:off x="9473532" y="5173765"/>
            <a:ext cx="1544012" cy="484418"/>
            <a:chOff x="9129274" y="4499111"/>
            <a:chExt cx="1544012" cy="48441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25586D5-BB09-02AE-B995-F24F0127137D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E64C63A-8961-01ED-A672-1BFF303E67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562FA-4287-A3C1-F3D3-71B784529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09696-6A80-EEE4-1D7C-B0EE98759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A76FC2D-397C-E4A4-E37D-1D8165AB786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5F6F511-55AD-6601-1B2C-638FDE6A9E4C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05D79A-6F1D-2BE9-F047-1B0B5157B4F7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2D8F28C-A36C-1D47-7F5F-92B76570A9AA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E2AD926-3465-F917-46B8-B499DF9436FB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AA0CB28-B778-E006-A6FF-9BF0EC587444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0DFBBD2-A11D-F798-29F7-7B84C8B02580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28AC63-460D-D367-0575-E178C4F7C757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28F733-4682-72CD-30AF-DD469DE5B412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shelf[1].pop()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278649-739B-79A7-BDF1-8BFDFE971759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DF7168D-2D3E-AC44-2836-BF22F90821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52EE04D-EF5D-42BC-6477-16B91076B69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3F2F47-42CC-D240-DDF0-23DB30B270B2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2BEF692-7CA8-615E-EC50-6DCD145BCAA1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C6D28E1-835C-7864-C180-295DD5FE2FB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5A14098-2F56-FC11-8120-7A379FCB17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F6ECA0F-F272-FC1B-A14A-73A4EAA0EE9C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12091C43-5BF0-2831-927E-FCAA6057231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D97D91A-6F15-D905-763A-7BE03EFBC6EC}"/>
              </a:ext>
            </a:extLst>
          </p:cNvPr>
          <p:cNvSpPr txBox="1"/>
          <p:nvPr/>
        </p:nvSpPr>
        <p:spPr>
          <a:xfrm>
            <a:off x="8729430" y="5831545"/>
            <a:ext cx="324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  "], ["  "]]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CC46608-CD4F-7274-6E47-3790C7045D42}"/>
              </a:ext>
            </a:extLst>
          </p:cNvPr>
          <p:cNvGrpSpPr/>
          <p:nvPr/>
        </p:nvGrpSpPr>
        <p:grpSpPr>
          <a:xfrm>
            <a:off x="9449785" y="4499111"/>
            <a:ext cx="1544012" cy="484418"/>
            <a:chOff x="9129274" y="4499111"/>
            <a:chExt cx="1544012" cy="48441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7B6993B-A2B2-CDC4-246C-86BB67D5C3E9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BBE0D937-D186-6E84-5E9D-4618ED54F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A3A32611-F8E9-C601-CD0E-7DB6FC82EF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9637055" y="5831545"/>
            <a:ext cx="410588" cy="461665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12FCF98D-51C9-7F65-24ED-88E2EDE21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10973435" y="5840511"/>
            <a:ext cx="410588" cy="461665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27D5FA6-647A-9557-9CA3-BFA3AA5E7549}"/>
              </a:ext>
            </a:extLst>
          </p:cNvPr>
          <p:cNvGrpSpPr/>
          <p:nvPr/>
        </p:nvGrpSpPr>
        <p:grpSpPr>
          <a:xfrm>
            <a:off x="9473532" y="5173765"/>
            <a:ext cx="1544012" cy="484418"/>
            <a:chOff x="9129274" y="4499111"/>
            <a:chExt cx="1544012" cy="48441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F2F5636-02C5-9A89-79DF-CA4FB7485F9D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EEF57E-5B85-CE95-6A29-820AD14AF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5E8ACBF-0190-91AE-B916-36F4D4CA2AD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60A8B82-8A34-417D-B1C3-C15A1CF9869E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E684A78-9FF7-5E5B-FED9-24BE1B043365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060366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933B-B6E9-F101-CFCD-75819FDC3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A3025-12A7-9D85-3478-3EB988656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94F7B4E-5F5F-C92D-5987-7F24999FC1EC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59D3A78-0E52-07E8-55E8-32E8812BC13A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470B731-37E6-E3FA-E25F-290B4D34C6A0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6E61FF2-3F6B-5829-FA21-1BF661C2C94D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3F637D-789C-9DD2-9DAB-1BC8FB83517B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E9570C9-B7AB-16A0-A1A6-177CCE0A68B7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9A6F5C-B4F1-9076-287B-0B7C5F6659D3}"/>
              </a:ext>
            </a:extLst>
          </p:cNvPr>
          <p:cNvSpPr txBox="1"/>
          <p:nvPr/>
        </p:nvSpPr>
        <p:spPr>
          <a:xfrm>
            <a:off x="9709671" y="4521863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6D04A6-EC32-9CEF-3E98-2E504B920709}"/>
              </a:ext>
            </a:extLst>
          </p:cNvPr>
          <p:cNvSpPr txBox="1"/>
          <p:nvPr/>
        </p:nvSpPr>
        <p:spPr>
          <a:xfrm>
            <a:off x="9129274" y="594202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 ], [ ]]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5BEECE-43A6-D588-9687-EDB7DF52EB3F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F7D648-E18A-8DD2-A2D9-33FD465CBC13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851460-F1EC-AE78-9319-BAA29FCF8242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shelf[1].pop()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B0F0C4-D560-0CDD-4031-A9D0EB6217B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E52D46D-8682-7EFE-97DF-7E595B3766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20C67D67-DA55-3EC4-8A69-4B88070FCF9B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7CF9FA-9EEB-94B2-C896-F1EB214C0154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A56090-B659-7022-A050-A74A47731DF4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FDE6B6-65E6-6EB6-4751-A3C6BB01DCA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06CADE3-836E-2587-94B1-5322BD62A2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C3DE332-989D-B294-CB16-551BC98EDB80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61B05-5729-3785-F2A6-F7B2EB85EE47}"/>
              </a:ext>
            </a:extLst>
          </p:cNvPr>
          <p:cNvSpPr txBox="1"/>
          <p:nvPr/>
        </p:nvSpPr>
        <p:spPr>
          <a:xfrm>
            <a:off x="9709670" y="5196518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9539D51-10F1-41DC-E764-3B468A8652BC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09E4AA9-67F9-A8EC-F21F-C86AF8EC344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293E3B-2B11-21D3-D543-33D42A7C34BE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902719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Function parameters are also references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3CCA5664-E593-C327-88C3-0AE8B6B50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85525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Function parameters are also references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C684B7A-981E-F0A2-F962-E1D1759E25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67430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Function parameters are also references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FECFB7F-503D-9D21-A179-3E278DF4CD5A}"/>
              </a:ext>
            </a:extLst>
          </p:cNvPr>
          <p:cNvSpPr/>
          <p:nvPr/>
        </p:nvSpPr>
        <p:spPr>
          <a:xfrm>
            <a:off x="9379894" y="282305"/>
            <a:ext cx="2271860" cy="2158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ysClr val="windowText" lastClr="000000"/>
                </a:solidFill>
              </a:rPr>
              <a:t>Do we need an exercise?</a:t>
            </a: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73935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dt" idx="9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/>
          <p:nvPr/>
        </p:nvCxnSpPr>
        <p:spPr>
          <a:xfrm rot="10800000">
            <a:off x="5555520" y="1449000"/>
            <a:ext cx="4761000" cy="1575720"/>
          </a:xfrm>
          <a:prstGeom prst="curvedConnector3">
            <a:avLst>
              <a:gd name="adj1" fmla="val 24992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71F3FF4-E227-4FEF-97CF-40A32775034B}" type="slidenum">
              <a:rPr/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26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46" name="Curved Connector 15"/>
          <p:cNvCxnSpPr/>
          <p:nvPr/>
        </p:nvCxnSpPr>
        <p:spPr>
          <a:xfrm rot="10800000">
            <a:off x="5555520" y="1449000"/>
            <a:ext cx="4761000" cy="1575720"/>
          </a:xfrm>
          <a:prstGeom prst="curvedConnector3">
            <a:avLst>
              <a:gd name="adj1" fmla="val 24992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27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54" name="Curved Connector 15"/>
          <p:cNvCxnSpPr/>
          <p:nvPr/>
        </p:nvCxnSpPr>
        <p:spPr>
          <a:xfrm rot="10800000">
            <a:off x="5555520" y="1449000"/>
            <a:ext cx="4761000" cy="1575720"/>
          </a:xfrm>
          <a:prstGeom prst="curvedConnector3">
            <a:avLst>
              <a:gd name="adj1" fmla="val 24992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28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29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30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31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32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E55838D-478B-4A4B-820B-57616DA85180}" type="slidenum">
              <a:rPr/>
              <a:t>33</a:t>
            </a:fld>
            <a:endParaRPr/>
          </a:p>
        </p:txBody>
      </p:sp>
      <p:sp>
        <p:nvSpPr>
          <p:cNvPr id="38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/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/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/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/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/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/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/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/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B2F3B2C-D770-4D6C-AA49-8799C2E506E6}" type="slidenum">
              <a:rPr/>
              <a:t>34</a:t>
            </a:fld>
            <a:endParaRPr/>
          </a:p>
        </p:txBody>
      </p:sp>
      <p:sp>
        <p:nvSpPr>
          <p:cNvPr id="39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/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/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/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/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/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/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/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/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/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/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/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/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478CB6D-29F1-419E-B4D2-F900FCA74414}" type="slidenum">
              <a:rPr/>
              <a:t>35</a:t>
            </a:fld>
            <a:endParaRPr/>
          </a:p>
        </p:txBody>
      </p:sp>
      <p:sp>
        <p:nvSpPr>
          <p:cNvPr id="406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/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Broadcasting matching rule: dimensions are aligned to the right and match if they are equal, or equal to 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EBEE1ECC-DB65-448C-ADB7-30D1E75B8C45}" type="slidenum">
              <a:rPr/>
              <a:t>36</a:t>
            </a:fld>
            <a:endParaRPr/>
          </a:p>
        </p:txBody>
      </p:sp>
      <p:sp>
        <p:nvSpPr>
          <p:cNvPr id="40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0" name="Picture 6"/>
          <p:cNvPicPr/>
          <p:nvPr/>
        </p:nvPicPr>
        <p:blipFill>
          <a:blip r:embed="rId3"/>
          <a:stretch/>
        </p:blipFill>
        <p:spPr>
          <a:xfrm>
            <a:off x="1532160" y="1715400"/>
            <a:ext cx="638856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5"/>
          <p:cNvSpPr/>
          <p:nvPr/>
        </p:nvSpPr>
        <p:spPr>
          <a:xfrm>
            <a:off x="8400240" y="4797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2"/>
          <p:cNvSpPr/>
          <p:nvPr/>
        </p:nvSpPr>
        <p:spPr>
          <a:xfrm>
            <a:off x="1893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3"/>
          <p:cNvSpPr/>
          <p:nvPr/>
        </p:nvSpPr>
        <p:spPr>
          <a:xfrm>
            <a:off x="3189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4"/>
          <p:cNvSpPr/>
          <p:nvPr/>
        </p:nvSpPr>
        <p:spPr>
          <a:xfrm>
            <a:off x="1915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5"/>
          <p:cNvSpPr/>
          <p:nvPr/>
        </p:nvSpPr>
        <p:spPr>
          <a:xfrm>
            <a:off x="3211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16"/>
          <p:cNvSpPr/>
          <p:nvPr/>
        </p:nvSpPr>
        <p:spPr>
          <a:xfrm>
            <a:off x="1915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7"/>
          <p:cNvSpPr/>
          <p:nvPr/>
        </p:nvSpPr>
        <p:spPr>
          <a:xfrm>
            <a:off x="3211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9"/>
          <p:cNvSpPr/>
          <p:nvPr/>
        </p:nvSpPr>
        <p:spPr>
          <a:xfrm>
            <a:off x="8374320" y="2223720"/>
            <a:ext cx="2424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 + (4, 3) -&gt; (4,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21"/>
          <p:cNvSpPr/>
          <p:nvPr/>
        </p:nvSpPr>
        <p:spPr>
          <a:xfrm>
            <a:off x="8400240" y="3503880"/>
            <a:ext cx="2398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You can always add a new dimensions to make things match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601691DC-6FE0-4B51-9618-21BB4EB54CCC}" type="slidenum">
              <a:rPr/>
              <a:t>37</a:t>
            </a:fld>
            <a:endParaRPr/>
          </a:p>
        </p:txBody>
      </p:sp>
      <p:sp>
        <p:nvSpPr>
          <p:cNvPr id="421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TextBox 11"/>
          <p:cNvSpPr/>
          <p:nvPr/>
        </p:nvSpPr>
        <p:spPr>
          <a:xfrm>
            <a:off x="2218680" y="1598040"/>
            <a:ext cx="388116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= np.array([0, 10, 20, 30])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18"/>
          <p:cNvSpPr/>
          <p:nvPr/>
        </p:nvSpPr>
        <p:spPr>
          <a:xfrm>
            <a:off x="2218680" y="1883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 = np.array([0, 2, 3])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20"/>
          <p:cNvSpPr/>
          <p:nvPr/>
        </p:nvSpPr>
        <p:spPr>
          <a:xfrm>
            <a:off x="7468920" y="159804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(4,)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22"/>
          <p:cNvSpPr/>
          <p:nvPr/>
        </p:nvSpPr>
        <p:spPr>
          <a:xfrm>
            <a:off x="7468920" y="190800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(3,)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Box 23"/>
          <p:cNvSpPr/>
          <p:nvPr/>
        </p:nvSpPr>
        <p:spPr>
          <a:xfrm>
            <a:off x="2218680" y="2315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+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25"/>
          <p:cNvSpPr/>
          <p:nvPr/>
        </p:nvSpPr>
        <p:spPr>
          <a:xfrm>
            <a:off x="7468920" y="231552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(4,) + (3,) -&gt; ERROR!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8" name="Picture 26"/>
          <p:cNvPicPr/>
          <p:nvPr/>
        </p:nvPicPr>
        <p:blipFill>
          <a:blip r:embed="rId3"/>
          <a:stretch/>
        </p:blipFill>
        <p:spPr>
          <a:xfrm>
            <a:off x="2322000" y="2624040"/>
            <a:ext cx="5257080" cy="921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You can always add a new dimensions to make things match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41C600BD-DA0B-40B2-AFA0-DE7FA5659519}" type="slidenum">
              <a:rPr/>
              <a:t>38</a:t>
            </a:fld>
            <a:endParaRPr/>
          </a:p>
        </p:txBody>
      </p:sp>
      <p:sp>
        <p:nvSpPr>
          <p:cNvPr id="430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TextBox 5"/>
          <p:cNvSpPr/>
          <p:nvPr/>
        </p:nvSpPr>
        <p:spPr>
          <a:xfrm>
            <a:off x="7464240" y="401796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11"/>
          <p:cNvSpPr/>
          <p:nvPr/>
        </p:nvSpPr>
        <p:spPr>
          <a:xfrm>
            <a:off x="2218680" y="1598040"/>
            <a:ext cx="388116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= np.array([0, 10, 20, 30])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18"/>
          <p:cNvSpPr/>
          <p:nvPr/>
        </p:nvSpPr>
        <p:spPr>
          <a:xfrm>
            <a:off x="2218680" y="1883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 = np.array([0, 2, 3])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20"/>
          <p:cNvSpPr/>
          <p:nvPr/>
        </p:nvSpPr>
        <p:spPr>
          <a:xfrm>
            <a:off x="7468920" y="159804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(4,)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22"/>
          <p:cNvSpPr/>
          <p:nvPr/>
        </p:nvSpPr>
        <p:spPr>
          <a:xfrm>
            <a:off x="7468920" y="190800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(3,)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28"/>
          <p:cNvSpPr/>
          <p:nvPr/>
        </p:nvSpPr>
        <p:spPr>
          <a:xfrm>
            <a:off x="2218680" y="311976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Box 9"/>
          <p:cNvSpPr/>
          <p:nvPr/>
        </p:nvSpPr>
        <p:spPr>
          <a:xfrm>
            <a:off x="2016000" y="2668320"/>
            <a:ext cx="5950440" cy="3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Add an extra dimension using np.newaxis to align them: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10"/>
          <p:cNvSpPr/>
          <p:nvPr/>
        </p:nvSpPr>
        <p:spPr>
          <a:xfrm>
            <a:off x="7464240" y="3195720"/>
            <a:ext cx="18043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2D shape: (4, 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12"/>
          <p:cNvSpPr/>
          <p:nvPr/>
        </p:nvSpPr>
        <p:spPr>
          <a:xfrm>
            <a:off x="2218680" y="344700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b[np.newaxis, :]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13"/>
          <p:cNvSpPr/>
          <p:nvPr/>
        </p:nvSpPr>
        <p:spPr>
          <a:xfrm>
            <a:off x="7464240" y="3506040"/>
            <a:ext cx="18043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2D shape: (1,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15"/>
          <p:cNvSpPr/>
          <p:nvPr/>
        </p:nvSpPr>
        <p:spPr>
          <a:xfrm>
            <a:off x="2218680" y="401796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 + b[np.newaxis, :]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6"/>
          <p:cNvSpPr/>
          <p:nvPr/>
        </p:nvSpPr>
        <p:spPr>
          <a:xfrm>
            <a:off x="2007720" y="4797000"/>
            <a:ext cx="3135600" cy="3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This also works (align right!):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7"/>
          <p:cNvSpPr/>
          <p:nvPr/>
        </p:nvSpPr>
        <p:spPr>
          <a:xfrm>
            <a:off x="7464240" y="5175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3,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8"/>
          <p:cNvSpPr/>
          <p:nvPr/>
        </p:nvSpPr>
        <p:spPr>
          <a:xfrm>
            <a:off x="2218680" y="517500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 +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538482A-6963-4E5D-BAE3-9E7D13F699B7}" type="slidenum">
              <a:rPr/>
              <a:t>39</a:t>
            </a:fld>
            <a:endParaRPr/>
          </a:p>
        </p:txBody>
      </p:sp>
      <p:sp>
        <p:nvSpPr>
          <p:cNvPr id="44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Broadcasting summary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Broadcasting creates a view, and is an O(1) operation that does not require extra memory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Rules of broadcasting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1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1: </a:t>
            </a:r>
            <a:r>
              <a:rPr lang="en-GB" sz="24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If the two arrays differ in their number of dimensions, the shape of the one with fewer dimensions is </a:t>
            </a:r>
            <a:r>
              <a:rPr lang="en-GB" sz="2400" b="0" i="1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padded</a:t>
            </a:r>
            <a:r>
              <a:rPr lang="en-GB" sz="24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 with ones on its leading (left) side.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1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2: </a:t>
            </a:r>
            <a:r>
              <a:rPr lang="en-GB" sz="24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If the shape of the two arrays does not match in any dimension, the array with shape equal to 1 in that dimension is stretched to match the other shape.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1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3: </a:t>
            </a:r>
            <a:r>
              <a:rPr lang="en-GB" sz="24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If in any dimension the sizes disagree and neither is equal to 1, an error is raised.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448" name="Group 12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449" name="Rectangle 13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450" name="TextBox 14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51" name="Graphic 15"/>
            <p:cNvPicPr/>
            <p:nvPr/>
          </p:nvPicPr>
          <p:blipFill>
            <a:blip r:embed="rId3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52" name="TextBox 16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exercises/numpy_broadcasting/</a:t>
              </a:r>
              <a:br>
                <a:rPr sz="1400"/>
              </a:br>
              <a:r>
                <a:rPr lang="en-GB" sz="1400" b="0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broadcasting.ipynb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40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t>41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42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170125</TotalTime>
  <Words>3892</Words>
  <Application>Microsoft Macintosh PowerPoint</Application>
  <PresentationFormat>Widescreen</PresentationFormat>
  <Paragraphs>1059</Paragraphs>
  <Slides>42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55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Same data, different views</vt:lpstr>
      <vt:lpstr>Same data, different views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vs copies in indexing operations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Function parameters are also references</vt:lpstr>
      <vt:lpstr>Function parameters are also references</vt:lpstr>
      <vt:lpstr>Function parameters are also references</vt:lpstr>
      <vt:lpstr>Changing one view changes them all</vt:lpstr>
      <vt:lpstr>Changing one view changes them all</vt:lpstr>
      <vt:lpstr>Changing one view changes them all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  <vt:lpstr>Broadcasting matching rule: dimensions are aligned to the right and match if they are equal, or equal to 1</vt:lpstr>
      <vt:lpstr>You can always add a new dimensions to make things match</vt:lpstr>
      <vt:lpstr>You can always add a new dimensions to make things match</vt:lpstr>
      <vt:lpstr>Broadcasting summary</vt:lpstr>
      <vt:lpstr>Up next: Tabular Data</vt:lpstr>
      <vt:lpstr>PowerPoint Presentation</vt:lpstr>
      <vt:lpstr>Fancy indexing in NumPy – reference slide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1664</cp:revision>
  <cp:lastPrinted>2017-08-28T05:46:03Z</cp:lastPrinted>
  <dcterms:created xsi:type="dcterms:W3CDTF">2010-10-01T16:09:12Z</dcterms:created>
  <dcterms:modified xsi:type="dcterms:W3CDTF">2026-07-08T10:55:22Z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