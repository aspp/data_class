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53"/>
  </p:notesMasterIdLst>
  <p:sldIdLst>
    <p:sldId id="256" r:id="rId3"/>
    <p:sldId id="257" r:id="rId4"/>
    <p:sldId id="258" r:id="rId5"/>
    <p:sldId id="259" r:id="rId6"/>
    <p:sldId id="260" r:id="rId7"/>
    <p:sldId id="322" r:id="rId8"/>
    <p:sldId id="323" r:id="rId9"/>
    <p:sldId id="317" r:id="rId10"/>
    <p:sldId id="319" r:id="rId11"/>
    <p:sldId id="320" r:id="rId12"/>
    <p:sldId id="326" r:id="rId13"/>
    <p:sldId id="318" r:id="rId14"/>
    <p:sldId id="321" r:id="rId15"/>
    <p:sldId id="327" r:id="rId16"/>
    <p:sldId id="263" r:id="rId17"/>
    <p:sldId id="264" r:id="rId18"/>
    <p:sldId id="265" r:id="rId19"/>
    <p:sldId id="266" r:id="rId20"/>
    <p:sldId id="267" r:id="rId21"/>
    <p:sldId id="324" r:id="rId22"/>
    <p:sldId id="325" r:id="rId23"/>
    <p:sldId id="268" r:id="rId24"/>
    <p:sldId id="270" r:id="rId25"/>
    <p:sldId id="289" r:id="rId26"/>
    <p:sldId id="295" r:id="rId27"/>
    <p:sldId id="305" r:id="rId28"/>
    <p:sldId id="304" r:id="rId29"/>
    <p:sldId id="310" r:id="rId30"/>
    <p:sldId id="306" r:id="rId31"/>
    <p:sldId id="311" r:id="rId32"/>
    <p:sldId id="271" r:id="rId33"/>
    <p:sldId id="272" r:id="rId34"/>
    <p:sldId id="273" r:id="rId35"/>
    <p:sldId id="308" r:id="rId36"/>
    <p:sldId id="298" r:id="rId37"/>
    <p:sldId id="300" r:id="rId38"/>
    <p:sldId id="312" r:id="rId39"/>
    <p:sldId id="301" r:id="rId40"/>
    <p:sldId id="309" r:id="rId41"/>
    <p:sldId id="274" r:id="rId42"/>
    <p:sldId id="275" r:id="rId43"/>
    <p:sldId id="276" r:id="rId44"/>
    <p:sldId id="277" r:id="rId45"/>
    <p:sldId id="278" r:id="rId46"/>
    <p:sldId id="286" r:id="rId47"/>
    <p:sldId id="287" r:id="rId48"/>
    <p:sldId id="288" r:id="rId49"/>
    <p:sldId id="279" r:id="rId50"/>
    <p:sldId id="280" r:id="rId51"/>
    <p:sldId id="281" r:id="rId52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45"/>
    <p:restoredTop sz="90304"/>
  </p:normalViewPr>
  <p:slideViewPr>
    <p:cSldViewPr snapToGrid="0">
      <p:cViewPr varScale="1">
        <p:scale>
          <a:sx n="150" d="100"/>
          <a:sy n="150" d="100"/>
        </p:scale>
        <p:origin x="192" y="1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dt" idx="7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47" name="PlaceHolder 5"/>
          <p:cNvSpPr>
            <a:spLocks noGrp="1"/>
          </p:cNvSpPr>
          <p:nvPr>
            <p:ph type="ftr" idx="7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48" name="PlaceHolder 6"/>
          <p:cNvSpPr>
            <a:spLocks noGrp="1"/>
          </p:cNvSpPr>
          <p:nvPr>
            <p:ph type="sldNum" idx="7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578A885-2061-44B6-8485-F75CF539C4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Reminder of architecture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1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001C42-ACD7-43EF-8A02-697273F2F1F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5" name="PlaceHolder 2"/>
          <p:cNvSpPr>
            <a:spLocks noGrp="1"/>
          </p:cNvSpPr>
          <p:nvPr>
            <p:ph type="sldNum" idx="11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1242EF1-E080-4BE0-80DA-71624264192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Notes Placeholder 1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68" name="PlaceHolder 2"/>
          <p:cNvSpPr>
            <a:spLocks noGrp="1"/>
          </p:cNvSpPr>
          <p:nvPr>
            <p:ph type="sldNum" idx="112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E32096-C378-46E7-9662-A59E6F60A88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Notes Placeholder 3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A8C6E-764D-4535-9C42-614C16A82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A6018DB3-D14B-9FBB-599D-5385EE5E84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CF174BE6-32BD-A9BE-823D-193EC8E8A06E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27BE95C0-8BD6-B436-1AE4-3840BE6B2CBE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3773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160A8-6CE1-E1ED-777A-A655EEEBF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A2BA22BE-8407-08ED-9BDC-B897D0608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8F961B62-DCA2-6651-9604-861FDCF97DAE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FB5C9D4B-D135-3040-9EB5-434737F7A4B0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25860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A9299-568A-C357-D3A4-6E6B9CEC0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4B5CBF5D-CC1B-D475-FB8C-818819F26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BECB2D74-35E6-79B9-C617-2D21EBB3BABB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0EE1A1F4-8525-EF3E-87A0-7E0A007C08F7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60407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BB56B-EF3B-25AA-A5DA-8353D7D51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49D93D8-9D3C-8DFC-E094-02096E388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6BA547A9-1A11-2607-4F42-3F278A5BB6D6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11832EE7-481F-928A-70BA-DD9BBAA7E946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075B81AC-08A2-BDE3-FE22-37B6FAB02E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copy always works! But it’s O(n)</a:t>
            </a:r>
          </a:p>
        </p:txBody>
      </p:sp>
    </p:spTree>
    <p:extLst>
      <p:ext uri="{BB962C8B-B14F-4D97-AF65-F5344CB8AC3E}">
        <p14:creationId xmlns:p14="http://schemas.microsoft.com/office/powerpoint/2010/main" val="3778024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7BA11-7183-F375-47FA-4DE6A291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A8291F0-81A8-328B-7019-5501F667D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77859864-40CF-538F-D52B-7CEE3C1CC4A3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7B6EBB70-AB64-078C-DA61-4E4480181261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C57CB0CB-AA16-870A-9095-BEE1E3710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copy always works! But it’s O(n)</a:t>
            </a:r>
          </a:p>
        </p:txBody>
      </p:sp>
    </p:spTree>
    <p:extLst>
      <p:ext uri="{BB962C8B-B14F-4D97-AF65-F5344CB8AC3E}">
        <p14:creationId xmlns:p14="http://schemas.microsoft.com/office/powerpoint/2010/main" val="31551501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89665-AC1A-4BA9-8630-83014AF51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17BAA64-D2B5-033A-4439-84733E07D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568CE4FB-1C48-B68E-F301-1175AB9ED6CD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29DF55CF-12E9-4897-1744-828347CD9DEE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596D1729-5FBB-6487-D6EA-314D74517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copy always works! But it’s O(n)</a:t>
            </a:r>
          </a:p>
        </p:txBody>
      </p:sp>
    </p:spTree>
    <p:extLst>
      <p:ext uri="{BB962C8B-B14F-4D97-AF65-F5344CB8AC3E}">
        <p14:creationId xmlns:p14="http://schemas.microsoft.com/office/powerpoint/2010/main" val="117128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71BA4-FF08-5179-FDCF-0E5CAD3FB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9B73CABF-DCF5-9954-8C17-99AB7C157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FDF4B541-6B96-F8F4-1956-EF562E60FB71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240CC0E0-1079-5DBD-00F0-44D2EB6DF4A3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900401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FDEF3-04F7-55CA-DAF2-F6D65C61F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1CD363AE-F61A-D3E7-AC42-BFF21764D7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6B693FF9-6DC6-F690-1614-730CECBC0F1A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D6BB6E4D-F02F-B54F-773A-83B003AEC2B7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35997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64150-EBAA-39DA-1048-09E83D9B2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>
            <a:extLst>
              <a:ext uri="{FF2B5EF4-FFF2-40B4-BE49-F238E27FC236}">
                <a16:creationId xmlns:a16="http://schemas.microsoft.com/office/drawing/2014/main" id="{6A7F4C99-EA0F-38CA-AD9D-8BE9F241B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1" name="PlaceHolder 2">
            <a:extLst>
              <a:ext uri="{FF2B5EF4-FFF2-40B4-BE49-F238E27FC236}">
                <a16:creationId xmlns:a16="http://schemas.microsoft.com/office/drawing/2014/main" id="{2E34E42C-FE52-0274-B4B3-D8CDEB6BA8BF}"/>
              </a:ext>
            </a:extLst>
          </p:cNvPr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0D2BB5-A004-470F-86AD-E82E4BC80F9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>
            <a:extLst>
              <a:ext uri="{FF2B5EF4-FFF2-40B4-BE49-F238E27FC236}">
                <a16:creationId xmlns:a16="http://schemas.microsoft.com/office/drawing/2014/main" id="{C87C9DAE-B86D-3ABC-676C-3C3749196B6D}"/>
              </a:ext>
            </a:extLst>
          </p:cNvPr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lang="en-GB" sz="14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5365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to make: there are a number of array operations that take no time at all!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You can always make a copy by explicitly calling .copy()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How does the golden rule apply to indexing operations?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compare slices vs. fancy indexing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EF1F-1BFA-CD5A-CABF-E3B1EABE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E54E4-2AEB-254C-7ECE-3CFEF4A42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832F0-85C1-8FC5-4CF9-5425D632C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82CF5-931A-BB8D-D22A-53F3C1A68A9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95776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10F38-B83A-42FB-1F4C-A028B303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CB14C-04DD-B983-DE7E-D755FB25A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5A25EA-EE65-BCBF-DD1D-E9983EC5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5556-3105-EC6C-A79B-6741B5928182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298857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C2396-135D-247B-A8C9-62F70532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00A454-2A23-F9BD-DAFE-2252C443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FBF1-DDBE-343A-6539-65B133D693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A30DBF-B918-74B0-0C13-96D43974249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736288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07A69-0199-5460-AEB7-EEF301C2B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D8530-6F33-5DCB-F321-681DBEC7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D662AF-B31C-312C-FC0C-0B06CF86B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1F85D-CAC0-6382-DD1D-B0631A4C9A75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241374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4F808-9E8D-7E5B-4514-16E37E8C8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E20655-7A2E-0765-F6EB-DD2162000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02459C-4FB1-9261-1147-6E05B6CDF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1C7A8-8CEF-8916-3936-C71DB20CD44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169273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99E44-85D1-8F36-61C9-E10389186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5087B7-C0B5-8981-E1B5-23191B7B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70F8E-5087-4F77-852C-4F6489DED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3C15DD-4D60-9717-EF1C-5D9AB06A33C1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30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800279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F2068-14FD-3653-2F4A-1D299823C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3BAEE7-4D78-59C3-B846-95C137A24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F63EF6-9AEB-8949-A429-5F61D2798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DE192-5CF6-C264-AE95-5D5CE36D7380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34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639017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2096-5931-7422-B102-7F4A67485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D321D-51F5-0EA7-B0CD-5DC4735C6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06540-BAF9-E5AA-92FA-CE80E03553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FEEB5-2178-4F02-4A7D-3284E30DB3BA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084670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DE99-71B5-3ED4-BAEA-96A5DFA15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34D4-87DD-4E2E-0165-88E5B7E07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6DC9E-78A5-C8A7-81D6-7AF1C1F83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8A977-A852-8E9B-80E7-60D4BEFA841F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36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953547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0B049-41B3-5718-928C-EA52D8676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826B2B-4A22-22AF-79D1-68C0B8202A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B1A938-D2EE-6A6C-3EFD-EF7E0B04FC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93525-C00A-C98E-1572-5E9D1A10AE45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37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6691208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2ACD-D43F-1A40-1AC5-4779D315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A68DC1-903A-6562-B519-2537DF01DE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763588"/>
            <a:ext cx="0" cy="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97B5F-5086-927D-A377-21744D959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874E7D-D86F-5521-3510-20FA833F3A89}"/>
              </a:ext>
            </a:extLst>
          </p:cNvPr>
          <p:cNvSpPr>
            <a:spLocks noGrp="1"/>
          </p:cNvSpPr>
          <p:nvPr>
            <p:ph type="sldNum" idx="75"/>
          </p:nvPr>
        </p:nvSpPr>
        <p:spPr/>
        <p:txBody>
          <a:bodyPr/>
          <a:lstStyle/>
          <a:p>
            <a:pPr indent="0" algn="r">
              <a:buNone/>
            </a:pPr>
            <a:fld id="{5578A885-2061-44B6-8485-F75CF539C4E2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38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8889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.copy() usage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can go wrong with this function?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5900" y="812800"/>
            <a:ext cx="7126288" cy="4008438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Discuss pros and cons with them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Pros: security that data will be always a copy.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Cons: redundancy in memory, problem for big arrays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7846-83A8-F003-6FE6-F33BA9FDA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>
            <a:extLst>
              <a:ext uri="{FF2B5EF4-FFF2-40B4-BE49-F238E27FC236}">
                <a16:creationId xmlns:a16="http://schemas.microsoft.com/office/drawing/2014/main" id="{F611D16D-DB32-0B5D-31B5-3BC8D9560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87" name="PlaceHolder 2">
            <a:extLst>
              <a:ext uri="{FF2B5EF4-FFF2-40B4-BE49-F238E27FC236}">
                <a16:creationId xmlns:a16="http://schemas.microsoft.com/office/drawing/2014/main" id="{F83D05F4-3166-C027-69FF-640C2606FF5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case, when one of the strides is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duplicates without occupying more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Transition, other operations that can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Braodcasting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Imagine what happens if we have a stride of 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It allows us to replicate the sae row without allocating extra memory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What happens when it’s a 0?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>
            <a:extLst>
              <a:ext uri="{FF2B5EF4-FFF2-40B4-BE49-F238E27FC236}">
                <a16:creationId xmlns:a16="http://schemas.microsoft.com/office/drawing/2014/main" id="{D168F620-27AE-7B2B-B518-151A99B0F3B6}"/>
              </a:ext>
            </a:extLst>
          </p:cNvPr>
          <p:cNvSpPr>
            <a:spLocks noGrp="1"/>
          </p:cNvSpPr>
          <p:nvPr>
            <p:ph type="sldNum" idx="115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6CB81B-36F2-4DEE-A9E5-516DDE81E95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6149790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CA673-E781-AA81-2E47-EE71944CF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>
            <a:extLst>
              <a:ext uri="{FF2B5EF4-FFF2-40B4-BE49-F238E27FC236}">
                <a16:creationId xmlns:a16="http://schemas.microsoft.com/office/drawing/2014/main" id="{30BD5DFE-F2F2-FF82-A70D-269206582B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0" name="PlaceHolder 2">
            <a:extLst>
              <a:ext uri="{FF2B5EF4-FFF2-40B4-BE49-F238E27FC236}">
                <a16:creationId xmlns:a16="http://schemas.microsoft.com/office/drawing/2014/main" id="{9A2A0000-5814-D361-DFCF-D2CABD191EF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Stride == 0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then we are not actually moving in memory, same memory, we are looping over the same thing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>
            <a:extLst>
              <a:ext uri="{FF2B5EF4-FFF2-40B4-BE49-F238E27FC236}">
                <a16:creationId xmlns:a16="http://schemas.microsoft.com/office/drawing/2014/main" id="{C5D9E606-7D9A-6171-FEC9-9E8937B1FBFB}"/>
              </a:ext>
            </a:extLst>
          </p:cNvPr>
          <p:cNvSpPr>
            <a:spLocks noGrp="1"/>
          </p:cNvSpPr>
          <p:nvPr>
            <p:ph type="sldNum" idx="116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9BC6331-82DC-46A6-99F6-40E53610FA2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629596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DFEA9-758C-EEAA-4421-1A491FD0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>
            <a:extLst>
              <a:ext uri="{FF2B5EF4-FFF2-40B4-BE49-F238E27FC236}">
                <a16:creationId xmlns:a16="http://schemas.microsoft.com/office/drawing/2014/main" id="{7555D026-743C-E576-B691-02B40DD90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90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CH"/>
          </a:p>
        </p:txBody>
      </p:sp>
      <p:sp>
        <p:nvSpPr>
          <p:cNvPr id="493" name="PlaceHolder 2">
            <a:extLst>
              <a:ext uri="{FF2B5EF4-FFF2-40B4-BE49-F238E27FC236}">
                <a16:creationId xmlns:a16="http://schemas.microsoft.com/office/drawing/2014/main" id="{E632CA4E-DEBC-DABD-7074-28EF629887E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>
            <a:extLst>
              <a:ext uri="{FF2B5EF4-FFF2-40B4-BE49-F238E27FC236}">
                <a16:creationId xmlns:a16="http://schemas.microsoft.com/office/drawing/2014/main" id="{7764F26B-1A52-A8AD-1207-42C9AC6EA58B}"/>
              </a:ext>
            </a:extLst>
          </p:cNvPr>
          <p:cNvSpPr>
            <a:spLocks noGrp="1"/>
          </p:cNvSpPr>
          <p:nvPr>
            <p:ph type="sldNum" idx="117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lIns="0" tIns="0" rIns="0" bIns="0" numCol="1" spcCol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6B0B33F-7795-4156-91E4-038DEE4DC37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93957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66987CF-7650-4637-B89B-3426776609B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6DEA467-5DED-4BE0-82E6-5EF7536E468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051D383-8BE4-4D86-B32E-EA6F4EC497C6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8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ACCA44B-75FF-4F80-A6C5-31823BD4542B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3BEA428-0D71-4D0E-A007-D551110C1CCE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CH" sz="1200" b="0" u="none" strike="noStrike" kern="1200" noProof="0" dirty="0" smtClean="0">
                <a:solidFill>
                  <a:schemeClr val="bg1">
                    <a:lumMod val="6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r>
              <a:rPr lang="en-GB"/>
              <a:t>Data, v4.0</a:t>
            </a:r>
            <a:endParaRPr lang="en-GB" dirty="0"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fld id="{9A5B8DFA-FB31-4C13-B9C1-F7FB45CFFB09}" type="slidenum">
              <a:rPr lang="en-CH" smtClean="0"/>
              <a:pPr/>
              <a:t>‹#›</a:t>
            </a:fld>
            <a:endParaRPr lang="en-CH"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>
              <a:defRPr/>
            </a:pPr>
            <a:r>
              <a:rPr lang="de-CH"/>
              <a:t>Aug 2026, CC BY-SA 4.0</a:t>
            </a: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578DE0D-40B8-4AD6-9555-8FCDEE4E7E9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6" name="PlaceHolder 4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9A90716-14E6-4794-880C-4B3C7F4A0E3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324D83B-9B9C-4FB5-8262-04BB5629952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AC6DC31-8F36-4991-B964-4A684501E5D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A35F8-32EB-4866-90CE-E7F7BB54D50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68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CFCBE0-D3A1-424F-A1A4-511EB3768520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15FF12-41C1-4F39-A693-0FEFDB25C8C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1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6D4B11-FB66-431D-9A06-47578200C128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89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E472CA3-DAE7-4AFB-97E3-F6AB8B18C7F7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8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9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49AAEFD-C435-43F1-B023-83CF996B8F4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C9F262-E824-4AC0-AF2C-F2E2B6D39D63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8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3" name="PlaceHolder 3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B9EC53-DCE4-41FE-BEA0-C0B46656D65C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19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AF999DB-FCEC-4996-A4FB-817656C836AD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3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410447-D8B1-4E2D-B113-45A81ACB9344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B8F0785-59AA-4995-AAE4-E56ACB85C5AA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3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667B7A-D913-4875-A2BF-3232251D93E2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D762F64-64B4-4841-B2F6-7E251DD311AF}" type="slidenum"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CH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Aug 2026, CC BY-SA 4.0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v4.0</a:t>
            </a:r>
            <a:endParaRPr dirty="0"/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970D287C-E07C-44D5-B430-429B6B5F3EE8}" type="slidenum">
              <a:rPr/>
              <a:t>1</a:t>
            </a:fld>
            <a:endParaRPr/>
          </a:p>
        </p:txBody>
      </p:sp>
      <p:sp>
        <p:nvSpPr>
          <p:cNvPr id="149" name="PlaceHolder 1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" name="Picture 5" descr="A garden with different vegetables&#10;&#10;Description automatically generated"/>
          <p:cNvPicPr/>
          <p:nvPr/>
        </p:nvPicPr>
        <p:blipFill>
          <a:blip r:embed="rId2"/>
          <a:stretch/>
        </p:blipFill>
        <p:spPr>
          <a:xfrm>
            <a:off x="2077920" y="1788480"/>
            <a:ext cx="8035560" cy="44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itle 1"/>
          <p:cNvSpPr/>
          <p:nvPr/>
        </p:nvSpPr>
        <p:spPr>
          <a:xfrm>
            <a:off x="2747520" y="552600"/>
            <a:ext cx="6696000" cy="148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8000" b="0" u="none" strike="noStrik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NumPy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NumPy – huh, yeah – what’s it good for?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rPr lang="en-GB"/>
              <a:t>Data, v4.0</a:t>
            </a:r>
            <a:endParaRPr dirty="0"/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42D8D466-CA19-4EEB-9A98-B349C59F5CA8}" type="slidenum">
              <a:rPr/>
              <a:t>2</a:t>
            </a:fld>
            <a:endParaRPr/>
          </a:p>
        </p:txBody>
      </p:sp>
      <p:sp>
        <p:nvSpPr>
          <p:cNvPr id="154" name="PlaceHolder 3"/>
          <p:cNvSpPr>
            <a:spLocks noGrp="1"/>
          </p:cNvSpPr>
          <p:nvPr>
            <p:ph type="dt" idx="57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838080" y="1530484"/>
            <a:ext cx="10514880" cy="4645675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</a:t>
            </a:r>
            <a:r>
              <a:rPr lang="en-US" sz="2800" b="0" u="none" strike="noStrike" dirty="0" err="1">
                <a:solidFill>
                  <a:srgbClr val="000000"/>
                </a:solidFill>
                <a:effectLst/>
                <a:uFillTx/>
                <a:latin typeface="Calibri"/>
              </a:rPr>
              <a:t>i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ntroduce</a:t>
            </a: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</a:t>
            </a: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 a new data structure: </a:t>
            </a:r>
            <a:r>
              <a:rPr lang="en-CH" sz="28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the array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CH" sz="28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Great for storing homogeneous data, where every element in the array has the same meaning. E.g. images, sound, time series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2531520" y="2349000"/>
            <a:ext cx="7128000" cy="942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array is a regular, N-dimensional grid of data of the same type, typically numerical data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"/>
          <p:cNvPicPr/>
          <p:nvPr/>
        </p:nvPicPr>
        <p:blipFill>
          <a:blip r:embed="rId2"/>
          <a:stretch/>
        </p:blipFill>
        <p:spPr>
          <a:xfrm>
            <a:off x="5038920" y="4848120"/>
            <a:ext cx="2113560" cy="95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 dirty="0">
                <a:solidFill>
                  <a:srgbClr val="000000"/>
                </a:solidFill>
                <a:effectLst/>
                <a:uFillTx/>
                <a:latin typeface="Calibri Light" panose="020F0302020204030204" pitchFamily="34" charset="0"/>
                <a:cs typeface="Calibri Light" panose="020F0302020204030204" pitchFamily="34" charset="0"/>
              </a:rPr>
              <a:t>Efficient machine-native implementation </a:t>
            </a:r>
            <a:endParaRPr lang="en-US" sz="4400" u="none" strike="noStrike" dirty="0">
              <a:solidFill>
                <a:srgbClr val="000000"/>
              </a:solidFill>
              <a:effectLst/>
              <a:uFillTx/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ftr" idx="52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3174ED62-3A5A-4555-8867-54EED906BD75}" type="slidenum">
              <a:rPr/>
              <a:t>3</a:t>
            </a:fld>
            <a:endParaRPr/>
          </a:p>
        </p:txBody>
      </p:sp>
      <p:sp>
        <p:nvSpPr>
          <p:cNvPr id="159" name="PlaceHolder 3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body" idx="4294967295"/>
          </p:nvPr>
        </p:nvSpPr>
        <p:spPr>
          <a:xfrm>
            <a:off x="966281" y="1264256"/>
            <a:ext cx="10514880" cy="3976687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Data is stored in a contiguous chunk of memory, using machine-native data types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Separate metadata tells numpy how to interpret that memory as an array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9"/>
          <p:cNvGraphicFramePr/>
          <p:nvPr/>
        </p:nvGraphicFramePr>
        <p:xfrm>
          <a:off x="1229400" y="27792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2" name="TextBox 10"/>
          <p:cNvSpPr/>
          <p:nvPr/>
        </p:nvSpPr>
        <p:spPr>
          <a:xfrm>
            <a:off x="869400" y="32526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11"/>
          <p:cNvGraphicFramePr/>
          <p:nvPr/>
        </p:nvGraphicFramePr>
        <p:xfrm>
          <a:off x="1214280" y="4565160"/>
          <a:ext cx="3127680" cy="1620000"/>
        </p:xfrm>
        <a:graphic>
          <a:graphicData uri="http://schemas.openxmlformats.org/drawingml/2006/table">
            <a:tbl>
              <a:tblPr/>
              <a:tblGrid>
                <a:gridCol w="156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4" name="TextBox 12"/>
          <p:cNvSpPr/>
          <p:nvPr/>
        </p:nvSpPr>
        <p:spPr>
          <a:xfrm>
            <a:off x="1157400" y="235764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15"/>
          <p:cNvGraphicFramePr/>
          <p:nvPr/>
        </p:nvGraphicFramePr>
        <p:xfrm>
          <a:off x="8165160" y="3537720"/>
          <a:ext cx="1892160" cy="1587600"/>
        </p:xfrm>
        <a:graphic>
          <a:graphicData uri="http://schemas.openxmlformats.org/drawingml/2006/table">
            <a:tbl>
              <a:tblPr/>
              <a:tblGrid>
                <a:gridCol w="63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6" name="TextBox 16"/>
          <p:cNvSpPr/>
          <p:nvPr/>
        </p:nvSpPr>
        <p:spPr>
          <a:xfrm>
            <a:off x="8103600" y="313128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7"/>
          <p:cNvSpPr/>
          <p:nvPr/>
        </p:nvSpPr>
        <p:spPr>
          <a:xfrm>
            <a:off x="1132200" y="41817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riangle 19"/>
          <p:cNvSpPr/>
          <p:nvPr/>
        </p:nvSpPr>
        <p:spPr>
          <a:xfrm rot="5400000">
            <a:off x="5187240" y="422568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69" name="Picture 2"/>
          <p:cNvPicPr/>
          <p:nvPr/>
        </p:nvPicPr>
        <p:blipFill>
          <a:blip r:embed="rId3"/>
          <a:srcRect b="32467"/>
          <a:stretch/>
        </p:blipFill>
        <p:spPr>
          <a:xfrm flipH="1">
            <a:off x="6096600" y="30481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TextBox 10">
            <a:extLst>
              <a:ext uri="{FF2B5EF4-FFF2-40B4-BE49-F238E27FC236}">
                <a16:creationId xmlns:a16="http://schemas.microsoft.com/office/drawing/2014/main" id="{8AD989F8-014E-9733-B648-6504DAD235B5}"/>
              </a:ext>
            </a:extLst>
          </p:cNvPr>
          <p:cNvSpPr/>
          <p:nvPr/>
        </p:nvSpPr>
        <p:spPr>
          <a:xfrm>
            <a:off x="7870894" y="512532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B69005C-7063-4B68-A3C2-A8059B4D03B0}" type="slidenum">
              <a:rPr/>
              <a:t>4</a:t>
            </a:fld>
            <a:endParaRPr/>
          </a:p>
        </p:txBody>
      </p:sp>
      <p:sp>
        <p:nvSpPr>
          <p:cNvPr id="171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2" name="Group 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3" name="Rectangle 1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74" name="Graphic 1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11624DA-98A5-4FDB-BA21-A391D4A3E667}" type="slidenum">
              <a:rPr/>
              <a:t>5</a:t>
            </a:fld>
            <a:endParaRPr/>
          </a:p>
        </p:txBody>
      </p:sp>
      <p:sp>
        <p:nvSpPr>
          <p:cNvPr id="177" name="PlaceHolder 3"/>
          <p:cNvSpPr>
            <a:spLocks noGrp="1"/>
          </p:cNvSpPr>
          <p:nvPr>
            <p:ph type="dt" idx="5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lang="en-US" sz="440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09300" y="1688650"/>
            <a:ext cx="10972440" cy="397774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Numpy arrays are implemented using machine-native data types, which means that common operations and algorithms can be implemented with less per-element overhead, making them faster than a Python list-of-lists</a:t>
            </a:r>
            <a:b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Faster in what sense?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It’s not going to scale any better than list-of-lists</a:t>
            </a:r>
            <a:b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</a:br>
            <a:r>
              <a:rPr lang="en-CH" sz="2400" dirty="0">
                <a:solidFill>
                  <a:srgbClr val="000000"/>
                </a:solidFill>
                <a:latin typeface="Calibri"/>
              </a:rPr>
              <a:t>Scaling complexity is the same. E.g., square matrix multiplication is still O(N³)</a:t>
            </a:r>
            <a:endParaRPr lang="en-CH" sz="2400" baseline="30000" dirty="0">
              <a:solidFill>
                <a:srgbClr val="000000"/>
              </a:solidFill>
              <a:latin typeface="Calibri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1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Much faster for fixed-size problems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342900" indent="-3429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CH" sz="2400" b="0" u="none" strike="noStrike" dirty="0">
                <a:solidFill>
                  <a:srgbClr val="000000"/>
                </a:solidFill>
                <a:effectLst/>
                <a:uFillTx/>
                <a:latin typeface="Calibri"/>
              </a:rPr>
              <a:t>This speed advantage strictly depends on operations being made in C and Fortran. Avoid Python for-loops and use existing NumPy and SciPy functionality!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grpSp>
        <p:nvGrpSpPr>
          <p:cNvPr id="178" name="Group 7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9" name="Rectangle 8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80" name="Graphic 12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1" name="TextBox 18"/>
          <p:cNvSpPr/>
          <p:nvPr/>
        </p:nvSpPr>
        <p:spPr>
          <a:xfrm>
            <a:off x="3791880" y="6176880"/>
            <a:ext cx="8006760" cy="516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400" b="0" u="none" strike="noStrike" baseline="30000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*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The best matrix multiplication algorithm as of 2025 scales as O(n**2.371339). However, out-of-the-box NumPy packages usually use a Fortran library called </a:t>
            </a:r>
            <a:r>
              <a:rPr lang="en-US" sz="1400" b="0" u="none" strike="noStrike" dirty="0" err="1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OpenBLAS</a:t>
            </a:r>
            <a:r>
              <a:rPr lang="en-US" sz="1400" b="0" u="none" strike="noStrike" dirty="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that implements a O(n**3) algorithm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2A1B2-8418-89E2-09F6-C979D6C31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>
            <a:extLst>
              <a:ext uri="{FF2B5EF4-FFF2-40B4-BE49-F238E27FC236}">
                <a16:creationId xmlns:a16="http://schemas.microsoft.com/office/drawing/2014/main" id="{170BA246-5F23-B961-09EA-83C0BA54B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How does NumPy implement array operations?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D950BBEE-3606-0306-130D-3314A186BA20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663366B5-11E1-1412-8EA6-ACEE13CD8C9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6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226B645F-AD81-7FB2-57ED-799719E802B8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E89EF5B9-0076-BAD1-D011-3C71455EEF6A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D81590F8-1404-E3F0-9545-28B408246B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29897413"/>
              </p:ext>
            </p:extLst>
          </p:nvPr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6EBACADA-100A-2EAE-2E01-9C4E3A71C2DA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3B498250-E7ED-7718-B000-81262442471D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982D165A-BE1C-747D-C5C3-DE93609385B1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AFC3036-7014-8BF3-EB2D-6B839B70B64B}"/>
              </a:ext>
            </a:extLst>
          </p:cNvPr>
          <p:cNvSpPr txBox="1"/>
          <p:nvPr/>
        </p:nvSpPr>
        <p:spPr>
          <a:xfrm>
            <a:off x="453840" y="864982"/>
            <a:ext cx="96319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</a:p>
          <a:p>
            <a:endParaRPr lang="en-US" sz="2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B47D07-ACEB-2DB2-172B-6323B4FE40A9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x.mean(axis=1)</a:t>
            </a: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EBE9EF98-51A9-CF08-32FB-26EF2B9244BD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E2151248-E592-222B-27A3-DA4F54A98DC8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2" name="Table 15">
            <a:extLst>
              <a:ext uri="{FF2B5EF4-FFF2-40B4-BE49-F238E27FC236}">
                <a16:creationId xmlns:a16="http://schemas.microsoft.com/office/drawing/2014/main" id="{42213886-2340-2507-4FF8-B4D5B136FA1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8740723"/>
              </p:ext>
            </p:extLst>
          </p:nvPr>
        </p:nvGraphicFramePr>
        <p:xfrm>
          <a:off x="8082881" y="1433614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Box 16">
            <a:extLst>
              <a:ext uri="{FF2B5EF4-FFF2-40B4-BE49-F238E27FC236}">
                <a16:creationId xmlns:a16="http://schemas.microsoft.com/office/drawing/2014/main" id="{5D70388F-DB58-4257-EE72-3E9653BA9164}"/>
              </a:ext>
            </a:extLst>
          </p:cNvPr>
          <p:cNvSpPr/>
          <p:nvPr/>
        </p:nvSpPr>
        <p:spPr>
          <a:xfrm>
            <a:off x="8020960" y="1027174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Box 10">
            <a:extLst>
              <a:ext uri="{FF2B5EF4-FFF2-40B4-BE49-F238E27FC236}">
                <a16:creationId xmlns:a16="http://schemas.microsoft.com/office/drawing/2014/main" id="{18EA3A63-F94C-3BA1-D4D1-4E90AE70A5F0}"/>
              </a:ext>
            </a:extLst>
          </p:cNvPr>
          <p:cNvSpPr/>
          <p:nvPr/>
        </p:nvSpPr>
        <p:spPr>
          <a:xfrm>
            <a:off x="7687780" y="2788355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6519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E8F57-06DE-27C8-D0AE-146DD5C42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riangle 19">
            <a:extLst>
              <a:ext uri="{FF2B5EF4-FFF2-40B4-BE49-F238E27FC236}">
                <a16:creationId xmlns:a16="http://schemas.microsoft.com/office/drawing/2014/main" id="{499AC86F-9931-8DBC-9C20-B0C23BE17A10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1D4EC3F1-2CC5-098D-6A04-464CB182B633}"/>
              </a:ext>
            </a:extLst>
          </p:cNvPr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94E57CC5-CC95-D545-1969-F6972E35A844}"/>
              </a:ext>
            </a:extLst>
          </p:cNvPr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55FACB01-4BB1-41C9-B28B-2F6CF30148BB}" type="slidenum">
              <a:rPr/>
              <a:t>7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3CB74654-956F-FCCB-0388-D7EAEE7A1D5E}"/>
              </a:ext>
            </a:extLst>
          </p:cNvPr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68BD8B-6DCA-358B-1F53-A9B755E37341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x.mean(axis=1)</a:t>
            </a:r>
          </a:p>
        </p:txBody>
      </p:sp>
      <p:graphicFrame>
        <p:nvGraphicFramePr>
          <p:cNvPr id="6" name="Table 11">
            <a:extLst>
              <a:ext uri="{FF2B5EF4-FFF2-40B4-BE49-F238E27FC236}">
                <a16:creationId xmlns:a16="http://schemas.microsoft.com/office/drawing/2014/main" id="{EBF93C58-B77B-966D-5583-5CA18E3C6A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6125775"/>
              </p:ext>
            </p:extLst>
          </p:nvPr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float64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8" name="TextBox 17">
            <a:extLst>
              <a:ext uri="{FF2B5EF4-FFF2-40B4-BE49-F238E27FC236}">
                <a16:creationId xmlns:a16="http://schemas.microsoft.com/office/drawing/2014/main" id="{DA2604DE-E494-8A36-AF09-998114B453AC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Box 16">
            <a:extLst>
              <a:ext uri="{FF2B5EF4-FFF2-40B4-BE49-F238E27FC236}">
                <a16:creationId xmlns:a16="http://schemas.microsoft.com/office/drawing/2014/main" id="{96859718-4708-D89F-F20D-0C22451B5C2C}"/>
              </a:ext>
            </a:extLst>
          </p:cNvPr>
          <p:cNvSpPr/>
          <p:nvPr/>
        </p:nvSpPr>
        <p:spPr>
          <a:xfrm>
            <a:off x="7747991" y="4936412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DAE02A-05F0-AF9D-1213-E929DA9E0477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B41CAAD1-56FE-25F6-2160-A5149C44E049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E5708675-5A27-5E67-577F-0B3FBC40ED4C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TextBox 10">
            <a:extLst>
              <a:ext uri="{FF2B5EF4-FFF2-40B4-BE49-F238E27FC236}">
                <a16:creationId xmlns:a16="http://schemas.microsoft.com/office/drawing/2014/main" id="{DE75753A-B5E2-443C-2569-12F616896825}"/>
              </a:ext>
            </a:extLst>
          </p:cNvPr>
          <p:cNvSpPr/>
          <p:nvPr/>
        </p:nvSpPr>
        <p:spPr>
          <a:xfrm>
            <a:off x="7326638" y="5880422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" name="Table 22">
            <a:extLst>
              <a:ext uri="{FF2B5EF4-FFF2-40B4-BE49-F238E27FC236}">
                <a16:creationId xmlns:a16="http://schemas.microsoft.com/office/drawing/2014/main" id="{E61D217C-3B0F-D7E2-9075-686C507BD8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7713703"/>
              </p:ext>
            </p:extLst>
          </p:nvPr>
        </p:nvGraphicFramePr>
        <p:xfrm>
          <a:off x="7747990" y="5445017"/>
          <a:ext cx="2164107" cy="457200"/>
        </p:xfrm>
        <a:graphic>
          <a:graphicData uri="http://schemas.openxmlformats.org/drawingml/2006/table">
            <a:tbl>
              <a:tblPr/>
              <a:tblGrid>
                <a:gridCol w="7213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13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1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1.0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4.0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7.0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PlaceHolder 1">
            <a:extLst>
              <a:ext uri="{FF2B5EF4-FFF2-40B4-BE49-F238E27FC236}">
                <a16:creationId xmlns:a16="http://schemas.microsoft.com/office/drawing/2014/main" id="{FA520E3E-1F81-2B34-09DD-964FDCEA65D4}"/>
              </a:ext>
            </a:extLst>
          </p:cNvPr>
          <p:cNvSpPr txBox="1">
            <a:spLocks/>
          </p:cNvSpPr>
          <p:nvPr/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sz="3200" dirty="0">
                <a:solidFill>
                  <a:srgbClr val="000000"/>
                </a:solidFill>
                <a:latin typeface="Arial"/>
              </a:rPr>
              <a:t>For many calculations, NumPy creates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new memory block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the result</a:t>
            </a:r>
          </a:p>
        </p:txBody>
      </p:sp>
      <p:graphicFrame>
        <p:nvGraphicFramePr>
          <p:cNvPr id="22" name="Table 9">
            <a:extLst>
              <a:ext uri="{FF2B5EF4-FFF2-40B4-BE49-F238E27FC236}">
                <a16:creationId xmlns:a16="http://schemas.microsoft.com/office/drawing/2014/main" id="{205BE480-7E5D-01F8-4838-950BF3AC0D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74279089"/>
              </p:ext>
            </p:extLst>
          </p:nvPr>
        </p:nvGraphicFramePr>
        <p:xfrm>
          <a:off x="2802804" y="5826478"/>
          <a:ext cx="1252551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1.0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4.0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7.0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Table 9">
            <a:extLst>
              <a:ext uri="{FF2B5EF4-FFF2-40B4-BE49-F238E27FC236}">
                <a16:creationId xmlns:a16="http://schemas.microsoft.com/office/drawing/2014/main" id="{6F9C8916-811D-C357-3E72-886B885981D6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Table 11">
            <a:extLst>
              <a:ext uri="{FF2B5EF4-FFF2-40B4-BE49-F238E27FC236}">
                <a16:creationId xmlns:a16="http://schemas.microsoft.com/office/drawing/2014/main" id="{0D34EEDB-14F1-5DFB-C80C-491E9050DD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7392549"/>
              </p:ext>
            </p:extLst>
          </p:nvPr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25" name="TextBox 12">
            <a:extLst>
              <a:ext uri="{FF2B5EF4-FFF2-40B4-BE49-F238E27FC236}">
                <a16:creationId xmlns:a16="http://schemas.microsoft.com/office/drawing/2014/main" id="{55DC022E-0733-C195-F1A9-15E02BE20F2B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Box 17">
            <a:extLst>
              <a:ext uri="{FF2B5EF4-FFF2-40B4-BE49-F238E27FC236}">
                <a16:creationId xmlns:a16="http://schemas.microsoft.com/office/drawing/2014/main" id="{5FF1BFF1-8C52-FC21-A2AB-EA57DC30167F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896008BF-F3F5-7A6F-9E60-010A6B623F1E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E0096C6-2A3E-8F4F-0EA7-25163B2F343D}"/>
              </a:ext>
            </a:extLst>
          </p:cNvPr>
          <p:cNvSpPr txBox="1"/>
          <p:nvPr/>
        </p:nvSpPr>
        <p:spPr>
          <a:xfrm>
            <a:off x="453840" y="864982"/>
            <a:ext cx="96319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</a:p>
          <a:p>
            <a:endParaRPr lang="en-US" sz="24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9" name="Triangle 19">
            <a:extLst>
              <a:ext uri="{FF2B5EF4-FFF2-40B4-BE49-F238E27FC236}">
                <a16:creationId xmlns:a16="http://schemas.microsoft.com/office/drawing/2014/main" id="{F7AA4B68-5D1E-C54E-B387-770472A792EE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96CEDADD-2095-6E01-A543-95BD28094632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31" name="Table 15">
            <a:extLst>
              <a:ext uri="{FF2B5EF4-FFF2-40B4-BE49-F238E27FC236}">
                <a16:creationId xmlns:a16="http://schemas.microsoft.com/office/drawing/2014/main" id="{D4494E81-6399-5F24-17E7-11EE1C05A1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5604540"/>
              </p:ext>
            </p:extLst>
          </p:nvPr>
        </p:nvGraphicFramePr>
        <p:xfrm>
          <a:off x="8082881" y="1433614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2" name="TextBox 16">
            <a:extLst>
              <a:ext uri="{FF2B5EF4-FFF2-40B4-BE49-F238E27FC236}">
                <a16:creationId xmlns:a16="http://schemas.microsoft.com/office/drawing/2014/main" id="{046A6753-38F3-DDF0-7C3B-A54683AD0F9F}"/>
              </a:ext>
            </a:extLst>
          </p:cNvPr>
          <p:cNvSpPr/>
          <p:nvPr/>
        </p:nvSpPr>
        <p:spPr>
          <a:xfrm>
            <a:off x="8020960" y="1027174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Box 10">
            <a:extLst>
              <a:ext uri="{FF2B5EF4-FFF2-40B4-BE49-F238E27FC236}">
                <a16:creationId xmlns:a16="http://schemas.microsoft.com/office/drawing/2014/main" id="{16E67B79-8CCE-97B5-51A7-BD9F3C3DA6B0}"/>
              </a:ext>
            </a:extLst>
          </p:cNvPr>
          <p:cNvSpPr/>
          <p:nvPr/>
        </p:nvSpPr>
        <p:spPr>
          <a:xfrm>
            <a:off x="7687780" y="2788355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4945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9485E-404D-F5FB-DD9C-22B928F48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>
            <a:extLst>
              <a:ext uri="{FF2B5EF4-FFF2-40B4-BE49-F238E27FC236}">
                <a16:creationId xmlns:a16="http://schemas.microsoft.com/office/drawing/2014/main" id="{4A4199E6-C22E-A3BC-5170-8855BA070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How could this operation be implemented?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5E218B0F-B373-21CE-6CDA-CBAC549A7614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9DFBC64B-9DF8-AFB1-E7C8-56C4715B7118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8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B3833016-5E9D-86CC-1B75-00346B438056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721480DE-F3B4-1577-989D-9691B0E9442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28778110"/>
              </p:ext>
            </p:extLst>
          </p:nvPr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34D9015E-4CDC-FD21-ADED-9AD44E08F412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4FFCAB0F-37FF-757E-5239-79EF9F9D4A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80253085"/>
              </p:ext>
            </p:extLst>
          </p:nvPr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CB04789B-64F7-A86B-53FB-EC824AB8FAED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93065A0B-C060-6BD5-40A8-2187BFFA4AAD}"/>
              </a:ext>
            </a:extLst>
          </p:cNvPr>
          <p:cNvSpPr/>
          <p:nvPr/>
        </p:nvSpPr>
        <p:spPr>
          <a:xfrm>
            <a:off x="7666271" y="132195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D0D477E6-EAB0-F410-A641-98DD10CE8E7A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0A325FA6-CD77-8B5E-8DA1-6791BB585373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C93F049-FE55-179E-69D3-4A6C25E0CDB7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np.arange(9)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F61215EC-9EE4-8B4C-F368-47F1A18D9F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4950215"/>
              </p:ext>
            </p:extLst>
          </p:nvPr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975D7C0-EAB2-9D54-76D1-32D6E107A992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EE34CA60-8FE2-5862-8AC2-052F7D447409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FF3B5665-F9DF-E3DC-284C-2D1F0CCEC478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068737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E7FB-1D5E-2FD9-0CD8-CF653EA1C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9532476E-3D13-8580-DF1F-60D2FF648A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49895912"/>
              </p:ext>
            </p:extLst>
          </p:nvPr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2" name="PlaceHolder 1">
            <a:extLst>
              <a:ext uri="{FF2B5EF4-FFF2-40B4-BE49-F238E27FC236}">
                <a16:creationId xmlns:a16="http://schemas.microsoft.com/office/drawing/2014/main" id="{3F12E5A0-DA5F-1ED7-88DD-FE26F26CE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copy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BB9AC62-7E61-866B-C860-DD6A7D2EB131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6B75A624-441E-4DF0-2AF2-FE884627F91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9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2A5BD799-B191-6BC0-7216-5CF23D9C474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911DDE20-348F-1822-6198-0877EB5B400E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665ED458-E885-2C4C-B23D-9CC560527DA1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FD5A1CC6-0C6A-9CA7-F223-062E1E815271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0635BE10-A606-744C-0AF1-A0E7B801B1D5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89A96C54-DE43-2271-BA46-654A74B2AE99}"/>
              </a:ext>
            </a:extLst>
          </p:cNvPr>
          <p:cNvSpPr/>
          <p:nvPr/>
        </p:nvSpPr>
        <p:spPr>
          <a:xfrm>
            <a:off x="7666271" y="132195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64E32A54-59B1-B56A-E1A3-873EF7B6B2A0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64052DDD-6EAA-7AFB-ECF2-2AF7C5824B29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EE3F285-C86B-A816-8E01-F694F3E580B5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0C983AB8-B2F5-940D-1D9D-8E8BBD27A346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C86456E-9CF1-04BC-D981-45FDAAF7DD52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ADDF0D57-6EBE-4BD4-6F50-2BF19AD9D942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41394410-4BA6-0D40-60EF-2CC015C32312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F0FC30E5-9627-1316-CB5E-6B0290218BF3}"/>
              </a:ext>
            </a:extLst>
          </p:cNvPr>
          <p:cNvSpPr/>
          <p:nvPr/>
        </p:nvSpPr>
        <p:spPr>
          <a:xfrm>
            <a:off x="7747991" y="415271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2153ECEC-AD0E-C612-3A00-F66B8BE39FE3}"/>
              </a:ext>
            </a:extLst>
          </p:cNvPr>
          <p:cNvGraphicFramePr/>
          <p:nvPr/>
        </p:nvGraphicFramePr>
        <p:xfrm>
          <a:off x="2806466" y="5829338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TextBox 12">
            <a:extLst>
              <a:ext uri="{FF2B5EF4-FFF2-40B4-BE49-F238E27FC236}">
                <a16:creationId xmlns:a16="http://schemas.microsoft.com/office/drawing/2014/main" id="{599401F7-3DB2-7AEE-610D-C6266EC6A690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8138890E-D81E-06C6-8FDD-7AD35D607160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CFC535AA-BD23-80D9-EA5C-9233614ABFA8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B54F2DAA-70E5-A4F0-E8D6-016EECF59493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FF8B4952-3654-B256-6D67-51987821CB61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CC92969B-C03C-791B-D106-F5C5CBFBEF61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7E35B816-031E-5C11-F961-1CFB19967BE2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38921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39BFE-FBFF-21F0-9367-7FB0ECCC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F3872794-C09A-9FF6-707E-9891DC388D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9729470"/>
              </p:ext>
            </p:extLst>
          </p:nvPr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2" name="PlaceHolder 1">
            <a:extLst>
              <a:ext uri="{FF2B5EF4-FFF2-40B4-BE49-F238E27FC236}">
                <a16:creationId xmlns:a16="http://schemas.microsoft.com/office/drawing/2014/main" id="{A2BCF672-2A99-53FA-7C24-C04DB525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copy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B4527F96-130C-F3C0-0CFD-5B0D8D5A7F39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8C190F86-BD23-48C5-9F14-691394787DF2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10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7C4A8753-63F3-FD36-CC6E-8BA55C993E7F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C1F58764-B936-12B8-E8BB-A1619FA84D13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C14CB825-1A35-E152-2E90-2217EB2820C5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596D5BD6-858A-5214-20C7-36E0334D983F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E6DA7E19-C1D8-C93D-2016-FED40E998447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7AA13E59-A59B-63EE-C3AB-B589844D7462}"/>
              </a:ext>
            </a:extLst>
          </p:cNvPr>
          <p:cNvSpPr/>
          <p:nvPr/>
        </p:nvSpPr>
        <p:spPr>
          <a:xfrm>
            <a:off x="7666271" y="132195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30A115B4-A56A-FE49-6CDA-ACA5B17CFBF5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381E53F4-05CC-5896-41A0-A440B31B4DA3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880A036-CFF4-D355-D1ED-61CC4B1C966E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1CEA95DA-0260-8EA2-1D12-182D92A07EDA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4E78B29-8A3E-2551-33DD-8E36B0B287DD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F982C462-5E56-83F4-1CD6-FF85C06223BB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23D632B4-0FD6-4038-988D-2F88BE9A7BBD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62C352CD-6DBD-7B2D-3754-7B5BE007DB00}"/>
              </a:ext>
            </a:extLst>
          </p:cNvPr>
          <p:cNvSpPr/>
          <p:nvPr/>
        </p:nvSpPr>
        <p:spPr>
          <a:xfrm>
            <a:off x="7747991" y="415271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CC9D4542-48A2-E780-A679-B10C16001E42}"/>
              </a:ext>
            </a:extLst>
          </p:cNvPr>
          <p:cNvGraphicFramePr/>
          <p:nvPr/>
        </p:nvGraphicFramePr>
        <p:xfrm>
          <a:off x="2806466" y="5829338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TextBox 12">
            <a:extLst>
              <a:ext uri="{FF2B5EF4-FFF2-40B4-BE49-F238E27FC236}">
                <a16:creationId xmlns:a16="http://schemas.microsoft.com/office/drawing/2014/main" id="{A3B48F6E-4842-390B-B46E-726A8A46D104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9C145AF3-158E-D249-F46E-F740E46D519C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156E43F0-1F09-9436-FC2B-8D3DD8E449ED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B594E82E-2D7C-1CD4-547F-7EFF6EC5EBA9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26FC7D4-0A77-AE02-CAB3-F0239A3CC8DF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5C4386E4-400F-07CC-CFB7-1999B3B5B50C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5B33BFD0-B9F0-94CD-46EA-B2D245F385CE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FE0D1237-C1D4-32AF-C7DC-5F7C69114548}"/>
              </a:ext>
            </a:extLst>
          </p:cNvPr>
          <p:cNvGrpSpPr/>
          <p:nvPr/>
        </p:nvGrpSpPr>
        <p:grpSpPr>
          <a:xfrm>
            <a:off x="3435398" y="1525017"/>
            <a:ext cx="5114520" cy="1618805"/>
            <a:chOff x="3435398" y="1525017"/>
            <a:chExt cx="5114520" cy="1618805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8321FC12-65E2-968C-14C7-83950B9D0BE0}"/>
                </a:ext>
              </a:extLst>
            </p:cNvPr>
            <p:cNvSpPr/>
            <p:nvPr/>
          </p:nvSpPr>
          <p:spPr>
            <a:xfrm>
              <a:off x="3435398" y="1525017"/>
              <a:ext cx="5114520" cy="161880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2" name="Graphic 12">
              <a:extLst>
                <a:ext uri="{FF2B5EF4-FFF2-40B4-BE49-F238E27FC236}">
                  <a16:creationId xmlns:a16="http://schemas.microsoft.com/office/drawing/2014/main" id="{43942D5D-7A26-A7F3-09C5-DCCF70599A4E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6589EA7A-87AC-520A-2B5C-928976D1D6AC}"/>
                </a:ext>
              </a:extLst>
            </p:cNvPr>
            <p:cNvSpPr/>
            <p:nvPr/>
          </p:nvSpPr>
          <p:spPr>
            <a:xfrm>
              <a:off x="4491904" y="1626635"/>
              <a:ext cx="3984748" cy="13835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copying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445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4C734-31A2-3940-9E01-2FFCB51EF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35035382-614D-AEAD-8A43-65CA033C9370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2" name="PlaceHolder 1">
            <a:extLst>
              <a:ext uri="{FF2B5EF4-FFF2-40B4-BE49-F238E27FC236}">
                <a16:creationId xmlns:a16="http://schemas.microsoft.com/office/drawing/2014/main" id="{F605CEFD-CC33-C797-1EAC-11ED90FAC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1) 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With a </a:t>
            </a:r>
            <a:r>
              <a:rPr lang="en-US" sz="3200" b="1" dirty="0">
                <a:solidFill>
                  <a:srgbClr val="000000"/>
                </a:solidFill>
                <a:latin typeface="Arial"/>
              </a:rPr>
              <a:t>copy</a:t>
            </a:r>
            <a:r>
              <a:rPr lang="en-US" sz="3200" dirty="0">
                <a:solidFill>
                  <a:srgbClr val="000000"/>
                </a:solidFill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D0B94CAF-F680-C83D-7228-37F944940037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BC1B678F-57FB-00B8-AC57-870FE469555A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11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9FFFBBFD-C171-D7FD-1550-F770B4AACBEA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5C482A17-FAFE-CE9B-A5DB-2AF0223A333B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8972A5BF-22D6-5AB9-B9C7-120BB0C70952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25EC43DF-9925-D42C-988A-BEC9B75C67B2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95601735-5D69-3E36-CF9A-32DA4DF3D064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11E5904F-DE02-58D2-ACC3-6454BE5B8E1B}"/>
              </a:ext>
            </a:extLst>
          </p:cNvPr>
          <p:cNvSpPr/>
          <p:nvPr/>
        </p:nvSpPr>
        <p:spPr>
          <a:xfrm>
            <a:off x="7666271" y="132195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F6FC5D44-41D4-34F5-73DA-7680F4222CF7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F08BF89B-A07D-593E-A721-FB69AB308F6F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E3B5D4F-A7FA-9F2F-AD94-B05AAA4ECCF9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10AC0BF4-FCC7-B8F0-1C72-D1C5B1446BA4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2D23049-1B98-72B5-DA4B-36B3D5D9894A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1BBB353B-8C0F-93F5-F21D-558D07893498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53325694-28AB-7E14-B543-9C4C45CA3DBF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D2E4E79C-BE88-149B-9DBD-2C04B3B1B7EA}"/>
              </a:ext>
            </a:extLst>
          </p:cNvPr>
          <p:cNvSpPr/>
          <p:nvPr/>
        </p:nvSpPr>
        <p:spPr>
          <a:xfrm>
            <a:off x="7747991" y="415271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9">
            <a:extLst>
              <a:ext uri="{FF2B5EF4-FFF2-40B4-BE49-F238E27FC236}">
                <a16:creationId xmlns:a16="http://schemas.microsoft.com/office/drawing/2014/main" id="{D46F027B-0000-50E1-8E44-A8512203370F}"/>
              </a:ext>
            </a:extLst>
          </p:cNvPr>
          <p:cNvGraphicFramePr/>
          <p:nvPr/>
        </p:nvGraphicFramePr>
        <p:xfrm>
          <a:off x="2806466" y="5829338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TextBox 12">
            <a:extLst>
              <a:ext uri="{FF2B5EF4-FFF2-40B4-BE49-F238E27FC236}">
                <a16:creationId xmlns:a16="http://schemas.microsoft.com/office/drawing/2014/main" id="{77A18A5F-A7AE-6F1A-99FA-37930AD1B711}"/>
              </a:ext>
            </a:extLst>
          </p:cNvPr>
          <p:cNvSpPr/>
          <p:nvPr/>
        </p:nvSpPr>
        <p:spPr>
          <a:xfrm>
            <a:off x="2664498" y="544321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57011CD5-0718-F659-08AD-918EB593CC7D}"/>
              </a:ext>
            </a:extLst>
          </p:cNvPr>
          <p:cNvCxnSpPr>
            <a:cxnSpLocks/>
          </p:cNvCxnSpPr>
          <p:nvPr/>
        </p:nvCxnSpPr>
        <p:spPr>
          <a:xfrm flipV="1">
            <a:off x="1632858" y="6034122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EFA2522A-1B98-8D66-6F40-CEE2D5F5402E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AE6BB6D6-A108-2CA6-E121-FC7CEA9BABCD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B02A8E1-BB56-BC69-C17A-4EAFB31AF270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DD21473C-D7E1-0D71-A0B0-8060D2FC9A4A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5BEEB4D2-88DC-4F3D-9472-5662DE5B9028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B8215D-A73F-BD00-AD4E-17DE85008952}"/>
              </a:ext>
            </a:extLst>
          </p:cNvPr>
          <p:cNvGrpSpPr/>
          <p:nvPr/>
        </p:nvGrpSpPr>
        <p:grpSpPr>
          <a:xfrm>
            <a:off x="3435398" y="1525017"/>
            <a:ext cx="5114520" cy="2020782"/>
            <a:chOff x="3435398" y="1525017"/>
            <a:chExt cx="5114520" cy="2020782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67EDEFF4-C589-15F9-A925-2145A75152C9}"/>
                </a:ext>
              </a:extLst>
            </p:cNvPr>
            <p:cNvSpPr/>
            <p:nvPr/>
          </p:nvSpPr>
          <p:spPr>
            <a:xfrm>
              <a:off x="3435398" y="1525017"/>
              <a:ext cx="5114520" cy="202078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2" name="Graphic 12">
              <a:extLst>
                <a:ext uri="{FF2B5EF4-FFF2-40B4-BE49-F238E27FC236}">
                  <a16:creationId xmlns:a16="http://schemas.microsoft.com/office/drawing/2014/main" id="{16C16B55-ACE3-1331-CC5D-6CCC620D2CE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46302173-45E5-F644-6651-02F362E4D023}"/>
                </a:ext>
              </a:extLst>
            </p:cNvPr>
            <p:cNvSpPr/>
            <p:nvPr/>
          </p:nvSpPr>
          <p:spPr>
            <a:xfrm>
              <a:off x="4491904" y="1626635"/>
              <a:ext cx="3984748" cy="181442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copying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  <a:p>
              <a:pPr>
                <a:lnSpc>
                  <a:spcPct val="100000"/>
                </a:lnSpc>
              </a:pPr>
              <a:r>
                <a:rPr lang="en-US" sz="2800" dirty="0">
                  <a:solidFill>
                    <a:srgbClr val="000000"/>
                  </a:solidFill>
                  <a:latin typeface="Arial"/>
                </a:rPr>
                <a:t>O(N)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76711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0D5C-1E3C-9A92-FD9E-44D606500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12BD633B-8B2E-5B86-9167-E4C998EF670D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4" name="PlaceHolder 3">
            <a:extLst>
              <a:ext uri="{FF2B5EF4-FFF2-40B4-BE49-F238E27FC236}">
                <a16:creationId xmlns:a16="http://schemas.microsoft.com/office/drawing/2014/main" id="{5F37DAC3-D17E-AA3E-2349-FA0FA5EB82B2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BE9678DD-BC14-B93C-E663-F2A77AC2A624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12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4D54D37E-815F-DEDD-9265-23DD789F018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186EB2C2-82F0-0D2B-C50E-A8B7DA9C5B22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F25AC728-E726-9A7A-E618-D68B50B27C4A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089CFEED-C055-638B-AEC4-6C7A3799F335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3B0BB2D9-E304-C2D6-FBBB-264578D47F29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8063B401-AA7A-4C71-B755-2C7C1EBC8DCA}"/>
              </a:ext>
            </a:extLst>
          </p:cNvPr>
          <p:cNvSpPr/>
          <p:nvPr/>
        </p:nvSpPr>
        <p:spPr>
          <a:xfrm>
            <a:off x="7666271" y="132195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78912CE2-775C-0EFD-8B50-012CB87B6408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1CF719F3-08C2-612E-646D-E08C0E100EA8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90A7DD1-4E66-1A6E-DA7D-CDDB4002484E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831C3E8D-3507-D61F-D14F-25E912F9CEF9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D8235B1-2782-E0E1-5AA9-00462BF3459F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x.reshape((3,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DCED817E-3645-148A-067E-6B2CBCB07783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4D444E84-4914-CE60-4168-29CFE258AB1C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19BFE866-C3AD-FD8C-60DC-23B925D8D741}"/>
              </a:ext>
            </a:extLst>
          </p:cNvPr>
          <p:cNvSpPr/>
          <p:nvPr/>
        </p:nvSpPr>
        <p:spPr>
          <a:xfrm>
            <a:off x="7747991" y="415271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55BFFF58-CC96-E690-8A8E-10749A84C95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64602" y="4040251"/>
            <a:ext cx="2555709" cy="1349829"/>
          </a:xfrm>
          <a:prstGeom prst="curvedConnector3">
            <a:avLst>
              <a:gd name="adj1" fmla="val 251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B6C0DC25-0798-CDDC-E98E-E171ECD737AD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09A6AEEB-EA94-0DCD-0EAD-B44BC3BEB287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B823012-D8AC-17F3-E573-9C9B34F442AD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2983872E-296A-C243-911D-2F23474393C5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627593AA-8D46-018B-4013-8F8775C9B0E4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>
            <a:extLst>
              <a:ext uri="{FF2B5EF4-FFF2-40B4-BE49-F238E27FC236}">
                <a16:creationId xmlns:a16="http://schemas.microsoft.com/office/drawing/2014/main" id="{05AB018A-4B2B-9F33-5126-3F520BD5B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2) With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view</a:t>
            </a: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6835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6D800-DFEE-6888-69FC-FAB8A712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505CC7DC-538B-4385-6CA5-AC73747525AD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4" name="PlaceHolder 3">
            <a:extLst>
              <a:ext uri="{FF2B5EF4-FFF2-40B4-BE49-F238E27FC236}">
                <a16:creationId xmlns:a16="http://schemas.microsoft.com/office/drawing/2014/main" id="{1AD18BC7-FD56-F513-C734-26A21B9987D8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C7301B31-1D44-5334-E067-91D307C140F5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13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FB1778F4-FDC7-8D68-7FBE-DBB5D4FD381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7B6233A3-D0E6-441C-6CE9-55E14D8C6297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1CB02A13-7D18-3930-9801-E2E100A6D317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6EE88151-DFD1-3BC0-51C6-A05EC9468E86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C6648112-E386-DA7E-884F-8CC47DAB12D9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616539A7-69DF-6149-458E-70E06402A96F}"/>
              </a:ext>
            </a:extLst>
          </p:cNvPr>
          <p:cNvSpPr/>
          <p:nvPr/>
        </p:nvSpPr>
        <p:spPr>
          <a:xfrm>
            <a:off x="7666271" y="132195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F0F3C47F-7C77-1A50-21DB-739088C5B2A0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76A8BF5B-6092-D2B4-FB02-A2D3DBC5AA80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056B00E-48FA-FFAD-2AC5-ED83B6C67840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553CB3C6-D6D2-1286-6737-6F7751A56118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04B8588-20BF-40EA-793D-900E39C83CA2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344CBB97-BD90-C176-043A-292116131926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CDE4F183-0F32-AD57-68A8-955DC3FA1A05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8CDA28D4-F119-AA40-4E6B-D03EB7B93557}"/>
              </a:ext>
            </a:extLst>
          </p:cNvPr>
          <p:cNvSpPr/>
          <p:nvPr/>
        </p:nvSpPr>
        <p:spPr>
          <a:xfrm>
            <a:off x="7747991" y="415271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8E713E9B-3637-CBD6-2D32-F4D8CD71467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64602" y="4040251"/>
            <a:ext cx="2555709" cy="1349829"/>
          </a:xfrm>
          <a:prstGeom prst="curvedConnector3">
            <a:avLst>
              <a:gd name="adj1" fmla="val 251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603C99C2-BB38-ED07-9AC0-8E47FA813CCF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8A773D76-F52E-0C4F-C4B3-79D15B3E6C40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4C35C74A-7F25-3588-CA55-AE85FD6CD1D7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3EF5B25B-07FE-BC53-3E62-B86A04645A20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E39BB8F5-BD4B-8A7C-CEDF-6813D544E151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>
            <a:extLst>
              <a:ext uri="{FF2B5EF4-FFF2-40B4-BE49-F238E27FC236}">
                <a16:creationId xmlns:a16="http://schemas.microsoft.com/office/drawing/2014/main" id="{BFC83AAF-6505-6375-58AE-0B5406AD1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2) With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view</a:t>
            </a: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62DA7FB-B4FD-22A9-CCBE-4B56A907E391}"/>
              </a:ext>
            </a:extLst>
          </p:cNvPr>
          <p:cNvGrpSpPr/>
          <p:nvPr/>
        </p:nvGrpSpPr>
        <p:grpSpPr>
          <a:xfrm>
            <a:off x="3435398" y="1525017"/>
            <a:ext cx="5114520" cy="2390952"/>
            <a:chOff x="3435398" y="1525017"/>
            <a:chExt cx="5114520" cy="1916046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AA630FF9-78B3-4A59-A407-8161DBB6FE28}"/>
                </a:ext>
              </a:extLst>
            </p:cNvPr>
            <p:cNvSpPr/>
            <p:nvPr/>
          </p:nvSpPr>
          <p:spPr>
            <a:xfrm>
              <a:off x="3435398" y="1525017"/>
              <a:ext cx="5114520" cy="161880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1" name="Graphic 12">
              <a:extLst>
                <a:ext uri="{FF2B5EF4-FFF2-40B4-BE49-F238E27FC236}">
                  <a16:creationId xmlns:a16="http://schemas.microsoft.com/office/drawing/2014/main" id="{1AB1F7FF-0F8D-B213-9E1B-56010C4A9EB2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ACD917CE-9FFB-2D56-B9BE-AC1202674F4E}"/>
                </a:ext>
              </a:extLst>
            </p:cNvPr>
            <p:cNvSpPr/>
            <p:nvPr/>
          </p:nvSpPr>
          <p:spPr>
            <a:xfrm>
              <a:off x="4491904" y="1626635"/>
              <a:ext cx="3984748" cy="181442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creating a view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6424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9D5D6-C7E6-644B-D869-099171313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able 11">
            <a:extLst>
              <a:ext uri="{FF2B5EF4-FFF2-40B4-BE49-F238E27FC236}">
                <a16:creationId xmlns:a16="http://schemas.microsoft.com/office/drawing/2014/main" id="{37E054DE-ADC3-D588-D00F-84493C09A7A0}"/>
              </a:ext>
            </a:extLst>
          </p:cNvPr>
          <p:cNvGraphicFramePr/>
          <p:nvPr/>
        </p:nvGraphicFramePr>
        <p:xfrm>
          <a:off x="537185" y="458075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(3,3)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4" name="PlaceHolder 3">
            <a:extLst>
              <a:ext uri="{FF2B5EF4-FFF2-40B4-BE49-F238E27FC236}">
                <a16:creationId xmlns:a16="http://schemas.microsoft.com/office/drawing/2014/main" id="{C00A29B6-9837-CC97-EBB5-110250050FBD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C5B929D8-157B-FFE7-4138-545CC4974055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FACB01-4BB1-41C9-B28B-2F6CF30148BB}" type="slidenum">
              <a:rPr/>
              <a:t>14</a:t>
            </a:fld>
            <a:endParaRPr/>
          </a:p>
        </p:txBody>
      </p:sp>
      <p:sp>
        <p:nvSpPr>
          <p:cNvPr id="183" name="PlaceHolder 2">
            <a:extLst>
              <a:ext uri="{FF2B5EF4-FFF2-40B4-BE49-F238E27FC236}">
                <a16:creationId xmlns:a16="http://schemas.microsoft.com/office/drawing/2014/main" id="{CBEFEA0A-0982-23D3-39EA-3C0BB5042B58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>
            <a:extLst>
              <a:ext uri="{FF2B5EF4-FFF2-40B4-BE49-F238E27FC236}">
                <a16:creationId xmlns:a16="http://schemas.microsoft.com/office/drawing/2014/main" id="{D8B96A87-3135-C325-7104-3F28308C56B4}"/>
              </a:ext>
            </a:extLst>
          </p:cNvPr>
          <p:cNvGraphicFramePr/>
          <p:nvPr/>
        </p:nvGraphicFramePr>
        <p:xfrm>
          <a:off x="2741151" y="3022933"/>
          <a:ext cx="3757653" cy="403702"/>
        </p:xfrm>
        <a:graphic>
          <a:graphicData uri="http://schemas.openxmlformats.org/drawingml/2006/table">
            <a:tbl>
              <a:tblPr/>
              <a:tblGrid>
                <a:gridCol w="417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75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0370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977" marR="77977" marT="38989" marB="38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85" name="TextBox 10">
            <a:extLst>
              <a:ext uri="{FF2B5EF4-FFF2-40B4-BE49-F238E27FC236}">
                <a16:creationId xmlns:a16="http://schemas.microsoft.com/office/drawing/2014/main" id="{D78FE795-9727-CCD1-5FB1-47E5D5515211}"/>
              </a:ext>
            </a:extLst>
          </p:cNvPr>
          <p:cNvSpPr/>
          <p:nvPr/>
        </p:nvSpPr>
        <p:spPr>
          <a:xfrm>
            <a:off x="7326638" y="2270274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>
            <a:extLst>
              <a:ext uri="{FF2B5EF4-FFF2-40B4-BE49-F238E27FC236}">
                <a16:creationId xmlns:a16="http://schemas.microsoft.com/office/drawing/2014/main" id="{653677AB-D433-C866-B016-21B1FA19B1F6}"/>
              </a:ext>
            </a:extLst>
          </p:cNvPr>
          <p:cNvGraphicFramePr/>
          <p:nvPr/>
        </p:nvGraphicFramePr>
        <p:xfrm>
          <a:off x="484729" y="1785027"/>
          <a:ext cx="1884360" cy="1618805"/>
        </p:xfrm>
        <a:graphic>
          <a:graphicData uri="http://schemas.openxmlformats.org/drawingml/2006/table">
            <a:tbl>
              <a:tblPr/>
              <a:tblGrid>
                <a:gridCol w="8887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5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918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3265428"/>
                  </a:ext>
                </a:extLst>
              </a:tr>
            </a:tbl>
          </a:graphicData>
        </a:graphic>
      </p:graphicFrame>
      <p:sp>
        <p:nvSpPr>
          <p:cNvPr id="187" name="TextBox 12">
            <a:extLst>
              <a:ext uri="{FF2B5EF4-FFF2-40B4-BE49-F238E27FC236}">
                <a16:creationId xmlns:a16="http://schemas.microsoft.com/office/drawing/2014/main" id="{C6734608-3D6A-BD67-6AE4-04F3B93B9E57}"/>
              </a:ext>
            </a:extLst>
          </p:cNvPr>
          <p:cNvSpPr/>
          <p:nvPr/>
        </p:nvSpPr>
        <p:spPr>
          <a:xfrm>
            <a:off x="2599183" y="2636805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6">
            <a:extLst>
              <a:ext uri="{FF2B5EF4-FFF2-40B4-BE49-F238E27FC236}">
                <a16:creationId xmlns:a16="http://schemas.microsoft.com/office/drawing/2014/main" id="{6B5F4C4B-92F2-1C6D-6A30-AA30290E7587}"/>
              </a:ext>
            </a:extLst>
          </p:cNvPr>
          <p:cNvSpPr/>
          <p:nvPr/>
        </p:nvSpPr>
        <p:spPr>
          <a:xfrm>
            <a:off x="7666271" y="132195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>
            <a:extLst>
              <a:ext uri="{FF2B5EF4-FFF2-40B4-BE49-F238E27FC236}">
                <a16:creationId xmlns:a16="http://schemas.microsoft.com/office/drawing/2014/main" id="{9BB2C7CE-3A20-2FD7-376E-9D76A3E09442}"/>
              </a:ext>
            </a:extLst>
          </p:cNvPr>
          <p:cNvSpPr/>
          <p:nvPr/>
        </p:nvSpPr>
        <p:spPr>
          <a:xfrm>
            <a:off x="403009" y="129058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" name="Curved Connector 1">
            <a:extLst>
              <a:ext uri="{FF2B5EF4-FFF2-40B4-BE49-F238E27FC236}">
                <a16:creationId xmlns:a16="http://schemas.microsoft.com/office/drawing/2014/main" id="{0858A248-39C8-9421-BCF4-5E55AEABA551}"/>
              </a:ext>
            </a:extLst>
          </p:cNvPr>
          <p:cNvCxnSpPr>
            <a:cxnSpLocks/>
          </p:cNvCxnSpPr>
          <p:nvPr/>
        </p:nvCxnSpPr>
        <p:spPr>
          <a:xfrm flipV="1">
            <a:off x="1567543" y="3227717"/>
            <a:ext cx="1173608" cy="926"/>
          </a:xfrm>
          <a:prstGeom prst="curved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6E9522D-87DB-4C38-888F-719049A90F0A}"/>
              </a:ext>
            </a:extLst>
          </p:cNvPr>
          <p:cNvSpPr txBox="1"/>
          <p:nvPr/>
        </p:nvSpPr>
        <p:spPr>
          <a:xfrm>
            <a:off x="453840" y="864982"/>
            <a:ext cx="36566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np.arange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(9)</a:t>
            </a:r>
          </a:p>
        </p:txBody>
      </p:sp>
      <p:graphicFrame>
        <p:nvGraphicFramePr>
          <p:cNvPr id="9" name="Table 22">
            <a:extLst>
              <a:ext uri="{FF2B5EF4-FFF2-40B4-BE49-F238E27FC236}">
                <a16:creationId xmlns:a16="http://schemas.microsoft.com/office/drawing/2014/main" id="{D55A0527-9E15-5A39-8BE5-749F2C25BC87}"/>
              </a:ext>
            </a:extLst>
          </p:cNvPr>
          <p:cNvGraphicFramePr/>
          <p:nvPr/>
        </p:nvGraphicFramePr>
        <p:xfrm>
          <a:off x="7747991" y="1834869"/>
          <a:ext cx="3959280" cy="4572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45CFA73-4067-1574-3CDF-6F57130A16E7}"/>
              </a:ext>
            </a:extLst>
          </p:cNvPr>
          <p:cNvSpPr txBox="1"/>
          <p:nvPr/>
        </p:nvSpPr>
        <p:spPr>
          <a:xfrm>
            <a:off x="453840" y="3691054"/>
            <a:ext cx="441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y = </a:t>
            </a:r>
            <a:r>
              <a:rPr lang="en-US" sz="2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x.reshape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((3, 3))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292A89F0-15F6-01D5-B0E4-4E74BB566D40}"/>
              </a:ext>
            </a:extLst>
          </p:cNvPr>
          <p:cNvSpPr/>
          <p:nvPr/>
        </p:nvSpPr>
        <p:spPr>
          <a:xfrm>
            <a:off x="440428" y="4152719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" name="Table 15">
            <a:extLst>
              <a:ext uri="{FF2B5EF4-FFF2-40B4-BE49-F238E27FC236}">
                <a16:creationId xmlns:a16="http://schemas.microsoft.com/office/drawing/2014/main" id="{C5DB76D5-D10E-98A8-3E2A-5E178EB7A904}"/>
              </a:ext>
            </a:extLst>
          </p:cNvPr>
          <p:cNvGraphicFramePr/>
          <p:nvPr/>
        </p:nvGraphicFramePr>
        <p:xfrm>
          <a:off x="7809912" y="4559159"/>
          <a:ext cx="1568811" cy="1352742"/>
        </p:xfrm>
        <a:graphic>
          <a:graphicData uri="http://schemas.openxmlformats.org/drawingml/2006/table">
            <a:tbl>
              <a:tblPr/>
              <a:tblGrid>
                <a:gridCol w="522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2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9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2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2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03929" marR="103929" marT="42577" marB="42577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6">
            <a:extLst>
              <a:ext uri="{FF2B5EF4-FFF2-40B4-BE49-F238E27FC236}">
                <a16:creationId xmlns:a16="http://schemas.microsoft.com/office/drawing/2014/main" id="{478EA501-BC3F-0B34-68E9-50D6430BDEFF}"/>
              </a:ext>
            </a:extLst>
          </p:cNvPr>
          <p:cNvSpPr/>
          <p:nvPr/>
        </p:nvSpPr>
        <p:spPr>
          <a:xfrm>
            <a:off x="7747991" y="4152719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20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DDC36ECE-34C3-4CE8-D0A1-5E1F06FC634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64602" y="4040251"/>
            <a:ext cx="2555709" cy="1349829"/>
          </a:xfrm>
          <a:prstGeom prst="curvedConnector3">
            <a:avLst>
              <a:gd name="adj1" fmla="val 251"/>
            </a:avLst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10">
            <a:extLst>
              <a:ext uri="{FF2B5EF4-FFF2-40B4-BE49-F238E27FC236}">
                <a16:creationId xmlns:a16="http://schemas.microsoft.com/office/drawing/2014/main" id="{E7A23C82-1CF2-5499-D167-69365F5F7CE7}"/>
              </a:ext>
            </a:extLst>
          </p:cNvPr>
          <p:cNvSpPr/>
          <p:nvPr/>
        </p:nvSpPr>
        <p:spPr>
          <a:xfrm>
            <a:off x="7414811" y="59139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riangle 19">
            <a:extLst>
              <a:ext uri="{FF2B5EF4-FFF2-40B4-BE49-F238E27FC236}">
                <a16:creationId xmlns:a16="http://schemas.microsoft.com/office/drawing/2014/main" id="{623D1271-9098-9643-2AF4-BC22CBC21F95}"/>
              </a:ext>
            </a:extLst>
          </p:cNvPr>
          <p:cNvSpPr/>
          <p:nvPr/>
        </p:nvSpPr>
        <p:spPr>
          <a:xfrm rot="5400000">
            <a:off x="6026932" y="1920166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044E50BF-1B87-31D4-9092-42EA3ECA90B6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79" y="1659706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riangle 19">
            <a:extLst>
              <a:ext uri="{FF2B5EF4-FFF2-40B4-BE49-F238E27FC236}">
                <a16:creationId xmlns:a16="http://schemas.microsoft.com/office/drawing/2014/main" id="{65CF97AA-DE2C-ED30-F99B-F777FB45B298}"/>
              </a:ext>
            </a:extLst>
          </p:cNvPr>
          <p:cNvSpPr/>
          <p:nvPr/>
        </p:nvSpPr>
        <p:spPr>
          <a:xfrm rot="5400000">
            <a:off x="6026886" y="4670254"/>
            <a:ext cx="1823574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6" name="Picture 2">
            <a:extLst>
              <a:ext uri="{FF2B5EF4-FFF2-40B4-BE49-F238E27FC236}">
                <a16:creationId xmlns:a16="http://schemas.microsoft.com/office/drawing/2014/main" id="{C99B1046-328B-BD72-7722-EE1E8D38D0A2}"/>
              </a:ext>
            </a:extLst>
          </p:cNvPr>
          <p:cNvPicPr/>
          <p:nvPr/>
        </p:nvPicPr>
        <p:blipFill>
          <a:blip r:embed="rId3"/>
          <a:srcRect b="32467"/>
          <a:stretch/>
        </p:blipFill>
        <p:spPr>
          <a:xfrm flipH="1">
            <a:off x="6118933" y="4409794"/>
            <a:ext cx="1319866" cy="90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>
            <a:extLst>
              <a:ext uri="{FF2B5EF4-FFF2-40B4-BE49-F238E27FC236}">
                <a16:creationId xmlns:a16="http://schemas.microsoft.com/office/drawing/2014/main" id="{00D27B66-2574-5EC2-1138-F68BACDAF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634" y="33205"/>
            <a:ext cx="11398526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2) With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view</a:t>
            </a:r>
            <a:r>
              <a:rPr lang="en-US" sz="320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of the original data</a:t>
            </a:r>
            <a:endParaRPr lang="en-US" sz="3200" b="1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9C36ACA-4A64-BCCB-26FB-D231401C6CD4}"/>
              </a:ext>
            </a:extLst>
          </p:cNvPr>
          <p:cNvGrpSpPr/>
          <p:nvPr/>
        </p:nvGrpSpPr>
        <p:grpSpPr>
          <a:xfrm>
            <a:off x="3435398" y="1525017"/>
            <a:ext cx="5114520" cy="2419651"/>
            <a:chOff x="3435398" y="1525017"/>
            <a:chExt cx="5114520" cy="1939045"/>
          </a:xfrm>
        </p:grpSpPr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8A73C2FF-79EA-B4E4-CB6F-51D0BE039104}"/>
                </a:ext>
              </a:extLst>
            </p:cNvPr>
            <p:cNvSpPr/>
            <p:nvPr/>
          </p:nvSpPr>
          <p:spPr>
            <a:xfrm>
              <a:off x="3435398" y="1525017"/>
              <a:ext cx="5114520" cy="193904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1" name="Graphic 12">
              <a:extLst>
                <a:ext uri="{FF2B5EF4-FFF2-40B4-BE49-F238E27FC236}">
                  <a16:creationId xmlns:a16="http://schemas.microsoft.com/office/drawing/2014/main" id="{D898AD25-EB3C-D2ED-58FC-7D2B3D8B764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3555411" y="1700583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" name="TextBox 13">
              <a:extLst>
                <a:ext uri="{FF2B5EF4-FFF2-40B4-BE49-F238E27FC236}">
                  <a16:creationId xmlns:a16="http://schemas.microsoft.com/office/drawing/2014/main" id="{FB461455-F454-3E36-21BD-26187F9FE8A1}"/>
                </a:ext>
              </a:extLst>
            </p:cNvPr>
            <p:cNvSpPr/>
            <p:nvPr/>
          </p:nvSpPr>
          <p:spPr>
            <a:xfrm>
              <a:off x="4491904" y="1626635"/>
              <a:ext cx="3984748" cy="181442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How does </a:t>
              </a:r>
              <a:r>
                <a:rPr lang="en-US" sz="2800" b="1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creating a view</a:t>
              </a:r>
              <a:r>
                <a:rPr lang="en-US" sz="28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scale if the original array has N elements?</a:t>
              </a:r>
            </a:p>
            <a:p>
              <a:pPr>
                <a:lnSpc>
                  <a:spcPct val="100000"/>
                </a:lnSpc>
              </a:pPr>
              <a:r>
                <a:rPr lang="en-US" sz="2800" dirty="0">
                  <a:solidFill>
                    <a:srgbClr val="000000"/>
                  </a:solidFill>
                  <a:latin typeface="Arial"/>
                </a:rPr>
                <a:t>O(1)!</a:t>
              </a:r>
              <a:endParaRPr lang="en-US" sz="28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92134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25120" y="4338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O(1) operations in NumPy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59B9DB0-4BB1-4035-9D8C-B046F6439D11}" type="slidenum">
              <a:rPr/>
              <a:t>15</a:t>
            </a:fld>
            <a:endParaRPr dirty="0"/>
          </a:p>
        </p:txBody>
      </p:sp>
      <p:sp>
        <p:nvSpPr>
          <p:cNvPr id="20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482819" y="1305758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6"/>
          <p:cNvGraphicFramePr/>
          <p:nvPr>
            <p:extLst>
              <p:ext uri="{D42A27DB-BD31-4B8C-83A1-F6EECF244321}">
                <p14:modId xmlns:p14="http://schemas.microsoft.com/office/powerpoint/2010/main" val="3672212002"/>
              </p:ext>
            </p:extLst>
          </p:nvPr>
        </p:nvGraphicFramePr>
        <p:xfrm>
          <a:off x="6588720" y="3405828"/>
          <a:ext cx="4544640" cy="29556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08" name="Table 8"/>
          <p:cNvGraphicFramePr/>
          <p:nvPr>
            <p:extLst>
              <p:ext uri="{D42A27DB-BD31-4B8C-83A1-F6EECF244321}">
                <p14:modId xmlns:p14="http://schemas.microsoft.com/office/powerpoint/2010/main" val="2790163110"/>
              </p:ext>
            </p:extLst>
          </p:nvPr>
        </p:nvGraphicFramePr>
        <p:xfrm>
          <a:off x="6588720" y="4271988"/>
          <a:ext cx="1353600" cy="999000"/>
        </p:xfrm>
        <a:graphic>
          <a:graphicData uri="http://schemas.openxmlformats.org/drawingml/2006/table">
            <a:tbl>
              <a:tblPr/>
              <a:tblGrid>
                <a:gridCol w="33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7040" marR="7704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09" name="Table 9"/>
          <p:cNvGraphicFramePr/>
          <p:nvPr>
            <p:extLst>
              <p:ext uri="{D42A27DB-BD31-4B8C-83A1-F6EECF244321}">
                <p14:modId xmlns:p14="http://schemas.microsoft.com/office/powerpoint/2010/main" val="1821065245"/>
              </p:ext>
            </p:extLst>
          </p:nvPr>
        </p:nvGraphicFramePr>
        <p:xfrm>
          <a:off x="6588720" y="1661438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10" name="Table 10"/>
          <p:cNvGraphicFramePr/>
          <p:nvPr>
            <p:extLst>
              <p:ext uri="{D42A27DB-BD31-4B8C-83A1-F6EECF244321}">
                <p14:modId xmlns:p14="http://schemas.microsoft.com/office/powerpoint/2010/main" val="3302250698"/>
              </p:ext>
            </p:extLst>
          </p:nvPr>
        </p:nvGraphicFramePr>
        <p:xfrm>
          <a:off x="7064757" y="775046"/>
          <a:ext cx="4969185" cy="393619"/>
        </p:xfrm>
        <a:graphic>
          <a:graphicData uri="http://schemas.openxmlformats.org/drawingml/2006/table">
            <a:tbl>
              <a:tblPr/>
              <a:tblGrid>
                <a:gridCol w="382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8224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9361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76030" marR="76030" marT="38015" marB="38015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1" name="TextBox 11"/>
          <p:cNvSpPr/>
          <p:nvPr/>
        </p:nvSpPr>
        <p:spPr>
          <a:xfrm>
            <a:off x="6947937" y="424093"/>
            <a:ext cx="19436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2"/>
          <p:cNvSpPr/>
          <p:nvPr/>
        </p:nvSpPr>
        <p:spPr>
          <a:xfrm>
            <a:off x="771840" y="2899838"/>
            <a:ext cx="280872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 = </a:t>
            </a: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x.ravel()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580320" y="1305758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767520" y="4271988"/>
            <a:ext cx="280872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 = x.T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6"/>
          <p:cNvSpPr/>
          <p:nvPr/>
        </p:nvSpPr>
        <p:spPr>
          <a:xfrm>
            <a:off x="767520" y="1685198"/>
            <a:ext cx="280872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18"/>
          <p:cNvGraphicFramePr/>
          <p:nvPr>
            <p:extLst>
              <p:ext uri="{D42A27DB-BD31-4B8C-83A1-F6EECF244321}">
                <p14:modId xmlns:p14="http://schemas.microsoft.com/office/powerpoint/2010/main" val="3974797004"/>
              </p:ext>
            </p:extLst>
          </p:nvPr>
        </p:nvGraphicFramePr>
        <p:xfrm>
          <a:off x="3859560" y="2951752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(12,)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616021"/>
                  </a:ext>
                </a:extLst>
              </a:tr>
            </a:tbl>
          </a:graphicData>
        </a:graphic>
      </p:graphicFrame>
      <p:sp>
        <p:nvSpPr>
          <p:cNvPr id="218" name="TextBox 19"/>
          <p:cNvSpPr/>
          <p:nvPr/>
        </p:nvSpPr>
        <p:spPr>
          <a:xfrm>
            <a:off x="3639960" y="1305758"/>
            <a:ext cx="259164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b="1" dirty="0">
                <a:solidFill>
                  <a:srgbClr val="808080"/>
                </a:solidFill>
                <a:latin typeface="Calibri"/>
                <a:ea typeface="DejaVu Sans"/>
              </a:rPr>
              <a:t>NumPy</a:t>
            </a:r>
            <a:r>
              <a:rPr lang="en-CH" sz="1800" b="1" u="none" strike="noStrike" dirty="0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 array metadata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21"/>
          <p:cNvGraphicFramePr/>
          <p:nvPr>
            <p:extLst>
              <p:ext uri="{D42A27DB-BD31-4B8C-83A1-F6EECF244321}">
                <p14:modId xmlns:p14="http://schemas.microsoft.com/office/powerpoint/2010/main" val="2191098255"/>
              </p:ext>
            </p:extLst>
          </p:nvPr>
        </p:nvGraphicFramePr>
        <p:xfrm>
          <a:off x="3859560" y="4271988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549995"/>
                  </a:ext>
                </a:extLst>
              </a:tr>
            </a:tbl>
          </a:graphicData>
        </a:graphic>
      </p:graphicFrame>
      <p:graphicFrame>
        <p:nvGraphicFramePr>
          <p:cNvPr id="220" name="Table 22"/>
          <p:cNvGraphicFramePr/>
          <p:nvPr>
            <p:extLst>
              <p:ext uri="{D42A27DB-BD31-4B8C-83A1-F6EECF244321}">
                <p14:modId xmlns:p14="http://schemas.microsoft.com/office/powerpoint/2010/main" val="1616755628"/>
              </p:ext>
            </p:extLst>
          </p:nvPr>
        </p:nvGraphicFramePr>
        <p:xfrm>
          <a:off x="3859560" y="1685558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6505104"/>
                  </a:ext>
                </a:extLst>
              </a:tr>
            </a:tbl>
          </a:graphicData>
        </a:graphic>
      </p:graphicFrame>
      <p:sp>
        <p:nvSpPr>
          <p:cNvPr id="221" name="TextBox 23"/>
          <p:cNvSpPr/>
          <p:nvPr/>
        </p:nvSpPr>
        <p:spPr>
          <a:xfrm>
            <a:off x="767520" y="5486628"/>
            <a:ext cx="2985874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dirty="0">
                <a:solidFill>
                  <a:srgbClr val="000000"/>
                </a:solidFill>
                <a:latin typeface="Consolas"/>
              </a:rPr>
              <a:t>y = x</a:t>
            </a: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.reshape((2, 6))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26"/>
          <p:cNvGraphicFramePr/>
          <p:nvPr>
            <p:extLst>
              <p:ext uri="{D42A27DB-BD31-4B8C-83A1-F6EECF244321}">
                <p14:modId xmlns:p14="http://schemas.microsoft.com/office/powerpoint/2010/main" val="2584221205"/>
              </p:ext>
            </p:extLst>
          </p:nvPr>
        </p:nvGraphicFramePr>
        <p:xfrm>
          <a:off x="3859560" y="5523827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9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(48, 8)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93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23290"/>
                  </a:ext>
                </a:extLst>
              </a:tr>
            </a:tbl>
          </a:graphicData>
        </a:graphic>
      </p:graphicFrame>
      <p:graphicFrame>
        <p:nvGraphicFramePr>
          <p:cNvPr id="223" name="Table 28"/>
          <p:cNvGraphicFramePr/>
          <p:nvPr>
            <p:extLst>
              <p:ext uri="{D42A27DB-BD31-4B8C-83A1-F6EECF244321}">
                <p14:modId xmlns:p14="http://schemas.microsoft.com/office/powerpoint/2010/main" val="1047656911"/>
              </p:ext>
            </p:extLst>
          </p:nvPr>
        </p:nvGraphicFramePr>
        <p:xfrm>
          <a:off x="6588720" y="5523827"/>
          <a:ext cx="2272320" cy="591120"/>
        </p:xfrm>
        <a:graphic>
          <a:graphicData uri="http://schemas.openxmlformats.org/drawingml/2006/table">
            <a:tbl>
              <a:tblPr/>
              <a:tblGrid>
                <a:gridCol w="37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5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360" marR="903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AE13782-78C4-F74A-AFDA-F1413C7D8C19}"/>
              </a:ext>
            </a:extLst>
          </p:cNvPr>
          <p:cNvCxnSpPr>
            <a:cxnSpLocks/>
            <a:endCxn id="210" idx="1"/>
          </p:cNvCxnSpPr>
          <p:nvPr/>
        </p:nvCxnSpPr>
        <p:spPr>
          <a:xfrm>
            <a:off x="6702552" y="971855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Diamond 22">
            <a:extLst>
              <a:ext uri="{FF2B5EF4-FFF2-40B4-BE49-F238E27FC236}">
                <a16:creationId xmlns:a16="http://schemas.microsoft.com/office/drawing/2014/main" id="{79EA3EFC-54D7-DEB1-67C8-E3BF11119D74}"/>
              </a:ext>
            </a:extLst>
          </p:cNvPr>
          <p:cNvSpPr/>
          <p:nvPr/>
        </p:nvSpPr>
        <p:spPr>
          <a:xfrm>
            <a:off x="5029200" y="2577161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iamond 23">
            <a:extLst>
              <a:ext uri="{FF2B5EF4-FFF2-40B4-BE49-F238E27FC236}">
                <a16:creationId xmlns:a16="http://schemas.microsoft.com/office/drawing/2014/main" id="{7F8E7612-A2B9-67F1-F4D4-D357AD8514D0}"/>
              </a:ext>
            </a:extLst>
          </p:cNvPr>
          <p:cNvSpPr/>
          <p:nvPr/>
        </p:nvSpPr>
        <p:spPr>
          <a:xfrm>
            <a:off x="5029200" y="383999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08840F46-08B9-F584-249A-42EA67DE45E4}"/>
              </a:ext>
            </a:extLst>
          </p:cNvPr>
          <p:cNvSpPr/>
          <p:nvPr/>
        </p:nvSpPr>
        <p:spPr>
          <a:xfrm>
            <a:off x="5029200" y="5143683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iamond 25">
            <a:extLst>
              <a:ext uri="{FF2B5EF4-FFF2-40B4-BE49-F238E27FC236}">
                <a16:creationId xmlns:a16="http://schemas.microsoft.com/office/drawing/2014/main" id="{7DFF567C-7F3D-9F2B-933B-DB5F113082EC}"/>
              </a:ext>
            </a:extLst>
          </p:cNvPr>
          <p:cNvSpPr/>
          <p:nvPr/>
        </p:nvSpPr>
        <p:spPr>
          <a:xfrm>
            <a:off x="5029200" y="6410642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The golden rule of NumPy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 dirty="0"/>
              <a:t>Data, v4.0</a:t>
            </a:r>
            <a:endParaRPr dirty="0"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10AB7B5-445C-4251-8C8E-CF8E9509A145}" type="slidenum">
              <a:rPr/>
              <a:t>16</a:t>
            </a:fld>
            <a:endParaRPr/>
          </a:p>
        </p:txBody>
      </p:sp>
      <p:sp>
        <p:nvSpPr>
          <p:cNvPr id="22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itle 4"/>
          <p:cNvSpPr/>
          <p:nvPr/>
        </p:nvSpPr>
        <p:spPr>
          <a:xfrm>
            <a:off x="407520" y="2332800"/>
            <a:ext cx="11521080" cy="2191680"/>
          </a:xfrm>
          <a:prstGeom prst="rect">
            <a:avLst/>
          </a:prstGeom>
          <a:solidFill>
            <a:srgbClr val="E3F1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 that can be executed by only changing the metadata return a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</a:t>
            </a:r>
            <a:r>
              <a:rPr lang="en-CH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view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“ of the original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CH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In all other cases, 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it creates a </a:t>
            </a:r>
            <a:r>
              <a:rPr lang="en-US" sz="3200" b="1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“copy”</a:t>
            </a: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with a new data memory block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 dirty="0"/>
              <a:t>Data, v4.0</a:t>
            </a:r>
            <a:endParaRPr dirty="0"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1B48600B-6A07-4E09-AC68-C02BCEE613EF}" type="slidenum">
              <a:rPr/>
              <a:t>17</a:t>
            </a:fld>
            <a:endParaRPr/>
          </a:p>
        </p:txBody>
      </p:sp>
      <p:sp>
        <p:nvSpPr>
          <p:cNvPr id="228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30" name="Table 7"/>
          <p:cNvGraphicFramePr/>
          <p:nvPr>
            <p:extLst>
              <p:ext uri="{D42A27DB-BD31-4B8C-83A1-F6EECF244321}">
                <p14:modId xmlns:p14="http://schemas.microsoft.com/office/powerpoint/2010/main" val="1367235162"/>
              </p:ext>
            </p:extLst>
          </p:nvPr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31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12"/>
          <p:cNvGraphicFramePr/>
          <p:nvPr>
            <p:extLst>
              <p:ext uri="{D42A27DB-BD31-4B8C-83A1-F6EECF244321}">
                <p14:modId xmlns:p14="http://schemas.microsoft.com/office/powerpoint/2010/main" val="3554642205"/>
              </p:ext>
            </p:extLst>
          </p:nvPr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236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8" name="TextBox 15"/>
          <p:cNvSpPr/>
          <p:nvPr/>
        </p:nvSpPr>
        <p:spPr>
          <a:xfrm>
            <a:off x="8313120" y="4343760"/>
            <a:ext cx="3096720" cy="644877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16"/>
          <p:cNvGraphicFramePr/>
          <p:nvPr>
            <p:extLst>
              <p:ext uri="{D42A27DB-BD31-4B8C-83A1-F6EECF244321}">
                <p14:modId xmlns:p14="http://schemas.microsoft.com/office/powerpoint/2010/main" val="3086354938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347226"/>
                  </a:ext>
                </a:extLst>
              </a:tr>
            </a:tbl>
          </a:graphicData>
        </a:graphic>
      </p:graphicFrame>
      <p:grpSp>
        <p:nvGrpSpPr>
          <p:cNvPr id="24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4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42" name="Graphic 21"/>
            <p:cNvPicPr/>
            <p:nvPr/>
          </p:nvPicPr>
          <p:blipFill>
            <a:blip r:embed="rId3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43" name="TextBox 23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6">
            <a:extLst>
              <a:ext uri="{FF2B5EF4-FFF2-40B4-BE49-F238E27FC236}">
                <a16:creationId xmlns:a16="http://schemas.microsoft.com/office/drawing/2014/main" id="{F080179B-350A-FB04-245E-4100F298D0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4127368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C831F64-2257-527D-1FCF-9C5EAF2E1F98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iamond 6">
            <a:extLst>
              <a:ext uri="{FF2B5EF4-FFF2-40B4-BE49-F238E27FC236}">
                <a16:creationId xmlns:a16="http://schemas.microsoft.com/office/drawing/2014/main" id="{8771E942-606F-872A-3B42-46D6B67273C6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87FEFC08-ECE4-13C1-0E15-56A3A221EE8B}"/>
              </a:ext>
            </a:extLst>
          </p:cNvPr>
          <p:cNvSpPr/>
          <p:nvPr/>
        </p:nvSpPr>
        <p:spPr>
          <a:xfrm>
            <a:off x="5193792" y="5539817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FE333E5-57FA-48F5-BD1F-F0DACC2F8714}" type="slidenum">
              <a:rPr/>
              <a:t>18</a:t>
            </a:fld>
            <a:endParaRPr/>
          </a:p>
        </p:txBody>
      </p:sp>
      <p:sp>
        <p:nvSpPr>
          <p:cNvPr id="24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46" name="Table 6"/>
          <p:cNvGraphicFramePr/>
          <p:nvPr>
            <p:extLst>
              <p:ext uri="{D42A27DB-BD31-4B8C-83A1-F6EECF244321}">
                <p14:modId xmlns:p14="http://schemas.microsoft.com/office/powerpoint/2010/main" val="1089834933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48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12"/>
          <p:cNvGraphicFramePr/>
          <p:nvPr>
            <p:extLst>
              <p:ext uri="{D42A27DB-BD31-4B8C-83A1-F6EECF244321}">
                <p14:modId xmlns:p14="http://schemas.microsoft.com/office/powerpoint/2010/main" val="275016188"/>
              </p:ext>
            </p:extLst>
          </p:nvPr>
        </p:nvGraphicFramePr>
        <p:xfrm>
          <a:off x="4038480" y="273636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3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5" name="Table 16"/>
          <p:cNvGraphicFramePr/>
          <p:nvPr>
            <p:extLst>
              <p:ext uri="{D42A27DB-BD31-4B8C-83A1-F6EECF244321}">
                <p14:modId xmlns:p14="http://schemas.microsoft.com/office/powerpoint/2010/main" val="3257258934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016287"/>
                  </a:ext>
                </a:extLst>
              </a:tr>
            </a:tbl>
          </a:graphicData>
        </a:graphic>
      </p:graphicFrame>
      <p:sp>
        <p:nvSpPr>
          <p:cNvPr id="256" name="TextBox 17"/>
          <p:cNvSpPr/>
          <p:nvPr/>
        </p:nvSpPr>
        <p:spPr>
          <a:xfrm>
            <a:off x="8313120" y="550404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8313120" y="4343760"/>
            <a:ext cx="3096720" cy="952653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8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59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60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TextBox 22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7">
            <a:extLst>
              <a:ext uri="{FF2B5EF4-FFF2-40B4-BE49-F238E27FC236}">
                <a16:creationId xmlns:a16="http://schemas.microsoft.com/office/drawing/2014/main" id="{DB9ADE4D-13A0-6374-CC34-4CE0715223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3103243"/>
              </p:ext>
            </p:extLst>
          </p:nvPr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2D4406F-B307-F9D6-78DE-C4B968BD6BBA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12">
            <a:extLst>
              <a:ext uri="{FF2B5EF4-FFF2-40B4-BE49-F238E27FC236}">
                <a16:creationId xmlns:a16="http://schemas.microsoft.com/office/drawing/2014/main" id="{5CA14142-996D-69B2-26AD-7220E961D8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3273726"/>
              </p:ext>
            </p:extLst>
          </p:nvPr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7" name="Diamond 6">
            <a:extLst>
              <a:ext uri="{FF2B5EF4-FFF2-40B4-BE49-F238E27FC236}">
                <a16:creationId xmlns:a16="http://schemas.microsoft.com/office/drawing/2014/main" id="{83986A61-184D-EECD-F44D-99BBD7B8E140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1DE022C4-85B7-DBDC-A0A6-21BD400820AC}"/>
              </a:ext>
            </a:extLst>
          </p:cNvPr>
          <p:cNvSpPr/>
          <p:nvPr/>
        </p:nvSpPr>
        <p:spPr>
          <a:xfrm>
            <a:off x="5193792" y="553797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B4771084-85BB-F4DD-367A-00DB29422A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9078829"/>
              </p:ext>
            </p:extLst>
          </p:nvPr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352AEB28-D12D-4131-B88B-7D50F0936FC1}" type="slidenum">
              <a:rPr/>
              <a:t>19</a:t>
            </a:fld>
            <a:endParaRPr/>
          </a:p>
        </p:txBody>
      </p:sp>
      <p:sp>
        <p:nvSpPr>
          <p:cNvPr id="263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14"/>
          <p:cNvGraphicFramePr/>
          <p:nvPr/>
        </p:nvGraphicFramePr>
        <p:xfrm>
          <a:off x="6679440" y="4629960"/>
          <a:ext cx="738000" cy="6192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75" name="TextBox 18"/>
          <p:cNvSpPr/>
          <p:nvPr/>
        </p:nvSpPr>
        <p:spPr>
          <a:xfrm>
            <a:off x="8313120" y="550404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9"/>
          <p:cNvSpPr/>
          <p:nvPr/>
        </p:nvSpPr>
        <p:spPr>
          <a:xfrm>
            <a:off x="8313120" y="4343760"/>
            <a:ext cx="3096720" cy="952653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16">
            <a:extLst>
              <a:ext uri="{FF2B5EF4-FFF2-40B4-BE49-F238E27FC236}">
                <a16:creationId xmlns:a16="http://schemas.microsoft.com/office/drawing/2014/main" id="{A1D4CF46-CC9A-283F-6A26-D019BB7F1D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1024579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016287"/>
                  </a:ext>
                </a:extLst>
              </a:tr>
            </a:tbl>
          </a:graphicData>
        </a:graphic>
      </p:graphicFrame>
      <p:graphicFrame>
        <p:nvGraphicFramePr>
          <p:cNvPr id="6" name="Table 12">
            <a:extLst>
              <a:ext uri="{FF2B5EF4-FFF2-40B4-BE49-F238E27FC236}">
                <a16:creationId xmlns:a16="http://schemas.microsoft.com/office/drawing/2014/main" id="{590D0813-7286-C4EA-68CA-FAA2F0B6D2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2169282"/>
              </p:ext>
            </p:extLst>
          </p:nvPr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274" name="TextBox 5"/>
          <p:cNvSpPr/>
          <p:nvPr/>
        </p:nvSpPr>
        <p:spPr>
          <a:xfrm>
            <a:off x="2553480" y="2767320"/>
            <a:ext cx="7084080" cy="132198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always returns </a:t>
            </a:r>
            <a:br>
              <a:rPr sz="4000" dirty="0"/>
            </a:b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lang="en-US" sz="4000" b="1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data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19550D03-0347-6F1F-4D3C-0586255FCB2C}"/>
              </a:ext>
            </a:extLst>
          </p:cNvPr>
          <p:cNvSpPr/>
          <p:nvPr/>
        </p:nvSpPr>
        <p:spPr>
          <a:xfrm>
            <a:off x="5193792" y="553797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76E4CE2-FCEC-E0F2-657D-98AD216A8A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07779633"/>
              </p:ext>
            </p:extLst>
          </p:nvPr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EE083AC-8CB2-C022-01B5-69EB6CFE5C57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EC674-7A61-0E4F-BB6C-170694A1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>
            <a:extLst>
              <a:ext uri="{FF2B5EF4-FFF2-40B4-BE49-F238E27FC236}">
                <a16:creationId xmlns:a16="http://schemas.microsoft.com/office/drawing/2014/main" id="{B4F367CA-02CB-13F7-F1A6-C732C8D8099A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274D286B-B3DB-206B-EE9C-14CBB68D2F05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41648C60-C0B0-10FC-FE1D-8ECC58C4B4F9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20</a:t>
            </a:fld>
            <a:endParaRPr/>
          </a:p>
        </p:txBody>
      </p:sp>
      <p:sp>
        <p:nvSpPr>
          <p:cNvPr id="279" name="PlaceHolder 2">
            <a:extLst>
              <a:ext uri="{FF2B5EF4-FFF2-40B4-BE49-F238E27FC236}">
                <a16:creationId xmlns:a16="http://schemas.microsoft.com/office/drawing/2014/main" id="{9E099F90-0D08-98BF-E7D5-9A9012ADBA9C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>
            <a:extLst>
              <a:ext uri="{FF2B5EF4-FFF2-40B4-BE49-F238E27FC236}">
                <a16:creationId xmlns:a16="http://schemas.microsoft.com/office/drawing/2014/main" id="{BD349E57-AEF2-745A-EDB1-AF7C36E3C3AF}"/>
              </a:ext>
            </a:extLst>
          </p:cNvPr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2" name="TextBox 8">
            <a:extLst>
              <a:ext uri="{FF2B5EF4-FFF2-40B4-BE49-F238E27FC236}">
                <a16:creationId xmlns:a16="http://schemas.microsoft.com/office/drawing/2014/main" id="{CFF16B72-BED8-B2C0-0E3C-C185F22CEBA2}"/>
              </a:ext>
            </a:extLst>
          </p:cNvPr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>
            <a:extLst>
              <a:ext uri="{FF2B5EF4-FFF2-40B4-BE49-F238E27FC236}">
                <a16:creationId xmlns:a16="http://schemas.microsoft.com/office/drawing/2014/main" id="{A9D6884A-327F-4AEC-A059-3A3C7E74EB8E}"/>
              </a:ext>
            </a:extLst>
          </p:cNvPr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>
            <a:extLst>
              <a:ext uri="{FF2B5EF4-FFF2-40B4-BE49-F238E27FC236}">
                <a16:creationId xmlns:a16="http://schemas.microsoft.com/office/drawing/2014/main" id="{2668E91C-E779-8D4D-9FD0-F6707147DFB9}"/>
              </a:ext>
            </a:extLst>
          </p:cNvPr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>
            <a:extLst>
              <a:ext uri="{FF2B5EF4-FFF2-40B4-BE49-F238E27FC236}">
                <a16:creationId xmlns:a16="http://schemas.microsoft.com/office/drawing/2014/main" id="{383DC9DD-5DAC-447D-307B-0FFF53C7769F}"/>
              </a:ext>
            </a:extLst>
          </p:cNvPr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13">
            <a:extLst>
              <a:ext uri="{FF2B5EF4-FFF2-40B4-BE49-F238E27FC236}">
                <a16:creationId xmlns:a16="http://schemas.microsoft.com/office/drawing/2014/main" id="{2028F7B5-CC96-FA18-8B2C-63B9C44156D4}"/>
              </a:ext>
            </a:extLst>
          </p:cNvPr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>
            <a:extLst>
              <a:ext uri="{FF2B5EF4-FFF2-40B4-BE49-F238E27FC236}">
                <a16:creationId xmlns:a16="http://schemas.microsoft.com/office/drawing/2014/main" id="{75C84C79-6888-F16B-A392-9A138FD81096}"/>
              </a:ext>
            </a:extLst>
          </p:cNvPr>
          <p:cNvSpPr/>
          <p:nvPr/>
        </p:nvSpPr>
        <p:spPr>
          <a:xfrm>
            <a:off x="8313120" y="4343760"/>
            <a:ext cx="3096720" cy="644877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>
            <a:extLst>
              <a:ext uri="{FF2B5EF4-FFF2-40B4-BE49-F238E27FC236}">
                <a16:creationId xmlns:a16="http://schemas.microsoft.com/office/drawing/2014/main" id="{3379B9A0-6416-69F5-64D4-37504FBFDC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2061065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534176"/>
                  </a:ext>
                </a:extLst>
              </a:tr>
            </a:tbl>
          </a:graphicData>
        </a:graphic>
      </p:graphicFrame>
      <p:grpSp>
        <p:nvGrpSpPr>
          <p:cNvPr id="290" name="Group 19">
            <a:extLst>
              <a:ext uri="{FF2B5EF4-FFF2-40B4-BE49-F238E27FC236}">
                <a16:creationId xmlns:a16="http://schemas.microsoft.com/office/drawing/2014/main" id="{A267EFE2-F630-AD99-82C0-FF68029202B7}"/>
              </a:ext>
            </a:extLst>
          </p:cNvPr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>
              <a:extLst>
                <a:ext uri="{FF2B5EF4-FFF2-40B4-BE49-F238E27FC236}">
                  <a16:creationId xmlns:a16="http://schemas.microsoft.com/office/drawing/2014/main" id="{669C242D-20F4-EDB4-5A0A-3A3D79DDF3CD}"/>
                </a:ext>
              </a:extLst>
            </p:cNvPr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>
              <a:extLst>
                <a:ext uri="{FF2B5EF4-FFF2-40B4-BE49-F238E27FC236}">
                  <a16:creationId xmlns:a16="http://schemas.microsoft.com/office/drawing/2014/main" id="{D86B8C84-26BF-598E-FDAA-992279310F2A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>
            <a:extLst>
              <a:ext uri="{FF2B5EF4-FFF2-40B4-BE49-F238E27FC236}">
                <a16:creationId xmlns:a16="http://schemas.microsoft.com/office/drawing/2014/main" id="{8E993CD0-0703-A899-43F1-058F6760C0C8}"/>
              </a:ext>
            </a:extLst>
          </p:cNvPr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>
            <a:extLst>
              <a:ext uri="{FF2B5EF4-FFF2-40B4-BE49-F238E27FC236}">
                <a16:creationId xmlns:a16="http://schemas.microsoft.com/office/drawing/2014/main" id="{212C42F3-2D17-AAFF-49C0-7BAD0B833E0C}"/>
              </a:ext>
            </a:extLst>
          </p:cNvPr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>
            <a:extLst>
              <a:ext uri="{FF2B5EF4-FFF2-40B4-BE49-F238E27FC236}">
                <a16:creationId xmlns:a16="http://schemas.microsoft.com/office/drawing/2014/main" id="{0E57060D-137B-98DF-4289-9C602A8BAD6D}"/>
              </a:ext>
            </a:extLst>
          </p:cNvPr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>
            <a:extLst>
              <a:ext uri="{FF2B5EF4-FFF2-40B4-BE49-F238E27FC236}">
                <a16:creationId xmlns:a16="http://schemas.microsoft.com/office/drawing/2014/main" id="{D0BD47C8-D84D-918B-F522-4AD593537FDF}"/>
              </a:ext>
            </a:extLst>
          </p:cNvPr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>
            <a:extLst>
              <a:ext uri="{FF2B5EF4-FFF2-40B4-BE49-F238E27FC236}">
                <a16:creationId xmlns:a16="http://schemas.microsoft.com/office/drawing/2014/main" id="{3F82BD09-F213-143C-42A9-5F2FB22628BF}"/>
              </a:ext>
            </a:extLst>
          </p:cNvPr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>
            <a:extLst>
              <a:ext uri="{FF2B5EF4-FFF2-40B4-BE49-F238E27FC236}">
                <a16:creationId xmlns:a16="http://schemas.microsoft.com/office/drawing/2014/main" id="{2DC45260-14A0-454A-CC62-DE4630FDF4C0}"/>
              </a:ext>
            </a:extLst>
          </p:cNvPr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5C4B1F7A-B887-1EBB-8B7F-EF47301C791C}"/>
              </a:ext>
            </a:extLst>
          </p:cNvPr>
          <p:cNvGraphicFramePr/>
          <p:nvPr/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3" name="Diamond 2">
            <a:extLst>
              <a:ext uri="{FF2B5EF4-FFF2-40B4-BE49-F238E27FC236}">
                <a16:creationId xmlns:a16="http://schemas.microsoft.com/office/drawing/2014/main" id="{8023E0C9-1845-A00B-37BC-5C10F736E2E6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BD62D97-4D43-560F-332E-DBD786C0194C}"/>
              </a:ext>
            </a:extLst>
          </p:cNvPr>
          <p:cNvGraphicFramePr/>
          <p:nvPr/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745401-CA19-FCCD-055D-439CAE051010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17722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C0902-A65C-5AE0-ABEB-B9AF246A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>
            <a:extLst>
              <a:ext uri="{FF2B5EF4-FFF2-40B4-BE49-F238E27FC236}">
                <a16:creationId xmlns:a16="http://schemas.microsoft.com/office/drawing/2014/main" id="{659D5C59-15FA-14CE-D403-7A450F8C365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774DA895-8978-3B78-F0DB-495CB32AC94B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32C25808-7B2C-8175-BB5C-90F46D77C345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21</a:t>
            </a:fld>
            <a:endParaRPr/>
          </a:p>
        </p:txBody>
      </p:sp>
      <p:sp>
        <p:nvSpPr>
          <p:cNvPr id="279" name="PlaceHolder 2">
            <a:extLst>
              <a:ext uri="{FF2B5EF4-FFF2-40B4-BE49-F238E27FC236}">
                <a16:creationId xmlns:a16="http://schemas.microsoft.com/office/drawing/2014/main" id="{1859790C-56D0-5E4C-08D8-B43AFFE5C699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>
            <a:extLst>
              <a:ext uri="{FF2B5EF4-FFF2-40B4-BE49-F238E27FC236}">
                <a16:creationId xmlns:a16="http://schemas.microsoft.com/office/drawing/2014/main" id="{69DFDF78-5CD5-67B0-C289-CCEE60DD0984}"/>
              </a:ext>
            </a:extLst>
          </p:cNvPr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2" name="TextBox 8">
            <a:extLst>
              <a:ext uri="{FF2B5EF4-FFF2-40B4-BE49-F238E27FC236}">
                <a16:creationId xmlns:a16="http://schemas.microsoft.com/office/drawing/2014/main" id="{55DD2EE2-97E4-D4CA-8D20-C44193A3E1D4}"/>
              </a:ext>
            </a:extLst>
          </p:cNvPr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>
            <a:extLst>
              <a:ext uri="{FF2B5EF4-FFF2-40B4-BE49-F238E27FC236}">
                <a16:creationId xmlns:a16="http://schemas.microsoft.com/office/drawing/2014/main" id="{D4BC0475-1066-5E1A-CD5A-7B3DCA62A6D7}"/>
              </a:ext>
            </a:extLst>
          </p:cNvPr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>
            <a:extLst>
              <a:ext uri="{FF2B5EF4-FFF2-40B4-BE49-F238E27FC236}">
                <a16:creationId xmlns:a16="http://schemas.microsoft.com/office/drawing/2014/main" id="{D549FB96-B6D8-00D0-DD4F-E50E99EC5B42}"/>
              </a:ext>
            </a:extLst>
          </p:cNvPr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>
            <a:extLst>
              <a:ext uri="{FF2B5EF4-FFF2-40B4-BE49-F238E27FC236}">
                <a16:creationId xmlns:a16="http://schemas.microsoft.com/office/drawing/2014/main" id="{6B06E46B-1553-4FFA-5098-5F0DB6BF7541}"/>
              </a:ext>
            </a:extLst>
          </p:cNvPr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13">
            <a:extLst>
              <a:ext uri="{FF2B5EF4-FFF2-40B4-BE49-F238E27FC236}">
                <a16:creationId xmlns:a16="http://schemas.microsoft.com/office/drawing/2014/main" id="{56BCD42B-7F88-1484-F4E9-3CAEF66FE7A1}"/>
              </a:ext>
            </a:extLst>
          </p:cNvPr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>
            <a:extLst>
              <a:ext uri="{FF2B5EF4-FFF2-40B4-BE49-F238E27FC236}">
                <a16:creationId xmlns:a16="http://schemas.microsoft.com/office/drawing/2014/main" id="{53004019-0124-8A72-1AB8-82B1BC51472D}"/>
              </a:ext>
            </a:extLst>
          </p:cNvPr>
          <p:cNvSpPr/>
          <p:nvPr/>
        </p:nvSpPr>
        <p:spPr>
          <a:xfrm>
            <a:off x="8313120" y="4343760"/>
            <a:ext cx="3096720" cy="921876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</a:p>
          <a:p>
            <a:pPr algn="ctr">
              <a:lnSpc>
                <a:spcPct val="10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</a:rPr>
              <a:t>NO!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>
            <a:extLst>
              <a:ext uri="{FF2B5EF4-FFF2-40B4-BE49-F238E27FC236}">
                <a16:creationId xmlns:a16="http://schemas.microsoft.com/office/drawing/2014/main" id="{39C35F15-7069-49FE-A173-D9F96A0F72AC}"/>
              </a:ext>
            </a:extLst>
          </p:cNvPr>
          <p:cNvGraphicFramePr/>
          <p:nvPr/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534176"/>
                  </a:ext>
                </a:extLst>
              </a:tr>
            </a:tbl>
          </a:graphicData>
        </a:graphic>
      </p:graphicFrame>
      <p:grpSp>
        <p:nvGrpSpPr>
          <p:cNvPr id="290" name="Group 19">
            <a:extLst>
              <a:ext uri="{FF2B5EF4-FFF2-40B4-BE49-F238E27FC236}">
                <a16:creationId xmlns:a16="http://schemas.microsoft.com/office/drawing/2014/main" id="{0FF67542-1A63-0991-36E7-F7583207FCB0}"/>
              </a:ext>
            </a:extLst>
          </p:cNvPr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>
              <a:extLst>
                <a:ext uri="{FF2B5EF4-FFF2-40B4-BE49-F238E27FC236}">
                  <a16:creationId xmlns:a16="http://schemas.microsoft.com/office/drawing/2014/main" id="{8155BE81-F181-3333-8BA2-C00F7E3B35D9}"/>
                </a:ext>
              </a:extLst>
            </p:cNvPr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>
              <a:extLst>
                <a:ext uri="{FF2B5EF4-FFF2-40B4-BE49-F238E27FC236}">
                  <a16:creationId xmlns:a16="http://schemas.microsoft.com/office/drawing/2014/main" id="{05F8FC40-6050-6D54-F6A9-A509D1C192E3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>
            <a:extLst>
              <a:ext uri="{FF2B5EF4-FFF2-40B4-BE49-F238E27FC236}">
                <a16:creationId xmlns:a16="http://schemas.microsoft.com/office/drawing/2014/main" id="{0A026C55-E676-9B2D-111C-5B9A11E00E50}"/>
              </a:ext>
            </a:extLst>
          </p:cNvPr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>
            <a:extLst>
              <a:ext uri="{FF2B5EF4-FFF2-40B4-BE49-F238E27FC236}">
                <a16:creationId xmlns:a16="http://schemas.microsoft.com/office/drawing/2014/main" id="{053DED95-D8F3-BB1E-CF94-E655457B095D}"/>
              </a:ext>
            </a:extLst>
          </p:cNvPr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>
            <a:extLst>
              <a:ext uri="{FF2B5EF4-FFF2-40B4-BE49-F238E27FC236}">
                <a16:creationId xmlns:a16="http://schemas.microsoft.com/office/drawing/2014/main" id="{430FA93B-D620-705E-6ACE-9FF8951896C5}"/>
              </a:ext>
            </a:extLst>
          </p:cNvPr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>
            <a:extLst>
              <a:ext uri="{FF2B5EF4-FFF2-40B4-BE49-F238E27FC236}">
                <a16:creationId xmlns:a16="http://schemas.microsoft.com/office/drawing/2014/main" id="{15C66C81-8415-B0E7-95E8-FF51A01E5F4D}"/>
              </a:ext>
            </a:extLst>
          </p:cNvPr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>
            <a:extLst>
              <a:ext uri="{FF2B5EF4-FFF2-40B4-BE49-F238E27FC236}">
                <a16:creationId xmlns:a16="http://schemas.microsoft.com/office/drawing/2014/main" id="{7166C19C-F18B-5ACB-07A7-E19C4406E83A}"/>
              </a:ext>
            </a:extLst>
          </p:cNvPr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>
            <a:extLst>
              <a:ext uri="{FF2B5EF4-FFF2-40B4-BE49-F238E27FC236}">
                <a16:creationId xmlns:a16="http://schemas.microsoft.com/office/drawing/2014/main" id="{4DFBB03B-BA2C-B0ED-1CE8-28641EB82CBB}"/>
              </a:ext>
            </a:extLst>
          </p:cNvPr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378F4B1A-F444-B23E-4980-F0D9DF2CA3DE}"/>
              </a:ext>
            </a:extLst>
          </p:cNvPr>
          <p:cNvGraphicFramePr/>
          <p:nvPr/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3" name="Diamond 2">
            <a:extLst>
              <a:ext uri="{FF2B5EF4-FFF2-40B4-BE49-F238E27FC236}">
                <a16:creationId xmlns:a16="http://schemas.microsoft.com/office/drawing/2014/main" id="{306B5664-1760-1C74-3A55-210E4CF35AEF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31FD65E2-3A33-A4F2-611A-83E571C13AA6}"/>
              </a:ext>
            </a:extLst>
          </p:cNvPr>
          <p:cNvGraphicFramePr/>
          <p:nvPr/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3977FD-4E25-1F94-5E2F-788ADB52209F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F4C0367-9D5C-D2A0-FC43-A2B0A105BD4E}"/>
              </a:ext>
            </a:extLst>
          </p:cNvPr>
          <p:cNvSpPr/>
          <p:nvPr/>
        </p:nvSpPr>
        <p:spPr>
          <a:xfrm>
            <a:off x="6679440" y="5415048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" name="Table 7">
            <a:extLst>
              <a:ext uri="{FF2B5EF4-FFF2-40B4-BE49-F238E27FC236}">
                <a16:creationId xmlns:a16="http://schemas.microsoft.com/office/drawing/2014/main" id="{E6BB0F6C-7711-F5D9-E227-BA9B8A732F60}"/>
              </a:ext>
            </a:extLst>
          </p:cNvPr>
          <p:cNvGraphicFramePr/>
          <p:nvPr/>
        </p:nvGraphicFramePr>
        <p:xfrm>
          <a:off x="7336692" y="5845248"/>
          <a:ext cx="13791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7E57AD-376C-C689-25F3-6A567ED55FA7}"/>
              </a:ext>
            </a:extLst>
          </p:cNvPr>
          <p:cNvCxnSpPr>
            <a:cxnSpLocks/>
          </p:cNvCxnSpPr>
          <p:nvPr/>
        </p:nvCxnSpPr>
        <p:spPr>
          <a:xfrm>
            <a:off x="6974487" y="6081948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3B4460C8-2553-F00C-4F1C-8B20E7F7BC3D}"/>
              </a:ext>
            </a:extLst>
          </p:cNvPr>
          <p:cNvSpPr/>
          <p:nvPr/>
        </p:nvSpPr>
        <p:spPr>
          <a:xfrm>
            <a:off x="5231772" y="5548860"/>
            <a:ext cx="120420" cy="1204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2991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lang="en-US" sz="4400" b="0" i="1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000497DA-17F2-464F-B665-13E0D7A2DABF}" type="slidenum">
              <a:rPr/>
              <a:t>22</a:t>
            </a:fld>
            <a:endParaRPr/>
          </a:p>
        </p:txBody>
      </p:sp>
      <p:sp>
        <p:nvSpPr>
          <p:cNvPr id="27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/>
          <p:cNvGraphicFramePr/>
          <p:nvPr/>
        </p:nvGraphicFramePr>
        <p:xfrm>
          <a:off x="6679440" y="2712240"/>
          <a:ext cx="1107000" cy="12384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2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13"/>
          <p:cNvSpPr/>
          <p:nvPr/>
        </p:nvSpPr>
        <p:spPr>
          <a:xfrm>
            <a:off x="987480" y="4621320"/>
            <a:ext cx="3235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 dirty="0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3, 2], [1, 1, 2]]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/>
          <p:cNvSpPr/>
          <p:nvPr/>
        </p:nvSpPr>
        <p:spPr>
          <a:xfrm>
            <a:off x="8313120" y="4343760"/>
            <a:ext cx="3096720" cy="921876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executed by changing the metadata?</a:t>
            </a:r>
          </a:p>
          <a:p>
            <a:pPr algn="ctr">
              <a:lnSpc>
                <a:spcPct val="10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</a:rPr>
              <a:t>NO!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/>
          <p:cNvGraphicFramePr/>
          <p:nvPr>
            <p:extLst>
              <p:ext uri="{D42A27DB-BD31-4B8C-83A1-F6EECF244321}">
                <p14:modId xmlns:p14="http://schemas.microsoft.com/office/powerpoint/2010/main" val="1037824700"/>
              </p:ext>
            </p:extLst>
          </p:nvPr>
        </p:nvGraphicFramePr>
        <p:xfrm>
          <a:off x="4038480" y="436860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534176"/>
                  </a:ext>
                </a:extLst>
              </a:tr>
            </a:tbl>
          </a:graphicData>
        </a:graphic>
      </p:graphicFrame>
      <p:grpSp>
        <p:nvGrpSpPr>
          <p:cNvPr id="29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/>
            <p:cNvPicPr/>
            <p:nvPr/>
          </p:nvPicPr>
          <p:blipFill>
            <a:blip r:embed="rId2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/>
          <p:cNvGraphicFramePr/>
          <p:nvPr/>
        </p:nvGraphicFramePr>
        <p:xfrm>
          <a:off x="6698160" y="4735080"/>
          <a:ext cx="1107000" cy="309600"/>
        </p:xfrm>
        <a:graphic>
          <a:graphicData uri="http://schemas.openxmlformats.org/drawingml/2006/table">
            <a:tbl>
              <a:tblPr/>
              <a:tblGrid>
                <a:gridCol w="36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5160" marR="6516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98" name="TextBox 26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0AA1E1E0-557A-53A9-C629-E816E603E0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95654649"/>
              </p:ext>
            </p:extLst>
          </p:nvPr>
        </p:nvGraphicFramePr>
        <p:xfrm>
          <a:off x="4038480" y="2736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sz="12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914827"/>
                  </a:ext>
                </a:extLst>
              </a:tr>
            </a:tbl>
          </a:graphicData>
        </a:graphic>
      </p:graphicFrame>
      <p:sp>
        <p:nvSpPr>
          <p:cNvPr id="3" name="Diamond 2">
            <a:extLst>
              <a:ext uri="{FF2B5EF4-FFF2-40B4-BE49-F238E27FC236}">
                <a16:creationId xmlns:a16="http://schemas.microsoft.com/office/drawing/2014/main" id="{69F4933C-22F1-14BC-79CE-4DC83D8A460E}"/>
              </a:ext>
            </a:extLst>
          </p:cNvPr>
          <p:cNvSpPr/>
          <p:nvPr/>
        </p:nvSpPr>
        <p:spPr>
          <a:xfrm>
            <a:off x="5193792" y="3889016"/>
            <a:ext cx="130824" cy="141536"/>
          </a:xfrm>
          <a:prstGeom prst="diamond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90378874-104B-A6A3-51D2-21AC33EC92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07779633"/>
              </p:ext>
            </p:extLst>
          </p:nvPr>
        </p:nvGraphicFramePr>
        <p:xfrm>
          <a:off x="1452492" y="176328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D0462C9-9B80-8C7B-D3CA-0646777A54DB}"/>
              </a:ext>
            </a:extLst>
          </p:cNvPr>
          <p:cNvCxnSpPr>
            <a:cxnSpLocks/>
          </p:cNvCxnSpPr>
          <p:nvPr/>
        </p:nvCxnSpPr>
        <p:spPr>
          <a:xfrm>
            <a:off x="1090287" y="1999980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diamond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395D2B65-45D2-1431-E3D4-D125A412A1B8}"/>
              </a:ext>
            </a:extLst>
          </p:cNvPr>
          <p:cNvSpPr/>
          <p:nvPr/>
        </p:nvSpPr>
        <p:spPr>
          <a:xfrm>
            <a:off x="6679440" y="5415048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" name="Table 7">
            <a:extLst>
              <a:ext uri="{FF2B5EF4-FFF2-40B4-BE49-F238E27FC236}">
                <a16:creationId xmlns:a16="http://schemas.microsoft.com/office/drawing/2014/main" id="{4FC1E1CB-4C8E-4E21-EA60-0E60BB5801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12481330"/>
              </p:ext>
            </p:extLst>
          </p:nvPr>
        </p:nvGraphicFramePr>
        <p:xfrm>
          <a:off x="7336692" y="5845248"/>
          <a:ext cx="13791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CDCC2F8-892A-F595-C6C0-9AD1D782CEAF}"/>
              </a:ext>
            </a:extLst>
          </p:cNvPr>
          <p:cNvCxnSpPr>
            <a:cxnSpLocks/>
          </p:cNvCxnSpPr>
          <p:nvPr/>
        </p:nvCxnSpPr>
        <p:spPr>
          <a:xfrm>
            <a:off x="6974487" y="6081948"/>
            <a:ext cx="362205" cy="0"/>
          </a:xfrm>
          <a:prstGeom prst="straightConnector1">
            <a:avLst/>
          </a:prstGeom>
          <a:ln w="57150">
            <a:solidFill>
              <a:srgbClr val="FF0000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E5CE7876-78A9-F2F9-F1BB-D53403B247A2}"/>
              </a:ext>
            </a:extLst>
          </p:cNvPr>
          <p:cNvSpPr/>
          <p:nvPr/>
        </p:nvSpPr>
        <p:spPr>
          <a:xfrm>
            <a:off x="5231772" y="5548860"/>
            <a:ext cx="120420" cy="12042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5E7D06B3-05D0-EC63-AFA6-60031B95B319}"/>
              </a:ext>
            </a:extLst>
          </p:cNvPr>
          <p:cNvSpPr/>
          <p:nvPr/>
        </p:nvSpPr>
        <p:spPr>
          <a:xfrm>
            <a:off x="2553480" y="2767320"/>
            <a:ext cx="7084080" cy="255309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400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</a:t>
            </a:r>
            <a:br>
              <a:rPr sz="4000" dirty="0"/>
            </a:br>
            <a:r>
              <a:rPr lang="en-US" sz="400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</a:t>
            </a:r>
            <a:r>
              <a:rPr lang="en-US" sz="4000" dirty="0">
                <a:solidFill>
                  <a:srgbClr val="000000"/>
                </a:solidFill>
                <a:latin typeface="Calibri"/>
                <a:ea typeface="DejaVu Sans"/>
              </a:rPr>
              <a:t>array pointing to a </a:t>
            </a:r>
            <a:br>
              <a:rPr lang="en-US" sz="4000" dirty="0">
                <a:solidFill>
                  <a:srgbClr val="000000"/>
                </a:solidFill>
                <a:latin typeface="Calibri"/>
                <a:ea typeface="DejaVu Sans"/>
              </a:rPr>
            </a:br>
            <a:r>
              <a:rPr lang="en-US" sz="4000" b="1" dirty="0">
                <a:solidFill>
                  <a:srgbClr val="000000"/>
                </a:solidFill>
                <a:latin typeface="Calibri"/>
                <a:ea typeface="DejaVu Sans"/>
              </a:rPr>
              <a:t>new memory block</a:t>
            </a:r>
            <a:br>
              <a:rPr lang="en-US" sz="4000" b="1" dirty="0">
                <a:solidFill>
                  <a:srgbClr val="000000"/>
                </a:solidFill>
                <a:latin typeface="Calibri"/>
                <a:ea typeface="DejaVu Sans"/>
              </a:rPr>
            </a:br>
            <a:r>
              <a:rPr lang="en-US" sz="4000" dirty="0">
                <a:solidFill>
                  <a:srgbClr val="000000"/>
                </a:solidFill>
                <a:latin typeface="Calibri"/>
                <a:ea typeface="DejaVu Sans"/>
              </a:rPr>
              <a:t>(we still call this a “copy”)</a:t>
            </a:r>
            <a:endParaRPr lang="en-US" sz="400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View or copy? Quiz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A788B00D-8FC6-4873-A5C2-946589EA5B05}" type="slidenum">
              <a:rPr/>
              <a:t>23</a:t>
            </a:fld>
            <a:endParaRPr/>
          </a:p>
        </p:txBody>
      </p:sp>
      <p:sp>
        <p:nvSpPr>
          <p:cNvPr id="32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/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numpy_view_or_copy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view_or_copy_interactive.ipynb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3A4FE443-147F-F99B-17EA-4301085C8BED}"/>
              </a:ext>
            </a:extLst>
          </p:cNvPr>
          <p:cNvSpPr/>
          <p:nvPr/>
        </p:nvSpPr>
        <p:spPr>
          <a:xfrm>
            <a:off x="7060019" y="232200"/>
            <a:ext cx="4896108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endParaRPr lang="en-DE" sz="1800" b="0" strike="noStrike" spc="-1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7" name="Graphic 1">
            <a:extLst>
              <a:ext uri="{FF2B5EF4-FFF2-40B4-BE49-F238E27FC236}">
                <a16:creationId xmlns:a16="http://schemas.microsoft.com/office/drawing/2014/main" id="{430A774F-E081-25F0-44A4-5A341FAC6C9F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209569" y="36504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8" name="TextBox 3">
            <a:extLst>
              <a:ext uri="{FF2B5EF4-FFF2-40B4-BE49-F238E27FC236}">
                <a16:creationId xmlns:a16="http://schemas.microsoft.com/office/drawing/2014/main" id="{67AB981A-35BD-7BAF-79DF-94A49BD05A63}"/>
              </a:ext>
            </a:extLst>
          </p:cNvPr>
          <p:cNvSpPr/>
          <p:nvPr/>
        </p:nvSpPr>
        <p:spPr>
          <a:xfrm>
            <a:off x="8000713" y="307433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DE" sz="1800" b="1" strike="noStrike" spc="-1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lang="en-GB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CD728AAA-452D-02B2-FAC0-61A41B4A2DA6}"/>
              </a:ext>
            </a:extLst>
          </p:cNvPr>
          <p:cNvSpPr/>
          <p:nvPr/>
        </p:nvSpPr>
        <p:spPr>
          <a:xfrm>
            <a:off x="8053149" y="555597"/>
            <a:ext cx="37671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notebooks/020_numpy/</a:t>
            </a:r>
            <a:br>
              <a:rPr sz="1400" dirty="0"/>
            </a:br>
            <a:r>
              <a:rPr lang="en-GB" sz="1400" b="0" u="none" strike="noStrike" dirty="0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rPr>
              <a:t>015_assignment_by_reference.ipynb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1">
            <a:extLst>
              <a:ext uri="{FF2B5EF4-FFF2-40B4-BE49-F238E27FC236}">
                <a16:creationId xmlns:a16="http://schemas.microsoft.com/office/drawing/2014/main" id="{DC1CF3B5-2BA5-0C25-A4BA-9FAA512D71DC}"/>
              </a:ext>
            </a:extLst>
          </p:cNvPr>
          <p:cNvSpPr txBox="1">
            <a:spLocks/>
          </p:cNvSpPr>
          <p:nvPr/>
        </p:nvSpPr>
        <p:spPr>
          <a:xfrm>
            <a:off x="371694" y="2322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tabLst>
                <a:tab pos="0" algn="l"/>
              </a:tabLst>
            </a:pPr>
            <a:r>
              <a:rPr lang="en-US" dirty="0">
                <a:solidFill>
                  <a:srgbClr val="000000"/>
                </a:solidFill>
                <a:latin typeface="Calibri Light"/>
              </a:rPr>
              <a:t>Setting up a pet shop</a:t>
            </a:r>
            <a:endParaRPr lang="en-US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01B9DCDD-5B5C-8C47-7438-1E28F7BD47FE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D80134FA-FF7D-8486-F5D6-7D7280AE4D09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14EA66B-39A2-4AB0-F978-C537B530B80B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46426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6E0A-0195-D5CF-9E0E-C68AA5F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2E44-3FE5-0921-2737-F78D7D77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</a:p>
        </p:txBody>
      </p:sp>
      <p:sp>
        <p:nvSpPr>
          <p:cNvPr id="57" name="Footer Placeholder 56">
            <a:extLst>
              <a:ext uri="{FF2B5EF4-FFF2-40B4-BE49-F238E27FC236}">
                <a16:creationId xmlns:a16="http://schemas.microsoft.com/office/drawing/2014/main" id="{591C6F3B-2458-3E85-D995-9C5BCD4CF06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Slide Number Placeholder 57">
            <a:extLst>
              <a:ext uri="{FF2B5EF4-FFF2-40B4-BE49-F238E27FC236}">
                <a16:creationId xmlns:a16="http://schemas.microsoft.com/office/drawing/2014/main" id="{B42FD2D3-32D7-9B6B-C84F-3F4EB241BD2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Date Placeholder 55">
            <a:extLst>
              <a:ext uri="{FF2B5EF4-FFF2-40B4-BE49-F238E27FC236}">
                <a16:creationId xmlns:a16="http://schemas.microsoft.com/office/drawing/2014/main" id="{930843EB-2620-69E5-3197-8F810625B474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556654-257F-60A2-64FB-6A2D5068A40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3D007B-DB00-2929-DF51-FF3A2FABDD49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D240E4-C481-0684-BA8B-28AD14E55252}"/>
              </a:ext>
            </a:extLst>
          </p:cNvPr>
          <p:cNvSpPr txBox="1"/>
          <p:nvPr/>
        </p:nvSpPr>
        <p:spPr>
          <a:xfrm>
            <a:off x="838080" y="1267920"/>
            <a:ext cx="5216730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/>
              <a:t>🦜</a:t>
            </a:r>
            <a:r>
              <a:rPr lang="en-CH" sz="200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058295-B69C-E2D9-6E2F-F667C48313EB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6F74A9-26C8-53D0-6E91-0F7BCBACCE4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2601CD-E827-B2C7-C902-D6B65D0D8BD8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38F527-525B-D4C0-4A24-1FDAC28CE1B0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0FE04E1-1604-450F-A95A-78D72AA3FF6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12F905B-4C58-F436-B794-74754094B70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D334B2-435F-052F-4C35-E322D9F4E563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7992812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9E93F-D178-D067-49A5-6A7801453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9F6BD-A8A1-F8B3-6E0F-997CC35A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474AFF1-F058-6033-9819-9BB12FD76793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2FA2D08-179B-4C9D-3087-1C767EDB5BB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1773BF-F8F7-BB5D-31E3-E0703ABEA87B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6234B-9469-4124-DE19-6E8460643910}"/>
              </a:ext>
            </a:extLst>
          </p:cNvPr>
          <p:cNvSpPr txBox="1"/>
          <p:nvPr/>
        </p:nvSpPr>
        <p:spPr>
          <a:xfrm>
            <a:off x="838080" y="1267920"/>
            <a:ext cx="5216730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494DE2-8025-8794-B191-9151BA52DDC5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2CA78B-E1F9-1483-BCC3-E1F0BA945307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7577DD-9E30-53B7-D27D-21A65FF3F24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45EFD1-1B42-D01C-2DA7-F4529194E62F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940015F-F104-12AC-2EE9-AF084FCB7CA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8AE7F48B-CC8A-0856-B020-4670436516C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23490-F567-B401-8B26-1E9F83FEDAE0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217BF6-6C2C-35B8-C6E5-8934826E843F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3C963E-CDC0-C983-5C45-A9C9AB77E15A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F42A3A-0B6C-DD2D-62F7-B94DFD6EFBF7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3D2687-C21B-C81B-2685-004EFC996BC0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9DB4E7-9F2F-AA70-7590-50C50B35A7A4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7047553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015CD-B4B7-53A2-BDAE-B4B64FCE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CA153-0E7B-46AA-DCA3-8ED1C5032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326857B-B5F7-0AFA-4673-1FB95F76B184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847985-CB63-2945-3072-C5C25755A2C2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1CCE932-7C42-943A-A75F-6C2A9437EE3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F1DB8E-466C-068E-B32B-4086AE828B17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E0ED6C2-3C20-5292-3752-67121AE49421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9417DF-F5EC-746F-8122-EB21D92D346F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2740" cy="1121046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90EF2C-E880-1E42-D135-4C4092AFEA98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7A5C64-23D9-E99C-07E7-C8CB8D0063E1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944AE6-16D1-9CCE-B390-1FF2E378EAC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B5AA9B-5E64-217D-7E87-071B1A98E5FA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C6265C-E2D9-7F25-0BB1-08FCA648146F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15857A-D5F2-F1BE-5BFC-4A55FEAC0007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4607A14-981C-78EC-ED37-7DE67478709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D2013D9-0E13-35B6-327F-45D3E292CAF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A6124284-9D20-8998-6C83-43F587B748A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09CB8A4-E710-1D71-A035-8BDEB116D0CA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778CE19-9440-D164-7F90-99B5DD6B21D5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65485"/>
            <a:ext cx="4114080" cy="364320"/>
          </a:xfrm>
        </p:spPr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B84593F-8C33-414D-7CC6-9ED20225EEA1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FA23FA-8A9C-A38C-B9DE-FF94C2D8ADE5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50784-F5AB-8625-0E1B-103CC8A159B2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296FDA-D414-CAB8-3A32-71E5FC9C65CE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0D4EFA-D28C-ADCF-3129-CC0022F376E6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</p:spTree>
    <p:extLst>
      <p:ext uri="{BB962C8B-B14F-4D97-AF65-F5344CB8AC3E}">
        <p14:creationId xmlns:p14="http://schemas.microsoft.com/office/powerpoint/2010/main" val="10436755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72A7F-ED7C-DCC0-29BD-D4D19EF17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D76DF-B03E-DDAC-060B-E146076A0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FB1859C-5A7C-5766-BEF5-2C701AEB1B08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8AEABC-FDE1-AE90-F70E-243AB6CD522E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C1F4AB-4EB7-D7B9-9ABA-93D903301CE5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5C9DB1F-B63B-6C66-ECA0-309169CA4E05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C74FF-8F69-C506-44D2-9966F1115A3C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A9DE083-87EE-3063-61FB-9758AD06C305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0956697-4885-90EF-03F1-A22075C900FC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E0471E-ACCC-3D3B-C184-B3272912B05E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314953-A11D-AA49-666F-77313048E424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another_cage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006C41-06E8-D740-BC5E-4CA27BB1AEB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2595E7-0E5B-4CAC-E488-48FD030CBFA2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FEA335-4AA6-67EA-6E6F-CCB37866FED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A22EBFB-E5DE-17C5-0BF6-E4F7C00E85F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A69A3D-E3ED-97CE-3AF1-98C240BA84C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B346BE1A-AA74-B716-E1B4-F49316D8BEF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0236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6A1DD9E-487B-F345-13BA-6A6630A64473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D009C7-B8F7-C067-CD35-3CA5119955EB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EB65D2-545F-19D0-002D-8FE041D11C85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🦜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5C92160-AC9C-6638-E83C-2C65C5282153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3B828363-DCF8-3184-9B76-A0B1E1EB56E4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A434116-2DFC-AF0A-3166-6AAEB9FF2670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43588B-E9E7-E8B4-3EE1-57175C0F62A0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6973076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5AC39-32E2-C914-16EA-79D92A601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02F0C-6130-A844-0ADD-1923D543A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976A47-4DCD-33D9-8CD7-B98B673E8D9D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3D1525D-31D0-64BD-6B40-EC8BFB387BE3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D7A466C-13AF-FFA4-E126-713F9376A7BE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92674C3-12F2-C049-9744-EED057BDA840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BE5C02-F9E3-14FF-770B-CB1F212A8DCA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958A227-5169-2D1B-6B59-C2A5B05EAEEB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BDEE1E3-4628-679A-0233-912B00F297D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CD699E-DF38-F536-223D-240488623AA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20D64F-EB22-8913-44B7-69E90AEEFD7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3CDFA22-4F14-D47D-7793-733AABF7499D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23218D-60EE-E101-6C82-4E3C4A477421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15519B-6D35-AD36-42B1-CE8E81F6481B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FE42CE8-3A69-AA7D-FD37-F86AFAB3341C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2959EB-D942-3795-BAB6-21B54D5E6814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22176F13-CF1D-393D-9936-E32991E45A50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AEA1B56-CBAE-746C-AF7A-9616B8FF7B5A}"/>
              </a:ext>
            </a:extLst>
          </p:cNvPr>
          <p:cNvSpPr txBox="1"/>
          <p:nvPr/>
        </p:nvSpPr>
        <p:spPr>
          <a:xfrm>
            <a:off x="8729430" y="5831545"/>
            <a:ext cx="2903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[["?"], ["?"]]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E24985-6C8E-7EB8-FF44-6943F5AC1196}"/>
              </a:ext>
            </a:extLst>
          </p:cNvPr>
          <p:cNvSpPr txBox="1"/>
          <p:nvPr/>
        </p:nvSpPr>
        <p:spPr>
          <a:xfrm>
            <a:off x="9449785" y="4499111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54CB04-F984-7B37-3C77-3E542A3C0A6C}"/>
              </a:ext>
            </a:extLst>
          </p:cNvPr>
          <p:cNvSpPr txBox="1"/>
          <p:nvPr/>
        </p:nvSpPr>
        <p:spPr>
          <a:xfrm>
            <a:off x="9473532" y="517376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C25BEC7-0F89-8E82-7CA8-340B5109C6C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2EB7D5E-2AC8-F7AA-325B-7224DBE50063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67FA762-20A6-17E0-1E84-53273936ED5D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29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BE562-6FCD-412D-E671-6AB1293E66B3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7450DC-F7D5-D4E7-C871-81B23387A040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22037936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7BAE3-B7DE-62A5-ACEF-AFB21D22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6A557-345F-06D8-BE1D-73D77A191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Python assignment is “by reference”</a:t>
            </a:r>
            <a:endParaRPr lang="en-CH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968BB4-BEAF-3BA4-2959-8192DDC031FE}"/>
              </a:ext>
            </a:extLst>
          </p:cNvPr>
          <p:cNvCxnSpPr>
            <a:cxnSpLocks/>
            <a:stCxn id="38" idx="3"/>
          </p:cNvCxnSpPr>
          <p:nvPr/>
        </p:nvCxnSpPr>
        <p:spPr>
          <a:xfrm flipV="1">
            <a:off x="3163212" y="4938569"/>
            <a:ext cx="3450325" cy="488782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413AD8B-D6AD-82BE-E272-2BF28968645F}"/>
              </a:ext>
            </a:extLst>
          </p:cNvPr>
          <p:cNvSpPr txBox="1"/>
          <p:nvPr/>
        </p:nvSpPr>
        <p:spPr>
          <a:xfrm>
            <a:off x="768610" y="5957278"/>
            <a:ext cx="2355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shelf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E27EEFA-CA59-67F2-7812-320D5580703C}"/>
              </a:ext>
            </a:extLst>
          </p:cNvPr>
          <p:cNvCxnSpPr>
            <a:cxnSpLocks/>
          </p:cNvCxnSpPr>
          <p:nvPr/>
        </p:nvCxnSpPr>
        <p:spPr>
          <a:xfrm>
            <a:off x="2812106" y="6190127"/>
            <a:ext cx="3704778" cy="2205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DDAF41E-2AA9-18C7-F0BF-5CC7953A4BDF}"/>
              </a:ext>
            </a:extLst>
          </p:cNvPr>
          <p:cNvSpPr txBox="1"/>
          <p:nvPr/>
        </p:nvSpPr>
        <p:spPr>
          <a:xfrm>
            <a:off x="6613537" y="5941075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,  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BDD397-010F-B12D-E86A-45634FB4AA34}"/>
              </a:ext>
            </a:extLst>
          </p:cNvPr>
          <p:cNvCxnSpPr>
            <a:cxnSpLocks/>
          </p:cNvCxnSpPr>
          <p:nvPr/>
        </p:nvCxnSpPr>
        <p:spPr>
          <a:xfrm flipV="1">
            <a:off x="7068323" y="5077886"/>
            <a:ext cx="0" cy="1110224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0E6CC30-FC96-640F-AEB7-CC24F0B5F647}"/>
              </a:ext>
            </a:extLst>
          </p:cNvPr>
          <p:cNvCxnSpPr>
            <a:cxnSpLocks/>
          </p:cNvCxnSpPr>
          <p:nvPr/>
        </p:nvCxnSpPr>
        <p:spPr>
          <a:xfrm flipH="1" flipV="1">
            <a:off x="7276578" y="5067064"/>
            <a:ext cx="265987" cy="1104843"/>
          </a:xfrm>
          <a:prstGeom prst="straightConnector1">
            <a:avLst/>
          </a:prstGeom>
          <a:ln w="57150">
            <a:solidFill>
              <a:schemeClr val="tx2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03CE259-8DB1-0C59-355C-F97C543FAD73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223929-45C3-5C5C-10E0-06DD4F66A16A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D7F9CE-3845-CBC5-FA1F-89B6D2750E3A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another_cage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cage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shelf = [cage, cage]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cage[0] = "</a:t>
            </a:r>
            <a:r>
              <a:rPr lang="en-CH" dirty="0"/>
              <a:t>🐍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20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4189C7-C006-41AB-7E8D-7DC2353F647F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1D9A92-051D-8974-C1DA-F7A2C28B367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240F69-9C04-55AE-1BBA-00CF220583E2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B0E2ACC-19F5-0EDD-ADF4-B87A8387204B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183119D-63B1-871F-A5FD-8EBC64898DC3}"/>
              </a:ext>
            </a:extLst>
          </p:cNvPr>
          <p:cNvSpPr txBox="1"/>
          <p:nvPr/>
        </p:nvSpPr>
        <p:spPr>
          <a:xfrm>
            <a:off x="729712" y="5196518"/>
            <a:ext cx="2433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a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nother_cage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DE88FAA-8A9D-BF7F-3C3B-646E75F98FD9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5348" y="4108682"/>
            <a:ext cx="650607" cy="591914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952F62AB-BC33-B727-973A-CB80991F4F9E}"/>
              </a:ext>
            </a:extLst>
          </p:cNvPr>
          <p:cNvSpPr txBox="1"/>
          <p:nvPr/>
        </p:nvSpPr>
        <p:spPr>
          <a:xfrm>
            <a:off x="8729430" y="5831545"/>
            <a:ext cx="31790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"],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"]]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C2AE39-04B0-24C7-F6DA-085BCBF285D4}"/>
              </a:ext>
            </a:extLst>
          </p:cNvPr>
          <p:cNvSpPr txBox="1"/>
          <p:nvPr/>
        </p:nvSpPr>
        <p:spPr>
          <a:xfrm>
            <a:off x="9449785" y="4499111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B2E646-04C8-7016-62DC-39B3D41D286F}"/>
              </a:ext>
            </a:extLst>
          </p:cNvPr>
          <p:cNvSpPr txBox="1"/>
          <p:nvPr/>
        </p:nvSpPr>
        <p:spPr>
          <a:xfrm>
            <a:off x="9473532" y="5173765"/>
            <a:ext cx="1511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</a:t>
            </a:r>
            <a:r>
              <a:rPr lang="en-CH" sz="2400" dirty="0"/>
              <a:t>🐍</a:t>
            </a:r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2D32BC9-77F9-562E-5C06-58805D8FE4E5}"/>
              </a:ext>
            </a:extLst>
          </p:cNvPr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C942986-5C4D-DEB9-C87E-4EAA27FFCC08}"/>
              </a:ext>
            </a:extLst>
          </p:cNvPr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4D9ED-3BFE-7C6F-EF57-FE3528D7F1D7}"/>
              </a:ext>
            </a:extLst>
          </p:cNvPr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E3709D-8430-1BEF-96A4-EA11871C03BE}"/>
              </a:ext>
            </a:extLst>
          </p:cNvPr>
          <p:cNvSpPr txBox="1"/>
          <p:nvPr/>
        </p:nvSpPr>
        <p:spPr>
          <a:xfrm>
            <a:off x="7231837" y="3541848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🦜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F86364-6DBD-99B3-94B7-180F21B08F7D}"/>
              </a:ext>
            </a:extLst>
          </p:cNvPr>
          <p:cNvSpPr txBox="1"/>
          <p:nvPr/>
        </p:nvSpPr>
        <p:spPr>
          <a:xfrm>
            <a:off x="6028232" y="3529131"/>
            <a:ext cx="11129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CH" sz="3200" dirty="0"/>
              <a:t>🐍</a:t>
            </a:r>
            <a:r>
              <a:rPr lang="en-CH" sz="3200" dirty="0"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endParaRPr lang="en-CH" sz="3200" dirty="0"/>
          </a:p>
        </p:txBody>
      </p:sp>
    </p:spTree>
    <p:extLst>
      <p:ext uri="{BB962C8B-B14F-4D97-AF65-F5344CB8AC3E}">
        <p14:creationId xmlns:p14="http://schemas.microsoft.com/office/powerpoint/2010/main" val="18787198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671F3FF4-E227-4FEF-97CF-40A32775034B}" type="slidenum">
              <a:rPr/>
              <a:t>31</a:t>
            </a:fld>
            <a:endParaRPr/>
          </a:p>
        </p:txBody>
      </p:sp>
      <p:sp>
        <p:nvSpPr>
          <p:cNvPr id="32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3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3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3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Curved Connector 6"/>
          <p:cNvCxnSpPr>
            <a:endCxn id="33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cxnSp>
        <p:nvCxnSpPr>
          <p:cNvPr id="336" name="Curved Connector 15"/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37" name="Picture 5"/>
          <p:cNvPicPr/>
          <p:nvPr/>
        </p:nvPicPr>
        <p:blipFill>
          <a:blip r:embed="rId2"/>
          <a:srcRect b="46787"/>
          <a:stretch/>
        </p:blipFill>
        <p:spPr>
          <a:xfrm>
            <a:off x="838080" y="1360080"/>
            <a:ext cx="3814920" cy="3039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AE65189-9B10-461A-A3C8-43ADCBFFE169}" type="slidenum">
              <a:rPr/>
              <a:t>32</a:t>
            </a:fld>
            <a:endParaRPr/>
          </a:p>
        </p:txBody>
      </p:sp>
      <p:sp>
        <p:nvSpPr>
          <p:cNvPr id="33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4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4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45" name="Curved Connector 6"/>
          <p:cNvCxnSpPr>
            <a:endCxn id="34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pic>
        <p:nvPicPr>
          <p:cNvPr id="347" name="Picture 5"/>
          <p:cNvPicPr/>
          <p:nvPr/>
        </p:nvPicPr>
        <p:blipFill>
          <a:blip r:embed="rId2"/>
          <a:srcRect t="54652" b="39274"/>
          <a:stretch/>
        </p:blipFill>
        <p:spPr>
          <a:xfrm>
            <a:off x="838080" y="1377720"/>
            <a:ext cx="3814920" cy="36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5EEF6711-59B6-8AFD-3AC4-722320DFA6AD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E655F535-ACA4-4F1F-903A-1286A96F4D5A}" type="slidenum">
              <a:rPr/>
              <a:t>33</a:t>
            </a:fld>
            <a:endParaRPr/>
          </a:p>
        </p:txBody>
      </p:sp>
      <p:sp>
        <p:nvSpPr>
          <p:cNvPr id="34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50" name="Table 9"/>
          <p:cNvGraphicFramePr/>
          <p:nvPr/>
        </p:nvGraphicFramePr>
        <p:xfrm>
          <a:off x="5622120" y="288504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3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51" name="Table 11"/>
          <p:cNvGraphicFramePr/>
          <p:nvPr/>
        </p:nvGraphicFramePr>
        <p:xfrm>
          <a:off x="5622120" y="1377720"/>
          <a:ext cx="5976360" cy="473400"/>
        </p:xfrm>
        <a:graphic>
          <a:graphicData uri="http://schemas.openxmlformats.org/drawingml/2006/table">
            <a:tbl>
              <a:tblPr/>
              <a:tblGrid>
                <a:gridCol w="459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9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2" name="Table 14"/>
          <p:cNvGraphicFramePr/>
          <p:nvPr/>
        </p:nvGraphicFramePr>
        <p:xfrm>
          <a:off x="8763840" y="2880360"/>
          <a:ext cx="2152800" cy="137160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H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53" name="Curved Connector 6"/>
          <p:cNvCxnSpPr>
            <a:endCxn id="351" idx="1"/>
          </p:cNvCxnSpPr>
          <p:nvPr/>
        </p:nvCxnSpPr>
        <p:spPr>
          <a:xfrm rot="10800000">
            <a:off x="5622120" y="1614420"/>
            <a:ext cx="1552680" cy="1382580"/>
          </a:xfrm>
          <a:prstGeom prst="curvedConnector3">
            <a:avLst>
              <a:gd name="adj1" fmla="val 114723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  <p:sp>
        <p:nvSpPr>
          <p:cNvPr id="355" name="TextBox 5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16"/>
          <p:cNvPicPr/>
          <p:nvPr/>
        </p:nvPicPr>
        <p:blipFill>
          <a:blip r:embed="rId2"/>
          <a:srcRect t="54652" b="-771"/>
          <a:stretch/>
        </p:blipFill>
        <p:spPr>
          <a:xfrm>
            <a:off x="838080" y="1377720"/>
            <a:ext cx="3814920" cy="277056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" name="Curved Connector 15">
            <a:extLst>
              <a:ext uri="{FF2B5EF4-FFF2-40B4-BE49-F238E27FC236}">
                <a16:creationId xmlns:a16="http://schemas.microsoft.com/office/drawing/2014/main" id="{0362334E-72F1-553D-499C-DA2934A315BE}"/>
              </a:ext>
            </a:extLst>
          </p:cNvPr>
          <p:cNvCxnSpPr>
            <a:cxnSpLocks/>
          </p:cNvCxnSpPr>
          <p:nvPr/>
        </p:nvCxnSpPr>
        <p:spPr>
          <a:xfrm rot="10800000">
            <a:off x="5764306" y="1927412"/>
            <a:ext cx="4552216" cy="1097310"/>
          </a:xfrm>
          <a:prstGeom prst="curvedConnector3">
            <a:avLst>
              <a:gd name="adj1" fmla="val 100808"/>
            </a:avLst>
          </a:prstGeom>
          <a:ln w="57150">
            <a:solidFill>
              <a:srgbClr val="1F45FF"/>
            </a:solidFill>
            <a:round/>
            <a:headEnd type="oval" w="med" len="med"/>
            <a:tailEnd type="triangle" w="med" len="med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DC953-10FC-9DDB-87B9-8EB7C72F0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9C48C-DD52-460B-71C7-901C40DBF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89FA89-5A54-636C-132B-F9C39A2BE48A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6380EB-E6DE-A0BA-63CB-8298D5F014C9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E92AB8-E469-50A9-DF72-20CC859345C4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E93831-82FE-ECB2-91D3-1FA3BC0FBE6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19B333-81EA-E964-FF68-6E616F863DC6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8171943-7E24-44D8-9161-D12AB7D50CB9}"/>
              </a:ext>
            </a:extLst>
          </p:cNvPr>
          <p:cNvSpPr txBox="1"/>
          <p:nvPr/>
        </p:nvSpPr>
        <p:spPr>
          <a:xfrm>
            <a:off x="838080" y="1267920"/>
            <a:ext cx="521673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DCA6C2-3D16-CCAA-9F8E-ED5F35AD2821}"/>
              </a:ext>
            </a:extLst>
          </p:cNvPr>
          <p:cNvSpPr txBox="1"/>
          <p:nvPr/>
        </p:nvSpPr>
        <p:spPr>
          <a:xfrm>
            <a:off x="622286" y="5496434"/>
            <a:ext cx="26483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92D9F3-8BE2-48EF-0A1D-664417DA4C54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6AA44CB-F1D6-D9C6-E585-EDF23435E13B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F793913F-7733-3C30-BB6E-50E7140BF68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127BE1D-74C6-D9DA-F427-F4CDAE314F3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5D126-C5A6-D684-2087-BAAB02E22D97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F177519-A902-02B9-F609-DEC1E67C29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1EF14C5-60B4-DE09-05D6-362206CC6D0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2E3C557-ADC4-3788-BDCD-39A6A96017EE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2AE862FC-21C2-AFF9-75B6-001E03FF8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D8028D22-E094-CDF9-F17E-289376BB0A62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08EF1658-68FE-B6CC-AEE4-36591D66C00C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B334441C-3859-577E-19F9-60A95938E7EA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876968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2526-1A89-2C7B-CFF3-8CE3BE5F0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C04E7-F155-953D-2657-F62EB7ABB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61D9B-CA68-7253-66B1-3E6A46506FBD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0FD77-8271-01FF-A64C-858632FD99BA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C2515C-5008-8C4B-45E1-D5CD05BBDF7D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CA0BC8-0184-45BF-C2AE-9855985FE5EC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3655B81-FD58-1C90-196B-092511B1A722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32D0452-4535-F23B-015D-B1D5B338C2C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420CEB-7096-BE67-ED9D-7DE6F8390331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59474E-C77D-D710-FA16-CC8BB09411BB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284EFBF-C0C7-1742-11CB-D8160B6E3FC0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16C0A4E-813B-F51D-4FFF-0EC5E31B2795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CE935CA5-8278-6E18-37D0-B467698A6B7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E4BABD3-8DEF-42F2-79FE-A4420FC654F2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65320B-96C2-821B-D0F2-1BB6F4370C2E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B461118-E9CD-1C1C-E9B6-4BABB79ED5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5EC58DF4-BD86-ECF0-409F-58EFF771DF6D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E0718C9-DBBA-7CCB-58DA-42DBCD0C02CB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50BE4-22D9-F5F3-16AA-28D559C95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F783BA5-B345-652D-D282-4D51F4F10B15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5F42329-E8BD-3E24-A83C-23A04BD5E27C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8777839-E9C5-76EF-4CAD-0C45FCBF4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71C5BBD9-2CA8-D1C0-F116-0AC046FC023D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E411C863-6E50-D62D-B12F-6A078A21522B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v4.0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9673B9A8-0DD7-6731-A348-FAE10F7F65B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19DDF9-77F1-7024-24D1-DFC67BEE2B76}"/>
              </a:ext>
            </a:extLst>
          </p:cNvPr>
          <p:cNvSpPr txBox="1"/>
          <p:nvPr/>
        </p:nvSpPr>
        <p:spPr>
          <a:xfrm>
            <a:off x="3094952" y="5908893"/>
            <a:ext cx="3224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 = cage</a:t>
            </a:r>
          </a:p>
        </p:txBody>
      </p:sp>
    </p:spTree>
    <p:extLst>
      <p:ext uri="{BB962C8B-B14F-4D97-AF65-F5344CB8AC3E}">
        <p14:creationId xmlns:p14="http://schemas.microsoft.com/office/powerpoint/2010/main" val="31591235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6426-C400-5B1C-1F50-71663282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A4AE9-B70F-85BC-BE79-D9ED119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0B53B8-EAF0-4D56-031A-A4D062BA7659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6A985A-3C24-0B50-5C69-1C2B7589DC2D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C1BF2B-39F8-F717-D3A3-8ACB4FD19F62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F39E74-8F41-8495-F459-1CD99B13098E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A2B50EA-483F-F667-AEB3-275DA43F879E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97D7055-089F-5D64-A2D3-78C072B8C7DA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D36CC7-13B7-5BEF-3741-BA19028868E5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49BB4D3-92F8-1606-78F4-85C1F483C271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4229E2A-9B7D-9592-F516-803BA5313888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20F33EE3-3908-B7C9-E236-59BA3A2F227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136852" y="4204142"/>
            <a:ext cx="557358" cy="494247"/>
          </a:xfrm>
          <a:prstGeom prst="bentConnector3">
            <a:avLst>
              <a:gd name="adj1" fmla="val 50000"/>
            </a:avLst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CAF820A-BE9E-E85A-9547-196958DE0938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03D221-2628-F32F-631F-8ED290F220EF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81AAF5-ABE6-035B-11FB-412586D276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76C603-84AC-3280-F527-2D18EA6263E1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FC90BC-AA61-E653-BFA9-20839D13F5A9}"/>
              </a:ext>
            </a:extLst>
          </p:cNvPr>
          <p:cNvGrpSpPr/>
          <p:nvPr/>
        </p:nvGrpSpPr>
        <p:grpSpPr>
          <a:xfrm>
            <a:off x="9379895" y="4484581"/>
            <a:ext cx="1713931" cy="490726"/>
            <a:chOff x="9607244" y="4525862"/>
            <a:chExt cx="1713931" cy="490726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E3E019-7529-CC07-7E9D-8E008D1FEC28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FE615A2-4C6B-3262-C84A-A4A7A0006C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23A283-6FE3-B040-B092-1F07A081EBDE}"/>
              </a:ext>
            </a:extLst>
          </p:cNvPr>
          <p:cNvGrpSpPr/>
          <p:nvPr/>
        </p:nvGrpSpPr>
        <p:grpSpPr>
          <a:xfrm>
            <a:off x="9379894" y="5421206"/>
            <a:ext cx="1713931" cy="490726"/>
            <a:chOff x="9607244" y="4525862"/>
            <a:chExt cx="1713931" cy="490726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F5C2CE1-1040-8A4E-295A-E59D7EC56301}"/>
                </a:ext>
              </a:extLst>
            </p:cNvPr>
            <p:cNvSpPr txBox="1"/>
            <p:nvPr/>
          </p:nvSpPr>
          <p:spPr>
            <a:xfrm>
              <a:off x="9607244" y="4525862"/>
              <a:ext cx="17139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H" sz="2400" dirty="0">
                  <a:latin typeface="Consolas" panose="020B0609020204030204" pitchFamily="49" charset="0"/>
                  <a:cs typeface="Consolas" panose="020B0609020204030204" pitchFamily="49" charset="0"/>
                </a:rPr>
                <a:t>= ["   "]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C589FDE-797B-141B-7CCE-CC71D67075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9131"/>
            <a:stretch>
              <a:fillRect/>
            </a:stretch>
          </p:blipFill>
          <p:spPr>
            <a:xfrm>
              <a:off x="10429958" y="4554923"/>
              <a:ext cx="410588" cy="461665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86CC096-A9C1-812E-B8E2-92E44CB9775F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</a:t>
            </a:r>
            <a:r>
              <a:rPr lang="en-CH" sz="2000" dirty="0"/>
              <a:t>🦜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extract_animal(container):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extract_animal(cage)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5578980C-42DF-055F-B2DC-2143D28CE900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0" algn="l"/>
              </a:tabLst>
            </a:pPr>
            <a:r>
              <a:rPr lang="de-CH"/>
              <a:t>Aug 2026, CC BY-SA 4.0</a:t>
            </a:r>
            <a:endParaRPr lang="en-US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B3FBACE0-BF67-379A-4B1D-D4BC32A3F05E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D1C7511-7188-DEB9-EDEB-5651C0C8A061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31FEECE-D6C8-4FCE-876A-0190D37870B1}" type="slidenum">
              <a:rPr lang="en-CH" smtClean="0"/>
              <a:pPr indent="0" algn="r">
                <a:lnSpc>
                  <a:spcPct val="100000"/>
                </a:lnSpc>
                <a:buNone/>
                <a:tabLst>
                  <a:tab pos="0" algn="l"/>
                </a:tabLst>
              </a:pPr>
              <a:t>36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234491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E0367-3C3A-0B24-9833-277BBD668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DA3D7-D4C0-42EF-BD0B-3F6B850E0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34D845BF-2CD4-F8FE-E2EE-0E0670C81E69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7BA440D5-8C08-1CC2-F757-257055D1C82C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87074A85-C1F2-18B9-2C9E-C2E184778325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1AFE9F-339C-F522-2052-FE1D9D4D7588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DA006F-8ED0-8415-262D-85E60FBA3150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6641DC-719E-B7E3-A06C-E67C8B49A3D5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05F37-1E2E-57F6-8C9F-62C2FDD1C085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4FF1F64-1DCB-56EB-E403-1A86154B4013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9AC07F37-0C56-59DE-A954-96120D194427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95FF2-AACA-188F-583E-E36E48F4BFB6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CC3D3B-9A09-9940-FECF-7C94E3D64C4D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E60F307-0F67-2128-8CFF-94F1A403708C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AED8FB-53AD-030B-1372-0FB5F8D9C250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27F85D-CBDF-5572-CA9C-DA41D8BD1571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B589FBF-3B4F-FD93-6441-E5E7484983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0B03BC-C04C-B8D4-D3C4-AC81403426F7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63E495-4145-0C86-7690-CBF54C1E01A4}"/>
              </a:ext>
            </a:extLst>
          </p:cNvPr>
          <p:cNvSpPr txBox="1"/>
          <p:nvPr/>
        </p:nvSpPr>
        <p:spPr>
          <a:xfrm>
            <a:off x="9379895" y="4484581"/>
            <a:ext cx="13740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["?"]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640ADF-764F-BACE-43C6-456B788F87C7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AA908F-83D8-CC6F-A870-FC95E6829EDB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C64D201-F50D-F361-C31B-B2656F4AAE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500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1847E-0F7B-9D15-D121-C4FD5E5B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5730-30E2-4504-8A68-9A38ED15A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>
                <a:latin typeface="Calibri Light" panose="020F0302020204030204" pitchFamily="34" charset="0"/>
                <a:cs typeface="Calibri Light" panose="020F0302020204030204" pitchFamily="34" charset="0"/>
              </a:rPr>
              <a:t>Passing an argument is an assignment</a:t>
            </a:r>
            <a:endParaRPr lang="en-CH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99D6AC5D-7BF5-33CC-D071-CEB321E76A16}"/>
              </a:ext>
            </a:extLst>
          </p:cNvPr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Data, v4.0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F17C6F1F-19D0-DD44-9124-631F9F29A38E}"/>
              </a:ext>
            </a:extLst>
          </p:cNvPr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5B8DFA-FB31-4C13-B9C1-F7FB45CFFB09}" type="slidenum">
              <a:rPr lang="en-US" sz="1200" b="0" u="none" strike="noStrike" smtClean="0">
                <a:solidFill>
                  <a:srgbClr val="8B8B8B"/>
                </a:solidFill>
                <a:effectLst/>
                <a:uFillTx/>
                <a:latin typeface="Calibri"/>
              </a:rPr>
              <a:t>38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Date Placeholder 23">
            <a:extLst>
              <a:ext uri="{FF2B5EF4-FFF2-40B4-BE49-F238E27FC236}">
                <a16:creationId xmlns:a16="http://schemas.microsoft.com/office/drawing/2014/main" id="{F62CA457-5CD1-ACBD-9410-7B2F07A13AF8}"/>
              </a:ext>
            </a:extLst>
          </p:cNvPr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pPr>
              <a:tabLst>
                <a:tab pos="0" algn="l"/>
              </a:tabLst>
            </a:pPr>
            <a:r>
              <a:rPr lang="de-CH" sz="1400">
                <a:solidFill>
                  <a:srgbClr val="8B8B8B"/>
                </a:solidFill>
                <a:latin typeface="Calibri"/>
              </a:rPr>
              <a:t>Aug 2026, CC BY-SA 4.0</a:t>
            </a:r>
            <a:endParaRPr lang="en-US" sz="1400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58A32-D292-E3FA-8955-241D9685B7D5}"/>
              </a:ext>
            </a:extLst>
          </p:cNvPr>
          <p:cNvSpPr txBox="1"/>
          <p:nvPr/>
        </p:nvSpPr>
        <p:spPr>
          <a:xfrm>
            <a:off x="1346010" y="4521864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3E2560-7CD1-D285-D240-E470AD98A021}"/>
              </a:ext>
            </a:extLst>
          </p:cNvPr>
          <p:cNvSpPr txBox="1"/>
          <p:nvPr/>
        </p:nvSpPr>
        <p:spPr>
          <a:xfrm>
            <a:off x="1080819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Global namespace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B2A85-6C84-C855-28FE-94FA93AA4DE6}"/>
              </a:ext>
            </a:extLst>
          </p:cNvPr>
          <p:cNvSpPr txBox="1"/>
          <p:nvPr/>
        </p:nvSpPr>
        <p:spPr>
          <a:xfrm>
            <a:off x="6613537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Memory</a:t>
            </a:r>
          </a:p>
          <a:p>
            <a:pPr algn="ctr"/>
            <a:endParaRPr lang="en-CH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A7C55-A60B-2537-0FD0-F46FC25564C1}"/>
              </a:ext>
            </a:extLst>
          </p:cNvPr>
          <p:cNvSpPr txBox="1"/>
          <p:nvPr/>
        </p:nvSpPr>
        <p:spPr>
          <a:xfrm>
            <a:off x="6750346" y="4499112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[  ]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0C6B55-026F-A432-88A0-D5550992E8E9}"/>
              </a:ext>
            </a:extLst>
          </p:cNvPr>
          <p:cNvCxnSpPr>
            <a:cxnSpLocks/>
          </p:cNvCxnSpPr>
          <p:nvPr/>
        </p:nvCxnSpPr>
        <p:spPr>
          <a:xfrm>
            <a:off x="2756641" y="4752696"/>
            <a:ext cx="3760243" cy="0"/>
          </a:xfrm>
          <a:prstGeom prst="straightConnector1">
            <a:avLst/>
          </a:prstGeom>
          <a:ln w="57150">
            <a:solidFill>
              <a:schemeClr val="tx1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1425D6C-365B-2E15-DF27-5BDD6060C7C4}"/>
              </a:ext>
            </a:extLst>
          </p:cNvPr>
          <p:cNvSpPr txBox="1"/>
          <p:nvPr/>
        </p:nvSpPr>
        <p:spPr>
          <a:xfrm>
            <a:off x="622286" y="5496434"/>
            <a:ext cx="2648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F52759-3B89-BAFC-D135-F9BAC1B7BB6C}"/>
              </a:ext>
            </a:extLst>
          </p:cNvPr>
          <p:cNvSpPr txBox="1"/>
          <p:nvPr/>
        </p:nvSpPr>
        <p:spPr>
          <a:xfrm>
            <a:off x="3763673" y="5513373"/>
            <a:ext cx="18982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container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46DFC98-6912-3F62-7F81-155BC6BE29EF}"/>
              </a:ext>
            </a:extLst>
          </p:cNvPr>
          <p:cNvCxnSpPr>
            <a:cxnSpLocks/>
          </p:cNvCxnSpPr>
          <p:nvPr/>
        </p:nvCxnSpPr>
        <p:spPr>
          <a:xfrm flipV="1">
            <a:off x="6054810" y="5050118"/>
            <a:ext cx="924149" cy="484290"/>
          </a:xfrm>
          <a:prstGeom prst="straightConnector1">
            <a:avLst/>
          </a:prstGeom>
          <a:ln w="57150"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CF06AF-15EC-4D16-3DF6-11AFA3983B64}"/>
              </a:ext>
            </a:extLst>
          </p:cNvPr>
          <p:cNvSpPr txBox="1"/>
          <p:nvPr/>
        </p:nvSpPr>
        <p:spPr>
          <a:xfrm>
            <a:off x="3847178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Function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5D48E-715F-1C7D-C30F-711AE64B425C}"/>
              </a:ext>
            </a:extLst>
          </p:cNvPr>
          <p:cNvSpPr txBox="1"/>
          <p:nvPr/>
        </p:nvSpPr>
        <p:spPr>
          <a:xfrm>
            <a:off x="9379895" y="2751178"/>
            <a:ext cx="1731287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H" dirty="0"/>
              <a:t>Final result</a:t>
            </a:r>
          </a:p>
          <a:p>
            <a:pPr algn="ctr"/>
            <a:endParaRPr lang="en-CH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81A910-7838-2822-0D84-6DB7CBD7D0D4}"/>
              </a:ext>
            </a:extLst>
          </p:cNvPr>
          <p:cNvSpPr txBox="1"/>
          <p:nvPr/>
        </p:nvSpPr>
        <p:spPr>
          <a:xfrm>
            <a:off x="7143920" y="3493202"/>
            <a:ext cx="1200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"   "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8603EE-E697-249B-CC0B-8A9412BB4B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7542565" y="3558398"/>
            <a:ext cx="410588" cy="461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2DF890-F3B5-1080-269A-A6AE1C4AA0CC}"/>
              </a:ext>
            </a:extLst>
          </p:cNvPr>
          <p:cNvSpPr txBox="1"/>
          <p:nvPr/>
        </p:nvSpPr>
        <p:spPr>
          <a:xfrm>
            <a:off x="3287888" y="5943641"/>
            <a:ext cx="2849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H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container.pop()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640AD5-A343-A513-E74A-C4E14F56CE53}"/>
              </a:ext>
            </a:extLst>
          </p:cNvPr>
          <p:cNvSpPr txBox="1"/>
          <p:nvPr/>
        </p:nvSpPr>
        <p:spPr>
          <a:xfrm>
            <a:off x="9379895" y="4484581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18B680-BBCE-76ED-F5AE-D18675E2B09C}"/>
              </a:ext>
            </a:extLst>
          </p:cNvPr>
          <p:cNvSpPr txBox="1"/>
          <p:nvPr/>
        </p:nvSpPr>
        <p:spPr>
          <a:xfrm>
            <a:off x="9379894" y="5421206"/>
            <a:ext cx="1204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400" dirty="0">
                <a:latin typeface="Consolas" panose="020B0609020204030204" pitchFamily="49" charset="0"/>
                <a:cs typeface="Consolas" panose="020B0609020204030204" pitchFamily="49" charset="0"/>
              </a:rPr>
              <a:t>= [  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0BB399-9E26-D12B-C54A-0F328F020CA5}"/>
              </a:ext>
            </a:extLst>
          </p:cNvPr>
          <p:cNvSpPr txBox="1"/>
          <p:nvPr/>
        </p:nvSpPr>
        <p:spPr>
          <a:xfrm>
            <a:off x="838080" y="1267920"/>
            <a:ext cx="521673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cage =</a:t>
            </a:r>
            <a:r>
              <a:rPr lang="en-CH" sz="2000" dirty="0">
                <a:latin typeface="Consolas" panose="020B0609020204030204" pitchFamily="49" charset="0"/>
                <a:cs typeface="Consolas" panose="020B0609020204030204" pitchFamily="49" charset="0"/>
              </a:rPr>
              <a:t> ["    "]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(container):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	return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container.pop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extract_animal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(cage)</a:t>
            </a:r>
            <a:endParaRPr lang="en-CH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D406B17-6F0D-9559-D395-416D33AA2C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131"/>
          <a:stretch>
            <a:fillRect/>
          </a:stretch>
        </p:blipFill>
        <p:spPr>
          <a:xfrm>
            <a:off x="2251097" y="1240050"/>
            <a:ext cx="410588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987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FF7CC-B4FE-A8BF-6FF3-EE42CFB6D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>
            <a:extLst>
              <a:ext uri="{FF2B5EF4-FFF2-40B4-BE49-F238E27FC236}">
                <a16:creationId xmlns:a16="http://schemas.microsoft.com/office/drawing/2014/main" id="{8157A96B-959A-35BC-074A-818612F52245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Assignments and functions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FE7CE739-AFBE-08B6-6AB7-03A0E7069E69}"/>
              </a:ext>
            </a:extLst>
          </p:cNvPr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B1B8974-1592-4C44-FACB-7D73EB395A3D}"/>
              </a:ext>
            </a:extLst>
          </p:cNvPr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A788B00D-8FC6-4873-A5C2-946589EA5B05}" type="slidenum">
              <a:rPr/>
              <a:t>39</a:t>
            </a:fld>
            <a:endParaRPr/>
          </a:p>
        </p:txBody>
      </p:sp>
      <p:sp>
        <p:nvSpPr>
          <p:cNvPr id="322" name="PlaceHolder 2">
            <a:extLst>
              <a:ext uri="{FF2B5EF4-FFF2-40B4-BE49-F238E27FC236}">
                <a16:creationId xmlns:a16="http://schemas.microsoft.com/office/drawing/2014/main" id="{0B17E74B-FDAF-39FC-333A-40ADAE13A8D5}"/>
              </a:ext>
            </a:extLst>
          </p:cNvPr>
          <p:cNvSpPr>
            <a:spLocks noGrp="1"/>
          </p:cNvSpPr>
          <p:nvPr>
            <p:ph type="dt" idx="2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>
            <a:extLst>
              <a:ext uri="{FF2B5EF4-FFF2-40B4-BE49-F238E27FC236}">
                <a16:creationId xmlns:a16="http://schemas.microsoft.com/office/drawing/2014/main" id="{82935494-30A7-4FE6-C350-C587B945ACB3}"/>
              </a:ext>
            </a:extLst>
          </p:cNvPr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>
              <a:extLst>
                <a:ext uri="{FF2B5EF4-FFF2-40B4-BE49-F238E27FC236}">
                  <a16:creationId xmlns:a16="http://schemas.microsoft.com/office/drawing/2014/main" id="{DA3F111A-8C63-F105-6A72-68F8D1415079}"/>
                </a:ext>
              </a:extLst>
            </p:cNvPr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DE" sz="18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>
              <a:extLst>
                <a:ext uri="{FF2B5EF4-FFF2-40B4-BE49-F238E27FC236}">
                  <a16:creationId xmlns:a16="http://schemas.microsoft.com/office/drawing/2014/main" id="{15C9BDD9-23BA-94D1-B050-47ED8CCDA662}"/>
                </a:ext>
              </a:extLst>
            </p:cNvPr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DE" sz="18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>
              <a:extLst>
                <a:ext uri="{FF2B5EF4-FFF2-40B4-BE49-F238E27FC236}">
                  <a16:creationId xmlns:a16="http://schemas.microsoft.com/office/drawing/2014/main" id="{E5A8DA56-DD79-9122-539F-61E39BC58145}"/>
                </a:ext>
              </a:extLst>
            </p:cNvPr>
            <p:cNvPicPr/>
            <p:nvPr/>
          </p:nvPicPr>
          <p:blipFill>
            <a:blip r:embed="rId2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>
              <a:extLst>
                <a:ext uri="{FF2B5EF4-FFF2-40B4-BE49-F238E27FC236}">
                  <a16:creationId xmlns:a16="http://schemas.microsoft.com/office/drawing/2014/main" id="{1EC532A8-3813-ED29-6143-E988A02A5461}"/>
                </a:ext>
              </a:extLst>
            </p:cNvPr>
            <p:cNvSpPr/>
            <p:nvPr/>
          </p:nvSpPr>
          <p:spPr>
            <a:xfrm>
              <a:off x="8066880" y="623520"/>
              <a:ext cx="34290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</a:t>
              </a: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numpy_assignments</a:t>
              </a:r>
              <a:r>
                <a:rPr lang="en-GB" sz="1400" b="0" u="none" strike="noStrike" dirty="0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/</a:t>
              </a:r>
              <a:br>
                <a:rPr sz="1400" dirty="0"/>
              </a:br>
              <a:r>
                <a:rPr lang="en-GB" sz="1400" b="0" u="none" strike="noStrike" dirty="0" err="1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side_effects.ipynb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4DF6B2-CA0B-EED2-AD71-4EA4E0AE552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38080" y="2241176"/>
            <a:ext cx="10514880" cy="3934984"/>
          </a:xfrm>
        </p:spPr>
        <p:txBody>
          <a:bodyPr>
            <a:normAutofit/>
          </a:bodyPr>
          <a:lstStyle/>
          <a:p>
            <a:pPr algn="ctr"/>
            <a:r>
              <a:rPr lang="en-CH" sz="3600" dirty="0"/>
              <a:t>Put up the GREEN sticker after you solve part A</a:t>
            </a:r>
          </a:p>
        </p:txBody>
      </p:sp>
    </p:spTree>
    <p:extLst>
      <p:ext uri="{BB962C8B-B14F-4D97-AF65-F5344CB8AC3E}">
        <p14:creationId xmlns:p14="http://schemas.microsoft.com/office/powerpoint/2010/main" val="39083986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DE75DE1-221D-4D0A-92EB-9612DF80BEE2}" type="slidenum">
              <a:rPr/>
              <a:t>40</a:t>
            </a:fld>
            <a:endParaRPr/>
          </a:p>
        </p:txBody>
      </p:sp>
      <p:sp>
        <p:nvSpPr>
          <p:cNvPr id="359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0" name="Picture 10"/>
          <p:cNvPicPr/>
          <p:nvPr/>
        </p:nvPicPr>
        <p:blipFill>
          <a:blip r:embed="rId2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BA99CFFA-D9D0-4205-B685-590D02321AC2}" type="slidenum">
              <a:rPr/>
              <a:t>41</a:t>
            </a:fld>
            <a:endParaRPr/>
          </a:p>
        </p:txBody>
      </p:sp>
      <p:sp>
        <p:nvSpPr>
          <p:cNvPr id="362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3" name="Picture 10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Picture 12"/>
          <p:cNvPicPr/>
          <p:nvPr/>
        </p:nvPicPr>
        <p:blipFill>
          <a:blip r:embed="rId4"/>
          <a:stretch/>
        </p:blipFill>
        <p:spPr>
          <a:xfrm>
            <a:off x="1485360" y="2890800"/>
            <a:ext cx="7922160" cy="352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F10244D2-0019-47FE-881C-AAE79716CC0E}" type="slidenum">
              <a:rPr/>
              <a:t>42</a:t>
            </a:fld>
            <a:endParaRPr/>
          </a:p>
        </p:txBody>
      </p:sp>
      <p:sp>
        <p:nvSpPr>
          <p:cNvPr id="366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TextBox 6"/>
          <p:cNvSpPr/>
          <p:nvPr/>
        </p:nvSpPr>
        <p:spPr>
          <a:xfrm>
            <a:off x="7143840" y="4614120"/>
            <a:ext cx="5113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input array has been modified!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7"/>
          <p:cNvSpPr/>
          <p:nvPr/>
        </p:nvSpPr>
        <p:spPr>
          <a:xfrm>
            <a:off x="7143840" y="5075640"/>
            <a:ext cx="411408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so have all other views of the same data!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Left Arrow 8"/>
          <p:cNvSpPr/>
          <p:nvPr/>
        </p:nvSpPr>
        <p:spPr>
          <a:xfrm>
            <a:off x="6207840" y="46861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70" name="Picture 10"/>
          <p:cNvPicPr/>
          <p:nvPr/>
        </p:nvPicPr>
        <p:blipFill>
          <a:blip r:embed="rId2"/>
          <a:stretch/>
        </p:blipFill>
        <p:spPr>
          <a:xfrm>
            <a:off x="1458720" y="2925000"/>
            <a:ext cx="4240800" cy="317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12"/>
          <p:cNvPicPr/>
          <p:nvPr/>
        </p:nvPicPr>
        <p:blipFill>
          <a:blip r:embed="rId3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Left Arrow 13"/>
          <p:cNvSpPr/>
          <p:nvPr/>
        </p:nvSpPr>
        <p:spPr>
          <a:xfrm>
            <a:off x="6207840" y="53323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5"/>
          <p:cNvPicPr/>
          <p:nvPr/>
        </p:nvPicPr>
        <p:blipFill>
          <a:blip r:embed="rId3"/>
          <a:stretch/>
        </p:blipFill>
        <p:spPr>
          <a:xfrm>
            <a:off x="1847520" y="2495880"/>
            <a:ext cx="7771680" cy="17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933D8163-AC71-44FC-937A-80509FA2A130}" type="slidenum">
              <a:rPr/>
              <a:t>43</a:t>
            </a:fld>
            <a:endParaRPr/>
          </a:p>
        </p:txBody>
      </p:sp>
      <p:sp>
        <p:nvSpPr>
          <p:cNvPr id="375" name="PlaceHolder 2"/>
          <p:cNvSpPr>
            <a:spLocks noGrp="1"/>
          </p:cNvSpPr>
          <p:nvPr>
            <p:ph type="dt" idx="18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Left Arrow 9"/>
          <p:cNvSpPr/>
          <p:nvPr/>
        </p:nvSpPr>
        <p:spPr>
          <a:xfrm>
            <a:off x="3719880" y="357696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77" name="TextBox 11"/>
          <p:cNvSpPr/>
          <p:nvPr/>
        </p:nvSpPr>
        <p:spPr>
          <a:xfrm>
            <a:off x="910800" y="1352520"/>
            <a:ext cx="9361080" cy="69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practice: functions that take an array as an input should avoid modifying it in place!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Always make a copy or be super extra clear in the docstring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views and copies summary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296CCDE1-211A-4993-8E38-F59BE1C2D2AF}" type="slidenum">
              <a:rPr/>
              <a:t>44</a:t>
            </a:fld>
            <a:endParaRPr/>
          </a:p>
        </p:txBody>
      </p:sp>
      <p:sp>
        <p:nvSpPr>
          <p:cNvPr id="379" name="PlaceHolder 2"/>
          <p:cNvSpPr>
            <a:spLocks noGrp="1"/>
          </p:cNvSpPr>
          <p:nvPr>
            <p:ph type="dt" idx="54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Content Placeholder 2"/>
          <p:cNvSpPr/>
          <p:nvPr/>
        </p:nvSpPr>
        <p:spPr>
          <a:xfrm>
            <a:off x="838080" y="1430640"/>
            <a:ext cx="10514880" cy="452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lnSpcReduction="10000"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can be multiple views of the same memory block, interpreted as different arrays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returns a view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In-place operations on a view modify the memory block </a:t>
            </a:r>
            <a:br>
              <a:rPr lang="en-CH" sz="2600" dirty="0"/>
            </a:b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all of its views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 (incl. </a:t>
            </a:r>
            <a:r>
              <a:rPr lang="en-US" sz="30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new data)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a copy of an array needs to be created, it allocates a separate memory block and associates it with new metadata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copies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4920" lvl="1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copy can be forced with .copy()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4316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49A0537E-BE5F-42F2-8351-7C85BB3EC8C0}" type="slidenum">
              <a:rPr/>
              <a:t>45</a:t>
            </a:fld>
            <a:endParaRPr/>
          </a:p>
        </p:txBody>
      </p:sp>
      <p:sp>
        <p:nvSpPr>
          <p:cNvPr id="454" name="PlaceHolder 2"/>
          <p:cNvSpPr>
            <a:spLocks noGrp="1"/>
          </p:cNvSpPr>
          <p:nvPr>
            <p:ph type="dt" idx="15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PlaceHolder 1"/>
          <p:cNvSpPr>
            <a:spLocks noGrp="1"/>
          </p:cNvSpPr>
          <p:nvPr>
            <p:ph type="title" idx="4294967295"/>
          </p:nvPr>
        </p:nvSpPr>
        <p:spPr>
          <a:xfrm>
            <a:off x="838994" y="2708275"/>
            <a:ext cx="10514013" cy="9032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5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Up next: Tabular Data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D76B896-38EE-445A-B914-7F33F8C50F9D}" type="slidenum">
              <a:rPr/>
              <a:t>46</a:t>
            </a:fld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Fancy indexing in NumPy – reference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dt" idx="10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 sz="1200" b="0" u="none" strike="noStrike">
                <a:solidFill>
                  <a:srgbClr val="8B8B8B"/>
                </a:solidFill>
                <a:effectLst/>
                <a:uFillTx/>
                <a:latin typeface="Calibri"/>
              </a:rPr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9" name="Picture 7" descr="A diagram of a number&#10;&#10;Description automatically generated with medium confidence"/>
          <p:cNvPicPr/>
          <p:nvPr/>
        </p:nvPicPr>
        <p:blipFill>
          <a:blip r:embed="rId2"/>
          <a:stretch/>
        </p:blipFill>
        <p:spPr>
          <a:xfrm>
            <a:off x="4003560" y="1012320"/>
            <a:ext cx="7018920" cy="535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Box 4"/>
          <p:cNvSpPr/>
          <p:nvPr/>
        </p:nvSpPr>
        <p:spPr>
          <a:xfrm>
            <a:off x="432000" y="3551040"/>
            <a:ext cx="2963880" cy="516600"/>
          </a:xfrm>
          <a:prstGeom prst="rect">
            <a:avLst/>
          </a:prstGeom>
          <a:noFill/>
          <a:ln w="0">
            <a:solidFill>
              <a:srgbClr val="D8C7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A[[2, 2, 1], [2, 0, 0]]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3482120C-8670-44DA-BA7B-A928B373E3C6}" type="slidenum">
              <a:rPr/>
              <a:t>47</a:t>
            </a:fld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9B75B-427B-43CC-9AA2-2E64DFB1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>
            <a:extLst>
              <a:ext uri="{FF2B5EF4-FFF2-40B4-BE49-F238E27FC236}">
                <a16:creationId xmlns:a16="http://schemas.microsoft.com/office/drawing/2014/main" id="{AD157AD1-3474-CD7E-11A5-90E0D8449A07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 dirty="0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E289693D-9F6C-EAC1-340E-5CA74D6B4B5F}"/>
              </a:ext>
            </a:extLst>
          </p:cNvPr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E90DF74B-B7AC-1A8E-7382-BEECA1CAC180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A5B8DFA-FB31-4C13-B9C1-F7FB45CFFB09}" type="slidenum">
              <a:rPr lang="en-CH" smtClean="0"/>
              <a:pPr/>
              <a:t>48</a:t>
            </a:fld>
            <a:endParaRPr/>
          </a:p>
        </p:txBody>
      </p:sp>
      <p:sp>
        <p:nvSpPr>
          <p:cNvPr id="382" name="PlaceHolder 2">
            <a:extLst>
              <a:ext uri="{FF2B5EF4-FFF2-40B4-BE49-F238E27FC236}">
                <a16:creationId xmlns:a16="http://schemas.microsoft.com/office/drawing/2014/main" id="{E1DEB2EC-DD55-641C-E56A-A8EC12CB7277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83" name="Table 6">
            <a:extLst>
              <a:ext uri="{FF2B5EF4-FFF2-40B4-BE49-F238E27FC236}">
                <a16:creationId xmlns:a16="http://schemas.microsoft.com/office/drawing/2014/main" id="{1109410C-37C3-9716-0C3A-C274D3E01639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84" name="TextBox 7">
            <a:extLst>
              <a:ext uri="{FF2B5EF4-FFF2-40B4-BE49-F238E27FC236}">
                <a16:creationId xmlns:a16="http://schemas.microsoft.com/office/drawing/2014/main" id="{A4279FB1-6C6D-AD2C-CD38-2A91B3D9A094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9">
            <a:extLst>
              <a:ext uri="{FF2B5EF4-FFF2-40B4-BE49-F238E27FC236}">
                <a16:creationId xmlns:a16="http://schemas.microsoft.com/office/drawing/2014/main" id="{E4409319-40B2-490A-B8D8-EA736D6ACE16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6" name="Table 10">
            <a:extLst>
              <a:ext uri="{FF2B5EF4-FFF2-40B4-BE49-F238E27FC236}">
                <a16:creationId xmlns:a16="http://schemas.microsoft.com/office/drawing/2014/main" id="{66283554-2B46-76D8-C90D-E27899DF237C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7" name="TextBox 18">
            <a:extLst>
              <a:ext uri="{FF2B5EF4-FFF2-40B4-BE49-F238E27FC236}">
                <a16:creationId xmlns:a16="http://schemas.microsoft.com/office/drawing/2014/main" id="{A0417DCE-8F40-D62B-8E03-E36410E2779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8" name="Straight Arrow Connector 20">
            <a:extLst>
              <a:ext uri="{FF2B5EF4-FFF2-40B4-BE49-F238E27FC236}">
                <a16:creationId xmlns:a16="http://schemas.microsoft.com/office/drawing/2014/main" id="{5CCA8912-0888-C26E-A86A-1AB646D06135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89" name="TextBox 23">
            <a:extLst>
              <a:ext uri="{FF2B5EF4-FFF2-40B4-BE49-F238E27FC236}">
                <a16:creationId xmlns:a16="http://schemas.microsoft.com/office/drawing/2014/main" id="{F593CE0D-9E7D-F8F3-E426-3216C00A4305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0" name="Straight Arrow Connector 24">
            <a:extLst>
              <a:ext uri="{FF2B5EF4-FFF2-40B4-BE49-F238E27FC236}">
                <a16:creationId xmlns:a16="http://schemas.microsoft.com/office/drawing/2014/main" id="{62222F94-E110-1288-2CDA-59D4794FEEE0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4622833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B3040-3A00-60D7-80A9-7A5C942B0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>
            <a:extLst>
              <a:ext uri="{FF2B5EF4-FFF2-40B4-BE49-F238E27FC236}">
                <a16:creationId xmlns:a16="http://schemas.microsoft.com/office/drawing/2014/main" id="{FD39CEC8-7339-8BA0-D9DD-D5735552793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44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387A4008-644B-C2F6-D946-74DF9393E80A}"/>
              </a:ext>
            </a:extLst>
          </p:cNvPr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74DA09A7-91A8-64C2-D386-429A47476E1A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chemeClr val="bg1">
                    <a:lumMod val="75000"/>
                  </a:schemeClr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A5B8DFA-FB31-4C13-B9C1-F7FB45CFFB09}" type="slidenum">
              <a:rPr lang="en-CH" smtClean="0"/>
              <a:pPr/>
              <a:t>49</a:t>
            </a:fld>
            <a:endParaRPr/>
          </a:p>
        </p:txBody>
      </p:sp>
      <p:sp>
        <p:nvSpPr>
          <p:cNvPr id="392" name="PlaceHolder 2">
            <a:extLst>
              <a:ext uri="{FF2B5EF4-FFF2-40B4-BE49-F238E27FC236}">
                <a16:creationId xmlns:a16="http://schemas.microsoft.com/office/drawing/2014/main" id="{06193B83-C7D3-E4F1-ED52-F3AFFFB95A64}"/>
              </a:ext>
            </a:extLst>
          </p:cNvPr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de-CH" sz="1200" b="0" u="none" strike="noStrike" kern="1200" noProof="0" dirty="0" smtClean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93" name="Table 6">
            <a:extLst>
              <a:ext uri="{FF2B5EF4-FFF2-40B4-BE49-F238E27FC236}">
                <a16:creationId xmlns:a16="http://schemas.microsoft.com/office/drawing/2014/main" id="{33A0758C-F837-A95B-42D6-0C8809CABACE}"/>
              </a:ext>
            </a:extLst>
          </p:cNvPr>
          <p:cNvGraphicFramePr/>
          <p:nvPr/>
        </p:nvGraphicFramePr>
        <p:xfrm>
          <a:off x="702720" y="2066400"/>
          <a:ext cx="4406400" cy="473400"/>
        </p:xfrm>
        <a:graphic>
          <a:graphicData uri="http://schemas.openxmlformats.org/drawingml/2006/table">
            <a:tbl>
              <a:tblPr/>
              <a:tblGrid>
                <a:gridCol w="48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8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73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4" name="TextBox 7">
            <a:extLst>
              <a:ext uri="{FF2B5EF4-FFF2-40B4-BE49-F238E27FC236}">
                <a16:creationId xmlns:a16="http://schemas.microsoft.com/office/drawing/2014/main" id="{ABAFBA11-7EE8-A4EE-7BC5-584FBA428A63}"/>
              </a:ext>
            </a:extLst>
          </p:cNvPr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8">
            <a:extLst>
              <a:ext uri="{FF2B5EF4-FFF2-40B4-BE49-F238E27FC236}">
                <a16:creationId xmlns:a16="http://schemas.microsoft.com/office/drawing/2014/main" id="{0B16A48D-36C9-91DC-B10E-8F80A82FFA57}"/>
              </a:ext>
            </a:extLst>
          </p:cNvPr>
          <p:cNvSpPr/>
          <p:nvPr/>
        </p:nvSpPr>
        <p:spPr>
          <a:xfrm>
            <a:off x="6879240" y="27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9">
            <a:extLst>
              <a:ext uri="{FF2B5EF4-FFF2-40B4-BE49-F238E27FC236}">
                <a16:creationId xmlns:a16="http://schemas.microsoft.com/office/drawing/2014/main" id="{A9DAC4B8-5273-279E-0AEE-2444058A8A8A}"/>
              </a:ext>
            </a:extLst>
          </p:cNvPr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1" u="none" strike="noStrik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7" name="Table 10">
            <a:extLst>
              <a:ext uri="{FF2B5EF4-FFF2-40B4-BE49-F238E27FC236}">
                <a16:creationId xmlns:a16="http://schemas.microsoft.com/office/drawing/2014/main" id="{006E947F-7673-7C06-5E6C-9AF4318B85A4}"/>
              </a:ext>
            </a:extLst>
          </p:cNvPr>
          <p:cNvGraphicFramePr/>
          <p:nvPr/>
        </p:nvGraphicFramePr>
        <p:xfrm>
          <a:off x="711720" y="3213000"/>
          <a:ext cx="2152800" cy="1097280"/>
        </p:xfrm>
        <a:graphic>
          <a:graphicData uri="http://schemas.openxmlformats.org/drawingml/2006/table">
            <a:tbl>
              <a:tblPr/>
              <a:tblGrid>
                <a:gridCol w="107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lang="en-CH" sz="12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lang="en-CH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98" name="Table 11">
            <a:extLst>
              <a:ext uri="{FF2B5EF4-FFF2-40B4-BE49-F238E27FC236}">
                <a16:creationId xmlns:a16="http://schemas.microsoft.com/office/drawing/2014/main" id="{D7E477BB-3535-59AF-3D65-13386E90DD8F}"/>
              </a:ext>
            </a:extLst>
          </p:cNvPr>
          <p:cNvGraphicFramePr/>
          <p:nvPr/>
        </p:nvGraphicFramePr>
        <p:xfrm>
          <a:off x="7032240" y="3105720"/>
          <a:ext cx="3959280" cy="1461600"/>
        </p:xfrm>
        <a:graphic>
          <a:graphicData uri="http://schemas.openxmlformats.org/drawingml/2006/table">
            <a:tbl>
              <a:tblPr/>
              <a:tblGrid>
                <a:gridCol w="43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99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CH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11600" marR="111600" anchor="ctr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9" name="TextBox 18">
            <a:extLst>
              <a:ext uri="{FF2B5EF4-FFF2-40B4-BE49-F238E27FC236}">
                <a16:creationId xmlns:a16="http://schemas.microsoft.com/office/drawing/2014/main" id="{819C6EB4-AA59-58B6-698E-5168DC296317}"/>
              </a:ext>
            </a:extLst>
          </p:cNvPr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0" name="Straight Arrow Connector 20">
            <a:extLst>
              <a:ext uri="{FF2B5EF4-FFF2-40B4-BE49-F238E27FC236}">
                <a16:creationId xmlns:a16="http://schemas.microsoft.com/office/drawing/2014/main" id="{15152B56-8C10-6452-6DBF-58B76AF64441}"/>
              </a:ext>
            </a:extLst>
          </p:cNvPr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1" name="TextBox 22">
            <a:extLst>
              <a:ext uri="{FF2B5EF4-FFF2-40B4-BE49-F238E27FC236}">
                <a16:creationId xmlns:a16="http://schemas.microsoft.com/office/drawing/2014/main" id="{94F152D7-0C37-44EB-2D4B-99515EDACD8F}"/>
              </a:ext>
            </a:extLst>
          </p:cNvPr>
          <p:cNvSpPr/>
          <p:nvPr/>
        </p:nvSpPr>
        <p:spPr>
          <a:xfrm>
            <a:off x="7356240" y="1539720"/>
            <a:ext cx="3311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As a result, we obtain a view with duplicated rows, without using extra memory!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3">
            <a:extLst>
              <a:ext uri="{FF2B5EF4-FFF2-40B4-BE49-F238E27FC236}">
                <a16:creationId xmlns:a16="http://schemas.microsoft.com/office/drawing/2014/main" id="{29EF9F35-CCBE-DDC2-A5D2-B3D6E7A60E5A}"/>
              </a:ext>
            </a:extLst>
          </p:cNvPr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CH" sz="18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3" name="Straight Arrow Connector 24">
            <a:extLst>
              <a:ext uri="{FF2B5EF4-FFF2-40B4-BE49-F238E27FC236}">
                <a16:creationId xmlns:a16="http://schemas.microsoft.com/office/drawing/2014/main" id="{BFA82049-4EBD-1D39-FF05-D9E7909FD66A}"/>
              </a:ext>
            </a:extLst>
          </p:cNvPr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04" name="Rectangle 2">
            <a:extLst>
              <a:ext uri="{FF2B5EF4-FFF2-40B4-BE49-F238E27FC236}">
                <a16:creationId xmlns:a16="http://schemas.microsoft.com/office/drawing/2014/main" id="{742A8E56-DB5F-93E6-B8A5-EA3E5500C331}"/>
              </a:ext>
            </a:extLst>
          </p:cNvPr>
          <p:cNvSpPr/>
          <p:nvPr/>
        </p:nvSpPr>
        <p:spPr>
          <a:xfrm>
            <a:off x="6879240" y="3482280"/>
            <a:ext cx="4256640" cy="1272600"/>
          </a:xfrm>
          <a:prstGeom prst="rect">
            <a:avLst/>
          </a:prstGeom>
          <a:solidFill>
            <a:schemeClr val="accent5">
              <a:lumMod val="60000"/>
              <a:lumOff val="40000"/>
              <a:alpha val="79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32496099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F32A5-ABBC-E59F-67EF-39C75DA52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>
            <a:extLst>
              <a:ext uri="{FF2B5EF4-FFF2-40B4-BE49-F238E27FC236}">
                <a16:creationId xmlns:a16="http://schemas.microsoft.com/office/drawing/2014/main" id="{98B1D540-A6DB-2F9C-8672-D66C846D4A0E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CH" sz="3200" b="0" u="none" strike="noStrike">
                <a:solidFill>
                  <a:srgbClr val="000000"/>
                </a:solidFill>
                <a:effectLst/>
                <a:uFillTx/>
                <a:latin typeface="Calibri Light"/>
              </a:rPr>
              <a:t>NumPy uses broadcasting to perform operation on arrays of different shape without having to allocate extra memory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>
            <a:extLst>
              <a:ext uri="{FF2B5EF4-FFF2-40B4-BE49-F238E27FC236}">
                <a16:creationId xmlns:a16="http://schemas.microsoft.com/office/drawing/2014/main" id="{A091E72E-4B11-1A6C-F59A-8C814901D7C2}"/>
              </a:ext>
            </a:extLst>
          </p:cNvPr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ct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Data, v4.0</a:t>
            </a:r>
            <a:endParaRPr/>
          </a:p>
        </p:txBody>
      </p:sp>
      <p:sp>
        <p:nvSpPr>
          <p:cNvPr id="5" name="PlaceHolder 4">
            <a:extLst>
              <a:ext uri="{FF2B5EF4-FFF2-40B4-BE49-F238E27FC236}">
                <a16:creationId xmlns:a16="http://schemas.microsoft.com/office/drawing/2014/main" id="{525EEC9C-BA9A-EF44-CC10-062499D55526}"/>
              </a:ext>
            </a:extLst>
          </p:cNvPr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r" defTabSz="914400" rtl="0" eaLnBrk="1" latinLnBrk="0" hangingPunct="1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 kern="1200">
                <a:solidFill>
                  <a:srgbClr val="8B8B8B"/>
                </a:solidFill>
                <a:effectLst/>
                <a:uFillTx/>
                <a:latin typeface="Calibri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31FEECE-D6C8-4FCE-876A-0190D37870B1}" type="slidenum">
              <a:rPr lang="en-CH" smtClean="0"/>
              <a:pPr/>
              <a:t>50</a:t>
            </a:fld>
            <a:endParaRPr/>
          </a:p>
        </p:txBody>
      </p:sp>
      <p:sp>
        <p:nvSpPr>
          <p:cNvPr id="406" name="PlaceHolder 2">
            <a:extLst>
              <a:ext uri="{FF2B5EF4-FFF2-40B4-BE49-F238E27FC236}">
                <a16:creationId xmlns:a16="http://schemas.microsoft.com/office/drawing/2014/main" id="{1FAC0D84-6D55-15F1-31A5-7FE40BB357D4}"/>
              </a:ext>
            </a:extLst>
          </p:cNvPr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lang="en-US" sz="1400" b="0" u="none" strike="noStrike" kern="1200">
                <a:solidFill>
                  <a:srgbClr val="000000"/>
                </a:solidFill>
                <a:effectLst/>
                <a:uFillTx/>
                <a:latin typeface="Times New Roman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CH"/>
              <a:t>Aug 2026, CC BY-SA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7" name="Picture 6">
            <a:extLst>
              <a:ext uri="{FF2B5EF4-FFF2-40B4-BE49-F238E27FC236}">
                <a16:creationId xmlns:a16="http://schemas.microsoft.com/office/drawing/2014/main" id="{692E3789-66D3-BA42-53BE-87FEA890157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487240" y="1460880"/>
            <a:ext cx="7216920" cy="439164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610899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176151</TotalTime>
  <Words>5726</Words>
  <Application>Microsoft Macintosh PowerPoint</Application>
  <PresentationFormat>Widescreen</PresentationFormat>
  <Paragraphs>1658</Paragraphs>
  <Slides>50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50</vt:i4>
      </vt:variant>
    </vt:vector>
  </HeadingPairs>
  <TitlesOfParts>
    <vt:vector size="63" baseType="lpstr">
      <vt:lpstr>Arial</vt:lpstr>
      <vt:lpstr>Calibri</vt:lpstr>
      <vt:lpstr>Calibri Light</vt:lpstr>
      <vt:lpstr>Consolas</vt:lpstr>
      <vt:lpstr>Courier New</vt:lpstr>
      <vt:lpstr>Harding</vt:lpstr>
      <vt:lpstr>Source Sans Pro</vt:lpstr>
      <vt:lpstr>StarSymbol</vt:lpstr>
      <vt:lpstr>Symbol</vt:lpstr>
      <vt:lpstr>Times New Roman</vt:lpstr>
      <vt:lpstr>Wingdings</vt:lpstr>
      <vt:lpstr>Office Theme</vt:lpstr>
      <vt:lpstr>Office Theme</vt:lpstr>
      <vt:lpstr>PowerPoint Presentation</vt:lpstr>
      <vt:lpstr>NumPy – huh, yeah – what’s it good for?</vt:lpstr>
      <vt:lpstr>Efficient machine-native implementation </vt:lpstr>
      <vt:lpstr>Is NumPy any better than a list-of-lists?</vt:lpstr>
      <vt:lpstr>Is NumPy any better than a list-of-lists?</vt:lpstr>
      <vt:lpstr>How does NumPy implement array operations?</vt:lpstr>
      <vt:lpstr>PowerPoint Presentation</vt:lpstr>
      <vt:lpstr>How could this operation be implemented?</vt:lpstr>
      <vt:lpstr>1) With a copy of the original data</vt:lpstr>
      <vt:lpstr>1) With a copy of the original data</vt:lpstr>
      <vt:lpstr>1) With a copy of the original data</vt:lpstr>
      <vt:lpstr>2) With a view of the original data</vt:lpstr>
      <vt:lpstr>2) With a view of the original data</vt:lpstr>
      <vt:lpstr>2) With a view of the original data</vt:lpstr>
      <vt:lpstr>O(1) operations in NumPy</vt:lpstr>
      <vt:lpstr>The golden rule of NumPy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Views vs. copies in indexing operations</vt:lpstr>
      <vt:lpstr>View or copy? Quiz</vt:lpstr>
      <vt:lpstr>PowerPoint Presentation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Python assignment is “by reference”</vt:lpstr>
      <vt:lpstr>Changing one view changes them all</vt:lpstr>
      <vt:lpstr>Changing one view changes them all</vt:lpstr>
      <vt:lpstr>Changing one view changes them all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Passing an argument is an assignment</vt:lpstr>
      <vt:lpstr>Assignments and functions</vt:lpstr>
      <vt:lpstr>Careful with your functions</vt:lpstr>
      <vt:lpstr>Careful with your functions</vt:lpstr>
      <vt:lpstr>Careful with your functions</vt:lpstr>
      <vt:lpstr>Careful with your functions</vt:lpstr>
      <vt:lpstr>NumPy views and copies summary</vt:lpstr>
      <vt:lpstr>Up next: Tabular Data</vt:lpstr>
      <vt:lpstr>PowerPoint Presentation</vt:lpstr>
      <vt:lpstr>Fancy indexing in NumPy – reference slide</vt:lpstr>
      <vt:lpstr>A special kind of view: broadcasting operations</vt:lpstr>
      <vt:lpstr>A special kind of view: broadcasting operations</vt:lpstr>
      <vt:lpstr>NumPy uses broadcasting to perform operation on arrays of different shape without having to allocate extra memory</vt:lpstr>
    </vt:vector>
  </TitlesOfParts>
  <Company>University of Pennsylvania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Pietro Berkes</dc:creator>
  <dc:description/>
  <cp:lastModifiedBy>Pietro Berkes</cp:lastModifiedBy>
  <cp:revision>1875</cp:revision>
  <cp:lastPrinted>2017-08-28T05:46:03Z</cp:lastPrinted>
  <dcterms:created xsi:type="dcterms:W3CDTF">2010-10-01T16:09:12Z</dcterms:created>
  <dcterms:modified xsi:type="dcterms:W3CDTF">2026-08-20T15:59:10Z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33</vt:i4>
  </property>
</Properties>
</file>