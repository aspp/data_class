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44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9" r:id="rId17"/>
    <p:sldId id="280" r:id="rId18"/>
    <p:sldId id="281" r:id="rId19"/>
    <p:sldId id="282" r:id="rId20"/>
    <p:sldId id="270" r:id="rId21"/>
    <p:sldId id="289" r:id="rId22"/>
    <p:sldId id="295" r:id="rId23"/>
    <p:sldId id="305" r:id="rId24"/>
    <p:sldId id="304" r:id="rId25"/>
    <p:sldId id="307" r:id="rId26"/>
    <p:sldId id="306" r:id="rId27"/>
    <p:sldId id="271" r:id="rId28"/>
    <p:sldId id="272" r:id="rId29"/>
    <p:sldId id="273" r:id="rId30"/>
    <p:sldId id="308" r:id="rId31"/>
    <p:sldId id="298" r:id="rId32"/>
    <p:sldId id="300" r:id="rId33"/>
    <p:sldId id="301" r:id="rId34"/>
    <p:sldId id="309" r:id="rId35"/>
    <p:sldId id="274" r:id="rId36"/>
    <p:sldId id="275" r:id="rId37"/>
    <p:sldId id="276" r:id="rId38"/>
    <p:sldId id="277" r:id="rId39"/>
    <p:sldId id="278" r:id="rId40"/>
    <p:sldId id="286" r:id="rId41"/>
    <p:sldId id="287" r:id="rId42"/>
    <p:sldId id="288" r:id="rId43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A9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323"/>
    <p:restoredTop sz="96928"/>
  </p:normalViewPr>
  <p:slideViewPr>
    <p:cSldViewPr snapToGrid="0">
      <p:cViewPr varScale="1">
        <p:scale>
          <a:sx n="143" d="100"/>
          <a:sy n="143" d="100"/>
        </p:scale>
        <p:origin x="240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4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146" name="PlaceHolder 4"/>
          <p:cNvSpPr>
            <a:spLocks noGrp="1"/>
          </p:cNvSpPr>
          <p:nvPr>
            <p:ph type="dt" idx="73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47" name="PlaceHolder 5"/>
          <p:cNvSpPr>
            <a:spLocks noGrp="1"/>
          </p:cNvSpPr>
          <p:nvPr>
            <p:ph type="ftr" idx="7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48" name="PlaceHolder 6"/>
          <p:cNvSpPr>
            <a:spLocks noGrp="1"/>
          </p:cNvSpPr>
          <p:nvPr>
            <p:ph type="sldNum" idx="75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578A885-2061-44B6-8485-F75CF539C4E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17136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Reminder of architecture class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110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7001C42-ACD7-43EF-8A02-697273F2F1F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5" name="PlaceHolder 2"/>
          <p:cNvSpPr>
            <a:spLocks noGrp="1"/>
          </p:cNvSpPr>
          <p:nvPr>
            <p:ph type="sldNum" idx="111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1242EF1-E080-4BE0-80DA-71624264192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Notes Placeholder 1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8" name="PlaceHolder 2"/>
          <p:cNvSpPr>
            <a:spLocks noGrp="1"/>
          </p:cNvSpPr>
          <p:nvPr>
            <p:ph type="sldNum" idx="112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CE32096-C378-46E7-9662-A59E6F60A88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Notes Placeholder 3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/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4" name="PlaceHolder 2"/>
          <p:cNvSpPr>
            <a:spLocks noGrp="1"/>
          </p:cNvSpPr>
          <p:nvPr>
            <p:ph type="sldNum" idx="114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A4A78FA-EB70-4046-8053-A8E7106D337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Notes Placeholder 5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to make: there are a number of array operations that take no time at all!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 can always make a copy by explicitly calling .copy()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does the golden rule apply to indexing operations?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compare slices vs. fancy indexing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F7846-83A8-F003-6FE6-F33BA9FDA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>
            <a:extLst>
              <a:ext uri="{FF2B5EF4-FFF2-40B4-BE49-F238E27FC236}">
                <a16:creationId xmlns:a16="http://schemas.microsoft.com/office/drawing/2014/main" id="{F611D16D-DB32-0B5D-31B5-3BC8D9560D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7" name="PlaceHolder 2">
            <a:extLst>
              <a:ext uri="{FF2B5EF4-FFF2-40B4-BE49-F238E27FC236}">
                <a16:creationId xmlns:a16="http://schemas.microsoft.com/office/drawing/2014/main" id="{F83D05F4-3166-C027-69FF-640C2606FF5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Special case, when one of the strides is 0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duplicates without occupying more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Transition, other operations that can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Braodcasting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Imagine what happens if we have a stride of 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It allows us to replicate the sae row without allocating extra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What happens when it’s a 0?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3">
            <a:extLst>
              <a:ext uri="{FF2B5EF4-FFF2-40B4-BE49-F238E27FC236}">
                <a16:creationId xmlns:a16="http://schemas.microsoft.com/office/drawing/2014/main" id="{D168F620-27AE-7B2B-B518-151A99B0F3B6}"/>
              </a:ext>
            </a:extLst>
          </p:cNvPr>
          <p:cNvSpPr>
            <a:spLocks noGrp="1"/>
          </p:cNvSpPr>
          <p:nvPr>
            <p:ph type="sldNum" idx="115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46CB81B-36F2-4DEE-A9E5-516DDE81E95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387184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CA673-E781-AA81-2E47-EE71944CF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>
            <a:extLst>
              <a:ext uri="{FF2B5EF4-FFF2-40B4-BE49-F238E27FC236}">
                <a16:creationId xmlns:a16="http://schemas.microsoft.com/office/drawing/2014/main" id="{30BD5DFE-F2F2-FF82-A70D-269206582B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90" name="PlaceHolder 2">
            <a:extLst>
              <a:ext uri="{FF2B5EF4-FFF2-40B4-BE49-F238E27FC236}">
                <a16:creationId xmlns:a16="http://schemas.microsoft.com/office/drawing/2014/main" id="{9A2A0000-5814-D361-DFCF-D2CABD191EF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Stride == 0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then we are not actually moving in memory, same memory, we are looping over the same thing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3">
            <a:extLst>
              <a:ext uri="{FF2B5EF4-FFF2-40B4-BE49-F238E27FC236}">
                <a16:creationId xmlns:a16="http://schemas.microsoft.com/office/drawing/2014/main" id="{C5D9E606-7D9A-6171-FEC9-9E8937B1FBFB}"/>
              </a:ext>
            </a:extLst>
          </p:cNvPr>
          <p:cNvSpPr>
            <a:spLocks noGrp="1"/>
          </p:cNvSpPr>
          <p:nvPr>
            <p:ph type="sldNum" idx="116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9BC6331-82DC-46A6-99F6-40E53610FA2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670373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DFEA9-758C-EEAA-4421-1A491FD0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>
            <a:extLst>
              <a:ext uri="{FF2B5EF4-FFF2-40B4-BE49-F238E27FC236}">
                <a16:creationId xmlns:a16="http://schemas.microsoft.com/office/drawing/2014/main" id="{7555D026-743C-E576-B691-02B40DD90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93" name="PlaceHolder 2">
            <a:extLst>
              <a:ext uri="{FF2B5EF4-FFF2-40B4-BE49-F238E27FC236}">
                <a16:creationId xmlns:a16="http://schemas.microsoft.com/office/drawing/2014/main" id="{E632CA4E-DEBC-DABD-7074-28EF629887E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3">
            <a:extLst>
              <a:ext uri="{FF2B5EF4-FFF2-40B4-BE49-F238E27FC236}">
                <a16:creationId xmlns:a16="http://schemas.microsoft.com/office/drawing/2014/main" id="{7764F26B-1A52-A8AD-1207-42C9AC6EA58B}"/>
              </a:ext>
            </a:extLst>
          </p:cNvPr>
          <p:cNvSpPr>
            <a:spLocks noGrp="1"/>
          </p:cNvSpPr>
          <p:nvPr>
            <p:ph type="sldNum" idx="117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6B0B33F-7795-4156-91E4-038DEE4DC37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511075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13D3F-065C-4B20-FA66-67F06AB03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>
            <a:extLst>
              <a:ext uri="{FF2B5EF4-FFF2-40B4-BE49-F238E27FC236}">
                <a16:creationId xmlns:a16="http://schemas.microsoft.com/office/drawing/2014/main" id="{9CFD71A0-53C7-5C8C-BAA1-97306F06F6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96" name="PlaceHolder 2">
            <a:extLst>
              <a:ext uri="{FF2B5EF4-FFF2-40B4-BE49-F238E27FC236}">
                <a16:creationId xmlns:a16="http://schemas.microsoft.com/office/drawing/2014/main" id="{BD50E878-58B5-2EDC-6264-04D6227E00C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PlaceHolder 3">
            <a:extLst>
              <a:ext uri="{FF2B5EF4-FFF2-40B4-BE49-F238E27FC236}">
                <a16:creationId xmlns:a16="http://schemas.microsoft.com/office/drawing/2014/main" id="{87CFCBF8-E2C5-56C0-E97C-3E48D384DBA9}"/>
              </a:ext>
            </a:extLst>
          </p:cNvPr>
          <p:cNvSpPr>
            <a:spLocks noGrp="1"/>
          </p:cNvSpPr>
          <p:nvPr>
            <p:ph type="sldNum" idx="118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FD124DA-8B45-46ED-8FF7-7B07FDD172F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214893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EF1F-1BFA-CD5A-CABF-E3B1EABE8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BE54E4-2AEB-254C-7ECE-3CFEF4A42F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2832F0-85C1-8FC5-4CF9-5425D632CE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682CF5-931A-BB8D-D22A-53F3C1A68A90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595776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10F38-B83A-42FB-1F4C-A028B3030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ECB14C-04DD-B983-DE7E-D755FB25A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5A25EA-EE65-BCBF-DD1D-E9983EC5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955556-3105-EC6C-A79B-6741B5928182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298857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C2396-135D-247B-A8C9-62F70532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00A454-2A23-F9BD-DAFE-2252C44355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FBF1-DDBE-343A-6539-65B133D693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30DBF-B918-74B0-0C13-96D439742499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736288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78F2A-FF6F-47E4-0AD0-57BBE723A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F67244-04D0-5705-1980-C3A908B1FA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0B9D03-A8DA-E9A8-C60E-57DE565604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346E91-1E5A-0093-91D5-0AE0D27E532B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970186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4F808-9E8D-7E5B-4514-16E37E8C8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E20655-7A2E-0765-F6EB-DD2162000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02459C-4FB1-9261-1147-6E05B6CDF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1C7A8-8CEF-8916-3936-C71DB20CD44A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169273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F2068-14FD-3653-2F4A-1D299823C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3BAEE7-4D78-59C3-B846-95C137A24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F63EF6-9AEB-8949-A429-5F61D2798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DDE192-5CF6-C264-AE95-5D5CE36D7380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639017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22096-5931-7422-B102-7F4A67485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BD321D-51F5-0EA7-B0CD-5DC4735C6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106540-BAF9-E5AA-92FA-CE80E03553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FEEB5-2178-4F02-4A7D-3284E30DB3BA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084670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3DE99-71B5-3ED4-BAEA-96A5DFA15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7234D4-87DD-4E2E-0165-88E5B7E074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86DC9E-78A5-C8A7-81D6-7AF1C1F83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A8A977-A852-8E9B-80E7-60D4BEFA841F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9535475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32ACD-D43F-1A40-1AC5-4779D3154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A68DC1-903A-6562-B519-2537DF01DE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497B5F-5086-927D-A377-21744D959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874E7D-D86F-5521-3510-20FA833F3A89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568889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 .copy() usage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can go wrong with this function?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Discuss pros and cons with them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Pros: security that data will be always a copy.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Cons: redundancy in memory, problem for big arrays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66987CF-7650-4637-B89B-3426776609BF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" name="PlaceHolder 4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6DEA467-5DED-4BE0-82E6-5EF7536E468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" name="PlaceHolder 6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051D383-8BE4-4D86-B32E-EA6F4EC497C6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39344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794916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83808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439344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794916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8" name="PlaceHolder 8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9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ACCA44B-75FF-4F80-A6C5-31823BD4542B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10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3BEA428-0D71-4D0E-A007-D551110C1CC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CH" sz="1200" b="0" u="none" strike="noStrike" kern="1200" noProof="0" dirty="0" smtClean="0">
                <a:solidFill>
                  <a:schemeClr val="bg1">
                    <a:lumMod val="6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pPr>
              <a:defRPr/>
            </a:pPr>
            <a:r>
              <a:rPr lang="de-CH"/>
              <a:t>Aug 2026, CC BY-SA 4.0</a:t>
            </a:r>
            <a:endParaRPr lang="en-GB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5" name="PlaceHolder 2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r>
              <a:rPr lang="en-GB"/>
              <a:t>Data, v3.0</a:t>
            </a:r>
            <a:endParaRPr lang="en-GB" dirty="0"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bg1">
                    <a:lumMod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fld id="{9A5B8DFA-FB31-4C13-B9C1-F7FB45CFFB09}" type="slidenum">
              <a:rPr lang="en-CH" smtClean="0"/>
              <a:pPr/>
              <a:t>‹#›</a:t>
            </a:fld>
            <a:endParaRPr lang="en-CH"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de-CH" sz="1200" b="0" u="none" strike="noStrike" kern="1200" noProof="0" dirty="0" smtClean="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pPr>
              <a:defRPr/>
            </a:pPr>
            <a:r>
              <a:rPr lang="de-CH"/>
              <a:t>Aug 2026, CC BY-SA 4.0</a:t>
            </a:r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0" name="PlaceHolder 3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578DE0D-40B8-4AD6-9555-8FCDEE4E7E9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6" name="PlaceHolder 4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9A90716-14E6-4794-880C-4B3C7F4A0E3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324D83B-9B9C-4FB5-8262-04BB5629952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Centere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AC6DC31-8F36-4991-B964-4A684501E5D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Title, 2 Content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1" name="PlaceHolder 5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D0A35F8-32EB-4866-90CE-E7F7BB54D50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7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 Content and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8" name="PlaceHolder 5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6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ACFCBE0-D3A1-424F-A1A4-511EB3768520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7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4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5" name="PlaceHolder 5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15FF12-41C1-4F39-A693-0FEFDB25C8C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1" name="PlaceHolder 4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6D4B11-FB66-431D-9A06-47578200C12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7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8" name="PlaceHolder 5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9" name="PlaceHolder 6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7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E472CA3-DAE7-4AFB-97E3-F6AB8B18C7F7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8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439344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794916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6" name="PlaceHolder 5"/>
          <p:cNvSpPr>
            <a:spLocks noGrp="1"/>
          </p:cNvSpPr>
          <p:nvPr>
            <p:ph type="body"/>
          </p:nvPr>
        </p:nvSpPr>
        <p:spPr>
          <a:xfrm>
            <a:off x="83808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7" name="PlaceHolder 6"/>
          <p:cNvSpPr>
            <a:spLocks noGrp="1"/>
          </p:cNvSpPr>
          <p:nvPr>
            <p:ph type="body"/>
          </p:nvPr>
        </p:nvSpPr>
        <p:spPr>
          <a:xfrm>
            <a:off x="439344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8" name="PlaceHolder 7"/>
          <p:cNvSpPr>
            <a:spLocks noGrp="1"/>
          </p:cNvSpPr>
          <p:nvPr>
            <p:ph type="body"/>
          </p:nvPr>
        </p:nvSpPr>
        <p:spPr>
          <a:xfrm>
            <a:off x="794916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9" name="PlaceHolder 8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9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49AAEFD-C435-43F1-B023-83CF996B8F4D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10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0C9F262-E824-4AC0-AF2C-F2E2B6D39D63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8" name="PlaceHolder 2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3" name="PlaceHolder 3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 type="sldNum" idx="5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B9EC53-DCE4-41FE-BEA0-C0B46656D65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8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9" name="PlaceHolder 4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 type="sldNum" idx="5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AF999DB-FCEC-4996-A4FB-817656C836AD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3" name="PlaceHolder 2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6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410447-D8B1-4E2D-B113-45A81ACB934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Default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ftr" idx="6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ldNum" idx="6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B8F0785-59AA-4995-AAE4-E56ACB85C5A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dt" idx="6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3" name="PlaceHolder 5"/>
          <p:cNvSpPr>
            <a:spLocks noGrp="1"/>
          </p:cNvSpPr>
          <p:nvPr>
            <p:ph type="ftr" idx="6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 type="sldNum" idx="6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3667B7A-D913-4875-A2BF-3232251D93E2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PlaceHolder 7"/>
          <p:cNvSpPr>
            <a:spLocks noGrp="1"/>
          </p:cNvSpPr>
          <p:nvPr>
            <p:ph type="dt" idx="6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0" name="PlaceHolder 5"/>
          <p:cNvSpPr>
            <a:spLocks noGrp="1"/>
          </p:cNvSpPr>
          <p:nvPr>
            <p:ph type="ftr" idx="7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PlaceHolder 6"/>
          <p:cNvSpPr>
            <a:spLocks noGrp="1"/>
          </p:cNvSpPr>
          <p:nvPr>
            <p:ph type="sldNum" idx="7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D762F64-64B4-4841-B2F6-7E251DD311AF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PlaceHolder 7"/>
          <p:cNvSpPr>
            <a:spLocks noGrp="1"/>
          </p:cNvSpPr>
          <p:nvPr>
            <p:ph type="dt" idx="7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970D287C-E07C-44D5-B430-429B6B5F3EE8}" type="slidenum">
              <a:rPr/>
              <a:t>1</a:t>
            </a:fld>
            <a:endParaRPr/>
          </a:p>
        </p:txBody>
      </p:sp>
      <p:sp>
        <p:nvSpPr>
          <p:cNvPr id="149" name="PlaceHolder 1"/>
          <p:cNvSpPr>
            <a:spLocks noGrp="1"/>
          </p:cNvSpPr>
          <p:nvPr>
            <p:ph type="dt" idx="15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0" name="Picture 5" descr="A garden with different vegetables&#10;&#10;Description automatically generated"/>
          <p:cNvPicPr/>
          <p:nvPr/>
        </p:nvPicPr>
        <p:blipFill>
          <a:blip r:embed="rId2"/>
          <a:stretch/>
        </p:blipFill>
        <p:spPr>
          <a:xfrm>
            <a:off x="2077920" y="1788480"/>
            <a:ext cx="8035560" cy="449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itle 1"/>
          <p:cNvSpPr/>
          <p:nvPr/>
        </p:nvSpPr>
        <p:spPr>
          <a:xfrm>
            <a:off x="2747520" y="552600"/>
            <a:ext cx="6696000" cy="148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80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NumPy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NumPy – huh, yeah – what’s it good for?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5"/>
          </p:nvPr>
        </p:nvSpPr>
        <p:spPr/>
        <p:txBody>
          <a:bodyPr/>
          <a:lstStyle/>
          <a:p>
            <a:r>
              <a:rPr lang="en-GB" dirty="0"/>
              <a:t>Data, v3.0</a:t>
            </a:r>
            <a:endParaRPr dirty="0"/>
          </a:p>
        </p:txBody>
      </p:sp>
      <p:sp>
        <p:nvSpPr>
          <p:cNvPr id="6" name="PlaceHolder 5"/>
          <p:cNvSpPr>
            <a:spLocks noGrp="1"/>
          </p:cNvSpPr>
          <p:nvPr>
            <p:ph type="sldNum" idx="56"/>
          </p:nvPr>
        </p:nvSpPr>
        <p:spPr/>
        <p:txBody>
          <a:bodyPr/>
          <a:lstStyle/>
          <a:p>
            <a:fld id="{42D8D466-CA19-4EEB-9A98-B349C59F5CA8}" type="slidenum">
              <a:rPr/>
              <a:t>2</a:t>
            </a:fld>
            <a:endParaRPr/>
          </a:p>
        </p:txBody>
      </p:sp>
      <p:sp>
        <p:nvSpPr>
          <p:cNvPr id="154" name="PlaceHolder 3"/>
          <p:cNvSpPr>
            <a:spLocks noGrp="1"/>
          </p:cNvSpPr>
          <p:nvPr>
            <p:ph type="dt" idx="57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 dirty="0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838080" y="1530484"/>
            <a:ext cx="10514880" cy="4645675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NumPy </a:t>
            </a:r>
            <a:r>
              <a:rPr lang="en-US" sz="2800" b="0" u="none" strike="noStrike" dirty="0" err="1">
                <a:solidFill>
                  <a:srgbClr val="000000"/>
                </a:solidFill>
                <a:effectLst/>
                <a:uFillTx/>
                <a:latin typeface="Calibri"/>
              </a:rPr>
              <a:t>i</a:t>
            </a: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ntroduce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s</a:t>
            </a: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 a new data structure: </a:t>
            </a:r>
            <a:r>
              <a:rPr lang="en-CH" sz="28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the array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Great for storing homogeneous data, where every element in the array has the same meaning. E.g. images, sound, time series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7"/>
          <p:cNvSpPr/>
          <p:nvPr/>
        </p:nvSpPr>
        <p:spPr>
          <a:xfrm>
            <a:off x="2531520" y="2349000"/>
            <a:ext cx="7128000" cy="9424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 array is a regular, N-dimensional grid of data of the same type, typically numerical data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2"/>
          <p:cNvPicPr/>
          <p:nvPr/>
        </p:nvPicPr>
        <p:blipFill>
          <a:blip r:embed="rId2"/>
          <a:stretch/>
        </p:blipFill>
        <p:spPr>
          <a:xfrm>
            <a:off x="5038920" y="4848120"/>
            <a:ext cx="2113560" cy="950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 dirty="0">
                <a:solidFill>
                  <a:srgbClr val="000000"/>
                </a:solidFill>
                <a:effectLst/>
                <a:uFillTx/>
                <a:latin typeface="Calibri Light" panose="020F0302020204030204" pitchFamily="34" charset="0"/>
                <a:cs typeface="Calibri Light" panose="020F0302020204030204" pitchFamily="34" charset="0"/>
              </a:rPr>
              <a:t>Efficient machine-native implementation </a:t>
            </a:r>
            <a:endParaRPr lang="en-US" sz="4400" u="none" strike="noStrike" dirty="0">
              <a:solidFill>
                <a:srgbClr val="000000"/>
              </a:solidFill>
              <a:effectLst/>
              <a:uFillTx/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 type="ftr" idx="52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3174ED62-3A5A-4555-8867-54EED906BD75}" type="slidenum">
              <a:rPr/>
              <a:t>3</a:t>
            </a:fld>
            <a:endParaRPr/>
          </a:p>
        </p:txBody>
      </p:sp>
      <p:sp>
        <p:nvSpPr>
          <p:cNvPr id="159" name="PlaceHolder 3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body" idx="4294967295"/>
          </p:nvPr>
        </p:nvSpPr>
        <p:spPr>
          <a:xfrm>
            <a:off x="966281" y="1264256"/>
            <a:ext cx="10514880" cy="3976687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Data is stored in a contiguous chunk of memory, using machine-native data types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Separate metadata tells numpy how to interpret that memory as an array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1" name="Table 9"/>
          <p:cNvGraphicFramePr/>
          <p:nvPr/>
        </p:nvGraphicFramePr>
        <p:xfrm>
          <a:off x="1229400" y="27792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2" name="TextBox 10"/>
          <p:cNvSpPr/>
          <p:nvPr/>
        </p:nvSpPr>
        <p:spPr>
          <a:xfrm>
            <a:off x="869400" y="32526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3" name="Table 11"/>
          <p:cNvGraphicFramePr/>
          <p:nvPr/>
        </p:nvGraphicFramePr>
        <p:xfrm>
          <a:off x="1214280" y="4565160"/>
          <a:ext cx="3127680" cy="1620000"/>
        </p:xfrm>
        <a:graphic>
          <a:graphicData uri="http://schemas.openxmlformats.org/drawingml/2006/table">
            <a:tbl>
              <a:tblPr/>
              <a:tblGrid>
                <a:gridCol w="156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4" name="TextBox 12"/>
          <p:cNvSpPr/>
          <p:nvPr/>
        </p:nvSpPr>
        <p:spPr>
          <a:xfrm>
            <a:off x="1157400" y="235764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5" name="Table 15"/>
          <p:cNvGraphicFramePr/>
          <p:nvPr/>
        </p:nvGraphicFramePr>
        <p:xfrm>
          <a:off x="8165160" y="3537720"/>
          <a:ext cx="1892160" cy="1587600"/>
        </p:xfrm>
        <a:graphic>
          <a:graphicData uri="http://schemas.openxmlformats.org/drawingml/2006/table">
            <a:tbl>
              <a:tblPr/>
              <a:tblGrid>
                <a:gridCol w="63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6" name="TextBox 16"/>
          <p:cNvSpPr/>
          <p:nvPr/>
        </p:nvSpPr>
        <p:spPr>
          <a:xfrm>
            <a:off x="8103600" y="313128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17"/>
          <p:cNvSpPr/>
          <p:nvPr/>
        </p:nvSpPr>
        <p:spPr>
          <a:xfrm>
            <a:off x="1132200" y="41817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riangle 19"/>
          <p:cNvSpPr/>
          <p:nvPr/>
        </p:nvSpPr>
        <p:spPr>
          <a:xfrm rot="5400000">
            <a:off x="5187240" y="422568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169" name="Picture 2"/>
          <p:cNvPicPr/>
          <p:nvPr/>
        </p:nvPicPr>
        <p:blipFill>
          <a:blip r:embed="rId3"/>
          <a:srcRect b="32467"/>
          <a:stretch/>
        </p:blipFill>
        <p:spPr>
          <a:xfrm flipH="1">
            <a:off x="6096600" y="3048120"/>
            <a:ext cx="1744560" cy="1193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Is NumPy any better than a list-of-lists?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B69005C-7063-4B68-A3C2-A8059B4D03B0}" type="slidenum">
              <a:rPr/>
              <a:t>4</a:t>
            </a:fld>
            <a:endParaRPr/>
          </a:p>
        </p:txBody>
      </p:sp>
      <p:sp>
        <p:nvSpPr>
          <p:cNvPr id="171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72" name="Group 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173" name="Rectangle 1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74" name="Graphic 11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011624DA-98A5-4FDB-BA21-A391D4A3E667}" type="slidenum">
              <a:rPr/>
              <a:t>5</a:t>
            </a:fld>
            <a:endParaRPr/>
          </a:p>
        </p:txBody>
      </p:sp>
      <p:sp>
        <p:nvSpPr>
          <p:cNvPr id="177" name="PlaceHolder 3"/>
          <p:cNvSpPr>
            <a:spLocks noGrp="1"/>
          </p:cNvSpPr>
          <p:nvPr>
            <p:ph type="dt" idx="5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Is NumPy any better than a list-of-lists?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09300" y="1688650"/>
            <a:ext cx="10972440" cy="3977749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The machine-nativeness of the data structure means that common operations and algorithms can be implemented with less per-element overhead, making them faster than a Python list-of-lists</a:t>
            </a:r>
            <a:b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</a:b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Faster in what sense?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It’s not going to scale any better than list-of-lists</a:t>
            </a:r>
            <a:b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</a:br>
            <a:r>
              <a:rPr lang="en-CH" sz="2400" dirty="0">
                <a:solidFill>
                  <a:srgbClr val="000000"/>
                </a:solidFill>
                <a:latin typeface="Calibri"/>
              </a:rPr>
              <a:t>Big-O complexity is the same. E.g., square matrix multiplication is still O(n³)</a:t>
            </a:r>
            <a:endParaRPr lang="en-CH" sz="2400" baseline="30000" dirty="0">
              <a:solidFill>
                <a:srgbClr val="000000"/>
              </a:solidFill>
              <a:latin typeface="Calibri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Much faster for fixed-size problems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This speed advantage strictly depends on operations being made in C and Fortran. Avoid Python for-loops and use existing NumPy and SciPy functionality!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grpSp>
        <p:nvGrpSpPr>
          <p:cNvPr id="178" name="Group 7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179" name="Rectangle 8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80" name="Graphic 12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81" name="TextBox 18"/>
          <p:cNvSpPr/>
          <p:nvPr/>
        </p:nvSpPr>
        <p:spPr>
          <a:xfrm>
            <a:off x="3791880" y="6176880"/>
            <a:ext cx="8006760" cy="5166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400" b="0" u="none" strike="noStrike" baseline="30000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*</a:t>
            </a:r>
            <a:r>
              <a:rPr lang="en-US" sz="1400" b="0" u="none" strike="noStrike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 The best matrix multiplication algorithm as of 2025 scales as O(n**2.371339). However, out-of-the-box NumPy packages usually use a Fortran library called </a:t>
            </a:r>
            <a:r>
              <a:rPr lang="en-US" sz="1400" b="0" u="none" strike="noStrike" dirty="0" err="1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OpenBLAS</a:t>
            </a:r>
            <a:r>
              <a:rPr lang="en-US" sz="1400" b="0" u="none" strike="noStrike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 that implements a O(n**3) algorithm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Same data, different views</a:t>
            </a:r>
            <a:endParaRPr lang="en-US" sz="44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6</a:t>
            </a:fld>
            <a:endParaRPr/>
          </a:p>
        </p:txBody>
      </p:sp>
      <p:sp>
        <p:nvSpPr>
          <p:cNvPr id="183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/>
          <p:cNvGraphicFramePr/>
          <p:nvPr/>
        </p:nvGraphicFramePr>
        <p:xfrm>
          <a:off x="1240920" y="208008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/>
          <p:cNvSpPr/>
          <p:nvPr/>
        </p:nvSpPr>
        <p:spPr>
          <a:xfrm>
            <a:off x="880920" y="255384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/>
          <p:cNvGraphicFramePr/>
          <p:nvPr/>
        </p:nvGraphicFramePr>
        <p:xfrm>
          <a:off x="1245600" y="3816000"/>
          <a:ext cx="3127680" cy="1620000"/>
        </p:xfrm>
        <a:graphic>
          <a:graphicData uri="http://schemas.openxmlformats.org/drawingml/2006/table">
            <a:tbl>
              <a:tblPr/>
              <a:tblGrid>
                <a:gridCol w="156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7" name="TextBox 12"/>
          <p:cNvSpPr/>
          <p:nvPr/>
        </p:nvSpPr>
        <p:spPr>
          <a:xfrm>
            <a:off x="1168920" y="165888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8" name="Table 15"/>
          <p:cNvGraphicFramePr/>
          <p:nvPr/>
        </p:nvGraphicFramePr>
        <p:xfrm>
          <a:off x="8210880" y="3384000"/>
          <a:ext cx="1892160" cy="1587600"/>
        </p:xfrm>
        <a:graphic>
          <a:graphicData uri="http://schemas.openxmlformats.org/drawingml/2006/table">
            <a:tbl>
              <a:tblPr/>
              <a:tblGrid>
                <a:gridCol w="63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9" name="TextBox 16"/>
          <p:cNvSpPr/>
          <p:nvPr/>
        </p:nvSpPr>
        <p:spPr>
          <a:xfrm>
            <a:off x="8148960" y="297756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7"/>
          <p:cNvSpPr/>
          <p:nvPr/>
        </p:nvSpPr>
        <p:spPr>
          <a:xfrm>
            <a:off x="1163880" y="34329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riangle 26"/>
          <p:cNvSpPr/>
          <p:nvPr/>
        </p:nvSpPr>
        <p:spPr>
          <a:xfrm rot="5400000">
            <a:off x="4968720" y="362124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192" name="Picture 2"/>
          <p:cNvPicPr/>
          <p:nvPr/>
        </p:nvPicPr>
        <p:blipFill>
          <a:blip r:embed="rId3"/>
          <a:srcRect b="32467"/>
          <a:stretch/>
        </p:blipFill>
        <p:spPr>
          <a:xfrm flipH="1">
            <a:off x="5878080" y="2443320"/>
            <a:ext cx="1744560" cy="1193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3" name="Table 23"/>
          <p:cNvGraphicFramePr/>
          <p:nvPr/>
        </p:nvGraphicFramePr>
        <p:xfrm>
          <a:off x="1240920" y="3816000"/>
          <a:ext cx="3127680" cy="1620000"/>
        </p:xfrm>
        <a:graphic>
          <a:graphicData uri="http://schemas.openxmlformats.org/drawingml/2006/table">
            <a:tbl>
              <a:tblPr/>
              <a:tblGrid>
                <a:gridCol w="156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Same data, different views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7081BE80-10E3-4B16-AED9-B33E9CE07884}" type="slidenum">
              <a:rPr/>
              <a:t>7</a:t>
            </a:fld>
            <a:endParaRPr/>
          </a:p>
        </p:txBody>
      </p:sp>
      <p:sp>
        <p:nvSpPr>
          <p:cNvPr id="19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96" name="Table 9"/>
          <p:cNvGraphicFramePr/>
          <p:nvPr/>
        </p:nvGraphicFramePr>
        <p:xfrm>
          <a:off x="1240920" y="208008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7" name="TextBox 10"/>
          <p:cNvSpPr/>
          <p:nvPr/>
        </p:nvSpPr>
        <p:spPr>
          <a:xfrm>
            <a:off x="880920" y="255384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12"/>
          <p:cNvSpPr/>
          <p:nvPr/>
        </p:nvSpPr>
        <p:spPr>
          <a:xfrm>
            <a:off x="1168920" y="165888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16"/>
          <p:cNvSpPr/>
          <p:nvPr/>
        </p:nvSpPr>
        <p:spPr>
          <a:xfrm>
            <a:off x="7491960" y="381492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17"/>
          <p:cNvSpPr/>
          <p:nvPr/>
        </p:nvSpPr>
        <p:spPr>
          <a:xfrm>
            <a:off x="1163880" y="34329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riangle 20"/>
          <p:cNvSpPr/>
          <p:nvPr/>
        </p:nvSpPr>
        <p:spPr>
          <a:xfrm rot="5400000">
            <a:off x="4968720" y="362124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202" name="Picture 2"/>
          <p:cNvPicPr/>
          <p:nvPr/>
        </p:nvPicPr>
        <p:blipFill>
          <a:blip r:embed="rId3"/>
          <a:srcRect b="32467"/>
          <a:stretch/>
        </p:blipFill>
        <p:spPr>
          <a:xfrm flipH="1">
            <a:off x="5878080" y="2443320"/>
            <a:ext cx="1744560" cy="119340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203" name="Table 22"/>
          <p:cNvGraphicFramePr/>
          <p:nvPr/>
        </p:nvGraphicFramePr>
        <p:xfrm>
          <a:off x="7597080" y="4264560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825120" y="4338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O(1) operations in NumPy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9B9DB0-4BB1-4035-9D8C-B046F6439D11}" type="slidenum">
              <a:rPr/>
              <a:t>8</a:t>
            </a:fld>
            <a:endParaRPr/>
          </a:p>
        </p:txBody>
      </p:sp>
      <p:sp>
        <p:nvSpPr>
          <p:cNvPr id="20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TextBox 5"/>
          <p:cNvSpPr/>
          <p:nvPr/>
        </p:nvSpPr>
        <p:spPr>
          <a:xfrm>
            <a:off x="6375240" y="18176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7" name="Table 6"/>
          <p:cNvGraphicFramePr/>
          <p:nvPr/>
        </p:nvGraphicFramePr>
        <p:xfrm>
          <a:off x="6588720" y="3611160"/>
          <a:ext cx="4544640" cy="295560"/>
        </p:xfrm>
        <a:graphic>
          <a:graphicData uri="http://schemas.openxmlformats.org/drawingml/2006/table">
            <a:tbl>
              <a:tblPr/>
              <a:tblGrid>
                <a:gridCol w="37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8" name="Table 8"/>
          <p:cNvGraphicFramePr/>
          <p:nvPr/>
        </p:nvGraphicFramePr>
        <p:xfrm>
          <a:off x="6588720" y="4389120"/>
          <a:ext cx="1353600" cy="999000"/>
        </p:xfrm>
        <a:graphic>
          <a:graphicData uri="http://schemas.openxmlformats.org/drawingml/2006/table">
            <a:tbl>
              <a:tblPr/>
              <a:tblGrid>
                <a:gridCol w="3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9" name="Table 9"/>
          <p:cNvGraphicFramePr/>
          <p:nvPr/>
        </p:nvGraphicFramePr>
        <p:xfrm>
          <a:off x="6588720" y="2163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10" name="Table 10"/>
          <p:cNvGraphicFramePr/>
          <p:nvPr/>
        </p:nvGraphicFramePr>
        <p:xfrm>
          <a:off x="767520" y="1214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1" name="TextBox 11"/>
          <p:cNvSpPr/>
          <p:nvPr/>
        </p:nvSpPr>
        <p:spPr>
          <a:xfrm>
            <a:off x="615960" y="784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12"/>
          <p:cNvSpPr/>
          <p:nvPr/>
        </p:nvSpPr>
        <p:spPr>
          <a:xfrm>
            <a:off x="767520" y="330228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x.ravel()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13"/>
          <p:cNvSpPr/>
          <p:nvPr/>
        </p:nvSpPr>
        <p:spPr>
          <a:xfrm>
            <a:off x="580320" y="1807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14"/>
          <p:cNvSpPr/>
          <p:nvPr/>
        </p:nvSpPr>
        <p:spPr>
          <a:xfrm>
            <a:off x="767520" y="441720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16"/>
          <p:cNvSpPr/>
          <p:nvPr/>
        </p:nvSpPr>
        <p:spPr>
          <a:xfrm>
            <a:off x="767520" y="218700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17"/>
          <p:cNvSpPr/>
          <p:nvPr/>
        </p:nvSpPr>
        <p:spPr>
          <a:xfrm>
            <a:off x="8136000" y="270000"/>
            <a:ext cx="3204000" cy="16142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When NumPy can execute a command by just changing the metadata, it does.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result is a </a:t>
            </a:r>
            <a:r>
              <a:rPr lang="en-CH" sz="20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new view of the same data in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7" name="Table 18"/>
          <p:cNvGraphicFramePr/>
          <p:nvPr/>
        </p:nvGraphicFramePr>
        <p:xfrm>
          <a:off x="3859560" y="333216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(12,)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8" name="TextBox 19"/>
          <p:cNvSpPr/>
          <p:nvPr/>
        </p:nvSpPr>
        <p:spPr>
          <a:xfrm>
            <a:off x="3639960" y="181764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9" name="Table 21"/>
          <p:cNvGraphicFramePr/>
          <p:nvPr/>
        </p:nvGraphicFramePr>
        <p:xfrm>
          <a:off x="3859560" y="447732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20" name="Table 22"/>
          <p:cNvGraphicFramePr/>
          <p:nvPr/>
        </p:nvGraphicFramePr>
        <p:xfrm>
          <a:off x="3859560" y="218736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1" name="TextBox 23"/>
          <p:cNvSpPr/>
          <p:nvPr/>
        </p:nvSpPr>
        <p:spPr>
          <a:xfrm>
            <a:off x="767520" y="553248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x.reshape((2, 6))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2" name="Table 26"/>
          <p:cNvGraphicFramePr/>
          <p:nvPr/>
        </p:nvGraphicFramePr>
        <p:xfrm>
          <a:off x="3859560" y="562212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(48, 8)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23" name="Table 28"/>
          <p:cNvGraphicFramePr/>
          <p:nvPr/>
        </p:nvGraphicFramePr>
        <p:xfrm>
          <a:off x="6588720" y="5738040"/>
          <a:ext cx="2272320" cy="591120"/>
        </p:xfrm>
        <a:graphic>
          <a:graphicData uri="http://schemas.openxmlformats.org/drawingml/2006/table">
            <a:tbl>
              <a:tblPr/>
              <a:tblGrid>
                <a:gridCol w="37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The golden rule of NumPy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10AB7B5-445C-4251-8C8E-CF8E9509A145}" type="slidenum">
              <a:rPr/>
              <a:t>9</a:t>
            </a:fld>
            <a:endParaRPr/>
          </a:p>
        </p:txBody>
      </p:sp>
      <p:sp>
        <p:nvSpPr>
          <p:cNvPr id="22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Title 4"/>
          <p:cNvSpPr/>
          <p:nvPr/>
        </p:nvSpPr>
        <p:spPr>
          <a:xfrm>
            <a:off x="407520" y="2332800"/>
            <a:ext cx="11521080" cy="2191680"/>
          </a:xfrm>
          <a:prstGeom prst="rect">
            <a:avLst/>
          </a:prstGeom>
          <a:solidFill>
            <a:srgbClr val="E3F1D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CH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Operations that can be executed by only changing the metadata return a 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“</a:t>
            </a:r>
            <a:r>
              <a:rPr lang="en-CH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view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 “ of the original data memory block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CH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In all other cases, 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it creates a 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“copy”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 with a new data memory block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1B48600B-6A07-4E09-AC68-C02BCEE613EF}" type="slidenum">
              <a:rPr/>
              <a:t>10</a:t>
            </a:fld>
            <a:endParaRPr/>
          </a:p>
        </p:txBody>
      </p:sp>
      <p:sp>
        <p:nvSpPr>
          <p:cNvPr id="228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30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1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5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6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7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8" name="TextBox 15"/>
          <p:cNvSpPr/>
          <p:nvPr/>
        </p:nvSpPr>
        <p:spPr>
          <a:xfrm>
            <a:off x="8313120" y="434376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9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24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4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42" name="Graphic 21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43" name="TextBox 23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Table 6">
            <a:extLst>
              <a:ext uri="{FF2B5EF4-FFF2-40B4-BE49-F238E27FC236}">
                <a16:creationId xmlns:a16="http://schemas.microsoft.com/office/drawing/2014/main" id="{F080179B-350A-FB04-245E-4100F298D0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4127368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FE333E5-57FA-48F5-BD1F-F0DACC2F8714}" type="slidenum">
              <a:rPr/>
              <a:t>11</a:t>
            </a:fld>
            <a:endParaRPr/>
          </a:p>
        </p:txBody>
      </p:sp>
      <p:sp>
        <p:nvSpPr>
          <p:cNvPr id="24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46" name="Table 6"/>
          <p:cNvGraphicFramePr/>
          <p:nvPr>
            <p:extLst>
              <p:ext uri="{D42A27DB-BD31-4B8C-83A1-F6EECF244321}">
                <p14:modId xmlns:p14="http://schemas.microsoft.com/office/powerpoint/2010/main" val="1089834933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7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8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2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3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4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5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(72, 16)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6" name="TextBox 17"/>
          <p:cNvSpPr/>
          <p:nvPr/>
        </p:nvSpPr>
        <p:spPr>
          <a:xfrm>
            <a:off x="8313120" y="550404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it be done for all slicing operations?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18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58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59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60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61" name="TextBox 22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B4771084-85BB-F4DD-367A-00DB29422A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9078829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352AEB28-D12D-4131-B88B-7D50F0936FC1}" type="slidenum">
              <a:rPr/>
              <a:t>12</a:t>
            </a:fld>
            <a:endParaRPr/>
          </a:p>
        </p:txBody>
      </p:sp>
      <p:sp>
        <p:nvSpPr>
          <p:cNvPr id="263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5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66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0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1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2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3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(72, 16)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4" name="TextBox 5"/>
          <p:cNvSpPr/>
          <p:nvPr/>
        </p:nvSpPr>
        <p:spPr>
          <a:xfrm>
            <a:off x="2553480" y="2767320"/>
            <a:ext cx="7084080" cy="1308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 always returns </a:t>
            </a:r>
            <a:br>
              <a:rPr sz="4000"/>
            </a:b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</a:t>
            </a: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view</a:t>
            </a: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of the original array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Box 18"/>
          <p:cNvSpPr/>
          <p:nvPr/>
        </p:nvSpPr>
        <p:spPr>
          <a:xfrm>
            <a:off x="8313120" y="550404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it be done for all slicing operations?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19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20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00497DA-17F2-464F-B665-13E0D7A2DABF}" type="slidenum">
              <a:rPr/>
              <a:t>13</a:t>
            </a:fld>
            <a:endParaRPr/>
          </a:p>
        </p:txBody>
      </p:sp>
      <p:sp>
        <p:nvSpPr>
          <p:cNvPr id="27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80" name="Table 6"/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81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82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6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7" name="TextBox 13"/>
          <p:cNvSpPr/>
          <p:nvPr/>
        </p:nvSpPr>
        <p:spPr>
          <a:xfrm>
            <a:off x="987480" y="4621320"/>
            <a:ext cx="3235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3, 2], [1, 1, 2]]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15"/>
          <p:cNvSpPr/>
          <p:nvPr/>
        </p:nvSpPr>
        <p:spPr>
          <a:xfrm>
            <a:off x="8313120" y="434376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9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29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9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92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93" name="Left Brace 17"/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4" name="Left Brace 18"/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5" name="TextBox 22"/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23"/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24"/>
          <p:cNvGraphicFramePr/>
          <p:nvPr/>
        </p:nvGraphicFramePr>
        <p:xfrm>
          <a:off x="6698160" y="4735080"/>
          <a:ext cx="1107000" cy="3096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98" name="TextBox 26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 vs copies in indexing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19218EB-1F89-478F-A9A7-427F287ABEE7}" type="slidenum">
              <a:rPr/>
              <a:t>14</a:t>
            </a:fld>
            <a:endParaRPr/>
          </a:p>
        </p:txBody>
      </p:sp>
      <p:sp>
        <p:nvSpPr>
          <p:cNvPr id="300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01" name="Table 6"/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02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3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7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8" name="TextBox 15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NO!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9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???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31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31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312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313" name="Left Brace 17"/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14" name="Left Brace 18"/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15" name="TextBox 22"/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Box 23"/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7" name="Table 24"/>
          <p:cNvGraphicFramePr/>
          <p:nvPr/>
        </p:nvGraphicFramePr>
        <p:xfrm>
          <a:off x="6698160" y="4735080"/>
          <a:ext cx="1107000" cy="3096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18" name="TextBox 14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26"/>
          <p:cNvSpPr/>
          <p:nvPr/>
        </p:nvSpPr>
        <p:spPr>
          <a:xfrm>
            <a:off x="2553480" y="2767320"/>
            <a:ext cx="7084080" cy="1308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 always returns </a:t>
            </a:r>
            <a:br>
              <a:rPr sz="4000"/>
            </a:b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</a:t>
            </a: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copy</a:t>
            </a: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of the original array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TextBox 13">
            <a:extLst>
              <a:ext uri="{FF2B5EF4-FFF2-40B4-BE49-F238E27FC236}">
                <a16:creationId xmlns:a16="http://schemas.microsoft.com/office/drawing/2014/main" id="{30E49534-FFE0-AA12-B2CA-98B0CA437EF9}"/>
              </a:ext>
            </a:extLst>
          </p:cNvPr>
          <p:cNvSpPr/>
          <p:nvPr/>
        </p:nvSpPr>
        <p:spPr>
          <a:xfrm>
            <a:off x="987480" y="4621320"/>
            <a:ext cx="3235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3, 2], [1, 1, 2]]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9B75B-427B-43CC-9AA2-2E64DFB1A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>
            <a:extLst>
              <a:ext uri="{FF2B5EF4-FFF2-40B4-BE49-F238E27FC236}">
                <a16:creationId xmlns:a16="http://schemas.microsoft.com/office/drawing/2014/main" id="{AD157AD1-3474-CD7E-11A5-90E0D8449A07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A special kind of view: broadcasting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E289693D-9F6C-EAC1-340E-5CA74D6B4B5F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E90DF74B-B7AC-1A8E-7382-BEECA1CAC180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AE55838D-478B-4A4B-820B-57616DA85180}" type="slidenum">
              <a:rPr/>
              <a:t>15</a:t>
            </a:fld>
            <a:endParaRPr/>
          </a:p>
        </p:txBody>
      </p:sp>
      <p:sp>
        <p:nvSpPr>
          <p:cNvPr id="382" name="PlaceHolder 2">
            <a:extLst>
              <a:ext uri="{FF2B5EF4-FFF2-40B4-BE49-F238E27FC236}">
                <a16:creationId xmlns:a16="http://schemas.microsoft.com/office/drawing/2014/main" id="{E1DEB2EC-DD55-641C-E56A-A8EC12CB7277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83" name="Table 6">
            <a:extLst>
              <a:ext uri="{FF2B5EF4-FFF2-40B4-BE49-F238E27FC236}">
                <a16:creationId xmlns:a16="http://schemas.microsoft.com/office/drawing/2014/main" id="{1109410C-37C3-9716-0C3A-C274D3E01639}"/>
              </a:ext>
            </a:extLst>
          </p:cNvPr>
          <p:cNvGraphicFramePr/>
          <p:nvPr/>
        </p:nvGraphicFramePr>
        <p:xfrm>
          <a:off x="702720" y="20664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84" name="TextBox 7">
            <a:extLst>
              <a:ext uri="{FF2B5EF4-FFF2-40B4-BE49-F238E27FC236}">
                <a16:creationId xmlns:a16="http://schemas.microsoft.com/office/drawing/2014/main" id="{A4279FB1-6C6D-AD2C-CD38-2A91B3D9A094}"/>
              </a:ext>
            </a:extLst>
          </p:cNvPr>
          <p:cNvSpPr/>
          <p:nvPr/>
        </p:nvSpPr>
        <p:spPr>
          <a:xfrm>
            <a:off x="551520" y="163620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9">
            <a:extLst>
              <a:ext uri="{FF2B5EF4-FFF2-40B4-BE49-F238E27FC236}">
                <a16:creationId xmlns:a16="http://schemas.microsoft.com/office/drawing/2014/main" id="{E4409319-40B2-490A-B8D8-EA736D6ACE16}"/>
              </a:ext>
            </a:extLst>
          </p:cNvPr>
          <p:cNvSpPr/>
          <p:nvPr/>
        </p:nvSpPr>
        <p:spPr>
          <a:xfrm>
            <a:off x="551520" y="281412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6" name="Table 10">
            <a:extLst>
              <a:ext uri="{FF2B5EF4-FFF2-40B4-BE49-F238E27FC236}">
                <a16:creationId xmlns:a16="http://schemas.microsoft.com/office/drawing/2014/main" id="{66283554-2B46-76D8-C90D-E27899DF237C}"/>
              </a:ext>
            </a:extLst>
          </p:cNvPr>
          <p:cNvGraphicFramePr/>
          <p:nvPr/>
        </p:nvGraphicFramePr>
        <p:xfrm>
          <a:off x="711720" y="32130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(4, 9)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</a:t>
                      </a:r>
                      <a:r>
                        <a:rPr lang="en-CH" sz="12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onsolas"/>
                        </a:rPr>
                        <a:t>0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87" name="TextBox 18">
            <a:extLst>
              <a:ext uri="{FF2B5EF4-FFF2-40B4-BE49-F238E27FC236}">
                <a16:creationId xmlns:a16="http://schemas.microsoft.com/office/drawing/2014/main" id="{A0417DCE-8F40-D62B-8E03-E36410E27797}"/>
              </a:ext>
            </a:extLst>
          </p:cNvPr>
          <p:cNvSpPr/>
          <p:nvPr/>
        </p:nvSpPr>
        <p:spPr>
          <a:xfrm>
            <a:off x="3436560" y="4755600"/>
            <a:ext cx="215964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stride of 0 means that for each new row, we don’t move in memory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8" name="Straight Arrow Connector 20">
            <a:extLst>
              <a:ext uri="{FF2B5EF4-FFF2-40B4-BE49-F238E27FC236}">
                <a16:creationId xmlns:a16="http://schemas.microsoft.com/office/drawing/2014/main" id="{5CCA8912-0888-C26E-A86A-1AB646D06135}"/>
              </a:ext>
            </a:extLst>
          </p:cNvPr>
          <p:cNvCxnSpPr/>
          <p:nvPr/>
        </p:nvCxnSpPr>
        <p:spPr>
          <a:xfrm flipH="1" flipV="1">
            <a:off x="1991520" y="4251960"/>
            <a:ext cx="1306080" cy="9057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389" name="TextBox 23">
            <a:extLst>
              <a:ext uri="{FF2B5EF4-FFF2-40B4-BE49-F238E27FC236}">
                <a16:creationId xmlns:a16="http://schemas.microsoft.com/office/drawing/2014/main" id="{F593CE0D-9E7D-F8F3-E426-3216C00A4305}"/>
              </a:ext>
            </a:extLst>
          </p:cNvPr>
          <p:cNvSpPr/>
          <p:nvPr/>
        </p:nvSpPr>
        <p:spPr>
          <a:xfrm>
            <a:off x="3423240" y="3156840"/>
            <a:ext cx="2159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shape says we have 4 rows and 9 columns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0" name="Straight Arrow Connector 24">
            <a:extLst>
              <a:ext uri="{FF2B5EF4-FFF2-40B4-BE49-F238E27FC236}">
                <a16:creationId xmlns:a16="http://schemas.microsoft.com/office/drawing/2014/main" id="{62222F94-E110-1288-2CDA-59D4794FEEE0}"/>
              </a:ext>
            </a:extLst>
          </p:cNvPr>
          <p:cNvCxnSpPr/>
          <p:nvPr/>
        </p:nvCxnSpPr>
        <p:spPr>
          <a:xfrm flipH="1">
            <a:off x="2495520" y="3573000"/>
            <a:ext cx="792720" cy="26424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493049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B3040-3A00-60D7-80A9-7A5C942B0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>
            <a:extLst>
              <a:ext uri="{FF2B5EF4-FFF2-40B4-BE49-F238E27FC236}">
                <a16:creationId xmlns:a16="http://schemas.microsoft.com/office/drawing/2014/main" id="{FD39CEC8-7339-8BA0-D9DD-D5735552793C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A special kind of view: broadcasting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387A4008-644B-C2F6-D946-74DF9393E80A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74DA09A7-91A8-64C2-D386-429A47476E1A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BB2F3B2C-D770-4D6C-AA49-8799C2E506E6}" type="slidenum">
              <a:rPr/>
              <a:t>16</a:t>
            </a:fld>
            <a:endParaRPr/>
          </a:p>
        </p:txBody>
      </p:sp>
      <p:sp>
        <p:nvSpPr>
          <p:cNvPr id="392" name="PlaceHolder 2">
            <a:extLst>
              <a:ext uri="{FF2B5EF4-FFF2-40B4-BE49-F238E27FC236}">
                <a16:creationId xmlns:a16="http://schemas.microsoft.com/office/drawing/2014/main" id="{06193B83-C7D3-E4F1-ED52-F3AFFFB95A64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93" name="Table 6">
            <a:extLst>
              <a:ext uri="{FF2B5EF4-FFF2-40B4-BE49-F238E27FC236}">
                <a16:creationId xmlns:a16="http://schemas.microsoft.com/office/drawing/2014/main" id="{33A0758C-F837-A95B-42D6-0C8809CABACE}"/>
              </a:ext>
            </a:extLst>
          </p:cNvPr>
          <p:cNvGraphicFramePr/>
          <p:nvPr/>
        </p:nvGraphicFramePr>
        <p:xfrm>
          <a:off x="702720" y="20664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94" name="TextBox 7">
            <a:extLst>
              <a:ext uri="{FF2B5EF4-FFF2-40B4-BE49-F238E27FC236}">
                <a16:creationId xmlns:a16="http://schemas.microsoft.com/office/drawing/2014/main" id="{ABAFBA11-7EE8-A4EE-7BC5-584FBA428A63}"/>
              </a:ext>
            </a:extLst>
          </p:cNvPr>
          <p:cNvSpPr/>
          <p:nvPr/>
        </p:nvSpPr>
        <p:spPr>
          <a:xfrm>
            <a:off x="551520" y="163620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8">
            <a:extLst>
              <a:ext uri="{FF2B5EF4-FFF2-40B4-BE49-F238E27FC236}">
                <a16:creationId xmlns:a16="http://schemas.microsoft.com/office/drawing/2014/main" id="{0B16A48D-36C9-91DC-B10E-8F80A82FFA57}"/>
              </a:ext>
            </a:extLst>
          </p:cNvPr>
          <p:cNvSpPr/>
          <p:nvPr/>
        </p:nvSpPr>
        <p:spPr>
          <a:xfrm>
            <a:off x="6879240" y="2707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Box 9">
            <a:extLst>
              <a:ext uri="{FF2B5EF4-FFF2-40B4-BE49-F238E27FC236}">
                <a16:creationId xmlns:a16="http://schemas.microsoft.com/office/drawing/2014/main" id="{A9DAC4B8-5273-279E-0AEE-2444058A8A8A}"/>
              </a:ext>
            </a:extLst>
          </p:cNvPr>
          <p:cNvSpPr/>
          <p:nvPr/>
        </p:nvSpPr>
        <p:spPr>
          <a:xfrm>
            <a:off x="551520" y="281412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7" name="Table 10">
            <a:extLst>
              <a:ext uri="{FF2B5EF4-FFF2-40B4-BE49-F238E27FC236}">
                <a16:creationId xmlns:a16="http://schemas.microsoft.com/office/drawing/2014/main" id="{006E947F-7673-7C06-5E6C-9AF4318B85A4}"/>
              </a:ext>
            </a:extLst>
          </p:cNvPr>
          <p:cNvGraphicFramePr/>
          <p:nvPr/>
        </p:nvGraphicFramePr>
        <p:xfrm>
          <a:off x="711720" y="32130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(4, 9)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</a:t>
                      </a:r>
                      <a:r>
                        <a:rPr lang="en-CH" sz="12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onsolas"/>
                        </a:rPr>
                        <a:t>0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98" name="Table 11">
            <a:extLst>
              <a:ext uri="{FF2B5EF4-FFF2-40B4-BE49-F238E27FC236}">
                <a16:creationId xmlns:a16="http://schemas.microsoft.com/office/drawing/2014/main" id="{D7E477BB-3535-59AF-3D65-13386E90DD8F}"/>
              </a:ext>
            </a:extLst>
          </p:cNvPr>
          <p:cNvGraphicFramePr/>
          <p:nvPr/>
        </p:nvGraphicFramePr>
        <p:xfrm>
          <a:off x="7032240" y="3105720"/>
          <a:ext cx="3959280" cy="14616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99" name="TextBox 18">
            <a:extLst>
              <a:ext uri="{FF2B5EF4-FFF2-40B4-BE49-F238E27FC236}">
                <a16:creationId xmlns:a16="http://schemas.microsoft.com/office/drawing/2014/main" id="{819C6EB4-AA59-58B6-698E-5168DC296317}"/>
              </a:ext>
            </a:extLst>
          </p:cNvPr>
          <p:cNvSpPr/>
          <p:nvPr/>
        </p:nvSpPr>
        <p:spPr>
          <a:xfrm>
            <a:off x="3436560" y="4755600"/>
            <a:ext cx="215964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stride of 0 means that for each new row, we don’t move in memory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0" name="Straight Arrow Connector 20">
            <a:extLst>
              <a:ext uri="{FF2B5EF4-FFF2-40B4-BE49-F238E27FC236}">
                <a16:creationId xmlns:a16="http://schemas.microsoft.com/office/drawing/2014/main" id="{15152B56-8C10-6452-6DBF-58B76AF64441}"/>
              </a:ext>
            </a:extLst>
          </p:cNvPr>
          <p:cNvCxnSpPr/>
          <p:nvPr/>
        </p:nvCxnSpPr>
        <p:spPr>
          <a:xfrm flipH="1" flipV="1">
            <a:off x="1991520" y="4251960"/>
            <a:ext cx="1306080" cy="9057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01" name="TextBox 22">
            <a:extLst>
              <a:ext uri="{FF2B5EF4-FFF2-40B4-BE49-F238E27FC236}">
                <a16:creationId xmlns:a16="http://schemas.microsoft.com/office/drawing/2014/main" id="{94F152D7-0C37-44EB-2D4B-99515EDACD8F}"/>
              </a:ext>
            </a:extLst>
          </p:cNvPr>
          <p:cNvSpPr/>
          <p:nvPr/>
        </p:nvSpPr>
        <p:spPr>
          <a:xfrm>
            <a:off x="7356240" y="1539720"/>
            <a:ext cx="3311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As a result, we obtain a view with duplicated rows, without using extra memory!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Box 23">
            <a:extLst>
              <a:ext uri="{FF2B5EF4-FFF2-40B4-BE49-F238E27FC236}">
                <a16:creationId xmlns:a16="http://schemas.microsoft.com/office/drawing/2014/main" id="{29EF9F35-CCBE-DDC2-A5D2-B3D6E7A60E5A}"/>
              </a:ext>
            </a:extLst>
          </p:cNvPr>
          <p:cNvSpPr/>
          <p:nvPr/>
        </p:nvSpPr>
        <p:spPr>
          <a:xfrm>
            <a:off x="3423240" y="3156840"/>
            <a:ext cx="2159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shape says we have 4 rows and 9 columns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3" name="Straight Arrow Connector 24">
            <a:extLst>
              <a:ext uri="{FF2B5EF4-FFF2-40B4-BE49-F238E27FC236}">
                <a16:creationId xmlns:a16="http://schemas.microsoft.com/office/drawing/2014/main" id="{BFA82049-4EBD-1D39-FF05-D9E7909FD66A}"/>
              </a:ext>
            </a:extLst>
          </p:cNvPr>
          <p:cNvCxnSpPr/>
          <p:nvPr/>
        </p:nvCxnSpPr>
        <p:spPr>
          <a:xfrm flipH="1">
            <a:off x="2495520" y="3573000"/>
            <a:ext cx="792720" cy="26424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04" name="Rectangle 2">
            <a:extLst>
              <a:ext uri="{FF2B5EF4-FFF2-40B4-BE49-F238E27FC236}">
                <a16:creationId xmlns:a16="http://schemas.microsoft.com/office/drawing/2014/main" id="{742A8E56-DB5F-93E6-B8A5-EA3E5500C331}"/>
              </a:ext>
            </a:extLst>
          </p:cNvPr>
          <p:cNvSpPr/>
          <p:nvPr/>
        </p:nvSpPr>
        <p:spPr>
          <a:xfrm>
            <a:off x="6879240" y="3482280"/>
            <a:ext cx="4256640" cy="1272600"/>
          </a:xfrm>
          <a:prstGeom prst="rect">
            <a:avLst/>
          </a:prstGeom>
          <a:solidFill>
            <a:schemeClr val="accent5">
              <a:lumMod val="60000"/>
              <a:lumOff val="40000"/>
              <a:alpha val="79000"/>
            </a:schemeClr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2833160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F32A5-ABBC-E59F-67EF-39C75DA52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>
            <a:extLst>
              <a:ext uri="{FF2B5EF4-FFF2-40B4-BE49-F238E27FC236}">
                <a16:creationId xmlns:a16="http://schemas.microsoft.com/office/drawing/2014/main" id="{98B1D540-A6DB-2F9C-8672-D66C846D4A0E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NumPy uses broadcasting to perform operation on arrays of different shape without having to allocate extra memory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A091E72E-4B11-1A6C-F59A-8C814901D7C2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525EEC9C-BA9A-EF44-CC10-062499D55526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31FEECE-D6C8-4FCE-876A-0190D37870B1}" type="slidenum">
              <a:rPr lang="en-CH" smtClean="0"/>
              <a:pPr/>
              <a:t>17</a:t>
            </a:fld>
            <a:endParaRPr/>
          </a:p>
        </p:txBody>
      </p:sp>
      <p:sp>
        <p:nvSpPr>
          <p:cNvPr id="406" name="PlaceHolder 2">
            <a:extLst>
              <a:ext uri="{FF2B5EF4-FFF2-40B4-BE49-F238E27FC236}">
                <a16:creationId xmlns:a16="http://schemas.microsoft.com/office/drawing/2014/main" id="{1FAC0D84-6D55-15F1-31A5-7FE40BB357D4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/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7" name="Picture 6">
            <a:extLst>
              <a:ext uri="{FF2B5EF4-FFF2-40B4-BE49-F238E27FC236}">
                <a16:creationId xmlns:a16="http://schemas.microsoft.com/office/drawing/2014/main" id="{692E3789-66D3-BA42-53BE-87FEA890157C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487240" y="1460880"/>
            <a:ext cx="7216920" cy="439164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0580256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A06A1-E4BC-560E-1391-BEA74BC4D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>
            <a:extLst>
              <a:ext uri="{FF2B5EF4-FFF2-40B4-BE49-F238E27FC236}">
                <a16:creationId xmlns:a16="http://schemas.microsoft.com/office/drawing/2014/main" id="{1981FD8C-0CBE-AC08-016B-6942D3F70C5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Broadcasting matching rule: dimensions are aligned to the right and match if they are equal, or equal to 1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00E16DD0-BA6E-C66D-3F03-1F4B98077E79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88B05DE9-B3FE-7EBD-8E62-5CE53AD47E0D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31FEECE-D6C8-4FCE-876A-0190D37870B1}" type="slidenum">
              <a:rPr lang="en-CH" smtClean="0"/>
              <a:pPr/>
              <a:t>18</a:t>
            </a:fld>
            <a:endParaRPr/>
          </a:p>
        </p:txBody>
      </p:sp>
      <p:sp>
        <p:nvSpPr>
          <p:cNvPr id="409" name="PlaceHolder 2">
            <a:extLst>
              <a:ext uri="{FF2B5EF4-FFF2-40B4-BE49-F238E27FC236}">
                <a16:creationId xmlns:a16="http://schemas.microsoft.com/office/drawing/2014/main" id="{1FCBF8A9-6F66-823F-F5B2-D1FC126E0675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/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10" name="Picture 6">
            <a:extLst>
              <a:ext uri="{FF2B5EF4-FFF2-40B4-BE49-F238E27FC236}">
                <a16:creationId xmlns:a16="http://schemas.microsoft.com/office/drawing/2014/main" id="{80EE2B44-238D-5BB2-9ACA-104110E03074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532160" y="1715400"/>
            <a:ext cx="6388560" cy="388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TextBox 5">
            <a:extLst>
              <a:ext uri="{FF2B5EF4-FFF2-40B4-BE49-F238E27FC236}">
                <a16:creationId xmlns:a16="http://schemas.microsoft.com/office/drawing/2014/main" id="{0F1379A5-2A77-5FF6-8A04-ECCA96A2452D}"/>
              </a:ext>
            </a:extLst>
          </p:cNvPr>
          <p:cNvSpPr/>
          <p:nvPr/>
        </p:nvSpPr>
        <p:spPr>
          <a:xfrm>
            <a:off x="8400240" y="4797000"/>
            <a:ext cx="266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+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-&gt;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0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Box 12">
            <a:extLst>
              <a:ext uri="{FF2B5EF4-FFF2-40B4-BE49-F238E27FC236}">
                <a16:creationId xmlns:a16="http://schemas.microsoft.com/office/drawing/2014/main" id="{E9C4AD2C-E9E9-AEBC-ACAA-74532F8740A9}"/>
              </a:ext>
            </a:extLst>
          </p:cNvPr>
          <p:cNvSpPr/>
          <p:nvPr/>
        </p:nvSpPr>
        <p:spPr>
          <a:xfrm>
            <a:off x="1893600" y="156168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Box 13">
            <a:extLst>
              <a:ext uri="{FF2B5EF4-FFF2-40B4-BE49-F238E27FC236}">
                <a16:creationId xmlns:a16="http://schemas.microsoft.com/office/drawing/2014/main" id="{4F1C7EF3-8CCF-4AE3-4D42-62B2EAA31B61}"/>
              </a:ext>
            </a:extLst>
          </p:cNvPr>
          <p:cNvSpPr/>
          <p:nvPr/>
        </p:nvSpPr>
        <p:spPr>
          <a:xfrm>
            <a:off x="3189600" y="156168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Box 14">
            <a:extLst>
              <a:ext uri="{FF2B5EF4-FFF2-40B4-BE49-F238E27FC236}">
                <a16:creationId xmlns:a16="http://schemas.microsoft.com/office/drawing/2014/main" id="{DD52D1EF-A119-CB98-AAB1-D50BA883E547}"/>
              </a:ext>
            </a:extLst>
          </p:cNvPr>
          <p:cNvSpPr/>
          <p:nvPr/>
        </p:nvSpPr>
        <p:spPr>
          <a:xfrm>
            <a:off x="1915920" y="2925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Box 15">
            <a:extLst>
              <a:ext uri="{FF2B5EF4-FFF2-40B4-BE49-F238E27FC236}">
                <a16:creationId xmlns:a16="http://schemas.microsoft.com/office/drawing/2014/main" id="{B81EF406-A2DD-1E4E-2569-F5AEE5D10B1B}"/>
              </a:ext>
            </a:extLst>
          </p:cNvPr>
          <p:cNvSpPr/>
          <p:nvPr/>
        </p:nvSpPr>
        <p:spPr>
          <a:xfrm>
            <a:off x="3211920" y="2925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(1, 3)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Box 16">
            <a:extLst>
              <a:ext uri="{FF2B5EF4-FFF2-40B4-BE49-F238E27FC236}">
                <a16:creationId xmlns:a16="http://schemas.microsoft.com/office/drawing/2014/main" id="{E2047F58-3BA8-20AD-8BDD-8DAE9B3647FC}"/>
              </a:ext>
            </a:extLst>
          </p:cNvPr>
          <p:cNvSpPr/>
          <p:nvPr/>
        </p:nvSpPr>
        <p:spPr>
          <a:xfrm>
            <a:off x="1915920" y="4221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Box 17">
            <a:extLst>
              <a:ext uri="{FF2B5EF4-FFF2-40B4-BE49-F238E27FC236}">
                <a16:creationId xmlns:a16="http://schemas.microsoft.com/office/drawing/2014/main" id="{AB855FF0-FB30-CA2E-50BB-50216EB57C52}"/>
              </a:ext>
            </a:extLst>
          </p:cNvPr>
          <p:cNvSpPr/>
          <p:nvPr/>
        </p:nvSpPr>
        <p:spPr>
          <a:xfrm>
            <a:off x="3211920" y="4221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(1, 3)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Box 19">
            <a:extLst>
              <a:ext uri="{FF2B5EF4-FFF2-40B4-BE49-F238E27FC236}">
                <a16:creationId xmlns:a16="http://schemas.microsoft.com/office/drawing/2014/main" id="{88416CC1-C13B-30E1-5CDC-BBB1F1646E17}"/>
              </a:ext>
            </a:extLst>
          </p:cNvPr>
          <p:cNvSpPr/>
          <p:nvPr/>
        </p:nvSpPr>
        <p:spPr>
          <a:xfrm>
            <a:off x="8374320" y="2223720"/>
            <a:ext cx="24246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 + (4, 3) -&gt; (4, 3)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Box 21">
            <a:extLst>
              <a:ext uri="{FF2B5EF4-FFF2-40B4-BE49-F238E27FC236}">
                <a16:creationId xmlns:a16="http://schemas.microsoft.com/office/drawing/2014/main" id="{41272583-C6FA-62B9-BFCF-328F2386C39D}"/>
              </a:ext>
            </a:extLst>
          </p:cNvPr>
          <p:cNvSpPr/>
          <p:nvPr/>
        </p:nvSpPr>
        <p:spPr>
          <a:xfrm>
            <a:off x="8400240" y="3503880"/>
            <a:ext cx="239868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3) +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3) -&gt;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3)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11111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 or copy? Quiz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A788B00D-8FC6-4873-A5C2-946589EA5B05}" type="slidenum">
              <a:rPr/>
              <a:t>19</a:t>
            </a:fld>
            <a:endParaRPr/>
          </a:p>
        </p:txBody>
      </p:sp>
      <p:sp>
        <p:nvSpPr>
          <p:cNvPr id="322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323" name="Group 9"/>
          <p:cNvGrpSpPr/>
          <p:nvPr/>
        </p:nvGrpSpPr>
        <p:grpSpPr>
          <a:xfrm>
            <a:off x="6744240" y="297000"/>
            <a:ext cx="5114520" cy="1039320"/>
            <a:chOff x="6744240" y="297000"/>
            <a:chExt cx="5114520" cy="1039320"/>
          </a:xfrm>
        </p:grpSpPr>
        <p:sp>
          <p:nvSpPr>
            <p:cNvPr id="324" name="Rectangle 10"/>
            <p:cNvSpPr/>
            <p:nvPr/>
          </p:nvSpPr>
          <p:spPr>
            <a:xfrm>
              <a:off x="6744240" y="346680"/>
              <a:ext cx="5114520" cy="9896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sp>
          <p:nvSpPr>
            <p:cNvPr id="325" name="TextBox 11"/>
            <p:cNvSpPr/>
            <p:nvPr/>
          </p:nvSpPr>
          <p:spPr>
            <a:xfrm>
              <a:off x="7305120" y="297000"/>
              <a:ext cx="2004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DE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326" name="Graphic 12"/>
            <p:cNvPicPr/>
            <p:nvPr/>
          </p:nvPicPr>
          <p:blipFill>
            <a:blip r:embed="rId2"/>
            <a:stretch/>
          </p:blipFill>
          <p:spPr>
            <a:xfrm>
              <a:off x="6791400" y="346320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7" name="TextBox 13"/>
            <p:cNvSpPr/>
            <p:nvPr/>
          </p:nvSpPr>
          <p:spPr>
            <a:xfrm>
              <a:off x="8066880" y="623520"/>
              <a:ext cx="3429000" cy="515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exercises/</a:t>
              </a: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numpy_view_or_copy</a:t>
              </a: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/</a:t>
              </a:r>
              <a:br>
                <a:rPr sz="1400" dirty="0"/>
              </a:b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view_or_copy_interactive.ipynb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>
            <a:extLst>
              <a:ext uri="{FF2B5EF4-FFF2-40B4-BE49-F238E27FC236}">
                <a16:creationId xmlns:a16="http://schemas.microsoft.com/office/drawing/2014/main" id="{3A4FE443-147F-F99B-17EA-4301085C8BED}"/>
              </a:ext>
            </a:extLst>
          </p:cNvPr>
          <p:cNvSpPr/>
          <p:nvPr/>
        </p:nvSpPr>
        <p:spPr>
          <a:xfrm>
            <a:off x="7060019" y="232200"/>
            <a:ext cx="4896108" cy="9878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strike="noStrike" spc="-1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7" name="Graphic 1">
            <a:extLst>
              <a:ext uri="{FF2B5EF4-FFF2-40B4-BE49-F238E27FC236}">
                <a16:creationId xmlns:a16="http://schemas.microsoft.com/office/drawing/2014/main" id="{430A774F-E081-25F0-44A4-5A341FAC6C9F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209569" y="365040"/>
            <a:ext cx="707760" cy="628560"/>
          </a:xfrm>
          <a:prstGeom prst="rect">
            <a:avLst/>
          </a:prstGeom>
          <a:ln w="0">
            <a:noFill/>
          </a:ln>
        </p:spPr>
      </p:pic>
      <p:sp>
        <p:nvSpPr>
          <p:cNvPr id="8" name="TextBox 3">
            <a:extLst>
              <a:ext uri="{FF2B5EF4-FFF2-40B4-BE49-F238E27FC236}">
                <a16:creationId xmlns:a16="http://schemas.microsoft.com/office/drawing/2014/main" id="{67AB981A-35BD-7BAF-79DF-94A49BD05A63}"/>
              </a:ext>
            </a:extLst>
          </p:cNvPr>
          <p:cNvSpPr/>
          <p:nvPr/>
        </p:nvSpPr>
        <p:spPr>
          <a:xfrm>
            <a:off x="8000713" y="307433"/>
            <a:ext cx="17769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strike="noStrike" spc="-1">
                <a:solidFill>
                  <a:srgbClr val="000000"/>
                </a:solidFill>
                <a:latin typeface="Courier New"/>
                <a:ea typeface="DejaVu Sans"/>
              </a:rPr>
              <a:t>Live Coding</a:t>
            </a:r>
            <a:endParaRPr lang="en-GB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CD728AAA-452D-02B2-FAC0-61A41B4A2DA6}"/>
              </a:ext>
            </a:extLst>
          </p:cNvPr>
          <p:cNvSpPr/>
          <p:nvPr/>
        </p:nvSpPr>
        <p:spPr>
          <a:xfrm>
            <a:off x="8053149" y="555597"/>
            <a:ext cx="3767157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notebooks/020_numpy/</a:t>
            </a:r>
            <a:br>
              <a:rPr sz="1400" dirty="0"/>
            </a:b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015_assignment_by_reference.ipynb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1">
            <a:extLst>
              <a:ext uri="{FF2B5EF4-FFF2-40B4-BE49-F238E27FC236}">
                <a16:creationId xmlns:a16="http://schemas.microsoft.com/office/drawing/2014/main" id="{DC1CF3B5-2BA5-0C25-A4BA-9FAA512D71DC}"/>
              </a:ext>
            </a:extLst>
          </p:cNvPr>
          <p:cNvSpPr txBox="1">
            <a:spLocks/>
          </p:cNvSpPr>
          <p:nvPr/>
        </p:nvSpPr>
        <p:spPr>
          <a:xfrm>
            <a:off x="371694" y="23220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</a:tabLst>
            </a:pPr>
            <a:r>
              <a:rPr lang="en-US" dirty="0">
                <a:solidFill>
                  <a:srgbClr val="000000"/>
                </a:solidFill>
                <a:latin typeface="Calibri Light"/>
              </a:rPr>
              <a:t>Setting up a pet shop</a:t>
            </a:r>
            <a:endParaRPr lang="en-US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01B9DCDD-5B5C-8C47-7438-1E28F7BD47FE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D80134FA-FF7D-8486-F5D6-7D7280AE4D09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414EA66B-39A2-4AB0-F978-C537B530B80B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464265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26E0A-0195-D5CF-9E0E-C68AA5F7B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72E44-3FE5-0921-2737-F78D7D77A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</a:p>
        </p:txBody>
      </p:sp>
      <p:sp>
        <p:nvSpPr>
          <p:cNvPr id="57" name="Footer Placeholder 56">
            <a:extLst>
              <a:ext uri="{FF2B5EF4-FFF2-40B4-BE49-F238E27FC236}">
                <a16:creationId xmlns:a16="http://schemas.microsoft.com/office/drawing/2014/main" id="{591C6F3B-2458-3E85-D995-9C5BCD4CF068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Slide Number Placeholder 57">
            <a:extLst>
              <a:ext uri="{FF2B5EF4-FFF2-40B4-BE49-F238E27FC236}">
                <a16:creationId xmlns:a16="http://schemas.microsoft.com/office/drawing/2014/main" id="{B42FD2D3-32D7-9B6B-C84F-3F4EB241BD2A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Date Placeholder 55">
            <a:extLst>
              <a:ext uri="{FF2B5EF4-FFF2-40B4-BE49-F238E27FC236}">
                <a16:creationId xmlns:a16="http://schemas.microsoft.com/office/drawing/2014/main" id="{930843EB-2620-69E5-3197-8F810625B474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556654-257F-60A2-64FB-6A2D5068A40A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3D007B-DB00-2929-DF51-FF3A2FABDD49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D240E4-C481-0684-BA8B-28AD14E55252}"/>
              </a:ext>
            </a:extLst>
          </p:cNvPr>
          <p:cNvSpPr txBox="1"/>
          <p:nvPr/>
        </p:nvSpPr>
        <p:spPr>
          <a:xfrm>
            <a:off x="838080" y="1267920"/>
            <a:ext cx="521673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/>
              <a:t>🦜</a:t>
            </a:r>
            <a:r>
              <a:rPr lang="en-CH" sz="200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058295-B69C-E2D9-6E2F-F667C48313EB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6F74A9-26C8-53D0-6E91-0F7BCBACCE47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2601CD-E827-B2C7-C902-D6B65D0D8BD8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D38F527-525B-D4C0-4A24-1FDAC28CE1B0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70FE04E1-1604-450F-A95A-78D72AA3FF6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312F905B-4C58-F436-B794-74754094B705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7D334B2-435F-052F-4C35-E322D9F4E563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7992812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9E93F-D178-D067-49A5-6A7801453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9F6BD-A8A1-F8B3-6E0F-997CC35A5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474AFF1-F058-6033-9819-9BB12FD76793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2FA2D08-179B-4C9D-3087-1C767EDB5BB3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1773BF-F8F7-BB5D-31E3-E0703ABEA87B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36234B-9469-4124-DE19-6E8460643910}"/>
              </a:ext>
            </a:extLst>
          </p:cNvPr>
          <p:cNvSpPr txBox="1"/>
          <p:nvPr/>
        </p:nvSpPr>
        <p:spPr>
          <a:xfrm>
            <a:off x="838080" y="1267920"/>
            <a:ext cx="5216730" cy="70788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494DE2-8025-8794-B191-9151BA52DDC5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2CA78B-E1F9-1483-BCC3-E1F0BA945307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C7577DD-9E30-53B7-D27D-21A65FF3F245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45EFD1-1B42-D01C-2DA7-F4529194E62F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7940015F-F104-12AC-2EE9-AF084FCB7CA4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8AE7F48B-CC8A-0856-B020-4670436516C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123490-F567-B401-8B26-1E9F83FEDAE0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217BF6-6C2C-35B8-C6E5-8934826E843F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3C963E-CDC0-C983-5C45-A9C9AB77E15A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F42A3A-0B6C-DD2D-62F7-B94DFD6EFBF7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3D2687-C21B-C81B-2685-004EFC996BC0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9DB4E7-9F2F-AA70-7590-50C50B35A7A4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17047553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015CD-B4B7-53A2-BDAE-B4B64FCE2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CA153-0E7B-46AA-DCA3-8ED1C5032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326857B-B5F7-0AFA-4673-1FB95F76B184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E847985-CB63-2945-3072-C5C25755A2C2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1CCE932-7C42-943A-A75F-6C2A9437EE35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9F1DB8E-466C-068E-B32B-4086AE828B17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E0ED6C2-3C20-5292-3752-67121AE49421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D9417DF-F5EC-746F-8122-EB21D92D346F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2740" cy="1121046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490EF2C-E880-1E42-D135-4C4092AFEA98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7A5C64-23D9-E99C-07E7-C8CB8D0063E1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5944AE6-16D1-9CCE-B390-1FF2E378EAC9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5AA9B-5E64-217D-7E87-071B1A98E5FA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AC6265C-E2D9-7F25-0BB1-08FCA648146F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15857A-D5F2-F1BE-5BFC-4A55FEAC0007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4607A14-981C-78EC-ED37-7DE67478709B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D2013D9-0E13-35B6-327F-45D3E292CAF3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A6124284-9D20-8998-6C83-43F587B748A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09CB8A4-E710-1D71-A035-8BDEB116D0CA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778CE19-9440-D164-7F90-99B5DD6B21D5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B84593F-8C33-414D-7CC6-9ED20225EEA1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FA23FA-8A9C-A38C-B9DE-FF94C2D8ADE5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650784-F5AB-8625-0E1B-103CC8A159B2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296FDA-D414-CAB8-3A32-71E5FC9C65CE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0D4EFA-D28C-ADCF-3129-CC0022F376E6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10436755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8CEE6-6AEE-65C6-AC1B-A6AA0DD38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64E41-DA06-61E3-FF26-1C856A246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61FB4E7-C103-0A5C-F0FB-14D961E78501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0537DEC-75A8-B623-ED68-7533023AA1CC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A100596-F114-255E-7491-FEB2D1DE7389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F5A3FA5-828E-0E06-7530-BEA6A27CFE4F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1B90235-C39E-91C1-37DB-BD40D80DA148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24A88FA-142A-7A5A-3907-08FF6142E0AB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849838A-689D-8204-6ADD-75315708A98D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09D292E-0D48-AB19-665D-34F98462656F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ADFD849-C76F-C777-9FBE-046DB5E18E69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cage[0] = "</a:t>
            </a:r>
            <a:r>
              <a:rPr lang="en-CH" sz="2000" dirty="0"/>
              <a:t>🐍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920802-F607-60B3-CCFE-6780B5A1C051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D87906E-F14D-8A8E-88D6-48428BDFDC33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E4898AB-E8DE-D7A3-58CD-55CC74D938C9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2E70758-8B48-1C1B-6C09-D97AE098FE5C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A99B43D-6483-49AF-76F9-BE4B1172C876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FB01C8F7-EA62-E88A-B931-5EF3AD27E76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C0DE17D6-603A-8E48-C5ED-68EFA7832020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434D1F0-7440-74CC-077E-5299674320C5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28F2F3-6A59-438E-CB5C-09F31EACFD46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36406F2-8EB6-A013-988B-333ED391B238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3D9EF99-4AA6-3305-55FF-8E7195064178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7320550-78EB-6D6C-1E66-A6411E7B6FC1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F6864C-F920-C34C-EFC1-9EFEBD08DFBB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97AD0F-3B98-4305-4B8E-E441234FE3F8}"/>
              </a:ext>
            </a:extLst>
          </p:cNvPr>
          <p:cNvSpPr txBox="1"/>
          <p:nvPr/>
        </p:nvSpPr>
        <p:spPr>
          <a:xfrm>
            <a:off x="6028232" y="3529131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🐍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</p:spTree>
    <p:extLst>
      <p:ext uri="{BB962C8B-B14F-4D97-AF65-F5344CB8AC3E}">
        <p14:creationId xmlns:p14="http://schemas.microsoft.com/office/powerpoint/2010/main" val="4131276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5AC39-32E2-C914-16EA-79D92A601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02F0C-6130-A844-0ADD-1923D543A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D976A47-4DCD-33D9-8CD7-B98B673E8D9D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3D1525D-31D0-64BD-6B40-EC8BFB387BE3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D7A466C-13AF-FFA4-E126-713F9376A7BE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92674C3-12F2-C049-9744-EED057BDA840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0BE5C02-F9E3-14FF-770B-CB1F212A8DCA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958A227-5169-2D1B-6B59-C2A5B05EAEEB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2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BDEE1E3-4628-679A-0233-912B00F297DD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2CD699E-DF38-F536-223D-240488623AAD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220D64F-EB22-8913-44B7-69E90AEEFD7A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another_cage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cage[0] = "</a:t>
            </a:r>
            <a:r>
              <a:rPr lang="en-CH" dirty="0"/>
              <a:t>🐍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3CDFA22-4F14-D47D-7793-733AABF7499D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923218D-60EE-E101-6C82-4E3C4A477421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15519B-6D35-AD36-42B1-CE8E81F6481B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E42CE8-3A69-AA7D-FD37-F86AFAB3341C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02959EB-D942-3795-BAB6-21B54D5E6814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22176F13-CF1D-393D-9936-E32991E45A50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45348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5AEA1B56-CBAE-746C-AF7A-9616B8FF7B5A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0E24985-6C8E-7EB8-FF44-6943F5AC1196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54CB04-F984-7B37-3C77-3E542A3C0A6C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C25BEC7-0F89-8E82-7CA8-340B5109C6C5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2EB7D5E-2AC8-F7AA-325B-7224DBE50063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67FA762-20A6-17E0-1E84-53273936ED5D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BE562-6FCD-412D-E671-6AB1293E66B3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7450DC-F7D5-D4E7-C871-81B23387A040}"/>
              </a:ext>
            </a:extLst>
          </p:cNvPr>
          <p:cNvSpPr txBox="1"/>
          <p:nvPr/>
        </p:nvSpPr>
        <p:spPr>
          <a:xfrm>
            <a:off x="6028232" y="3529131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🐍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</p:spTree>
    <p:extLst>
      <p:ext uri="{BB962C8B-B14F-4D97-AF65-F5344CB8AC3E}">
        <p14:creationId xmlns:p14="http://schemas.microsoft.com/office/powerpoint/2010/main" val="22037936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671F3FF4-E227-4FEF-97CF-40A32775034B}" type="slidenum">
              <a:rPr/>
              <a:t>26</a:t>
            </a:fld>
            <a:endParaRPr/>
          </a:p>
        </p:txBody>
      </p:sp>
      <p:sp>
        <p:nvSpPr>
          <p:cNvPr id="32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 dirty="0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3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3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32" name="TextBox 12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13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4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35" name="Curved Connector 6"/>
          <p:cNvCxnSpPr>
            <a:endCxn id="33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cxnSp>
        <p:nvCxnSpPr>
          <p:cNvPr id="336" name="Curved Connector 15"/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pic>
        <p:nvPicPr>
          <p:cNvPr id="337" name="Picture 5"/>
          <p:cNvPicPr/>
          <p:nvPr/>
        </p:nvPicPr>
        <p:blipFill>
          <a:blip r:embed="rId2"/>
          <a:srcRect b="46787"/>
          <a:stretch/>
        </p:blipFill>
        <p:spPr>
          <a:xfrm>
            <a:off x="838080" y="1360080"/>
            <a:ext cx="3814920" cy="30398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AE65189-9B10-461A-A3C8-43ADCBFFE169}" type="slidenum">
              <a:rPr/>
              <a:t>27</a:t>
            </a:fld>
            <a:endParaRPr/>
          </a:p>
        </p:txBody>
      </p:sp>
      <p:sp>
        <p:nvSpPr>
          <p:cNvPr id="33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4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42" name="TextBox 12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Box 13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4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45" name="Curved Connector 6"/>
          <p:cNvCxnSpPr>
            <a:endCxn id="34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pic>
        <p:nvPicPr>
          <p:cNvPr id="347" name="Picture 5"/>
          <p:cNvPicPr/>
          <p:nvPr/>
        </p:nvPicPr>
        <p:blipFill>
          <a:blip r:embed="rId2"/>
          <a:srcRect t="54652" b="39274"/>
          <a:stretch/>
        </p:blipFill>
        <p:spPr>
          <a:xfrm>
            <a:off x="838080" y="1377720"/>
            <a:ext cx="3814920" cy="364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" name="Curved Connector 15">
            <a:extLst>
              <a:ext uri="{FF2B5EF4-FFF2-40B4-BE49-F238E27FC236}">
                <a16:creationId xmlns:a16="http://schemas.microsoft.com/office/drawing/2014/main" id="{5EEF6711-59B6-8AFD-3AC4-722320DFA6AD}"/>
              </a:ext>
            </a:extLst>
          </p:cNvPr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E655F535-ACA4-4F1F-903A-1286A96F4D5A}" type="slidenum">
              <a:rPr/>
              <a:t>28</a:t>
            </a:fld>
            <a:endParaRPr/>
          </a:p>
        </p:txBody>
      </p:sp>
      <p:sp>
        <p:nvSpPr>
          <p:cNvPr id="34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5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5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alibri"/>
                        </a:rPr>
                        <a:t>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52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53" name="Curved Connector 6"/>
          <p:cNvCxnSpPr>
            <a:endCxn id="35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sp>
        <p:nvSpPr>
          <p:cNvPr id="355" name="TextBox 5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7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7" name="Picture 16"/>
          <p:cNvPicPr/>
          <p:nvPr/>
        </p:nvPicPr>
        <p:blipFill>
          <a:blip r:embed="rId2"/>
          <a:srcRect t="54652" b="-771"/>
          <a:stretch/>
        </p:blipFill>
        <p:spPr>
          <a:xfrm>
            <a:off x="838080" y="1377720"/>
            <a:ext cx="3814920" cy="277056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" name="Curved Connector 15">
            <a:extLst>
              <a:ext uri="{FF2B5EF4-FFF2-40B4-BE49-F238E27FC236}">
                <a16:creationId xmlns:a16="http://schemas.microsoft.com/office/drawing/2014/main" id="{0362334E-72F1-553D-499C-DA2934A315BE}"/>
              </a:ext>
            </a:extLst>
          </p:cNvPr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DC953-10FC-9DDB-87B9-8EB7C72F0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9C48C-DD52-460B-71C7-901C40DBF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89FA89-5A54-636C-132B-F9C39A2BE48A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6380EB-E6DE-A0BA-63CB-8298D5F014C9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E92AB8-E469-50A9-DF72-20CC859345C4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E93831-82FE-ECB2-91D3-1FA3BC0FBE6E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F19B333-81EA-E964-FF68-6E616F863DC6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8171943-7E24-44D8-9161-D12AB7D50CB9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container.pop()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DCA6C2-3D16-CCAA-9F8E-ED5F35AD2821}"/>
              </a:ext>
            </a:extLst>
          </p:cNvPr>
          <p:cNvSpPr txBox="1"/>
          <p:nvPr/>
        </p:nvSpPr>
        <p:spPr>
          <a:xfrm>
            <a:off x="622286" y="5496434"/>
            <a:ext cx="26483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92D9F3-8BE2-48EF-0A1D-664417DA4C54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6AA44CB-F1D6-D9C6-E585-EDF23435E13B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F793913F-7733-3C30-BB6E-50E7140BF688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127BE1D-74C6-D9DA-F427-F4CDAE314F3C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5D126-C5A6-D684-2087-BAAB02E22D97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F177519-A902-02B9-F609-DEC1E67C29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B1EF14C5-60B4-DE09-05D6-362206CC6D0D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2E3C557-ADC4-3788-BDCD-39A6A96017EE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2AE862FC-21C2-AFF9-75B6-001E03FF8C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D8028D22-E094-CDF9-F17E-289376BB0A62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08EF1658-68FE-B6CC-AEE4-36591D66C00C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B334441C-3859-577E-19F9-60A95938E7EA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29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876968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82526-1A89-2C7B-CFF3-8CE3BE5F0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C04E7-F155-953D-2657-F62EB7ABB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E61D9B-CA68-7253-66B1-3E6A46506FBD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50FD77-8271-01FF-A64C-858632FD99BA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C2515C-5008-8C4B-45E1-D5CD05BBDF7D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CA0BC8-0184-45BF-C2AE-9855985FE5EC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3655B81-FD58-1C90-196B-092511B1A722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32D0452-4535-F23B-015D-B1D5B338C2CB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container.pop()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420CEB-7096-BE67-ED9D-7DE6F8390331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59474E-C77D-D710-FA16-CC8BB09411BB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284EFBF-C0C7-1742-11CB-D8160B6E3FC0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16C0A4E-813B-F51D-4FFF-0EC5E31B2795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CE935CA5-8278-6E18-37D0-B467698A6B7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E4BABD3-8DEF-42F2-79FE-A4420FC654F2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65320B-96C2-821B-D0F2-1BB6F4370C2E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B461118-E9CD-1C1C-E9B6-4BABB79ED5F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5EC58DF4-BD86-ECF0-409F-58EFF771DF6D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E0718C9-DBBA-7CCB-58DA-42DBCD0C02CB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7050BE4-22D9-F5F3-16AA-28D559C953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F783BA5-B345-652D-D282-4D51F4F10B15}"/>
              </a:ext>
            </a:extLst>
          </p:cNvPr>
          <p:cNvGrpSpPr/>
          <p:nvPr/>
        </p:nvGrpSpPr>
        <p:grpSpPr>
          <a:xfrm>
            <a:off x="9379894" y="5421206"/>
            <a:ext cx="1713931" cy="490726"/>
            <a:chOff x="9607244" y="4525862"/>
            <a:chExt cx="1713931" cy="49072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5F42329-E8BD-3E24-A83C-23A04BD5E27C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8777839-E9C5-76EF-4CAD-0C45FCBF43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71C5BBD9-2CA8-D1C0-F116-0AC046FC023D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E411C863-6E50-D62D-B12F-6A078A21522B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9673B9A8-0DD7-6731-A348-FAE10F7F65B1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30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19DDF9-77F1-7024-24D1-DFC67BEE2B76}"/>
              </a:ext>
            </a:extLst>
          </p:cNvPr>
          <p:cNvSpPr txBox="1"/>
          <p:nvPr/>
        </p:nvSpPr>
        <p:spPr>
          <a:xfrm>
            <a:off x="3094952" y="5908893"/>
            <a:ext cx="32248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 = cage</a:t>
            </a:r>
          </a:p>
        </p:txBody>
      </p:sp>
    </p:spTree>
    <p:extLst>
      <p:ext uri="{BB962C8B-B14F-4D97-AF65-F5344CB8AC3E}">
        <p14:creationId xmlns:p14="http://schemas.microsoft.com/office/powerpoint/2010/main" val="31591235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A6426-C400-5B1C-1F50-71663282F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A4AE9-B70F-85BC-BE79-D9ED119D9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  <a:endParaRPr lang="en-CH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0B53B8-EAF0-4D56-031A-A4D062BA7659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6A985A-3C24-0B50-5C69-1C2B7589DC2D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C1BF2B-39F8-F717-D3A3-8ACB4FD19F62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F39E74-8F41-8495-F459-1CD99B13098E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A2B50EA-483F-F667-AEB3-275DA43F879E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97D7055-089F-5D64-A2D3-78C072B8C7DA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D36CC7-13B7-5BEF-3741-BA19028868E5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49BB4D3-92F8-1606-78F4-85C1F483C271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4229E2A-9B7D-9592-F516-803BA5313888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20F33EE3-3908-B7C9-E236-59BA3A2F227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CAF820A-BE9E-E85A-9547-196958DE0938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03D221-2628-F32F-631F-8ED290F220EF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F81AAF5-ABE6-035B-11FB-412586D276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76C603-84AC-3280-F527-2D18EA6263E1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FFC90BC-AA61-E653-BFA9-20839D13F5A9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E3E019-7529-CC07-7E9D-8E008D1FEC28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FE615A2-4C6B-3262-C84A-A4A7A0006C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F23A283-6FE3-B040-B092-1F07A081EBDE}"/>
              </a:ext>
            </a:extLst>
          </p:cNvPr>
          <p:cNvGrpSpPr/>
          <p:nvPr/>
        </p:nvGrpSpPr>
        <p:grpSpPr>
          <a:xfrm>
            <a:off x="9379894" y="5421206"/>
            <a:ext cx="1713931" cy="490726"/>
            <a:chOff x="9607244" y="4525862"/>
            <a:chExt cx="1713931" cy="490726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F5C2CE1-1040-8A4E-295A-E59D7EC56301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C589FDE-797B-141B-7CCE-CC71D67075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86CC096-A9C1-812E-B8E2-92E44CB9775F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5578980C-42DF-055F-B2DC-2143D28CE900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B3FBACE0-BF67-379A-4B1D-D4BC32A3F05E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0D1C7511-7188-DEB9-EDEB-5651C0C8A061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31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234491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1847E-0F7B-9D15-D121-C4FD5E5B4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75730-30E2-4504-8A68-9A38ED15A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  <a:endParaRPr lang="en-CH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99D6AC5D-7BF5-33CC-D071-CEB321E76A16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F17C6F1F-19D0-DD44-9124-631F9F29A38E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A5B8DFA-FB31-4C13-B9C1-F7FB45CFFB09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32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F62CA457-5CD1-ACBD-9410-7B2F07A13AF8}"/>
              </a:ext>
            </a:extLst>
          </p:cNvPr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sz="1400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sz="140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58A32-D292-E3FA-8955-241D9685B7D5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3E2560-7CD1-D285-D240-E470AD98A021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B2A85-6C84-C855-28FE-94FA93AA4DE6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EA7C55-A60B-2537-0FD0-F46FC25564C1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F0C6B55-026F-A432-88A0-D5550992E8E9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1425D6C-365B-2E15-DF27-5BDD6060C7C4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F52759-3B89-BAFC-D135-F9BAC1B7BB6C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46DFC98-6912-3F62-7F81-155BC6BE29EF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CF06AF-15EC-4D16-3DF6-11AFA3983B64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25D48E-715F-1C7D-C30F-711AE64B425C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81A910-7838-2822-0D84-6DB7CBD7D0D4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C8603EE-E697-249B-CC0B-8A9412BB4B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2DF890-F3B5-1080-269A-A6AE1C4AA0CC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640AD5-A343-A513-E74A-C4E14F56CE53}"/>
              </a:ext>
            </a:extLst>
          </p:cNvPr>
          <p:cNvSpPr txBox="1"/>
          <p:nvPr/>
        </p:nvSpPr>
        <p:spPr>
          <a:xfrm>
            <a:off x="9379895" y="4484581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18B680-BBCE-76ED-F5AE-D18675E2B09C}"/>
              </a:ext>
            </a:extLst>
          </p:cNvPr>
          <p:cNvSpPr txBox="1"/>
          <p:nvPr/>
        </p:nvSpPr>
        <p:spPr>
          <a:xfrm>
            <a:off x="9379894" y="5421206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0BB399-9E26-D12B-C54A-0F328F020CA5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container.pop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D406B17-6F0D-9559-D395-416D33AA2C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7987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FF7CC-B4FE-A8BF-6FF3-EE42CFB6D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>
            <a:extLst>
              <a:ext uri="{FF2B5EF4-FFF2-40B4-BE49-F238E27FC236}">
                <a16:creationId xmlns:a16="http://schemas.microsoft.com/office/drawing/2014/main" id="{8157A96B-959A-35BC-074A-818612F52245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0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Assignments and functions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FE7CE739-AFBE-08B6-6AB7-03A0E7069E69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5B1B8974-1592-4C44-FACB-7D73EB395A3D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A788B00D-8FC6-4873-A5C2-946589EA5B05}" type="slidenum">
              <a:rPr/>
              <a:t>33</a:t>
            </a:fld>
            <a:endParaRPr/>
          </a:p>
        </p:txBody>
      </p:sp>
      <p:sp>
        <p:nvSpPr>
          <p:cNvPr id="322" name="PlaceHolder 2">
            <a:extLst>
              <a:ext uri="{FF2B5EF4-FFF2-40B4-BE49-F238E27FC236}">
                <a16:creationId xmlns:a16="http://schemas.microsoft.com/office/drawing/2014/main" id="{0B17E74B-FDAF-39FC-333A-40ADAE13A8D5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323" name="Group 9">
            <a:extLst>
              <a:ext uri="{FF2B5EF4-FFF2-40B4-BE49-F238E27FC236}">
                <a16:creationId xmlns:a16="http://schemas.microsoft.com/office/drawing/2014/main" id="{82935494-30A7-4FE6-C350-C587B945ACB3}"/>
              </a:ext>
            </a:extLst>
          </p:cNvPr>
          <p:cNvGrpSpPr/>
          <p:nvPr/>
        </p:nvGrpSpPr>
        <p:grpSpPr>
          <a:xfrm>
            <a:off x="6744240" y="297000"/>
            <a:ext cx="5114520" cy="1039320"/>
            <a:chOff x="6744240" y="297000"/>
            <a:chExt cx="5114520" cy="1039320"/>
          </a:xfrm>
        </p:grpSpPr>
        <p:sp>
          <p:nvSpPr>
            <p:cNvPr id="324" name="Rectangle 10">
              <a:extLst>
                <a:ext uri="{FF2B5EF4-FFF2-40B4-BE49-F238E27FC236}">
                  <a16:creationId xmlns:a16="http://schemas.microsoft.com/office/drawing/2014/main" id="{DA3F111A-8C63-F105-6A72-68F8D1415079}"/>
                </a:ext>
              </a:extLst>
            </p:cNvPr>
            <p:cNvSpPr/>
            <p:nvPr/>
          </p:nvSpPr>
          <p:spPr>
            <a:xfrm>
              <a:off x="6744240" y="346680"/>
              <a:ext cx="5114520" cy="9896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sp>
          <p:nvSpPr>
            <p:cNvPr id="325" name="TextBox 11">
              <a:extLst>
                <a:ext uri="{FF2B5EF4-FFF2-40B4-BE49-F238E27FC236}">
                  <a16:creationId xmlns:a16="http://schemas.microsoft.com/office/drawing/2014/main" id="{15C9BDD9-23BA-94D1-B050-47ED8CCDA662}"/>
                </a:ext>
              </a:extLst>
            </p:cNvPr>
            <p:cNvSpPr/>
            <p:nvPr/>
          </p:nvSpPr>
          <p:spPr>
            <a:xfrm>
              <a:off x="7305120" y="297000"/>
              <a:ext cx="2004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DE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326" name="Graphic 12">
              <a:extLst>
                <a:ext uri="{FF2B5EF4-FFF2-40B4-BE49-F238E27FC236}">
                  <a16:creationId xmlns:a16="http://schemas.microsoft.com/office/drawing/2014/main" id="{E5A8DA56-DD79-9122-539F-61E39BC58145}"/>
                </a:ext>
              </a:extLst>
            </p:cNvPr>
            <p:cNvPicPr/>
            <p:nvPr/>
          </p:nvPicPr>
          <p:blipFill>
            <a:blip r:embed="rId2"/>
            <a:stretch/>
          </p:blipFill>
          <p:spPr>
            <a:xfrm>
              <a:off x="6791400" y="346320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7" name="TextBox 13">
              <a:extLst>
                <a:ext uri="{FF2B5EF4-FFF2-40B4-BE49-F238E27FC236}">
                  <a16:creationId xmlns:a16="http://schemas.microsoft.com/office/drawing/2014/main" id="{1EC532A8-3813-ED29-6143-E988A02A5461}"/>
                </a:ext>
              </a:extLst>
            </p:cNvPr>
            <p:cNvSpPr/>
            <p:nvPr/>
          </p:nvSpPr>
          <p:spPr>
            <a:xfrm>
              <a:off x="8066880" y="623520"/>
              <a:ext cx="34290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exercises/</a:t>
              </a: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numpy_assignments</a:t>
              </a: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/</a:t>
              </a:r>
              <a:br>
                <a:rPr sz="1400" dirty="0"/>
              </a:b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side_effects.ipynb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083986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CDE75DE1-221D-4D0A-92EB-9612DF80BEE2}" type="slidenum">
              <a:rPr/>
              <a:t>34</a:t>
            </a:fld>
            <a:endParaRPr/>
          </a:p>
        </p:txBody>
      </p:sp>
      <p:sp>
        <p:nvSpPr>
          <p:cNvPr id="35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0" name="Picture 10"/>
          <p:cNvPicPr/>
          <p:nvPr/>
        </p:nvPicPr>
        <p:blipFill>
          <a:blip r:embed="rId2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BA99CFFA-D9D0-4205-B685-590D02321AC2}" type="slidenum">
              <a:rPr/>
              <a:t>35</a:t>
            </a:fld>
            <a:endParaRPr/>
          </a:p>
        </p:txBody>
      </p:sp>
      <p:sp>
        <p:nvSpPr>
          <p:cNvPr id="362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3" name="Picture 10"/>
          <p:cNvPicPr/>
          <p:nvPr/>
        </p:nvPicPr>
        <p:blipFill>
          <a:blip r:embed="rId3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4" name="Picture 12"/>
          <p:cNvPicPr/>
          <p:nvPr/>
        </p:nvPicPr>
        <p:blipFill>
          <a:blip r:embed="rId4"/>
          <a:stretch/>
        </p:blipFill>
        <p:spPr>
          <a:xfrm>
            <a:off x="1485360" y="2890800"/>
            <a:ext cx="7922160" cy="3527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F10244D2-0019-47FE-881C-AAE79716CC0E}" type="slidenum">
              <a:rPr/>
              <a:t>36</a:t>
            </a:fld>
            <a:endParaRPr/>
          </a:p>
        </p:txBody>
      </p:sp>
      <p:sp>
        <p:nvSpPr>
          <p:cNvPr id="366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TextBox 6"/>
          <p:cNvSpPr/>
          <p:nvPr/>
        </p:nvSpPr>
        <p:spPr>
          <a:xfrm>
            <a:off x="7143840" y="4614120"/>
            <a:ext cx="5113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input array has been modified!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Box 7"/>
          <p:cNvSpPr/>
          <p:nvPr/>
        </p:nvSpPr>
        <p:spPr>
          <a:xfrm>
            <a:off x="7143840" y="5075640"/>
            <a:ext cx="4114080" cy="82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… and so have all other views of the same data!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Left Arrow 8"/>
          <p:cNvSpPr/>
          <p:nvPr/>
        </p:nvSpPr>
        <p:spPr>
          <a:xfrm>
            <a:off x="6207840" y="468612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70" name="Picture 10"/>
          <p:cNvPicPr/>
          <p:nvPr/>
        </p:nvPicPr>
        <p:blipFill>
          <a:blip r:embed="rId2"/>
          <a:stretch/>
        </p:blipFill>
        <p:spPr>
          <a:xfrm>
            <a:off x="1458720" y="2925000"/>
            <a:ext cx="4240800" cy="317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1" name="Picture 12"/>
          <p:cNvPicPr/>
          <p:nvPr/>
        </p:nvPicPr>
        <p:blipFill>
          <a:blip r:embed="rId3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2" name="Left Arrow 13"/>
          <p:cNvSpPr/>
          <p:nvPr/>
        </p:nvSpPr>
        <p:spPr>
          <a:xfrm>
            <a:off x="6207840" y="533232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3" name="Picture 5"/>
          <p:cNvPicPr/>
          <p:nvPr/>
        </p:nvPicPr>
        <p:blipFill>
          <a:blip r:embed="rId3"/>
          <a:stretch/>
        </p:blipFill>
        <p:spPr>
          <a:xfrm>
            <a:off x="1847520" y="2495880"/>
            <a:ext cx="7771680" cy="179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33D8163-AC71-44FC-937A-80509FA2A130}" type="slidenum">
              <a:rPr/>
              <a:t>37</a:t>
            </a:fld>
            <a:endParaRPr/>
          </a:p>
        </p:txBody>
      </p:sp>
      <p:sp>
        <p:nvSpPr>
          <p:cNvPr id="37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Left Arrow 9"/>
          <p:cNvSpPr/>
          <p:nvPr/>
        </p:nvSpPr>
        <p:spPr>
          <a:xfrm>
            <a:off x="3719880" y="357696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77" name="TextBox 11"/>
          <p:cNvSpPr/>
          <p:nvPr/>
        </p:nvSpPr>
        <p:spPr>
          <a:xfrm>
            <a:off x="910800" y="1352520"/>
            <a:ext cx="9361080" cy="69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Best practice: functions that take an array as an input should avoid modifying it in place!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Always make a copy or be super extra clear in the docstring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NumPy views and copies summary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296CCDE1-211A-4993-8E38-F59BE1C2D2AF}" type="slidenum">
              <a:rPr/>
              <a:t>38</a:t>
            </a:fld>
            <a:endParaRPr/>
          </a:p>
        </p:txBody>
      </p:sp>
      <p:sp>
        <p:nvSpPr>
          <p:cNvPr id="379" name="PlaceHolder 2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Content Placeholder 2"/>
          <p:cNvSpPr/>
          <p:nvPr/>
        </p:nvSpPr>
        <p:spPr>
          <a:xfrm>
            <a:off x="838080" y="1430640"/>
            <a:ext cx="10514880" cy="452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10000"/>
          </a:bodyPr>
          <a:lstStyle/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View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There can be multiple views of the same memory block, interpreted as different arrays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 returns a view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In-place operations on a view modify the memory block </a:t>
            </a:r>
            <a:br>
              <a:rPr lang="en-CH" sz="2600" dirty="0"/>
            </a:b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and all of its views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Copy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When a copy of an array needs to be created, it allocates a separate memory block and associates it with new metadata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 always returns copies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copy can be forced with .copy()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43160"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49A0537E-BE5F-42F2-8351-7C85BB3EC8C0}" type="slidenum">
              <a:rPr/>
              <a:t>39</a:t>
            </a:fld>
            <a:endParaRPr/>
          </a:p>
        </p:txBody>
      </p:sp>
      <p:sp>
        <p:nvSpPr>
          <p:cNvPr id="454" name="PlaceHolder 2"/>
          <p:cNvSpPr>
            <a:spLocks noGrp="1"/>
          </p:cNvSpPr>
          <p:nvPr>
            <p:ph type="dt" idx="15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PlaceHolder 1"/>
          <p:cNvSpPr>
            <a:spLocks noGrp="1"/>
          </p:cNvSpPr>
          <p:nvPr>
            <p:ph type="title" idx="4294967295"/>
          </p:nvPr>
        </p:nvSpPr>
        <p:spPr>
          <a:xfrm>
            <a:off x="838994" y="2708275"/>
            <a:ext cx="10514013" cy="9032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5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Up next: Tabular Data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 type="dt" idx="10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D76B896-38EE-445A-B914-7F33F8C50F9D}" type="slidenum">
              <a:rPr/>
              <a:t>40</a:t>
            </a:fld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Fancy indexing in NumPy – reference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 type="dt" idx="10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59" name="Picture 7" descr="A diagram of a number&#10;&#10;Description automatically generated with medium confidence"/>
          <p:cNvPicPr/>
          <p:nvPr/>
        </p:nvPicPr>
        <p:blipFill>
          <a:blip r:embed="rId2"/>
          <a:stretch/>
        </p:blipFill>
        <p:spPr>
          <a:xfrm>
            <a:off x="4003560" y="1012320"/>
            <a:ext cx="7018920" cy="535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0" name="TextBox 4"/>
          <p:cNvSpPr/>
          <p:nvPr/>
        </p:nvSpPr>
        <p:spPr>
          <a:xfrm>
            <a:off x="432000" y="3551040"/>
            <a:ext cx="2963880" cy="516600"/>
          </a:xfrm>
          <a:prstGeom prst="rect">
            <a:avLst/>
          </a:prstGeom>
          <a:noFill/>
          <a:ln w="0">
            <a:solidFill>
              <a:srgbClr val="D8C7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A[[2, 2, 1], [2, 0, 0]]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3482120C-8670-44DA-BA7B-A928B373E3C6}" type="slidenum">
              <a:rPr/>
              <a:t>41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171707</TotalTime>
  <Words>3622</Words>
  <Application>Microsoft Macintosh PowerPoint</Application>
  <PresentationFormat>Widescreen</PresentationFormat>
  <Paragraphs>1040</Paragraphs>
  <Slides>41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41</vt:i4>
      </vt:variant>
    </vt:vector>
  </HeadingPairs>
  <TitlesOfParts>
    <vt:vector size="54" baseType="lpstr">
      <vt:lpstr>Arial</vt:lpstr>
      <vt:lpstr>Calibri</vt:lpstr>
      <vt:lpstr>Calibri Light</vt:lpstr>
      <vt:lpstr>Consolas</vt:lpstr>
      <vt:lpstr>Courier New</vt:lpstr>
      <vt:lpstr>Harding</vt:lpstr>
      <vt:lpstr>Source Sans Pro</vt:lpstr>
      <vt:lpstr>StarSymbol</vt:lpstr>
      <vt:lpstr>Symbol</vt:lpstr>
      <vt:lpstr>Times New Roman</vt:lpstr>
      <vt:lpstr>Wingdings</vt:lpstr>
      <vt:lpstr>Office Theme</vt:lpstr>
      <vt:lpstr>Office Theme</vt:lpstr>
      <vt:lpstr>PowerPoint Presentation</vt:lpstr>
      <vt:lpstr>NumPy – huh, yeah – what’s it good for?</vt:lpstr>
      <vt:lpstr>Efficient machine-native implementation </vt:lpstr>
      <vt:lpstr>Is NumPy any better than a list-of-lists?</vt:lpstr>
      <vt:lpstr>Is NumPy any better than a list-of-lists?</vt:lpstr>
      <vt:lpstr>Same data, different views</vt:lpstr>
      <vt:lpstr>Same data, different views</vt:lpstr>
      <vt:lpstr>O(1) operations in NumPy</vt:lpstr>
      <vt:lpstr>The golden rule of NumPy</vt:lpstr>
      <vt:lpstr>Views vs. copies in indexing operations</vt:lpstr>
      <vt:lpstr>Views vs. copies in indexing operations</vt:lpstr>
      <vt:lpstr>Views vs. copies in indexing operations</vt:lpstr>
      <vt:lpstr>Views vs. copies in indexing operations</vt:lpstr>
      <vt:lpstr>View vs copies in indexing operations</vt:lpstr>
      <vt:lpstr>A special kind of view: broadcasting operations</vt:lpstr>
      <vt:lpstr>A special kind of view: broadcasting operations</vt:lpstr>
      <vt:lpstr>NumPy uses broadcasting to perform operation on arrays of different shape without having to allocate extra memory</vt:lpstr>
      <vt:lpstr>Broadcasting matching rule: dimensions are aligned to the right and match if they are equal, or equal to 1</vt:lpstr>
      <vt:lpstr>View or copy? Quiz</vt:lpstr>
      <vt:lpstr>PowerPoint Presentation</vt:lpstr>
      <vt:lpstr>Python assignment is “by reference”</vt:lpstr>
      <vt:lpstr>Python assignment is “by reference”</vt:lpstr>
      <vt:lpstr>Python assignment is “by reference”</vt:lpstr>
      <vt:lpstr>Python assignment is “by reference”</vt:lpstr>
      <vt:lpstr>Python assignment is “by reference”</vt:lpstr>
      <vt:lpstr>Changing one view changes them all</vt:lpstr>
      <vt:lpstr>Changing one view changes them all</vt:lpstr>
      <vt:lpstr>Changing one view changes them all</vt:lpstr>
      <vt:lpstr>Passing an argument is an assignment</vt:lpstr>
      <vt:lpstr>Passing an argument is an assignment</vt:lpstr>
      <vt:lpstr>Passing an argument is an assignment</vt:lpstr>
      <vt:lpstr>Passing an argument is an assignment</vt:lpstr>
      <vt:lpstr>Assignments and functions</vt:lpstr>
      <vt:lpstr>Careful with your functions</vt:lpstr>
      <vt:lpstr>Careful with your functions</vt:lpstr>
      <vt:lpstr>Careful with your functions</vt:lpstr>
      <vt:lpstr>Careful with your functions</vt:lpstr>
      <vt:lpstr>NumPy views and copies summary</vt:lpstr>
      <vt:lpstr>Up next: Tabular Data</vt:lpstr>
      <vt:lpstr>PowerPoint Presentation</vt:lpstr>
      <vt:lpstr>Fancy indexing in NumPy – reference slide</vt:lpstr>
    </vt:vector>
  </TitlesOfParts>
  <Company>University of Pennsylvania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Pietro Berkes</dc:creator>
  <dc:description/>
  <cp:lastModifiedBy>Pietro Berkes</cp:lastModifiedBy>
  <cp:revision>1735</cp:revision>
  <cp:lastPrinted>2017-08-28T05:46:03Z</cp:lastPrinted>
  <dcterms:created xsi:type="dcterms:W3CDTF">2010-10-01T16:09:12Z</dcterms:created>
  <dcterms:modified xsi:type="dcterms:W3CDTF">2026-07-17T09:55:26Z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Widescreen</vt:lpwstr>
  </property>
  <property fmtid="{D5CDD505-2E9C-101B-9397-08002B2CF9AE}" pid="4" name="Slides">
    <vt:i4>33</vt:i4>
  </property>
</Properties>
</file>