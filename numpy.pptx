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3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25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2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slideLayout3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jpeg" ContentType="image/jpeg"/>
  <Override PartName="/ppt/media/image6.png" ContentType="image/png"/>
  <Override PartName="/ppt/media/image10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  <Override PartName="/ppt/slides/_rels/slide14.xml.rels" ContentType="application/vnd.openxmlformats-package.relationships+xml"/>
  <Override PartName="/ppt/slides/_rels/slide6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19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1.xml.rels" ContentType="application/vnd.openxmlformats-package.relationships+xml"/>
  <Override PartName="/ppt/slides/_rels/slide29.xml.rels" ContentType="application/vnd.openxmlformats-package.relationships+xml"/>
  <Override PartName="/ppt/slides/_rels/slide5.xml.rels" ContentType="application/vnd.openxmlformats-package.relationships+xml"/>
  <Override PartName="/ppt/slides/_rels/slide22.xml.rels" ContentType="application/vnd.openxmlformats-package.relationships+xml"/>
  <Override PartName="/ppt/slides/_rels/slide30.xml.rels" ContentType="application/vnd.openxmlformats-package.relationships+xml"/>
  <Override PartName="/ppt/slides/_rels/slide28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7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8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9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notesSlides/_rels/notesSlide7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8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2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9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4.xml.rels" ContentType="application/vnd.openxmlformats-package.relationships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 type="dt" idx="7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5"/>
          <p:cNvSpPr>
            <a:spLocks noGrp="1"/>
          </p:cNvSpPr>
          <p:nvPr>
            <p:ph type="ftr" idx="7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6"/>
          <p:cNvSpPr>
            <a:spLocks noGrp="1"/>
          </p:cNvSpPr>
          <p:nvPr>
            <p:ph type="sldNum" idx="7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578A885-2061-44B6-8485-F75CF539C4E2}" type="slidenum"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6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marL="17136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Reminder of architecture class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  <a:tabLst>
                <a:tab algn="l" pos="0"/>
              </a:tabLst>
            </a:pPr>
            <a:r>
              <a:rPr b="0" lang="en-GB" sz="1400" strike="noStrike" u="non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  <a:tabLst>
                <a:tab algn="l" pos="0"/>
              </a:tabLst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PlaceHolder 3"/>
          <p:cNvSpPr>
            <a:spLocks noGrp="1"/>
          </p:cNvSpPr>
          <p:nvPr>
            <p:ph type="sldNum" idx="11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001C42-ACD7-43EF-8A02-697273F2F1F6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65" name="PlaceHolder 2"/>
          <p:cNvSpPr>
            <a:spLocks noGrp="1"/>
          </p:cNvSpPr>
          <p:nvPr>
            <p:ph type="sldNum" idx="11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1242EF1-E080-4BE0-80DA-716242641926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Notes Placeholder 1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68" name="PlaceHolder 2"/>
          <p:cNvSpPr>
            <a:spLocks noGrp="1"/>
          </p:cNvSpPr>
          <p:nvPr>
            <p:ph type="sldNum" idx="112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E32096-C378-46E7-9662-A59E6F60A88C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Notes Placeholder 3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71" name="PlaceHolder 2"/>
          <p:cNvSpPr>
            <a:spLocks noGrp="1"/>
          </p:cNvSpPr>
          <p:nvPr>
            <p:ph type="sldNum" idx="113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0D2BB5-A004-470F-86AD-E82E4BC80F98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Notes Placeholder 4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74" name="PlaceHolder 2"/>
          <p:cNvSpPr>
            <a:spLocks noGrp="1"/>
          </p:cNvSpPr>
          <p:nvPr>
            <p:ph type="sldNum" idx="114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A4A78FA-EB70-4046-8053-A8E7106D337A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Notes Placeholder 5"/>
          <p:cNvSpPr/>
          <p:nvPr/>
        </p:nvSpPr>
        <p:spPr>
          <a:xfrm>
            <a:off x="914760" y="4343760"/>
            <a:ext cx="5028480" cy="41140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t">
            <a:noAutofit/>
          </a:bodyPr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standard Python implementation is written in C. This means that every Python object is simply a cleverly-disguised C structure, which contains not only its value, but metadata as well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a C integer is essentially a label for a position in memory whose bytes encode an integer value. A Python integer is a pointer to a position in memory containing all the Python object information, including the bytes that contain the integer value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222222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222222"/>
                </a:solidFill>
                <a:effectLst/>
                <a:highlight>
                  <a:srgbClr val="ffffff"/>
                </a:highlight>
                <a:uFillTx/>
                <a:latin typeface="Harding"/>
              </a:rPr>
              <a:t>NumPy handles looping over array elements near-optimally—for example, taking strides into consideration to best utilize the computer’s fast cache memory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Harding"/>
              </a:rPr>
              <a:t>NumPy array - </a:t>
            </a: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single pointer to one contiguous block of data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>
              <a:lnSpc>
                <a:spcPct val="100000"/>
              </a:lnSpc>
              <a:buClr>
                <a:srgbClr val="000000"/>
              </a:buClr>
              <a:buFont typeface="StarSymbol"/>
              <a:buChar char="-"/>
            </a:pPr>
            <a:r>
              <a:rPr b="0" lang="en-GB" sz="1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The Python list, on the other hand, contains a pointer to a block of pointers, each of which in turn points to a full Python object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Point to make: there are a number of array operations that take no time at all!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47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You can always make a copy by explicitly calling .copy()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How does the golden rule apply to indexing operations?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→ compare slices vs. fancy indexing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48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Example .copy() usage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What can go wrong with this function?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48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Discuss pros and cons with them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Pros: security that data will be always a copy.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Cons: redundancy in memory, problem for big arrays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8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Special case, when one of the strides is 0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duplicates without occupying more memory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Transition, other operations that can 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Braodcasting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Imagine what happens if we have a stride of 0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It allows us to replicate the sae row without allocating extra memory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What happens when it’s a 0?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PlaceHolder 3"/>
          <p:cNvSpPr>
            <a:spLocks noGrp="1"/>
          </p:cNvSpPr>
          <p:nvPr>
            <p:ph type="sldNum" idx="115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6CB81B-36F2-4DEE-A9E5-516DDE81E95E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90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Stride == 0 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Wingdings"/>
              </a:rPr>
              <a:t></a:t>
            </a: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 then we are not actually moving in memory, same memory, we are looping over the same thing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sldNum" idx="116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9BC6331-82DC-46A6-99F6-40E53610FA25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9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PlaceHolder 3"/>
          <p:cNvSpPr>
            <a:spLocks noGrp="1"/>
          </p:cNvSpPr>
          <p:nvPr>
            <p:ph type="sldNum" idx="117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B0B33F-7795-4156-91E4-038DEE4DC37A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96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PlaceHolder 3"/>
          <p:cNvSpPr>
            <a:spLocks noGrp="1"/>
          </p:cNvSpPr>
          <p:nvPr>
            <p:ph type="sldNum" idx="118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D124DA-8B45-46ED-8FF7-7B07FDD172F7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119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16BA6E-A60C-4871-A3C5-C79D130FB3A8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Again the kaleidoscope metaphor, it’s an aritifical way to replicate something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120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4CB17A-539F-4855-A420-10DB322BC59B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480" cy="41140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Show 1,2 examples and the notebook with the rules/ their implementation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121"/>
          </p:nvPr>
        </p:nvSpPr>
        <p:spPr>
          <a:xfrm>
            <a:off x="3886200" y="8686800"/>
            <a:ext cx="2971080" cy="45648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4B47EF-D770-4DD4-9C07-2E5C2C896B1B}" type="slidenum">
              <a:rPr b="0" lang="en-US" sz="12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6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6987CF-7650-4637-B89B-3426776609BF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7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6DEA467-5DED-4BE0-82E6-5EF7536E468E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51D383-8BE4-4D86-B32E-EA6F4EC497C6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the title 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9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ACCA44B-75FF-4F80-A6C5-31823BD4542B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10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3BEA428-0D71-4D0E-A007-D551110C1CCE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A5B8DFA-FB31-4C13-B9C1-F7FB45CFFB09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578DE0D-40B8-4AD6-9555-8FCDEE4E7E94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A90716-14E6-4794-880C-4B3C7F4A0E38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24D83B-9B9C-4FB5-8262-04BB5629952C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Centere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AC6DC31-8F36-4991-B964-4A684501E5D4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0A35F8-32EB-4866-90CE-E7F7BB54D50A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7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edit the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5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6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CFCBE0-D3A1-424F-A1A4-511EB3768520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7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6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15FF12-41C1-4F39-A693-0FEFDB25C8CA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7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838080" y="3935520"/>
            <a:ext cx="1051488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6D4B11-FB66-431D-9A06-47578200C128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6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tex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5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6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7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472CA3-DAE7-4AFB-97E3-F6AB8B18C7F7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8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titl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body"/>
          </p:nvPr>
        </p:nvSpPr>
        <p:spPr>
          <a:xfrm>
            <a:off x="439344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7949160" y="148464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5"/>
          <p:cNvSpPr>
            <a:spLocks noGrp="1"/>
          </p:cNvSpPr>
          <p:nvPr>
            <p:ph type="body"/>
          </p:nvPr>
        </p:nvSpPr>
        <p:spPr>
          <a:xfrm>
            <a:off x="83808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6"/>
          <p:cNvSpPr>
            <a:spLocks noGrp="1"/>
          </p:cNvSpPr>
          <p:nvPr>
            <p:ph type="body"/>
          </p:nvPr>
        </p:nvSpPr>
        <p:spPr>
          <a:xfrm>
            <a:off x="439344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7"/>
          <p:cNvSpPr>
            <a:spLocks noGrp="1"/>
          </p:cNvSpPr>
          <p:nvPr>
            <p:ph type="body"/>
          </p:nvPr>
        </p:nvSpPr>
        <p:spPr>
          <a:xfrm>
            <a:off x="7949160" y="3935520"/>
            <a:ext cx="338544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PlaceHolder 8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9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49AAEFD-C435-43F1-B023-83CF996B8F4D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10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0C9F262-E824-4AC0-AF2C-F2E2B6D39D63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31FEECE-D6C8-4FCE-876A-0190D37870B1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CB9EC53-DCE4-41FE-BEA0-C0B46656D65C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AF999DB-FCEC-4996-A4FB-817656C836AD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410447-D8B1-4E2D-B113-45A81ACB9344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mediaAndTx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8F0785-59AA-4995-AAE4-E56ACB85C5AA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 type="body"/>
          </p:nvPr>
        </p:nvSpPr>
        <p:spPr>
          <a:xfrm>
            <a:off x="83808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667B7A-D913-4875-A2BF-3232251D93E2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to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di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tit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xt 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r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838080" y="1484640"/>
            <a:ext cx="5130720" cy="4691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body"/>
          </p:nvPr>
        </p:nvSpPr>
        <p:spPr>
          <a:xfrm>
            <a:off x="6226200" y="148464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4"/>
          <p:cNvSpPr>
            <a:spLocks noGrp="1"/>
          </p:cNvSpPr>
          <p:nvPr>
            <p:ph type="body"/>
          </p:nvPr>
        </p:nvSpPr>
        <p:spPr>
          <a:xfrm>
            <a:off x="6226200" y="3935520"/>
            <a:ext cx="5130720" cy="223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5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&lt;footer&gt;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6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762F64-64B4-4841-B2F6-7E251DD311AF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7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7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dt" idx="7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0" name="Picture 5" descr="A garden with different vegetables&#10;&#10;Description automatically generated"/>
          <p:cNvPicPr/>
          <p:nvPr/>
        </p:nvPicPr>
        <p:blipFill>
          <a:blip r:embed="rId1"/>
          <a:stretch/>
        </p:blipFill>
        <p:spPr>
          <a:xfrm>
            <a:off x="2077920" y="1788480"/>
            <a:ext cx="8035560" cy="449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Title 1"/>
          <p:cNvSpPr/>
          <p:nvPr/>
        </p:nvSpPr>
        <p:spPr>
          <a:xfrm>
            <a:off x="2747520" y="552600"/>
            <a:ext cx="6696000" cy="148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ctr">
              <a:lnSpc>
                <a:spcPct val="90000"/>
              </a:lnSpc>
            </a:pPr>
            <a:r>
              <a:rPr b="0" lang="en-US" sz="80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NumPy</a:t>
            </a:r>
            <a:endParaRPr b="0" lang="en-US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70D287C-E07C-44D5-B430-429B6B5F3EE8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NumPy – huh, yeah – what’s it good for?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838080" y="1534320"/>
            <a:ext cx="10514880" cy="419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NumPy i</a:t>
            </a: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ntroduce</a:t>
            </a: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s</a:t>
            </a: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a new data structure: </a:t>
            </a:r>
            <a:r>
              <a:rPr b="1" lang="en-CH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the array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Great for storing homogeneous data, where every element in the array has the same meaning. E.g. images, sound, time series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dt" idx="7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TextBox 7"/>
          <p:cNvSpPr/>
          <p:nvPr/>
        </p:nvSpPr>
        <p:spPr>
          <a:xfrm>
            <a:off x="2531520" y="2349000"/>
            <a:ext cx="7128000" cy="9424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 array is a regular, N-dimensional grid of data of the same type, typically numerical data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6" name="Picture 2" descr=""/>
          <p:cNvPicPr/>
          <p:nvPr/>
        </p:nvPicPr>
        <p:blipFill>
          <a:blip r:embed="rId1"/>
          <a:stretch/>
        </p:blipFill>
        <p:spPr>
          <a:xfrm>
            <a:off x="5038920" y="4848120"/>
            <a:ext cx="2113560" cy="95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2D8D466-CA19-4EEB-9A98-B349C59F5CA8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Efficient machine-native implementation</a:t>
            </a: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 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838080" y="1196640"/>
            <a:ext cx="11085120" cy="4691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Data is stored in a contiguous chunk of memory, using machine-native data types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Separate metadata tells numpy how to interpret that memory as an array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dt" idx="7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 type="ftr" idx="79"/>
          </p:nvPr>
        </p:nvSpPr>
        <p:spPr>
          <a:xfrm>
            <a:off x="3964320" y="635508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Data, v2.0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61" name="Table 9"/>
          <p:cNvGraphicFramePr/>
          <p:nvPr/>
        </p:nvGraphicFramePr>
        <p:xfrm>
          <a:off x="1229400" y="2779200"/>
          <a:ext cx="4406040" cy="473400"/>
        </p:xfrm>
        <a:graphic>
          <a:graphicData uri="http://schemas.openxmlformats.org/drawingml/2006/table">
            <a:tbl>
              <a:tblPr/>
              <a:tblGrid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62" name="TextBox 10"/>
          <p:cNvSpPr/>
          <p:nvPr/>
        </p:nvSpPr>
        <p:spPr>
          <a:xfrm>
            <a:off x="869400" y="325260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3" name="Table 11"/>
          <p:cNvGraphicFramePr/>
          <p:nvPr/>
        </p:nvGraphicFramePr>
        <p:xfrm>
          <a:off x="1214280" y="4565160"/>
          <a:ext cx="3127320" cy="1620000"/>
        </p:xfrm>
        <a:graphic>
          <a:graphicData uri="http://schemas.openxmlformats.org/drawingml/2006/table">
            <a:tbl>
              <a:tblPr/>
              <a:tblGrid>
                <a:gridCol w="1563840"/>
                <a:gridCol w="1563840"/>
              </a:tblGrid>
              <a:tr h="401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401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401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4158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164" name="TextBox 12"/>
          <p:cNvSpPr/>
          <p:nvPr/>
        </p:nvSpPr>
        <p:spPr>
          <a:xfrm>
            <a:off x="1157400" y="235764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0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" name="Table 15"/>
          <p:cNvGraphicFramePr/>
          <p:nvPr/>
        </p:nvGraphicFramePr>
        <p:xfrm>
          <a:off x="8165160" y="3537720"/>
          <a:ext cx="1891800" cy="1587600"/>
        </p:xfrm>
        <a:graphic>
          <a:graphicData uri="http://schemas.openxmlformats.org/drawingml/2006/table">
            <a:tbl>
              <a:tblPr/>
              <a:tblGrid>
                <a:gridCol w="630720"/>
                <a:gridCol w="630720"/>
                <a:gridCol w="630720"/>
              </a:tblGrid>
              <a:tr h="5292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5292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5292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66" name="TextBox 16"/>
          <p:cNvSpPr/>
          <p:nvPr/>
        </p:nvSpPr>
        <p:spPr>
          <a:xfrm>
            <a:off x="8103600" y="313128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000" strike="noStrike" u="non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7"/>
          <p:cNvSpPr/>
          <p:nvPr/>
        </p:nvSpPr>
        <p:spPr>
          <a:xfrm>
            <a:off x="1132200" y="41817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0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riangle 19"/>
          <p:cNvSpPr/>
          <p:nvPr/>
        </p:nvSpPr>
        <p:spPr>
          <a:xfrm rot="5400000">
            <a:off x="5187240" y="422568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69" name="Picture 2" descr=""/>
          <p:cNvPicPr/>
          <p:nvPr/>
        </p:nvPicPr>
        <p:blipFill>
          <a:blip r:embed="rId1"/>
          <a:srcRect l="0" t="0" r="0" b="32467"/>
          <a:stretch/>
        </p:blipFill>
        <p:spPr>
          <a:xfrm flipH="1">
            <a:off x="6096600" y="30481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174ED62-3A5A-4555-8867-54EED906BD75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dt" idx="8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2" name="Group 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3" name="Rectangle 1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74" name="Graphic 11" descr=""/>
            <p:cNvPicPr/>
            <p:nvPr/>
          </p:nvPicPr>
          <p:blipFill>
            <a:blip r:embed="rId1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B69005C-7063-4B68-A3C2-A8059B4D03B0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Is NumPy any better than a list-of-lists?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838080" y="1484640"/>
            <a:ext cx="10514880" cy="4691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The machine-nativeness of the data structure means that common operations and algorithms can be implemented with less per-element overhead, making them faster than a Python list-of-lists</a:t>
            </a:r>
            <a:br>
              <a:rPr sz="2800"/>
            </a:b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 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Faster in what sense?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Big-O complexity is the same. E.g., square matrix multiplication is still O(n³)</a:t>
            </a:r>
            <a:r>
              <a:rPr b="0" lang="en-CH" sz="2400" strike="noStrike" u="none" baseline="30000">
                <a:solidFill>
                  <a:srgbClr val="000000"/>
                </a:solidFill>
                <a:effectLst/>
                <a:uFillTx/>
                <a:latin typeface="Calibri"/>
              </a:rPr>
              <a:t>*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en-CH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It’s not going to scale any better than list-of-lists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en-CH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Much faster for fixed-size problems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This speed advantage strictly depends on operations being made in C and Fortran. Avoid Python for-loops and use existing NumPy and SciPy functionality!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dt" idx="8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78" name="Group 7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179" name="Rectangle 8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180" name="Graphic 12" descr=""/>
            <p:cNvPicPr/>
            <p:nvPr/>
          </p:nvPicPr>
          <p:blipFill>
            <a:blip r:embed="rId1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81" name="TextBox 18"/>
          <p:cNvSpPr/>
          <p:nvPr/>
        </p:nvSpPr>
        <p:spPr>
          <a:xfrm>
            <a:off x="3791880" y="6176880"/>
            <a:ext cx="8006760" cy="516600"/>
          </a:xfrm>
          <a:prstGeom prst="rect">
            <a:avLst/>
          </a:prstGeom>
          <a:solidFill>
            <a:schemeClr val="bg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0" lang="en-US" sz="1400" strike="noStrike" u="none" baseline="30000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*</a:t>
            </a:r>
            <a:r>
              <a:rPr b="0" lang="en-US" sz="1400" strike="noStrike" u="none">
                <a:solidFill>
                  <a:srgbClr val="767171"/>
                </a:solidFill>
                <a:effectLst/>
                <a:uFillTx/>
                <a:latin typeface="Calibri"/>
                <a:ea typeface="DejaVu Sans"/>
              </a:rPr>
              <a:t> The best matrix multiplication algorithm as of 2025 scales as O(n**2.371339). However, out-of-the-box NumPy packages usually use a Fortran library called OpenBLAS that implements a O(n**3) algorithm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11624DA-98A5-4FDB-BA21-A391D4A3E667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dt" idx="8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84" name="Table 9"/>
          <p:cNvGraphicFramePr/>
          <p:nvPr/>
        </p:nvGraphicFramePr>
        <p:xfrm>
          <a:off x="1240920" y="2080080"/>
          <a:ext cx="4406040" cy="473400"/>
        </p:xfrm>
        <a:graphic>
          <a:graphicData uri="http://schemas.openxmlformats.org/drawingml/2006/table">
            <a:tbl>
              <a:tblPr/>
              <a:tblGrid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85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11"/>
          <p:cNvGraphicFramePr/>
          <p:nvPr/>
        </p:nvGraphicFramePr>
        <p:xfrm>
          <a:off x="1245600" y="3816000"/>
          <a:ext cx="3127320" cy="1620000"/>
        </p:xfrm>
        <a:graphic>
          <a:graphicData uri="http://schemas.openxmlformats.org/drawingml/2006/table">
            <a:tbl>
              <a:tblPr/>
              <a:tblGrid>
                <a:gridCol w="1563840"/>
                <a:gridCol w="1563840"/>
              </a:tblGrid>
              <a:tr h="401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401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4014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(3, 3)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4158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187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0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8" name="Table 15"/>
          <p:cNvGraphicFramePr/>
          <p:nvPr/>
        </p:nvGraphicFramePr>
        <p:xfrm>
          <a:off x="8210880" y="3384000"/>
          <a:ext cx="1891800" cy="1587600"/>
        </p:xfrm>
        <a:graphic>
          <a:graphicData uri="http://schemas.openxmlformats.org/drawingml/2006/table">
            <a:tbl>
              <a:tblPr/>
              <a:tblGrid>
                <a:gridCol w="630720"/>
                <a:gridCol w="630720"/>
                <a:gridCol w="630720"/>
              </a:tblGrid>
              <a:tr h="5292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5292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5292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89" name="TextBox 16"/>
          <p:cNvSpPr/>
          <p:nvPr/>
        </p:nvSpPr>
        <p:spPr>
          <a:xfrm>
            <a:off x="8148960" y="297756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000" strike="noStrike" u="non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0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riangle 26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192" name="Picture 2" descr=""/>
          <p:cNvPicPr/>
          <p:nvPr/>
        </p:nvPicPr>
        <p:blipFill>
          <a:blip r:embed="rId1"/>
          <a:srcRect l="0" t="0" r="0"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FACB01-4BB1-41C9-B28B-2F6CF30148BB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3" name="Table 23"/>
          <p:cNvGraphicFramePr/>
          <p:nvPr/>
        </p:nvGraphicFramePr>
        <p:xfrm>
          <a:off x="1240920" y="3816000"/>
          <a:ext cx="3127320" cy="1620000"/>
        </p:xfrm>
        <a:graphic>
          <a:graphicData uri="http://schemas.openxmlformats.org/drawingml/2006/table">
            <a:tbl>
              <a:tblPr/>
              <a:tblGrid>
                <a:gridCol w="1563840"/>
                <a:gridCol w="1563840"/>
              </a:tblGrid>
              <a:tr h="4050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4050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4050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(9,)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4050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Same data, different views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dt" idx="8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96" name="Table 9"/>
          <p:cNvGraphicFramePr/>
          <p:nvPr/>
        </p:nvGraphicFramePr>
        <p:xfrm>
          <a:off x="1240920" y="2080080"/>
          <a:ext cx="4406040" cy="473400"/>
        </p:xfrm>
        <a:graphic>
          <a:graphicData uri="http://schemas.openxmlformats.org/drawingml/2006/table">
            <a:tbl>
              <a:tblPr/>
              <a:tblGrid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38160">
                      <a:solidFill>
                        <a:srgbClr val="4472c4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38160">
                      <a:solidFill>
                        <a:srgbClr val="4472c4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97" name="TextBox 10"/>
          <p:cNvSpPr/>
          <p:nvPr/>
        </p:nvSpPr>
        <p:spPr>
          <a:xfrm>
            <a:off x="880920" y="2553840"/>
            <a:ext cx="1223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int64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8 bytes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12"/>
          <p:cNvSpPr/>
          <p:nvPr/>
        </p:nvSpPr>
        <p:spPr>
          <a:xfrm>
            <a:off x="1168920" y="1658880"/>
            <a:ext cx="28450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0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 storage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6"/>
          <p:cNvSpPr/>
          <p:nvPr/>
        </p:nvSpPr>
        <p:spPr>
          <a:xfrm>
            <a:off x="7491960" y="3814920"/>
            <a:ext cx="19436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000" strike="noStrike" u="non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7"/>
          <p:cNvSpPr/>
          <p:nvPr/>
        </p:nvSpPr>
        <p:spPr>
          <a:xfrm>
            <a:off x="1163880" y="3432960"/>
            <a:ext cx="312732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0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riangle 20"/>
          <p:cNvSpPr/>
          <p:nvPr/>
        </p:nvSpPr>
        <p:spPr>
          <a:xfrm rot="5400000">
            <a:off x="4968720" y="3621240"/>
            <a:ext cx="3537360" cy="381960"/>
          </a:xfrm>
          <a:prstGeom prst="triangle">
            <a:avLst>
              <a:gd name="adj" fmla="val 50275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202" name="Picture 2" descr=""/>
          <p:cNvPicPr/>
          <p:nvPr/>
        </p:nvPicPr>
        <p:blipFill>
          <a:blip r:embed="rId1"/>
          <a:srcRect l="0" t="0" r="0" b="32467"/>
          <a:stretch/>
        </p:blipFill>
        <p:spPr>
          <a:xfrm flipH="1">
            <a:off x="5878080" y="2443320"/>
            <a:ext cx="1744560" cy="119340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03" name="Table 22"/>
          <p:cNvGraphicFramePr/>
          <p:nvPr/>
        </p:nvGraphicFramePr>
        <p:xfrm>
          <a:off x="7597080" y="4264560"/>
          <a:ext cx="3958920" cy="457560"/>
        </p:xfrm>
        <a:graphic>
          <a:graphicData uri="http://schemas.openxmlformats.org/drawingml/2006/table">
            <a:tbl>
              <a:tblPr/>
              <a:tblGrid>
                <a:gridCol w="439920"/>
                <a:gridCol w="439920"/>
                <a:gridCol w="439920"/>
                <a:gridCol w="439920"/>
                <a:gridCol w="439920"/>
                <a:gridCol w="439920"/>
                <a:gridCol w="439920"/>
                <a:gridCol w="439920"/>
                <a:gridCol w="439920"/>
              </a:tblGrid>
              <a:tr h="3654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2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2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081BE80-10E3-4B16-AED9-B33E9CE07884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838080" y="576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O(1) operations in NumPy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dt" idx="8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TextBox 5"/>
          <p:cNvSpPr/>
          <p:nvPr/>
        </p:nvSpPr>
        <p:spPr>
          <a:xfrm>
            <a:off x="6375240" y="18176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07" name="Table 6"/>
          <p:cNvGraphicFramePr/>
          <p:nvPr/>
        </p:nvGraphicFramePr>
        <p:xfrm>
          <a:off x="6588720" y="3611160"/>
          <a:ext cx="4544280" cy="295560"/>
        </p:xfrm>
        <a:graphic>
          <a:graphicData uri="http://schemas.openxmlformats.org/drawingml/2006/table">
            <a:tbl>
              <a:tblPr/>
              <a:tblGrid>
                <a:gridCol w="378720"/>
                <a:gridCol w="378720"/>
                <a:gridCol w="378720"/>
                <a:gridCol w="378720"/>
                <a:gridCol w="378720"/>
                <a:gridCol w="378720"/>
                <a:gridCol w="378720"/>
                <a:gridCol w="378720"/>
                <a:gridCol w="378720"/>
                <a:gridCol w="378720"/>
                <a:gridCol w="378720"/>
                <a:gridCol w="378720"/>
              </a:tblGrid>
              <a:tr h="295560"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8" name="Table 8"/>
          <p:cNvGraphicFramePr/>
          <p:nvPr/>
        </p:nvGraphicFramePr>
        <p:xfrm>
          <a:off x="6588720" y="4389120"/>
          <a:ext cx="1353240" cy="999000"/>
        </p:xfrm>
        <a:graphic>
          <a:graphicData uri="http://schemas.openxmlformats.org/drawingml/2006/table">
            <a:tbl>
              <a:tblPr/>
              <a:tblGrid>
                <a:gridCol w="338400"/>
                <a:gridCol w="338400"/>
                <a:gridCol w="338400"/>
                <a:gridCol w="338400"/>
              </a:tblGrid>
              <a:tr h="333000"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33000"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33000"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77040" rIns="7704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7040" marR="770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9" name="Table 9"/>
          <p:cNvGraphicFramePr/>
          <p:nvPr/>
        </p:nvGraphicFramePr>
        <p:xfrm>
          <a:off x="6588720" y="2163240"/>
          <a:ext cx="1106640" cy="12384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0" name="Table 10"/>
          <p:cNvGraphicFramePr/>
          <p:nvPr/>
        </p:nvGraphicFramePr>
        <p:xfrm>
          <a:off x="767520" y="1214280"/>
          <a:ext cx="5976000" cy="473400"/>
        </p:xfrm>
        <a:graphic>
          <a:graphicData uri="http://schemas.openxmlformats.org/drawingml/2006/table">
            <a:tbl>
              <a:tblPr/>
              <a:tblGrid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11" name="TextBox 11"/>
          <p:cNvSpPr/>
          <p:nvPr/>
        </p:nvSpPr>
        <p:spPr>
          <a:xfrm>
            <a:off x="615960" y="784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2"/>
          <p:cNvSpPr/>
          <p:nvPr/>
        </p:nvSpPr>
        <p:spPr>
          <a:xfrm>
            <a:off x="767520" y="33022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x.ravel()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3"/>
          <p:cNvSpPr/>
          <p:nvPr/>
        </p:nvSpPr>
        <p:spPr>
          <a:xfrm>
            <a:off x="580320" y="18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4"/>
          <p:cNvSpPr/>
          <p:nvPr/>
        </p:nvSpPr>
        <p:spPr>
          <a:xfrm>
            <a:off x="767520" y="44172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6"/>
          <p:cNvSpPr/>
          <p:nvPr/>
        </p:nvSpPr>
        <p:spPr>
          <a:xfrm>
            <a:off x="767520" y="218700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7"/>
          <p:cNvSpPr/>
          <p:nvPr/>
        </p:nvSpPr>
        <p:spPr>
          <a:xfrm>
            <a:off x="8136000" y="270000"/>
            <a:ext cx="3204000" cy="161424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NumPy can execute a command by just changing the metadata, it does.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CH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result is a </a:t>
            </a:r>
            <a:r>
              <a:rPr b="1" lang="en-CH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new view of the same data in memory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7" name="Table 18"/>
          <p:cNvGraphicFramePr/>
          <p:nvPr/>
        </p:nvGraphicFramePr>
        <p:xfrm>
          <a:off x="3859560" y="3332160"/>
          <a:ext cx="2152440" cy="82404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(12,)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218" name="TextBox 19"/>
          <p:cNvSpPr/>
          <p:nvPr/>
        </p:nvSpPr>
        <p:spPr>
          <a:xfrm>
            <a:off x="3639960" y="181764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9" name="Table 21"/>
          <p:cNvGraphicFramePr/>
          <p:nvPr/>
        </p:nvGraphicFramePr>
        <p:xfrm>
          <a:off x="3859560" y="4477320"/>
          <a:ext cx="2152440" cy="82404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0" name="Table 22"/>
          <p:cNvGraphicFramePr/>
          <p:nvPr/>
        </p:nvGraphicFramePr>
        <p:xfrm>
          <a:off x="3859560" y="2187360"/>
          <a:ext cx="2152440" cy="82404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221" name="TextBox 23"/>
          <p:cNvSpPr/>
          <p:nvPr/>
        </p:nvSpPr>
        <p:spPr>
          <a:xfrm>
            <a:off x="767520" y="553248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x.reshape((2, 6))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2" name="Table 26"/>
          <p:cNvGraphicFramePr/>
          <p:nvPr/>
        </p:nvGraphicFramePr>
        <p:xfrm>
          <a:off x="3859560" y="5622120"/>
          <a:ext cx="2152440" cy="82404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(2, 6)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(48, 8)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3" name="Table 28"/>
          <p:cNvGraphicFramePr/>
          <p:nvPr/>
        </p:nvGraphicFramePr>
        <p:xfrm>
          <a:off x="6588720" y="5738040"/>
          <a:ext cx="2271960" cy="591120"/>
        </p:xfrm>
        <a:graphic>
          <a:graphicData uri="http://schemas.openxmlformats.org/drawingml/2006/table">
            <a:tbl>
              <a:tblPr/>
              <a:tblGrid>
                <a:gridCol w="378720"/>
                <a:gridCol w="378720"/>
                <a:gridCol w="378720"/>
                <a:gridCol w="378720"/>
                <a:gridCol w="378720"/>
                <a:gridCol w="378720"/>
              </a:tblGrid>
              <a:tr h="295560"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295560"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90360" rIns="903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0360" marR="903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9B9DB0-4BB1-4035-9D8C-B046F6439D11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The golden rule of NumPy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dt" idx="8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Title 4"/>
          <p:cNvSpPr/>
          <p:nvPr/>
        </p:nvSpPr>
        <p:spPr>
          <a:xfrm>
            <a:off x="407520" y="2332800"/>
            <a:ext cx="11521080" cy="2191680"/>
          </a:xfrm>
          <a:prstGeom prst="rect">
            <a:avLst/>
          </a:prstGeom>
          <a:solidFill>
            <a:srgbClr val="e3f1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90000"/>
              </a:lnSpc>
            </a:pPr>
            <a:r>
              <a:rPr b="0" lang="en-CH" sz="32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Operations that can be executed by only changing the metadata return a 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</a:t>
            </a:r>
            <a:r>
              <a:rPr b="1" lang="en-CH" sz="32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view</a:t>
            </a: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“ of the original data memory block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</a:pPr>
            <a:r>
              <a:rPr b="0" lang="en-CH" sz="32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In all other cases, 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it creates a </a:t>
            </a:r>
            <a:r>
              <a:rPr b="1" lang="en-US" sz="32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“copy”</a:t>
            </a: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Calibri Light"/>
                <a:ea typeface="DejaVu Sans"/>
              </a:rPr>
              <a:t> with a new data memory block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0AB7B5-445C-4251-8C8E-CF8E9509A145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b="0" i="1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 type="dt" idx="8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29" name="Table 6"/>
          <p:cNvGraphicFramePr/>
          <p:nvPr/>
        </p:nvGraphicFramePr>
        <p:xfrm>
          <a:off x="6679440" y="2712240"/>
          <a:ext cx="1106640" cy="12384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0" name="Table 7"/>
          <p:cNvGraphicFramePr/>
          <p:nvPr/>
        </p:nvGraphicFramePr>
        <p:xfrm>
          <a:off x="946440" y="1763280"/>
          <a:ext cx="5976000" cy="473400"/>
        </p:xfrm>
        <a:graphic>
          <a:graphicData uri="http://schemas.openxmlformats.org/drawingml/2006/table">
            <a:tbl>
              <a:tblPr/>
              <a:tblGrid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31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5" name="Table 12"/>
          <p:cNvGraphicFramePr/>
          <p:nvPr/>
        </p:nvGraphicFramePr>
        <p:xfrm>
          <a:off x="4038480" y="273636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236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7" name="Table 14"/>
          <p:cNvGraphicFramePr/>
          <p:nvPr/>
        </p:nvGraphicFramePr>
        <p:xfrm>
          <a:off x="6679440" y="4629960"/>
          <a:ext cx="737640" cy="6192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3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9" name="Table 16"/>
          <p:cNvGraphicFramePr/>
          <p:nvPr/>
        </p:nvGraphicFramePr>
        <p:xfrm>
          <a:off x="4038480" y="436860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grpSp>
        <p:nvGrpSpPr>
          <p:cNvPr id="24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4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42" name="Graphic 21" descr=""/>
            <p:cNvPicPr/>
            <p:nvPr/>
          </p:nvPicPr>
          <p:blipFill>
            <a:blip r:embed="rId1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43" name="TextBox 23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B48600B-6A07-4E09-AC68-C02BCEE613EF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b="0" i="1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 type="dt" idx="8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46" name="Table 6"/>
          <p:cNvGraphicFramePr/>
          <p:nvPr/>
        </p:nvGraphicFramePr>
        <p:xfrm>
          <a:off x="6679440" y="2712240"/>
          <a:ext cx="1106640" cy="12384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47" name="Table 7"/>
          <p:cNvGraphicFramePr/>
          <p:nvPr/>
        </p:nvGraphicFramePr>
        <p:xfrm>
          <a:off x="946440" y="1763280"/>
          <a:ext cx="5976000" cy="473400"/>
        </p:xfrm>
        <a:graphic>
          <a:graphicData uri="http://schemas.openxmlformats.org/drawingml/2006/table">
            <a:tbl>
              <a:tblPr/>
              <a:tblGrid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48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2" name="Table 12"/>
          <p:cNvGraphicFramePr/>
          <p:nvPr/>
        </p:nvGraphicFramePr>
        <p:xfrm>
          <a:off x="4038480" y="273636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253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4" name="Table 14"/>
          <p:cNvGraphicFramePr/>
          <p:nvPr/>
        </p:nvGraphicFramePr>
        <p:xfrm>
          <a:off x="6679440" y="4629960"/>
          <a:ext cx="737640" cy="6192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5" name="Table 16"/>
          <p:cNvGraphicFramePr/>
          <p:nvPr/>
        </p:nvGraphicFramePr>
        <p:xfrm>
          <a:off x="4038480" y="436860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256" name="TextBox 17"/>
          <p:cNvSpPr/>
          <p:nvPr/>
        </p:nvSpPr>
        <p:spPr>
          <a:xfrm>
            <a:off x="8313120" y="550404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18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8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59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60" name="Graphic 21" descr=""/>
            <p:cNvPicPr/>
            <p:nvPr/>
          </p:nvPicPr>
          <p:blipFill>
            <a:blip r:embed="rId1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61" name="TextBox 22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FE333E5-57FA-48F5-BD1F-F0DACC2F8714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b="0" i="1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2"/>
          <p:cNvSpPr>
            <a:spLocks noGrp="1"/>
          </p:cNvSpPr>
          <p:nvPr>
            <p:ph type="dt" idx="8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64" name="Table 6"/>
          <p:cNvGraphicFramePr/>
          <p:nvPr/>
        </p:nvGraphicFramePr>
        <p:xfrm>
          <a:off x="6679440" y="2712240"/>
          <a:ext cx="1106640" cy="12384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65" name="Table 7"/>
          <p:cNvGraphicFramePr/>
          <p:nvPr/>
        </p:nvGraphicFramePr>
        <p:xfrm>
          <a:off x="946440" y="1763280"/>
          <a:ext cx="5976000" cy="473400"/>
        </p:xfrm>
        <a:graphic>
          <a:graphicData uri="http://schemas.openxmlformats.org/drawingml/2006/table">
            <a:tbl>
              <a:tblPr/>
              <a:tblGrid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66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0" name="Table 12"/>
          <p:cNvGraphicFramePr/>
          <p:nvPr/>
        </p:nvGraphicFramePr>
        <p:xfrm>
          <a:off x="4038480" y="273636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271" name="TextBox 13"/>
          <p:cNvSpPr/>
          <p:nvPr/>
        </p:nvSpPr>
        <p:spPr>
          <a:xfrm>
            <a:off x="987480" y="462132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x[::3, ::2]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2" name="Table 14"/>
          <p:cNvGraphicFramePr/>
          <p:nvPr/>
        </p:nvGraphicFramePr>
        <p:xfrm>
          <a:off x="6679440" y="4629960"/>
          <a:ext cx="737640" cy="6192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3" name="Table 16"/>
          <p:cNvGraphicFramePr/>
          <p:nvPr/>
        </p:nvGraphicFramePr>
        <p:xfrm>
          <a:off x="4038480" y="436860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(2, 2)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(72, 16)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274" name="TextBox 5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4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always returns </a:t>
            </a:r>
            <a:br>
              <a:rPr sz="4000"/>
            </a:br>
            <a:r>
              <a:rPr b="0" lang="en-US" sz="4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b="1" lang="en-US" sz="4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r>
              <a:rPr b="0" lang="en-US" sz="4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18"/>
          <p:cNvSpPr/>
          <p:nvPr/>
        </p:nvSpPr>
        <p:spPr>
          <a:xfrm>
            <a:off x="8313120" y="550404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it be done for all slicing operations?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19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YES!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20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2AEB28-D12D-4131-B88B-7D50F0936FC1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Views </a:t>
            </a:r>
            <a:r>
              <a:rPr b="0" i="1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vs.</a:t>
            </a: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 copies in indexing operations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dt" idx="8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280" name="Table 6"/>
          <p:cNvGraphicFramePr/>
          <p:nvPr/>
        </p:nvGraphicFramePr>
        <p:xfrm>
          <a:off x="6679440" y="2712240"/>
          <a:ext cx="1106640" cy="12384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1" name="Table 7"/>
          <p:cNvGraphicFramePr/>
          <p:nvPr/>
        </p:nvGraphicFramePr>
        <p:xfrm>
          <a:off x="946440" y="1763280"/>
          <a:ext cx="5976000" cy="473400"/>
        </p:xfrm>
        <a:graphic>
          <a:graphicData uri="http://schemas.openxmlformats.org/drawingml/2006/table">
            <a:tbl>
              <a:tblPr/>
              <a:tblGrid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82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6" name="Table 12"/>
          <p:cNvGraphicFramePr/>
          <p:nvPr/>
        </p:nvGraphicFramePr>
        <p:xfrm>
          <a:off x="4038480" y="273636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287" name="TextBox 13"/>
          <p:cNvSpPr/>
          <p:nvPr/>
        </p:nvSpPr>
        <p:spPr>
          <a:xfrm>
            <a:off x="987480" y="4621320"/>
            <a:ext cx="32356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2, 3], [1, 2, 1]]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5"/>
          <p:cNvSpPr/>
          <p:nvPr/>
        </p:nvSpPr>
        <p:spPr>
          <a:xfrm>
            <a:off x="8313120" y="4343760"/>
            <a:ext cx="3096720" cy="63828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9" name="Table 16"/>
          <p:cNvGraphicFramePr/>
          <p:nvPr/>
        </p:nvGraphicFramePr>
        <p:xfrm>
          <a:off x="4038480" y="436860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grpSp>
        <p:nvGrpSpPr>
          <p:cNvPr id="29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29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292" name="Graphic 21" descr=""/>
            <p:cNvPicPr/>
            <p:nvPr/>
          </p:nvPicPr>
          <p:blipFill>
            <a:blip r:embed="rId1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9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29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7" name="Table 24"/>
          <p:cNvGraphicFramePr/>
          <p:nvPr/>
        </p:nvGraphicFramePr>
        <p:xfrm>
          <a:off x="6698160" y="4735080"/>
          <a:ext cx="1106640" cy="3096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298" name="TextBox 26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0497DA-17F2-464F-B665-13E0D7A2DABF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View vs copies in indexing operations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dt" idx="9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01" name="Table 6"/>
          <p:cNvGraphicFramePr/>
          <p:nvPr/>
        </p:nvGraphicFramePr>
        <p:xfrm>
          <a:off x="6679440" y="2712240"/>
          <a:ext cx="1106640" cy="12384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2" name="Table 7"/>
          <p:cNvGraphicFramePr/>
          <p:nvPr/>
        </p:nvGraphicFramePr>
        <p:xfrm>
          <a:off x="946440" y="1763280"/>
          <a:ext cx="5976000" cy="473400"/>
        </p:xfrm>
        <a:graphic>
          <a:graphicData uri="http://schemas.openxmlformats.org/drawingml/2006/table">
            <a:tbl>
              <a:tblPr/>
              <a:tblGrid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03" name="TextBox 8"/>
          <p:cNvSpPr/>
          <p:nvPr/>
        </p:nvSpPr>
        <p:spPr>
          <a:xfrm>
            <a:off x="795240" y="133308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9"/>
          <p:cNvSpPr/>
          <p:nvPr/>
        </p:nvSpPr>
        <p:spPr>
          <a:xfrm>
            <a:off x="759600" y="2356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NumPy operation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0"/>
          <p:cNvSpPr/>
          <p:nvPr/>
        </p:nvSpPr>
        <p:spPr>
          <a:xfrm>
            <a:off x="946440" y="2736360"/>
            <a:ext cx="28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1"/>
          <p:cNvSpPr/>
          <p:nvPr/>
        </p:nvSpPr>
        <p:spPr>
          <a:xfrm>
            <a:off x="3818880" y="236700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7" name="Table 12"/>
          <p:cNvGraphicFramePr/>
          <p:nvPr/>
        </p:nvGraphicFramePr>
        <p:xfrm>
          <a:off x="4038480" y="273636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308" name="TextBox 15"/>
          <p:cNvSpPr/>
          <p:nvPr/>
        </p:nvSpPr>
        <p:spPr>
          <a:xfrm>
            <a:off x="8313120" y="4343760"/>
            <a:ext cx="3096720" cy="943200"/>
          </a:xfrm>
          <a:prstGeom prst="rect">
            <a:avLst/>
          </a:prstGeom>
          <a:solidFill>
            <a:srgbClr val="f0d0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Can this operation be done just by changing the metadata?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NO!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09" name="Table 16"/>
          <p:cNvGraphicFramePr/>
          <p:nvPr/>
        </p:nvGraphicFramePr>
        <p:xfrm>
          <a:off x="4038480" y="436860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</a:t>
                      </a: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???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grpSp>
        <p:nvGrpSpPr>
          <p:cNvPr id="310" name="Group 19"/>
          <p:cNvGrpSpPr/>
          <p:nvPr/>
        </p:nvGrpSpPr>
        <p:grpSpPr>
          <a:xfrm>
            <a:off x="11052360" y="205920"/>
            <a:ext cx="827280" cy="702000"/>
            <a:chOff x="11052360" y="205920"/>
            <a:chExt cx="827280" cy="702000"/>
          </a:xfrm>
        </p:grpSpPr>
        <p:sp>
          <p:nvSpPr>
            <p:cNvPr id="311" name="Rectangle 20"/>
            <p:cNvSpPr/>
            <p:nvPr/>
          </p:nvSpPr>
          <p:spPr>
            <a:xfrm>
              <a:off x="11052360" y="205920"/>
              <a:ext cx="827280" cy="702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pic>
          <p:nvPicPr>
            <p:cNvPr id="312" name="Graphic 21" descr=""/>
            <p:cNvPicPr/>
            <p:nvPr/>
          </p:nvPicPr>
          <p:blipFill>
            <a:blip r:embed="rId1"/>
            <a:stretch/>
          </p:blipFill>
          <p:spPr>
            <a:xfrm>
              <a:off x="11119320" y="279720"/>
              <a:ext cx="693720" cy="55476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13" name="Left Brace 17"/>
          <p:cNvSpPr/>
          <p:nvPr/>
        </p:nvSpPr>
        <p:spPr>
          <a:xfrm rot="16200000">
            <a:off x="1773000" y="460440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4" name="Left Brace 18"/>
          <p:cNvSpPr/>
          <p:nvPr/>
        </p:nvSpPr>
        <p:spPr>
          <a:xfrm rot="16200000">
            <a:off x="3152160" y="4605480"/>
            <a:ext cx="287280" cy="1170000"/>
          </a:xfrm>
          <a:prstGeom prst="leftBrace">
            <a:avLst>
              <a:gd name="adj1" fmla="val 8333"/>
              <a:gd name="adj2" fmla="val 50000"/>
            </a:avLst>
          </a:prstGeom>
          <a:noFill/>
          <a:ln w="38100">
            <a:solidFill>
              <a:srgbClr val="0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15" name="TextBox 22"/>
          <p:cNvSpPr/>
          <p:nvPr/>
        </p:nvSpPr>
        <p:spPr>
          <a:xfrm>
            <a:off x="1449360" y="532332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row indices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3"/>
          <p:cNvSpPr/>
          <p:nvPr/>
        </p:nvSpPr>
        <p:spPr>
          <a:xfrm>
            <a:off x="2861280" y="5321160"/>
            <a:ext cx="934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column indices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7" name="Table 24"/>
          <p:cNvGraphicFramePr/>
          <p:nvPr/>
        </p:nvGraphicFramePr>
        <p:xfrm>
          <a:off x="6698160" y="4735080"/>
          <a:ext cx="1106640" cy="309600"/>
        </p:xfrm>
        <a:graphic>
          <a:graphicData uri="http://schemas.openxmlformats.org/drawingml/2006/table">
            <a:tbl>
              <a:tblPr/>
              <a:tblGrid>
                <a:gridCol w="369000"/>
                <a:gridCol w="369000"/>
                <a:gridCol w="369000"/>
              </a:tblGrid>
              <a:tr h="309600"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65160" rIns="6516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5160" marR="651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18" name="TextBox 14"/>
          <p:cNvSpPr/>
          <p:nvPr/>
        </p:nvSpPr>
        <p:spPr>
          <a:xfrm>
            <a:off x="841680" y="423324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25"/>
          <p:cNvSpPr/>
          <p:nvPr/>
        </p:nvSpPr>
        <p:spPr>
          <a:xfrm>
            <a:off x="987480" y="4621320"/>
            <a:ext cx="32356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x[[0, 2, 3], [1, 2, 1]]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26"/>
          <p:cNvSpPr/>
          <p:nvPr/>
        </p:nvSpPr>
        <p:spPr>
          <a:xfrm>
            <a:off x="2553480" y="2767320"/>
            <a:ext cx="7084080" cy="130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4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</a:t>
            </a:r>
            <a:br>
              <a:rPr sz="4000"/>
            </a:br>
            <a:r>
              <a:rPr b="0" lang="en-US" sz="4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</a:t>
            </a:r>
            <a:r>
              <a:rPr b="1" lang="en-US" sz="4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r>
              <a:rPr b="0" lang="en-US" sz="4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 of the original array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19218EB-1F89-478F-A9A7-427F287ABEE7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View or copy? Quiz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 type="dt" idx="9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3" name="Group 9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324" name="Rectangle 10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325" name="TextBox 11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DE" sz="1800" strike="noStrike" u="non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326" name="Graphic 12" descr=""/>
            <p:cNvPicPr/>
            <p:nvPr/>
          </p:nvPicPr>
          <p:blipFill>
            <a:blip r:embed="rId1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7" name="TextBox 13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0" lang="en-GB" sz="1400" strike="noStrike" u="non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exercises/numpy_view_or_copy/</a:t>
              </a:r>
              <a:br>
                <a:rPr sz="1400"/>
              </a:br>
              <a:r>
                <a:rPr b="0" lang="en-GB" sz="1400" strike="noStrike" u="non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view_or_copy_interactive.ipynb</a:t>
              </a: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788B00D-8FC6-4873-A5C2-946589EA5B05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dt" idx="9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30" name="Table 9"/>
          <p:cNvGraphicFramePr/>
          <p:nvPr/>
        </p:nvGraphicFramePr>
        <p:xfrm>
          <a:off x="5622120" y="2885040"/>
          <a:ext cx="2152440" cy="149580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31" name="Table 11"/>
          <p:cNvGraphicFramePr/>
          <p:nvPr/>
        </p:nvGraphicFramePr>
        <p:xfrm>
          <a:off x="5622120" y="1377720"/>
          <a:ext cx="5976000" cy="473400"/>
        </p:xfrm>
        <a:graphic>
          <a:graphicData uri="http://schemas.openxmlformats.org/drawingml/2006/table">
            <a:tbl>
              <a:tblPr/>
              <a:tblGrid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3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4" name="Table 14"/>
          <p:cNvGraphicFramePr/>
          <p:nvPr/>
        </p:nvGraphicFramePr>
        <p:xfrm>
          <a:off x="8763840" y="2880360"/>
          <a:ext cx="2152440" cy="137340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cxnSp>
        <p:nvCxnSpPr>
          <p:cNvPr id="335" name="Curved Connector 6"/>
          <p:cNvCxnSpPr>
            <a:endCxn id="331" idx="1"/>
          </p:cNvCxnSpPr>
          <p:nvPr/>
        </p:nvCxnSpPr>
        <p:spPr>
          <a:xfrm rot="10800000">
            <a:off x="5621760" y="1613880"/>
            <a:ext cx="1553040" cy="1383120"/>
          </a:xfrm>
          <a:prstGeom prst="curvedConnector3">
            <a:avLst>
              <a:gd name="adj1" fmla="val 121423"/>
            </a:avLst>
          </a:prstGeom>
          <a:ln w="57150">
            <a:solidFill>
              <a:srgbClr val="1f45ff"/>
            </a:solidFill>
            <a:round/>
            <a:headEnd len="med" type="oval" w="med"/>
            <a:tailEnd len="med" type="triangle" w="med"/>
          </a:ln>
        </p:spPr>
      </p:cxnSp>
      <p:cxnSp>
        <p:nvCxnSpPr>
          <p:cNvPr id="336" name="Curved Connector 15"/>
          <p:cNvCxnSpPr/>
          <p:nvPr/>
        </p:nvCxnSpPr>
        <p:spPr>
          <a:xfrm rot="10800000">
            <a:off x="5555520" y="1449000"/>
            <a:ext cx="4761000" cy="1575720"/>
          </a:xfrm>
          <a:prstGeom prst="curvedConnector3">
            <a:avLst>
              <a:gd name="adj1" fmla="val 24992"/>
            </a:avLst>
          </a:prstGeom>
          <a:ln w="57150">
            <a:solidFill>
              <a:srgbClr val="1f45ff"/>
            </a:solidFill>
            <a:round/>
            <a:headEnd len="med" type="oval" w="med"/>
            <a:tailEnd len="med" type="triangle" w="med"/>
          </a:ln>
        </p:spPr>
      </p:cxnSp>
      <p:pic>
        <p:nvPicPr>
          <p:cNvPr id="337" name="Picture 5" descr=""/>
          <p:cNvPicPr/>
          <p:nvPr/>
        </p:nvPicPr>
        <p:blipFill>
          <a:blip r:embed="rId1"/>
          <a:srcRect l="0" t="0" r="0" b="46787"/>
          <a:stretch/>
        </p:blipFill>
        <p:spPr>
          <a:xfrm>
            <a:off x="838080" y="1360080"/>
            <a:ext cx="3814920" cy="3039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1F3FF4-E227-4FEF-97CF-40A32775034B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 type="dt" idx="9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40" name="Table 9"/>
          <p:cNvGraphicFramePr/>
          <p:nvPr/>
        </p:nvGraphicFramePr>
        <p:xfrm>
          <a:off x="5622120" y="2885040"/>
          <a:ext cx="2152440" cy="149580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1" name="Table 11"/>
          <p:cNvGraphicFramePr/>
          <p:nvPr/>
        </p:nvGraphicFramePr>
        <p:xfrm>
          <a:off x="5622120" y="1377720"/>
          <a:ext cx="5976000" cy="473400"/>
        </p:xfrm>
        <a:graphic>
          <a:graphicData uri="http://schemas.openxmlformats.org/drawingml/2006/table">
            <a:tbl>
              <a:tblPr/>
              <a:tblGrid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42" name="TextBox 12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13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44" name="Table 14"/>
          <p:cNvGraphicFramePr/>
          <p:nvPr/>
        </p:nvGraphicFramePr>
        <p:xfrm>
          <a:off x="8763840" y="2880360"/>
          <a:ext cx="2152440" cy="137340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cxnSp>
        <p:nvCxnSpPr>
          <p:cNvPr id="345" name="Curved Connector 6"/>
          <p:cNvCxnSpPr>
            <a:endCxn id="341" idx="1"/>
          </p:cNvCxnSpPr>
          <p:nvPr/>
        </p:nvCxnSpPr>
        <p:spPr>
          <a:xfrm rot="10800000">
            <a:off x="5621760" y="1613880"/>
            <a:ext cx="1553040" cy="1383120"/>
          </a:xfrm>
          <a:prstGeom prst="curvedConnector3">
            <a:avLst>
              <a:gd name="adj1" fmla="val 121423"/>
            </a:avLst>
          </a:prstGeom>
          <a:ln w="57150">
            <a:solidFill>
              <a:srgbClr val="1f45ff"/>
            </a:solidFill>
            <a:round/>
            <a:headEnd len="med" type="oval" w="med"/>
            <a:tailEnd len="med" type="triangle" w="med"/>
          </a:ln>
        </p:spPr>
      </p:cxnSp>
      <p:cxnSp>
        <p:nvCxnSpPr>
          <p:cNvPr id="346" name="Curved Connector 15"/>
          <p:cNvCxnSpPr/>
          <p:nvPr/>
        </p:nvCxnSpPr>
        <p:spPr>
          <a:xfrm rot="10800000">
            <a:off x="5555520" y="1449000"/>
            <a:ext cx="4761000" cy="1575720"/>
          </a:xfrm>
          <a:prstGeom prst="curvedConnector3">
            <a:avLst>
              <a:gd name="adj1" fmla="val 24992"/>
            </a:avLst>
          </a:prstGeom>
          <a:ln w="57150">
            <a:solidFill>
              <a:srgbClr val="1f45ff"/>
            </a:solidFill>
            <a:round/>
            <a:headEnd len="med" type="oval" w="med"/>
            <a:tailEnd len="med" type="triangle" w="med"/>
          </a:ln>
        </p:spPr>
      </p:cxnSp>
      <p:pic>
        <p:nvPicPr>
          <p:cNvPr id="347" name="Picture 5" descr=""/>
          <p:cNvPicPr/>
          <p:nvPr/>
        </p:nvPicPr>
        <p:blipFill>
          <a:blip r:embed="rId1"/>
          <a:srcRect l="0" t="54652" r="0" b="39274"/>
          <a:stretch/>
        </p:blipFill>
        <p:spPr>
          <a:xfrm>
            <a:off x="838080" y="1377720"/>
            <a:ext cx="3814920" cy="3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AE65189-9B10-461A-A3C8-43ADCBFFE169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Changing one view changes them all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 type="dt" idx="9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50" name="Table 9"/>
          <p:cNvGraphicFramePr/>
          <p:nvPr/>
        </p:nvGraphicFramePr>
        <p:xfrm>
          <a:off x="5622120" y="2885040"/>
          <a:ext cx="2152440" cy="149580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(4, 3)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20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(24, 8)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1" name="Table 11"/>
          <p:cNvGraphicFramePr/>
          <p:nvPr/>
        </p:nvGraphicFramePr>
        <p:xfrm>
          <a:off x="5622120" y="1377720"/>
          <a:ext cx="5976000" cy="473400"/>
        </p:xfrm>
        <a:graphic>
          <a:graphicData uri="http://schemas.openxmlformats.org/drawingml/2006/table">
            <a:tbl>
              <a:tblPr/>
              <a:tblGrid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  <a:gridCol w="45972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ff0000"/>
                          </a:solidFill>
                          <a:effectLst/>
                          <a:uFillTx/>
                          <a:latin typeface="Calibri"/>
                        </a:rPr>
                        <a:t>13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9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2" name="Table 14"/>
          <p:cNvGraphicFramePr/>
          <p:nvPr/>
        </p:nvGraphicFramePr>
        <p:xfrm>
          <a:off x="8763840" y="2880360"/>
          <a:ext cx="2152440" cy="149580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data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endParaRPr b="0" lang="en-CH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Consolas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(3, 4)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(8, 24)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cxnSp>
        <p:nvCxnSpPr>
          <p:cNvPr id="353" name="Curved Connector 6"/>
          <p:cNvCxnSpPr>
            <a:endCxn id="351" idx="1"/>
          </p:cNvCxnSpPr>
          <p:nvPr/>
        </p:nvCxnSpPr>
        <p:spPr>
          <a:xfrm rot="10800000">
            <a:off x="5621760" y="1613880"/>
            <a:ext cx="1553040" cy="1383120"/>
          </a:xfrm>
          <a:prstGeom prst="curvedConnector3">
            <a:avLst>
              <a:gd name="adj1" fmla="val 121423"/>
            </a:avLst>
          </a:prstGeom>
          <a:ln w="57150">
            <a:solidFill>
              <a:srgbClr val="1f45ff"/>
            </a:solidFill>
            <a:round/>
            <a:headEnd len="med" type="oval" w="med"/>
            <a:tailEnd len="med" type="triangle" w="med"/>
          </a:ln>
        </p:spPr>
      </p:cxnSp>
      <p:cxnSp>
        <p:nvCxnSpPr>
          <p:cNvPr id="354" name="Curved Connector 15"/>
          <p:cNvCxnSpPr/>
          <p:nvPr/>
        </p:nvCxnSpPr>
        <p:spPr>
          <a:xfrm rot="10800000">
            <a:off x="5555520" y="1449000"/>
            <a:ext cx="4761000" cy="1575720"/>
          </a:xfrm>
          <a:prstGeom prst="curvedConnector3">
            <a:avLst>
              <a:gd name="adj1" fmla="val 24992"/>
            </a:avLst>
          </a:prstGeom>
          <a:ln w="57150">
            <a:solidFill>
              <a:srgbClr val="1f45ff"/>
            </a:solidFill>
            <a:round/>
            <a:headEnd len="med" type="oval" w="med"/>
            <a:tailEnd len="med" type="triangle" w="med"/>
          </a:ln>
        </p:spPr>
      </p:cxnSp>
      <p:sp>
        <p:nvSpPr>
          <p:cNvPr id="355" name="TextBox 5"/>
          <p:cNvSpPr/>
          <p:nvPr/>
        </p:nvSpPr>
        <p:spPr>
          <a:xfrm>
            <a:off x="6428880" y="428544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x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7"/>
          <p:cNvSpPr/>
          <p:nvPr/>
        </p:nvSpPr>
        <p:spPr>
          <a:xfrm>
            <a:off x="9588240" y="4309200"/>
            <a:ext cx="5032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y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57" name="Picture 16" descr=""/>
          <p:cNvPicPr/>
          <p:nvPr/>
        </p:nvPicPr>
        <p:blipFill>
          <a:blip r:embed="rId1"/>
          <a:srcRect l="0" t="54652" r="0" b="-771"/>
          <a:stretch/>
        </p:blipFill>
        <p:spPr>
          <a:xfrm>
            <a:off x="838080" y="1377720"/>
            <a:ext cx="3814920" cy="277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655F535-ACA4-4F1F-903A-1286A96F4D5A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 type="dt" idx="9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0" name="Picture 10" descr=""/>
          <p:cNvPicPr/>
          <p:nvPr/>
        </p:nvPicPr>
        <p:blipFill>
          <a:blip r:embed="rId1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E75DE1-221D-4D0A-92EB-9612DF80BEE2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 type="dt" idx="9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3" name="Picture 10" descr=""/>
          <p:cNvPicPr/>
          <p:nvPr/>
        </p:nvPicPr>
        <p:blipFill>
          <a:blip r:embed="rId1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64" name="Picture 12" descr=""/>
          <p:cNvPicPr/>
          <p:nvPr/>
        </p:nvPicPr>
        <p:blipFill>
          <a:blip r:embed="rId2"/>
          <a:stretch/>
        </p:blipFill>
        <p:spPr>
          <a:xfrm>
            <a:off x="1485360" y="2890800"/>
            <a:ext cx="7922160" cy="352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99CFFA-D9D0-4205-B685-590D02321AC2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 type="dt" idx="9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TextBox 6"/>
          <p:cNvSpPr/>
          <p:nvPr/>
        </p:nvSpPr>
        <p:spPr>
          <a:xfrm>
            <a:off x="7143840" y="4614120"/>
            <a:ext cx="51130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input array has been modified!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7"/>
          <p:cNvSpPr/>
          <p:nvPr/>
        </p:nvSpPr>
        <p:spPr>
          <a:xfrm>
            <a:off x="7143840" y="5075640"/>
            <a:ext cx="41140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… and so have all other views of the same data!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Left Arrow 8"/>
          <p:cNvSpPr/>
          <p:nvPr/>
        </p:nvSpPr>
        <p:spPr>
          <a:xfrm>
            <a:off x="6207840" y="46861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pic>
        <p:nvPicPr>
          <p:cNvPr id="370" name="Picture 10" descr=""/>
          <p:cNvPicPr/>
          <p:nvPr/>
        </p:nvPicPr>
        <p:blipFill>
          <a:blip r:embed="rId1"/>
          <a:stretch/>
        </p:blipFill>
        <p:spPr>
          <a:xfrm>
            <a:off x="1458720" y="2925000"/>
            <a:ext cx="4240800" cy="3178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71" name="Picture 12" descr=""/>
          <p:cNvPicPr/>
          <p:nvPr/>
        </p:nvPicPr>
        <p:blipFill>
          <a:blip r:embed="rId2"/>
          <a:stretch/>
        </p:blipFill>
        <p:spPr>
          <a:xfrm>
            <a:off x="983520" y="1196640"/>
            <a:ext cx="7771680" cy="159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2" name="Left Arrow 13"/>
          <p:cNvSpPr/>
          <p:nvPr/>
        </p:nvSpPr>
        <p:spPr>
          <a:xfrm>
            <a:off x="6207840" y="533232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0244D2-0019-47FE-881C-AAE79716CC0E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3" name="Picture 5" descr=""/>
          <p:cNvPicPr/>
          <p:nvPr/>
        </p:nvPicPr>
        <p:blipFill>
          <a:blip r:embed="rId1"/>
          <a:stretch/>
        </p:blipFill>
        <p:spPr>
          <a:xfrm>
            <a:off x="1847520" y="2495880"/>
            <a:ext cx="7771680" cy="179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Careful with your functions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PlaceHolder 2"/>
          <p:cNvSpPr>
            <a:spLocks noGrp="1"/>
          </p:cNvSpPr>
          <p:nvPr>
            <p:ph type="dt" idx="9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Left Arrow 9"/>
          <p:cNvSpPr/>
          <p:nvPr/>
        </p:nvSpPr>
        <p:spPr>
          <a:xfrm>
            <a:off x="3719880" y="3576960"/>
            <a:ext cx="791280" cy="316800"/>
          </a:xfrm>
          <a:prstGeom prst="lef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377" name="TextBox 11"/>
          <p:cNvSpPr/>
          <p:nvPr/>
        </p:nvSpPr>
        <p:spPr>
          <a:xfrm>
            <a:off x="910800" y="1352520"/>
            <a:ext cx="9361080" cy="69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Best practice: functions that take an array as an input should avoid modifying it in place!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Always make a copy or be super extra clear in the docstring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3D8163-AC71-44FC-937A-80509FA2A130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NumPy views and copies summary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 type="dt" idx="9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Content Placeholder 2"/>
          <p:cNvSpPr/>
          <p:nvPr/>
        </p:nvSpPr>
        <p:spPr>
          <a:xfrm>
            <a:off x="838080" y="1430640"/>
            <a:ext cx="10514880" cy="45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lnSpcReduction="9999"/>
          </a:bodyPr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3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View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64920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There can be multiple views of the same memory block, interpreted as different arrays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64920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Slicing returns a view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64920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In-place operations on a view modify the memory block </a:t>
            </a:r>
            <a:br>
              <a:rPr sz="2600"/>
            </a:b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and all of its views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3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Copy</a:t>
            </a:r>
            <a:endParaRPr b="0" lang="en-U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64920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When a copy of an array needs to be created, it allocates a separate memory block and associates it with new metadata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64920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Fancy indexing always returns copies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64920" indent="-221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copy can be forced with .copy()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43160">
              <a:lnSpc>
                <a:spcPct val="90000"/>
              </a:lnSpc>
              <a:spcBef>
                <a:spcPts val="499"/>
              </a:spcBef>
              <a:tabLst>
                <a:tab algn="l" pos="0"/>
              </a:tabLst>
            </a:pP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96CCDE1-211A-4993-8E38-F59BE1C2D2AF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PlaceHolder 2"/>
          <p:cNvSpPr>
            <a:spLocks noGrp="1"/>
          </p:cNvSpPr>
          <p:nvPr>
            <p:ph type="dt" idx="10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83" name="Table 6"/>
          <p:cNvGraphicFramePr/>
          <p:nvPr/>
        </p:nvGraphicFramePr>
        <p:xfrm>
          <a:off x="702720" y="2066400"/>
          <a:ext cx="4406040" cy="473400"/>
        </p:xfrm>
        <a:graphic>
          <a:graphicData uri="http://schemas.openxmlformats.org/drawingml/2006/table">
            <a:tbl>
              <a:tblPr/>
              <a:tblGrid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84" name="TextBox 7"/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9"/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6" name="Table 10"/>
          <p:cNvGraphicFramePr/>
          <p:nvPr/>
        </p:nvGraphicFramePr>
        <p:xfrm>
          <a:off x="711720" y="321300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b="1" lang="en-CH" sz="1200" strike="noStrike" u="non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387" name="TextBox 18"/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88" name="Straight Arrow Connector 20"/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sp>
        <p:nvSpPr>
          <p:cNvPr id="389" name="TextBox 23"/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90" name="Straight Arrow Connector 24"/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E55838D-478B-4A4B-820B-57616DA85180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A special kind of view: broadcasting operations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2"/>
          <p:cNvSpPr>
            <a:spLocks noGrp="1"/>
          </p:cNvSpPr>
          <p:nvPr>
            <p:ph type="dt" idx="10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393" name="Table 6"/>
          <p:cNvGraphicFramePr/>
          <p:nvPr/>
        </p:nvGraphicFramePr>
        <p:xfrm>
          <a:off x="702720" y="2066400"/>
          <a:ext cx="4406040" cy="473400"/>
        </p:xfrm>
        <a:graphic>
          <a:graphicData uri="http://schemas.openxmlformats.org/drawingml/2006/table">
            <a:tbl>
              <a:tblPr/>
              <a:tblGrid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  <a:gridCol w="489600"/>
              </a:tblGrid>
              <a:tr h="47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8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94" name="TextBox 7"/>
          <p:cNvSpPr/>
          <p:nvPr/>
        </p:nvSpPr>
        <p:spPr>
          <a:xfrm>
            <a:off x="551520" y="163620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Memory block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8"/>
          <p:cNvSpPr/>
          <p:nvPr/>
        </p:nvSpPr>
        <p:spPr>
          <a:xfrm>
            <a:off x="6879240" y="2707560"/>
            <a:ext cx="194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uFillTx/>
                <a:latin typeface="Calibri"/>
                <a:ea typeface="DejaVu Sans"/>
              </a:rPr>
              <a:t>NumPy view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9"/>
          <p:cNvSpPr/>
          <p:nvPr/>
        </p:nvSpPr>
        <p:spPr>
          <a:xfrm>
            <a:off x="551520" y="2814120"/>
            <a:ext cx="2591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trike="noStrike" u="none">
                <a:solidFill>
                  <a:srgbClr val="808080"/>
                </a:solidFill>
                <a:effectLst/>
                <a:uFillTx/>
                <a:latin typeface="Calibri"/>
                <a:ea typeface="DejaVu Sans"/>
              </a:rPr>
              <a:t>NumPy array metadata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7" name="Table 10"/>
          <p:cNvGraphicFramePr/>
          <p:nvPr/>
        </p:nvGraphicFramePr>
        <p:xfrm>
          <a:off x="711720" y="3213000"/>
          <a:ext cx="2152440" cy="1098720"/>
        </p:xfrm>
        <a:graphic>
          <a:graphicData uri="http://schemas.openxmlformats.org/drawingml/2006/table">
            <a:tbl>
              <a:tblPr/>
              <a:tblGrid>
                <a:gridCol w="1076400"/>
                <a:gridCol w="1076400"/>
              </a:tblGrid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dtype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int64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ndim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2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732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shape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(4, 9)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  <a:tr h="2599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strides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</a:t>
                      </a:r>
                      <a:r>
                        <a:rPr b="1" lang="en-CH" sz="1200" strike="noStrike" u="none">
                          <a:solidFill>
                            <a:srgbClr val="ff0000"/>
                          </a:solidFill>
                          <a:effectLst/>
                          <a:uFillTx/>
                          <a:latin typeface="Consolas"/>
                        </a:rPr>
                        <a:t>0</a:t>
                      </a:r>
                      <a:r>
                        <a:rPr b="0" lang="en-CH" sz="12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, 8)</a:t>
                      </a:r>
                      <a:endParaRPr b="0" lang="en-US" sz="12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98" name="Table 11"/>
          <p:cNvGraphicFramePr/>
          <p:nvPr/>
        </p:nvGraphicFramePr>
        <p:xfrm>
          <a:off x="7032240" y="3105720"/>
          <a:ext cx="3958920" cy="1461600"/>
        </p:xfrm>
        <a:graphic>
          <a:graphicData uri="http://schemas.openxmlformats.org/drawingml/2006/table">
            <a:tbl>
              <a:tblPr/>
              <a:tblGrid>
                <a:gridCol w="439920"/>
                <a:gridCol w="439920"/>
                <a:gridCol w="439920"/>
                <a:gridCol w="439920"/>
                <a:gridCol w="439920"/>
                <a:gridCol w="439920"/>
                <a:gridCol w="439920"/>
                <a:gridCol w="439920"/>
                <a:gridCol w="439920"/>
              </a:tblGrid>
              <a:tr h="3654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4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4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  <a:tr h="365400"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0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1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2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3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4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5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6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7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 lIns="111600" rIns="11160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1" lang="en-CH" sz="16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</a:rPr>
                        <a:t>8</a:t>
                      </a:r>
                      <a:endParaRPr b="0" lang="en-US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1600" marR="1116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99" name="TextBox 18"/>
          <p:cNvSpPr/>
          <p:nvPr/>
        </p:nvSpPr>
        <p:spPr>
          <a:xfrm>
            <a:off x="3436560" y="4755600"/>
            <a:ext cx="215964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 stride of 0 means that for each new row, we don’t move in memory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0" name="Straight Arrow Connector 20"/>
          <p:cNvCxnSpPr/>
          <p:nvPr/>
        </p:nvCxnSpPr>
        <p:spPr>
          <a:xfrm flipH="1" flipV="1">
            <a:off x="1991520" y="4251960"/>
            <a:ext cx="1306080" cy="90576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sp>
        <p:nvSpPr>
          <p:cNvPr id="401" name="TextBox 22"/>
          <p:cNvSpPr/>
          <p:nvPr/>
        </p:nvSpPr>
        <p:spPr>
          <a:xfrm>
            <a:off x="7356240" y="1539720"/>
            <a:ext cx="3311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As a result, we obtain a view with duplicated rows, without using extra memory!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23"/>
          <p:cNvSpPr/>
          <p:nvPr/>
        </p:nvSpPr>
        <p:spPr>
          <a:xfrm>
            <a:off x="3423240" y="3156840"/>
            <a:ext cx="21596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The shape says we have 4 rows and 9 columns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03" name="Straight Arrow Connector 24"/>
          <p:cNvCxnSpPr/>
          <p:nvPr/>
        </p:nvCxnSpPr>
        <p:spPr>
          <a:xfrm flipH="1">
            <a:off x="2495520" y="3573000"/>
            <a:ext cx="792720" cy="264240"/>
          </a:xfrm>
          <a:prstGeom prst="straightConnector1">
            <a:avLst/>
          </a:prstGeom>
          <a:ln w="0">
            <a:solidFill>
              <a:srgbClr val="000000"/>
            </a:solidFill>
            <a:tailEnd len="med" type="triangle" w="med"/>
          </a:ln>
        </p:spPr>
      </p:cxnSp>
      <p:sp>
        <p:nvSpPr>
          <p:cNvPr id="404" name="Rectangle 2"/>
          <p:cNvSpPr/>
          <p:nvPr/>
        </p:nvSpPr>
        <p:spPr>
          <a:xfrm>
            <a:off x="6879240" y="3482280"/>
            <a:ext cx="4256640" cy="1272600"/>
          </a:xfrm>
          <a:prstGeom prst="rect">
            <a:avLst/>
          </a:prstGeom>
          <a:solidFill>
            <a:schemeClr val="accent5">
              <a:lumMod val="60000"/>
              <a:lumOff val="40000"/>
              <a:alpha val="79000"/>
            </a:schemeClr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effectLst/>
              <a:uFillTx/>
              <a:latin typeface="Calibri"/>
              <a:ea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2F3B2C-D770-4D6C-AA49-8799C2E506E6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32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NumPy uses broadcasting to perform operation on arrays of different shape without having to allocate extra memory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2"/>
          <p:cNvSpPr>
            <a:spLocks noGrp="1"/>
          </p:cNvSpPr>
          <p:nvPr>
            <p:ph type="dt" idx="10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Picture 6" descr=""/>
          <p:cNvPicPr/>
          <p:nvPr/>
        </p:nvPicPr>
        <p:blipFill>
          <a:blip r:embed="rId1"/>
          <a:stretch/>
        </p:blipFill>
        <p:spPr>
          <a:xfrm>
            <a:off x="2487240" y="1460880"/>
            <a:ext cx="7216920" cy="439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478CB6D-29F1-419E-B4D2-F900FCA74414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32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Broadcasting matching rule: dimensions are aligned to the right and match if they are equal, or equal to 1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2"/>
          <p:cNvSpPr>
            <a:spLocks noGrp="1"/>
          </p:cNvSpPr>
          <p:nvPr>
            <p:ph type="dt" idx="10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0" name="Picture 6" descr=""/>
          <p:cNvPicPr/>
          <p:nvPr/>
        </p:nvPicPr>
        <p:blipFill>
          <a:blip r:embed="rId1"/>
          <a:stretch/>
        </p:blipFill>
        <p:spPr>
          <a:xfrm>
            <a:off x="1532160" y="1715400"/>
            <a:ext cx="6388560" cy="388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1" name="TextBox 5"/>
          <p:cNvSpPr/>
          <p:nvPr/>
        </p:nvSpPr>
        <p:spPr>
          <a:xfrm>
            <a:off x="8400240" y="4797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b="1" lang="en-US" sz="1800" strike="noStrike" u="non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b="1" lang="en-US" sz="1800" strike="noStrike" u="non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b="0" lang="en-US" sz="1800" strike="noStrike" u="non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Box 12"/>
          <p:cNvSpPr/>
          <p:nvPr/>
        </p:nvSpPr>
        <p:spPr>
          <a:xfrm>
            <a:off x="1893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3" name="TextBox 13"/>
          <p:cNvSpPr/>
          <p:nvPr/>
        </p:nvSpPr>
        <p:spPr>
          <a:xfrm>
            <a:off x="3189600" y="156168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Box 14"/>
          <p:cNvSpPr/>
          <p:nvPr/>
        </p:nvSpPr>
        <p:spPr>
          <a:xfrm>
            <a:off x="1915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Box 15"/>
          <p:cNvSpPr/>
          <p:nvPr/>
        </p:nvSpPr>
        <p:spPr>
          <a:xfrm>
            <a:off x="3211920" y="2925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16"/>
          <p:cNvSpPr/>
          <p:nvPr/>
        </p:nvSpPr>
        <p:spPr>
          <a:xfrm>
            <a:off x="1915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(4, 1)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17"/>
          <p:cNvSpPr/>
          <p:nvPr/>
        </p:nvSpPr>
        <p:spPr>
          <a:xfrm>
            <a:off x="3211920" y="4221000"/>
            <a:ext cx="814320" cy="30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(1, 3)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19"/>
          <p:cNvSpPr/>
          <p:nvPr/>
        </p:nvSpPr>
        <p:spPr>
          <a:xfrm>
            <a:off x="8374320" y="2223720"/>
            <a:ext cx="2424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 3) + (4, 3) -&gt; (4, 3)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21"/>
          <p:cNvSpPr/>
          <p:nvPr/>
        </p:nvSpPr>
        <p:spPr>
          <a:xfrm>
            <a:off x="8400240" y="3503880"/>
            <a:ext cx="23986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+ 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 -&gt; 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3)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BEE1ECC-DB65-448C-ADB7-30D1E75B8C45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32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You can always add a new dimensions to make things match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2"/>
          <p:cNvSpPr>
            <a:spLocks noGrp="1"/>
          </p:cNvSpPr>
          <p:nvPr>
            <p:ph type="dt" idx="10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TextBox 11"/>
          <p:cNvSpPr/>
          <p:nvPr/>
        </p:nvSpPr>
        <p:spPr>
          <a:xfrm>
            <a:off x="2218680" y="1598040"/>
            <a:ext cx="38811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= np.array([0, 10, 20, 30])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Box 18"/>
          <p:cNvSpPr/>
          <p:nvPr/>
        </p:nvSpPr>
        <p:spPr>
          <a:xfrm>
            <a:off x="2218680" y="1883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 = np.array([0, 2, 3])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Box 20"/>
          <p:cNvSpPr/>
          <p:nvPr/>
        </p:nvSpPr>
        <p:spPr>
          <a:xfrm>
            <a:off x="7468920" y="159804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(4,)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5" name="TextBox 22"/>
          <p:cNvSpPr/>
          <p:nvPr/>
        </p:nvSpPr>
        <p:spPr>
          <a:xfrm>
            <a:off x="7468920" y="190800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(3,)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TextBox 23"/>
          <p:cNvSpPr/>
          <p:nvPr/>
        </p:nvSpPr>
        <p:spPr>
          <a:xfrm>
            <a:off x="2218680" y="2315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+ b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Box 25"/>
          <p:cNvSpPr/>
          <p:nvPr/>
        </p:nvSpPr>
        <p:spPr>
          <a:xfrm>
            <a:off x="7468920" y="231552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(4,) + (3,) -&gt; ERROR!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28" name="Picture 26" descr=""/>
          <p:cNvPicPr/>
          <p:nvPr/>
        </p:nvPicPr>
        <p:blipFill>
          <a:blip r:embed="rId1"/>
          <a:stretch/>
        </p:blipFill>
        <p:spPr>
          <a:xfrm>
            <a:off x="2322000" y="2624040"/>
            <a:ext cx="5257080" cy="921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01691DC-6FE0-4B51-9618-21BB4EB54CCC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32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You can always add a new dimensions to make things match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 type="dt" idx="10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TextBox 5"/>
          <p:cNvSpPr/>
          <p:nvPr/>
        </p:nvSpPr>
        <p:spPr>
          <a:xfrm>
            <a:off x="7464240" y="401796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b="1" lang="en-US" sz="1800" strike="noStrike" u="non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b="1" lang="en-US" sz="1800" strike="noStrike" u="non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b="0" lang="en-US" sz="1800" strike="noStrike" u="non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Box 11"/>
          <p:cNvSpPr/>
          <p:nvPr/>
        </p:nvSpPr>
        <p:spPr>
          <a:xfrm>
            <a:off x="2218680" y="1598040"/>
            <a:ext cx="38811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 = np.array([0, 10, 20, 30])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TextBox 18"/>
          <p:cNvSpPr/>
          <p:nvPr/>
        </p:nvSpPr>
        <p:spPr>
          <a:xfrm>
            <a:off x="2218680" y="1883520"/>
            <a:ext cx="3881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 = np.array([0, 2, 3])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Box 20"/>
          <p:cNvSpPr/>
          <p:nvPr/>
        </p:nvSpPr>
        <p:spPr>
          <a:xfrm>
            <a:off x="7468920" y="159804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(4,)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Box 22"/>
          <p:cNvSpPr/>
          <p:nvPr/>
        </p:nvSpPr>
        <p:spPr>
          <a:xfrm>
            <a:off x="7468920" y="1908000"/>
            <a:ext cx="15112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1D shape: (3,)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Box 28"/>
          <p:cNvSpPr/>
          <p:nvPr/>
        </p:nvSpPr>
        <p:spPr>
          <a:xfrm>
            <a:off x="2218680" y="311976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Box 9"/>
          <p:cNvSpPr/>
          <p:nvPr/>
        </p:nvSpPr>
        <p:spPr>
          <a:xfrm>
            <a:off x="2016000" y="2668320"/>
            <a:ext cx="59504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Add an extra dimension using np.newaxis to align them: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Box 10"/>
          <p:cNvSpPr/>
          <p:nvPr/>
        </p:nvSpPr>
        <p:spPr>
          <a:xfrm>
            <a:off x="7464240" y="3195720"/>
            <a:ext cx="1804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2D shape: (4, 1)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Box 12"/>
          <p:cNvSpPr/>
          <p:nvPr/>
        </p:nvSpPr>
        <p:spPr>
          <a:xfrm>
            <a:off x="2218680" y="344700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b[np.newaxis, :]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Box 13"/>
          <p:cNvSpPr/>
          <p:nvPr/>
        </p:nvSpPr>
        <p:spPr>
          <a:xfrm>
            <a:off x="7464240" y="3506040"/>
            <a:ext cx="18043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2D shape: (1, 3)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15"/>
          <p:cNvSpPr/>
          <p:nvPr/>
        </p:nvSpPr>
        <p:spPr>
          <a:xfrm>
            <a:off x="2218680" y="401796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 + b[np.newaxis, :]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6"/>
          <p:cNvSpPr/>
          <p:nvPr/>
        </p:nvSpPr>
        <p:spPr>
          <a:xfrm>
            <a:off x="2007720" y="4797000"/>
            <a:ext cx="313560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This also works (align right!):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7"/>
          <p:cNvSpPr/>
          <p:nvPr/>
        </p:nvSpPr>
        <p:spPr>
          <a:xfrm>
            <a:off x="7464240" y="5175000"/>
            <a:ext cx="26636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b="1" lang="en-US" sz="1800" strike="noStrike" u="non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1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+ (</a:t>
            </a:r>
            <a:r>
              <a:rPr b="1" lang="en-US" sz="1800" strike="noStrike" u="non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3,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 -&gt; (</a:t>
            </a:r>
            <a:r>
              <a:rPr b="1" lang="en-US" sz="1800" strike="noStrike" u="none">
                <a:solidFill>
                  <a:srgbClr val="ff0000"/>
                </a:solidFill>
                <a:effectLst/>
                <a:uFillTx/>
                <a:latin typeface="Calibri"/>
                <a:ea typeface="DejaVu Sans"/>
              </a:rPr>
              <a:t>4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, </a:t>
            </a:r>
            <a:r>
              <a:rPr b="0" lang="en-US" sz="1800" strike="noStrike" u="none">
                <a:solidFill>
                  <a:srgbClr val="00b050"/>
                </a:solidFill>
                <a:effectLst/>
                <a:uFillTx/>
                <a:latin typeface="Calibri"/>
                <a:ea typeface="DejaVu Sans"/>
              </a:rPr>
              <a:t>3</a:t>
            </a: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)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Box 8"/>
          <p:cNvSpPr/>
          <p:nvPr/>
        </p:nvSpPr>
        <p:spPr>
          <a:xfrm>
            <a:off x="2218680" y="5175000"/>
            <a:ext cx="60966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Consolas"/>
                <a:ea typeface="DejaVu Sans"/>
              </a:rPr>
              <a:t>a[:, np.newaxis] + b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41C600BD-DA0B-40B2-AFA0-DE7FA5659519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554508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5000" lnSpcReduction="9999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4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Broadcasting summary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/>
          </p:nvPr>
        </p:nvSpPr>
        <p:spPr>
          <a:xfrm>
            <a:off x="767520" y="1845000"/>
            <a:ext cx="1051488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lnSpcReduction="9999"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Broadcasting creates a view, and is an O(1) operation that does not require extra memory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8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Rules of broadcasting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en-GB" sz="2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1: </a:t>
            </a:r>
            <a:r>
              <a:rPr b="0" lang="en-GB" sz="2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If the two arrays differ in their number of dimensions, the shape of the one with fewer dimensions is </a:t>
            </a:r>
            <a:r>
              <a:rPr b="0" i="1" lang="en-GB" sz="2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padded</a:t>
            </a:r>
            <a:r>
              <a:rPr b="0" lang="en-GB" sz="2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 with ones on its leading (left) side.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en-GB" sz="2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2: </a:t>
            </a:r>
            <a:r>
              <a:rPr b="0" lang="en-GB" sz="2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If the shape of the two arrays does not match in any dimension, the array with shape equal to 1 in that dimension is stretched to match the other shape.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1" lang="en-GB" sz="2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3: </a:t>
            </a:r>
            <a:r>
              <a:rPr b="0" lang="en-GB" sz="2400" strike="noStrike" u="non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Source Sans Pro"/>
              </a:rPr>
              <a:t>If in any dimension the sizes disagree and neither is equal to 1, an error is raised.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dt" idx="10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448" name="Group 12"/>
          <p:cNvGrpSpPr/>
          <p:nvPr/>
        </p:nvGrpSpPr>
        <p:grpSpPr>
          <a:xfrm>
            <a:off x="6744240" y="297000"/>
            <a:ext cx="5114520" cy="1039320"/>
            <a:chOff x="6744240" y="297000"/>
            <a:chExt cx="5114520" cy="1039320"/>
          </a:xfrm>
        </p:grpSpPr>
        <p:sp>
          <p:nvSpPr>
            <p:cNvPr id="449" name="Rectangle 13"/>
            <p:cNvSpPr/>
            <p:nvPr/>
          </p:nvSpPr>
          <p:spPr>
            <a:xfrm>
              <a:off x="6744240" y="346680"/>
              <a:ext cx="5114520" cy="98964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38100">
              <a:solidFill>
                <a:srgbClr val="0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DE" sz="1800" strike="noStrike" u="none">
                <a:solidFill>
                  <a:srgbClr val="000000"/>
                </a:solidFill>
                <a:effectLst/>
                <a:uFillTx/>
                <a:latin typeface="Courier New"/>
                <a:ea typeface="DejaVu Sans"/>
              </a:endParaRPr>
            </a:p>
          </p:txBody>
        </p:sp>
        <p:sp>
          <p:nvSpPr>
            <p:cNvPr id="450" name="TextBox 14"/>
            <p:cNvSpPr/>
            <p:nvPr/>
          </p:nvSpPr>
          <p:spPr>
            <a:xfrm>
              <a:off x="7305120" y="297000"/>
              <a:ext cx="2004480" cy="36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1" lang="en-DE" sz="1800" strike="noStrike" u="non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</a:t>
              </a: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451" name="Graphic 15" descr=""/>
            <p:cNvPicPr/>
            <p:nvPr/>
          </p:nvPicPr>
          <p:blipFill>
            <a:blip r:embed="rId1"/>
            <a:stretch/>
          </p:blipFill>
          <p:spPr>
            <a:xfrm>
              <a:off x="6791400" y="346320"/>
              <a:ext cx="781920" cy="5547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52" name="TextBox 16"/>
            <p:cNvSpPr/>
            <p:nvPr/>
          </p:nvSpPr>
          <p:spPr>
            <a:xfrm>
              <a:off x="8066880" y="623520"/>
              <a:ext cx="3429000" cy="515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 algn="ctr">
                <a:lnSpc>
                  <a:spcPct val="100000"/>
                </a:lnSpc>
              </a:pPr>
              <a:r>
                <a:rPr b="0" lang="en-GB" sz="1400" strike="noStrike" u="non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exercises/numpy_broadcasting/</a:t>
              </a:r>
              <a:br>
                <a:rPr sz="1400"/>
              </a:br>
              <a:r>
                <a:rPr b="0" lang="en-GB" sz="1400" strike="noStrike" u="none">
                  <a:solidFill>
                    <a:srgbClr val="000000"/>
                  </a:solidFill>
                  <a:effectLst/>
                  <a:uFillTx/>
                  <a:latin typeface="Courier New"/>
                  <a:ea typeface="DejaVu Sans"/>
                </a:rPr>
                <a:t>broadcasting.ipynb</a:t>
              </a: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538482A-6963-4E5D-BAE3-9E7D13F699B7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Up next: Tabular Data</a:t>
            </a:r>
            <a:endParaRPr b="0" lang="en-US" sz="5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dt" idx="10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A0537E-BE5F-42F2-8351-7C85BB3EC8C0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76B896-38EE-445A-B914-7F33F8C50F9D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4880" cy="90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Calibri Light"/>
              </a:rPr>
              <a:t>Fancy indexing in NumPy – reference slide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Sept 2025, CC BY-SA 4.0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9" name="Picture 7" descr="A diagram of a number&#10;&#10;Description automatically generated with medium confidence"/>
          <p:cNvPicPr/>
          <p:nvPr/>
        </p:nvPicPr>
        <p:blipFill>
          <a:blip r:embed="rId1"/>
          <a:stretch/>
        </p:blipFill>
        <p:spPr>
          <a:xfrm>
            <a:off x="4003560" y="1012320"/>
            <a:ext cx="7018920" cy="5355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0" name="TextBox 4"/>
          <p:cNvSpPr/>
          <p:nvPr/>
        </p:nvSpPr>
        <p:spPr>
          <a:xfrm>
            <a:off x="432000" y="3551040"/>
            <a:ext cx="2963880" cy="516600"/>
          </a:xfrm>
          <a:prstGeom prst="rect">
            <a:avLst/>
          </a:prstGeom>
          <a:noFill/>
          <a:ln w="0">
            <a:solidFill>
              <a:srgbClr val="d8c7ee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Calibri"/>
                <a:ea typeface="DejaVu Sans"/>
              </a:rPr>
              <a:t>A[[2, 2, 1], [2, 0, 0]]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Data, v2.0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482120C-8670-44DA-BA7B-A928B373E3C6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157368</TotalTime>
  <Application>LibreOffice/25.2.3.2$Linux_X86_64 LibreOffice_project/520$Build-2</Application>
  <AppVersion>15.0000</AppVersion>
  <Words>3362</Words>
  <Paragraphs>896</Paragraphs>
  <Company>University of Pennsylvania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2010-10-01T16:09:12Z</dcterms:created>
  <dc:creator>Pietro Berkes</dc:creator>
  <dc:description/>
  <dc:language>en-GB</dc:language>
  <cp:lastModifiedBy/>
  <cp:lastPrinted>2017-08-28T05:46:03Z</cp:lastPrinted>
  <dcterms:modified xsi:type="dcterms:W3CDTF">2025-09-22T15:56:20Z</dcterms:modified>
  <cp:revision>1594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12</vt:i4>
  </property>
  <property fmtid="{D5CDD505-2E9C-101B-9397-08002B2CF9AE}" pid="3" name="PresentationFormat">
    <vt:lpwstr>Widescreen</vt:lpwstr>
  </property>
  <property fmtid="{D5CDD505-2E9C-101B-9397-08002B2CF9AE}" pid="4" name="Slides">
    <vt:i4>33</vt:i4>
  </property>
</Properties>
</file>