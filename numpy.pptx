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4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89" r:id="rId18"/>
    <p:sldId id="295" r:id="rId19"/>
    <p:sldId id="305" r:id="rId20"/>
    <p:sldId id="304" r:id="rId21"/>
    <p:sldId id="303" r:id="rId22"/>
    <p:sldId id="302" r:id="rId23"/>
    <p:sldId id="298" r:id="rId24"/>
    <p:sldId id="271" r:id="rId25"/>
    <p:sldId id="272" r:id="rId26"/>
    <p:sldId id="273" r:id="rId27"/>
    <p:sldId id="300" r:id="rId28"/>
    <p:sldId id="301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A9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2"/>
    <p:restoredTop sz="94653"/>
  </p:normalViewPr>
  <p:slideViewPr>
    <p:cSldViewPr snapToGrid="0">
      <p:cViewPr varScale="1">
        <p:scale>
          <a:sx n="128" d="100"/>
          <a:sy n="128" d="100"/>
        </p:scale>
        <p:origin x="208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14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146" name="PlaceHolder 4"/>
          <p:cNvSpPr>
            <a:spLocks noGrp="1"/>
          </p:cNvSpPr>
          <p:nvPr>
            <p:ph type="dt" idx="73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47" name="PlaceHolder 5"/>
          <p:cNvSpPr>
            <a:spLocks noGrp="1"/>
          </p:cNvSpPr>
          <p:nvPr>
            <p:ph type="ftr" idx="7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48" name="PlaceHolder 6"/>
          <p:cNvSpPr>
            <a:spLocks noGrp="1"/>
          </p:cNvSpPr>
          <p:nvPr>
            <p:ph type="sldNum" idx="7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578A885-2061-44B6-8485-F75CF539C4E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17136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Source Sans Pro"/>
              </a:rPr>
              <a:t>Reminder of architecture class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Source Sans Pro"/>
              </a:rPr>
              <a:t>The standard Python implementation is written in C. This means that every Python object is simply a cleverly-disguised C structure, which contains not only its value, but metadata as well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Source Sans Pro"/>
              </a:rPr>
              <a:t>a C integer is essentially a label for a position in memory whose bytes encode an integer value. A Python integer is a pointer to a position in memory containing all the Python object information, including the bytes that contain the integer value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222222"/>
              </a:buClr>
              <a:buFont typeface="StarSymbol"/>
              <a:buChar char="-"/>
              <a:tabLst>
                <a:tab pos="0" algn="l"/>
              </a:tabLst>
            </a:pPr>
            <a:r>
              <a:rPr lang="en-GB" sz="1400" b="0" u="none" strike="noStrike">
                <a:solidFill>
                  <a:srgbClr val="222222"/>
                </a:solidFill>
                <a:effectLst/>
                <a:highlight>
                  <a:srgbClr val="FFFFFF"/>
                </a:highlight>
                <a:uFillTx/>
                <a:latin typeface="Harding"/>
              </a:rPr>
              <a:t>NumPy handles looping over array elements near-optimally—for example, taking strides into consideration to best utilize the computer’s fast cache memory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Harding"/>
              </a:rPr>
              <a:t>NumPy array - </a:t>
            </a:r>
            <a:r>
              <a:rPr lang="en-GB" sz="14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Source Sans Pro"/>
              </a:rPr>
              <a:t>single pointer to one contiguous block of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Source Sans Pro"/>
              </a:rPr>
              <a:t>The Python list, on the other hand, contains a pointer to a block of pointers, each of which in turn points to a full Python object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sldNum" idx="110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7001C42-ACD7-43EF-8A02-697273F2F1F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sldNum" idx="111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1242EF1-E080-4BE0-80DA-71624264192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Notes Placeholder 1"/>
          <p:cNvSpPr/>
          <p:nvPr/>
        </p:nvSpPr>
        <p:spPr>
          <a:xfrm>
            <a:off x="914760" y="4343760"/>
            <a:ext cx="5028480" cy="41140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en-GB" sz="14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Source Sans Pro"/>
              </a:rPr>
              <a:t>The standard Python implementation is written in C. This means that every Python object is simply a cleverly-disguised C structure, which contains not only its value, but metadata as well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en-GB" sz="14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Source Sans Pro"/>
              </a:rPr>
              <a:t>a C integer is essentially a label for a position in memory whose bytes encode an integer value. A Python integer is a pointer to a position in memory containing all the Python object information, including the bytes that contain the integer value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222222"/>
              </a:buClr>
              <a:buFont typeface="StarSymbol"/>
              <a:buChar char="-"/>
            </a:pPr>
            <a:r>
              <a:rPr lang="en-GB" sz="1400" b="0" u="none" strike="noStrike">
                <a:solidFill>
                  <a:srgbClr val="222222"/>
                </a:solidFill>
                <a:effectLst/>
                <a:highlight>
                  <a:srgbClr val="FFFFFF"/>
                </a:highlight>
                <a:uFillTx/>
                <a:latin typeface="Harding"/>
              </a:rPr>
              <a:t>NumPy handles looping over array elements near-optimally—for example, taking strides into consideration to best utilize the computer’s fast cache memory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Harding"/>
              </a:rPr>
              <a:t>NumPy array - </a:t>
            </a:r>
            <a:r>
              <a:rPr lang="en-GB" sz="14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Source Sans Pro"/>
              </a:rPr>
              <a:t>single pointer to one contiguous block of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en-GB" sz="14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Source Sans Pro"/>
              </a:rPr>
              <a:t>The Python list, on the other hand, contains a pointer to a block of pointers, each of which in turn points to a full Python object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sldNum" idx="112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CE32096-C378-46E7-9662-A59E6F60A88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Notes Placeholder 3"/>
          <p:cNvSpPr/>
          <p:nvPr/>
        </p:nvSpPr>
        <p:spPr>
          <a:xfrm>
            <a:off x="914760" y="4343760"/>
            <a:ext cx="5028480" cy="41140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en-GB" sz="14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Source Sans Pro"/>
              </a:rPr>
              <a:t>The standard Python implementation is written in C. This means that every Python object is simply a cleverly-disguised C structure, which contains not only its value, but metadata as well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en-GB" sz="14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Source Sans Pro"/>
              </a:rPr>
              <a:t>a C integer is essentially a label for a position in memory whose bytes encode an integer value. A Python integer is a pointer to a position in memory containing all the Python object information, including the bytes that contain the integer value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222222"/>
              </a:buClr>
              <a:buFont typeface="StarSymbol"/>
              <a:buChar char="-"/>
            </a:pPr>
            <a:r>
              <a:rPr lang="en-GB" sz="1400" b="0" u="none" strike="noStrike">
                <a:solidFill>
                  <a:srgbClr val="222222"/>
                </a:solidFill>
                <a:effectLst/>
                <a:highlight>
                  <a:srgbClr val="FFFFFF"/>
                </a:highlight>
                <a:uFillTx/>
                <a:latin typeface="Harding"/>
              </a:rPr>
              <a:t>NumPy handles looping over array elements near-optimally—for example, taking strides into consideration to best utilize the computer’s fast cache memory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Harding"/>
              </a:rPr>
              <a:t>NumPy array - </a:t>
            </a:r>
            <a:r>
              <a:rPr lang="en-GB" sz="14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Source Sans Pro"/>
              </a:rPr>
              <a:t>single pointer to one contiguous block of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en-GB" sz="14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Source Sans Pro"/>
              </a:rPr>
              <a:t>The Python list, on the other hand, contains a pointer to a block of pointers, each of which in turn points to a full Python object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sldNum" idx="113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70D2BB5-A004-470F-86AD-E82E4BC80F9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Notes Placeholder 4"/>
          <p:cNvSpPr/>
          <p:nvPr/>
        </p:nvSpPr>
        <p:spPr>
          <a:xfrm>
            <a:off x="914760" y="4343760"/>
            <a:ext cx="5028480" cy="41140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en-GB" sz="14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Source Sans Pro"/>
              </a:rPr>
              <a:t>The standard Python implementation is written in C. This means that every Python object is simply a cleverly-disguised C structure, which contains not only its value, but metadata as well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en-GB" sz="14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Source Sans Pro"/>
              </a:rPr>
              <a:t>a C integer is essentially a label for a position in memory whose bytes encode an integer value. A Python integer is a pointer to a position in memory containing all the Python object information, including the bytes that contain the integer value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222222"/>
              </a:buClr>
              <a:buFont typeface="StarSymbol"/>
              <a:buChar char="-"/>
            </a:pPr>
            <a:r>
              <a:rPr lang="en-GB" sz="1400" b="0" u="none" strike="noStrike">
                <a:solidFill>
                  <a:srgbClr val="222222"/>
                </a:solidFill>
                <a:effectLst/>
                <a:highlight>
                  <a:srgbClr val="FFFFFF"/>
                </a:highlight>
                <a:uFillTx/>
                <a:latin typeface="Harding"/>
              </a:rPr>
              <a:t>NumPy handles looping over array elements near-optimally—for example, taking strides into consideration to best utilize the computer’s fast cache memory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Harding"/>
              </a:rPr>
              <a:t>NumPy array - </a:t>
            </a:r>
            <a:r>
              <a:rPr lang="en-GB" sz="14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Source Sans Pro"/>
              </a:rPr>
              <a:t>single pointer to one contiguous block of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en-GB" sz="14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Source Sans Pro"/>
              </a:rPr>
              <a:t>The Python list, on the other hand, contains a pointer to a block of pointers, each of which in turn points to a full Python object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474" name="PlaceHolder 2"/>
          <p:cNvSpPr>
            <a:spLocks noGrp="1"/>
          </p:cNvSpPr>
          <p:nvPr>
            <p:ph type="sldNum" idx="114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A4A78FA-EB70-4046-8053-A8E7106D337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Notes Placeholder 5"/>
          <p:cNvSpPr/>
          <p:nvPr/>
        </p:nvSpPr>
        <p:spPr>
          <a:xfrm>
            <a:off x="914760" y="4343760"/>
            <a:ext cx="5028480" cy="41140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en-GB" sz="14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Source Sans Pro"/>
              </a:rPr>
              <a:t>The standard Python implementation is written in C. This means that every Python object is simply a cleverly-disguised C structure, which contains not only its value, but metadata as well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en-GB" sz="14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Source Sans Pro"/>
              </a:rPr>
              <a:t>a C integer is essentially a label for a position in memory whose bytes encode an integer value. A Python integer is a pointer to a position in memory containing all the Python object information, including the bytes that contain the integer value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222222"/>
              </a:buClr>
              <a:buFont typeface="StarSymbol"/>
              <a:buChar char="-"/>
            </a:pPr>
            <a:r>
              <a:rPr lang="en-GB" sz="1400" b="0" u="none" strike="noStrike">
                <a:solidFill>
                  <a:srgbClr val="222222"/>
                </a:solidFill>
                <a:effectLst/>
                <a:highlight>
                  <a:srgbClr val="FFFFFF"/>
                </a:highlight>
                <a:uFillTx/>
                <a:latin typeface="Harding"/>
              </a:rPr>
              <a:t>NumPy handles looping over array elements near-optimally—for example, taking strides into consideration to best utilize the computer’s fast cache memory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Harding"/>
              </a:rPr>
              <a:t>NumPy array - </a:t>
            </a:r>
            <a:r>
              <a:rPr lang="en-GB" sz="14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Source Sans Pro"/>
              </a:rPr>
              <a:t>single pointer to one contiguous block of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en-GB" sz="14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Source Sans Pro"/>
              </a:rPr>
              <a:t>The Python list, on the other hand, contains a pointer to a block of pointers, each of which in turn points to a full Python object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5900" y="812800"/>
            <a:ext cx="7126288" cy="4008438"/>
          </a:xfrm>
          <a:prstGeom prst="rect">
            <a:avLst/>
          </a:prstGeom>
          <a:ln w="0">
            <a:noFill/>
          </a:ln>
        </p:spPr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Point to make: there are a number of array operations that take no time at all!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5900" y="812800"/>
            <a:ext cx="7126288" cy="4008438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 can always make a copy by explicitly calling .copy()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5900" y="812800"/>
            <a:ext cx="7126288" cy="4008438"/>
          </a:xfrm>
          <a:prstGeom prst="rect">
            <a:avLst/>
          </a:prstGeom>
          <a:ln w="0">
            <a:noFill/>
          </a:ln>
        </p:spPr>
      </p:sp>
      <p:sp>
        <p:nvSpPr>
          <p:cNvPr id="48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does the golden rule apply to indexing operations?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→ compare slices vs. fancy indexing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FEF1F-1BFA-CD5A-CABF-E3B1EABE8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BE54E4-2AEB-254C-7ECE-3CFEF4A42F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2832F0-85C1-8FC5-4CF9-5425D632C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82CF5-931A-BB8D-D22A-53F3C1A68A90}"/>
              </a:ext>
            </a:extLst>
          </p:cNvPr>
          <p:cNvSpPr>
            <a:spLocks noGrp="1"/>
          </p:cNvSpPr>
          <p:nvPr>
            <p:ph type="sldNum" idx="75"/>
          </p:nvPr>
        </p:nvSpPr>
        <p:spPr/>
        <p:txBody>
          <a:bodyPr/>
          <a:lstStyle/>
          <a:p>
            <a:pPr indent="0" algn="r">
              <a:buNone/>
            </a:pPr>
            <a:fld id="{5578A885-2061-44B6-8485-F75CF539C4E2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17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595776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10F38-B83A-42FB-1F4C-A028B3030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ECB14C-04DD-B983-DE7E-D755FB25A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5A25EA-EE65-BCBF-DD1D-E9983EC50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55556-3105-EC6C-A79B-6741B5928182}"/>
              </a:ext>
            </a:extLst>
          </p:cNvPr>
          <p:cNvSpPr>
            <a:spLocks noGrp="1"/>
          </p:cNvSpPr>
          <p:nvPr>
            <p:ph type="sldNum" idx="75"/>
          </p:nvPr>
        </p:nvSpPr>
        <p:spPr/>
        <p:txBody>
          <a:bodyPr/>
          <a:lstStyle/>
          <a:p>
            <a:pPr indent="0" algn="r">
              <a:buNone/>
            </a:pPr>
            <a:fld id="{5578A885-2061-44B6-8485-F75CF539C4E2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18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298857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C2396-135D-247B-A8C9-62F705327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00A454-2A23-F9BD-DAFE-2252C4435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29FBF1-DDBE-343A-6539-65B133D69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30DBF-B918-74B0-0C13-96D439742499}"/>
              </a:ext>
            </a:extLst>
          </p:cNvPr>
          <p:cNvSpPr>
            <a:spLocks noGrp="1"/>
          </p:cNvSpPr>
          <p:nvPr>
            <p:ph type="sldNum" idx="75"/>
          </p:nvPr>
        </p:nvSpPr>
        <p:spPr/>
        <p:txBody>
          <a:bodyPr/>
          <a:lstStyle/>
          <a:p>
            <a:pPr indent="0" algn="r">
              <a:buNone/>
            </a:pPr>
            <a:fld id="{5578A885-2061-44B6-8485-F75CF539C4E2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19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736288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7F861-26AA-80E1-FBBF-7EC29452C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67B4A1-0E2D-F216-F636-04D93C276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9B3230-9405-E188-C91D-BC9F6579C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82AD8-905F-B632-930C-B66692CC3992}"/>
              </a:ext>
            </a:extLst>
          </p:cNvPr>
          <p:cNvSpPr>
            <a:spLocks noGrp="1"/>
          </p:cNvSpPr>
          <p:nvPr>
            <p:ph type="sldNum" idx="75"/>
          </p:nvPr>
        </p:nvSpPr>
        <p:spPr/>
        <p:txBody>
          <a:bodyPr/>
          <a:lstStyle/>
          <a:p>
            <a:pPr indent="0" algn="r">
              <a:buNone/>
            </a:pPr>
            <a:fld id="{5578A885-2061-44B6-8485-F75CF539C4E2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20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0918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321A2-A5FE-EBFC-A9D3-30F5FC216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1D60D-BF87-13E2-8AAD-3B7923E5E2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A61F14-CA0C-3BFF-A543-A6FDAA0999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80C5C-07EB-BC69-00F2-0E5D9E9CFCA7}"/>
              </a:ext>
            </a:extLst>
          </p:cNvPr>
          <p:cNvSpPr>
            <a:spLocks noGrp="1"/>
          </p:cNvSpPr>
          <p:nvPr>
            <p:ph type="sldNum" idx="75"/>
          </p:nvPr>
        </p:nvSpPr>
        <p:spPr/>
        <p:txBody>
          <a:bodyPr/>
          <a:lstStyle/>
          <a:p>
            <a:pPr indent="0" algn="r">
              <a:buNone/>
            </a:pPr>
            <a:fld id="{5578A885-2061-44B6-8485-F75CF539C4E2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21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11507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22096-5931-7422-B102-7F4A67485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BD321D-51F5-0EA7-B0CD-5DC4735C64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106540-BAF9-E5AA-92FA-CE80E0355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FEEB5-2178-4F02-4A7D-3284E30DB3BA}"/>
              </a:ext>
            </a:extLst>
          </p:cNvPr>
          <p:cNvSpPr>
            <a:spLocks noGrp="1"/>
          </p:cNvSpPr>
          <p:nvPr>
            <p:ph type="sldNum" idx="75"/>
          </p:nvPr>
        </p:nvSpPr>
        <p:spPr/>
        <p:txBody>
          <a:bodyPr/>
          <a:lstStyle/>
          <a:p>
            <a:pPr indent="0" algn="r">
              <a:buNone/>
            </a:pPr>
            <a:fld id="{5578A885-2061-44B6-8485-F75CF539C4E2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22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751418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3DE99-71B5-3ED4-BAEA-96A5DFA15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7234D4-87DD-4E2E-0165-88E5B7E07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86DC9E-78A5-C8A7-81D6-7AF1C1F83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8A977-A852-8E9B-80E7-60D4BEFA841F}"/>
              </a:ext>
            </a:extLst>
          </p:cNvPr>
          <p:cNvSpPr>
            <a:spLocks noGrp="1"/>
          </p:cNvSpPr>
          <p:nvPr>
            <p:ph type="sldNum" idx="75"/>
          </p:nvPr>
        </p:nvSpPr>
        <p:spPr/>
        <p:txBody>
          <a:bodyPr/>
          <a:lstStyle/>
          <a:p>
            <a:pPr indent="0" algn="r">
              <a:buNone/>
            </a:pPr>
            <a:fld id="{5578A885-2061-44B6-8485-F75CF539C4E2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26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953547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32ACD-D43F-1A40-1AC5-4779D3154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A68DC1-903A-6562-B519-2537DF01DE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497B5F-5086-927D-A377-21744D959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74E7D-D86F-5521-3510-20FA833F3A89}"/>
              </a:ext>
            </a:extLst>
          </p:cNvPr>
          <p:cNvSpPr>
            <a:spLocks noGrp="1"/>
          </p:cNvSpPr>
          <p:nvPr>
            <p:ph type="sldNum" idx="75"/>
          </p:nvPr>
        </p:nvSpPr>
        <p:spPr/>
        <p:txBody>
          <a:bodyPr/>
          <a:lstStyle/>
          <a:p>
            <a:pPr indent="0" algn="r">
              <a:buNone/>
            </a:pPr>
            <a:fld id="{5578A885-2061-44B6-8485-F75CF539C4E2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68889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5900" y="812800"/>
            <a:ext cx="7126288" cy="4008438"/>
          </a:xfrm>
          <a:prstGeom prst="rect">
            <a:avLst/>
          </a:prstGeom>
          <a:ln w="0">
            <a:noFill/>
          </a:ln>
        </p:spPr>
      </p:sp>
      <p:sp>
        <p:nvSpPr>
          <p:cNvPr id="4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 .copy() usage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can go wrong with this function?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5900" y="812800"/>
            <a:ext cx="7126288" cy="4008438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Discuss pros and cons with them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Pros: security that data will be always a copy.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Cons: redundancy in memory, problem for big arrays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48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Special case, when one of the strides is 0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Wingdings"/>
              </a:rPr>
              <a:t>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duplicates without occupying more memory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Transition, other operations that can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Braodcasting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Imagine what happens if we have a stride of 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It allows us to replicate the sae row without allocating extra memory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What happens when it’s a 0?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 type="sldNum" idx="115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46CB81B-36F2-4DEE-A9E5-516DDE81E95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Stride == 0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Wingdings"/>
              </a:rPr>
              <a:t>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then we are not actually moving in memory, same memory, we are looping over the same thing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 type="sldNum" idx="116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9BC6331-82DC-46A6-99F6-40E53610FA2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493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Again the kaleidoscope metaphor, it’s an aritifical way to replicate something</a:t>
            </a: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PlaceHolder 3"/>
          <p:cNvSpPr>
            <a:spLocks noGrp="1"/>
          </p:cNvSpPr>
          <p:nvPr>
            <p:ph type="sldNum" idx="117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6B0B33F-7795-4156-91E4-038DEE4DC37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496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Again the kaleidoscope metaphor, it’s an aritifical way to replicate something</a:t>
            </a: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 type="sldNum" idx="118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FD124DA-8B45-46ED-8FF7-7B07FDD172F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49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Again the kaleidoscope metaphor, it’s an aritifical way to replicate something</a:t>
            </a: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PlaceHolder 3"/>
          <p:cNvSpPr>
            <a:spLocks noGrp="1"/>
          </p:cNvSpPr>
          <p:nvPr>
            <p:ph type="sldNum" idx="119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D16BA6E-A60C-4871-A3C5-C79D130FB3A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Again the kaleidoscope metaphor, it’s an aritifical way to replicate something</a:t>
            </a: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 type="sldNum" idx="120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F4CB17A-539F-4855-A420-10DB322BC59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Show 1,2 examples and the notebook with the rules/ their implementation</a:t>
            </a:r>
          </a:p>
        </p:txBody>
      </p:sp>
      <p:sp>
        <p:nvSpPr>
          <p:cNvPr id="506" name="PlaceHolder 3"/>
          <p:cNvSpPr>
            <a:spLocks noGrp="1"/>
          </p:cNvSpPr>
          <p:nvPr>
            <p:ph type="sldNum" idx="121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54B47EF-D770-4DD4-9C07-2E5C2C896B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9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484640"/>
            <a:ext cx="513072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226200" y="1484640"/>
            <a:ext cx="513072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838080" y="3935520"/>
            <a:ext cx="1051488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66987CF-7650-4637-B89B-3426776609BF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Aug 2026, CC BY-SA 4.0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9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484640"/>
            <a:ext cx="1051488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838080" y="3935520"/>
            <a:ext cx="1051488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0" name="PlaceHolder 4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6DEA467-5DED-4BE0-82E6-5EF7536E468E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Aug 2026, CC BY-SA 4.0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9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1484640"/>
            <a:ext cx="513072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226200" y="1484640"/>
            <a:ext cx="513072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838080" y="3935520"/>
            <a:ext cx="513072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6226200" y="3935520"/>
            <a:ext cx="513072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8" name="PlaceHolder 6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051D383-8BE4-4D86-B32E-EA6F4EC497C6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Aug 2026, CC BY-SA 4.0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9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8080" y="1484640"/>
            <a:ext cx="338544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393440" y="1484640"/>
            <a:ext cx="338544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7949160" y="1484640"/>
            <a:ext cx="338544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838080" y="3935520"/>
            <a:ext cx="338544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6" name="PlaceHolder 6"/>
          <p:cNvSpPr>
            <a:spLocks noGrp="1"/>
          </p:cNvSpPr>
          <p:nvPr>
            <p:ph type="body"/>
          </p:nvPr>
        </p:nvSpPr>
        <p:spPr>
          <a:xfrm>
            <a:off x="4393440" y="3935520"/>
            <a:ext cx="338544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7" name="PlaceHolder 7"/>
          <p:cNvSpPr>
            <a:spLocks noGrp="1"/>
          </p:cNvSpPr>
          <p:nvPr>
            <p:ph type="body"/>
          </p:nvPr>
        </p:nvSpPr>
        <p:spPr>
          <a:xfrm>
            <a:off x="7949160" y="3935520"/>
            <a:ext cx="338544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8" name="PlaceHolder 8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9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ACCA44B-75FF-4F80-A6C5-31823BD4542B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10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Aug 2026, CC BY-SA 4.0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3BEA428-0D71-4D0E-A007-D551110C1CCE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CH" sz="1200" b="0" u="none" strike="noStrike" kern="1200" noProof="0" dirty="0" smtClean="0">
                <a:solidFill>
                  <a:schemeClr val="bg1">
                    <a:lumMod val="65000"/>
                  </a:schemeClr>
                </a:solidFill>
                <a:effectLst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de-CH"/>
              <a:t>Aug 2026, CC BY-SA 4.0</a:t>
            </a:r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9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5" name="PlaceHolder 2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bg2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r>
              <a:rPr lang="en-GB"/>
              <a:t>Data, v3.0</a:t>
            </a:r>
            <a:endParaRPr lang="en-GB" dirty="0"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bg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fld id="{9A5B8DFA-FB31-4C13-B9C1-F7FB45CFFB09}" type="slidenum">
              <a:rPr lang="en-CH" smtClean="0"/>
              <a:pPr/>
              <a:t>‹#›</a:t>
            </a:fld>
            <a:endParaRPr lang="en-CH"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de-CH" sz="1200" b="0" u="none" strike="noStrike" kern="1200" noProof="0" dirty="0" smtClean="0">
                <a:solidFill>
                  <a:schemeClr val="bg2">
                    <a:lumMod val="75000"/>
                  </a:schemeClr>
                </a:solidFill>
                <a:effectLst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de-CH"/>
              <a:t>Aug 2026, CC BY-SA 4.0</a:t>
            </a:r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9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8080" y="1484640"/>
            <a:ext cx="10514880" cy="469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578DE0D-40B8-4AD6-9555-8FCDEE4E7E94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Aug 2026, CC BY-SA 4.0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9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838080" y="1484640"/>
            <a:ext cx="5130720" cy="469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6226200" y="1484640"/>
            <a:ext cx="5130720" cy="469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6" name="PlaceHolder 4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9A90716-14E6-4794-880C-4B3C7F4A0E38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Aug 2026, CC BY-SA 4.0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9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324D83B-9B9C-4FB5-8262-04BB5629952C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Aug 2026, CC BY-SA 4.0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mediaAndTx" preserve="1">
  <p:cSld name="Centere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AC6DC31-8F36-4991-B964-4A684501E5D4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Aug 2026, CC BY-SA 4.0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9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838080" y="1484640"/>
            <a:ext cx="513072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26200" y="1484640"/>
            <a:ext cx="5130720" cy="469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838080" y="3935520"/>
            <a:ext cx="513072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1" name="PlaceHolder 5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D0A35F8-32EB-4866-90CE-E7F7BB54D50A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7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Aug 2026, CC BY-SA 4.0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Content and 2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9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838080" y="1484640"/>
            <a:ext cx="5130720" cy="469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26200" y="1484640"/>
            <a:ext cx="513072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226200" y="3935520"/>
            <a:ext cx="513072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8" name="PlaceHolder 5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ACFCBE0-D3A1-424F-A1A4-511EB3768520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7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Aug 2026, CC BY-SA 4.0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9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838080" y="1484640"/>
            <a:ext cx="513072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226200" y="1484640"/>
            <a:ext cx="513072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838080" y="3935520"/>
            <a:ext cx="1051488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5" name="PlaceHolder 5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C15FF12-41C1-4F39-A693-0FEFDB25C8CA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Aug 2026, CC BY-SA 4.0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Default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9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838080" y="1484640"/>
            <a:ext cx="1051488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838080" y="3935520"/>
            <a:ext cx="1051488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1" name="PlaceHolder 4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E6D4B11-FB66-431D-9A06-47578200C128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Aug 2026, CC BY-SA 4.0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Default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9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838080" y="1484640"/>
            <a:ext cx="513072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6226200" y="1484640"/>
            <a:ext cx="513072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838080" y="3935520"/>
            <a:ext cx="513072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8" name="PlaceHolder 5"/>
          <p:cNvSpPr>
            <a:spLocks noGrp="1"/>
          </p:cNvSpPr>
          <p:nvPr>
            <p:ph type="body"/>
          </p:nvPr>
        </p:nvSpPr>
        <p:spPr>
          <a:xfrm>
            <a:off x="6226200" y="3935520"/>
            <a:ext cx="513072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9" name="PlaceHolder 6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7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E472CA3-DAE7-4AFB-97E3-F6AB8B18C7F7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8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Aug 2026, CC BY-SA 4.0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9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838080" y="1484640"/>
            <a:ext cx="338544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393440" y="1484640"/>
            <a:ext cx="338544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7949160" y="1484640"/>
            <a:ext cx="338544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6" name="PlaceHolder 5"/>
          <p:cNvSpPr>
            <a:spLocks noGrp="1"/>
          </p:cNvSpPr>
          <p:nvPr>
            <p:ph type="body"/>
          </p:nvPr>
        </p:nvSpPr>
        <p:spPr>
          <a:xfrm>
            <a:off x="838080" y="3935520"/>
            <a:ext cx="338544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7" name="PlaceHolder 6"/>
          <p:cNvSpPr>
            <a:spLocks noGrp="1"/>
          </p:cNvSpPr>
          <p:nvPr>
            <p:ph type="body"/>
          </p:nvPr>
        </p:nvSpPr>
        <p:spPr>
          <a:xfrm>
            <a:off x="4393440" y="3935520"/>
            <a:ext cx="338544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8" name="PlaceHolder 7"/>
          <p:cNvSpPr>
            <a:spLocks noGrp="1"/>
          </p:cNvSpPr>
          <p:nvPr>
            <p:ph type="body"/>
          </p:nvPr>
        </p:nvSpPr>
        <p:spPr>
          <a:xfrm>
            <a:off x="7949160" y="3935520"/>
            <a:ext cx="338544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9" name="PlaceHolder 8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9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49AAEFD-C435-43F1-B023-83CF996B8F4D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10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Aug 2026, CC BY-SA 4.0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0C9F262-E824-4AC0-AF2C-F2E2B6D39D63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Aug 2026, CC BY-SA 4.0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9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8" name="PlaceHolder 2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31FEECE-D6C8-4FCE-876A-0190D37870B1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Aug 2026, CC BY-SA 4.0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9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838080" y="1484640"/>
            <a:ext cx="10514880" cy="469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13" name="PlaceHolder 3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sldNum" idx="5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CB9EC53-DCE4-41FE-BEA0-C0B46656D65C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Aug 2026, CC BY-SA 4.0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9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838080" y="1484640"/>
            <a:ext cx="5130720" cy="469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6226200" y="1484640"/>
            <a:ext cx="5130720" cy="469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19" name="PlaceHolder 4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sldNum" idx="5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AF999DB-FCEC-4996-A4FB-817656C836AD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Aug 2026, CC BY-SA 4.0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9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3" name="PlaceHolder 2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6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D410447-D8B1-4E2D-B113-45A81ACB9344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Aug 2026, CC BY-SA 4.0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mediaAndTx" preserve="1">
  <p:cSld name="Default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sldNum" idx="6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B8F0785-59AA-4995-AAE4-E56ACB85C5AA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Aug 2026, CC BY-SA 4.0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Default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9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838080" y="1484640"/>
            <a:ext cx="513072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6226200" y="1484640"/>
            <a:ext cx="5130720" cy="469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838080" y="3935520"/>
            <a:ext cx="513072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33" name="PlaceHolder 5"/>
          <p:cNvSpPr>
            <a:spLocks noGrp="1"/>
          </p:cNvSpPr>
          <p:nvPr>
            <p:ph type="ftr" idx="6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PlaceHolder 6"/>
          <p:cNvSpPr>
            <a:spLocks noGrp="1"/>
          </p:cNvSpPr>
          <p:nvPr>
            <p:ph type="sldNum" idx="6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3667B7A-D913-4875-A2BF-3232251D93E2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7"/>
          <p:cNvSpPr>
            <a:spLocks noGrp="1"/>
          </p:cNvSpPr>
          <p:nvPr>
            <p:ph type="dt" idx="6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Aug 2026, CC BY-SA 4.0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Default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9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838080" y="1484640"/>
            <a:ext cx="5130720" cy="469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6226200" y="1484640"/>
            <a:ext cx="513072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39" name="PlaceHolder 4"/>
          <p:cNvSpPr>
            <a:spLocks noGrp="1"/>
          </p:cNvSpPr>
          <p:nvPr>
            <p:ph type="body"/>
          </p:nvPr>
        </p:nvSpPr>
        <p:spPr>
          <a:xfrm>
            <a:off x="6226200" y="3935520"/>
            <a:ext cx="5130720" cy="22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40" name="PlaceHolder 5"/>
          <p:cNvSpPr>
            <a:spLocks noGrp="1"/>
          </p:cNvSpPr>
          <p:nvPr>
            <p:ph type="ftr" idx="7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PlaceHolder 6"/>
          <p:cNvSpPr>
            <a:spLocks noGrp="1"/>
          </p:cNvSpPr>
          <p:nvPr>
            <p:ph type="sldNum" idx="7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D762F64-64B4-4841-B2F6-7E251DD311AF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PlaceHolder 7"/>
          <p:cNvSpPr>
            <a:spLocks noGrp="1"/>
          </p:cNvSpPr>
          <p:nvPr>
            <p:ph type="dt" idx="7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Aug 2026, CC BY-SA 4.0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970D287C-E07C-44D5-B430-429B6B5F3EE8}" type="slidenum">
              <a:rPr/>
              <a:t>1</a:t>
            </a:fld>
            <a:endParaRPr/>
          </a:p>
        </p:txBody>
      </p:sp>
      <p:sp>
        <p:nvSpPr>
          <p:cNvPr id="149" name="PlaceHolder 1"/>
          <p:cNvSpPr>
            <a:spLocks noGrp="1"/>
          </p:cNvSpPr>
          <p:nvPr>
            <p:ph type="dt" idx="15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0" name="Picture 5" descr="A garden with different vegetables&#10;&#10;Description automatically generated"/>
          <p:cNvPicPr/>
          <p:nvPr/>
        </p:nvPicPr>
        <p:blipFill>
          <a:blip r:embed="rId2"/>
          <a:stretch/>
        </p:blipFill>
        <p:spPr>
          <a:xfrm>
            <a:off x="2077920" y="1788480"/>
            <a:ext cx="8035560" cy="449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Title 1"/>
          <p:cNvSpPr/>
          <p:nvPr/>
        </p:nvSpPr>
        <p:spPr>
          <a:xfrm>
            <a:off x="2747520" y="552600"/>
            <a:ext cx="6696000" cy="148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8000" b="0" u="none" strike="noStrik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NumPy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CH" sz="4400" b="0" u="none" strike="noStrike" dirty="0">
                <a:solidFill>
                  <a:srgbClr val="000000"/>
                </a:solidFill>
                <a:effectLst/>
                <a:uFillTx/>
                <a:latin typeface="Calibri Light"/>
              </a:rPr>
              <a:t>NumPy – huh, yeah – what’s it good for?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5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56"/>
          </p:nvPr>
        </p:nvSpPr>
        <p:spPr/>
        <p:txBody>
          <a:bodyPr/>
          <a:lstStyle/>
          <a:p>
            <a:fld id="{42D8D466-CA19-4EEB-9A98-B349C59F5CA8}" type="slidenum">
              <a:rPr/>
              <a:t>2</a:t>
            </a:fld>
            <a:endParaRPr/>
          </a:p>
        </p:txBody>
      </p:sp>
      <p:sp>
        <p:nvSpPr>
          <p:cNvPr id="154" name="PlaceHolder 3"/>
          <p:cNvSpPr>
            <a:spLocks noGrp="1"/>
          </p:cNvSpPr>
          <p:nvPr>
            <p:ph type="dt" idx="57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838080" y="1530484"/>
            <a:ext cx="10514880" cy="464567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NumPy </a:t>
            </a:r>
            <a:r>
              <a:rPr lang="en-US" sz="2800" b="0" u="none" strike="noStrike" dirty="0" err="1">
                <a:solidFill>
                  <a:srgbClr val="000000"/>
                </a:solidFill>
                <a:effectLst/>
                <a:uFillTx/>
                <a:latin typeface="Calibri"/>
              </a:rPr>
              <a:t>i</a:t>
            </a:r>
            <a:r>
              <a:rPr lang="en-CH" sz="28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ntroduce</a:t>
            </a:r>
            <a:r>
              <a:rPr lang="en-US" sz="28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s</a:t>
            </a:r>
            <a:r>
              <a:rPr lang="en-CH" sz="28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 a new data structure: </a:t>
            </a:r>
            <a:r>
              <a:rPr lang="en-CH" sz="2800" b="1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the array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CH" sz="28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Great for storing homogeneous data, where every element in the array has the same meaning. E.g. images, sound, time series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7"/>
          <p:cNvSpPr/>
          <p:nvPr/>
        </p:nvSpPr>
        <p:spPr>
          <a:xfrm>
            <a:off x="2531520" y="2349000"/>
            <a:ext cx="7128000" cy="9424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H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An array is a regular, N-dimensional grid of data of the same type, typically numerical data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Picture 2"/>
          <p:cNvPicPr/>
          <p:nvPr/>
        </p:nvPicPr>
        <p:blipFill>
          <a:blip r:embed="rId2"/>
          <a:stretch/>
        </p:blipFill>
        <p:spPr>
          <a:xfrm>
            <a:off x="5038920" y="4848120"/>
            <a:ext cx="2113560" cy="950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CH" sz="4400" u="none" strike="noStrike" dirty="0">
                <a:solidFill>
                  <a:srgbClr val="000000"/>
                </a:solidFill>
                <a:effectLst/>
                <a:uFillTx/>
                <a:latin typeface="Calibri Light" panose="020F0302020204030204" pitchFamily="34" charset="0"/>
                <a:cs typeface="Calibri Light" panose="020F0302020204030204" pitchFamily="34" charset="0"/>
              </a:rPr>
              <a:t>Efficient machine-native implementation </a:t>
            </a:r>
            <a:endParaRPr lang="en-US" sz="4400" u="none" strike="noStrike" dirty="0">
              <a:solidFill>
                <a:srgbClr val="000000"/>
              </a:solidFill>
              <a:effectLst/>
              <a:uFillTx/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 type="ftr" idx="52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3"/>
          </p:nvPr>
        </p:nvSpPr>
        <p:spPr/>
        <p:txBody>
          <a:bodyPr/>
          <a:lstStyle/>
          <a:p>
            <a:fld id="{3174ED62-3A5A-4555-8867-54EED906BD75}" type="slidenum">
              <a:rPr/>
              <a:t>3</a:t>
            </a:fld>
            <a:endParaRPr/>
          </a:p>
        </p:txBody>
      </p:sp>
      <p:sp>
        <p:nvSpPr>
          <p:cNvPr id="159" name="PlaceHolder 3"/>
          <p:cNvSpPr>
            <a:spLocks noGrp="1"/>
          </p:cNvSpPr>
          <p:nvPr>
            <p:ph type="dt" idx="54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 idx="4294967295"/>
          </p:nvPr>
        </p:nvSpPr>
        <p:spPr>
          <a:xfrm>
            <a:off x="966281" y="1264256"/>
            <a:ext cx="10514880" cy="3976687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H" sz="24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Data is stored in a contiguous chunk of memory, using machine-native data types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H" sz="24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Separate metadata tells numpy how to interpret that memory as an array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1" name="Table 9"/>
          <p:cNvGraphicFramePr/>
          <p:nvPr/>
        </p:nvGraphicFramePr>
        <p:xfrm>
          <a:off x="1229400" y="2779200"/>
          <a:ext cx="4406400" cy="473400"/>
        </p:xfrm>
        <a:graphic>
          <a:graphicData uri="http://schemas.openxmlformats.org/drawingml/2006/table">
            <a:tbl>
              <a:tblPr/>
              <a:tblGrid>
                <a:gridCol w="48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7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4472C4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38160">
                      <a:solidFill>
                        <a:srgbClr val="4472C4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4472C4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38160">
                      <a:solidFill>
                        <a:srgbClr val="4472C4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2" name="TextBox 10"/>
          <p:cNvSpPr/>
          <p:nvPr/>
        </p:nvSpPr>
        <p:spPr>
          <a:xfrm>
            <a:off x="869400" y="3252600"/>
            <a:ext cx="122328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H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int64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H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 bytes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3" name="Table 11"/>
          <p:cNvGraphicFramePr/>
          <p:nvPr/>
        </p:nvGraphicFramePr>
        <p:xfrm>
          <a:off x="1214280" y="4565160"/>
          <a:ext cx="3127680" cy="1620000"/>
        </p:xfrm>
        <a:graphic>
          <a:graphicData uri="http://schemas.openxmlformats.org/drawingml/2006/table">
            <a:tbl>
              <a:tblPr/>
              <a:tblGrid>
                <a:gridCol w="1563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1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dtype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int64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ndim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shape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(3, 3)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strides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(24, 8)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4" name="TextBox 12"/>
          <p:cNvSpPr/>
          <p:nvPr/>
        </p:nvSpPr>
        <p:spPr>
          <a:xfrm>
            <a:off x="1157400" y="2357640"/>
            <a:ext cx="28450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2000" b="1" u="none" strike="noStrike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FillTx/>
                <a:latin typeface="Calibri"/>
                <a:ea typeface="DejaVu Sans"/>
              </a:rPr>
              <a:t>Memory block storage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5" name="Table 15"/>
          <p:cNvGraphicFramePr/>
          <p:nvPr/>
        </p:nvGraphicFramePr>
        <p:xfrm>
          <a:off x="8165160" y="3537720"/>
          <a:ext cx="1892160" cy="1587600"/>
        </p:xfrm>
        <a:graphic>
          <a:graphicData uri="http://schemas.openxmlformats.org/drawingml/2006/table">
            <a:tbl>
              <a:tblPr/>
              <a:tblGrid>
                <a:gridCol w="63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9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6" name="TextBox 16"/>
          <p:cNvSpPr/>
          <p:nvPr/>
        </p:nvSpPr>
        <p:spPr>
          <a:xfrm>
            <a:off x="8103600" y="3131280"/>
            <a:ext cx="194364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2000" b="1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Calibri"/>
                <a:ea typeface="DejaVu Sans"/>
              </a:rPr>
              <a:t>NumPy 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7"/>
          <p:cNvSpPr/>
          <p:nvPr/>
        </p:nvSpPr>
        <p:spPr>
          <a:xfrm>
            <a:off x="1132200" y="4181760"/>
            <a:ext cx="31273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2000" b="1" u="none" strike="noStrike">
                <a:solidFill>
                  <a:srgbClr val="808080"/>
                </a:solidFill>
                <a:effectLst/>
                <a:uFillTx/>
                <a:latin typeface="Calibri"/>
                <a:ea typeface="DejaVu Sans"/>
              </a:rPr>
              <a:t>NumPy array metadata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riangle 19"/>
          <p:cNvSpPr/>
          <p:nvPr/>
        </p:nvSpPr>
        <p:spPr>
          <a:xfrm rot="5400000">
            <a:off x="5187240" y="4225680"/>
            <a:ext cx="3537360" cy="381960"/>
          </a:xfrm>
          <a:prstGeom prst="triangle">
            <a:avLst>
              <a:gd name="adj" fmla="val 50275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pic>
        <p:nvPicPr>
          <p:cNvPr id="169" name="Picture 2"/>
          <p:cNvPicPr/>
          <p:nvPr/>
        </p:nvPicPr>
        <p:blipFill>
          <a:blip r:embed="rId3"/>
          <a:srcRect b="32467"/>
          <a:stretch/>
        </p:blipFill>
        <p:spPr>
          <a:xfrm flipH="1">
            <a:off x="6096600" y="3048120"/>
            <a:ext cx="1744560" cy="11934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CH" sz="440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Is NumPy any better than a list-of-lists?</a:t>
            </a:r>
            <a:endParaRPr lang="en-US" sz="440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5B69005C-7063-4B68-A3C2-A8059B4D03B0}" type="slidenum">
              <a:rPr/>
              <a:t>4</a:t>
            </a:fld>
            <a:endParaRPr/>
          </a:p>
        </p:txBody>
      </p:sp>
      <p:sp>
        <p:nvSpPr>
          <p:cNvPr id="171" name="PlaceHolder 2"/>
          <p:cNvSpPr>
            <a:spLocks noGrp="1"/>
          </p:cNvSpPr>
          <p:nvPr>
            <p:ph type="dt" idx="18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72" name="Group 9"/>
          <p:cNvGrpSpPr/>
          <p:nvPr/>
        </p:nvGrpSpPr>
        <p:grpSpPr>
          <a:xfrm>
            <a:off x="11052360" y="205920"/>
            <a:ext cx="827280" cy="702000"/>
            <a:chOff x="11052360" y="205920"/>
            <a:chExt cx="827280" cy="702000"/>
          </a:xfrm>
        </p:grpSpPr>
        <p:sp>
          <p:nvSpPr>
            <p:cNvPr id="173" name="Rectangle 10"/>
            <p:cNvSpPr/>
            <p:nvPr/>
          </p:nvSpPr>
          <p:spPr>
            <a:xfrm>
              <a:off x="11052360" y="205920"/>
              <a:ext cx="827280" cy="702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DE" sz="18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endParaRPr>
            </a:p>
          </p:txBody>
        </p:sp>
        <p:pic>
          <p:nvPicPr>
            <p:cNvPr id="174" name="Graphic 11"/>
            <p:cNvPicPr/>
            <p:nvPr/>
          </p:nvPicPr>
          <p:blipFill>
            <a:blip r:embed="rId3"/>
            <a:stretch/>
          </p:blipFill>
          <p:spPr>
            <a:xfrm>
              <a:off x="11119320" y="279720"/>
              <a:ext cx="693720" cy="5547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90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CH" sz="440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Is NumPy any better than a list-of-lists?</a:t>
            </a:r>
            <a:endParaRPr lang="en-US" sz="440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838080" y="1484640"/>
            <a:ext cx="10514880" cy="4691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H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 machine-nativeness of the data structure means that common operations and algorithms can be implemented with less per-element overhead, making them faster than a Python list-of-lists</a:t>
            </a:r>
            <a:br>
              <a:rPr sz="2800"/>
            </a:br>
            <a:r>
              <a:rPr lang="en-CH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H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Faster in what sense?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CH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Big-O complexity is the same. E.g., square matrix multiplication is still O(n³)</a:t>
            </a:r>
            <a:r>
              <a:rPr lang="en-CH" sz="2400" b="0" u="none" strike="noStrike" baseline="30000">
                <a:solidFill>
                  <a:srgbClr val="000000"/>
                </a:solidFill>
                <a:effectLst/>
                <a:uFillTx/>
                <a:latin typeface="Calibri"/>
              </a:rPr>
              <a:t>*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CH" sz="2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It’s not going to scale any better than list-of-lists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CH" sz="2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Much faster for fixed-size problems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CH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This speed advantage strictly depends on operations being made in C and Fortran. Avoid Python for-loops and use existing NumPy and SciPy functionality!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dt" idx="8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78" name="Group 7"/>
          <p:cNvGrpSpPr/>
          <p:nvPr/>
        </p:nvGrpSpPr>
        <p:grpSpPr>
          <a:xfrm>
            <a:off x="11052360" y="205920"/>
            <a:ext cx="827280" cy="702000"/>
            <a:chOff x="11052360" y="205920"/>
            <a:chExt cx="827280" cy="702000"/>
          </a:xfrm>
        </p:grpSpPr>
        <p:sp>
          <p:nvSpPr>
            <p:cNvPr id="179" name="Rectangle 8"/>
            <p:cNvSpPr/>
            <p:nvPr/>
          </p:nvSpPr>
          <p:spPr>
            <a:xfrm>
              <a:off x="11052360" y="205920"/>
              <a:ext cx="827280" cy="702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DE" sz="18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endParaRPr>
            </a:p>
          </p:txBody>
        </p:sp>
        <p:pic>
          <p:nvPicPr>
            <p:cNvPr id="180" name="Graphic 12"/>
            <p:cNvPicPr/>
            <p:nvPr/>
          </p:nvPicPr>
          <p:blipFill>
            <a:blip r:embed="rId3"/>
            <a:stretch/>
          </p:blipFill>
          <p:spPr>
            <a:xfrm>
              <a:off x="11119320" y="279720"/>
              <a:ext cx="693720" cy="5547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81" name="TextBox 18"/>
          <p:cNvSpPr/>
          <p:nvPr/>
        </p:nvSpPr>
        <p:spPr>
          <a:xfrm>
            <a:off x="3791880" y="6176880"/>
            <a:ext cx="8006760" cy="5166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400" b="0" u="none" strike="noStrike" baseline="30000">
                <a:solidFill>
                  <a:srgbClr val="767171"/>
                </a:solidFill>
                <a:effectLst/>
                <a:uFillTx/>
                <a:latin typeface="Calibri"/>
                <a:ea typeface="DejaVu Sans"/>
              </a:rPr>
              <a:t>*</a:t>
            </a:r>
            <a:r>
              <a:rPr lang="en-US" sz="1400" b="0" u="none" strike="noStrike">
                <a:solidFill>
                  <a:srgbClr val="767171"/>
                </a:solidFill>
                <a:effectLst/>
                <a:uFillTx/>
                <a:latin typeface="Calibri"/>
                <a:ea typeface="DejaVu Sans"/>
              </a:rPr>
              <a:t> The best matrix multiplication algorithm as of 2025 scales as O(n**2.371339). However, out-of-the-box NumPy packages usually use a Fortran library called OpenBLAS that implements a O(n**3) algorithm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011624DA-98A5-4FDB-BA21-A391D4A3E667}" type="slidenum">
              <a:rPr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CH" sz="4400" u="none" strike="noStrike" dirty="0">
                <a:solidFill>
                  <a:srgbClr val="000000"/>
                </a:solidFill>
                <a:effectLst/>
                <a:uFillTx/>
                <a:latin typeface="Calibri Light"/>
              </a:rPr>
              <a:t>Same data, different views</a:t>
            </a:r>
            <a:endParaRPr lang="en-US" sz="44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55FACB01-4BB1-41C9-B28B-2F6CF30148BB}" type="slidenum">
              <a:rPr/>
              <a:t>6</a:t>
            </a:fld>
            <a:endParaRPr/>
          </a:p>
        </p:txBody>
      </p:sp>
      <p:sp>
        <p:nvSpPr>
          <p:cNvPr id="183" name="PlaceHolder 2"/>
          <p:cNvSpPr>
            <a:spLocks noGrp="1"/>
          </p:cNvSpPr>
          <p:nvPr>
            <p:ph type="dt" idx="18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84" name="Table 9"/>
          <p:cNvGraphicFramePr/>
          <p:nvPr/>
        </p:nvGraphicFramePr>
        <p:xfrm>
          <a:off x="1240920" y="2080080"/>
          <a:ext cx="4406400" cy="473400"/>
        </p:xfrm>
        <a:graphic>
          <a:graphicData uri="http://schemas.openxmlformats.org/drawingml/2006/table">
            <a:tbl>
              <a:tblPr/>
              <a:tblGrid>
                <a:gridCol w="48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7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4472C4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38160">
                      <a:solidFill>
                        <a:srgbClr val="4472C4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4472C4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38160">
                      <a:solidFill>
                        <a:srgbClr val="4472C4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5" name="TextBox 10"/>
          <p:cNvSpPr/>
          <p:nvPr/>
        </p:nvSpPr>
        <p:spPr>
          <a:xfrm>
            <a:off x="880920" y="2553840"/>
            <a:ext cx="122328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H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int64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H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 bytes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6" name="Table 11"/>
          <p:cNvGraphicFramePr/>
          <p:nvPr/>
        </p:nvGraphicFramePr>
        <p:xfrm>
          <a:off x="1245600" y="3816000"/>
          <a:ext cx="3127680" cy="1620000"/>
        </p:xfrm>
        <a:graphic>
          <a:graphicData uri="http://schemas.openxmlformats.org/drawingml/2006/table">
            <a:tbl>
              <a:tblPr/>
              <a:tblGrid>
                <a:gridCol w="1563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1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dtype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int64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ndim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shape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(3, 3)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strides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(24, 8)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7" name="TextBox 12"/>
          <p:cNvSpPr/>
          <p:nvPr/>
        </p:nvSpPr>
        <p:spPr>
          <a:xfrm>
            <a:off x="1168920" y="1658880"/>
            <a:ext cx="28450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2000" b="1" u="none" strike="noStrike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FillTx/>
                <a:latin typeface="Calibri"/>
                <a:ea typeface="DejaVu Sans"/>
              </a:rPr>
              <a:t>Memory block storage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8" name="Table 15"/>
          <p:cNvGraphicFramePr/>
          <p:nvPr/>
        </p:nvGraphicFramePr>
        <p:xfrm>
          <a:off x="8210880" y="3384000"/>
          <a:ext cx="1892160" cy="1587600"/>
        </p:xfrm>
        <a:graphic>
          <a:graphicData uri="http://schemas.openxmlformats.org/drawingml/2006/table">
            <a:tbl>
              <a:tblPr/>
              <a:tblGrid>
                <a:gridCol w="63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9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9" name="TextBox 16"/>
          <p:cNvSpPr/>
          <p:nvPr/>
        </p:nvSpPr>
        <p:spPr>
          <a:xfrm>
            <a:off x="8148960" y="2977560"/>
            <a:ext cx="194364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2000" b="1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Calibri"/>
                <a:ea typeface="DejaVu Sans"/>
              </a:rPr>
              <a:t>NumPy 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17"/>
          <p:cNvSpPr/>
          <p:nvPr/>
        </p:nvSpPr>
        <p:spPr>
          <a:xfrm>
            <a:off x="1163880" y="3432960"/>
            <a:ext cx="31273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2000" b="1" u="none" strike="noStrike">
                <a:solidFill>
                  <a:srgbClr val="808080"/>
                </a:solidFill>
                <a:effectLst/>
                <a:uFillTx/>
                <a:latin typeface="Calibri"/>
                <a:ea typeface="DejaVu Sans"/>
              </a:rPr>
              <a:t>NumPy array metadata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riangle 26"/>
          <p:cNvSpPr/>
          <p:nvPr/>
        </p:nvSpPr>
        <p:spPr>
          <a:xfrm rot="5400000">
            <a:off x="4968720" y="3621240"/>
            <a:ext cx="3537360" cy="381960"/>
          </a:xfrm>
          <a:prstGeom prst="triangle">
            <a:avLst>
              <a:gd name="adj" fmla="val 50275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pic>
        <p:nvPicPr>
          <p:cNvPr id="192" name="Picture 2"/>
          <p:cNvPicPr/>
          <p:nvPr/>
        </p:nvPicPr>
        <p:blipFill>
          <a:blip r:embed="rId3"/>
          <a:srcRect b="32467"/>
          <a:stretch/>
        </p:blipFill>
        <p:spPr>
          <a:xfrm flipH="1">
            <a:off x="5878080" y="2443320"/>
            <a:ext cx="1744560" cy="11934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3" name="Table 23"/>
          <p:cNvGraphicFramePr/>
          <p:nvPr/>
        </p:nvGraphicFramePr>
        <p:xfrm>
          <a:off x="1240920" y="3816000"/>
          <a:ext cx="3127680" cy="1620000"/>
        </p:xfrm>
        <a:graphic>
          <a:graphicData uri="http://schemas.openxmlformats.org/drawingml/2006/table">
            <a:tbl>
              <a:tblPr/>
              <a:tblGrid>
                <a:gridCol w="1563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5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dtype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int64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ndim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shape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(9,)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strides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(8,)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CH" sz="440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Same data, different views</a:t>
            </a:r>
            <a:endParaRPr lang="en-US" sz="440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7081BE80-10E3-4B16-AED9-B33E9CE07884}" type="slidenum">
              <a:rPr/>
              <a:t>7</a:t>
            </a:fld>
            <a:endParaRPr/>
          </a:p>
        </p:txBody>
      </p:sp>
      <p:sp>
        <p:nvSpPr>
          <p:cNvPr id="195" name="PlaceHolder 2"/>
          <p:cNvSpPr>
            <a:spLocks noGrp="1"/>
          </p:cNvSpPr>
          <p:nvPr>
            <p:ph type="dt" idx="18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96" name="Table 9"/>
          <p:cNvGraphicFramePr/>
          <p:nvPr/>
        </p:nvGraphicFramePr>
        <p:xfrm>
          <a:off x="1240920" y="2080080"/>
          <a:ext cx="4406400" cy="473400"/>
        </p:xfrm>
        <a:graphic>
          <a:graphicData uri="http://schemas.openxmlformats.org/drawingml/2006/table">
            <a:tbl>
              <a:tblPr/>
              <a:tblGrid>
                <a:gridCol w="48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7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4472C4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38160">
                      <a:solidFill>
                        <a:srgbClr val="4472C4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4472C4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38160">
                      <a:solidFill>
                        <a:srgbClr val="4472C4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7" name="TextBox 10"/>
          <p:cNvSpPr/>
          <p:nvPr/>
        </p:nvSpPr>
        <p:spPr>
          <a:xfrm>
            <a:off x="880920" y="2553840"/>
            <a:ext cx="122328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H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int64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H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 bytes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12"/>
          <p:cNvSpPr/>
          <p:nvPr/>
        </p:nvSpPr>
        <p:spPr>
          <a:xfrm>
            <a:off x="1168920" y="1658880"/>
            <a:ext cx="28450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2000" b="1" u="none" strike="noStrike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FillTx/>
                <a:latin typeface="Calibri"/>
                <a:ea typeface="DejaVu Sans"/>
              </a:rPr>
              <a:t>Memory block storage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16"/>
          <p:cNvSpPr/>
          <p:nvPr/>
        </p:nvSpPr>
        <p:spPr>
          <a:xfrm>
            <a:off x="7491960" y="3814920"/>
            <a:ext cx="194364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2000" b="1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Calibri"/>
                <a:ea typeface="DejaVu Sans"/>
              </a:rPr>
              <a:t>NumPy 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17"/>
          <p:cNvSpPr/>
          <p:nvPr/>
        </p:nvSpPr>
        <p:spPr>
          <a:xfrm>
            <a:off x="1163880" y="3432960"/>
            <a:ext cx="31273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2000" b="1" u="none" strike="noStrike">
                <a:solidFill>
                  <a:srgbClr val="808080"/>
                </a:solidFill>
                <a:effectLst/>
                <a:uFillTx/>
                <a:latin typeface="Calibri"/>
                <a:ea typeface="DejaVu Sans"/>
              </a:rPr>
              <a:t>NumPy array metadata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riangle 20"/>
          <p:cNvSpPr/>
          <p:nvPr/>
        </p:nvSpPr>
        <p:spPr>
          <a:xfrm rot="5400000">
            <a:off x="4968720" y="3621240"/>
            <a:ext cx="3537360" cy="381960"/>
          </a:xfrm>
          <a:prstGeom prst="triangle">
            <a:avLst>
              <a:gd name="adj" fmla="val 50275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pic>
        <p:nvPicPr>
          <p:cNvPr id="202" name="Picture 2"/>
          <p:cNvPicPr/>
          <p:nvPr/>
        </p:nvPicPr>
        <p:blipFill>
          <a:blip r:embed="rId3"/>
          <a:srcRect b="32467"/>
          <a:stretch/>
        </p:blipFill>
        <p:spPr>
          <a:xfrm flipH="1">
            <a:off x="5878080" y="2443320"/>
            <a:ext cx="1744560" cy="119340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03" name="Table 22"/>
          <p:cNvGraphicFramePr/>
          <p:nvPr/>
        </p:nvGraphicFramePr>
        <p:xfrm>
          <a:off x="7597080" y="4264560"/>
          <a:ext cx="3959280" cy="457200"/>
        </p:xfrm>
        <a:graphic>
          <a:graphicData uri="http://schemas.openxmlformats.org/drawingml/2006/table">
            <a:tbl>
              <a:tblPr/>
              <a:tblGrid>
                <a:gridCol w="43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9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9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9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9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5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825120" y="43380"/>
            <a:ext cx="10514880" cy="9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 dirty="0">
                <a:solidFill>
                  <a:srgbClr val="000000"/>
                </a:solidFill>
                <a:effectLst/>
                <a:uFillTx/>
                <a:latin typeface="Calibri Light"/>
              </a:rPr>
              <a:t>O(1) operations in NumPy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559B9DB0-4BB1-4035-9D8C-B046F6439D11}" type="slidenum">
              <a:rPr/>
              <a:t>8</a:t>
            </a:fld>
            <a:endParaRPr/>
          </a:p>
        </p:txBody>
      </p:sp>
      <p:sp>
        <p:nvSpPr>
          <p:cNvPr id="205" name="PlaceHolder 2"/>
          <p:cNvSpPr>
            <a:spLocks noGrp="1"/>
          </p:cNvSpPr>
          <p:nvPr>
            <p:ph type="dt" idx="18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TextBox 5"/>
          <p:cNvSpPr/>
          <p:nvPr/>
        </p:nvSpPr>
        <p:spPr>
          <a:xfrm>
            <a:off x="6375240" y="1817640"/>
            <a:ext cx="1943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1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Calibri"/>
                <a:ea typeface="DejaVu Sans"/>
              </a:rPr>
              <a:t>NumPy 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07" name="Table 6"/>
          <p:cNvGraphicFramePr/>
          <p:nvPr/>
        </p:nvGraphicFramePr>
        <p:xfrm>
          <a:off x="6588720" y="3611160"/>
          <a:ext cx="4544640" cy="295560"/>
        </p:xfrm>
        <a:graphic>
          <a:graphicData uri="http://schemas.openxmlformats.org/drawingml/2006/table">
            <a:tbl>
              <a:tblPr/>
              <a:tblGrid>
                <a:gridCol w="37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8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87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87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87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87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95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360" marR="90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360" marR="90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360" marR="90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360" marR="90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360" marR="90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360" marR="90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360" marR="90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360" marR="90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360" marR="90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360" marR="90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360" marR="90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360" marR="90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8" name="Table 8"/>
          <p:cNvGraphicFramePr/>
          <p:nvPr/>
        </p:nvGraphicFramePr>
        <p:xfrm>
          <a:off x="6588720" y="4389120"/>
          <a:ext cx="1353600" cy="999000"/>
        </p:xfrm>
        <a:graphic>
          <a:graphicData uri="http://schemas.openxmlformats.org/drawingml/2006/table">
            <a:tbl>
              <a:tblPr/>
              <a:tblGrid>
                <a:gridCol w="3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3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7040" marR="770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7040" marR="770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7040" marR="770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7040" marR="770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7040" marR="770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7040" marR="770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7040" marR="770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7040" marR="770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7040" marR="770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7040" marR="770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7040" marR="770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7040" marR="770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9" name="Table 9"/>
          <p:cNvGraphicFramePr/>
          <p:nvPr/>
        </p:nvGraphicFramePr>
        <p:xfrm>
          <a:off x="6588720" y="2163240"/>
          <a:ext cx="1107000" cy="1238400"/>
        </p:xfrm>
        <a:graphic>
          <a:graphicData uri="http://schemas.openxmlformats.org/drawingml/2006/table">
            <a:tbl>
              <a:tblPr/>
              <a:tblGrid>
                <a:gridCol w="36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10" name="Table 10"/>
          <p:cNvGraphicFramePr/>
          <p:nvPr/>
        </p:nvGraphicFramePr>
        <p:xfrm>
          <a:off x="767520" y="1214280"/>
          <a:ext cx="5976360" cy="473400"/>
        </p:xfrm>
        <a:graphic>
          <a:graphicData uri="http://schemas.openxmlformats.org/drawingml/2006/table">
            <a:tbl>
              <a:tblPr/>
              <a:tblGrid>
                <a:gridCol w="45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7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1" name="TextBox 11"/>
          <p:cNvSpPr/>
          <p:nvPr/>
        </p:nvSpPr>
        <p:spPr>
          <a:xfrm>
            <a:off x="615960" y="784080"/>
            <a:ext cx="1943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1" u="none" strike="noStrike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FillTx/>
                <a:latin typeface="Calibri"/>
                <a:ea typeface="DejaVu Sans"/>
              </a:rPr>
              <a:t>Memory block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12"/>
          <p:cNvSpPr/>
          <p:nvPr/>
        </p:nvSpPr>
        <p:spPr>
          <a:xfrm>
            <a:off x="767520" y="3302280"/>
            <a:ext cx="28087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x.ravel()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13"/>
          <p:cNvSpPr/>
          <p:nvPr/>
        </p:nvSpPr>
        <p:spPr>
          <a:xfrm>
            <a:off x="580320" y="1807560"/>
            <a:ext cx="1943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H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NumPy operation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14"/>
          <p:cNvSpPr/>
          <p:nvPr/>
        </p:nvSpPr>
        <p:spPr>
          <a:xfrm>
            <a:off x="767520" y="4417200"/>
            <a:ext cx="28087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x.T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16"/>
          <p:cNvSpPr/>
          <p:nvPr/>
        </p:nvSpPr>
        <p:spPr>
          <a:xfrm>
            <a:off x="767520" y="2187000"/>
            <a:ext cx="28087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17"/>
          <p:cNvSpPr/>
          <p:nvPr/>
        </p:nvSpPr>
        <p:spPr>
          <a:xfrm>
            <a:off x="8136000" y="270000"/>
            <a:ext cx="3204000" cy="16142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H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When NumPy can execute a command by just changing the metadata, it does.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H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The result is a </a:t>
            </a:r>
            <a:r>
              <a:rPr lang="en-CH" sz="2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new view of the same data in memory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7" name="Table 18"/>
          <p:cNvGraphicFramePr/>
          <p:nvPr/>
        </p:nvGraphicFramePr>
        <p:xfrm>
          <a:off x="3859560" y="3332160"/>
          <a:ext cx="2152800" cy="822960"/>
        </p:xfrm>
        <a:graphic>
          <a:graphicData uri="http://schemas.openxmlformats.org/drawingml/2006/table">
            <a:tbl>
              <a:tblPr/>
              <a:tblGrid>
                <a:gridCol w="10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ndim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shape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(12,)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strides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(8,)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8" name="TextBox 19"/>
          <p:cNvSpPr/>
          <p:nvPr/>
        </p:nvSpPr>
        <p:spPr>
          <a:xfrm>
            <a:off x="3639960" y="1817640"/>
            <a:ext cx="2591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H" sz="1800" b="1" u="none" strike="noStrike">
                <a:solidFill>
                  <a:srgbClr val="808080"/>
                </a:solidFill>
                <a:effectLst/>
                <a:uFillTx/>
                <a:latin typeface="Calibri"/>
                <a:ea typeface="DejaVu Sans"/>
              </a:rPr>
              <a:t>NumPy array metadata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9" name="Table 21"/>
          <p:cNvGraphicFramePr/>
          <p:nvPr/>
        </p:nvGraphicFramePr>
        <p:xfrm>
          <a:off x="3859560" y="4477320"/>
          <a:ext cx="2152800" cy="822960"/>
        </p:xfrm>
        <a:graphic>
          <a:graphicData uri="http://schemas.openxmlformats.org/drawingml/2006/table">
            <a:tbl>
              <a:tblPr/>
              <a:tblGrid>
                <a:gridCol w="10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ndim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shape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(3, 4)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strides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(8, 24)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20" name="Table 22"/>
          <p:cNvGraphicFramePr/>
          <p:nvPr/>
        </p:nvGraphicFramePr>
        <p:xfrm>
          <a:off x="3859560" y="2187360"/>
          <a:ext cx="2152800" cy="822960"/>
        </p:xfrm>
        <a:graphic>
          <a:graphicData uri="http://schemas.openxmlformats.org/drawingml/2006/table">
            <a:tbl>
              <a:tblPr/>
              <a:tblGrid>
                <a:gridCol w="10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ndim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shape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(4, 3)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strides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(24, 8)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1" name="TextBox 23"/>
          <p:cNvSpPr/>
          <p:nvPr/>
        </p:nvSpPr>
        <p:spPr>
          <a:xfrm>
            <a:off x="767520" y="5532480"/>
            <a:ext cx="28087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x.reshape((2, 6))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2" name="Table 26"/>
          <p:cNvGraphicFramePr/>
          <p:nvPr/>
        </p:nvGraphicFramePr>
        <p:xfrm>
          <a:off x="3859560" y="5622120"/>
          <a:ext cx="2152800" cy="822960"/>
        </p:xfrm>
        <a:graphic>
          <a:graphicData uri="http://schemas.openxmlformats.org/drawingml/2006/table">
            <a:tbl>
              <a:tblPr/>
              <a:tblGrid>
                <a:gridCol w="10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ndim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shape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(2, 6)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strides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(48, 8)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23" name="Table 28"/>
          <p:cNvGraphicFramePr/>
          <p:nvPr/>
        </p:nvGraphicFramePr>
        <p:xfrm>
          <a:off x="6588720" y="5738040"/>
          <a:ext cx="2272320" cy="591120"/>
        </p:xfrm>
        <a:graphic>
          <a:graphicData uri="http://schemas.openxmlformats.org/drawingml/2006/table">
            <a:tbl>
              <a:tblPr/>
              <a:tblGrid>
                <a:gridCol w="37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5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360" marR="90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360" marR="90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360" marR="90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360" marR="90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360" marR="90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360" marR="90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360" marR="90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360" marR="90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360" marR="90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360" marR="90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360" marR="90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360" marR="90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The golden rule of NumPy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910AB7B5-445C-4251-8C8E-CF8E9509A145}" type="slidenum">
              <a:rPr/>
              <a:t>9</a:t>
            </a:fld>
            <a:endParaRPr/>
          </a:p>
        </p:txBody>
      </p:sp>
      <p:sp>
        <p:nvSpPr>
          <p:cNvPr id="225" name="PlaceHolder 2"/>
          <p:cNvSpPr>
            <a:spLocks noGrp="1"/>
          </p:cNvSpPr>
          <p:nvPr>
            <p:ph type="dt" idx="18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Title 4"/>
          <p:cNvSpPr/>
          <p:nvPr/>
        </p:nvSpPr>
        <p:spPr>
          <a:xfrm>
            <a:off x="407520" y="2332800"/>
            <a:ext cx="11521080" cy="2191680"/>
          </a:xfrm>
          <a:prstGeom prst="rect">
            <a:avLst/>
          </a:prstGeom>
          <a:solidFill>
            <a:srgbClr val="E3F1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CH" sz="3200" b="0" u="none" strike="noStrik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Operations that can be executed by only changing the metadata return a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“</a:t>
            </a:r>
            <a:r>
              <a:rPr lang="en-CH" sz="3200" b="1" u="none" strike="noStrik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view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 “ of the original data memory block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</a:pPr>
            <a:r>
              <a:rPr lang="en-CH" sz="3200" b="0" u="none" strike="noStrik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In all other cases,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it creates a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“copy”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 with a new data memory block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Views </a:t>
            </a:r>
            <a:r>
              <a:rPr lang="en-US" sz="4400" b="0" i="1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vs.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 copies in indexing operations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1B48600B-6A07-4E09-AC68-C02BCEE613EF}" type="slidenum">
              <a:rPr/>
              <a:t>10</a:t>
            </a:fld>
            <a:endParaRPr/>
          </a:p>
        </p:txBody>
      </p:sp>
      <p:sp>
        <p:nvSpPr>
          <p:cNvPr id="228" name="PlaceHolder 2"/>
          <p:cNvSpPr>
            <a:spLocks noGrp="1"/>
          </p:cNvSpPr>
          <p:nvPr>
            <p:ph type="dt" idx="18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29" name="Table 6"/>
          <p:cNvGraphicFramePr/>
          <p:nvPr/>
        </p:nvGraphicFramePr>
        <p:xfrm>
          <a:off x="6679440" y="2712240"/>
          <a:ext cx="1107000" cy="1238400"/>
        </p:xfrm>
        <a:graphic>
          <a:graphicData uri="http://schemas.openxmlformats.org/drawingml/2006/table">
            <a:tbl>
              <a:tblPr/>
              <a:tblGrid>
                <a:gridCol w="36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30" name="Table 7"/>
          <p:cNvGraphicFramePr/>
          <p:nvPr/>
        </p:nvGraphicFramePr>
        <p:xfrm>
          <a:off x="946440" y="1763280"/>
          <a:ext cx="5976360" cy="473400"/>
        </p:xfrm>
        <a:graphic>
          <a:graphicData uri="http://schemas.openxmlformats.org/drawingml/2006/table">
            <a:tbl>
              <a:tblPr/>
              <a:tblGrid>
                <a:gridCol w="45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7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8"/>
          <p:cNvSpPr/>
          <p:nvPr/>
        </p:nvSpPr>
        <p:spPr>
          <a:xfrm>
            <a:off x="795240" y="1333080"/>
            <a:ext cx="1943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1" u="none" strike="noStrike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FillTx/>
                <a:latin typeface="Calibri"/>
                <a:ea typeface="DejaVu Sans"/>
              </a:rPr>
              <a:t>Memory block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9"/>
          <p:cNvSpPr/>
          <p:nvPr/>
        </p:nvSpPr>
        <p:spPr>
          <a:xfrm>
            <a:off x="759600" y="2356560"/>
            <a:ext cx="1943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H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NumPy operation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10"/>
          <p:cNvSpPr/>
          <p:nvPr/>
        </p:nvSpPr>
        <p:spPr>
          <a:xfrm>
            <a:off x="946440" y="2736360"/>
            <a:ext cx="28087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11"/>
          <p:cNvSpPr/>
          <p:nvPr/>
        </p:nvSpPr>
        <p:spPr>
          <a:xfrm>
            <a:off x="3818880" y="2367000"/>
            <a:ext cx="2591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H" sz="1800" b="1" u="none" strike="noStrike">
                <a:solidFill>
                  <a:srgbClr val="808080"/>
                </a:solidFill>
                <a:effectLst/>
                <a:uFillTx/>
                <a:latin typeface="Calibri"/>
                <a:ea typeface="DejaVu Sans"/>
              </a:rPr>
              <a:t>NumPy array metadata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5" name="Table 12"/>
          <p:cNvGraphicFramePr/>
          <p:nvPr/>
        </p:nvGraphicFramePr>
        <p:xfrm>
          <a:off x="4038480" y="2736360"/>
          <a:ext cx="2152800" cy="1097280"/>
        </p:xfrm>
        <a:graphic>
          <a:graphicData uri="http://schemas.openxmlformats.org/drawingml/2006/table">
            <a:tbl>
              <a:tblPr/>
              <a:tblGrid>
                <a:gridCol w="10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dtype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int64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ndim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shape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(4, 3)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strides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(24, 8)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6" name="TextBox 13"/>
          <p:cNvSpPr/>
          <p:nvPr/>
        </p:nvSpPr>
        <p:spPr>
          <a:xfrm>
            <a:off x="987480" y="4621320"/>
            <a:ext cx="28087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x[::3, ::2]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7" name="Table 14"/>
          <p:cNvGraphicFramePr/>
          <p:nvPr/>
        </p:nvGraphicFramePr>
        <p:xfrm>
          <a:off x="6679440" y="4629960"/>
          <a:ext cx="738000" cy="619200"/>
        </p:xfrm>
        <a:graphic>
          <a:graphicData uri="http://schemas.openxmlformats.org/drawingml/2006/table">
            <a:tbl>
              <a:tblPr/>
              <a:tblGrid>
                <a:gridCol w="36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8" name="TextBox 15"/>
          <p:cNvSpPr/>
          <p:nvPr/>
        </p:nvSpPr>
        <p:spPr>
          <a:xfrm>
            <a:off x="8313120" y="4343760"/>
            <a:ext cx="3096720" cy="638280"/>
          </a:xfrm>
          <a:prstGeom prst="rect">
            <a:avLst/>
          </a:prstGeom>
          <a:solidFill>
            <a:srgbClr val="F0D0D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Can this operation be done just by changing the metadata?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9" name="Table 16"/>
          <p:cNvGraphicFramePr/>
          <p:nvPr/>
        </p:nvGraphicFramePr>
        <p:xfrm>
          <a:off x="4038480" y="4368600"/>
          <a:ext cx="2152800" cy="1097280"/>
        </p:xfrm>
        <a:graphic>
          <a:graphicData uri="http://schemas.openxmlformats.org/drawingml/2006/table">
            <a:tbl>
              <a:tblPr/>
              <a:tblGrid>
                <a:gridCol w="10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dtype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CH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ndim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CH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shape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CH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strides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CH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40" name="Group 19"/>
          <p:cNvGrpSpPr/>
          <p:nvPr/>
        </p:nvGrpSpPr>
        <p:grpSpPr>
          <a:xfrm>
            <a:off x="11052360" y="205920"/>
            <a:ext cx="827280" cy="702000"/>
            <a:chOff x="11052360" y="205920"/>
            <a:chExt cx="827280" cy="702000"/>
          </a:xfrm>
        </p:grpSpPr>
        <p:sp>
          <p:nvSpPr>
            <p:cNvPr id="241" name="Rectangle 20"/>
            <p:cNvSpPr/>
            <p:nvPr/>
          </p:nvSpPr>
          <p:spPr>
            <a:xfrm>
              <a:off x="11052360" y="205920"/>
              <a:ext cx="827280" cy="702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DE" sz="18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endParaRPr>
            </a:p>
          </p:txBody>
        </p:sp>
        <p:pic>
          <p:nvPicPr>
            <p:cNvPr id="242" name="Graphic 21"/>
            <p:cNvPicPr/>
            <p:nvPr/>
          </p:nvPicPr>
          <p:blipFill>
            <a:blip r:embed="rId3"/>
            <a:stretch/>
          </p:blipFill>
          <p:spPr>
            <a:xfrm>
              <a:off x="11119320" y="279720"/>
              <a:ext cx="693720" cy="5547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43" name="TextBox 23"/>
          <p:cNvSpPr/>
          <p:nvPr/>
        </p:nvSpPr>
        <p:spPr>
          <a:xfrm>
            <a:off x="841680" y="4233240"/>
            <a:ext cx="1943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Slicing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Views </a:t>
            </a:r>
            <a:r>
              <a:rPr lang="en-US" sz="4400" b="0" i="1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vs.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 copies in indexing operations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0FE333E5-57FA-48F5-BD1F-F0DACC2F8714}" type="slidenum">
              <a:rPr/>
              <a:t>11</a:t>
            </a:fld>
            <a:endParaRPr/>
          </a:p>
        </p:txBody>
      </p:sp>
      <p:sp>
        <p:nvSpPr>
          <p:cNvPr id="245" name="PlaceHolder 2"/>
          <p:cNvSpPr>
            <a:spLocks noGrp="1"/>
          </p:cNvSpPr>
          <p:nvPr>
            <p:ph type="dt" idx="18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46" name="Table 6"/>
          <p:cNvGraphicFramePr/>
          <p:nvPr/>
        </p:nvGraphicFramePr>
        <p:xfrm>
          <a:off x="6679440" y="2712240"/>
          <a:ext cx="1107000" cy="1238400"/>
        </p:xfrm>
        <a:graphic>
          <a:graphicData uri="http://schemas.openxmlformats.org/drawingml/2006/table">
            <a:tbl>
              <a:tblPr/>
              <a:tblGrid>
                <a:gridCol w="36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47" name="Table 7"/>
          <p:cNvGraphicFramePr/>
          <p:nvPr/>
        </p:nvGraphicFramePr>
        <p:xfrm>
          <a:off x="946440" y="1763280"/>
          <a:ext cx="5976360" cy="473400"/>
        </p:xfrm>
        <a:graphic>
          <a:graphicData uri="http://schemas.openxmlformats.org/drawingml/2006/table">
            <a:tbl>
              <a:tblPr/>
              <a:tblGrid>
                <a:gridCol w="45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7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8" name="TextBox 8"/>
          <p:cNvSpPr/>
          <p:nvPr/>
        </p:nvSpPr>
        <p:spPr>
          <a:xfrm>
            <a:off x="795240" y="1333080"/>
            <a:ext cx="1943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1" u="none" strike="noStrike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FillTx/>
                <a:latin typeface="Calibri"/>
                <a:ea typeface="DejaVu Sans"/>
              </a:rPr>
              <a:t>Memory block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9"/>
          <p:cNvSpPr/>
          <p:nvPr/>
        </p:nvSpPr>
        <p:spPr>
          <a:xfrm>
            <a:off x="759600" y="2356560"/>
            <a:ext cx="1943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H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NumPy operation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10"/>
          <p:cNvSpPr/>
          <p:nvPr/>
        </p:nvSpPr>
        <p:spPr>
          <a:xfrm>
            <a:off x="946440" y="2736360"/>
            <a:ext cx="28087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11"/>
          <p:cNvSpPr/>
          <p:nvPr/>
        </p:nvSpPr>
        <p:spPr>
          <a:xfrm>
            <a:off x="3818880" y="2367000"/>
            <a:ext cx="2591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H" sz="1800" b="1" u="none" strike="noStrike">
                <a:solidFill>
                  <a:srgbClr val="808080"/>
                </a:solidFill>
                <a:effectLst/>
                <a:uFillTx/>
                <a:latin typeface="Calibri"/>
                <a:ea typeface="DejaVu Sans"/>
              </a:rPr>
              <a:t>NumPy array metadata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2" name="Table 12"/>
          <p:cNvGraphicFramePr/>
          <p:nvPr/>
        </p:nvGraphicFramePr>
        <p:xfrm>
          <a:off x="4038480" y="2736360"/>
          <a:ext cx="2152800" cy="1097280"/>
        </p:xfrm>
        <a:graphic>
          <a:graphicData uri="http://schemas.openxmlformats.org/drawingml/2006/table">
            <a:tbl>
              <a:tblPr/>
              <a:tblGrid>
                <a:gridCol w="10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dtype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int64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ndim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shape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(4, 3)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strides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(24, 8)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3" name="TextBox 13"/>
          <p:cNvSpPr/>
          <p:nvPr/>
        </p:nvSpPr>
        <p:spPr>
          <a:xfrm>
            <a:off x="987480" y="4621320"/>
            <a:ext cx="28087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x[::3, ::2]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4" name="Table 14"/>
          <p:cNvGraphicFramePr/>
          <p:nvPr/>
        </p:nvGraphicFramePr>
        <p:xfrm>
          <a:off x="6679440" y="4629960"/>
          <a:ext cx="738000" cy="619200"/>
        </p:xfrm>
        <a:graphic>
          <a:graphicData uri="http://schemas.openxmlformats.org/drawingml/2006/table">
            <a:tbl>
              <a:tblPr/>
              <a:tblGrid>
                <a:gridCol w="36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5" name="Table 16"/>
          <p:cNvGraphicFramePr/>
          <p:nvPr/>
        </p:nvGraphicFramePr>
        <p:xfrm>
          <a:off x="4038480" y="4368600"/>
          <a:ext cx="2152800" cy="1097280"/>
        </p:xfrm>
        <a:graphic>
          <a:graphicData uri="http://schemas.openxmlformats.org/drawingml/2006/table">
            <a:tbl>
              <a:tblPr/>
              <a:tblGrid>
                <a:gridCol w="10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dtype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int64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ndim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shape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(2, 2)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strides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(72, 16)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6" name="TextBox 17"/>
          <p:cNvSpPr/>
          <p:nvPr/>
        </p:nvSpPr>
        <p:spPr>
          <a:xfrm>
            <a:off x="8313120" y="5504040"/>
            <a:ext cx="3096720" cy="638280"/>
          </a:xfrm>
          <a:prstGeom prst="rect">
            <a:avLst/>
          </a:prstGeom>
          <a:solidFill>
            <a:srgbClr val="F0D0D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Can it be done for all slicing operations?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18"/>
          <p:cNvSpPr/>
          <p:nvPr/>
        </p:nvSpPr>
        <p:spPr>
          <a:xfrm>
            <a:off x="8313120" y="4343760"/>
            <a:ext cx="3096720" cy="943200"/>
          </a:xfrm>
          <a:prstGeom prst="rect">
            <a:avLst/>
          </a:prstGeom>
          <a:solidFill>
            <a:srgbClr val="F0D0D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Can this operation be done just by changing the metadata?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YES!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8" name="Group 19"/>
          <p:cNvGrpSpPr/>
          <p:nvPr/>
        </p:nvGrpSpPr>
        <p:grpSpPr>
          <a:xfrm>
            <a:off x="11052360" y="205920"/>
            <a:ext cx="827280" cy="702000"/>
            <a:chOff x="11052360" y="205920"/>
            <a:chExt cx="827280" cy="702000"/>
          </a:xfrm>
        </p:grpSpPr>
        <p:sp>
          <p:nvSpPr>
            <p:cNvPr id="259" name="Rectangle 20"/>
            <p:cNvSpPr/>
            <p:nvPr/>
          </p:nvSpPr>
          <p:spPr>
            <a:xfrm>
              <a:off x="11052360" y="205920"/>
              <a:ext cx="827280" cy="702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DE" sz="18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endParaRPr>
            </a:p>
          </p:txBody>
        </p:sp>
        <p:pic>
          <p:nvPicPr>
            <p:cNvPr id="260" name="Graphic 21"/>
            <p:cNvPicPr/>
            <p:nvPr/>
          </p:nvPicPr>
          <p:blipFill>
            <a:blip r:embed="rId2"/>
            <a:stretch/>
          </p:blipFill>
          <p:spPr>
            <a:xfrm>
              <a:off x="11119320" y="279720"/>
              <a:ext cx="693720" cy="5547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61" name="TextBox 22"/>
          <p:cNvSpPr/>
          <p:nvPr/>
        </p:nvSpPr>
        <p:spPr>
          <a:xfrm>
            <a:off x="841680" y="4233240"/>
            <a:ext cx="1943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Slicing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Views </a:t>
            </a:r>
            <a:r>
              <a:rPr lang="en-US" sz="4400" b="0" i="1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vs.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 copies in indexing operations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352AEB28-D12D-4131-B88B-7D50F0936FC1}" type="slidenum">
              <a:rPr/>
              <a:t>12</a:t>
            </a:fld>
            <a:endParaRPr/>
          </a:p>
        </p:txBody>
      </p:sp>
      <p:sp>
        <p:nvSpPr>
          <p:cNvPr id="263" name="PlaceHolder 2"/>
          <p:cNvSpPr>
            <a:spLocks noGrp="1"/>
          </p:cNvSpPr>
          <p:nvPr>
            <p:ph type="dt" idx="18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64" name="Table 6"/>
          <p:cNvGraphicFramePr/>
          <p:nvPr/>
        </p:nvGraphicFramePr>
        <p:xfrm>
          <a:off x="6679440" y="2712240"/>
          <a:ext cx="1107000" cy="1238400"/>
        </p:xfrm>
        <a:graphic>
          <a:graphicData uri="http://schemas.openxmlformats.org/drawingml/2006/table">
            <a:tbl>
              <a:tblPr/>
              <a:tblGrid>
                <a:gridCol w="36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65" name="Table 7"/>
          <p:cNvGraphicFramePr/>
          <p:nvPr/>
        </p:nvGraphicFramePr>
        <p:xfrm>
          <a:off x="946440" y="1763280"/>
          <a:ext cx="5976360" cy="473400"/>
        </p:xfrm>
        <a:graphic>
          <a:graphicData uri="http://schemas.openxmlformats.org/drawingml/2006/table">
            <a:tbl>
              <a:tblPr/>
              <a:tblGrid>
                <a:gridCol w="45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7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6" name="TextBox 8"/>
          <p:cNvSpPr/>
          <p:nvPr/>
        </p:nvSpPr>
        <p:spPr>
          <a:xfrm>
            <a:off x="795240" y="1333080"/>
            <a:ext cx="1943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1" u="none" strike="noStrike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FillTx/>
                <a:latin typeface="Calibri"/>
                <a:ea typeface="DejaVu Sans"/>
              </a:rPr>
              <a:t>Memory block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9"/>
          <p:cNvSpPr/>
          <p:nvPr/>
        </p:nvSpPr>
        <p:spPr>
          <a:xfrm>
            <a:off x="759600" y="2356560"/>
            <a:ext cx="1943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H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NumPy operation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10"/>
          <p:cNvSpPr/>
          <p:nvPr/>
        </p:nvSpPr>
        <p:spPr>
          <a:xfrm>
            <a:off x="946440" y="2736360"/>
            <a:ext cx="28087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11"/>
          <p:cNvSpPr/>
          <p:nvPr/>
        </p:nvSpPr>
        <p:spPr>
          <a:xfrm>
            <a:off x="3818880" y="2367000"/>
            <a:ext cx="2591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H" sz="1800" b="1" u="none" strike="noStrike">
                <a:solidFill>
                  <a:srgbClr val="808080"/>
                </a:solidFill>
                <a:effectLst/>
                <a:uFillTx/>
                <a:latin typeface="Calibri"/>
                <a:ea typeface="DejaVu Sans"/>
              </a:rPr>
              <a:t>NumPy array metadata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0" name="Table 12"/>
          <p:cNvGraphicFramePr/>
          <p:nvPr/>
        </p:nvGraphicFramePr>
        <p:xfrm>
          <a:off x="4038480" y="2736360"/>
          <a:ext cx="2152800" cy="1097280"/>
        </p:xfrm>
        <a:graphic>
          <a:graphicData uri="http://schemas.openxmlformats.org/drawingml/2006/table">
            <a:tbl>
              <a:tblPr/>
              <a:tblGrid>
                <a:gridCol w="10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dtype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int64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ndim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shape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(4, 3)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strides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(24, 8)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1" name="TextBox 13"/>
          <p:cNvSpPr/>
          <p:nvPr/>
        </p:nvSpPr>
        <p:spPr>
          <a:xfrm>
            <a:off x="987480" y="4621320"/>
            <a:ext cx="28087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x[::3, ::2]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2" name="Table 14"/>
          <p:cNvGraphicFramePr/>
          <p:nvPr/>
        </p:nvGraphicFramePr>
        <p:xfrm>
          <a:off x="6679440" y="4629960"/>
          <a:ext cx="738000" cy="619200"/>
        </p:xfrm>
        <a:graphic>
          <a:graphicData uri="http://schemas.openxmlformats.org/drawingml/2006/table">
            <a:tbl>
              <a:tblPr/>
              <a:tblGrid>
                <a:gridCol w="36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3" name="Table 16"/>
          <p:cNvGraphicFramePr/>
          <p:nvPr/>
        </p:nvGraphicFramePr>
        <p:xfrm>
          <a:off x="4038480" y="4368600"/>
          <a:ext cx="2152800" cy="1097280"/>
        </p:xfrm>
        <a:graphic>
          <a:graphicData uri="http://schemas.openxmlformats.org/drawingml/2006/table">
            <a:tbl>
              <a:tblPr/>
              <a:tblGrid>
                <a:gridCol w="10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dtype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int64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ndim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shape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(2, 2)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strides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(72, 16)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4" name="TextBox 5"/>
          <p:cNvSpPr/>
          <p:nvPr/>
        </p:nvSpPr>
        <p:spPr>
          <a:xfrm>
            <a:off x="2553480" y="2767320"/>
            <a:ext cx="7084080" cy="1308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Slicing always returns </a:t>
            </a:r>
            <a:br>
              <a:rPr sz="4000"/>
            </a:b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 </a:t>
            </a: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view</a:t>
            </a: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 of the original array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18"/>
          <p:cNvSpPr/>
          <p:nvPr/>
        </p:nvSpPr>
        <p:spPr>
          <a:xfrm>
            <a:off x="8313120" y="5504040"/>
            <a:ext cx="3096720" cy="943200"/>
          </a:xfrm>
          <a:prstGeom prst="rect">
            <a:avLst/>
          </a:prstGeom>
          <a:solidFill>
            <a:srgbClr val="F0D0D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Can it be done for all slicing operations?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YES!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19"/>
          <p:cNvSpPr/>
          <p:nvPr/>
        </p:nvSpPr>
        <p:spPr>
          <a:xfrm>
            <a:off x="8313120" y="4343760"/>
            <a:ext cx="3096720" cy="943200"/>
          </a:xfrm>
          <a:prstGeom prst="rect">
            <a:avLst/>
          </a:prstGeom>
          <a:solidFill>
            <a:srgbClr val="F0D0D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Can this operation be done just by changing the metadata?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YES!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20"/>
          <p:cNvSpPr/>
          <p:nvPr/>
        </p:nvSpPr>
        <p:spPr>
          <a:xfrm>
            <a:off x="841680" y="4233240"/>
            <a:ext cx="1943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Slicing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Views </a:t>
            </a:r>
            <a:r>
              <a:rPr lang="en-US" sz="4400" b="0" i="1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vs.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 copies in indexing operations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000497DA-17F2-464F-B665-13E0D7A2DABF}" type="slidenum">
              <a:rPr/>
              <a:t>13</a:t>
            </a:fld>
            <a:endParaRPr/>
          </a:p>
        </p:txBody>
      </p:sp>
      <p:sp>
        <p:nvSpPr>
          <p:cNvPr id="279" name="PlaceHolder 2"/>
          <p:cNvSpPr>
            <a:spLocks noGrp="1"/>
          </p:cNvSpPr>
          <p:nvPr>
            <p:ph type="dt" idx="18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80" name="Table 6"/>
          <p:cNvGraphicFramePr/>
          <p:nvPr/>
        </p:nvGraphicFramePr>
        <p:xfrm>
          <a:off x="6679440" y="2712240"/>
          <a:ext cx="1107000" cy="1238400"/>
        </p:xfrm>
        <a:graphic>
          <a:graphicData uri="http://schemas.openxmlformats.org/drawingml/2006/table">
            <a:tbl>
              <a:tblPr/>
              <a:tblGrid>
                <a:gridCol w="36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81" name="Table 7"/>
          <p:cNvGraphicFramePr/>
          <p:nvPr/>
        </p:nvGraphicFramePr>
        <p:xfrm>
          <a:off x="946440" y="1763280"/>
          <a:ext cx="5976360" cy="473400"/>
        </p:xfrm>
        <a:graphic>
          <a:graphicData uri="http://schemas.openxmlformats.org/drawingml/2006/table">
            <a:tbl>
              <a:tblPr/>
              <a:tblGrid>
                <a:gridCol w="45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7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2" name="TextBox 8"/>
          <p:cNvSpPr/>
          <p:nvPr/>
        </p:nvSpPr>
        <p:spPr>
          <a:xfrm>
            <a:off x="795240" y="1333080"/>
            <a:ext cx="1943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1" u="none" strike="noStrike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FillTx/>
                <a:latin typeface="Calibri"/>
                <a:ea typeface="DejaVu Sans"/>
              </a:rPr>
              <a:t>Memory block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9"/>
          <p:cNvSpPr/>
          <p:nvPr/>
        </p:nvSpPr>
        <p:spPr>
          <a:xfrm>
            <a:off x="759600" y="2356560"/>
            <a:ext cx="1943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H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NumPy operation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10"/>
          <p:cNvSpPr/>
          <p:nvPr/>
        </p:nvSpPr>
        <p:spPr>
          <a:xfrm>
            <a:off x="946440" y="2736360"/>
            <a:ext cx="28087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11"/>
          <p:cNvSpPr/>
          <p:nvPr/>
        </p:nvSpPr>
        <p:spPr>
          <a:xfrm>
            <a:off x="3818880" y="2367000"/>
            <a:ext cx="2591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H" sz="1800" b="1" u="none" strike="noStrike">
                <a:solidFill>
                  <a:srgbClr val="808080"/>
                </a:solidFill>
                <a:effectLst/>
                <a:uFillTx/>
                <a:latin typeface="Calibri"/>
                <a:ea typeface="DejaVu Sans"/>
              </a:rPr>
              <a:t>NumPy array metadata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86" name="Table 12"/>
          <p:cNvGraphicFramePr/>
          <p:nvPr/>
        </p:nvGraphicFramePr>
        <p:xfrm>
          <a:off x="4038480" y="2736360"/>
          <a:ext cx="2152800" cy="1097280"/>
        </p:xfrm>
        <a:graphic>
          <a:graphicData uri="http://schemas.openxmlformats.org/drawingml/2006/table">
            <a:tbl>
              <a:tblPr/>
              <a:tblGrid>
                <a:gridCol w="10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dtype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int64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ndim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shape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(4, 3)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strides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(24, 8)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7" name="TextBox 13"/>
          <p:cNvSpPr/>
          <p:nvPr/>
        </p:nvSpPr>
        <p:spPr>
          <a:xfrm>
            <a:off x="987480" y="4621320"/>
            <a:ext cx="323568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x[[0, 2, 3], [1, 2, 1]]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15"/>
          <p:cNvSpPr/>
          <p:nvPr/>
        </p:nvSpPr>
        <p:spPr>
          <a:xfrm>
            <a:off x="8313120" y="4343760"/>
            <a:ext cx="3096720" cy="638280"/>
          </a:xfrm>
          <a:prstGeom prst="rect">
            <a:avLst/>
          </a:prstGeom>
          <a:solidFill>
            <a:srgbClr val="F0D0D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Can this operation be done just by changing the metadata?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89" name="Table 16"/>
          <p:cNvGraphicFramePr/>
          <p:nvPr/>
        </p:nvGraphicFramePr>
        <p:xfrm>
          <a:off x="4038480" y="4368600"/>
          <a:ext cx="2152800" cy="1097280"/>
        </p:xfrm>
        <a:graphic>
          <a:graphicData uri="http://schemas.openxmlformats.org/drawingml/2006/table">
            <a:tbl>
              <a:tblPr/>
              <a:tblGrid>
                <a:gridCol w="10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dtype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CH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ndim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CH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shape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CH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strides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CH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90" name="Group 19"/>
          <p:cNvGrpSpPr/>
          <p:nvPr/>
        </p:nvGrpSpPr>
        <p:grpSpPr>
          <a:xfrm>
            <a:off x="11052360" y="205920"/>
            <a:ext cx="827280" cy="702000"/>
            <a:chOff x="11052360" y="205920"/>
            <a:chExt cx="827280" cy="702000"/>
          </a:xfrm>
        </p:grpSpPr>
        <p:sp>
          <p:nvSpPr>
            <p:cNvPr id="291" name="Rectangle 20"/>
            <p:cNvSpPr/>
            <p:nvPr/>
          </p:nvSpPr>
          <p:spPr>
            <a:xfrm>
              <a:off x="11052360" y="205920"/>
              <a:ext cx="827280" cy="702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DE" sz="18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endParaRPr>
            </a:p>
          </p:txBody>
        </p:sp>
        <p:pic>
          <p:nvPicPr>
            <p:cNvPr id="292" name="Graphic 21"/>
            <p:cNvPicPr/>
            <p:nvPr/>
          </p:nvPicPr>
          <p:blipFill>
            <a:blip r:embed="rId2"/>
            <a:stretch/>
          </p:blipFill>
          <p:spPr>
            <a:xfrm>
              <a:off x="11119320" y="279720"/>
              <a:ext cx="693720" cy="5547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93" name="Left Brace 17"/>
          <p:cNvSpPr/>
          <p:nvPr/>
        </p:nvSpPr>
        <p:spPr>
          <a:xfrm rot="16200000">
            <a:off x="1773000" y="4604400"/>
            <a:ext cx="287280" cy="1170000"/>
          </a:xfrm>
          <a:prstGeom prst="leftBrace">
            <a:avLst>
              <a:gd name="adj1" fmla="val 8333"/>
              <a:gd name="adj2" fmla="val 50000"/>
            </a:avLst>
          </a:prstGeom>
          <a:noFill/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94" name="Left Brace 18"/>
          <p:cNvSpPr/>
          <p:nvPr/>
        </p:nvSpPr>
        <p:spPr>
          <a:xfrm rot="16200000">
            <a:off x="3152160" y="4605480"/>
            <a:ext cx="287280" cy="1170000"/>
          </a:xfrm>
          <a:prstGeom prst="leftBrace">
            <a:avLst>
              <a:gd name="adj1" fmla="val 8333"/>
              <a:gd name="adj2" fmla="val 50000"/>
            </a:avLst>
          </a:prstGeom>
          <a:noFill/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95" name="TextBox 22"/>
          <p:cNvSpPr/>
          <p:nvPr/>
        </p:nvSpPr>
        <p:spPr>
          <a:xfrm>
            <a:off x="1449360" y="5323320"/>
            <a:ext cx="93492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row indices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23"/>
          <p:cNvSpPr/>
          <p:nvPr/>
        </p:nvSpPr>
        <p:spPr>
          <a:xfrm>
            <a:off x="2861280" y="5321160"/>
            <a:ext cx="93492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column indices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97" name="Table 24"/>
          <p:cNvGraphicFramePr/>
          <p:nvPr/>
        </p:nvGraphicFramePr>
        <p:xfrm>
          <a:off x="6698160" y="4735080"/>
          <a:ext cx="1107000" cy="309600"/>
        </p:xfrm>
        <a:graphic>
          <a:graphicData uri="http://schemas.openxmlformats.org/drawingml/2006/table">
            <a:tbl>
              <a:tblPr/>
              <a:tblGrid>
                <a:gridCol w="36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8" name="TextBox 26"/>
          <p:cNvSpPr/>
          <p:nvPr/>
        </p:nvSpPr>
        <p:spPr>
          <a:xfrm>
            <a:off x="841680" y="4233240"/>
            <a:ext cx="1943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Fancy indexing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 dirty="0">
                <a:solidFill>
                  <a:srgbClr val="000000"/>
                </a:solidFill>
                <a:effectLst/>
                <a:uFillTx/>
                <a:latin typeface="Calibri Light"/>
              </a:rPr>
              <a:t>View vs copies in indexing operations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519218EB-1F89-478F-A9A7-427F287ABEE7}" type="slidenum">
              <a:rPr/>
              <a:t>14</a:t>
            </a:fld>
            <a:endParaRPr/>
          </a:p>
        </p:txBody>
      </p:sp>
      <p:sp>
        <p:nvSpPr>
          <p:cNvPr id="300" name="PlaceHolder 2"/>
          <p:cNvSpPr>
            <a:spLocks noGrp="1"/>
          </p:cNvSpPr>
          <p:nvPr>
            <p:ph type="dt" idx="18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01" name="Table 6"/>
          <p:cNvGraphicFramePr/>
          <p:nvPr/>
        </p:nvGraphicFramePr>
        <p:xfrm>
          <a:off x="6679440" y="2712240"/>
          <a:ext cx="1107000" cy="1238400"/>
        </p:xfrm>
        <a:graphic>
          <a:graphicData uri="http://schemas.openxmlformats.org/drawingml/2006/table">
            <a:tbl>
              <a:tblPr/>
              <a:tblGrid>
                <a:gridCol w="36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02" name="Table 7"/>
          <p:cNvGraphicFramePr/>
          <p:nvPr/>
        </p:nvGraphicFramePr>
        <p:xfrm>
          <a:off x="946440" y="1763280"/>
          <a:ext cx="5976360" cy="473400"/>
        </p:xfrm>
        <a:graphic>
          <a:graphicData uri="http://schemas.openxmlformats.org/drawingml/2006/table">
            <a:tbl>
              <a:tblPr/>
              <a:tblGrid>
                <a:gridCol w="45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7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3" name="TextBox 8"/>
          <p:cNvSpPr/>
          <p:nvPr/>
        </p:nvSpPr>
        <p:spPr>
          <a:xfrm>
            <a:off x="795240" y="1333080"/>
            <a:ext cx="1943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1" u="none" strike="noStrike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FillTx/>
                <a:latin typeface="Calibri"/>
                <a:ea typeface="DejaVu Sans"/>
              </a:rPr>
              <a:t>Memory block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9"/>
          <p:cNvSpPr/>
          <p:nvPr/>
        </p:nvSpPr>
        <p:spPr>
          <a:xfrm>
            <a:off x="759600" y="2356560"/>
            <a:ext cx="1943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H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NumPy operation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10"/>
          <p:cNvSpPr/>
          <p:nvPr/>
        </p:nvSpPr>
        <p:spPr>
          <a:xfrm>
            <a:off x="946440" y="2736360"/>
            <a:ext cx="28087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11"/>
          <p:cNvSpPr/>
          <p:nvPr/>
        </p:nvSpPr>
        <p:spPr>
          <a:xfrm>
            <a:off x="3818880" y="2367000"/>
            <a:ext cx="2591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H" sz="1800" b="1" u="none" strike="noStrike">
                <a:solidFill>
                  <a:srgbClr val="808080"/>
                </a:solidFill>
                <a:effectLst/>
                <a:uFillTx/>
                <a:latin typeface="Calibri"/>
                <a:ea typeface="DejaVu Sans"/>
              </a:rPr>
              <a:t>NumPy array metadata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07" name="Table 12"/>
          <p:cNvGraphicFramePr/>
          <p:nvPr/>
        </p:nvGraphicFramePr>
        <p:xfrm>
          <a:off x="4038480" y="2736360"/>
          <a:ext cx="2152800" cy="1097280"/>
        </p:xfrm>
        <a:graphic>
          <a:graphicData uri="http://schemas.openxmlformats.org/drawingml/2006/table">
            <a:tbl>
              <a:tblPr/>
              <a:tblGrid>
                <a:gridCol w="10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dtype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int64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ndim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shape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(4, 3)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strides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(24, 8)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8" name="TextBox 15"/>
          <p:cNvSpPr/>
          <p:nvPr/>
        </p:nvSpPr>
        <p:spPr>
          <a:xfrm>
            <a:off x="8313120" y="4343760"/>
            <a:ext cx="3096720" cy="943200"/>
          </a:xfrm>
          <a:prstGeom prst="rect">
            <a:avLst/>
          </a:prstGeom>
          <a:solidFill>
            <a:srgbClr val="F0D0D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Can this operation be done just by changing the metadata?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NO!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09" name="Table 16"/>
          <p:cNvGraphicFramePr/>
          <p:nvPr/>
        </p:nvGraphicFramePr>
        <p:xfrm>
          <a:off x="4038480" y="4368600"/>
          <a:ext cx="2152800" cy="1097280"/>
        </p:xfrm>
        <a:graphic>
          <a:graphicData uri="http://schemas.openxmlformats.org/drawingml/2006/table">
            <a:tbl>
              <a:tblPr/>
              <a:tblGrid>
                <a:gridCol w="10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dtype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i</a:t>
                      </a: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nt64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ndim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shape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(3,)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strides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???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10" name="Group 19"/>
          <p:cNvGrpSpPr/>
          <p:nvPr/>
        </p:nvGrpSpPr>
        <p:grpSpPr>
          <a:xfrm>
            <a:off x="11052360" y="205920"/>
            <a:ext cx="827280" cy="702000"/>
            <a:chOff x="11052360" y="205920"/>
            <a:chExt cx="827280" cy="702000"/>
          </a:xfrm>
        </p:grpSpPr>
        <p:sp>
          <p:nvSpPr>
            <p:cNvPr id="311" name="Rectangle 20"/>
            <p:cNvSpPr/>
            <p:nvPr/>
          </p:nvSpPr>
          <p:spPr>
            <a:xfrm>
              <a:off x="11052360" y="205920"/>
              <a:ext cx="827280" cy="702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DE" sz="18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endParaRPr>
            </a:p>
          </p:txBody>
        </p:sp>
        <p:pic>
          <p:nvPicPr>
            <p:cNvPr id="312" name="Graphic 21"/>
            <p:cNvPicPr/>
            <p:nvPr/>
          </p:nvPicPr>
          <p:blipFill>
            <a:blip r:embed="rId2"/>
            <a:stretch/>
          </p:blipFill>
          <p:spPr>
            <a:xfrm>
              <a:off x="11119320" y="279720"/>
              <a:ext cx="693720" cy="5547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13" name="Left Brace 17"/>
          <p:cNvSpPr/>
          <p:nvPr/>
        </p:nvSpPr>
        <p:spPr>
          <a:xfrm rot="16200000">
            <a:off x="1773000" y="4604400"/>
            <a:ext cx="287280" cy="1170000"/>
          </a:xfrm>
          <a:prstGeom prst="leftBrace">
            <a:avLst>
              <a:gd name="adj1" fmla="val 8333"/>
              <a:gd name="adj2" fmla="val 50000"/>
            </a:avLst>
          </a:prstGeom>
          <a:noFill/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14" name="Left Brace 18"/>
          <p:cNvSpPr/>
          <p:nvPr/>
        </p:nvSpPr>
        <p:spPr>
          <a:xfrm rot="16200000">
            <a:off x="3152160" y="4605480"/>
            <a:ext cx="287280" cy="1170000"/>
          </a:xfrm>
          <a:prstGeom prst="leftBrace">
            <a:avLst>
              <a:gd name="adj1" fmla="val 8333"/>
              <a:gd name="adj2" fmla="val 50000"/>
            </a:avLst>
          </a:prstGeom>
          <a:noFill/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15" name="TextBox 22"/>
          <p:cNvSpPr/>
          <p:nvPr/>
        </p:nvSpPr>
        <p:spPr>
          <a:xfrm>
            <a:off x="1449360" y="5323320"/>
            <a:ext cx="93492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row indices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23"/>
          <p:cNvSpPr/>
          <p:nvPr/>
        </p:nvSpPr>
        <p:spPr>
          <a:xfrm>
            <a:off x="2861280" y="5321160"/>
            <a:ext cx="93492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column indices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17" name="Table 24"/>
          <p:cNvGraphicFramePr/>
          <p:nvPr/>
        </p:nvGraphicFramePr>
        <p:xfrm>
          <a:off x="6698160" y="4735080"/>
          <a:ext cx="1107000" cy="309600"/>
        </p:xfrm>
        <a:graphic>
          <a:graphicData uri="http://schemas.openxmlformats.org/drawingml/2006/table">
            <a:tbl>
              <a:tblPr/>
              <a:tblGrid>
                <a:gridCol w="36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5160" marR="651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8" name="TextBox 14"/>
          <p:cNvSpPr/>
          <p:nvPr/>
        </p:nvSpPr>
        <p:spPr>
          <a:xfrm>
            <a:off x="841680" y="4233240"/>
            <a:ext cx="1943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Fancy indexing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25"/>
          <p:cNvSpPr/>
          <p:nvPr/>
        </p:nvSpPr>
        <p:spPr>
          <a:xfrm>
            <a:off x="987480" y="4621320"/>
            <a:ext cx="323568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x[[0, 2, 3], [1, 2, 1]]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26"/>
          <p:cNvSpPr/>
          <p:nvPr/>
        </p:nvSpPr>
        <p:spPr>
          <a:xfrm>
            <a:off x="2553480" y="2767320"/>
            <a:ext cx="7084080" cy="1308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Fancy indexing always returns </a:t>
            </a:r>
            <a:br>
              <a:rPr sz="4000"/>
            </a:b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 </a:t>
            </a: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copy</a:t>
            </a: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 of the original array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 dirty="0">
                <a:solidFill>
                  <a:srgbClr val="000000"/>
                </a:solidFill>
                <a:effectLst/>
                <a:uFillTx/>
                <a:latin typeface="Calibri Light"/>
              </a:rPr>
              <a:t>View or copy? Quiz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A788B00D-8FC6-4873-A5C2-946589EA5B05}" type="slidenum">
              <a:rPr/>
              <a:t>15</a:t>
            </a:fld>
            <a:endParaRPr/>
          </a:p>
        </p:txBody>
      </p:sp>
      <p:sp>
        <p:nvSpPr>
          <p:cNvPr id="322" name="PlaceHolder 2"/>
          <p:cNvSpPr>
            <a:spLocks noGrp="1"/>
          </p:cNvSpPr>
          <p:nvPr>
            <p:ph type="dt" idx="18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23" name="Group 9"/>
          <p:cNvGrpSpPr/>
          <p:nvPr/>
        </p:nvGrpSpPr>
        <p:grpSpPr>
          <a:xfrm>
            <a:off x="6744240" y="297000"/>
            <a:ext cx="5114520" cy="1039320"/>
            <a:chOff x="6744240" y="297000"/>
            <a:chExt cx="5114520" cy="1039320"/>
          </a:xfrm>
        </p:grpSpPr>
        <p:sp>
          <p:nvSpPr>
            <p:cNvPr id="324" name="Rectangle 10"/>
            <p:cNvSpPr/>
            <p:nvPr/>
          </p:nvSpPr>
          <p:spPr>
            <a:xfrm>
              <a:off x="6744240" y="346680"/>
              <a:ext cx="5114520" cy="9896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DE" sz="18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endParaRPr>
            </a:p>
          </p:txBody>
        </p:sp>
        <p:sp>
          <p:nvSpPr>
            <p:cNvPr id="325" name="TextBox 11"/>
            <p:cNvSpPr/>
            <p:nvPr/>
          </p:nvSpPr>
          <p:spPr>
            <a:xfrm>
              <a:off x="7305120" y="297000"/>
              <a:ext cx="20044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DE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DejaVu Sans"/>
                </a:rPr>
                <a:t>Exercise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26" name="Graphic 12"/>
            <p:cNvPicPr/>
            <p:nvPr/>
          </p:nvPicPr>
          <p:blipFill>
            <a:blip r:embed="rId2"/>
            <a:stretch/>
          </p:blipFill>
          <p:spPr>
            <a:xfrm>
              <a:off x="6791400" y="346320"/>
              <a:ext cx="781920" cy="554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27" name="TextBox 13"/>
            <p:cNvSpPr/>
            <p:nvPr/>
          </p:nvSpPr>
          <p:spPr>
            <a:xfrm>
              <a:off x="8066880" y="623520"/>
              <a:ext cx="3429000" cy="515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GB" sz="1400" b="0" u="none" strike="noStrike" dirty="0">
                  <a:solidFill>
                    <a:srgbClr val="000000"/>
                  </a:solidFill>
                  <a:effectLst/>
                  <a:uFillTx/>
                  <a:latin typeface="Courier New"/>
                  <a:ea typeface="DejaVu Sans"/>
                </a:rPr>
                <a:t>exercises/</a:t>
              </a:r>
              <a:r>
                <a:rPr lang="en-GB" sz="1400" b="0" u="none" strike="noStrike" dirty="0" err="1">
                  <a:solidFill>
                    <a:srgbClr val="000000"/>
                  </a:solidFill>
                  <a:effectLst/>
                  <a:uFillTx/>
                  <a:latin typeface="Courier New"/>
                  <a:ea typeface="DejaVu Sans"/>
                </a:rPr>
                <a:t>numpy_view_or_copy</a:t>
              </a:r>
              <a:r>
                <a:rPr lang="en-GB" sz="1400" b="0" u="none" strike="noStrike" dirty="0">
                  <a:solidFill>
                    <a:srgbClr val="000000"/>
                  </a:solidFill>
                  <a:effectLst/>
                  <a:uFillTx/>
                  <a:latin typeface="Courier New"/>
                  <a:ea typeface="DejaVu Sans"/>
                </a:rPr>
                <a:t>/</a:t>
              </a:r>
              <a:br>
                <a:rPr sz="1400" dirty="0"/>
              </a:br>
              <a:r>
                <a:rPr lang="en-GB" sz="1400" b="0" u="none" strike="noStrike" dirty="0" err="1">
                  <a:solidFill>
                    <a:srgbClr val="000000"/>
                  </a:solidFill>
                  <a:effectLst/>
                  <a:uFillTx/>
                  <a:latin typeface="Courier New"/>
                  <a:ea typeface="DejaVu Sans"/>
                </a:rPr>
                <a:t>view_or_copy_interactive.ipynb</a:t>
              </a:r>
              <a:endPara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3A4FE443-147F-F99B-17EA-4301085C8BED}"/>
              </a:ext>
            </a:extLst>
          </p:cNvPr>
          <p:cNvSpPr/>
          <p:nvPr/>
        </p:nvSpPr>
        <p:spPr>
          <a:xfrm>
            <a:off x="7060019" y="232200"/>
            <a:ext cx="4896108" cy="987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DE" sz="1800" b="0" strike="noStrike" spc="-1">
              <a:solidFill>
                <a:srgbClr val="000000"/>
              </a:solidFill>
              <a:latin typeface="Courier New"/>
              <a:ea typeface="DejaVu Sans"/>
            </a:endParaRPr>
          </a:p>
        </p:txBody>
      </p:sp>
      <p:pic>
        <p:nvPicPr>
          <p:cNvPr id="7" name="Graphic 1">
            <a:extLst>
              <a:ext uri="{FF2B5EF4-FFF2-40B4-BE49-F238E27FC236}">
                <a16:creationId xmlns:a16="http://schemas.microsoft.com/office/drawing/2014/main" id="{430A774F-E081-25F0-44A4-5A341FAC6C9F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209569" y="365040"/>
            <a:ext cx="707760" cy="628560"/>
          </a:xfrm>
          <a:prstGeom prst="rect">
            <a:avLst/>
          </a:prstGeom>
          <a:ln w="0">
            <a:noFill/>
          </a:ln>
        </p:spPr>
      </p:pic>
      <p:sp>
        <p:nvSpPr>
          <p:cNvPr id="8" name="TextBox 3">
            <a:extLst>
              <a:ext uri="{FF2B5EF4-FFF2-40B4-BE49-F238E27FC236}">
                <a16:creationId xmlns:a16="http://schemas.microsoft.com/office/drawing/2014/main" id="{67AB981A-35BD-7BAF-79DF-94A49BD05A63}"/>
              </a:ext>
            </a:extLst>
          </p:cNvPr>
          <p:cNvSpPr/>
          <p:nvPr/>
        </p:nvSpPr>
        <p:spPr>
          <a:xfrm>
            <a:off x="8000713" y="307433"/>
            <a:ext cx="17769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DE" sz="1800" b="1" strike="noStrike" spc="-1">
                <a:solidFill>
                  <a:srgbClr val="000000"/>
                </a:solidFill>
                <a:latin typeface="Courier New"/>
                <a:ea typeface="DejaVu Sans"/>
              </a:rPr>
              <a:t>Live Coding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CD728AAA-452D-02B2-FAC0-61A41B4A2DA6}"/>
              </a:ext>
            </a:extLst>
          </p:cNvPr>
          <p:cNvSpPr/>
          <p:nvPr/>
        </p:nvSpPr>
        <p:spPr>
          <a:xfrm>
            <a:off x="8053149" y="555597"/>
            <a:ext cx="3767157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400" b="0" u="none" strike="noStrike" dirty="0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notebooks/020_numpy/</a:t>
            </a:r>
            <a:br>
              <a:rPr sz="1400" dirty="0"/>
            </a:br>
            <a:r>
              <a:rPr lang="en-GB" sz="1400" b="0" u="none" strike="noStrike" dirty="0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015_assignment_by_reference.ipynb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0FE82C-7F45-8055-17B4-F2A1E8FA50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2485" y="1627584"/>
            <a:ext cx="6563977" cy="4922983"/>
          </a:xfrm>
          <a:prstGeom prst="rect">
            <a:avLst/>
          </a:prstGeom>
        </p:spPr>
      </p:pic>
      <p:sp>
        <p:nvSpPr>
          <p:cNvPr id="13" name="PlaceHolder 1">
            <a:extLst>
              <a:ext uri="{FF2B5EF4-FFF2-40B4-BE49-F238E27FC236}">
                <a16:creationId xmlns:a16="http://schemas.microsoft.com/office/drawing/2014/main" id="{DC1CF3B5-2BA5-0C25-A4BA-9FAA512D71DC}"/>
              </a:ext>
            </a:extLst>
          </p:cNvPr>
          <p:cNvSpPr txBox="1">
            <a:spLocks/>
          </p:cNvSpPr>
          <p:nvPr/>
        </p:nvSpPr>
        <p:spPr>
          <a:xfrm>
            <a:off x="371694" y="232200"/>
            <a:ext cx="10514880" cy="9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</a:tabLst>
            </a:pPr>
            <a:r>
              <a:rPr lang="en-US" dirty="0">
                <a:solidFill>
                  <a:srgbClr val="000000"/>
                </a:solidFill>
                <a:latin typeface="Calibri Light"/>
              </a:rPr>
              <a:t>Setting up an animal shop</a:t>
            </a:r>
            <a:endParaRPr lang="en-US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1B9DCDD-5B5C-8C47-7438-1E28F7BD47FE}"/>
              </a:ext>
            </a:extLst>
          </p:cNvPr>
          <p:cNvSpPr>
            <a:spLocks noGrp="1"/>
          </p:cNvSpPr>
          <p:nvPr>
            <p:ph type="dt" idx="54"/>
          </p:nvPr>
        </p:nvSpPr>
        <p:spPr/>
        <p:txBody>
          <a:bodyPr/>
          <a:lstStyle/>
          <a:p>
            <a:pPr>
              <a:tabLst>
                <a:tab pos="0" algn="l"/>
              </a:tabLst>
            </a:pPr>
            <a:r>
              <a:rPr lang="de-CH" dirty="0">
                <a:solidFill>
                  <a:srgbClr val="8B8B8B"/>
                </a:solidFill>
                <a:latin typeface="Calibri"/>
              </a:rPr>
              <a:t>Aug 2026, CC BY-SA 4.0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80134FA-FF7D-8486-F5D6-7D7280AE4D09}"/>
              </a:ext>
            </a:extLst>
          </p:cNvPr>
          <p:cNvSpPr>
            <a:spLocks noGrp="1"/>
          </p:cNvSpPr>
          <p:nvPr>
            <p:ph type="ftr" idx="52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14EA66B-39A2-4AB0-F978-C537B530B80B}"/>
              </a:ext>
            </a:extLst>
          </p:cNvPr>
          <p:cNvSpPr>
            <a:spLocks noGrp="1"/>
          </p:cNvSpPr>
          <p:nvPr>
            <p:ph type="sldNum" idx="53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31FEECE-D6C8-4FCE-876A-0190D37870B1}" type="slidenum">
              <a:rPr lang="en-US" sz="1200" b="0" u="none" strike="noStrike" smtClean="0">
                <a:solidFill>
                  <a:srgbClr val="8B8B8B"/>
                </a:solidFill>
                <a:effectLst/>
                <a:uFillTx/>
                <a:latin typeface="Calibri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46426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26E0A-0195-D5CF-9E0E-C68AA5F7B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72E44-3FE5-0921-2737-F78D7D77A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>
                <a:latin typeface="Calibri Light" panose="020F0302020204030204" pitchFamily="34" charset="0"/>
                <a:cs typeface="Calibri Light" panose="020F0302020204030204" pitchFamily="34" charset="0"/>
              </a:rPr>
              <a:t>Python assignment is “by reference”</a:t>
            </a:r>
          </a:p>
        </p:txBody>
      </p:sp>
      <p:sp>
        <p:nvSpPr>
          <p:cNvPr id="57" name="Footer Placeholder 56">
            <a:extLst>
              <a:ext uri="{FF2B5EF4-FFF2-40B4-BE49-F238E27FC236}">
                <a16:creationId xmlns:a16="http://schemas.microsoft.com/office/drawing/2014/main" id="{591C6F3B-2458-3E85-D995-9C5BCD4CF068}"/>
              </a:ext>
            </a:extLst>
          </p:cNvPr>
          <p:cNvSpPr>
            <a:spLocks noGrp="1"/>
          </p:cNvSpPr>
          <p:nvPr>
            <p:ph type="ftr" idx="52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Slide Number Placeholder 57">
            <a:extLst>
              <a:ext uri="{FF2B5EF4-FFF2-40B4-BE49-F238E27FC236}">
                <a16:creationId xmlns:a16="http://schemas.microsoft.com/office/drawing/2014/main" id="{B42FD2D3-32D7-9B6B-C84F-3F4EB241BD2A}"/>
              </a:ext>
            </a:extLst>
          </p:cNvPr>
          <p:cNvSpPr>
            <a:spLocks noGrp="1"/>
          </p:cNvSpPr>
          <p:nvPr>
            <p:ph type="sldNum" idx="53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31FEECE-D6C8-4FCE-876A-0190D37870B1}" type="slidenum">
              <a:rPr lang="en-US" sz="1200" b="0" u="none" strike="noStrike" smtClean="0">
                <a:solidFill>
                  <a:srgbClr val="8B8B8B"/>
                </a:solidFill>
                <a:effectLst/>
                <a:uFillTx/>
                <a:latin typeface="Calibri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Date Placeholder 55">
            <a:extLst>
              <a:ext uri="{FF2B5EF4-FFF2-40B4-BE49-F238E27FC236}">
                <a16:creationId xmlns:a16="http://schemas.microsoft.com/office/drawing/2014/main" id="{930843EB-2620-69E5-3197-8F810625B474}"/>
              </a:ext>
            </a:extLst>
          </p:cNvPr>
          <p:cNvSpPr>
            <a:spLocks noGrp="1"/>
          </p:cNvSpPr>
          <p:nvPr>
            <p:ph type="dt" idx="54"/>
          </p:nvPr>
        </p:nvSpPr>
        <p:spPr/>
        <p:txBody>
          <a:bodyPr/>
          <a:lstStyle/>
          <a:p>
            <a:pPr>
              <a:tabLst>
                <a:tab pos="0" algn="l"/>
              </a:tabLst>
            </a:pPr>
            <a:r>
              <a:rPr lang="de-CH" dirty="0">
                <a:solidFill>
                  <a:srgbClr val="8B8B8B"/>
                </a:solidFill>
                <a:latin typeface="Calibri"/>
              </a:rPr>
              <a:t>Aug 2026, CC BY-SA 4.0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556654-257F-60A2-64FB-6A2D5068A40A}"/>
              </a:ext>
            </a:extLst>
          </p:cNvPr>
          <p:cNvSpPr txBox="1"/>
          <p:nvPr/>
        </p:nvSpPr>
        <p:spPr>
          <a:xfrm>
            <a:off x="1080819" y="2751178"/>
            <a:ext cx="173128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Global namespace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3D007B-DB00-2929-DF51-FF3A2FABDD49}"/>
              </a:ext>
            </a:extLst>
          </p:cNvPr>
          <p:cNvSpPr txBox="1"/>
          <p:nvPr/>
        </p:nvSpPr>
        <p:spPr>
          <a:xfrm>
            <a:off x="6613537" y="2751178"/>
            <a:ext cx="173128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Memory</a:t>
            </a:r>
          </a:p>
          <a:p>
            <a:pPr algn="ctr"/>
            <a:endParaRPr lang="en-CH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D240E4-C481-0684-BA8B-28AD14E55252}"/>
              </a:ext>
            </a:extLst>
          </p:cNvPr>
          <p:cNvSpPr txBox="1"/>
          <p:nvPr/>
        </p:nvSpPr>
        <p:spPr>
          <a:xfrm>
            <a:off x="838080" y="1267920"/>
            <a:ext cx="521673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cage =</a:t>
            </a:r>
            <a:r>
              <a:rPr lang="en-CH" sz="2000" dirty="0">
                <a:latin typeface="Consolas" panose="020B0609020204030204" pitchFamily="49" charset="0"/>
                <a:cs typeface="Consolas" panose="020B0609020204030204" pitchFamily="49" charset="0"/>
              </a:rPr>
              <a:t> ["    "]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058295-B69C-E2D9-6E2F-F667C48313EB}"/>
              </a:ext>
            </a:extLst>
          </p:cNvPr>
          <p:cNvSpPr txBox="1"/>
          <p:nvPr/>
        </p:nvSpPr>
        <p:spPr>
          <a:xfrm>
            <a:off x="9379895" y="2751178"/>
            <a:ext cx="173128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Final result</a:t>
            </a:r>
          </a:p>
          <a:p>
            <a:pPr algn="ctr"/>
            <a:endParaRPr lang="en-CH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EE74803-A2FD-1F6A-4B9B-E4B5A6D207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131"/>
          <a:stretch>
            <a:fillRect/>
          </a:stretch>
        </p:blipFill>
        <p:spPr>
          <a:xfrm>
            <a:off x="2251097" y="1240050"/>
            <a:ext cx="410588" cy="46166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96F74A9-26C8-53D0-6E91-0F7BCBACCE47}"/>
              </a:ext>
            </a:extLst>
          </p:cNvPr>
          <p:cNvSpPr txBox="1"/>
          <p:nvPr/>
        </p:nvSpPr>
        <p:spPr>
          <a:xfrm>
            <a:off x="1346010" y="4521864"/>
            <a:ext cx="120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cage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2601CD-E827-B2C7-C902-D6B65D0D8BD8}"/>
              </a:ext>
            </a:extLst>
          </p:cNvPr>
          <p:cNvSpPr txBox="1"/>
          <p:nvPr/>
        </p:nvSpPr>
        <p:spPr>
          <a:xfrm>
            <a:off x="6750346" y="4499112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[  ]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D38F527-525B-D4C0-4A24-1FDAC28CE1B0}"/>
              </a:ext>
            </a:extLst>
          </p:cNvPr>
          <p:cNvCxnSpPr>
            <a:cxnSpLocks/>
          </p:cNvCxnSpPr>
          <p:nvPr/>
        </p:nvCxnSpPr>
        <p:spPr>
          <a:xfrm>
            <a:off x="2756641" y="4752696"/>
            <a:ext cx="3760243" cy="0"/>
          </a:xfrm>
          <a:prstGeom prst="straightConnector1">
            <a:avLst/>
          </a:prstGeom>
          <a:ln w="571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55E40F2-416D-B4B7-CDE9-4B5537ECCED0}"/>
              </a:ext>
            </a:extLst>
          </p:cNvPr>
          <p:cNvSpPr txBox="1"/>
          <p:nvPr/>
        </p:nvSpPr>
        <p:spPr>
          <a:xfrm>
            <a:off x="7143920" y="3493202"/>
            <a:ext cx="120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"   "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3EB8ED6-90A3-F1C1-8B65-EC80A554B7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131"/>
          <a:stretch>
            <a:fillRect/>
          </a:stretch>
        </p:blipFill>
        <p:spPr>
          <a:xfrm>
            <a:off x="7542565" y="3558398"/>
            <a:ext cx="410588" cy="461665"/>
          </a:xfrm>
          <a:prstGeom prst="rect">
            <a:avLst/>
          </a:prstGeom>
        </p:spPr>
      </p:pic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70FE04E1-1604-450F-A95A-78D72AA3FF6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30236" y="4108682"/>
            <a:ext cx="650607" cy="591914"/>
          </a:xfrm>
          <a:prstGeom prst="bentConnector3">
            <a:avLst>
              <a:gd name="adj1" fmla="val 50000"/>
            </a:avLst>
          </a:prstGeom>
          <a:ln w="571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83EA84C-F7F8-1598-8E0B-69FF1ABEDE8F}"/>
              </a:ext>
            </a:extLst>
          </p:cNvPr>
          <p:cNvGrpSpPr/>
          <p:nvPr/>
        </p:nvGrpSpPr>
        <p:grpSpPr>
          <a:xfrm>
            <a:off x="9449785" y="4499111"/>
            <a:ext cx="1544012" cy="484418"/>
            <a:chOff x="9129274" y="4499111"/>
            <a:chExt cx="1544012" cy="484418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1D9CAD7-ED50-0B73-A09F-0C3A99DE98D8}"/>
                </a:ext>
              </a:extLst>
            </p:cNvPr>
            <p:cNvSpPr txBox="1"/>
            <p:nvPr/>
          </p:nvSpPr>
          <p:spPr>
            <a:xfrm>
              <a:off x="9129274" y="4499111"/>
              <a:ext cx="15440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H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= ["  "]</a:t>
              </a: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B1C27558-1F54-AC29-8A84-BA471FECB9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131"/>
            <a:stretch>
              <a:fillRect/>
            </a:stretch>
          </p:blipFill>
          <p:spPr>
            <a:xfrm>
              <a:off x="9882542" y="4521864"/>
              <a:ext cx="410588" cy="4616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99281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9E93F-D178-D067-49A5-6A7801453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9F6BD-A8A1-F8B3-6E0F-997CC35A5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>
                <a:latin typeface="Calibri Light" panose="020F0302020204030204" pitchFamily="34" charset="0"/>
                <a:cs typeface="Calibri Light" panose="020F0302020204030204" pitchFamily="34" charset="0"/>
              </a:rPr>
              <a:t>Python assignment is “by reference”</a:t>
            </a:r>
            <a:endParaRPr lang="en-CH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474AFF1-F058-6033-9819-9BB12FD76793}"/>
              </a:ext>
            </a:extLst>
          </p:cNvPr>
          <p:cNvCxnSpPr>
            <a:cxnSpLocks/>
            <a:stCxn id="38" idx="3"/>
          </p:cNvCxnSpPr>
          <p:nvPr/>
        </p:nvCxnSpPr>
        <p:spPr>
          <a:xfrm flipV="1">
            <a:off x="3163212" y="4938569"/>
            <a:ext cx="3450325" cy="488782"/>
          </a:xfrm>
          <a:prstGeom prst="straightConnector1">
            <a:avLst/>
          </a:prstGeom>
          <a:ln w="571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2FA2D08-179B-4C9D-3087-1C767EDB5BB3}"/>
              </a:ext>
            </a:extLst>
          </p:cNvPr>
          <p:cNvSpPr txBox="1"/>
          <p:nvPr/>
        </p:nvSpPr>
        <p:spPr>
          <a:xfrm>
            <a:off x="1080819" y="2751178"/>
            <a:ext cx="173128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Global namespace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1773BF-F8F7-BB5D-31E3-E0703ABEA87B}"/>
              </a:ext>
            </a:extLst>
          </p:cNvPr>
          <p:cNvSpPr txBox="1"/>
          <p:nvPr/>
        </p:nvSpPr>
        <p:spPr>
          <a:xfrm>
            <a:off x="6613537" y="2751178"/>
            <a:ext cx="173128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Memory</a:t>
            </a:r>
          </a:p>
          <a:p>
            <a:pPr algn="ctr"/>
            <a:endParaRPr lang="en-CH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36234B-9469-4124-DE19-6E8460643910}"/>
              </a:ext>
            </a:extLst>
          </p:cNvPr>
          <p:cNvSpPr txBox="1"/>
          <p:nvPr/>
        </p:nvSpPr>
        <p:spPr>
          <a:xfrm>
            <a:off x="838080" y="1267920"/>
            <a:ext cx="5216730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cage =</a:t>
            </a:r>
            <a:r>
              <a:rPr lang="en-CH" sz="2000" dirty="0">
                <a:latin typeface="Consolas" panose="020B0609020204030204" pitchFamily="49" charset="0"/>
                <a:cs typeface="Consolas" panose="020B0609020204030204" pitchFamily="49" charset="0"/>
              </a:rPr>
              <a:t> ["    "]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another_cage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cage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494DE2-8025-8794-B191-9151BA52DDC5}"/>
              </a:ext>
            </a:extLst>
          </p:cNvPr>
          <p:cNvSpPr txBox="1"/>
          <p:nvPr/>
        </p:nvSpPr>
        <p:spPr>
          <a:xfrm>
            <a:off x="9379895" y="2751178"/>
            <a:ext cx="173128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Final result</a:t>
            </a:r>
          </a:p>
          <a:p>
            <a:pPr algn="ctr"/>
            <a:endParaRPr lang="en-CH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E60FEE1-D941-533D-512D-E67BB7DFCA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131"/>
          <a:stretch>
            <a:fillRect/>
          </a:stretch>
        </p:blipFill>
        <p:spPr>
          <a:xfrm>
            <a:off x="2251097" y="1240050"/>
            <a:ext cx="410588" cy="46166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22CA78B-E1F9-1483-BCC3-E1F0BA945307}"/>
              </a:ext>
            </a:extLst>
          </p:cNvPr>
          <p:cNvSpPr txBox="1"/>
          <p:nvPr/>
        </p:nvSpPr>
        <p:spPr>
          <a:xfrm>
            <a:off x="1346010" y="4521864"/>
            <a:ext cx="120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cage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C7577DD-9E30-53B7-D27D-21A65FF3F245}"/>
              </a:ext>
            </a:extLst>
          </p:cNvPr>
          <p:cNvSpPr txBox="1"/>
          <p:nvPr/>
        </p:nvSpPr>
        <p:spPr>
          <a:xfrm>
            <a:off x="6750346" y="4499112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[  ]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F45EFD1-1B42-D01C-2DA7-F4529194E62F}"/>
              </a:ext>
            </a:extLst>
          </p:cNvPr>
          <p:cNvCxnSpPr>
            <a:cxnSpLocks/>
          </p:cNvCxnSpPr>
          <p:nvPr/>
        </p:nvCxnSpPr>
        <p:spPr>
          <a:xfrm>
            <a:off x="2756641" y="4752696"/>
            <a:ext cx="3760243" cy="0"/>
          </a:xfrm>
          <a:prstGeom prst="straightConnector1">
            <a:avLst/>
          </a:prstGeom>
          <a:ln w="571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C1079ED-DBD7-8CEE-30E1-D736217D39E1}"/>
              </a:ext>
            </a:extLst>
          </p:cNvPr>
          <p:cNvSpPr txBox="1"/>
          <p:nvPr/>
        </p:nvSpPr>
        <p:spPr>
          <a:xfrm>
            <a:off x="7143920" y="3493202"/>
            <a:ext cx="120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"   "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617A969-20AC-40B4-99A7-D6B2030033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131"/>
          <a:stretch>
            <a:fillRect/>
          </a:stretch>
        </p:blipFill>
        <p:spPr>
          <a:xfrm>
            <a:off x="7542565" y="3558398"/>
            <a:ext cx="410588" cy="46166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940015F-F104-12AC-2EE9-AF084FCB7CA4}"/>
              </a:ext>
            </a:extLst>
          </p:cNvPr>
          <p:cNvSpPr txBox="1"/>
          <p:nvPr/>
        </p:nvSpPr>
        <p:spPr>
          <a:xfrm>
            <a:off x="729712" y="5196518"/>
            <a:ext cx="2433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nother_cage</a:t>
            </a:r>
          </a:p>
        </p:txBody>
      </p: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8AE7F48B-CC8A-0856-B020-4670436516C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30236" y="4108682"/>
            <a:ext cx="650607" cy="591914"/>
          </a:xfrm>
          <a:prstGeom prst="bentConnector3">
            <a:avLst>
              <a:gd name="adj1" fmla="val 50000"/>
            </a:avLst>
          </a:prstGeom>
          <a:ln w="571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A63C7BA-E96F-D45C-FD81-A012183536D5}"/>
              </a:ext>
            </a:extLst>
          </p:cNvPr>
          <p:cNvGrpSpPr/>
          <p:nvPr/>
        </p:nvGrpSpPr>
        <p:grpSpPr>
          <a:xfrm>
            <a:off x="9449785" y="4499111"/>
            <a:ext cx="1544012" cy="484418"/>
            <a:chOff x="9129274" y="4499111"/>
            <a:chExt cx="1544012" cy="484418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BC9CCFB-66A0-42D8-FEEF-0F9821D3F09F}"/>
                </a:ext>
              </a:extLst>
            </p:cNvPr>
            <p:cNvSpPr txBox="1"/>
            <p:nvPr/>
          </p:nvSpPr>
          <p:spPr>
            <a:xfrm>
              <a:off x="9129274" y="4499111"/>
              <a:ext cx="15440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H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= ["  "]</a:t>
              </a: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13D5AA26-A4BA-ACB0-7CD0-80DF772FEF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131"/>
            <a:stretch>
              <a:fillRect/>
            </a:stretch>
          </p:blipFill>
          <p:spPr>
            <a:xfrm>
              <a:off x="9882542" y="4521864"/>
              <a:ext cx="410588" cy="461665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23927CD-804B-17FB-1120-8D384E753935}"/>
              </a:ext>
            </a:extLst>
          </p:cNvPr>
          <p:cNvGrpSpPr/>
          <p:nvPr/>
        </p:nvGrpSpPr>
        <p:grpSpPr>
          <a:xfrm>
            <a:off x="9473532" y="5173765"/>
            <a:ext cx="1544012" cy="484418"/>
            <a:chOff x="9129274" y="4499111"/>
            <a:chExt cx="1544012" cy="484418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C21225A-B987-054B-8F90-BA96FB6D1B40}"/>
                </a:ext>
              </a:extLst>
            </p:cNvPr>
            <p:cNvSpPr txBox="1"/>
            <p:nvPr/>
          </p:nvSpPr>
          <p:spPr>
            <a:xfrm>
              <a:off x="9129274" y="4499111"/>
              <a:ext cx="15440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H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= ["  "]</a:t>
              </a:r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2D4B94FC-83B0-5968-75FB-F732D4AA1D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131"/>
            <a:stretch>
              <a:fillRect/>
            </a:stretch>
          </p:blipFill>
          <p:spPr>
            <a:xfrm>
              <a:off x="9882542" y="4521864"/>
              <a:ext cx="410588" cy="461665"/>
            </a:xfrm>
            <a:prstGeom prst="rect">
              <a:avLst/>
            </a:prstGeom>
          </p:spPr>
        </p:pic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23490-F567-B401-8B26-1E9F83FEDAE0}"/>
              </a:ext>
            </a:extLst>
          </p:cNvPr>
          <p:cNvSpPr>
            <a:spLocks noGrp="1"/>
          </p:cNvSpPr>
          <p:nvPr>
            <p:ph type="dt" idx="54"/>
          </p:nvPr>
        </p:nvSpPr>
        <p:spPr/>
        <p:txBody>
          <a:bodyPr/>
          <a:lstStyle/>
          <a:p>
            <a:pPr>
              <a:tabLst>
                <a:tab pos="0" algn="l"/>
              </a:tabLst>
            </a:pPr>
            <a:r>
              <a:rPr lang="de-CH" dirty="0">
                <a:solidFill>
                  <a:srgbClr val="8B8B8B"/>
                </a:solidFill>
                <a:latin typeface="Calibri"/>
              </a:rPr>
              <a:t>Aug 2026, CC BY-SA 4.0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217BF6-6C2C-35B8-C6E5-8934826E843F}"/>
              </a:ext>
            </a:extLst>
          </p:cNvPr>
          <p:cNvSpPr>
            <a:spLocks noGrp="1"/>
          </p:cNvSpPr>
          <p:nvPr>
            <p:ph type="ftr" idx="52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3C963E-CDC0-C983-5C45-A9C9AB77E15A}"/>
              </a:ext>
            </a:extLst>
          </p:cNvPr>
          <p:cNvSpPr>
            <a:spLocks noGrp="1"/>
          </p:cNvSpPr>
          <p:nvPr>
            <p:ph type="sldNum" idx="53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31FEECE-D6C8-4FCE-876A-0190D37870B1}" type="slidenum">
              <a:rPr lang="en-US" sz="1200" b="0" u="none" strike="noStrike" smtClean="0">
                <a:solidFill>
                  <a:srgbClr val="8B8B8B"/>
                </a:solidFill>
                <a:effectLst/>
                <a:uFillTx/>
                <a:latin typeface="Calibri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047553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015CD-B4B7-53A2-BDAE-B4B64FCE2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CA153-0E7B-46AA-DCA3-8ED1C5032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>
                <a:latin typeface="Calibri Light" panose="020F0302020204030204" pitchFamily="34" charset="0"/>
                <a:cs typeface="Calibri Light" panose="020F0302020204030204" pitchFamily="34" charset="0"/>
              </a:rPr>
              <a:t>Python assignment is “by reference”</a:t>
            </a:r>
            <a:endParaRPr lang="en-CH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26857B-B5F7-0AFA-4673-1FB95F76B184}"/>
              </a:ext>
            </a:extLst>
          </p:cNvPr>
          <p:cNvCxnSpPr>
            <a:cxnSpLocks/>
            <a:stCxn id="38" idx="3"/>
          </p:cNvCxnSpPr>
          <p:nvPr/>
        </p:nvCxnSpPr>
        <p:spPr>
          <a:xfrm flipV="1">
            <a:off x="3163212" y="4938569"/>
            <a:ext cx="3450325" cy="488782"/>
          </a:xfrm>
          <a:prstGeom prst="straightConnector1">
            <a:avLst/>
          </a:prstGeom>
          <a:ln w="571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E847985-CB63-2945-3072-C5C25755A2C2}"/>
              </a:ext>
            </a:extLst>
          </p:cNvPr>
          <p:cNvSpPr txBox="1"/>
          <p:nvPr/>
        </p:nvSpPr>
        <p:spPr>
          <a:xfrm>
            <a:off x="768610" y="5957278"/>
            <a:ext cx="2355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shelf</a:t>
            </a:r>
            <a:endParaRPr lang="en-CH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1CCE932-7C42-943A-A75F-6C2A9437EE35}"/>
              </a:ext>
            </a:extLst>
          </p:cNvPr>
          <p:cNvCxnSpPr>
            <a:cxnSpLocks/>
          </p:cNvCxnSpPr>
          <p:nvPr/>
        </p:nvCxnSpPr>
        <p:spPr>
          <a:xfrm>
            <a:off x="2812106" y="6190127"/>
            <a:ext cx="3704778" cy="22054"/>
          </a:xfrm>
          <a:prstGeom prst="straightConnector1">
            <a:avLst/>
          </a:prstGeom>
          <a:ln w="571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9F1DB8E-466C-068E-B32B-4086AE828B17}"/>
              </a:ext>
            </a:extLst>
          </p:cNvPr>
          <p:cNvSpPr txBox="1"/>
          <p:nvPr/>
        </p:nvSpPr>
        <p:spPr>
          <a:xfrm>
            <a:off x="6613537" y="5941075"/>
            <a:ext cx="13740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[  ,  ]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E0ED6C2-3C20-5292-3752-67121AE49421}"/>
              </a:ext>
            </a:extLst>
          </p:cNvPr>
          <p:cNvCxnSpPr>
            <a:cxnSpLocks/>
          </p:cNvCxnSpPr>
          <p:nvPr/>
        </p:nvCxnSpPr>
        <p:spPr>
          <a:xfrm flipV="1">
            <a:off x="7068323" y="5077886"/>
            <a:ext cx="0" cy="1110224"/>
          </a:xfrm>
          <a:prstGeom prst="straightConnector1">
            <a:avLst/>
          </a:prstGeom>
          <a:ln w="571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D9417DF-F5EC-746F-8122-EB21D92D346F}"/>
              </a:ext>
            </a:extLst>
          </p:cNvPr>
          <p:cNvCxnSpPr>
            <a:cxnSpLocks/>
          </p:cNvCxnSpPr>
          <p:nvPr/>
        </p:nvCxnSpPr>
        <p:spPr>
          <a:xfrm flipH="1" flipV="1">
            <a:off x="7276578" y="5067064"/>
            <a:ext cx="265987" cy="1104843"/>
          </a:xfrm>
          <a:prstGeom prst="straightConnector1">
            <a:avLst/>
          </a:prstGeom>
          <a:ln w="571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490EF2C-E880-1E42-D135-4C4092AFEA98}"/>
              </a:ext>
            </a:extLst>
          </p:cNvPr>
          <p:cNvSpPr txBox="1"/>
          <p:nvPr/>
        </p:nvSpPr>
        <p:spPr>
          <a:xfrm>
            <a:off x="1080819" y="2751178"/>
            <a:ext cx="173128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Global namespace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7A5C64-23D9-E99C-07E7-C8CB8D0063E1}"/>
              </a:ext>
            </a:extLst>
          </p:cNvPr>
          <p:cNvSpPr txBox="1"/>
          <p:nvPr/>
        </p:nvSpPr>
        <p:spPr>
          <a:xfrm>
            <a:off x="6613537" y="2751178"/>
            <a:ext cx="173128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Memory</a:t>
            </a:r>
          </a:p>
          <a:p>
            <a:pPr algn="ctr"/>
            <a:endParaRPr lang="en-CH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944AE6-16D1-9CCE-B390-1FF2E378EAC9}"/>
              </a:ext>
            </a:extLst>
          </p:cNvPr>
          <p:cNvSpPr txBox="1"/>
          <p:nvPr/>
        </p:nvSpPr>
        <p:spPr>
          <a:xfrm>
            <a:off x="838080" y="1267920"/>
            <a:ext cx="521673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cage =</a:t>
            </a:r>
            <a:r>
              <a:rPr lang="en-CH" sz="2000" dirty="0">
                <a:latin typeface="Consolas" panose="020B0609020204030204" pitchFamily="49" charset="0"/>
                <a:cs typeface="Consolas" panose="020B0609020204030204" pitchFamily="49" charset="0"/>
              </a:rPr>
              <a:t> ["    "]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another_cage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cage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shelf = [cage, cage]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B5AA9B-5E64-217D-7E87-071B1A98E5FA}"/>
              </a:ext>
            </a:extLst>
          </p:cNvPr>
          <p:cNvSpPr txBox="1"/>
          <p:nvPr/>
        </p:nvSpPr>
        <p:spPr>
          <a:xfrm>
            <a:off x="9379895" y="2751178"/>
            <a:ext cx="173128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Final result</a:t>
            </a:r>
          </a:p>
          <a:p>
            <a:pPr algn="ctr"/>
            <a:endParaRPr lang="en-CH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EE1F49A-65D8-F5AA-3C16-A0892426F3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131"/>
          <a:stretch>
            <a:fillRect/>
          </a:stretch>
        </p:blipFill>
        <p:spPr>
          <a:xfrm>
            <a:off x="2251097" y="1240050"/>
            <a:ext cx="410588" cy="46166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AC6265C-E2D9-7F25-0BB1-08FCA648146F}"/>
              </a:ext>
            </a:extLst>
          </p:cNvPr>
          <p:cNvSpPr txBox="1"/>
          <p:nvPr/>
        </p:nvSpPr>
        <p:spPr>
          <a:xfrm>
            <a:off x="1346010" y="4521864"/>
            <a:ext cx="120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cage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15857A-D5F2-F1BE-5BFC-4A55FEAC0007}"/>
              </a:ext>
            </a:extLst>
          </p:cNvPr>
          <p:cNvSpPr txBox="1"/>
          <p:nvPr/>
        </p:nvSpPr>
        <p:spPr>
          <a:xfrm>
            <a:off x="6750346" y="4499112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[  ]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4607A14-981C-78EC-ED37-7DE67478709B}"/>
              </a:ext>
            </a:extLst>
          </p:cNvPr>
          <p:cNvCxnSpPr>
            <a:cxnSpLocks/>
          </p:cNvCxnSpPr>
          <p:nvPr/>
        </p:nvCxnSpPr>
        <p:spPr>
          <a:xfrm>
            <a:off x="2756641" y="4752696"/>
            <a:ext cx="3760243" cy="0"/>
          </a:xfrm>
          <a:prstGeom prst="straightConnector1">
            <a:avLst/>
          </a:prstGeom>
          <a:ln w="571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10C618D-91AA-4824-41E6-DC7AC4C5A5B8}"/>
              </a:ext>
            </a:extLst>
          </p:cNvPr>
          <p:cNvSpPr txBox="1"/>
          <p:nvPr/>
        </p:nvSpPr>
        <p:spPr>
          <a:xfrm>
            <a:off x="7143920" y="3493202"/>
            <a:ext cx="120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"   "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21D632A-0BE5-D39E-42A5-F0A1409179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131"/>
          <a:stretch>
            <a:fillRect/>
          </a:stretch>
        </p:blipFill>
        <p:spPr>
          <a:xfrm>
            <a:off x="7542565" y="3558398"/>
            <a:ext cx="410588" cy="46166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D2013D9-0E13-35B6-327F-45D3E292CAF3}"/>
              </a:ext>
            </a:extLst>
          </p:cNvPr>
          <p:cNvSpPr txBox="1"/>
          <p:nvPr/>
        </p:nvSpPr>
        <p:spPr>
          <a:xfrm>
            <a:off x="729712" y="5196518"/>
            <a:ext cx="2433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nother_cage</a:t>
            </a:r>
          </a:p>
        </p:txBody>
      </p: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A6124284-9D20-8998-6C83-43F587B748A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30236" y="4108682"/>
            <a:ext cx="650607" cy="591914"/>
          </a:xfrm>
          <a:prstGeom prst="bentConnector3">
            <a:avLst>
              <a:gd name="adj1" fmla="val 50000"/>
            </a:avLst>
          </a:prstGeom>
          <a:ln w="571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EFE660C-66F3-A61C-D197-0FF734759D20}"/>
              </a:ext>
            </a:extLst>
          </p:cNvPr>
          <p:cNvSpPr txBox="1"/>
          <p:nvPr/>
        </p:nvSpPr>
        <p:spPr>
          <a:xfrm>
            <a:off x="8729430" y="5831545"/>
            <a:ext cx="3243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= [["  "], ["  "]]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8DCC277-9861-38DA-3A8D-B553FF4BA59A}"/>
              </a:ext>
            </a:extLst>
          </p:cNvPr>
          <p:cNvGrpSpPr/>
          <p:nvPr/>
        </p:nvGrpSpPr>
        <p:grpSpPr>
          <a:xfrm>
            <a:off x="9449785" y="4499111"/>
            <a:ext cx="1544012" cy="484418"/>
            <a:chOff x="9129274" y="4499111"/>
            <a:chExt cx="1544012" cy="484418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D269C41-4DE7-0190-24DF-9BC3091590C7}"/>
                </a:ext>
              </a:extLst>
            </p:cNvPr>
            <p:cNvSpPr txBox="1"/>
            <p:nvPr/>
          </p:nvSpPr>
          <p:spPr>
            <a:xfrm>
              <a:off x="9129274" y="4499111"/>
              <a:ext cx="15440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H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= ["  "]</a:t>
              </a: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CD1F62EA-B84D-D804-8FCE-DADCC6C60D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131"/>
            <a:stretch>
              <a:fillRect/>
            </a:stretch>
          </p:blipFill>
          <p:spPr>
            <a:xfrm>
              <a:off x="9882542" y="4521864"/>
              <a:ext cx="410588" cy="461665"/>
            </a:xfrm>
            <a:prstGeom prst="rect">
              <a:avLst/>
            </a:prstGeom>
          </p:spPr>
        </p:pic>
      </p:grpSp>
      <p:pic>
        <p:nvPicPr>
          <p:cNvPr id="50" name="Picture 49">
            <a:extLst>
              <a:ext uri="{FF2B5EF4-FFF2-40B4-BE49-F238E27FC236}">
                <a16:creationId xmlns:a16="http://schemas.microsoft.com/office/drawing/2014/main" id="{007216A2-1EB2-3ADC-074B-E5EAD2A916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131"/>
          <a:stretch>
            <a:fillRect/>
          </a:stretch>
        </p:blipFill>
        <p:spPr>
          <a:xfrm>
            <a:off x="9637055" y="5831545"/>
            <a:ext cx="410588" cy="461665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A6179BA2-4C69-C751-18BD-1151E05C72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131"/>
          <a:stretch>
            <a:fillRect/>
          </a:stretch>
        </p:blipFill>
        <p:spPr>
          <a:xfrm>
            <a:off x="10973435" y="5840511"/>
            <a:ext cx="410588" cy="46166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D2EED4A-48A8-27C8-AC03-F4A309DD87B5}"/>
              </a:ext>
            </a:extLst>
          </p:cNvPr>
          <p:cNvGrpSpPr/>
          <p:nvPr/>
        </p:nvGrpSpPr>
        <p:grpSpPr>
          <a:xfrm>
            <a:off x="9473532" y="5173765"/>
            <a:ext cx="1544012" cy="484418"/>
            <a:chOff x="9129274" y="4499111"/>
            <a:chExt cx="1544012" cy="48441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25586D5-BB09-02AE-B995-F24F0127137D}"/>
                </a:ext>
              </a:extLst>
            </p:cNvPr>
            <p:cNvSpPr txBox="1"/>
            <p:nvPr/>
          </p:nvSpPr>
          <p:spPr>
            <a:xfrm>
              <a:off x="9129274" y="4499111"/>
              <a:ext cx="15440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H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= ["  "]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E64C63A-8961-01ED-A672-1BFF303E67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131"/>
            <a:stretch>
              <a:fillRect/>
            </a:stretch>
          </p:blipFill>
          <p:spPr>
            <a:xfrm>
              <a:off x="9882542" y="4521864"/>
              <a:ext cx="410588" cy="461665"/>
            </a:xfrm>
            <a:prstGeom prst="rect">
              <a:avLst/>
            </a:prstGeom>
          </p:spPr>
        </p:pic>
      </p:grp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09CB8A4-E710-1D71-A035-8BDEB116D0CA}"/>
              </a:ext>
            </a:extLst>
          </p:cNvPr>
          <p:cNvSpPr>
            <a:spLocks noGrp="1"/>
          </p:cNvSpPr>
          <p:nvPr>
            <p:ph type="dt" idx="54"/>
          </p:nvPr>
        </p:nvSpPr>
        <p:spPr/>
        <p:txBody>
          <a:bodyPr/>
          <a:lstStyle/>
          <a:p>
            <a:pPr>
              <a:tabLst>
                <a:tab pos="0" algn="l"/>
              </a:tabLst>
            </a:pPr>
            <a:r>
              <a:rPr lang="de-CH" dirty="0">
                <a:solidFill>
                  <a:srgbClr val="8B8B8B"/>
                </a:solidFill>
                <a:latin typeface="Calibri"/>
              </a:rPr>
              <a:t>Aug 2026, CC BY-SA 4.0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778CE19-9440-D164-7F90-99B5DD6B21D5}"/>
              </a:ext>
            </a:extLst>
          </p:cNvPr>
          <p:cNvSpPr>
            <a:spLocks noGrp="1"/>
          </p:cNvSpPr>
          <p:nvPr>
            <p:ph type="ftr" idx="52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B84593F-8C33-414D-7CC6-9ED20225EEA1}"/>
              </a:ext>
            </a:extLst>
          </p:cNvPr>
          <p:cNvSpPr>
            <a:spLocks noGrp="1"/>
          </p:cNvSpPr>
          <p:nvPr>
            <p:ph type="sldNum" idx="53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31FEECE-D6C8-4FCE-876A-0190D37870B1}" type="slidenum">
              <a:rPr lang="en-US" sz="1200" b="0" u="none" strike="noStrike" smtClean="0">
                <a:solidFill>
                  <a:srgbClr val="8B8B8B"/>
                </a:solidFill>
                <a:effectLst/>
                <a:uFillTx/>
                <a:latin typeface="Calibri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43675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562FA-4287-A3C1-F3D3-71B784529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09696-6A80-EEE4-1D7C-B0EE98759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>
                <a:latin typeface="Calibri Light" panose="020F0302020204030204" pitchFamily="34" charset="0"/>
                <a:cs typeface="Calibri Light" panose="020F0302020204030204" pitchFamily="34" charset="0"/>
              </a:rPr>
              <a:t>Python assignment is “by reference”</a:t>
            </a:r>
            <a:endParaRPr lang="en-CH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A76FC2D-397C-E4A4-E37D-1D8165AB7863}"/>
              </a:ext>
            </a:extLst>
          </p:cNvPr>
          <p:cNvCxnSpPr>
            <a:cxnSpLocks/>
            <a:stCxn id="38" idx="3"/>
          </p:cNvCxnSpPr>
          <p:nvPr/>
        </p:nvCxnSpPr>
        <p:spPr>
          <a:xfrm flipV="1">
            <a:off x="3163212" y="4938569"/>
            <a:ext cx="3450325" cy="488782"/>
          </a:xfrm>
          <a:prstGeom prst="straightConnector1">
            <a:avLst/>
          </a:prstGeom>
          <a:ln w="571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5F6F511-55AD-6601-1B2C-638FDE6A9E4C}"/>
              </a:ext>
            </a:extLst>
          </p:cNvPr>
          <p:cNvSpPr txBox="1"/>
          <p:nvPr/>
        </p:nvSpPr>
        <p:spPr>
          <a:xfrm>
            <a:off x="768610" y="5957278"/>
            <a:ext cx="2355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shelf</a:t>
            </a:r>
            <a:endParaRPr lang="en-CH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305D79A-6F1D-2BE9-F047-1B0B5157B4F7}"/>
              </a:ext>
            </a:extLst>
          </p:cNvPr>
          <p:cNvCxnSpPr>
            <a:cxnSpLocks/>
          </p:cNvCxnSpPr>
          <p:nvPr/>
        </p:nvCxnSpPr>
        <p:spPr>
          <a:xfrm>
            <a:off x="2812106" y="6190127"/>
            <a:ext cx="3704778" cy="22054"/>
          </a:xfrm>
          <a:prstGeom prst="straightConnector1">
            <a:avLst/>
          </a:prstGeom>
          <a:ln w="571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2D8F28C-A36C-1D47-7F5F-92B76570A9AA}"/>
              </a:ext>
            </a:extLst>
          </p:cNvPr>
          <p:cNvSpPr txBox="1"/>
          <p:nvPr/>
        </p:nvSpPr>
        <p:spPr>
          <a:xfrm>
            <a:off x="6613537" y="5941075"/>
            <a:ext cx="13740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[  ,  ]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E2AD926-3465-F917-46B8-B499DF9436FB}"/>
              </a:ext>
            </a:extLst>
          </p:cNvPr>
          <p:cNvCxnSpPr>
            <a:cxnSpLocks/>
          </p:cNvCxnSpPr>
          <p:nvPr/>
        </p:nvCxnSpPr>
        <p:spPr>
          <a:xfrm flipV="1">
            <a:off x="7068323" y="5077886"/>
            <a:ext cx="0" cy="1110224"/>
          </a:xfrm>
          <a:prstGeom prst="straightConnector1">
            <a:avLst/>
          </a:prstGeom>
          <a:ln w="571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AA0CB28-B778-E006-A6FF-9BF0EC587444}"/>
              </a:ext>
            </a:extLst>
          </p:cNvPr>
          <p:cNvCxnSpPr>
            <a:cxnSpLocks/>
          </p:cNvCxnSpPr>
          <p:nvPr/>
        </p:nvCxnSpPr>
        <p:spPr>
          <a:xfrm flipH="1" flipV="1">
            <a:off x="7276578" y="5067064"/>
            <a:ext cx="265987" cy="1104843"/>
          </a:xfrm>
          <a:prstGeom prst="straightConnector1">
            <a:avLst/>
          </a:prstGeom>
          <a:ln w="5715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0DFBBD2-A11D-F798-29F7-7B84C8B02580}"/>
              </a:ext>
            </a:extLst>
          </p:cNvPr>
          <p:cNvSpPr txBox="1"/>
          <p:nvPr/>
        </p:nvSpPr>
        <p:spPr>
          <a:xfrm>
            <a:off x="1080819" y="2751178"/>
            <a:ext cx="173128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Global namespace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28AC63-460D-D367-0575-E178C4F7C757}"/>
              </a:ext>
            </a:extLst>
          </p:cNvPr>
          <p:cNvSpPr txBox="1"/>
          <p:nvPr/>
        </p:nvSpPr>
        <p:spPr>
          <a:xfrm>
            <a:off x="6613537" y="2751178"/>
            <a:ext cx="173128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Memory</a:t>
            </a:r>
          </a:p>
          <a:p>
            <a:pPr algn="ctr"/>
            <a:endParaRPr lang="en-CH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28F733-4682-72CD-30AF-DD469DE5B412}"/>
              </a:ext>
            </a:extLst>
          </p:cNvPr>
          <p:cNvSpPr txBox="1"/>
          <p:nvPr/>
        </p:nvSpPr>
        <p:spPr>
          <a:xfrm>
            <a:off x="838080" y="1267920"/>
            <a:ext cx="5216730" cy="1323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cage =</a:t>
            </a:r>
            <a:r>
              <a:rPr lang="en-CH" sz="2000" dirty="0">
                <a:latin typeface="Consolas" panose="020B0609020204030204" pitchFamily="49" charset="0"/>
                <a:cs typeface="Consolas" panose="020B0609020204030204" pitchFamily="49" charset="0"/>
              </a:rPr>
              <a:t> ["    "]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another_cage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cage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shelf = [cage, cage]</a:t>
            </a:r>
          </a:p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shelf[1].pop()</a:t>
            </a:r>
            <a:endParaRPr lang="en-CH" sz="20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278649-739B-79A7-BDF1-8BFDFE971759}"/>
              </a:ext>
            </a:extLst>
          </p:cNvPr>
          <p:cNvSpPr txBox="1"/>
          <p:nvPr/>
        </p:nvSpPr>
        <p:spPr>
          <a:xfrm>
            <a:off x="9379895" y="2751178"/>
            <a:ext cx="173128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Final result</a:t>
            </a:r>
          </a:p>
          <a:p>
            <a:pPr algn="ctr"/>
            <a:endParaRPr lang="en-CH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DF7168D-2D3E-AC44-2836-BF22F90821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131"/>
          <a:stretch>
            <a:fillRect/>
          </a:stretch>
        </p:blipFill>
        <p:spPr>
          <a:xfrm>
            <a:off x="2251097" y="1240050"/>
            <a:ext cx="410588" cy="46166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52EE04D-EF5D-42BC-6477-16B91076B695}"/>
              </a:ext>
            </a:extLst>
          </p:cNvPr>
          <p:cNvSpPr txBox="1"/>
          <p:nvPr/>
        </p:nvSpPr>
        <p:spPr>
          <a:xfrm>
            <a:off x="1346010" y="4521864"/>
            <a:ext cx="120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cage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3F2F47-42CC-D240-DDF0-23DB30B270B2}"/>
              </a:ext>
            </a:extLst>
          </p:cNvPr>
          <p:cNvSpPr txBox="1"/>
          <p:nvPr/>
        </p:nvSpPr>
        <p:spPr>
          <a:xfrm>
            <a:off x="6750346" y="4499112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[  ]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2BEF692-7CA8-615E-EC50-6DCD145BCAA1}"/>
              </a:ext>
            </a:extLst>
          </p:cNvPr>
          <p:cNvCxnSpPr>
            <a:cxnSpLocks/>
          </p:cNvCxnSpPr>
          <p:nvPr/>
        </p:nvCxnSpPr>
        <p:spPr>
          <a:xfrm>
            <a:off x="2756641" y="4752696"/>
            <a:ext cx="3760243" cy="0"/>
          </a:xfrm>
          <a:prstGeom prst="straightConnector1">
            <a:avLst/>
          </a:prstGeom>
          <a:ln w="571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C6D28E1-835C-7864-C180-295DD5FE2FB7}"/>
              </a:ext>
            </a:extLst>
          </p:cNvPr>
          <p:cNvSpPr txBox="1"/>
          <p:nvPr/>
        </p:nvSpPr>
        <p:spPr>
          <a:xfrm>
            <a:off x="7143920" y="3493202"/>
            <a:ext cx="120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"   "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5A14098-2F56-FC11-8120-7A379FCB17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131"/>
          <a:stretch>
            <a:fillRect/>
          </a:stretch>
        </p:blipFill>
        <p:spPr>
          <a:xfrm>
            <a:off x="7542565" y="3558398"/>
            <a:ext cx="410588" cy="46166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F6ECA0F-F272-FC1B-A14A-73A4EAA0EE9C}"/>
              </a:ext>
            </a:extLst>
          </p:cNvPr>
          <p:cNvSpPr txBox="1"/>
          <p:nvPr/>
        </p:nvSpPr>
        <p:spPr>
          <a:xfrm>
            <a:off x="729712" y="5196518"/>
            <a:ext cx="2433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nother_cage</a:t>
            </a:r>
          </a:p>
        </p:txBody>
      </p: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12091C43-5BF0-2831-927E-FCAA6057231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30236" y="4108682"/>
            <a:ext cx="650607" cy="591914"/>
          </a:xfrm>
          <a:prstGeom prst="bentConnector3">
            <a:avLst>
              <a:gd name="adj1" fmla="val 50000"/>
            </a:avLst>
          </a:prstGeom>
          <a:ln w="571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D97D91A-6F15-D905-763A-7BE03EFBC6EC}"/>
              </a:ext>
            </a:extLst>
          </p:cNvPr>
          <p:cNvSpPr txBox="1"/>
          <p:nvPr/>
        </p:nvSpPr>
        <p:spPr>
          <a:xfrm>
            <a:off x="8729430" y="5831545"/>
            <a:ext cx="3243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= [["  "], ["  "]]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CC46608-CD4F-7274-6E47-3790C7045D42}"/>
              </a:ext>
            </a:extLst>
          </p:cNvPr>
          <p:cNvGrpSpPr/>
          <p:nvPr/>
        </p:nvGrpSpPr>
        <p:grpSpPr>
          <a:xfrm>
            <a:off x="9449785" y="4499111"/>
            <a:ext cx="1544012" cy="484418"/>
            <a:chOff x="9129274" y="4499111"/>
            <a:chExt cx="1544012" cy="484418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7B6993B-A2B2-CDC4-246C-86BB67D5C3E9}"/>
                </a:ext>
              </a:extLst>
            </p:cNvPr>
            <p:cNvSpPr txBox="1"/>
            <p:nvPr/>
          </p:nvSpPr>
          <p:spPr>
            <a:xfrm>
              <a:off x="9129274" y="4499111"/>
              <a:ext cx="15440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H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= ["  "]</a:t>
              </a: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BBE0D937-D186-6E84-5E9D-4618ED54F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131"/>
            <a:stretch>
              <a:fillRect/>
            </a:stretch>
          </p:blipFill>
          <p:spPr>
            <a:xfrm>
              <a:off x="9882542" y="4521864"/>
              <a:ext cx="410588" cy="461665"/>
            </a:xfrm>
            <a:prstGeom prst="rect">
              <a:avLst/>
            </a:prstGeom>
          </p:spPr>
        </p:pic>
      </p:grpSp>
      <p:pic>
        <p:nvPicPr>
          <p:cNvPr id="50" name="Picture 49">
            <a:extLst>
              <a:ext uri="{FF2B5EF4-FFF2-40B4-BE49-F238E27FC236}">
                <a16:creationId xmlns:a16="http://schemas.microsoft.com/office/drawing/2014/main" id="{A3A32611-F8E9-C601-CD0E-7DB6FC82EF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131"/>
          <a:stretch>
            <a:fillRect/>
          </a:stretch>
        </p:blipFill>
        <p:spPr>
          <a:xfrm>
            <a:off x="9637055" y="5831545"/>
            <a:ext cx="410588" cy="461665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12FCF98D-51C9-7F65-24ED-88E2EDE210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131"/>
          <a:stretch>
            <a:fillRect/>
          </a:stretch>
        </p:blipFill>
        <p:spPr>
          <a:xfrm>
            <a:off x="10973435" y="5840511"/>
            <a:ext cx="410588" cy="46166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27D5FA6-647A-9557-9CA3-BFA3AA5E7549}"/>
              </a:ext>
            </a:extLst>
          </p:cNvPr>
          <p:cNvGrpSpPr/>
          <p:nvPr/>
        </p:nvGrpSpPr>
        <p:grpSpPr>
          <a:xfrm>
            <a:off x="9473532" y="5173765"/>
            <a:ext cx="1544012" cy="484418"/>
            <a:chOff x="9129274" y="4499111"/>
            <a:chExt cx="1544012" cy="48441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F2F5636-02C5-9A89-79DF-CA4FB7485F9D}"/>
                </a:ext>
              </a:extLst>
            </p:cNvPr>
            <p:cNvSpPr txBox="1"/>
            <p:nvPr/>
          </p:nvSpPr>
          <p:spPr>
            <a:xfrm>
              <a:off x="9129274" y="4499111"/>
              <a:ext cx="15440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H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= ["  "]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7EEF57E-5B85-CE95-6A29-820AD14AFC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131"/>
            <a:stretch>
              <a:fillRect/>
            </a:stretch>
          </p:blipFill>
          <p:spPr>
            <a:xfrm>
              <a:off x="9882542" y="4521864"/>
              <a:ext cx="410588" cy="461665"/>
            </a:xfrm>
            <a:prstGeom prst="rect">
              <a:avLst/>
            </a:prstGeom>
          </p:spPr>
        </p:pic>
      </p:grp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5E8ACBF-0190-91AE-B916-36F4D4CA2ADA}"/>
              </a:ext>
            </a:extLst>
          </p:cNvPr>
          <p:cNvSpPr>
            <a:spLocks noGrp="1"/>
          </p:cNvSpPr>
          <p:nvPr>
            <p:ph type="dt" idx="54"/>
          </p:nvPr>
        </p:nvSpPr>
        <p:spPr/>
        <p:txBody>
          <a:bodyPr/>
          <a:lstStyle/>
          <a:p>
            <a:pPr>
              <a:tabLst>
                <a:tab pos="0" algn="l"/>
              </a:tabLst>
            </a:pPr>
            <a:r>
              <a:rPr lang="de-CH" dirty="0">
                <a:solidFill>
                  <a:srgbClr val="8B8B8B"/>
                </a:solidFill>
                <a:latin typeface="Calibri"/>
              </a:rPr>
              <a:t>Aug 2026, CC BY-SA 4.0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60A8B82-8A34-417D-B1C3-C15A1CF9869E}"/>
              </a:ext>
            </a:extLst>
          </p:cNvPr>
          <p:cNvSpPr>
            <a:spLocks noGrp="1"/>
          </p:cNvSpPr>
          <p:nvPr>
            <p:ph type="ftr" idx="52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684A78-9FF7-5E5B-FED9-24BE1B043365}"/>
              </a:ext>
            </a:extLst>
          </p:cNvPr>
          <p:cNvSpPr>
            <a:spLocks noGrp="1"/>
          </p:cNvSpPr>
          <p:nvPr>
            <p:ph type="sldNum" idx="53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31FEECE-D6C8-4FCE-876A-0190D37870B1}" type="slidenum">
              <a:rPr lang="en-US" sz="1200" b="0" u="none" strike="noStrike" smtClean="0">
                <a:solidFill>
                  <a:srgbClr val="8B8B8B"/>
                </a:solidFill>
                <a:effectLst/>
                <a:uFillTx/>
                <a:latin typeface="Calibri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06036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A933B-B6E9-F101-CFCD-75819FDC3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A3025-12A7-9D85-3478-3EB988656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>
                <a:latin typeface="Calibri Light" panose="020F0302020204030204" pitchFamily="34" charset="0"/>
                <a:cs typeface="Calibri Light" panose="020F0302020204030204" pitchFamily="34" charset="0"/>
              </a:rPr>
              <a:t>Python assignment is “by reference”</a:t>
            </a:r>
            <a:endParaRPr lang="en-CH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94F7B4E-5F5F-C92D-5987-7F24999FC1EC}"/>
              </a:ext>
            </a:extLst>
          </p:cNvPr>
          <p:cNvCxnSpPr>
            <a:cxnSpLocks/>
            <a:stCxn id="38" idx="3"/>
          </p:cNvCxnSpPr>
          <p:nvPr/>
        </p:nvCxnSpPr>
        <p:spPr>
          <a:xfrm flipV="1">
            <a:off x="3163212" y="4938569"/>
            <a:ext cx="3450325" cy="488782"/>
          </a:xfrm>
          <a:prstGeom prst="straightConnector1">
            <a:avLst/>
          </a:prstGeom>
          <a:ln w="571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59D3A78-0E52-07E8-55E8-32E8812BC13A}"/>
              </a:ext>
            </a:extLst>
          </p:cNvPr>
          <p:cNvSpPr txBox="1"/>
          <p:nvPr/>
        </p:nvSpPr>
        <p:spPr>
          <a:xfrm>
            <a:off x="768610" y="5957278"/>
            <a:ext cx="2355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shelf</a:t>
            </a:r>
            <a:endParaRPr lang="en-CH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470B731-37E6-E3FA-E25F-290B4D34C6A0}"/>
              </a:ext>
            </a:extLst>
          </p:cNvPr>
          <p:cNvCxnSpPr>
            <a:cxnSpLocks/>
          </p:cNvCxnSpPr>
          <p:nvPr/>
        </p:nvCxnSpPr>
        <p:spPr>
          <a:xfrm>
            <a:off x="2812106" y="6190127"/>
            <a:ext cx="3704778" cy="22054"/>
          </a:xfrm>
          <a:prstGeom prst="straightConnector1">
            <a:avLst/>
          </a:prstGeom>
          <a:ln w="571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6E61FF2-3F6B-5829-FA21-1BF661C2C94D}"/>
              </a:ext>
            </a:extLst>
          </p:cNvPr>
          <p:cNvSpPr txBox="1"/>
          <p:nvPr/>
        </p:nvSpPr>
        <p:spPr>
          <a:xfrm>
            <a:off x="6613537" y="5941075"/>
            <a:ext cx="13740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[  ,  ]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D3F637D-789C-9DD2-9DAB-1BC8FB83517B}"/>
              </a:ext>
            </a:extLst>
          </p:cNvPr>
          <p:cNvCxnSpPr>
            <a:cxnSpLocks/>
          </p:cNvCxnSpPr>
          <p:nvPr/>
        </p:nvCxnSpPr>
        <p:spPr>
          <a:xfrm flipV="1">
            <a:off x="7068323" y="5077886"/>
            <a:ext cx="0" cy="1110224"/>
          </a:xfrm>
          <a:prstGeom prst="straightConnector1">
            <a:avLst/>
          </a:prstGeom>
          <a:ln w="571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E9570C9-B7AB-16A0-A1A6-177CCE0A68B7}"/>
              </a:ext>
            </a:extLst>
          </p:cNvPr>
          <p:cNvCxnSpPr>
            <a:cxnSpLocks/>
          </p:cNvCxnSpPr>
          <p:nvPr/>
        </p:nvCxnSpPr>
        <p:spPr>
          <a:xfrm flipH="1" flipV="1">
            <a:off x="7276578" y="5067064"/>
            <a:ext cx="265987" cy="1104843"/>
          </a:xfrm>
          <a:prstGeom prst="straightConnector1">
            <a:avLst/>
          </a:prstGeom>
          <a:ln w="571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29A6F5C-B4F1-9076-287B-0B7C5F6659D3}"/>
              </a:ext>
            </a:extLst>
          </p:cNvPr>
          <p:cNvSpPr txBox="1"/>
          <p:nvPr/>
        </p:nvSpPr>
        <p:spPr>
          <a:xfrm>
            <a:off x="9709671" y="4521863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= [ 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6D04A6-EC32-9CEF-3E98-2E504B920709}"/>
              </a:ext>
            </a:extLst>
          </p:cNvPr>
          <p:cNvSpPr txBox="1"/>
          <p:nvPr/>
        </p:nvSpPr>
        <p:spPr>
          <a:xfrm>
            <a:off x="9129274" y="5942024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= [[ ], [ ]]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5BEECE-43A6-D588-9687-EDB7DF52EB3F}"/>
              </a:ext>
            </a:extLst>
          </p:cNvPr>
          <p:cNvSpPr txBox="1"/>
          <p:nvPr/>
        </p:nvSpPr>
        <p:spPr>
          <a:xfrm>
            <a:off x="1080819" y="2751178"/>
            <a:ext cx="173128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Global namespace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F7D648-E18A-8DD2-A2D9-33FD465CBC13}"/>
              </a:ext>
            </a:extLst>
          </p:cNvPr>
          <p:cNvSpPr txBox="1"/>
          <p:nvPr/>
        </p:nvSpPr>
        <p:spPr>
          <a:xfrm>
            <a:off x="6613537" y="2751178"/>
            <a:ext cx="173128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Memory</a:t>
            </a:r>
          </a:p>
          <a:p>
            <a:pPr algn="ctr"/>
            <a:endParaRPr lang="en-CH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851460-F1EC-AE78-9319-BAA29FCF8242}"/>
              </a:ext>
            </a:extLst>
          </p:cNvPr>
          <p:cNvSpPr txBox="1"/>
          <p:nvPr/>
        </p:nvSpPr>
        <p:spPr>
          <a:xfrm>
            <a:off x="838080" y="1267920"/>
            <a:ext cx="5216730" cy="1323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cage =</a:t>
            </a:r>
            <a:r>
              <a:rPr lang="en-CH" sz="2000" dirty="0">
                <a:latin typeface="Consolas" panose="020B0609020204030204" pitchFamily="49" charset="0"/>
                <a:cs typeface="Consolas" panose="020B0609020204030204" pitchFamily="49" charset="0"/>
              </a:rPr>
              <a:t> ["    "]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another_cage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cage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shelf = [cage, cage]</a:t>
            </a:r>
          </a:p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shelf[1].pop()</a:t>
            </a:r>
            <a:endParaRPr lang="en-CH" sz="20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B0F0C4-D560-0CDD-4031-A9D0EB6217BD}"/>
              </a:ext>
            </a:extLst>
          </p:cNvPr>
          <p:cNvSpPr txBox="1"/>
          <p:nvPr/>
        </p:nvSpPr>
        <p:spPr>
          <a:xfrm>
            <a:off x="9379895" y="2751178"/>
            <a:ext cx="173128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Final result</a:t>
            </a:r>
          </a:p>
          <a:p>
            <a:pPr algn="ctr"/>
            <a:endParaRPr lang="en-CH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E52D46D-8682-7EFE-97DF-7E595B3766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131"/>
          <a:stretch>
            <a:fillRect/>
          </a:stretch>
        </p:blipFill>
        <p:spPr>
          <a:xfrm>
            <a:off x="2251097" y="1240050"/>
            <a:ext cx="410588" cy="46166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0C67D67-DA55-3EC4-8A69-4B88070FCF9B}"/>
              </a:ext>
            </a:extLst>
          </p:cNvPr>
          <p:cNvSpPr txBox="1"/>
          <p:nvPr/>
        </p:nvSpPr>
        <p:spPr>
          <a:xfrm>
            <a:off x="1346010" y="4521864"/>
            <a:ext cx="120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cage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7CF9FA-9EEB-94B2-C896-F1EB214C0154}"/>
              </a:ext>
            </a:extLst>
          </p:cNvPr>
          <p:cNvSpPr txBox="1"/>
          <p:nvPr/>
        </p:nvSpPr>
        <p:spPr>
          <a:xfrm>
            <a:off x="6750346" y="4499112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[  ]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FA56090-B659-7022-A050-A74A47731DF4}"/>
              </a:ext>
            </a:extLst>
          </p:cNvPr>
          <p:cNvCxnSpPr>
            <a:cxnSpLocks/>
          </p:cNvCxnSpPr>
          <p:nvPr/>
        </p:nvCxnSpPr>
        <p:spPr>
          <a:xfrm>
            <a:off x="2756641" y="4752696"/>
            <a:ext cx="3760243" cy="0"/>
          </a:xfrm>
          <a:prstGeom prst="straightConnector1">
            <a:avLst/>
          </a:prstGeom>
          <a:ln w="571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DFDE6B6-65E6-6EB6-4751-A3C6BB01DCAF}"/>
              </a:ext>
            </a:extLst>
          </p:cNvPr>
          <p:cNvSpPr txBox="1"/>
          <p:nvPr/>
        </p:nvSpPr>
        <p:spPr>
          <a:xfrm>
            <a:off x="7143920" y="3493202"/>
            <a:ext cx="120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"   "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06CADE3-836E-2587-94B1-5322BD62A2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131"/>
          <a:stretch>
            <a:fillRect/>
          </a:stretch>
        </p:blipFill>
        <p:spPr>
          <a:xfrm>
            <a:off x="7542565" y="3558398"/>
            <a:ext cx="410588" cy="46166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C3DE332-989D-B294-CB16-551BC98EDB80}"/>
              </a:ext>
            </a:extLst>
          </p:cNvPr>
          <p:cNvSpPr txBox="1"/>
          <p:nvPr/>
        </p:nvSpPr>
        <p:spPr>
          <a:xfrm>
            <a:off x="729712" y="5196518"/>
            <a:ext cx="2433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nother_cage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C61B05-5729-3785-F2A6-F7B2EB85EE47}"/>
              </a:ext>
            </a:extLst>
          </p:cNvPr>
          <p:cNvSpPr txBox="1"/>
          <p:nvPr/>
        </p:nvSpPr>
        <p:spPr>
          <a:xfrm>
            <a:off x="9709670" y="5196518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= [ ]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9539D51-10F1-41DC-E764-3B468A8652BC}"/>
              </a:ext>
            </a:extLst>
          </p:cNvPr>
          <p:cNvSpPr>
            <a:spLocks noGrp="1"/>
          </p:cNvSpPr>
          <p:nvPr>
            <p:ph type="dt" idx="54"/>
          </p:nvPr>
        </p:nvSpPr>
        <p:spPr/>
        <p:txBody>
          <a:bodyPr/>
          <a:lstStyle/>
          <a:p>
            <a:pPr>
              <a:tabLst>
                <a:tab pos="0" algn="l"/>
              </a:tabLst>
            </a:pPr>
            <a:r>
              <a:rPr lang="de-CH" dirty="0">
                <a:solidFill>
                  <a:srgbClr val="8B8B8B"/>
                </a:solidFill>
                <a:latin typeface="Calibri"/>
              </a:rPr>
              <a:t>Aug 2026, CC BY-SA 4.0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09E4AA9-67F9-A8EC-F21F-C86AF8EC3449}"/>
              </a:ext>
            </a:extLst>
          </p:cNvPr>
          <p:cNvSpPr>
            <a:spLocks noGrp="1"/>
          </p:cNvSpPr>
          <p:nvPr>
            <p:ph type="ftr" idx="52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3293E3B-2B11-21D3-D543-33D42A7C34BE}"/>
              </a:ext>
            </a:extLst>
          </p:cNvPr>
          <p:cNvSpPr>
            <a:spLocks noGrp="1"/>
          </p:cNvSpPr>
          <p:nvPr>
            <p:ph type="sldNum" idx="53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31FEECE-D6C8-4FCE-876A-0190D37870B1}" type="slidenum">
              <a:rPr lang="en-US" sz="1200" b="0" u="none" strike="noStrike" smtClean="0">
                <a:solidFill>
                  <a:srgbClr val="8B8B8B"/>
                </a:solidFill>
                <a:effectLst/>
                <a:uFillTx/>
                <a:latin typeface="Calibri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90271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82526-1A89-2C7B-CFF3-8CE3BE5F0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C04E7-F155-953D-2657-F62EB7ABB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>
                <a:latin typeface="Calibri Light" panose="020F0302020204030204" pitchFamily="34" charset="0"/>
                <a:cs typeface="Calibri Light" panose="020F0302020204030204" pitchFamily="34" charset="0"/>
              </a:rPr>
              <a:t>Passing an argument is an assignment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E61D9B-CA68-7253-66B1-3E6A46506FBD}"/>
              </a:ext>
            </a:extLst>
          </p:cNvPr>
          <p:cNvSpPr txBox="1"/>
          <p:nvPr/>
        </p:nvSpPr>
        <p:spPr>
          <a:xfrm>
            <a:off x="1346010" y="4521864"/>
            <a:ext cx="120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cage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50FD77-8271-01FF-A64C-858632FD99BA}"/>
              </a:ext>
            </a:extLst>
          </p:cNvPr>
          <p:cNvSpPr txBox="1"/>
          <p:nvPr/>
        </p:nvSpPr>
        <p:spPr>
          <a:xfrm>
            <a:off x="1080819" y="2751178"/>
            <a:ext cx="173128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Global namespace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C2515C-5008-8C4B-45E1-D5CD05BBDF7D}"/>
              </a:ext>
            </a:extLst>
          </p:cNvPr>
          <p:cNvSpPr txBox="1"/>
          <p:nvPr/>
        </p:nvSpPr>
        <p:spPr>
          <a:xfrm>
            <a:off x="6613537" y="2751178"/>
            <a:ext cx="173128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Memory</a:t>
            </a:r>
          </a:p>
          <a:p>
            <a:pPr algn="ctr"/>
            <a:endParaRPr lang="en-C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CA0BC8-0184-45BF-C2AE-9855985FE5EC}"/>
              </a:ext>
            </a:extLst>
          </p:cNvPr>
          <p:cNvSpPr txBox="1"/>
          <p:nvPr/>
        </p:nvSpPr>
        <p:spPr>
          <a:xfrm>
            <a:off x="6750346" y="4499112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[  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3655B81-FD58-1C90-196B-092511B1A722}"/>
              </a:ext>
            </a:extLst>
          </p:cNvPr>
          <p:cNvCxnSpPr>
            <a:cxnSpLocks/>
          </p:cNvCxnSpPr>
          <p:nvPr/>
        </p:nvCxnSpPr>
        <p:spPr>
          <a:xfrm>
            <a:off x="2756641" y="4752696"/>
            <a:ext cx="3760243" cy="0"/>
          </a:xfrm>
          <a:prstGeom prst="straightConnector1">
            <a:avLst/>
          </a:prstGeom>
          <a:ln w="571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2D0452-4535-F23B-015D-B1D5B338C2CB}"/>
              </a:ext>
            </a:extLst>
          </p:cNvPr>
          <p:cNvSpPr txBox="1"/>
          <p:nvPr/>
        </p:nvSpPr>
        <p:spPr>
          <a:xfrm>
            <a:off x="838080" y="1267920"/>
            <a:ext cx="521673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cage =</a:t>
            </a:r>
            <a:r>
              <a:rPr lang="en-CH" sz="2000" dirty="0">
                <a:latin typeface="Consolas" panose="020B0609020204030204" pitchFamily="49" charset="0"/>
                <a:cs typeface="Consolas" panose="020B0609020204030204" pitchFamily="49" charset="0"/>
              </a:rPr>
              <a:t> ["    "]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extract_animal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(container):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return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container.pop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CH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420CEB-7096-BE67-ED9D-7DE6F8390331}"/>
              </a:ext>
            </a:extLst>
          </p:cNvPr>
          <p:cNvSpPr txBox="1"/>
          <p:nvPr/>
        </p:nvSpPr>
        <p:spPr>
          <a:xfrm>
            <a:off x="622286" y="5496434"/>
            <a:ext cx="26483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extract_animal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(cage)</a:t>
            </a:r>
            <a:endParaRPr lang="en-CH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59474E-C77D-D710-FA16-CC8BB09411BB}"/>
              </a:ext>
            </a:extLst>
          </p:cNvPr>
          <p:cNvSpPr txBox="1"/>
          <p:nvPr/>
        </p:nvSpPr>
        <p:spPr>
          <a:xfrm>
            <a:off x="3763673" y="5513373"/>
            <a:ext cx="1898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container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284EFBF-C0C7-1742-11CB-D8160B6E3FC0}"/>
              </a:ext>
            </a:extLst>
          </p:cNvPr>
          <p:cNvCxnSpPr>
            <a:cxnSpLocks/>
          </p:cNvCxnSpPr>
          <p:nvPr/>
        </p:nvCxnSpPr>
        <p:spPr>
          <a:xfrm flipV="1">
            <a:off x="6054810" y="5050118"/>
            <a:ext cx="924149" cy="484290"/>
          </a:xfrm>
          <a:prstGeom prst="straightConnector1">
            <a:avLst/>
          </a:prstGeom>
          <a:ln w="571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16C0A4E-813B-F51D-4FFF-0EC5E31B2795}"/>
              </a:ext>
            </a:extLst>
          </p:cNvPr>
          <p:cNvSpPr txBox="1"/>
          <p:nvPr/>
        </p:nvSpPr>
        <p:spPr>
          <a:xfrm>
            <a:off x="3847178" y="2751178"/>
            <a:ext cx="173128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Function namespace</a:t>
            </a:r>
          </a:p>
        </p:txBody>
      </p: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CE935CA5-8278-6E18-37D0-B467698A6B7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36852" y="4204142"/>
            <a:ext cx="557358" cy="494247"/>
          </a:xfrm>
          <a:prstGeom prst="bentConnector3">
            <a:avLst>
              <a:gd name="adj1" fmla="val 50000"/>
            </a:avLst>
          </a:prstGeom>
          <a:ln w="571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E4BABD3-8DEF-42F2-79FE-A4420FC654F2}"/>
              </a:ext>
            </a:extLst>
          </p:cNvPr>
          <p:cNvSpPr txBox="1"/>
          <p:nvPr/>
        </p:nvSpPr>
        <p:spPr>
          <a:xfrm>
            <a:off x="9379895" y="2751178"/>
            <a:ext cx="173128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Final result</a:t>
            </a:r>
          </a:p>
          <a:p>
            <a:pPr algn="ctr"/>
            <a:endParaRPr lang="en-CH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65320B-96C2-821B-D0F2-1BB6F4370C2E}"/>
              </a:ext>
            </a:extLst>
          </p:cNvPr>
          <p:cNvSpPr txBox="1"/>
          <p:nvPr/>
        </p:nvSpPr>
        <p:spPr>
          <a:xfrm>
            <a:off x="7143920" y="3493202"/>
            <a:ext cx="120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"   "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B461118-E9CD-1C1C-E9B6-4BABB79ED5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131"/>
          <a:stretch>
            <a:fillRect/>
          </a:stretch>
        </p:blipFill>
        <p:spPr>
          <a:xfrm>
            <a:off x="7542565" y="3558398"/>
            <a:ext cx="410588" cy="46166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5EC58DF4-BD86-ECF0-409F-58EFF771DF6D}"/>
              </a:ext>
            </a:extLst>
          </p:cNvPr>
          <p:cNvGrpSpPr/>
          <p:nvPr/>
        </p:nvGrpSpPr>
        <p:grpSpPr>
          <a:xfrm>
            <a:off x="9379895" y="4484581"/>
            <a:ext cx="1713931" cy="490726"/>
            <a:chOff x="9607244" y="4525862"/>
            <a:chExt cx="1713931" cy="49072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E0718C9-DBBA-7CCB-58DA-42DBCD0C02CB}"/>
                </a:ext>
              </a:extLst>
            </p:cNvPr>
            <p:cNvSpPr txBox="1"/>
            <p:nvPr/>
          </p:nvSpPr>
          <p:spPr>
            <a:xfrm>
              <a:off x="9607244" y="4525862"/>
              <a:ext cx="17139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H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= ["   "]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7050BE4-22D9-F5F3-16AA-28D559C95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131"/>
            <a:stretch>
              <a:fillRect/>
            </a:stretch>
          </p:blipFill>
          <p:spPr>
            <a:xfrm>
              <a:off x="10429958" y="4554923"/>
              <a:ext cx="410588" cy="461665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F783BA5-B345-652D-D282-4D51F4F10B15}"/>
              </a:ext>
            </a:extLst>
          </p:cNvPr>
          <p:cNvGrpSpPr/>
          <p:nvPr/>
        </p:nvGrpSpPr>
        <p:grpSpPr>
          <a:xfrm>
            <a:off x="9379894" y="5421206"/>
            <a:ext cx="1713931" cy="490726"/>
            <a:chOff x="9607244" y="4525862"/>
            <a:chExt cx="1713931" cy="49072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5F42329-E8BD-3E24-A83C-23A04BD5E27C}"/>
                </a:ext>
              </a:extLst>
            </p:cNvPr>
            <p:cNvSpPr txBox="1"/>
            <p:nvPr/>
          </p:nvSpPr>
          <p:spPr>
            <a:xfrm>
              <a:off x="9607244" y="4525862"/>
              <a:ext cx="17139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H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= ["   "]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28777839-E9C5-76EF-4CAD-0C45FCBF43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131"/>
            <a:stretch>
              <a:fillRect/>
            </a:stretch>
          </p:blipFill>
          <p:spPr>
            <a:xfrm>
              <a:off x="10429958" y="4554923"/>
              <a:ext cx="410588" cy="461665"/>
            </a:xfrm>
            <a:prstGeom prst="rect">
              <a:avLst/>
            </a:prstGeom>
          </p:spPr>
        </p:pic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3CCA5664-E593-C327-88C3-0AE8B6B50C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131"/>
          <a:stretch>
            <a:fillRect/>
          </a:stretch>
        </p:blipFill>
        <p:spPr>
          <a:xfrm>
            <a:off x="2251097" y="1240050"/>
            <a:ext cx="410588" cy="461665"/>
          </a:xfrm>
          <a:prstGeom prst="rect">
            <a:avLst/>
          </a:prstGeom>
        </p:spPr>
      </p:pic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71C5BBD9-2CA8-D1C0-F116-0AC046FC023D}"/>
              </a:ext>
            </a:extLst>
          </p:cNvPr>
          <p:cNvSpPr>
            <a:spLocks noGrp="1"/>
          </p:cNvSpPr>
          <p:nvPr>
            <p:ph type="dt" idx="54"/>
          </p:nvPr>
        </p:nvSpPr>
        <p:spPr/>
        <p:txBody>
          <a:bodyPr/>
          <a:lstStyle/>
          <a:p>
            <a:pPr>
              <a:tabLst>
                <a:tab pos="0" algn="l"/>
              </a:tabLst>
            </a:pPr>
            <a:r>
              <a:rPr lang="de-CH" dirty="0">
                <a:solidFill>
                  <a:srgbClr val="8B8B8B"/>
                </a:solidFill>
                <a:latin typeface="Calibri"/>
              </a:rPr>
              <a:t>Aug 2026, CC BY-SA 4.0</a:t>
            </a:r>
            <a:endParaRPr lang="en-US" dirty="0"/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E411C863-6E50-D62D-B12F-6A078A21522B}"/>
              </a:ext>
            </a:extLst>
          </p:cNvPr>
          <p:cNvSpPr>
            <a:spLocks noGrp="1"/>
          </p:cNvSpPr>
          <p:nvPr>
            <p:ph type="ftr" idx="52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9673B9A8-0DD7-6731-A348-FAE10F7F65B1}"/>
              </a:ext>
            </a:extLst>
          </p:cNvPr>
          <p:cNvSpPr>
            <a:spLocks noGrp="1"/>
          </p:cNvSpPr>
          <p:nvPr>
            <p:ph type="sldNum" idx="53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31FEECE-D6C8-4FCE-876A-0190D37870B1}" type="slidenum">
              <a:rPr lang="en-US" sz="1200" b="0" u="none" strike="noStrike" smtClean="0">
                <a:solidFill>
                  <a:srgbClr val="8B8B8B"/>
                </a:solidFill>
                <a:effectLst/>
                <a:uFillTx/>
                <a:latin typeface="Calibri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19DDF9-77F1-7024-24D1-DFC67BEE2B76}"/>
              </a:ext>
            </a:extLst>
          </p:cNvPr>
          <p:cNvSpPr txBox="1"/>
          <p:nvPr/>
        </p:nvSpPr>
        <p:spPr>
          <a:xfrm>
            <a:off x="3094952" y="5908893"/>
            <a:ext cx="3224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container = cage</a:t>
            </a:r>
          </a:p>
        </p:txBody>
      </p:sp>
    </p:spTree>
    <p:extLst>
      <p:ext uri="{BB962C8B-B14F-4D97-AF65-F5344CB8AC3E}">
        <p14:creationId xmlns:p14="http://schemas.microsoft.com/office/powerpoint/2010/main" val="7285525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Changing one view changes them all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671F3FF4-E227-4FEF-97CF-40A32775034B}" type="slidenum">
              <a:rPr/>
              <a:t>23</a:t>
            </a:fld>
            <a:endParaRPr/>
          </a:p>
        </p:txBody>
      </p:sp>
      <p:sp>
        <p:nvSpPr>
          <p:cNvPr id="329" name="PlaceHolder 2"/>
          <p:cNvSpPr>
            <a:spLocks noGrp="1"/>
          </p:cNvSpPr>
          <p:nvPr>
            <p:ph type="dt" idx="18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 dirty="0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30" name="Table 9"/>
          <p:cNvGraphicFramePr/>
          <p:nvPr/>
        </p:nvGraphicFramePr>
        <p:xfrm>
          <a:off x="5622120" y="2885040"/>
          <a:ext cx="2152800" cy="1371600"/>
        </p:xfrm>
        <a:graphic>
          <a:graphicData uri="http://schemas.openxmlformats.org/drawingml/2006/table">
            <a:tbl>
              <a:tblPr/>
              <a:tblGrid>
                <a:gridCol w="10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data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CH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dtype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int64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ndim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shape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(4, 3)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strides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(24, 8)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31" name="Table 11"/>
          <p:cNvGraphicFramePr/>
          <p:nvPr/>
        </p:nvGraphicFramePr>
        <p:xfrm>
          <a:off x="5622120" y="1377720"/>
          <a:ext cx="5976360" cy="473400"/>
        </p:xfrm>
        <a:graphic>
          <a:graphicData uri="http://schemas.openxmlformats.org/drawingml/2006/table">
            <a:tbl>
              <a:tblPr/>
              <a:tblGrid>
                <a:gridCol w="45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7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2" name="TextBox 12"/>
          <p:cNvSpPr/>
          <p:nvPr/>
        </p:nvSpPr>
        <p:spPr>
          <a:xfrm>
            <a:off x="6428880" y="4285440"/>
            <a:ext cx="5032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13"/>
          <p:cNvSpPr/>
          <p:nvPr/>
        </p:nvSpPr>
        <p:spPr>
          <a:xfrm>
            <a:off x="9588240" y="4309200"/>
            <a:ext cx="5032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34" name="Table 14"/>
          <p:cNvGraphicFramePr/>
          <p:nvPr/>
        </p:nvGraphicFramePr>
        <p:xfrm>
          <a:off x="8763840" y="2880360"/>
          <a:ext cx="2152800" cy="1371600"/>
        </p:xfrm>
        <a:graphic>
          <a:graphicData uri="http://schemas.openxmlformats.org/drawingml/2006/table">
            <a:tbl>
              <a:tblPr/>
              <a:tblGrid>
                <a:gridCol w="10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data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CH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dtype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int64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ndim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shape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(3, 4)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strides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(8, 24)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335" name="Curved Connector 6"/>
          <p:cNvCxnSpPr>
            <a:endCxn id="331" idx="1"/>
          </p:cNvCxnSpPr>
          <p:nvPr/>
        </p:nvCxnSpPr>
        <p:spPr>
          <a:xfrm rot="10800000">
            <a:off x="5622120" y="1614420"/>
            <a:ext cx="1552680" cy="1382580"/>
          </a:xfrm>
          <a:prstGeom prst="curvedConnector3">
            <a:avLst>
              <a:gd name="adj1" fmla="val 114723"/>
            </a:avLst>
          </a:prstGeom>
          <a:ln w="57150">
            <a:solidFill>
              <a:srgbClr val="1F45FF"/>
            </a:solidFill>
            <a:round/>
            <a:headEnd type="oval" w="med" len="med"/>
            <a:tailEnd type="triangle" w="med" len="med"/>
          </a:ln>
        </p:spPr>
      </p:cxnSp>
      <p:cxnSp>
        <p:nvCxnSpPr>
          <p:cNvPr id="336" name="Curved Connector 15"/>
          <p:cNvCxnSpPr/>
          <p:nvPr/>
        </p:nvCxnSpPr>
        <p:spPr>
          <a:xfrm rot="10800000">
            <a:off x="5555520" y="1449000"/>
            <a:ext cx="4761000" cy="1575720"/>
          </a:xfrm>
          <a:prstGeom prst="curvedConnector3">
            <a:avLst>
              <a:gd name="adj1" fmla="val 24992"/>
            </a:avLst>
          </a:prstGeom>
          <a:ln w="57150">
            <a:solidFill>
              <a:srgbClr val="1F45FF"/>
            </a:solidFill>
            <a:round/>
            <a:headEnd type="oval" w="med" len="med"/>
            <a:tailEnd type="triangle" w="med" len="med"/>
          </a:ln>
        </p:spPr>
      </p:cxnSp>
      <p:pic>
        <p:nvPicPr>
          <p:cNvPr id="337" name="Picture 5"/>
          <p:cNvPicPr/>
          <p:nvPr/>
        </p:nvPicPr>
        <p:blipFill>
          <a:blip r:embed="rId2"/>
          <a:srcRect b="46787"/>
          <a:stretch/>
        </p:blipFill>
        <p:spPr>
          <a:xfrm>
            <a:off x="838080" y="1360080"/>
            <a:ext cx="3814920" cy="303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37EB49-E534-4ABA-1AF4-F29B45B27AE8}"/>
              </a:ext>
            </a:extLst>
          </p:cNvPr>
          <p:cNvSpPr/>
          <p:nvPr/>
        </p:nvSpPr>
        <p:spPr>
          <a:xfrm>
            <a:off x="9379894" y="282305"/>
            <a:ext cx="2271860" cy="215873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>
                <a:solidFill>
                  <a:sysClr val="windowText" lastClr="000000"/>
                </a:solidFill>
              </a:rPr>
              <a:t>Make this into a live coding thing?</a:t>
            </a:r>
            <a:endParaRPr lang="en-CH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Changing one view changes them all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9AE65189-9B10-461A-A3C8-43ADCBFFE169}" type="slidenum">
              <a:rPr/>
              <a:t>24</a:t>
            </a:fld>
            <a:endParaRPr/>
          </a:p>
        </p:txBody>
      </p:sp>
      <p:sp>
        <p:nvSpPr>
          <p:cNvPr id="339" name="PlaceHolder 2"/>
          <p:cNvSpPr>
            <a:spLocks noGrp="1"/>
          </p:cNvSpPr>
          <p:nvPr>
            <p:ph type="dt" idx="18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40" name="Table 9"/>
          <p:cNvGraphicFramePr/>
          <p:nvPr/>
        </p:nvGraphicFramePr>
        <p:xfrm>
          <a:off x="5622120" y="2885040"/>
          <a:ext cx="2152800" cy="1371600"/>
        </p:xfrm>
        <a:graphic>
          <a:graphicData uri="http://schemas.openxmlformats.org/drawingml/2006/table">
            <a:tbl>
              <a:tblPr/>
              <a:tblGrid>
                <a:gridCol w="10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data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H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dtype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int64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ndim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shape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(4, 3)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strides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(24, 8)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41" name="Table 11"/>
          <p:cNvGraphicFramePr/>
          <p:nvPr/>
        </p:nvGraphicFramePr>
        <p:xfrm>
          <a:off x="5622120" y="1377720"/>
          <a:ext cx="5976360" cy="473400"/>
        </p:xfrm>
        <a:graphic>
          <a:graphicData uri="http://schemas.openxmlformats.org/drawingml/2006/table">
            <a:tbl>
              <a:tblPr/>
              <a:tblGrid>
                <a:gridCol w="45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7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2" name="TextBox 12"/>
          <p:cNvSpPr/>
          <p:nvPr/>
        </p:nvSpPr>
        <p:spPr>
          <a:xfrm>
            <a:off x="6428880" y="4285440"/>
            <a:ext cx="5032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13"/>
          <p:cNvSpPr/>
          <p:nvPr/>
        </p:nvSpPr>
        <p:spPr>
          <a:xfrm>
            <a:off x="9588240" y="4309200"/>
            <a:ext cx="5032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44" name="Table 14"/>
          <p:cNvGraphicFramePr/>
          <p:nvPr/>
        </p:nvGraphicFramePr>
        <p:xfrm>
          <a:off x="8763840" y="2880360"/>
          <a:ext cx="2152800" cy="1371600"/>
        </p:xfrm>
        <a:graphic>
          <a:graphicData uri="http://schemas.openxmlformats.org/drawingml/2006/table">
            <a:tbl>
              <a:tblPr/>
              <a:tblGrid>
                <a:gridCol w="10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data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H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dtype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int64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ndim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shape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(3, 4)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strides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(8, 24)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345" name="Curved Connector 6"/>
          <p:cNvCxnSpPr>
            <a:endCxn id="341" idx="1"/>
          </p:cNvCxnSpPr>
          <p:nvPr/>
        </p:nvCxnSpPr>
        <p:spPr>
          <a:xfrm rot="10800000">
            <a:off x="5622120" y="1614420"/>
            <a:ext cx="1552680" cy="1382580"/>
          </a:xfrm>
          <a:prstGeom prst="curvedConnector3">
            <a:avLst>
              <a:gd name="adj1" fmla="val 114723"/>
            </a:avLst>
          </a:prstGeom>
          <a:ln w="57150">
            <a:solidFill>
              <a:srgbClr val="1F45FF"/>
            </a:solidFill>
            <a:round/>
            <a:headEnd type="oval" w="med" len="med"/>
            <a:tailEnd type="triangle" w="med" len="med"/>
          </a:ln>
        </p:spPr>
      </p:cxnSp>
      <p:cxnSp>
        <p:nvCxnSpPr>
          <p:cNvPr id="346" name="Curved Connector 15"/>
          <p:cNvCxnSpPr/>
          <p:nvPr/>
        </p:nvCxnSpPr>
        <p:spPr>
          <a:xfrm rot="10800000">
            <a:off x="5555520" y="1449000"/>
            <a:ext cx="4761000" cy="1575720"/>
          </a:xfrm>
          <a:prstGeom prst="curvedConnector3">
            <a:avLst>
              <a:gd name="adj1" fmla="val 24992"/>
            </a:avLst>
          </a:prstGeom>
          <a:ln w="57150">
            <a:solidFill>
              <a:srgbClr val="1F45FF"/>
            </a:solidFill>
            <a:round/>
            <a:headEnd type="oval" w="med" len="med"/>
            <a:tailEnd type="triangle" w="med" len="med"/>
          </a:ln>
        </p:spPr>
      </p:cxnSp>
      <p:pic>
        <p:nvPicPr>
          <p:cNvPr id="347" name="Picture 5"/>
          <p:cNvPicPr/>
          <p:nvPr/>
        </p:nvPicPr>
        <p:blipFill>
          <a:blip r:embed="rId2"/>
          <a:srcRect t="54652" b="39274"/>
          <a:stretch/>
        </p:blipFill>
        <p:spPr>
          <a:xfrm>
            <a:off x="838080" y="1377720"/>
            <a:ext cx="3814920" cy="364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Changing one view changes them all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E655F535-ACA4-4F1F-903A-1286A96F4D5A}" type="slidenum">
              <a:rPr/>
              <a:t>25</a:t>
            </a:fld>
            <a:endParaRPr/>
          </a:p>
        </p:txBody>
      </p:sp>
      <p:sp>
        <p:nvSpPr>
          <p:cNvPr id="349" name="PlaceHolder 2"/>
          <p:cNvSpPr>
            <a:spLocks noGrp="1"/>
          </p:cNvSpPr>
          <p:nvPr>
            <p:ph type="dt" idx="18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50" name="Table 9"/>
          <p:cNvGraphicFramePr/>
          <p:nvPr/>
        </p:nvGraphicFramePr>
        <p:xfrm>
          <a:off x="5622120" y="2885040"/>
          <a:ext cx="2152800" cy="1371600"/>
        </p:xfrm>
        <a:graphic>
          <a:graphicData uri="http://schemas.openxmlformats.org/drawingml/2006/table">
            <a:tbl>
              <a:tblPr/>
              <a:tblGrid>
                <a:gridCol w="10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data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H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dtype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int64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ndim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shape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(4, 3)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strides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(24, 8)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51" name="Table 11"/>
          <p:cNvGraphicFramePr/>
          <p:nvPr/>
        </p:nvGraphicFramePr>
        <p:xfrm>
          <a:off x="5622120" y="1377720"/>
          <a:ext cx="5976360" cy="473400"/>
        </p:xfrm>
        <a:graphic>
          <a:graphicData uri="http://schemas.openxmlformats.org/drawingml/2006/table">
            <a:tbl>
              <a:tblPr/>
              <a:tblGrid>
                <a:gridCol w="45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97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7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Calibri"/>
                        </a:rPr>
                        <a:t>13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2" name="Table 14"/>
          <p:cNvGraphicFramePr/>
          <p:nvPr/>
        </p:nvGraphicFramePr>
        <p:xfrm>
          <a:off x="8763840" y="2880360"/>
          <a:ext cx="2152800" cy="1371600"/>
        </p:xfrm>
        <a:graphic>
          <a:graphicData uri="http://schemas.openxmlformats.org/drawingml/2006/table">
            <a:tbl>
              <a:tblPr/>
              <a:tblGrid>
                <a:gridCol w="10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data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H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dtype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int64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ndim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shape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(3, 4)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strides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(8, 24)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353" name="Curved Connector 6"/>
          <p:cNvCxnSpPr>
            <a:endCxn id="351" idx="1"/>
          </p:cNvCxnSpPr>
          <p:nvPr/>
        </p:nvCxnSpPr>
        <p:spPr>
          <a:xfrm rot="10800000">
            <a:off x="5622120" y="1614420"/>
            <a:ext cx="1552680" cy="1382580"/>
          </a:xfrm>
          <a:prstGeom prst="curvedConnector3">
            <a:avLst>
              <a:gd name="adj1" fmla="val 114723"/>
            </a:avLst>
          </a:prstGeom>
          <a:ln w="57150">
            <a:solidFill>
              <a:srgbClr val="1F45FF"/>
            </a:solidFill>
            <a:round/>
            <a:headEnd type="oval" w="med" len="med"/>
            <a:tailEnd type="triangle" w="med" len="med"/>
          </a:ln>
        </p:spPr>
      </p:cxnSp>
      <p:cxnSp>
        <p:nvCxnSpPr>
          <p:cNvPr id="354" name="Curved Connector 15"/>
          <p:cNvCxnSpPr/>
          <p:nvPr/>
        </p:nvCxnSpPr>
        <p:spPr>
          <a:xfrm rot="10800000">
            <a:off x="5555520" y="1449000"/>
            <a:ext cx="4761000" cy="1575720"/>
          </a:xfrm>
          <a:prstGeom prst="curvedConnector3">
            <a:avLst>
              <a:gd name="adj1" fmla="val 24992"/>
            </a:avLst>
          </a:prstGeom>
          <a:ln w="57150">
            <a:solidFill>
              <a:srgbClr val="1F45FF"/>
            </a:solidFill>
            <a:round/>
            <a:headEnd type="oval" w="med" len="med"/>
            <a:tailEnd type="triangle" w="med" len="med"/>
          </a:ln>
        </p:spPr>
      </p:cxnSp>
      <p:sp>
        <p:nvSpPr>
          <p:cNvPr id="355" name="TextBox 5"/>
          <p:cNvSpPr/>
          <p:nvPr/>
        </p:nvSpPr>
        <p:spPr>
          <a:xfrm>
            <a:off x="6428880" y="4285440"/>
            <a:ext cx="5032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7"/>
          <p:cNvSpPr/>
          <p:nvPr/>
        </p:nvSpPr>
        <p:spPr>
          <a:xfrm>
            <a:off x="9588240" y="4309200"/>
            <a:ext cx="5032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7" name="Picture 16"/>
          <p:cNvPicPr/>
          <p:nvPr/>
        </p:nvPicPr>
        <p:blipFill>
          <a:blip r:embed="rId2"/>
          <a:srcRect t="54652" b="-771"/>
          <a:stretch/>
        </p:blipFill>
        <p:spPr>
          <a:xfrm>
            <a:off x="838080" y="1377720"/>
            <a:ext cx="3814920" cy="2770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A6426-C400-5B1C-1F50-71663282F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A4AE9-B70F-85BC-BE79-D9ED119D9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>
                <a:latin typeface="Calibri Light" panose="020F0302020204030204" pitchFamily="34" charset="0"/>
                <a:cs typeface="Calibri Light" panose="020F0302020204030204" pitchFamily="34" charset="0"/>
              </a:rPr>
              <a:t>Passing an argument is an assignment</a:t>
            </a:r>
            <a:endParaRPr lang="en-C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0B53B8-EAF0-4D56-031A-A4D062BA7659}"/>
              </a:ext>
            </a:extLst>
          </p:cNvPr>
          <p:cNvSpPr txBox="1"/>
          <p:nvPr/>
        </p:nvSpPr>
        <p:spPr>
          <a:xfrm>
            <a:off x="1346010" y="4521864"/>
            <a:ext cx="120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cage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6A985A-3C24-0B50-5C69-1C2B7589DC2D}"/>
              </a:ext>
            </a:extLst>
          </p:cNvPr>
          <p:cNvSpPr txBox="1"/>
          <p:nvPr/>
        </p:nvSpPr>
        <p:spPr>
          <a:xfrm>
            <a:off x="1080819" y="2751178"/>
            <a:ext cx="173128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Global namespace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C1BF2B-39F8-F717-D3A3-8ACB4FD19F62}"/>
              </a:ext>
            </a:extLst>
          </p:cNvPr>
          <p:cNvSpPr txBox="1"/>
          <p:nvPr/>
        </p:nvSpPr>
        <p:spPr>
          <a:xfrm>
            <a:off x="6613537" y="2751178"/>
            <a:ext cx="173128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Memory</a:t>
            </a:r>
          </a:p>
          <a:p>
            <a:pPr algn="ctr"/>
            <a:endParaRPr lang="en-C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F39E74-8F41-8495-F459-1CD99B13098E}"/>
              </a:ext>
            </a:extLst>
          </p:cNvPr>
          <p:cNvSpPr txBox="1"/>
          <p:nvPr/>
        </p:nvSpPr>
        <p:spPr>
          <a:xfrm>
            <a:off x="6750346" y="4499112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[  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A2B50EA-483F-F667-AEB3-275DA43F879E}"/>
              </a:ext>
            </a:extLst>
          </p:cNvPr>
          <p:cNvCxnSpPr>
            <a:cxnSpLocks/>
          </p:cNvCxnSpPr>
          <p:nvPr/>
        </p:nvCxnSpPr>
        <p:spPr>
          <a:xfrm>
            <a:off x="2756641" y="4752696"/>
            <a:ext cx="3760243" cy="0"/>
          </a:xfrm>
          <a:prstGeom prst="straightConnector1">
            <a:avLst/>
          </a:prstGeom>
          <a:ln w="571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97D7055-089F-5D64-A2D3-78C072B8C7DA}"/>
              </a:ext>
            </a:extLst>
          </p:cNvPr>
          <p:cNvSpPr txBox="1"/>
          <p:nvPr/>
        </p:nvSpPr>
        <p:spPr>
          <a:xfrm>
            <a:off x="622286" y="5496434"/>
            <a:ext cx="26483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extract_animal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(cage)</a:t>
            </a:r>
            <a:endParaRPr lang="en-CH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D36CC7-13B7-5BEF-3741-BA19028868E5}"/>
              </a:ext>
            </a:extLst>
          </p:cNvPr>
          <p:cNvSpPr txBox="1"/>
          <p:nvPr/>
        </p:nvSpPr>
        <p:spPr>
          <a:xfrm>
            <a:off x="3763673" y="5513373"/>
            <a:ext cx="1898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container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49BB4D3-92F8-1606-78F4-85C1F483C271}"/>
              </a:ext>
            </a:extLst>
          </p:cNvPr>
          <p:cNvCxnSpPr>
            <a:cxnSpLocks/>
          </p:cNvCxnSpPr>
          <p:nvPr/>
        </p:nvCxnSpPr>
        <p:spPr>
          <a:xfrm flipV="1">
            <a:off x="6054810" y="5050118"/>
            <a:ext cx="924149" cy="484290"/>
          </a:xfrm>
          <a:prstGeom prst="straightConnector1">
            <a:avLst/>
          </a:prstGeom>
          <a:ln w="5715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4229E2A-9B7D-9592-F516-803BA5313888}"/>
              </a:ext>
            </a:extLst>
          </p:cNvPr>
          <p:cNvSpPr txBox="1"/>
          <p:nvPr/>
        </p:nvSpPr>
        <p:spPr>
          <a:xfrm>
            <a:off x="3847178" y="2751178"/>
            <a:ext cx="173128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Function namespace</a:t>
            </a:r>
          </a:p>
        </p:txBody>
      </p: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20F33EE3-3908-B7C9-E236-59BA3A2F227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36852" y="4204142"/>
            <a:ext cx="557358" cy="494247"/>
          </a:xfrm>
          <a:prstGeom prst="bentConnector3">
            <a:avLst>
              <a:gd name="adj1" fmla="val 50000"/>
            </a:avLst>
          </a:prstGeom>
          <a:ln w="5715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CAF820A-BE9E-E85A-9547-196958DE0938}"/>
              </a:ext>
            </a:extLst>
          </p:cNvPr>
          <p:cNvSpPr txBox="1"/>
          <p:nvPr/>
        </p:nvSpPr>
        <p:spPr>
          <a:xfrm>
            <a:off x="9379895" y="2751178"/>
            <a:ext cx="173128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Final result</a:t>
            </a:r>
          </a:p>
          <a:p>
            <a:pPr algn="ctr"/>
            <a:endParaRPr lang="en-CH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03D221-2628-F32F-631F-8ED290F220EF}"/>
              </a:ext>
            </a:extLst>
          </p:cNvPr>
          <p:cNvSpPr txBox="1"/>
          <p:nvPr/>
        </p:nvSpPr>
        <p:spPr>
          <a:xfrm>
            <a:off x="7143920" y="3493202"/>
            <a:ext cx="120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"   "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F81AAF5-ABE6-035B-11FB-412586D276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131"/>
          <a:stretch>
            <a:fillRect/>
          </a:stretch>
        </p:blipFill>
        <p:spPr>
          <a:xfrm>
            <a:off x="7542565" y="3558398"/>
            <a:ext cx="410588" cy="4616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76C603-84AC-3280-F527-2D18EA6263E1}"/>
              </a:ext>
            </a:extLst>
          </p:cNvPr>
          <p:cNvSpPr txBox="1"/>
          <p:nvPr/>
        </p:nvSpPr>
        <p:spPr>
          <a:xfrm>
            <a:off x="3287888" y="5943641"/>
            <a:ext cx="2849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container.pop()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FFC90BC-AA61-E653-BFA9-20839D13F5A9}"/>
              </a:ext>
            </a:extLst>
          </p:cNvPr>
          <p:cNvGrpSpPr/>
          <p:nvPr/>
        </p:nvGrpSpPr>
        <p:grpSpPr>
          <a:xfrm>
            <a:off x="9379895" y="4484581"/>
            <a:ext cx="1713931" cy="490726"/>
            <a:chOff x="9607244" y="4525862"/>
            <a:chExt cx="1713931" cy="490726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7E3E019-7529-CC07-7E9D-8E008D1FEC28}"/>
                </a:ext>
              </a:extLst>
            </p:cNvPr>
            <p:cNvSpPr txBox="1"/>
            <p:nvPr/>
          </p:nvSpPr>
          <p:spPr>
            <a:xfrm>
              <a:off x="9607244" y="4525862"/>
              <a:ext cx="17139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H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= ["   "]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FE615A2-4C6B-3262-C84A-A4A7A0006C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131"/>
            <a:stretch>
              <a:fillRect/>
            </a:stretch>
          </p:blipFill>
          <p:spPr>
            <a:xfrm>
              <a:off x="10429958" y="4554923"/>
              <a:ext cx="410588" cy="461665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23A283-6FE3-B040-B092-1F07A081EBDE}"/>
              </a:ext>
            </a:extLst>
          </p:cNvPr>
          <p:cNvGrpSpPr/>
          <p:nvPr/>
        </p:nvGrpSpPr>
        <p:grpSpPr>
          <a:xfrm>
            <a:off x="9379894" y="5421206"/>
            <a:ext cx="1713931" cy="490726"/>
            <a:chOff x="9607244" y="4525862"/>
            <a:chExt cx="1713931" cy="490726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F5C2CE1-1040-8A4E-295A-E59D7EC56301}"/>
                </a:ext>
              </a:extLst>
            </p:cNvPr>
            <p:cNvSpPr txBox="1"/>
            <p:nvPr/>
          </p:nvSpPr>
          <p:spPr>
            <a:xfrm>
              <a:off x="9607244" y="4525862"/>
              <a:ext cx="17139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H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= ["   "]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C589FDE-797B-141B-7CCE-CC71D6707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131"/>
            <a:stretch>
              <a:fillRect/>
            </a:stretch>
          </p:blipFill>
          <p:spPr>
            <a:xfrm>
              <a:off x="10429958" y="4554923"/>
              <a:ext cx="410588" cy="461665"/>
            </a:xfrm>
            <a:prstGeom prst="rect">
              <a:avLst/>
            </a:prstGeom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86CC096-A9C1-812E-B8E2-92E44CB9775F}"/>
              </a:ext>
            </a:extLst>
          </p:cNvPr>
          <p:cNvSpPr txBox="1"/>
          <p:nvPr/>
        </p:nvSpPr>
        <p:spPr>
          <a:xfrm>
            <a:off x="838080" y="1267920"/>
            <a:ext cx="5216730" cy="1323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cage =</a:t>
            </a:r>
            <a:r>
              <a:rPr lang="en-CH" sz="2000" dirty="0">
                <a:latin typeface="Consolas" panose="020B0609020204030204" pitchFamily="49" charset="0"/>
                <a:cs typeface="Consolas" panose="020B0609020204030204" pitchFamily="49" charset="0"/>
              </a:rPr>
              <a:t> ["    "]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extract_animal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(container):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return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container.pop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extract_animal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(cage)</a:t>
            </a:r>
            <a:endParaRPr lang="en-CH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C684B7A-981E-F0A2-F962-E1D1759E25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131"/>
          <a:stretch>
            <a:fillRect/>
          </a:stretch>
        </p:blipFill>
        <p:spPr>
          <a:xfrm>
            <a:off x="2251097" y="1240050"/>
            <a:ext cx="410588" cy="461665"/>
          </a:xfrm>
          <a:prstGeom prst="rect">
            <a:avLst/>
          </a:prstGeom>
        </p:spPr>
      </p:pic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5578980C-42DF-055F-B2DC-2143D28CE900}"/>
              </a:ext>
            </a:extLst>
          </p:cNvPr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defPPr>
              <a:defRPr lang="en-CH"/>
            </a:defPPr>
            <a:lvl1pPr marL="0" indent="0" algn="l" defTabSz="914400" rtl="0" eaLnBrk="1" latinLnBrk="0" hangingPunct="1">
              <a:buNone/>
              <a:defRPr lang="en-US" sz="1400" b="0" u="none" strike="noStrike" kern="1200">
                <a:solidFill>
                  <a:srgbClr val="000000"/>
                </a:solidFill>
                <a:effectLst/>
                <a:uFillTx/>
                <a:latin typeface="Times New Roman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0" algn="l"/>
              </a:tabLst>
            </a:pPr>
            <a:r>
              <a:rPr lang="de-CH"/>
              <a:t>Aug 2026, CC BY-SA 4.0</a:t>
            </a:r>
            <a:endParaRPr lang="en-US" dirty="0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B3FBACE0-BF67-379A-4B1D-D4BC32A3F05E}"/>
              </a:ext>
            </a:extLst>
          </p:cNvPr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defPPr>
              <a:defRPr lang="en-CH"/>
            </a:defPPr>
            <a:lvl1pPr marL="0" indent="0" algn="ctr" defTabSz="914400" rtl="0" eaLnBrk="1" latinLnBrk="0" hangingPunct="1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 kern="1200">
                <a:solidFill>
                  <a:srgbClr val="8B8B8B"/>
                </a:solidFill>
                <a:effectLst/>
                <a:uFillTx/>
                <a:latin typeface="Calibri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/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0D1C7511-7188-DEB9-EDEB-5651C0C8A061}"/>
              </a:ext>
            </a:extLst>
          </p:cNvPr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defPPr>
              <a:defRPr lang="en-CH"/>
            </a:defPPr>
            <a:lvl1pPr marL="0" indent="0" algn="r" defTabSz="914400" rtl="0" eaLnBrk="1" latinLnBrk="0" hangingPunct="1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 kern="1200">
                <a:solidFill>
                  <a:srgbClr val="8B8B8B"/>
                </a:solidFill>
                <a:effectLst/>
                <a:uFillTx/>
                <a:latin typeface="Calibri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31FEECE-D6C8-4FCE-876A-0190D37870B1}" type="slidenum">
              <a:rPr lang="en-CH" smtClean="0"/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234491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1847E-0F7B-9D15-D121-C4FD5E5B4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75730-30E2-4504-8A68-9A38ED15A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>
                <a:latin typeface="Calibri Light" panose="020F0302020204030204" pitchFamily="34" charset="0"/>
                <a:cs typeface="Calibri Light" panose="020F0302020204030204" pitchFamily="34" charset="0"/>
              </a:rPr>
              <a:t>Passing an argument is an assignment</a:t>
            </a:r>
            <a:endParaRPr lang="en-CH" dirty="0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99D6AC5D-7BF5-33CC-D071-CEB321E76A16}"/>
              </a:ext>
            </a:extLst>
          </p:cNvPr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Data, v3.0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F17C6F1F-19D0-DD44-9124-631F9F29A38E}"/>
              </a:ext>
            </a:extLst>
          </p:cNvPr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A5B8DFA-FB31-4C13-B9C1-F7FB45CFFB09}" type="slidenum">
              <a:rPr lang="en-US" sz="1200" b="0" u="none" strike="noStrike" smtClean="0">
                <a:solidFill>
                  <a:srgbClr val="8B8B8B"/>
                </a:solidFill>
                <a:effectLst/>
                <a:uFillTx/>
                <a:latin typeface="Calibri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F62CA457-5CD1-ACBD-9410-7B2F07A13AF8}"/>
              </a:ext>
            </a:extLst>
          </p:cNvPr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pPr>
              <a:tabLst>
                <a:tab pos="0" algn="l"/>
              </a:tabLst>
            </a:pPr>
            <a:r>
              <a:rPr lang="de-CH" sz="1400" dirty="0">
                <a:solidFill>
                  <a:srgbClr val="8B8B8B"/>
                </a:solidFill>
                <a:latin typeface="Calibri"/>
              </a:rPr>
              <a:t>Aug 2026, CC BY-SA 4.0</a:t>
            </a:r>
            <a:endParaRPr lang="en-US" sz="14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C58A32-D292-E3FA-8955-241D9685B7D5}"/>
              </a:ext>
            </a:extLst>
          </p:cNvPr>
          <p:cNvSpPr txBox="1"/>
          <p:nvPr/>
        </p:nvSpPr>
        <p:spPr>
          <a:xfrm>
            <a:off x="1346010" y="4521864"/>
            <a:ext cx="120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cage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3E2560-7CD1-D285-D240-E470AD98A021}"/>
              </a:ext>
            </a:extLst>
          </p:cNvPr>
          <p:cNvSpPr txBox="1"/>
          <p:nvPr/>
        </p:nvSpPr>
        <p:spPr>
          <a:xfrm>
            <a:off x="1080819" y="2751178"/>
            <a:ext cx="173128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Global namespace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DB2A85-6C84-C855-28FE-94FA93AA4DE6}"/>
              </a:ext>
            </a:extLst>
          </p:cNvPr>
          <p:cNvSpPr txBox="1"/>
          <p:nvPr/>
        </p:nvSpPr>
        <p:spPr>
          <a:xfrm>
            <a:off x="6613537" y="2751178"/>
            <a:ext cx="173128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Memory</a:t>
            </a:r>
          </a:p>
          <a:p>
            <a:pPr algn="ctr"/>
            <a:endParaRPr lang="en-C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EA7C55-A60B-2537-0FD0-F46FC25564C1}"/>
              </a:ext>
            </a:extLst>
          </p:cNvPr>
          <p:cNvSpPr txBox="1"/>
          <p:nvPr/>
        </p:nvSpPr>
        <p:spPr>
          <a:xfrm>
            <a:off x="6750346" y="4499112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[  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0C6B55-026F-A432-88A0-D5550992E8E9}"/>
              </a:ext>
            </a:extLst>
          </p:cNvPr>
          <p:cNvCxnSpPr>
            <a:cxnSpLocks/>
          </p:cNvCxnSpPr>
          <p:nvPr/>
        </p:nvCxnSpPr>
        <p:spPr>
          <a:xfrm>
            <a:off x="2756641" y="4752696"/>
            <a:ext cx="3760243" cy="0"/>
          </a:xfrm>
          <a:prstGeom prst="straightConnector1">
            <a:avLst/>
          </a:prstGeom>
          <a:ln w="571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1425D6C-365B-2E15-DF27-5BDD6060C7C4}"/>
              </a:ext>
            </a:extLst>
          </p:cNvPr>
          <p:cNvSpPr txBox="1"/>
          <p:nvPr/>
        </p:nvSpPr>
        <p:spPr>
          <a:xfrm>
            <a:off x="622286" y="5496434"/>
            <a:ext cx="26483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extract_animal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(cage)</a:t>
            </a:r>
            <a:endParaRPr lang="en-CH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F52759-3B89-BAFC-D135-F9BAC1B7BB6C}"/>
              </a:ext>
            </a:extLst>
          </p:cNvPr>
          <p:cNvSpPr txBox="1"/>
          <p:nvPr/>
        </p:nvSpPr>
        <p:spPr>
          <a:xfrm>
            <a:off x="3763673" y="5513373"/>
            <a:ext cx="1898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container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46DFC98-6912-3F62-7F81-155BC6BE29EF}"/>
              </a:ext>
            </a:extLst>
          </p:cNvPr>
          <p:cNvCxnSpPr>
            <a:cxnSpLocks/>
          </p:cNvCxnSpPr>
          <p:nvPr/>
        </p:nvCxnSpPr>
        <p:spPr>
          <a:xfrm flipV="1">
            <a:off x="6054810" y="5050118"/>
            <a:ext cx="924149" cy="484290"/>
          </a:xfrm>
          <a:prstGeom prst="straightConnector1">
            <a:avLst/>
          </a:prstGeom>
          <a:ln w="5715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5CF06AF-15EC-4D16-3DF6-11AFA3983B64}"/>
              </a:ext>
            </a:extLst>
          </p:cNvPr>
          <p:cNvSpPr txBox="1"/>
          <p:nvPr/>
        </p:nvSpPr>
        <p:spPr>
          <a:xfrm>
            <a:off x="3847178" y="2751178"/>
            <a:ext cx="173128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Function namespace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25D48E-715F-1C7D-C30F-711AE64B425C}"/>
              </a:ext>
            </a:extLst>
          </p:cNvPr>
          <p:cNvSpPr txBox="1"/>
          <p:nvPr/>
        </p:nvSpPr>
        <p:spPr>
          <a:xfrm>
            <a:off x="9379895" y="2751178"/>
            <a:ext cx="173128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Final result</a:t>
            </a:r>
          </a:p>
          <a:p>
            <a:pPr algn="ctr"/>
            <a:endParaRPr lang="en-CH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81A910-7838-2822-0D84-6DB7CBD7D0D4}"/>
              </a:ext>
            </a:extLst>
          </p:cNvPr>
          <p:cNvSpPr txBox="1"/>
          <p:nvPr/>
        </p:nvSpPr>
        <p:spPr>
          <a:xfrm>
            <a:off x="7143920" y="3493202"/>
            <a:ext cx="120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"   "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C8603EE-E697-249B-CC0B-8A9412BB4B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131"/>
          <a:stretch>
            <a:fillRect/>
          </a:stretch>
        </p:blipFill>
        <p:spPr>
          <a:xfrm>
            <a:off x="7542565" y="3558398"/>
            <a:ext cx="410588" cy="4616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2DF890-F3B5-1080-269A-A6AE1C4AA0CC}"/>
              </a:ext>
            </a:extLst>
          </p:cNvPr>
          <p:cNvSpPr txBox="1"/>
          <p:nvPr/>
        </p:nvSpPr>
        <p:spPr>
          <a:xfrm>
            <a:off x="3287888" y="5943641"/>
            <a:ext cx="2849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container.pop()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640AD5-A343-A513-E74A-C4E14F56CE53}"/>
              </a:ext>
            </a:extLst>
          </p:cNvPr>
          <p:cNvSpPr txBox="1"/>
          <p:nvPr/>
        </p:nvSpPr>
        <p:spPr>
          <a:xfrm>
            <a:off x="9379895" y="4484581"/>
            <a:ext cx="12041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= [  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18B680-BBCE-76ED-F5AE-D18675E2B09C}"/>
              </a:ext>
            </a:extLst>
          </p:cNvPr>
          <p:cNvSpPr txBox="1"/>
          <p:nvPr/>
        </p:nvSpPr>
        <p:spPr>
          <a:xfrm>
            <a:off x="9379894" y="5421206"/>
            <a:ext cx="12041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2400" dirty="0">
                <a:latin typeface="Consolas" panose="020B0609020204030204" pitchFamily="49" charset="0"/>
                <a:cs typeface="Consolas" panose="020B0609020204030204" pitchFamily="49" charset="0"/>
              </a:rPr>
              <a:t>= [  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0BB399-9E26-D12B-C54A-0F328F020CA5}"/>
              </a:ext>
            </a:extLst>
          </p:cNvPr>
          <p:cNvSpPr txBox="1"/>
          <p:nvPr/>
        </p:nvSpPr>
        <p:spPr>
          <a:xfrm>
            <a:off x="838080" y="1267920"/>
            <a:ext cx="5216730" cy="1323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cage =</a:t>
            </a:r>
            <a:r>
              <a:rPr lang="en-CH" sz="2000" dirty="0">
                <a:latin typeface="Consolas" panose="020B0609020204030204" pitchFamily="49" charset="0"/>
                <a:cs typeface="Consolas" panose="020B0609020204030204" pitchFamily="49" charset="0"/>
              </a:rPr>
              <a:t> ["    "]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extract_animal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(container):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return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container.pop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extract_animal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(cage)</a:t>
            </a:r>
            <a:endParaRPr lang="en-CH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D406B17-6F0D-9559-D395-416D33AA2C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131"/>
          <a:stretch>
            <a:fillRect/>
          </a:stretch>
        </p:blipFill>
        <p:spPr>
          <a:xfrm>
            <a:off x="2251097" y="1240050"/>
            <a:ext cx="410588" cy="46166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FECFB7F-503D-9D21-A179-3E278DF4CD5A}"/>
              </a:ext>
            </a:extLst>
          </p:cNvPr>
          <p:cNvSpPr/>
          <p:nvPr/>
        </p:nvSpPr>
        <p:spPr>
          <a:xfrm>
            <a:off x="9379894" y="282305"/>
            <a:ext cx="2271860" cy="215873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solidFill>
                  <a:sysClr val="windowText" lastClr="000000"/>
                </a:solidFill>
              </a:rPr>
              <a:t>Write somewhere: having functions with side effects can be efficient but it’s generally a bad idea</a:t>
            </a:r>
          </a:p>
          <a:p>
            <a:pPr algn="ctr"/>
            <a:endParaRPr lang="en-CH" dirty="0">
              <a:solidFill>
                <a:sysClr val="windowText" lastClr="000000"/>
              </a:solidFill>
            </a:endParaRPr>
          </a:p>
          <a:p>
            <a:pPr algn="ctr"/>
            <a:r>
              <a:rPr lang="en-CH" dirty="0">
                <a:solidFill>
                  <a:sysClr val="windowText" lastClr="000000"/>
                </a:solidFill>
              </a:rPr>
              <a:t>Do we need an exercise?</a:t>
            </a:r>
          </a:p>
        </p:txBody>
      </p:sp>
    </p:spTree>
    <p:extLst>
      <p:ext uri="{BB962C8B-B14F-4D97-AF65-F5344CB8AC3E}">
        <p14:creationId xmlns:p14="http://schemas.microsoft.com/office/powerpoint/2010/main" val="13347987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Careful with your functions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CDE75DE1-221D-4D0A-92EB-9612DF80BEE2}" type="slidenum">
              <a:rPr/>
              <a:t>28</a:t>
            </a:fld>
            <a:endParaRPr/>
          </a:p>
        </p:txBody>
      </p:sp>
      <p:sp>
        <p:nvSpPr>
          <p:cNvPr id="359" name="PlaceHolder 2"/>
          <p:cNvSpPr>
            <a:spLocks noGrp="1"/>
          </p:cNvSpPr>
          <p:nvPr>
            <p:ph type="dt" idx="18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0" name="Picture 10"/>
          <p:cNvPicPr/>
          <p:nvPr/>
        </p:nvPicPr>
        <p:blipFill>
          <a:blip r:embed="rId2"/>
          <a:stretch/>
        </p:blipFill>
        <p:spPr>
          <a:xfrm>
            <a:off x="983520" y="1196640"/>
            <a:ext cx="7771680" cy="1594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Careful with your functions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BA99CFFA-D9D0-4205-B685-590D02321AC2}" type="slidenum">
              <a:rPr/>
              <a:t>29</a:t>
            </a:fld>
            <a:endParaRPr/>
          </a:p>
        </p:txBody>
      </p:sp>
      <p:sp>
        <p:nvSpPr>
          <p:cNvPr id="362" name="PlaceHolder 2"/>
          <p:cNvSpPr>
            <a:spLocks noGrp="1"/>
          </p:cNvSpPr>
          <p:nvPr>
            <p:ph type="dt" idx="18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3" name="Picture 10"/>
          <p:cNvPicPr/>
          <p:nvPr/>
        </p:nvPicPr>
        <p:blipFill>
          <a:blip r:embed="rId3"/>
          <a:stretch/>
        </p:blipFill>
        <p:spPr>
          <a:xfrm>
            <a:off x="983520" y="1196640"/>
            <a:ext cx="7771680" cy="159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4" name="Picture 12"/>
          <p:cNvPicPr/>
          <p:nvPr/>
        </p:nvPicPr>
        <p:blipFill>
          <a:blip r:embed="rId4"/>
          <a:stretch/>
        </p:blipFill>
        <p:spPr>
          <a:xfrm>
            <a:off x="1485360" y="2890800"/>
            <a:ext cx="7922160" cy="352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 dirty="0">
                <a:solidFill>
                  <a:srgbClr val="000000"/>
                </a:solidFill>
                <a:effectLst/>
                <a:uFillTx/>
                <a:latin typeface="Calibri Light"/>
              </a:rPr>
              <a:t>Careful with your functions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F10244D2-0019-47FE-881C-AAE79716CC0E}" type="slidenum">
              <a:rPr/>
              <a:t>30</a:t>
            </a:fld>
            <a:endParaRPr/>
          </a:p>
        </p:txBody>
      </p:sp>
      <p:sp>
        <p:nvSpPr>
          <p:cNvPr id="366" name="PlaceHolder 2"/>
          <p:cNvSpPr>
            <a:spLocks noGrp="1"/>
          </p:cNvSpPr>
          <p:nvPr>
            <p:ph type="dt" idx="18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TextBox 6"/>
          <p:cNvSpPr/>
          <p:nvPr/>
        </p:nvSpPr>
        <p:spPr>
          <a:xfrm>
            <a:off x="7143840" y="4614120"/>
            <a:ext cx="51130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The input array has been modified!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Box 7"/>
          <p:cNvSpPr/>
          <p:nvPr/>
        </p:nvSpPr>
        <p:spPr>
          <a:xfrm>
            <a:off x="7143840" y="5075640"/>
            <a:ext cx="411408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… and so have all other views of the same data!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Left Arrow 8"/>
          <p:cNvSpPr/>
          <p:nvPr/>
        </p:nvSpPr>
        <p:spPr>
          <a:xfrm>
            <a:off x="6207840" y="4686120"/>
            <a:ext cx="791280" cy="3168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pic>
        <p:nvPicPr>
          <p:cNvPr id="370" name="Picture 10"/>
          <p:cNvPicPr/>
          <p:nvPr/>
        </p:nvPicPr>
        <p:blipFill>
          <a:blip r:embed="rId2"/>
          <a:stretch/>
        </p:blipFill>
        <p:spPr>
          <a:xfrm>
            <a:off x="1458720" y="2925000"/>
            <a:ext cx="4240800" cy="3178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1" name="Picture 12"/>
          <p:cNvPicPr/>
          <p:nvPr/>
        </p:nvPicPr>
        <p:blipFill>
          <a:blip r:embed="rId3"/>
          <a:stretch/>
        </p:blipFill>
        <p:spPr>
          <a:xfrm>
            <a:off x="983520" y="1196640"/>
            <a:ext cx="7771680" cy="159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2" name="Left Arrow 13"/>
          <p:cNvSpPr/>
          <p:nvPr/>
        </p:nvSpPr>
        <p:spPr>
          <a:xfrm>
            <a:off x="6207840" y="5332320"/>
            <a:ext cx="791280" cy="3168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Picture 5"/>
          <p:cNvPicPr/>
          <p:nvPr/>
        </p:nvPicPr>
        <p:blipFill>
          <a:blip r:embed="rId3"/>
          <a:stretch/>
        </p:blipFill>
        <p:spPr>
          <a:xfrm>
            <a:off x="1847520" y="2495880"/>
            <a:ext cx="7771680" cy="179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Careful with your functions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933D8163-AC71-44FC-937A-80509FA2A130}" type="slidenum">
              <a:rPr/>
              <a:t>31</a:t>
            </a:fld>
            <a:endParaRPr/>
          </a:p>
        </p:txBody>
      </p:sp>
      <p:sp>
        <p:nvSpPr>
          <p:cNvPr id="375" name="PlaceHolder 2"/>
          <p:cNvSpPr>
            <a:spLocks noGrp="1"/>
          </p:cNvSpPr>
          <p:nvPr>
            <p:ph type="dt" idx="18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Left Arrow 9"/>
          <p:cNvSpPr/>
          <p:nvPr/>
        </p:nvSpPr>
        <p:spPr>
          <a:xfrm>
            <a:off x="3719880" y="3576960"/>
            <a:ext cx="791280" cy="3168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77" name="TextBox 11"/>
          <p:cNvSpPr/>
          <p:nvPr/>
        </p:nvSpPr>
        <p:spPr>
          <a:xfrm>
            <a:off x="910800" y="1352520"/>
            <a:ext cx="936108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Best practice: functions that take an array as an input should avoid modifying it in place!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Always make a copy or be super extra clear in the docstring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NumPy views and copies summary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2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lstStyle/>
          <a:p>
            <a:fld id="{296CCDE1-211A-4993-8E38-F59BE1C2D2AF}" type="slidenum">
              <a:rPr/>
              <a:t>32</a:t>
            </a:fld>
            <a:endParaRPr/>
          </a:p>
        </p:txBody>
      </p:sp>
      <p:sp>
        <p:nvSpPr>
          <p:cNvPr id="379" name="PlaceHolder 2"/>
          <p:cNvSpPr>
            <a:spLocks noGrp="1"/>
          </p:cNvSpPr>
          <p:nvPr>
            <p:ph type="dt" idx="54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Content Placeholder 2"/>
          <p:cNvSpPr/>
          <p:nvPr/>
        </p:nvSpPr>
        <p:spPr>
          <a:xfrm>
            <a:off x="838080" y="1430640"/>
            <a:ext cx="10514880" cy="452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10000"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View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64920" lvl="1" indent="-221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There can be multiple views of the same memory block, interpreted as different arrays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64920" lvl="1" indent="-221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Slicing returns a view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64920" lvl="1" indent="-221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In-place operations on a view modify the memory block </a:t>
            </a:r>
            <a:br>
              <a:rPr sz="2600"/>
            </a:b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and all of its views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Copy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64920" lvl="1" indent="-221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When a copy of an array needs to be created, it allocates a separate memory block and associates it with new metadata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64920" lvl="1" indent="-221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Fancy indexing always returns copies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64920" lvl="1" indent="-221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 copy can be forced with .copy()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316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CH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A special kind of view: broadcasting operations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AE55838D-478B-4A4B-820B-57616DA85180}" type="slidenum">
              <a:rPr/>
              <a:t>33</a:t>
            </a:fld>
            <a:endParaRPr/>
          </a:p>
        </p:txBody>
      </p:sp>
      <p:sp>
        <p:nvSpPr>
          <p:cNvPr id="382" name="PlaceHolder 2"/>
          <p:cNvSpPr>
            <a:spLocks noGrp="1"/>
          </p:cNvSpPr>
          <p:nvPr>
            <p:ph type="dt" idx="18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83" name="Table 6"/>
          <p:cNvGraphicFramePr/>
          <p:nvPr/>
        </p:nvGraphicFramePr>
        <p:xfrm>
          <a:off x="702720" y="2066400"/>
          <a:ext cx="4406400" cy="473400"/>
        </p:xfrm>
        <a:graphic>
          <a:graphicData uri="http://schemas.openxmlformats.org/drawingml/2006/table">
            <a:tbl>
              <a:tblPr/>
              <a:tblGrid>
                <a:gridCol w="48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7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4" name="TextBox 7"/>
          <p:cNvSpPr/>
          <p:nvPr/>
        </p:nvSpPr>
        <p:spPr>
          <a:xfrm>
            <a:off x="551520" y="1636200"/>
            <a:ext cx="1943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1" u="none" strike="noStrike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FillTx/>
                <a:latin typeface="Calibri"/>
                <a:ea typeface="DejaVu Sans"/>
              </a:rPr>
              <a:t>Memory block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9"/>
          <p:cNvSpPr/>
          <p:nvPr/>
        </p:nvSpPr>
        <p:spPr>
          <a:xfrm>
            <a:off x="551520" y="2814120"/>
            <a:ext cx="2591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1" u="none" strike="noStrike">
                <a:solidFill>
                  <a:srgbClr val="808080"/>
                </a:solidFill>
                <a:effectLst/>
                <a:uFillTx/>
                <a:latin typeface="Calibri"/>
                <a:ea typeface="DejaVu Sans"/>
              </a:rPr>
              <a:t>NumPy array metadata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86" name="Table 10"/>
          <p:cNvGraphicFramePr/>
          <p:nvPr/>
        </p:nvGraphicFramePr>
        <p:xfrm>
          <a:off x="711720" y="3213000"/>
          <a:ext cx="2152800" cy="1097280"/>
        </p:xfrm>
        <a:graphic>
          <a:graphicData uri="http://schemas.openxmlformats.org/drawingml/2006/table">
            <a:tbl>
              <a:tblPr/>
              <a:tblGrid>
                <a:gridCol w="10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dtype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int64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ndim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shape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(4, 9)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strides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</a:t>
                      </a:r>
                      <a:r>
                        <a:rPr lang="en-CH" sz="12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Consolas"/>
                        </a:rPr>
                        <a:t>0</a:t>
                      </a: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, 8)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7" name="TextBox 18"/>
          <p:cNvSpPr/>
          <p:nvPr/>
        </p:nvSpPr>
        <p:spPr>
          <a:xfrm>
            <a:off x="3436560" y="4755600"/>
            <a:ext cx="2159640" cy="11869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 stride of 0 means that for each new row, we don’t move in memory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8" name="Straight Arrow Connector 20"/>
          <p:cNvCxnSpPr/>
          <p:nvPr/>
        </p:nvCxnSpPr>
        <p:spPr>
          <a:xfrm flipH="1" flipV="1">
            <a:off x="1991520" y="4251960"/>
            <a:ext cx="1306080" cy="90576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389" name="TextBox 23"/>
          <p:cNvSpPr/>
          <p:nvPr/>
        </p:nvSpPr>
        <p:spPr>
          <a:xfrm>
            <a:off x="3423240" y="3156840"/>
            <a:ext cx="2159640" cy="912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The shape says we have 4 rows and 9 columns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0" name="Straight Arrow Connector 24"/>
          <p:cNvCxnSpPr/>
          <p:nvPr/>
        </p:nvCxnSpPr>
        <p:spPr>
          <a:xfrm flipH="1">
            <a:off x="2495520" y="3573000"/>
            <a:ext cx="792720" cy="26424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CH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A special kind of view: broadcasting operations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BB2F3B2C-D770-4D6C-AA49-8799C2E506E6}" type="slidenum">
              <a:rPr/>
              <a:t>34</a:t>
            </a:fld>
            <a:endParaRPr/>
          </a:p>
        </p:txBody>
      </p:sp>
      <p:sp>
        <p:nvSpPr>
          <p:cNvPr id="392" name="PlaceHolder 2"/>
          <p:cNvSpPr>
            <a:spLocks noGrp="1"/>
          </p:cNvSpPr>
          <p:nvPr>
            <p:ph type="dt" idx="18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93" name="Table 6"/>
          <p:cNvGraphicFramePr/>
          <p:nvPr/>
        </p:nvGraphicFramePr>
        <p:xfrm>
          <a:off x="702720" y="2066400"/>
          <a:ext cx="4406400" cy="473400"/>
        </p:xfrm>
        <a:graphic>
          <a:graphicData uri="http://schemas.openxmlformats.org/drawingml/2006/table">
            <a:tbl>
              <a:tblPr/>
              <a:tblGrid>
                <a:gridCol w="48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7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4" name="TextBox 7"/>
          <p:cNvSpPr/>
          <p:nvPr/>
        </p:nvSpPr>
        <p:spPr>
          <a:xfrm>
            <a:off x="551520" y="1636200"/>
            <a:ext cx="1943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1" u="none" strike="noStrike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FillTx/>
                <a:latin typeface="Calibri"/>
                <a:ea typeface="DejaVu Sans"/>
              </a:rPr>
              <a:t>Memory block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8"/>
          <p:cNvSpPr/>
          <p:nvPr/>
        </p:nvSpPr>
        <p:spPr>
          <a:xfrm>
            <a:off x="6879240" y="2707560"/>
            <a:ext cx="1943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1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Calibri"/>
                <a:ea typeface="DejaVu Sans"/>
              </a:rPr>
              <a:t>NumPy 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9"/>
          <p:cNvSpPr/>
          <p:nvPr/>
        </p:nvSpPr>
        <p:spPr>
          <a:xfrm>
            <a:off x="551520" y="2814120"/>
            <a:ext cx="2591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1" u="none" strike="noStrike">
                <a:solidFill>
                  <a:srgbClr val="808080"/>
                </a:solidFill>
                <a:effectLst/>
                <a:uFillTx/>
                <a:latin typeface="Calibri"/>
                <a:ea typeface="DejaVu Sans"/>
              </a:rPr>
              <a:t>NumPy array metadata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97" name="Table 10"/>
          <p:cNvGraphicFramePr/>
          <p:nvPr/>
        </p:nvGraphicFramePr>
        <p:xfrm>
          <a:off x="711720" y="3213000"/>
          <a:ext cx="2152800" cy="1097280"/>
        </p:xfrm>
        <a:graphic>
          <a:graphicData uri="http://schemas.openxmlformats.org/drawingml/2006/table">
            <a:tbl>
              <a:tblPr/>
              <a:tblGrid>
                <a:gridCol w="10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dtype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int64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ndim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shape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(4, 9)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strides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(</a:t>
                      </a:r>
                      <a:r>
                        <a:rPr lang="en-CH" sz="12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Consolas"/>
                        </a:rPr>
                        <a:t>0</a:t>
                      </a:r>
                      <a:r>
                        <a:rPr lang="en-CH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, 8)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98" name="Table 11"/>
          <p:cNvGraphicFramePr/>
          <p:nvPr/>
        </p:nvGraphicFramePr>
        <p:xfrm>
          <a:off x="7032240" y="3105720"/>
          <a:ext cx="3959280" cy="1461600"/>
        </p:xfrm>
        <a:graphic>
          <a:graphicData uri="http://schemas.openxmlformats.org/drawingml/2006/table">
            <a:tbl>
              <a:tblPr/>
              <a:tblGrid>
                <a:gridCol w="43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9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9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9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9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5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H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11600" marR="111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9" name="TextBox 18"/>
          <p:cNvSpPr/>
          <p:nvPr/>
        </p:nvSpPr>
        <p:spPr>
          <a:xfrm>
            <a:off x="3436560" y="4755600"/>
            <a:ext cx="2159640" cy="11869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 stride of 0 means that for each new row, we don’t move in memory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0" name="Straight Arrow Connector 20"/>
          <p:cNvCxnSpPr/>
          <p:nvPr/>
        </p:nvCxnSpPr>
        <p:spPr>
          <a:xfrm flipH="1" flipV="1">
            <a:off x="1991520" y="4251960"/>
            <a:ext cx="1306080" cy="90576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401" name="TextBox 22"/>
          <p:cNvSpPr/>
          <p:nvPr/>
        </p:nvSpPr>
        <p:spPr>
          <a:xfrm>
            <a:off x="7356240" y="1539720"/>
            <a:ext cx="3311640" cy="912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As a result, we obtain a view with duplicated rows, without using extra memory!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Box 23"/>
          <p:cNvSpPr/>
          <p:nvPr/>
        </p:nvSpPr>
        <p:spPr>
          <a:xfrm>
            <a:off x="3423240" y="3156840"/>
            <a:ext cx="2159640" cy="912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H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The shape says we have 4 rows and 9 columns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3" name="Straight Arrow Connector 24"/>
          <p:cNvCxnSpPr/>
          <p:nvPr/>
        </p:nvCxnSpPr>
        <p:spPr>
          <a:xfrm flipH="1">
            <a:off x="2495520" y="3573000"/>
            <a:ext cx="792720" cy="26424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404" name="Rectangle 2"/>
          <p:cNvSpPr/>
          <p:nvPr/>
        </p:nvSpPr>
        <p:spPr>
          <a:xfrm>
            <a:off x="6879240" y="3482280"/>
            <a:ext cx="4256640" cy="1272600"/>
          </a:xfrm>
          <a:prstGeom prst="rect">
            <a:avLst/>
          </a:prstGeom>
          <a:solidFill>
            <a:schemeClr val="accent5">
              <a:lumMod val="60000"/>
              <a:lumOff val="40000"/>
              <a:alpha val="79000"/>
            </a:schemeClr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CH" sz="32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NumPy uses broadcasting to perform operation on arrays of different shape without having to allocate extra memory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2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lstStyle/>
          <a:p>
            <a:fld id="{3478CB6D-29F1-419E-B4D2-F900FCA74414}" type="slidenum">
              <a:rPr/>
              <a:t>35</a:t>
            </a:fld>
            <a:endParaRPr/>
          </a:p>
        </p:txBody>
      </p:sp>
      <p:sp>
        <p:nvSpPr>
          <p:cNvPr id="406" name="PlaceHolder 2"/>
          <p:cNvSpPr>
            <a:spLocks noGrp="1"/>
          </p:cNvSpPr>
          <p:nvPr>
            <p:ph type="dt" idx="54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07" name="Picture 6"/>
          <p:cNvPicPr/>
          <p:nvPr/>
        </p:nvPicPr>
        <p:blipFill>
          <a:blip r:embed="rId3"/>
          <a:stretch/>
        </p:blipFill>
        <p:spPr>
          <a:xfrm>
            <a:off x="2487240" y="1460880"/>
            <a:ext cx="7216920" cy="4391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CH" sz="32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Broadcasting matching rule: dimensions are aligned to the right and match if they are equal, or equal to 1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2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lstStyle/>
          <a:p>
            <a:fld id="{EBEE1ECC-DB65-448C-ADB7-30D1E75B8C45}" type="slidenum">
              <a:rPr/>
              <a:t>36</a:t>
            </a:fld>
            <a:endParaRPr/>
          </a:p>
        </p:txBody>
      </p:sp>
      <p:sp>
        <p:nvSpPr>
          <p:cNvPr id="409" name="PlaceHolder 2"/>
          <p:cNvSpPr>
            <a:spLocks noGrp="1"/>
          </p:cNvSpPr>
          <p:nvPr>
            <p:ph type="dt" idx="54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10" name="Picture 6"/>
          <p:cNvPicPr/>
          <p:nvPr/>
        </p:nvPicPr>
        <p:blipFill>
          <a:blip r:embed="rId3"/>
          <a:stretch/>
        </p:blipFill>
        <p:spPr>
          <a:xfrm>
            <a:off x="1532160" y="1715400"/>
            <a:ext cx="6388560" cy="388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1" name="TextBox 5"/>
          <p:cNvSpPr/>
          <p:nvPr/>
        </p:nvSpPr>
        <p:spPr>
          <a:xfrm>
            <a:off x="8400240" y="4797000"/>
            <a:ext cx="2663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(</a:t>
            </a: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alibri"/>
                <a:ea typeface="DejaVu Sans"/>
              </a:rPr>
              <a:t>4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, </a:t>
            </a:r>
            <a:r>
              <a:rPr lang="en-US" sz="1800" b="1" u="none" strike="noStrike">
                <a:solidFill>
                  <a:srgbClr val="00B050"/>
                </a:solidFill>
                <a:effectLst/>
                <a:uFillTx/>
                <a:latin typeface="Calibri"/>
                <a:ea typeface="DejaVu Sans"/>
              </a:rPr>
              <a:t>1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) + (</a:t>
            </a: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alibri"/>
                <a:ea typeface="DejaVu Sans"/>
              </a:rPr>
              <a:t>1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, </a:t>
            </a:r>
            <a:r>
              <a:rPr lang="en-US" sz="1800" b="1" u="none" strike="noStrike">
                <a:solidFill>
                  <a:srgbClr val="00B050"/>
                </a:solidFill>
                <a:effectLst/>
                <a:uFillTx/>
                <a:latin typeface="Calibri"/>
                <a:ea typeface="DejaVu Sans"/>
              </a:rPr>
              <a:t>3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) -&gt; (</a:t>
            </a: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alibri"/>
                <a:ea typeface="DejaVu Sans"/>
              </a:rPr>
              <a:t>4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, </a:t>
            </a:r>
            <a:r>
              <a:rPr lang="en-US" sz="1800" b="0" u="none" strike="noStrike">
                <a:solidFill>
                  <a:srgbClr val="00B050"/>
                </a:solidFill>
                <a:effectLst/>
                <a:uFillTx/>
                <a:latin typeface="Calibri"/>
                <a:ea typeface="DejaVu Sans"/>
              </a:rPr>
              <a:t>3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12"/>
          <p:cNvSpPr/>
          <p:nvPr/>
        </p:nvSpPr>
        <p:spPr>
          <a:xfrm>
            <a:off x="1893600" y="1561680"/>
            <a:ext cx="814320" cy="30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(4, 3)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Box 13"/>
          <p:cNvSpPr/>
          <p:nvPr/>
        </p:nvSpPr>
        <p:spPr>
          <a:xfrm>
            <a:off x="3189600" y="1561680"/>
            <a:ext cx="814320" cy="30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(4, 3)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Box 14"/>
          <p:cNvSpPr/>
          <p:nvPr/>
        </p:nvSpPr>
        <p:spPr>
          <a:xfrm>
            <a:off x="1915920" y="2925000"/>
            <a:ext cx="814320" cy="30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(4, 3)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Box 15"/>
          <p:cNvSpPr/>
          <p:nvPr/>
        </p:nvSpPr>
        <p:spPr>
          <a:xfrm>
            <a:off x="3211920" y="2925000"/>
            <a:ext cx="814320" cy="30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(1, 3)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16"/>
          <p:cNvSpPr/>
          <p:nvPr/>
        </p:nvSpPr>
        <p:spPr>
          <a:xfrm>
            <a:off x="1915920" y="4221000"/>
            <a:ext cx="814320" cy="30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(4, 1)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Box 17"/>
          <p:cNvSpPr/>
          <p:nvPr/>
        </p:nvSpPr>
        <p:spPr>
          <a:xfrm>
            <a:off x="3211920" y="4221000"/>
            <a:ext cx="814320" cy="30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(1, 3)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Box 19"/>
          <p:cNvSpPr/>
          <p:nvPr/>
        </p:nvSpPr>
        <p:spPr>
          <a:xfrm>
            <a:off x="8374320" y="2223720"/>
            <a:ext cx="242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(4, 3) + (4, 3) -&gt; (4, 3)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Box 21"/>
          <p:cNvSpPr/>
          <p:nvPr/>
        </p:nvSpPr>
        <p:spPr>
          <a:xfrm>
            <a:off x="8400240" y="3503880"/>
            <a:ext cx="23986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(</a:t>
            </a: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alibri"/>
                <a:ea typeface="DejaVu Sans"/>
              </a:rPr>
              <a:t>4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, 3) + (</a:t>
            </a: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alibri"/>
                <a:ea typeface="DejaVu Sans"/>
              </a:rPr>
              <a:t>1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, 3) -&gt; (</a:t>
            </a: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alibri"/>
                <a:ea typeface="DejaVu Sans"/>
              </a:rPr>
              <a:t>4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, 3)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CH" sz="32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You can always add a new dimensions to make things match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2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lstStyle/>
          <a:p>
            <a:fld id="{601691DC-6FE0-4B51-9618-21BB4EB54CCC}" type="slidenum">
              <a:rPr/>
              <a:t>37</a:t>
            </a:fld>
            <a:endParaRPr/>
          </a:p>
        </p:txBody>
      </p:sp>
      <p:sp>
        <p:nvSpPr>
          <p:cNvPr id="421" name="PlaceHolder 2"/>
          <p:cNvSpPr>
            <a:spLocks noGrp="1"/>
          </p:cNvSpPr>
          <p:nvPr>
            <p:ph type="dt" idx="54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TextBox 11"/>
          <p:cNvSpPr/>
          <p:nvPr/>
        </p:nvSpPr>
        <p:spPr>
          <a:xfrm>
            <a:off x="2218680" y="1598040"/>
            <a:ext cx="388116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a = np.array([0, 10, 20, 30])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18"/>
          <p:cNvSpPr/>
          <p:nvPr/>
        </p:nvSpPr>
        <p:spPr>
          <a:xfrm>
            <a:off x="2218680" y="1883520"/>
            <a:ext cx="38811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b = np.array([0, 2, 3])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20"/>
          <p:cNvSpPr/>
          <p:nvPr/>
        </p:nvSpPr>
        <p:spPr>
          <a:xfrm>
            <a:off x="7468920" y="1598040"/>
            <a:ext cx="1511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1D shape: (4,)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Box 22"/>
          <p:cNvSpPr/>
          <p:nvPr/>
        </p:nvSpPr>
        <p:spPr>
          <a:xfrm>
            <a:off x="7468920" y="1908000"/>
            <a:ext cx="1511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1D shape: (3,)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Box 23"/>
          <p:cNvSpPr/>
          <p:nvPr/>
        </p:nvSpPr>
        <p:spPr>
          <a:xfrm>
            <a:off x="2218680" y="2315520"/>
            <a:ext cx="38811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a + 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Box 25"/>
          <p:cNvSpPr/>
          <p:nvPr/>
        </p:nvSpPr>
        <p:spPr>
          <a:xfrm>
            <a:off x="7468920" y="2315520"/>
            <a:ext cx="2663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(4,) + (3,) -&gt; ERROR!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8" name="Picture 26"/>
          <p:cNvPicPr/>
          <p:nvPr/>
        </p:nvPicPr>
        <p:blipFill>
          <a:blip r:embed="rId3"/>
          <a:stretch/>
        </p:blipFill>
        <p:spPr>
          <a:xfrm>
            <a:off x="2322000" y="2624040"/>
            <a:ext cx="5257080" cy="921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CH" sz="32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You can always add a new dimensions to make things match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2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lstStyle/>
          <a:p>
            <a:fld id="{41C600BD-DA0B-40B2-AFA0-DE7FA5659519}" type="slidenum">
              <a:rPr/>
              <a:t>38</a:t>
            </a:fld>
            <a:endParaRPr/>
          </a:p>
        </p:txBody>
      </p:sp>
      <p:sp>
        <p:nvSpPr>
          <p:cNvPr id="430" name="PlaceHolder 2"/>
          <p:cNvSpPr>
            <a:spLocks noGrp="1"/>
          </p:cNvSpPr>
          <p:nvPr>
            <p:ph type="dt" idx="54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TextBox 5"/>
          <p:cNvSpPr/>
          <p:nvPr/>
        </p:nvSpPr>
        <p:spPr>
          <a:xfrm>
            <a:off x="7464240" y="4017960"/>
            <a:ext cx="2663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(</a:t>
            </a: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alibri"/>
                <a:ea typeface="DejaVu Sans"/>
              </a:rPr>
              <a:t>4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, </a:t>
            </a:r>
            <a:r>
              <a:rPr lang="en-US" sz="1800" b="1" u="none" strike="noStrike">
                <a:solidFill>
                  <a:srgbClr val="00B050"/>
                </a:solidFill>
                <a:effectLst/>
                <a:uFillTx/>
                <a:latin typeface="Calibri"/>
                <a:ea typeface="DejaVu Sans"/>
              </a:rPr>
              <a:t>1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) + (</a:t>
            </a: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alibri"/>
                <a:ea typeface="DejaVu Sans"/>
              </a:rPr>
              <a:t>1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, </a:t>
            </a:r>
            <a:r>
              <a:rPr lang="en-US" sz="1800" b="1" u="none" strike="noStrike">
                <a:solidFill>
                  <a:srgbClr val="00B050"/>
                </a:solidFill>
                <a:effectLst/>
                <a:uFillTx/>
                <a:latin typeface="Calibri"/>
                <a:ea typeface="DejaVu Sans"/>
              </a:rPr>
              <a:t>3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) -&gt; (</a:t>
            </a: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alibri"/>
                <a:ea typeface="DejaVu Sans"/>
              </a:rPr>
              <a:t>4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, </a:t>
            </a:r>
            <a:r>
              <a:rPr lang="en-US" sz="1800" b="0" u="none" strike="noStrike">
                <a:solidFill>
                  <a:srgbClr val="00B050"/>
                </a:solidFill>
                <a:effectLst/>
                <a:uFillTx/>
                <a:latin typeface="Calibri"/>
                <a:ea typeface="DejaVu Sans"/>
              </a:rPr>
              <a:t>3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Box 11"/>
          <p:cNvSpPr/>
          <p:nvPr/>
        </p:nvSpPr>
        <p:spPr>
          <a:xfrm>
            <a:off x="2218680" y="1598040"/>
            <a:ext cx="388116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a = np.array([0, 10, 20, 30])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Box 18"/>
          <p:cNvSpPr/>
          <p:nvPr/>
        </p:nvSpPr>
        <p:spPr>
          <a:xfrm>
            <a:off x="2218680" y="1883520"/>
            <a:ext cx="38811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b = np.array([0, 2, 3])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Box 20"/>
          <p:cNvSpPr/>
          <p:nvPr/>
        </p:nvSpPr>
        <p:spPr>
          <a:xfrm>
            <a:off x="7468920" y="1598040"/>
            <a:ext cx="1511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1D shape: (4,)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Box 22"/>
          <p:cNvSpPr/>
          <p:nvPr/>
        </p:nvSpPr>
        <p:spPr>
          <a:xfrm>
            <a:off x="7468920" y="1908000"/>
            <a:ext cx="1511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1D shape: (3,)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Box 28"/>
          <p:cNvSpPr/>
          <p:nvPr/>
        </p:nvSpPr>
        <p:spPr>
          <a:xfrm>
            <a:off x="2218680" y="3119760"/>
            <a:ext cx="6096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a[:, np.newaxis]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Box 9"/>
          <p:cNvSpPr/>
          <p:nvPr/>
        </p:nvSpPr>
        <p:spPr>
          <a:xfrm>
            <a:off x="2016000" y="2668320"/>
            <a:ext cx="5950440" cy="3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Add an extra dimension using np.newaxis to align them: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Box 10"/>
          <p:cNvSpPr/>
          <p:nvPr/>
        </p:nvSpPr>
        <p:spPr>
          <a:xfrm>
            <a:off x="7464240" y="3195720"/>
            <a:ext cx="18043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2D shape: (4, 1)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12"/>
          <p:cNvSpPr/>
          <p:nvPr/>
        </p:nvSpPr>
        <p:spPr>
          <a:xfrm>
            <a:off x="2218680" y="3447000"/>
            <a:ext cx="6096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b[np.newaxis, :]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Box 13"/>
          <p:cNvSpPr/>
          <p:nvPr/>
        </p:nvSpPr>
        <p:spPr>
          <a:xfrm>
            <a:off x="7464240" y="3506040"/>
            <a:ext cx="18043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2D shape: (1, 3)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Box 15"/>
          <p:cNvSpPr/>
          <p:nvPr/>
        </p:nvSpPr>
        <p:spPr>
          <a:xfrm>
            <a:off x="2218680" y="4017960"/>
            <a:ext cx="6096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a[:, np.newaxis] + b[np.newaxis, :]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Box 6"/>
          <p:cNvSpPr/>
          <p:nvPr/>
        </p:nvSpPr>
        <p:spPr>
          <a:xfrm>
            <a:off x="2007720" y="4797000"/>
            <a:ext cx="3135600" cy="3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This also works (align right!):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Box 7"/>
          <p:cNvSpPr/>
          <p:nvPr/>
        </p:nvSpPr>
        <p:spPr>
          <a:xfrm>
            <a:off x="7464240" y="5175000"/>
            <a:ext cx="2663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(</a:t>
            </a: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alibri"/>
                <a:ea typeface="DejaVu Sans"/>
              </a:rPr>
              <a:t>4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, </a:t>
            </a:r>
            <a:r>
              <a:rPr lang="en-US" sz="1800" b="1" u="none" strike="noStrike">
                <a:solidFill>
                  <a:srgbClr val="00B050"/>
                </a:solidFill>
                <a:effectLst/>
                <a:uFillTx/>
                <a:latin typeface="Calibri"/>
                <a:ea typeface="DejaVu Sans"/>
              </a:rPr>
              <a:t>1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) + (</a:t>
            </a:r>
            <a:r>
              <a:rPr lang="en-US" sz="1800" b="1" u="none" strike="noStrike">
                <a:solidFill>
                  <a:srgbClr val="00B050"/>
                </a:solidFill>
                <a:effectLst/>
                <a:uFillTx/>
                <a:latin typeface="Calibri"/>
                <a:ea typeface="DejaVu Sans"/>
              </a:rPr>
              <a:t>3,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) -&gt; (</a:t>
            </a: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Calibri"/>
                <a:ea typeface="DejaVu Sans"/>
              </a:rPr>
              <a:t>4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, </a:t>
            </a:r>
            <a:r>
              <a:rPr lang="en-US" sz="1800" b="0" u="none" strike="noStrike">
                <a:solidFill>
                  <a:srgbClr val="00B050"/>
                </a:solidFill>
                <a:effectLst/>
                <a:uFillTx/>
                <a:latin typeface="Calibri"/>
                <a:ea typeface="DejaVu Sans"/>
              </a:rPr>
              <a:t>3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Box 8"/>
          <p:cNvSpPr/>
          <p:nvPr/>
        </p:nvSpPr>
        <p:spPr>
          <a:xfrm>
            <a:off x="2218680" y="5175000"/>
            <a:ext cx="6096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a[:, np.newaxis] + 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4"/>
          <p:cNvSpPr>
            <a:spLocks noGrp="1"/>
          </p:cNvSpPr>
          <p:nvPr>
            <p:ph type="ftr" idx="49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50"/>
          </p:nvPr>
        </p:nvSpPr>
        <p:spPr/>
        <p:txBody>
          <a:bodyPr/>
          <a:lstStyle/>
          <a:p>
            <a:fld id="{0538482A-6963-4E5D-BAE3-9E7D13F699B7}" type="slidenum">
              <a:rPr/>
              <a:t>39</a:t>
            </a:fld>
            <a:endParaRPr/>
          </a:p>
        </p:txBody>
      </p:sp>
      <p:sp>
        <p:nvSpPr>
          <p:cNvPr id="447" name="PlaceHolder 3"/>
          <p:cNvSpPr>
            <a:spLocks noGrp="1"/>
          </p:cNvSpPr>
          <p:nvPr>
            <p:ph type="dt" idx="5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440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 Light" panose="020F0302020204030204" pitchFamily="34" charset="0"/>
                <a:cs typeface="Calibri Light" panose="020F0302020204030204" pitchFamily="34" charset="0"/>
              </a:rPr>
              <a:t>Broadcasting summary</a:t>
            </a:r>
            <a:endParaRPr lang="en-US" sz="4400" u="none" strike="noStrike" dirty="0">
              <a:solidFill>
                <a:srgbClr val="000000"/>
              </a:solidFill>
              <a:effectLst/>
              <a:uFillTx/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Broadcasting creates a view, and is an O(1) operation that does not require extra memory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Rules of broadcasting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1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1: </a:t>
            </a:r>
            <a:r>
              <a:rPr lang="en-GB" sz="24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If the two arrays differ in their number of dimensions, the shape of the one with fewer dimensions is </a:t>
            </a:r>
            <a:r>
              <a:rPr lang="en-GB" sz="2400" b="0" i="1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padded</a:t>
            </a:r>
            <a:r>
              <a:rPr lang="en-GB" sz="24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 with ones on its leading (left) side.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1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2: </a:t>
            </a:r>
            <a:r>
              <a:rPr lang="en-GB" sz="24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If the shape of the two arrays does not match in any dimension, the array with shape equal to 1 in that dimension is stretched to match the other shape.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1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3: </a:t>
            </a:r>
            <a:r>
              <a:rPr lang="en-GB" sz="2400" b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If in any dimension the sizes disagree and neither is equal to 1, an error is raised.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48" name="Group 12"/>
          <p:cNvGrpSpPr/>
          <p:nvPr/>
        </p:nvGrpSpPr>
        <p:grpSpPr>
          <a:xfrm>
            <a:off x="6744240" y="297000"/>
            <a:ext cx="5114520" cy="1039320"/>
            <a:chOff x="6744240" y="297000"/>
            <a:chExt cx="5114520" cy="1039320"/>
          </a:xfrm>
        </p:grpSpPr>
        <p:sp>
          <p:nvSpPr>
            <p:cNvPr id="449" name="Rectangle 13"/>
            <p:cNvSpPr/>
            <p:nvPr/>
          </p:nvSpPr>
          <p:spPr>
            <a:xfrm>
              <a:off x="6744240" y="346680"/>
              <a:ext cx="5114520" cy="9896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DE" sz="18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endParaRPr>
            </a:p>
          </p:txBody>
        </p:sp>
        <p:sp>
          <p:nvSpPr>
            <p:cNvPr id="450" name="TextBox 14"/>
            <p:cNvSpPr/>
            <p:nvPr/>
          </p:nvSpPr>
          <p:spPr>
            <a:xfrm>
              <a:off x="7305120" y="297000"/>
              <a:ext cx="20044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DE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DejaVu Sans"/>
                </a:rPr>
                <a:t>Exercise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51" name="Graphic 15"/>
            <p:cNvPicPr/>
            <p:nvPr/>
          </p:nvPicPr>
          <p:blipFill>
            <a:blip r:embed="rId3"/>
            <a:stretch/>
          </p:blipFill>
          <p:spPr>
            <a:xfrm>
              <a:off x="6791400" y="346320"/>
              <a:ext cx="781920" cy="554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52" name="TextBox 16"/>
            <p:cNvSpPr/>
            <p:nvPr/>
          </p:nvSpPr>
          <p:spPr>
            <a:xfrm>
              <a:off x="8066880" y="623520"/>
              <a:ext cx="3429000" cy="515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GB" sz="1400" b="0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DejaVu Sans"/>
                </a:rPr>
                <a:t>exercises/numpy_broadcasting/</a:t>
              </a:r>
              <a:br>
                <a:rPr sz="1400"/>
              </a:br>
              <a:r>
                <a:rPr lang="en-GB" sz="1400" b="0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DejaVu Sans"/>
                </a:rPr>
                <a:t>broadcasting.ipynb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49A0537E-BE5F-42F2-8351-7C85BB3EC8C0}" type="slidenum">
              <a:rPr/>
              <a:t>40</a:t>
            </a:fld>
            <a:endParaRPr/>
          </a:p>
        </p:txBody>
      </p:sp>
      <p:sp>
        <p:nvSpPr>
          <p:cNvPr id="454" name="PlaceHolder 2"/>
          <p:cNvSpPr>
            <a:spLocks noGrp="1"/>
          </p:cNvSpPr>
          <p:nvPr>
            <p:ph type="dt" idx="15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PlaceHolder 1"/>
          <p:cNvSpPr>
            <a:spLocks noGrp="1"/>
          </p:cNvSpPr>
          <p:nvPr>
            <p:ph type="title" idx="4294967295"/>
          </p:nvPr>
        </p:nvSpPr>
        <p:spPr>
          <a:xfrm>
            <a:off x="838994" y="2708275"/>
            <a:ext cx="10514013" cy="9032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CH" sz="5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Up next: Tabular Data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9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 type="dt" idx="10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D76B896-38EE-445A-B914-7F33F8C50F9D}" type="slidenum">
              <a:t>41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90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Fancy indexing in NumPy – reference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 type="dt" idx="10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Aug 2026, CC BY-SA 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59" name="Picture 7" descr="A diagram of a number&#10;&#10;Description automatically generated with medium confidence"/>
          <p:cNvPicPr/>
          <p:nvPr/>
        </p:nvPicPr>
        <p:blipFill>
          <a:blip r:embed="rId2"/>
          <a:stretch/>
        </p:blipFill>
        <p:spPr>
          <a:xfrm>
            <a:off x="4003560" y="1012320"/>
            <a:ext cx="7018920" cy="535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0" name="TextBox 4"/>
          <p:cNvSpPr/>
          <p:nvPr/>
        </p:nvSpPr>
        <p:spPr>
          <a:xfrm>
            <a:off x="432000" y="3551040"/>
            <a:ext cx="2963880" cy="516600"/>
          </a:xfrm>
          <a:prstGeom prst="rect">
            <a:avLst/>
          </a:prstGeom>
          <a:noFill/>
          <a:ln w="0">
            <a:solidFill>
              <a:srgbClr val="D8C7E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A[[2, 2, 1], [2, 0, 0]]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rPr lang="en-GB"/>
              <a:t>Data, v3.0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3482120C-8670-44DA-BA7B-A928B373E3C6}" type="slidenum">
              <a:rPr/>
              <a:t>42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170315</TotalTime>
  <Words>3935</Words>
  <Application>Microsoft Macintosh PowerPoint</Application>
  <PresentationFormat>Widescreen</PresentationFormat>
  <Paragraphs>1065</Paragraphs>
  <Slides>42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55" baseType="lpstr">
      <vt:lpstr>Arial</vt:lpstr>
      <vt:lpstr>Calibri</vt:lpstr>
      <vt:lpstr>Calibri Light</vt:lpstr>
      <vt:lpstr>Consolas</vt:lpstr>
      <vt:lpstr>Courier New</vt:lpstr>
      <vt:lpstr>Harding</vt:lpstr>
      <vt:lpstr>Source Sans Pro</vt:lpstr>
      <vt:lpstr>StarSymbol</vt:lpstr>
      <vt:lpstr>Symbol</vt:lpstr>
      <vt:lpstr>Times New Roman</vt:lpstr>
      <vt:lpstr>Wingdings</vt:lpstr>
      <vt:lpstr>Office Theme</vt:lpstr>
      <vt:lpstr>Office Theme</vt:lpstr>
      <vt:lpstr>PowerPoint Presentation</vt:lpstr>
      <vt:lpstr>NumPy – huh, yeah – what’s it good for?</vt:lpstr>
      <vt:lpstr>Efficient machine-native implementation </vt:lpstr>
      <vt:lpstr>Is NumPy any better than a list-of-lists?</vt:lpstr>
      <vt:lpstr>Is NumPy any better than a list-of-lists?</vt:lpstr>
      <vt:lpstr>Same data, different views</vt:lpstr>
      <vt:lpstr>Same data, different views</vt:lpstr>
      <vt:lpstr>O(1) operations in NumPy</vt:lpstr>
      <vt:lpstr>The golden rule of NumPy</vt:lpstr>
      <vt:lpstr>Views vs. copies in indexing operations</vt:lpstr>
      <vt:lpstr>Views vs. copies in indexing operations</vt:lpstr>
      <vt:lpstr>Views vs. copies in indexing operations</vt:lpstr>
      <vt:lpstr>Views vs. copies in indexing operations</vt:lpstr>
      <vt:lpstr>View vs copies in indexing operations</vt:lpstr>
      <vt:lpstr>View or copy? Quiz</vt:lpstr>
      <vt:lpstr>PowerPoint Presentation</vt:lpstr>
      <vt:lpstr>Python assignment is “by reference”</vt:lpstr>
      <vt:lpstr>Python assignment is “by reference”</vt:lpstr>
      <vt:lpstr>Python assignment is “by reference”</vt:lpstr>
      <vt:lpstr>Python assignment is “by reference”</vt:lpstr>
      <vt:lpstr>Python assignment is “by reference”</vt:lpstr>
      <vt:lpstr>Passing an argument is an assignment</vt:lpstr>
      <vt:lpstr>Changing one view changes them all</vt:lpstr>
      <vt:lpstr>Changing one view changes them all</vt:lpstr>
      <vt:lpstr>Changing one view changes them all</vt:lpstr>
      <vt:lpstr>Passing an argument is an assignment</vt:lpstr>
      <vt:lpstr>Passing an argument is an assignment</vt:lpstr>
      <vt:lpstr>Careful with your functions</vt:lpstr>
      <vt:lpstr>Careful with your functions</vt:lpstr>
      <vt:lpstr>Careful with your functions</vt:lpstr>
      <vt:lpstr>Careful with your functions</vt:lpstr>
      <vt:lpstr>NumPy views and copies summary</vt:lpstr>
      <vt:lpstr>A special kind of view: broadcasting operations</vt:lpstr>
      <vt:lpstr>A special kind of view: broadcasting operations</vt:lpstr>
      <vt:lpstr>NumPy uses broadcasting to perform operation on arrays of different shape without having to allocate extra memory</vt:lpstr>
      <vt:lpstr>Broadcasting matching rule: dimensions are aligned to the right and match if they are equal, or equal to 1</vt:lpstr>
      <vt:lpstr>You can always add a new dimensions to make things match</vt:lpstr>
      <vt:lpstr>You can always add a new dimensions to make things match</vt:lpstr>
      <vt:lpstr>Broadcasting summary</vt:lpstr>
      <vt:lpstr>Up next: Tabular Data</vt:lpstr>
      <vt:lpstr>PowerPoint Presentation</vt:lpstr>
      <vt:lpstr>Fancy indexing in NumPy – reference slide</vt:lpstr>
    </vt:vector>
  </TitlesOfParts>
  <Company>University of Pennsylvania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Pietro Berkes</dc:creator>
  <dc:description/>
  <cp:lastModifiedBy>Pietro Berkes</cp:lastModifiedBy>
  <cp:revision>1685</cp:revision>
  <cp:lastPrinted>2017-08-28T05:46:03Z</cp:lastPrinted>
  <dcterms:created xsi:type="dcterms:W3CDTF">2010-10-01T16:09:12Z</dcterms:created>
  <dcterms:modified xsi:type="dcterms:W3CDTF">2026-07-08T14:04:45Z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Widescreen</vt:lpwstr>
  </property>
  <property fmtid="{D5CDD505-2E9C-101B-9397-08002B2CF9AE}" pid="4" name="Slides">
    <vt:i4>33</vt:i4>
  </property>
</Properties>
</file>