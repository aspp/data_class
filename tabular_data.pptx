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omments/comment1.xml" ContentType="application/vnd.openxmlformats-officedocument.presentationml.comments+xml"/>
  <Override PartName="/ppt/notesSlides/notesSlide13.xml" ContentType="application/vnd.openxmlformats-officedocument.presentationml.notesSlide+xml"/>
  <Override PartName="/ppt/comments/comment2.xml" ContentType="application/vnd.openxmlformats-officedocument.presentationml.comments+xml"/>
  <Override PartName="/ppt/notesSlides/notesSlide14.xml" ContentType="application/vnd.openxmlformats-officedocument.presentationml.notesSlide+xml"/>
  <Override PartName="/ppt/comments/comment3.xml" ContentType="application/vnd.openxmlformats-officedocument.presentationml.comments+xml"/>
  <Override PartName="/ppt/comments/comment4.xml" ContentType="application/vnd.openxmlformats-officedocument.presentationml.comments+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omments/comment5.xml" ContentType="application/vnd.openxmlformats-officedocument.presentationml.comment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86"/>
  </p:notesMasterIdLst>
  <p:sldIdLst>
    <p:sldId id="256" r:id="rId2"/>
    <p:sldId id="260" r:id="rId3"/>
    <p:sldId id="257" r:id="rId4"/>
    <p:sldId id="258" r:id="rId5"/>
    <p:sldId id="323" r:id="rId6"/>
    <p:sldId id="324" r:id="rId7"/>
    <p:sldId id="362" r:id="rId8"/>
    <p:sldId id="363" r:id="rId9"/>
    <p:sldId id="261" r:id="rId10"/>
    <p:sldId id="259" r:id="rId11"/>
    <p:sldId id="343" r:id="rId12"/>
    <p:sldId id="316" r:id="rId13"/>
    <p:sldId id="350" r:id="rId14"/>
    <p:sldId id="354" r:id="rId15"/>
    <p:sldId id="352" r:id="rId16"/>
    <p:sldId id="353" r:id="rId17"/>
    <p:sldId id="355" r:id="rId18"/>
    <p:sldId id="356" r:id="rId19"/>
    <p:sldId id="357" r:id="rId20"/>
    <p:sldId id="358" r:id="rId21"/>
    <p:sldId id="359" r:id="rId22"/>
    <p:sldId id="360" r:id="rId23"/>
    <p:sldId id="361" r:id="rId24"/>
    <p:sldId id="265" r:id="rId25"/>
    <p:sldId id="320" r:id="rId26"/>
    <p:sldId id="268" r:id="rId27"/>
    <p:sldId id="269" r:id="rId28"/>
    <p:sldId id="270" r:id="rId29"/>
    <p:sldId id="271" r:id="rId30"/>
    <p:sldId id="272" r:id="rId31"/>
    <p:sldId id="273" r:id="rId32"/>
    <p:sldId id="339" r:id="rId33"/>
    <p:sldId id="325" r:id="rId34"/>
    <p:sldId id="332" r:id="rId35"/>
    <p:sldId id="333" r:id="rId36"/>
    <p:sldId id="334" r:id="rId37"/>
    <p:sldId id="335" r:id="rId38"/>
    <p:sldId id="336" r:id="rId39"/>
    <p:sldId id="275" r:id="rId40"/>
    <p:sldId id="278" r:id="rId41"/>
    <p:sldId id="276" r:id="rId42"/>
    <p:sldId id="277" r:id="rId43"/>
    <p:sldId id="364" r:id="rId44"/>
    <p:sldId id="365" r:id="rId45"/>
    <p:sldId id="286" r:id="rId46"/>
    <p:sldId id="345" r:id="rId47"/>
    <p:sldId id="347" r:id="rId48"/>
    <p:sldId id="346" r:id="rId49"/>
    <p:sldId id="266" r:id="rId50"/>
    <p:sldId id="311" r:id="rId51"/>
    <p:sldId id="348" r:id="rId52"/>
    <p:sldId id="287" r:id="rId53"/>
    <p:sldId id="315" r:id="rId54"/>
    <p:sldId id="289" r:id="rId55"/>
    <p:sldId id="329" r:id="rId56"/>
    <p:sldId id="291" r:id="rId57"/>
    <p:sldId id="293" r:id="rId58"/>
    <p:sldId id="282" r:id="rId59"/>
    <p:sldId id="318" r:id="rId60"/>
    <p:sldId id="283" r:id="rId61"/>
    <p:sldId id="284" r:id="rId62"/>
    <p:sldId id="285" r:id="rId63"/>
    <p:sldId id="288" r:id="rId64"/>
    <p:sldId id="292" r:id="rId65"/>
    <p:sldId id="294" r:id="rId66"/>
    <p:sldId id="295" r:id="rId67"/>
    <p:sldId id="296" r:id="rId68"/>
    <p:sldId id="297" r:id="rId69"/>
    <p:sldId id="298" r:id="rId70"/>
    <p:sldId id="299" r:id="rId71"/>
    <p:sldId id="300" r:id="rId72"/>
    <p:sldId id="301" r:id="rId73"/>
    <p:sldId id="302" r:id="rId74"/>
    <p:sldId id="303" r:id="rId75"/>
    <p:sldId id="304" r:id="rId76"/>
    <p:sldId id="305" r:id="rId77"/>
    <p:sldId id="306" r:id="rId78"/>
    <p:sldId id="307" r:id="rId79"/>
    <p:sldId id="308" r:id="rId80"/>
    <p:sldId id="309" r:id="rId81"/>
    <p:sldId id="310" r:id="rId82"/>
    <p:sldId id="312" r:id="rId83"/>
    <p:sldId id="313" r:id="rId84"/>
    <p:sldId id="314" r:id="rId85"/>
  </p:sldIdLst>
  <p:sldSz cx="12192000" cy="6858000"/>
  <p:notesSz cx="7559675" cy="10691813"/>
  <p:defaultText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Guillermo Aguilar" initials="GA" lastIdx="9"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AE11"/>
    <a:srgbClr val="FFC862"/>
    <a:srgbClr val="FFB50D"/>
    <a:srgbClr val="2F5597"/>
    <a:srgbClr val="F5F5F5"/>
    <a:srgbClr val="0A7E06"/>
    <a:srgbClr val="7D0079"/>
    <a:srgbClr val="81D41A"/>
    <a:srgbClr val="008D18"/>
    <a:srgbClr val="006C1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718"/>
    <p:restoredTop sz="87965"/>
  </p:normalViewPr>
  <p:slideViewPr>
    <p:cSldViewPr snapToGrid="0">
      <p:cViewPr varScale="1">
        <p:scale>
          <a:sx n="141" d="100"/>
          <a:sy n="141" d="100"/>
        </p:scale>
        <p:origin x="712" y="184"/>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99" d="100"/>
        <a:sy n="199"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viewProps" Target="view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heme" Target="theme/theme1.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presProps" Target="presProps.xml"/><Relationship Id="rId9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commentAuthors" Target="commentAuthor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comments/comment1.xml><?xml version="1.0" encoding="utf-8"?>
<p:cmLst xmlns:a="http://schemas.openxmlformats.org/drawingml/2006/main" xmlns:r="http://schemas.openxmlformats.org/officeDocument/2006/relationships" xmlns:p="http://schemas.openxmlformats.org/presentationml/2006/main">
  <p:cm authorId="0" dt="2026-07-01T00:03:17" idx="1">
    <p:pos x="0" y="0"/>
    <p:text>Idea of exercise:
Notebook contains already two implementations, one vectorize and the other using for-loops, for a fixed input size N
The instruction indicate that they need to convert to functions that take N as argument,
And run it with increasing N, collecting the runtime on each.
Here they also need to decide on how to store this type of data, for this exercise → discuss with your partner what is the best way to store this simulation data (numpy array? Dataframe? A simple list?) Does it mattter for this case?
In the final part they are prompted to generate some kind of visualization, with N on the x-axis and runtime on the y, for both implementations in color. I think most students wont have issues with this, basic matplotlib knowledge suffices
They should conclude: which one is faster?
Optional: why?  Deduce the O notation on both cases. (similar to first exercise).
Give hints on how pandas does group by and mean().</p:text>
  </p:cm>
</p:cmLst>
</file>

<file path=ppt/comments/comment2.xml><?xml version="1.0" encoding="utf-8"?>
<p:cmLst xmlns:a="http://schemas.openxmlformats.org/drawingml/2006/main" xmlns:r="http://schemas.openxmlformats.org/officeDocument/2006/relationships" xmlns:p="http://schemas.openxmlformats.org/presentationml/2006/main">
  <p:cm authorId="0" dt="2026-06-30T23:27:22" idx="2">
    <p:pos x="0" y="0"/>
    <p:text>Complete this slide</p:text>
  </p:cm>
</p:cmLst>
</file>

<file path=ppt/comments/comment3.xml><?xml version="1.0" encoding="utf-8"?>
<p:cmLst xmlns:a="http://schemas.openxmlformats.org/drawingml/2006/main" xmlns:r="http://schemas.openxmlformats.org/officeDocument/2006/relationships" xmlns:p="http://schemas.openxmlformats.org/presentationml/2006/main">
  <p:cm authorId="0" dt="2026-06-30T23:27:22" idx="9">
    <p:pos x="0" y="0"/>
    <p:text>Complete this slide</p:text>
  </p:cm>
</p:cmLst>
</file>

<file path=ppt/comments/comment4.xml><?xml version="1.0" encoding="utf-8"?>
<p:cmLst xmlns:a="http://schemas.openxmlformats.org/drawingml/2006/main" xmlns:r="http://schemas.openxmlformats.org/officeDocument/2006/relationships" xmlns:p="http://schemas.openxmlformats.org/presentationml/2006/main">
  <p:cm authorId="0" dt="2026-07-01T00:03:17" idx="4">
    <p:pos x="0" y="0"/>
    <p:text>Idea of exercise:
Notebook contains already two implementations, one vectorize and the other using for-loops, for a fixed input size N
The instruction indicate that they need to convert to functions that take N as argument,
And run it with increasing N, collecting the runtime on each.
Here they also need to decide on how to store this type of data, for this exercise → discuss with your partner what is the best way to store this simulation data (numpy array? Dataframe? A simple list?) Does it mattter for this case?
In the final part they are prompted to generate some kind of visualization, with N on the x-axis and runtime on the y, for both implementations in color. I think most students wont have issues with this, basic matplotlib knowledge suffices
They should conclude: which one is faster?
Optional: why?  Deduce the O notation on both cases. (similar to first exercise).
Give hints on how pandas does group by and mean().</p:text>
  </p:cm>
</p:cmLst>
</file>

<file path=ppt/comments/comment5.xml><?xml version="1.0" encoding="utf-8"?>
<p:cmLst xmlns:a="http://schemas.openxmlformats.org/drawingml/2006/main" xmlns:r="http://schemas.openxmlformats.org/officeDocument/2006/relationships" xmlns:p="http://schemas.openxmlformats.org/presentationml/2006/main">
  <p:cm authorId="0" dt="2026-06-30T23:19:54" idx="3">
    <p:pos x="113" y="88"/>
    <p:text>If we use this exercise, it needs introduction. This is the slide from previous version where this exercise has been already introduced before.</p:text>
  </p:cm>
</p:cmLst>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29T17:26:24.978"/>
    </inkml:context>
    <inkml:brush xml:id="br0">
      <inkml:brushProperty name="width" value="0.05" units="cm"/>
      <inkml:brushProperty name="height" value="0.05" units="cm"/>
      <inkml:brushProperty name="color" value="#3680B3"/>
    </inkml:brush>
  </inkml:definitions>
  <inkml:trace contextRef="#ctx0" brushRef="#br0">5 0 17702,'-2'3'0,"0"-1"0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29T17:26:41.205"/>
    </inkml:context>
    <inkml:brush xml:id="br0">
      <inkml:brushProperty name="width" value="0.1" units="cm"/>
      <inkml:brushProperty name="height" value="0.1" units="cm"/>
      <inkml:brushProperty name="color" value="#FFC114"/>
    </inkml:brush>
  </inkml:definitions>
  <inkml:trace contextRef="#ctx0" brushRef="#br0">1 0 24575,'22'0'0,"-1"0"0,12 0 0,1 0 0,0 0 0,-3 0 0,-8 0 0,-1 0 0,2 0 0,0 0 0,-1 0 0,1 0 0,-5 2 0,0 1 0,-4-1 0,0 3 0,-1-3 0,-3 2 0,0 1 0,-3-1 0,1 0 0,1-1 0,-1 2 0,1-3 0,-1 3 0,-1-1 0,0 0 0,0 0 0,0-1 0,2 1 0,-1-2 0,1 1 0,-1 1 0,0-2 0,-1 2 0,-2 0 0,-1-2 0,0 2 0,1-1 0,0-1 0,2 2 0,-1 1 0,-2 1 0,-3 3 0,-2-1 0,0 1 0,0-1 0,0 1 0,0-2 0,-2 1 0,-2 1 0,-4 1 0,-6 2 0,-6 1 0,-3-1 0,-5 4 0,-2-1 0,2-1 0,1 0 0,3-2 0,2 2 0,0 0 0,1 2 0,1-1 0,2-1 0,2 1 0,3-2 0,0-2 0,2 2 0,0-2 0,-2 0 0,0 1 0,0-1 0,0-1 0,5 0 0,0-1 0,1 1 0,2-2 0,-1 0 0,2 0 0,0 0 0,-2 1 0,0 1 0,0-3 0,1 1 0,-1-1 0,2 0 0,-1-1 0,1 0 0,2-4 0,0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29T17:26:44.568"/>
    </inkml:context>
    <inkml:brush xml:id="br0">
      <inkml:brushProperty name="width" value="0.1" units="cm"/>
      <inkml:brushProperty name="height" value="0.1" units="cm"/>
      <inkml:brushProperty name="color" value="#FFC114"/>
    </inkml:brush>
  </inkml:definitions>
  <inkml:trace contextRef="#ctx0" brushRef="#br0">1 64 24575,'37'0'0,"14"0"-3034,19 0 3034,25 0-3342,-41 0 1,2 0 3341,12 0 0,2 0 0,2 0 0,1 0 477,0 0 0,1 0-477,3 0 0,-1 0 0,-3-2 0,0 0 0,2 1 0,1-2 0,2 0 0,-2-2 0,-7 1 0,0 0 0,4 1 0,-1 1 0,-7 0 0,-2-1-165,-7 0 0,-1 0 165,1-1 0,-1 0 0,33-4 0,-37 4 0,2 1 0,1 3 0,0 0 0,1 0 0,0 0 0,2 0 0,0 0 0,-1 0 0,0 0 0,43 0 0,-9 0 0,-5 0 0,-11 0 0,6 0 915,-5 0-915,-3 0 0,5 0 0,-4 0 0,5 3 0,-3 1 0,4 2 0,-1 4 6094,-10 0-6094,-4 1 0,-2 1 1450,1 0-1450,6 1 575,-4 1-575,-4-1 0,-5 0 59,-4 0-59,-4-1 0,-10-1 0,-5 0 0,-2 2 0,3 0 0,3 2 0,0 0 0,-1 2 0,0 1 0,3 0 0,-1 0 0,4 0 0,-5 0 0,-3-1 0,1 3 0,-1 1 0,5 3 0,-1-1 0,-2 1 0,-1-1 0,-3-1 0,-2 0 0,-6-2 0,-2-2 0,-2 0 0,-1-2 0,1 3 0,-1-4 0,-1 2 0,1-2 0,-1 1 0,1-1 0,-4-3 0,0 1 0,-2-3 0,3 4 0,1 1 0,2 0 0,2 3 0,0-1 0,3 1 0,0-2 0,-1 0 0,0 0 0,-2-2 0,0 2 0,4-1 0,0 1 0,3 1 0,0-3 0,0 0 0,-1-3 0,-3 0 0,-1 0 0,1 2 0,0-1 0,5 2 0,-2 0 0,2 0 0,-1 0 0,-1-3 0,0 0 0,-5-1 0,1-1 0,-2 0 0,1 0 0,1 2 0,-1-3 0,0 0 0,-3-2 0,2-3 0,-3 2 0,-1-3 0,0 2 0,-2 1 0,4-3 0,2 2 0,-2-1 0,-1 0 0,0 2 0,-1-2 0,0 2 0,-2 0 0,0-1 0,1 1 0,0-1 0,2 1 0,-2-2 0,2 2 0,-3-2 0,1 2 0,-1 0 0,-4-3 0,0 2 0,-3-2 0,0 0 0,1 0 0,1-1 0,-3 1 0,1 0 0,-2 1 0,0 0 0,0-1 0,-1 0 0,2 1 0,1-3 0,1 1 0,0-1 0,-1 0 0,0 0 0,1 0 0,-1 0 0,-2 0 0,-5 0 0,-5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29T17:26:46.592"/>
    </inkml:context>
    <inkml:brush xml:id="br0">
      <inkml:brushProperty name="width" value="0.1" units="cm"/>
      <inkml:brushProperty name="height" value="0.1" units="cm"/>
      <inkml:brushProperty name="color" value="#FFC114"/>
    </inkml:brush>
  </inkml:definitions>
  <inkml:trace contextRef="#ctx0" brushRef="#br0">32 0 24575,'15'0'0,"4"0"0,2 0 0,0 0 0,-1 0 0,-2 2 0,-2 0 0,2 3 0,-4 2 0,1 0 0,3 3 0,-2-2 0,-1-1 0,-2-1 0,0 0 0,2 3 0,1 1 0,2-2 0,-2-1 0,-3 1 0,2-3 0,-3 2 0,0-2 0,0 0 0,-2 1 0,2 0 0,-1-1 0,-1 1 0,0 1 0,0-1 0,-1 1 0,1-2 0,-3-2 0,-1 1 0,-2 0 0,0 0 0,0 1 0,1 0 0,-1-1 0,-1 3 0,-1 0 0,-1 1 0,-3 1 0,-5 0 0,-3 0 0,-7 1 0,-2-1 0,0-1 0,-4 4 0,-1 0 0,-4 4 0,-2 2 0,1 0 0,0 1 0,2 0 0,4-3 0,3-2 0,2-2 0,0 0 0,-1 1 0,0-1 0,3-1 0,0-3 0,1 0 0,2-3 0,-1-1 0,2 1 0,1-1 0,1 2 0,3 1 0,0-1 0,-1 1 0,1 0 0,0 0 0,0 0 0,5-2 0,0-4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29T17:27:31.317"/>
    </inkml:context>
    <inkml:brush xml:id="br0">
      <inkml:brushProperty name="width" value="0.1" units="cm"/>
      <inkml:brushProperty name="height" value="0.1" units="cm"/>
      <inkml:brushProperty name="color" value="#FFC114"/>
    </inkml:brush>
  </inkml:definitions>
  <inkml:trace contextRef="#ctx0" brushRef="#br0">1 1253 24575,'29'0'0,"8"0"0,4 0 0,9 0 0,8 0 0,-6 0 0,3 0 0,-3 0 0,0 0 0,9 0 0,2 0 0,-1 0 0,-1 0 0,-5 0 0,-4 0 0,-5 0 0,-9 0 0,-2 0 0,-3-2 0,4-1 0,0-2 0,-1-2 0,-3-2 0,-2-2 0,-3 2 0,-1 1 0,-2 1 0,-1 0 0,-1-1 0,2 1 0,4-2 0,3 0 0,-1-2 0,1 0 0,-1-1 0,-4 2 0,2 1 0,0-1 0,1 0 0,1-1 0,4-1 0,0-2 0,1-1 0,2 1 0,-4-3 0,0 2 0,-5 2 0,-3 1 0,0 3 0,2-1 0,5-4 0,-2 0 0,1-1 0,-3 1 0,-1 3 0,1 0 0,-3 1 0,0 0 0,-2-1 0,0-1 0,3-2 0,-2 1 0,0 2 0,0-1 0,0 1 0,-1 1 0,-3 0 0,-5 3 0,-1 0 0,1 1 0,2-2 0,0-2 0,0-1 0,-2 1 0,-3 0 0,-1 3 0,-1 1 0,-1 0 0,1-1 0,0 1 0,-1-1 0,-1 0 0,1-1 0,2 1 0,0 0 0,1 0 0,-1 2 0,-2-2 0,1 2 0,2-2 0,0-2 0,-1 2 0,3-3 0,-2 2 0,2-3 0,0-1 0,-3 4 0,0-1 0,-2 1 0,4-1 0,1-3 0,0 1 0,3 1 0,-2 2 0,2-1 0,-3-3 0,-2 3 0,0-1 0,0 1 0,1 2 0,0-1 0,0-2 0,-1 1 0,-1 0 0,3-1 0,-3 2 0,0 2 0,-2 0 0,-2 0 0,0-3 0,2 2 0,-1 0 0,1-1 0,-1 0 0,1-1 0,-1 2 0,-1 1 0,0 0 0,1 1 0,-1-1 0,2-1 0,-1 0 0,0 0 0,0 0 0,0 2 0,0 0 0,-1-1 0,-2 1 0,0 1 0,0 0 0,2 1 0,2-2 0,-1 1 0,1-1 0,-1 0 0,1 0 0,-2-1 0,0 1 0,0 1 0,1 0 0,0 0 0,0-2 0,1 0 0,-1 1 0,-1 3 0,0-2 0,1 2 0,-1-1 0,1-1 0,1 0 0,-1-2 0,-1 2 0,-2 0 0,0 1 0,0 1 0,2-2 0,1 1 0,0 1 0,-1 0 0,1 2 0,-1-2 0,0-1 0,1 1 0,0 0 0,-3 0 0,0-1 0,0 1 0,2 0 0,1 1 0,-1-1 0,1 0 0,-1-1 0,0 1 0,1 2 0,-1 0 0,2 0 0,-1 0 0,-2-2 0,-1-1 0,0 1 0,0 0 0,3 0 0,0 0 0,0-1 0,1 1 0,-2 2 0,0 0 0,1 0 0,-1 0 0,1 0 0,0 0 0,-1 0 0,0 0 0,1 0 0,0 0 0,-1 0 0,0 0 0,0 0 0,0 0 0,2 0 0,-1 0 0,0 0 0,-1 0 0,0 0 0,1 0 0,-1 0 0,1 0 0,-1 0 0,0 0 0,0 0 0,1 0 0,-1 0 0,0 0 0,-1-2 0,-7 0 0,-2-2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29T17:26:24.978"/>
    </inkml:context>
    <inkml:brush xml:id="br0">
      <inkml:brushProperty name="width" value="0.05" units="cm"/>
      <inkml:brushProperty name="height" value="0.05" units="cm"/>
      <inkml:brushProperty name="color" value="#3680B3"/>
    </inkml:brush>
  </inkml:definitions>
  <inkml:trace contextRef="#ctx0" brushRef="#br0">5 0 17702,'-2'3'0,"0"-1"0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29T17:26:41.205"/>
    </inkml:context>
    <inkml:brush xml:id="br0">
      <inkml:brushProperty name="width" value="0.1" units="cm"/>
      <inkml:brushProperty name="height" value="0.1" units="cm"/>
      <inkml:brushProperty name="color" value="#FFC114"/>
    </inkml:brush>
  </inkml:definitions>
  <inkml:trace contextRef="#ctx0" brushRef="#br0">1 0 24575,'22'0'0,"-1"0"0,12 0 0,1 0 0,0 0 0,-3 0 0,-8 0 0,-1 0 0,2 0 0,0 0 0,-1 0 0,1 0 0,-5 2 0,0 1 0,-4-1 0,0 3 0,-1-3 0,-3 2 0,0 1 0,-3-1 0,1 0 0,1-1 0,-1 2 0,1-3 0,-1 3 0,-1-1 0,0 0 0,0 0 0,0-1 0,2 1 0,-1-2 0,1 1 0,-1 1 0,0-2 0,-1 2 0,-2 0 0,-1-2 0,0 2 0,1-1 0,0-1 0,2 2 0,-1 1 0,-2 1 0,-3 3 0,-2-1 0,0 1 0,0-1 0,0 1 0,0-2 0,-2 1 0,-2 1 0,-4 1 0,-6 2 0,-6 1 0,-3-1 0,-5 4 0,-2-1 0,2-1 0,1 0 0,3-2 0,2 2 0,0 0 0,1 2 0,1-1 0,2-1 0,2 1 0,3-2 0,0-2 0,2 2 0,0-2 0,-2 0 0,0 1 0,0-1 0,0-1 0,5 0 0,0-1 0,1 1 0,2-2 0,-1 0 0,2 0 0,0 0 0,-2 1 0,0 1 0,0-3 0,1 1 0,-1-1 0,2 0 0,-1-1 0,1 0 0,2-4 0,0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29T17:27:31.317"/>
    </inkml:context>
    <inkml:brush xml:id="br0">
      <inkml:brushProperty name="width" value="0.1" units="cm"/>
      <inkml:brushProperty name="height" value="0.1" units="cm"/>
      <inkml:brushProperty name="color" value="#FFC114"/>
    </inkml:brush>
  </inkml:definitions>
  <inkml:trace contextRef="#ctx0" brushRef="#br0">1 1253 24575,'29'0'0,"8"0"0,4 0 0,9 0 0,8 0 0,-6 0 0,3 0 0,-3 0 0,0 0 0,9 0 0,2 0 0,-1 0 0,-1 0 0,-5 0 0,-4 0 0,-5 0 0,-9 0 0,-2 0 0,-3-2 0,4-1 0,0-2 0,-1-2 0,-3-2 0,-2-2 0,-3 2 0,-1 1 0,-2 1 0,-1 0 0,-1-1 0,2 1 0,4-2 0,3 0 0,-1-2 0,1 0 0,-1-1 0,-4 2 0,2 1 0,0-1 0,1 0 0,1-1 0,4-1 0,0-2 0,1-1 0,2 1 0,-4-3 0,0 2 0,-5 2 0,-3 1 0,0 3 0,2-1 0,5-4 0,-2 0 0,1-1 0,-3 1 0,-1 3 0,1 0 0,-3 1 0,0 0 0,-2-1 0,0-1 0,3-2 0,-2 1 0,0 2 0,0-1 0,0 1 0,-1 1 0,-3 0 0,-5 3 0,-1 0 0,1 1 0,2-2 0,0-2 0,0-1 0,-2 1 0,-3 0 0,-1 3 0,-1 1 0,-1 0 0,1-1 0,0 1 0,-1-1 0,-1 0 0,1-1 0,2 1 0,0 0 0,1 0 0,-1 2 0,-2-2 0,1 2 0,2-2 0,0-2 0,-1 2 0,3-3 0,-2 2 0,2-3 0,0-1 0,-3 4 0,0-1 0,-2 1 0,4-1 0,1-3 0,0 1 0,3 1 0,-2 2 0,2-1 0,-3-3 0,-2 3 0,0-1 0,0 1 0,1 2 0,0-1 0,0-2 0,-1 1 0,-1 0 0,3-1 0,-3 2 0,0 2 0,-2 0 0,-2 0 0,0-3 0,2 2 0,-1 0 0,1-1 0,-1 0 0,1-1 0,-1 2 0,-1 1 0,0 0 0,1 1 0,-1-1 0,2-1 0,-1 0 0,0 0 0,0 0 0,0 2 0,0 0 0,-1-1 0,-2 1 0,0 1 0,0 0 0,2 1 0,2-2 0,-1 1 0,1-1 0,-1 0 0,1 0 0,-2-1 0,0 1 0,0 1 0,1 0 0,0 0 0,0-2 0,1 0 0,-1 1 0,-1 3 0,0-2 0,1 2 0,-1-1 0,1-1 0,1 0 0,-1-2 0,-1 2 0,-2 0 0,0 1 0,0 1 0,2-2 0,1 1 0,0 1 0,-1 0 0,1 2 0,-1-2 0,0-1 0,1 1 0,0 0 0,-3 0 0,0-1 0,0 1 0,2 0 0,1 1 0,-1-1 0,1 0 0,-1-1 0,0 1 0,1 2 0,-1 0 0,2 0 0,-1 0 0,-2-2 0,-1-1 0,0 1 0,0 0 0,3 0 0,0 0 0,0-1 0,1 1 0,-2 2 0,0 0 0,1 0 0,-1 0 0,1 0 0,0 0 0,-1 0 0,0 0 0,1 0 0,0 0 0,-1 0 0,0 0 0,0 0 0,0 0 0,2 0 0,-1 0 0,0 0 0,-1 0 0,0 0 0,1 0 0,-1 0 0,1 0 0,-1 0 0,0 0 0,0 0 0,1 0 0,-1 0 0,0 0 0,-1-2 0,-7 0 0,-2-2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15"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pPr algn="ctr"/>
            <a:r>
              <a:rPr lang="en-GB" sz="4400" b="0" u="none" strike="noStrike">
                <a:solidFill>
                  <a:srgbClr val="000000"/>
                </a:solidFill>
                <a:effectLst/>
                <a:uFillTx/>
                <a:latin typeface="Arial"/>
              </a:rPr>
              <a:t>Click to move the slide</a:t>
            </a:r>
          </a:p>
        </p:txBody>
      </p:sp>
      <p:sp>
        <p:nvSpPr>
          <p:cNvPr id="216"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en-GB" sz="2000" b="0" u="none" strike="noStrike">
                <a:solidFill>
                  <a:srgbClr val="000000"/>
                </a:solidFill>
                <a:effectLst/>
                <a:uFillTx/>
                <a:latin typeface="Arial"/>
              </a:rPr>
              <a:t>Click to edit the notes format</a:t>
            </a:r>
          </a:p>
        </p:txBody>
      </p:sp>
      <p:sp>
        <p:nvSpPr>
          <p:cNvPr id="217"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GB" sz="1400" b="0" u="none" strike="noStrike">
                <a:solidFill>
                  <a:srgbClr val="000000"/>
                </a:solidFill>
                <a:effectLst/>
                <a:uFillTx/>
                <a:latin typeface="Times New Roman"/>
              </a:rPr>
              <a:t>&lt;header&gt;</a:t>
            </a:r>
          </a:p>
        </p:txBody>
      </p:sp>
      <p:sp>
        <p:nvSpPr>
          <p:cNvPr id="218" name="PlaceHolder 4"/>
          <p:cNvSpPr>
            <a:spLocks noGrp="1"/>
          </p:cNvSpPr>
          <p:nvPr>
            <p:ph type="dt" idx="109"/>
          </p:nvPr>
        </p:nvSpPr>
        <p:spPr>
          <a:xfrm>
            <a:off x="4278960" y="0"/>
            <a:ext cx="3280680" cy="534240"/>
          </a:xfrm>
          <a:prstGeom prst="rect">
            <a:avLst/>
          </a:prstGeom>
          <a:noFill/>
          <a:ln w="0">
            <a:noFill/>
          </a:ln>
        </p:spPr>
        <p:txBody>
          <a:bodyPr lIns="0" tIns="0" rIns="0" bIns="0" anchor="t">
            <a:noAutofit/>
          </a:bodyPr>
          <a:lstStyle>
            <a:lvl1pPr indent="0" algn="r">
              <a:buNone/>
              <a:defRPr lang="en-GB" sz="1400" b="0" u="none" strike="noStrike">
                <a:solidFill>
                  <a:srgbClr val="000000"/>
                </a:solidFill>
                <a:effectLst/>
                <a:uFillTx/>
                <a:latin typeface="Times New Roman"/>
              </a:defRPr>
            </a:lvl1pPr>
          </a:lstStyle>
          <a:p>
            <a:pPr indent="0" algn="r">
              <a:buNone/>
            </a:pPr>
            <a:r>
              <a:rPr lang="en-GB" sz="1400" b="0" u="none" strike="noStrike">
                <a:solidFill>
                  <a:srgbClr val="000000"/>
                </a:solidFill>
                <a:effectLst/>
                <a:uFillTx/>
                <a:latin typeface="Times New Roman"/>
              </a:rPr>
              <a:t>&lt;date/time&gt;</a:t>
            </a:r>
          </a:p>
        </p:txBody>
      </p:sp>
      <p:sp>
        <p:nvSpPr>
          <p:cNvPr id="219" name="PlaceHolder 5"/>
          <p:cNvSpPr>
            <a:spLocks noGrp="1"/>
          </p:cNvSpPr>
          <p:nvPr>
            <p:ph type="ftr" idx="110"/>
          </p:nvPr>
        </p:nvSpPr>
        <p:spPr>
          <a:xfrm>
            <a:off x="0" y="10157400"/>
            <a:ext cx="3280680" cy="534240"/>
          </a:xfrm>
          <a:prstGeom prst="rect">
            <a:avLst/>
          </a:prstGeom>
          <a:noFill/>
          <a:ln w="0">
            <a:noFill/>
          </a:ln>
        </p:spPr>
        <p:txBody>
          <a:bodyPr lIns="0" tIns="0" rIns="0" bIns="0" anchor="b">
            <a:noAutofit/>
          </a:bodyPr>
          <a:lstStyle>
            <a:lvl1pPr indent="0">
              <a:buNone/>
              <a:defRPr lang="en-GB" sz="1400" b="0" u="none" strike="noStrike">
                <a:solidFill>
                  <a:srgbClr val="000000"/>
                </a:solidFill>
                <a:effectLst/>
                <a:uFillTx/>
                <a:latin typeface="Times New Roman"/>
              </a:defRPr>
            </a:lvl1pPr>
          </a:lstStyle>
          <a:p>
            <a:pPr indent="0">
              <a:buNone/>
            </a:pPr>
            <a:r>
              <a:rPr lang="en-GB" sz="1400" b="0" u="none" strike="noStrike">
                <a:solidFill>
                  <a:srgbClr val="000000"/>
                </a:solidFill>
                <a:effectLst/>
                <a:uFillTx/>
                <a:latin typeface="Times New Roman"/>
              </a:rPr>
              <a:t>&lt;footer&gt;</a:t>
            </a:r>
          </a:p>
        </p:txBody>
      </p:sp>
      <p:sp>
        <p:nvSpPr>
          <p:cNvPr id="220" name="PlaceHolder 6"/>
          <p:cNvSpPr>
            <a:spLocks noGrp="1"/>
          </p:cNvSpPr>
          <p:nvPr>
            <p:ph type="sldNum" idx="111"/>
          </p:nvPr>
        </p:nvSpPr>
        <p:spPr>
          <a:xfrm>
            <a:off x="4278960" y="10157400"/>
            <a:ext cx="3280680" cy="534240"/>
          </a:xfrm>
          <a:prstGeom prst="rect">
            <a:avLst/>
          </a:prstGeom>
          <a:noFill/>
          <a:ln w="0">
            <a:noFill/>
          </a:ln>
        </p:spPr>
        <p:txBody>
          <a:bodyPr lIns="0" tIns="0" rIns="0" bIns="0" anchor="b">
            <a:noAutofit/>
          </a:bodyPr>
          <a:lstStyle>
            <a:lvl1pPr indent="0" algn="r">
              <a:buNone/>
              <a:defRPr lang="en-GB" sz="1400" b="0" u="none" strike="noStrike">
                <a:solidFill>
                  <a:srgbClr val="000000"/>
                </a:solidFill>
                <a:effectLst/>
                <a:uFillTx/>
                <a:latin typeface="Times New Roman"/>
              </a:defRPr>
            </a:lvl1pPr>
          </a:lstStyle>
          <a:p>
            <a:pPr indent="0" algn="r">
              <a:buNone/>
            </a:pPr>
            <a:fld id="{443F2498-5187-42C2-A83F-FE72315DB477}" type="slidenum">
              <a:rPr lang="en-GB" sz="1400" b="0" u="none" strike="noStrike">
                <a:solidFill>
                  <a:srgbClr val="000000"/>
                </a:solidFill>
                <a:effectLst/>
                <a:uFillTx/>
                <a:latin typeface="Times New Roman"/>
              </a:rPr>
              <a:t>‹#›</a:t>
            </a:fld>
            <a:endParaRPr lang="en-GB"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1</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40316662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r>
              <a:rPr lang="en-US" dirty="0"/>
              <a:t>One can access the data in columns and rows easily using the ‘attached’ labels</a:t>
            </a:r>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4</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4224657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r>
              <a:rPr lang="en-US" dirty="0"/>
              <a:t>Here talk about how also the index can be not only numeric. </a:t>
            </a:r>
            <a:br>
              <a:rPr lang="en-US" dirty="0"/>
            </a:br>
            <a:endParaRPr lang="en-US" dirty="0"/>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5</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29070659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r>
              <a:rPr lang="en-US" dirty="0"/>
              <a:t>And having columns containing the same information in two </a:t>
            </a:r>
            <a:r>
              <a:rPr lang="en-US" dirty="0" err="1"/>
              <a:t>dataframes</a:t>
            </a:r>
            <a:r>
              <a:rPr lang="en-US" dirty="0"/>
              <a:t> allows s to ask questions that require consideration of the data from both</a:t>
            </a:r>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6</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755330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8" name="PlaceHolder 1"/>
          <p:cNvSpPr>
            <a:spLocks noGrp="1" noRot="1" noChangeAspect="1"/>
          </p:cNvSpPr>
          <p:nvPr>
            <p:ph type="sldImg"/>
          </p:nvPr>
        </p:nvSpPr>
        <p:spPr>
          <a:xfrm>
            <a:off x="215900" y="812800"/>
            <a:ext cx="7124700" cy="4006850"/>
          </a:xfrm>
          <a:prstGeom prst="rect">
            <a:avLst/>
          </a:prstGeom>
          <a:ln w="0">
            <a:noFill/>
          </a:ln>
        </p:spPr>
      </p:sp>
      <p:sp>
        <p:nvSpPr>
          <p:cNvPr id="659" name="PlaceHolder 2"/>
          <p:cNvSpPr>
            <a:spLocks noGrp="1"/>
          </p:cNvSpPr>
          <p:nvPr>
            <p:ph type="body"/>
          </p:nvPr>
        </p:nvSpPr>
        <p:spPr>
          <a:xfrm>
            <a:off x="756000" y="5078520"/>
            <a:ext cx="6045120" cy="4808520"/>
          </a:xfrm>
          <a:prstGeom prst="rect">
            <a:avLst/>
          </a:prstGeom>
          <a:noFill/>
          <a:ln w="0">
            <a:noFill/>
          </a:ln>
        </p:spPr>
        <p:txBody>
          <a:bodyPr lIns="0" tIns="0" rIns="0" bIns="0" anchor="t">
            <a:noAutofit/>
          </a:bodyPr>
          <a:lstStyle/>
          <a:p>
            <a:pPr marL="216000" indent="0">
              <a:lnSpc>
                <a:spcPct val="100000"/>
              </a:lnSpc>
              <a:buNone/>
              <a:tabLst>
                <a:tab pos="0" algn="l"/>
              </a:tabLst>
            </a:pPr>
            <a:r>
              <a:rPr lang="en-US" sz="2000" b="0" u="none" strike="noStrike" dirty="0">
                <a:solidFill>
                  <a:srgbClr val="000000"/>
                </a:solidFill>
                <a:effectLst/>
                <a:uFillTx/>
                <a:latin typeface="Calibri"/>
                <a:ea typeface="+mn-ea"/>
              </a:rPr>
              <a:t>Message: concepts are not specific to pandas but general. </a:t>
            </a:r>
            <a:endParaRPr lang="en-GB" sz="2000" b="0" u="none" strike="noStrike" dirty="0">
              <a:solidFill>
                <a:srgbClr val="000000"/>
              </a:solidFill>
              <a:effectLst/>
              <a:uFillTx/>
              <a:latin typeface="+mn-lt"/>
            </a:endParaRPr>
          </a:p>
          <a:p>
            <a:pPr marL="216000" indent="0">
              <a:lnSpc>
                <a:spcPct val="100000"/>
              </a:lnSpc>
              <a:buNone/>
              <a:tabLst>
                <a:tab pos="0" algn="l"/>
              </a:tabLst>
            </a:pPr>
            <a:r>
              <a:rPr lang="en-US" sz="2000" b="0" u="none" strike="noStrike" dirty="0">
                <a:solidFill>
                  <a:srgbClr val="000000"/>
                </a:solidFill>
                <a:effectLst/>
                <a:uFillTx/>
                <a:latin typeface="Calibri"/>
                <a:ea typeface="+mn-ea"/>
              </a:rPr>
              <a:t>Not go into detail but mention that other languages or frameworks use similar concepts (e.g. SQL)</a:t>
            </a:r>
            <a:endParaRPr lang="en-GB" sz="2000" b="0" u="none" strike="noStrike" dirty="0">
              <a:solidFill>
                <a:srgbClr val="000000"/>
              </a:solidFill>
              <a:effectLst/>
              <a:uFillTx/>
              <a:latin typeface="+mn-lt"/>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r>
              <a:rPr lang="en-US" dirty="0"/>
              <a:t>Explain the exercise. Focus on thinking about the big O complexity and different solutions</a:t>
            </a:r>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10</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0910915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4038B8-8C48-5266-B8C5-403FF339BD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F671EE-3218-F0F5-E2FB-6F28B4A595B6}"/>
              </a:ext>
            </a:extLst>
          </p:cNvPr>
          <p:cNvSpPr>
            <a:spLocks noGrp="1" noRot="1" noChangeAspect="1"/>
          </p:cNvSpPr>
          <p:nvPr>
            <p:ph type="sldImg"/>
          </p:nvPr>
        </p:nvSpPr>
        <p:spPr>
          <a:xfrm>
            <a:off x="0" y="812800"/>
            <a:ext cx="0" cy="0"/>
          </a:xfrm>
        </p:spPr>
      </p:sp>
      <p:sp>
        <p:nvSpPr>
          <p:cNvPr id="3" name="Notes Placeholder 2">
            <a:extLst>
              <a:ext uri="{FF2B5EF4-FFF2-40B4-BE49-F238E27FC236}">
                <a16:creationId xmlns:a16="http://schemas.microsoft.com/office/drawing/2014/main" id="{92576C75-A691-A9BC-68B9-F17A333CBCD2}"/>
              </a:ext>
            </a:extLst>
          </p:cNvPr>
          <p:cNvSpPr>
            <a:spLocks noGrp="1"/>
          </p:cNvSpPr>
          <p:nvPr>
            <p:ph type="body" idx="1"/>
          </p:nvPr>
        </p:nvSpPr>
        <p:spPr/>
        <p:txBody>
          <a:bodyPr/>
          <a:lstStyle/>
          <a:p>
            <a:r>
              <a:rPr lang="en-US" dirty="0"/>
              <a:t>Explain the exercise. Focus on thinking about the big O complexity and different solutions</a:t>
            </a:r>
          </a:p>
        </p:txBody>
      </p:sp>
      <p:sp>
        <p:nvSpPr>
          <p:cNvPr id="4" name="Slide Number Placeholder 3">
            <a:extLst>
              <a:ext uri="{FF2B5EF4-FFF2-40B4-BE49-F238E27FC236}">
                <a16:creationId xmlns:a16="http://schemas.microsoft.com/office/drawing/2014/main" id="{DD9BB80B-E9A0-370E-296F-7E6F62A5E33F}"/>
              </a:ext>
            </a:extLst>
          </p:cNvPr>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11</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8832525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r>
              <a:rPr lang="en-GB" dirty="0"/>
              <a:t>A</a:t>
            </a:r>
            <a:r>
              <a:rPr lang="en-US" dirty="0"/>
              <a:t>dd plot</a:t>
            </a:r>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16</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367866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r>
              <a:rPr lang="en-GB" dirty="0"/>
              <a:t>A</a:t>
            </a:r>
            <a:r>
              <a:rPr lang="en-US" dirty="0"/>
              <a:t>dd plot</a:t>
            </a:r>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20</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3742511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r>
              <a:rPr lang="en-US" dirty="0"/>
              <a:t>Explain what does this do by hand:</a:t>
            </a:r>
          </a:p>
          <a:p>
            <a:r>
              <a:rPr lang="en-US" dirty="0"/>
              <a:t>Creates a lookup table (something like a </a:t>
            </a:r>
            <a:r>
              <a:rPr lang="en-US" dirty="0" err="1"/>
              <a:t>dictianry</a:t>
            </a:r>
            <a:r>
              <a:rPr lang="en-US" dirty="0"/>
              <a:t>) from the location-id </a:t>
            </a:r>
            <a:r>
              <a:rPr lang="en-US" dirty="0" err="1"/>
              <a:t>dataframe</a:t>
            </a:r>
            <a:endParaRPr lang="en-US" dirty="0"/>
          </a:p>
          <a:p>
            <a:r>
              <a:rPr lang="en-US" dirty="0"/>
              <a:t>Then goes through all of the rows of the </a:t>
            </a:r>
            <a:r>
              <a:rPr lang="en-US" dirty="0" err="1"/>
              <a:t>patients_df</a:t>
            </a:r>
            <a:r>
              <a:rPr lang="en-US" dirty="0"/>
              <a:t> </a:t>
            </a:r>
            <a:r>
              <a:rPr lang="en-US" dirty="0" err="1"/>
              <a:t>dataframe</a:t>
            </a:r>
            <a:r>
              <a:rPr lang="en-US" dirty="0"/>
              <a:t> (O(N) and looks up the location-id in the dictionary</a:t>
            </a:r>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21</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31322096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28</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9474856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r>
              <a:rPr lang="en-US" dirty="0"/>
              <a:t>Plan: </a:t>
            </a:r>
          </a:p>
          <a:p>
            <a:r>
              <a:rPr lang="en-US" dirty="0"/>
              <a:t>- Explain the solutions easily</a:t>
            </a:r>
          </a:p>
          <a:p>
            <a:endParaRPr lang="en-US" dirty="0"/>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30</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3710149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pPr marL="228600" indent="0">
              <a:lnSpc>
                <a:spcPct val="90000"/>
              </a:lnSpc>
              <a:spcBef>
                <a:spcPts val="1001"/>
              </a:spcBef>
              <a:buNone/>
              <a:tabLst>
                <a:tab pos="0" algn="l"/>
              </a:tabLst>
            </a:pPr>
            <a:r>
              <a:rPr lang="en-US" sz="1200" b="0" u="none" strike="noStrike" dirty="0">
                <a:solidFill>
                  <a:srgbClr val="000000"/>
                </a:solidFill>
                <a:effectLst/>
                <a:uFillTx/>
                <a:latin typeface="Calibri"/>
                <a:ea typeface="+mn-ea"/>
              </a:rPr>
              <a:t>Conclusion: </a:t>
            </a:r>
            <a:endParaRPr lang="en-GB" sz="1200" b="0" u="none" strike="noStrike" dirty="0">
              <a:solidFill>
                <a:srgbClr val="000000"/>
              </a:solidFill>
              <a:effectLst/>
              <a:uFillTx/>
              <a:latin typeface="+mn-lt"/>
            </a:endParaRPr>
          </a:p>
          <a:p>
            <a:pPr marL="228600" indent="0">
              <a:lnSpc>
                <a:spcPct val="90000"/>
              </a:lnSpc>
              <a:spcBef>
                <a:spcPts val="1001"/>
              </a:spcBef>
              <a:buNone/>
              <a:tabLst>
                <a:tab pos="0" algn="l"/>
              </a:tabLst>
            </a:pPr>
            <a:r>
              <a:rPr lang="en-US" sz="1200" b="0" u="none" strike="noStrike" dirty="0">
                <a:solidFill>
                  <a:srgbClr val="000000"/>
                </a:solidFill>
                <a:effectLst/>
                <a:uFillTx/>
                <a:latin typeface="Calibri"/>
                <a:ea typeface="+mn-ea"/>
              </a:rPr>
              <a:t>Don’t do for-loops</a:t>
            </a:r>
            <a:endParaRPr lang="en-GB" sz="1200" b="0" u="none" strike="noStrike" dirty="0">
              <a:solidFill>
                <a:srgbClr val="000000"/>
              </a:solidFill>
              <a:effectLst/>
              <a:uFillTx/>
              <a:latin typeface="+mn-lt"/>
            </a:endParaRPr>
          </a:p>
          <a:p>
            <a:pPr marL="228600" indent="0">
              <a:lnSpc>
                <a:spcPct val="90000"/>
              </a:lnSpc>
              <a:spcBef>
                <a:spcPts val="1001"/>
              </a:spcBef>
              <a:buNone/>
              <a:tabLst>
                <a:tab pos="0" algn="l"/>
              </a:tabLst>
            </a:pPr>
            <a:r>
              <a:rPr lang="en-US" sz="1200" b="0" u="none" strike="noStrike" dirty="0">
                <a:solidFill>
                  <a:srgbClr val="000000"/>
                </a:solidFill>
                <a:effectLst/>
                <a:uFillTx/>
                <a:latin typeface="Calibri"/>
                <a:ea typeface="+mn-ea"/>
              </a:rPr>
              <a:t>If you’re doing for-loops, you’re doing it wrong.</a:t>
            </a:r>
            <a:endParaRPr lang="en-GB" sz="1200" b="0" u="none" strike="noStrike" dirty="0">
              <a:solidFill>
                <a:srgbClr val="000000"/>
              </a:solidFill>
              <a:effectLst/>
              <a:uFillTx/>
              <a:latin typeface="+mn-lt"/>
            </a:endParaRPr>
          </a:p>
          <a:p>
            <a:endParaRPr lang="en-US" dirty="0"/>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31</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6930617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795CA-D5D9-BF93-24FD-7DA4617253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AC7407-1F9F-D676-9EC0-AE7E39DBCF18}"/>
              </a:ext>
            </a:extLst>
          </p:cNvPr>
          <p:cNvSpPr>
            <a:spLocks noGrp="1" noRot="1" noChangeAspect="1"/>
          </p:cNvSpPr>
          <p:nvPr>
            <p:ph type="sldImg"/>
          </p:nvPr>
        </p:nvSpPr>
        <p:spPr>
          <a:xfrm>
            <a:off x="0" y="812800"/>
            <a:ext cx="0" cy="0"/>
          </a:xfrm>
        </p:spPr>
      </p:sp>
      <p:sp>
        <p:nvSpPr>
          <p:cNvPr id="3" name="Notes Placeholder 2">
            <a:extLst>
              <a:ext uri="{FF2B5EF4-FFF2-40B4-BE49-F238E27FC236}">
                <a16:creationId xmlns:a16="http://schemas.microsoft.com/office/drawing/2014/main" id="{BF9F369A-5D84-8A75-7D99-306E7FBEC703}"/>
              </a:ext>
            </a:extLst>
          </p:cNvPr>
          <p:cNvSpPr>
            <a:spLocks noGrp="1"/>
          </p:cNvSpPr>
          <p:nvPr>
            <p:ph type="body" idx="1"/>
          </p:nvPr>
        </p:nvSpPr>
        <p:spPr/>
        <p:txBody>
          <a:bodyPr/>
          <a:lstStyle/>
          <a:p>
            <a:pPr marL="228600" indent="0">
              <a:lnSpc>
                <a:spcPct val="90000"/>
              </a:lnSpc>
              <a:spcBef>
                <a:spcPts val="1001"/>
              </a:spcBef>
              <a:buNone/>
              <a:tabLst>
                <a:tab pos="0" algn="l"/>
              </a:tabLst>
            </a:pPr>
            <a:r>
              <a:rPr lang="en-US" sz="1200" b="0" u="none" strike="noStrike" dirty="0">
                <a:solidFill>
                  <a:srgbClr val="000000"/>
                </a:solidFill>
                <a:effectLst/>
                <a:uFillTx/>
                <a:latin typeface="Calibri"/>
                <a:ea typeface="+mn-ea"/>
              </a:rPr>
              <a:t>Conclusion: </a:t>
            </a:r>
            <a:endParaRPr lang="en-GB" sz="1200" b="0" u="none" strike="noStrike" dirty="0">
              <a:solidFill>
                <a:srgbClr val="000000"/>
              </a:solidFill>
              <a:effectLst/>
              <a:uFillTx/>
              <a:latin typeface="+mn-lt"/>
            </a:endParaRPr>
          </a:p>
          <a:p>
            <a:pPr marL="228600" indent="0">
              <a:lnSpc>
                <a:spcPct val="90000"/>
              </a:lnSpc>
              <a:spcBef>
                <a:spcPts val="1001"/>
              </a:spcBef>
              <a:buNone/>
              <a:tabLst>
                <a:tab pos="0" algn="l"/>
              </a:tabLst>
            </a:pPr>
            <a:r>
              <a:rPr lang="en-US" sz="1200" b="0" u="none" strike="noStrike" dirty="0">
                <a:solidFill>
                  <a:srgbClr val="000000"/>
                </a:solidFill>
                <a:effectLst/>
                <a:uFillTx/>
                <a:latin typeface="Calibri"/>
                <a:ea typeface="+mn-ea"/>
              </a:rPr>
              <a:t>Don’t do for-loops</a:t>
            </a:r>
            <a:endParaRPr lang="en-GB" sz="1200" b="0" u="none" strike="noStrike" dirty="0">
              <a:solidFill>
                <a:srgbClr val="000000"/>
              </a:solidFill>
              <a:effectLst/>
              <a:uFillTx/>
              <a:latin typeface="+mn-lt"/>
            </a:endParaRPr>
          </a:p>
          <a:p>
            <a:pPr marL="228600" indent="0">
              <a:lnSpc>
                <a:spcPct val="90000"/>
              </a:lnSpc>
              <a:spcBef>
                <a:spcPts val="1001"/>
              </a:spcBef>
              <a:buNone/>
              <a:tabLst>
                <a:tab pos="0" algn="l"/>
              </a:tabLst>
            </a:pPr>
            <a:r>
              <a:rPr lang="en-US" sz="1200" b="0" u="none" strike="noStrike" dirty="0">
                <a:solidFill>
                  <a:srgbClr val="000000"/>
                </a:solidFill>
                <a:effectLst/>
                <a:uFillTx/>
                <a:latin typeface="Calibri"/>
                <a:ea typeface="+mn-ea"/>
              </a:rPr>
              <a:t>If you’re doing for-loops, you’re doing it wrong.</a:t>
            </a:r>
            <a:endParaRPr lang="en-GB" sz="1200" b="0" u="none" strike="noStrike" dirty="0">
              <a:solidFill>
                <a:srgbClr val="000000"/>
              </a:solidFill>
              <a:effectLst/>
              <a:uFillTx/>
              <a:latin typeface="+mn-lt"/>
            </a:endParaRPr>
          </a:p>
          <a:p>
            <a:endParaRPr lang="en-US" dirty="0"/>
          </a:p>
        </p:txBody>
      </p:sp>
      <p:sp>
        <p:nvSpPr>
          <p:cNvPr id="4" name="Slide Number Placeholder 3">
            <a:extLst>
              <a:ext uri="{FF2B5EF4-FFF2-40B4-BE49-F238E27FC236}">
                <a16:creationId xmlns:a16="http://schemas.microsoft.com/office/drawing/2014/main" id="{871AD302-891D-FBF3-FDC8-B969B3E4FB1B}"/>
              </a:ext>
            </a:extLst>
          </p:cNvPr>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32</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77156451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pPr marL="228600" lvl="0"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a:ea typeface="+mn-ea"/>
              </a:rPr>
              <a:t>Window functions perform row-by-row operations on grouped data</a:t>
            </a:r>
            <a:endParaRPr lang="en-GB" sz="2400" b="0" u="none" strike="noStrike" dirty="0">
              <a:solidFill>
                <a:srgbClr val="000000"/>
              </a:solidFill>
              <a:effectLst/>
              <a:uFillTx/>
              <a:latin typeface="+mn-lt"/>
            </a:endParaRPr>
          </a:p>
          <a:p>
            <a:pPr marL="228600" lvl="0"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a:ea typeface="+mn-ea"/>
              </a:rPr>
              <a:t>They are an advanced way of avoiding for loops with tabular data</a:t>
            </a:r>
            <a:endParaRPr lang="en-GB" sz="2400" b="0" u="none" strike="noStrike" dirty="0">
              <a:solidFill>
                <a:srgbClr val="000000"/>
              </a:solidFill>
              <a:effectLst/>
              <a:uFillTx/>
              <a:latin typeface="+mn-lt"/>
            </a:endParaRPr>
          </a:p>
          <a:p>
            <a:pPr marL="228600" lvl="0"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a:ea typeface="+mn-ea"/>
              </a:rPr>
              <a:t>In Pandas, they can be achieved with a combo of sorting and grouping-by</a:t>
            </a:r>
            <a:endParaRPr lang="en-GB" sz="2400" b="0" u="none" strike="noStrike" dirty="0">
              <a:solidFill>
                <a:srgbClr val="000000"/>
              </a:solidFill>
              <a:effectLst/>
              <a:uFillTx/>
              <a:latin typeface="+mn-lt"/>
            </a:endParaRPr>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50</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0022641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812800"/>
            <a:ext cx="0" cy="0"/>
          </a:xfrm>
        </p:spPr>
      </p:sp>
      <p:sp>
        <p:nvSpPr>
          <p:cNvPr id="3" name="Notes Placeholder 2"/>
          <p:cNvSpPr>
            <a:spLocks noGrp="1"/>
          </p:cNvSpPr>
          <p:nvPr>
            <p:ph type="body" idx="1"/>
          </p:nvPr>
        </p:nvSpPr>
        <p:spPr/>
        <p:txBody>
          <a:bodyPr/>
          <a:lstStyle/>
          <a:p>
            <a:r>
              <a:rPr lang="en-US" dirty="0"/>
              <a:t>1 st bullet point. Like in a house there are specialized rooms for ‘processing’ different action, you’d rarely watch TV in the bathroom, you can. But you don’t do it. And you’d never do what you do in the toile tin the living room.</a:t>
            </a:r>
          </a:p>
        </p:txBody>
      </p:sp>
      <p:sp>
        <p:nvSpPr>
          <p:cNvPr id="4" name="Slide Number Placeholder 3"/>
          <p:cNvSpPr>
            <a:spLocks noGrp="1"/>
          </p:cNvSpPr>
          <p:nvPr>
            <p:ph type="sldNum" idx="111"/>
          </p:nvPr>
        </p:nvSpPr>
        <p:spPr/>
        <p:txBody>
          <a:bodyPr/>
          <a:lstStyle/>
          <a:p>
            <a:pPr indent="0" algn="r">
              <a:buNone/>
            </a:pPr>
            <a:fld id="{443F2498-5187-42C2-A83F-FE72315DB477}" type="slidenum">
              <a:rPr lang="en-GB" sz="1400" b="0" u="none" strike="noStrike" smtClean="0">
                <a:solidFill>
                  <a:srgbClr val="000000"/>
                </a:solidFill>
                <a:effectLst/>
                <a:uFillTx/>
                <a:latin typeface="Times New Roman"/>
              </a:rPr>
              <a:t>52</a:t>
            </a:fld>
            <a:endParaRPr lang="en-GB"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9732192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CAF43-7529-492A-18D9-CCCE0BA0F2EA}"/>
            </a:ext>
          </a:extLst>
        </p:cNvPr>
        <p:cNvGrpSpPr/>
        <p:nvPr/>
      </p:nvGrpSpPr>
      <p:grpSpPr>
        <a:xfrm>
          <a:off x="0" y="0"/>
          <a:ext cx="0" cy="0"/>
          <a:chOff x="0" y="0"/>
          <a:chExt cx="0" cy="0"/>
        </a:xfrm>
      </p:grpSpPr>
      <p:sp>
        <p:nvSpPr>
          <p:cNvPr id="658" name="PlaceHolder 1">
            <a:extLst>
              <a:ext uri="{FF2B5EF4-FFF2-40B4-BE49-F238E27FC236}">
                <a16:creationId xmlns:a16="http://schemas.microsoft.com/office/drawing/2014/main" id="{54E997C5-47FA-3FF7-41F3-8CCD35FCB91E}"/>
              </a:ext>
            </a:extLst>
          </p:cNvPr>
          <p:cNvSpPr>
            <a:spLocks noGrp="1" noRot="1" noChangeAspect="1"/>
          </p:cNvSpPr>
          <p:nvPr>
            <p:ph type="sldImg"/>
          </p:nvPr>
        </p:nvSpPr>
        <p:spPr>
          <a:xfrm>
            <a:off x="215900" y="812800"/>
            <a:ext cx="7124700" cy="4006850"/>
          </a:xfrm>
          <a:prstGeom prst="rect">
            <a:avLst/>
          </a:prstGeom>
          <a:ln w="0">
            <a:noFill/>
          </a:ln>
        </p:spPr>
      </p:sp>
      <p:sp>
        <p:nvSpPr>
          <p:cNvPr id="659" name="PlaceHolder 2">
            <a:extLst>
              <a:ext uri="{FF2B5EF4-FFF2-40B4-BE49-F238E27FC236}">
                <a16:creationId xmlns:a16="http://schemas.microsoft.com/office/drawing/2014/main" id="{876814AB-385C-C811-D138-C6E6D46CC763}"/>
              </a:ext>
            </a:extLst>
          </p:cNvPr>
          <p:cNvSpPr>
            <a:spLocks noGrp="1"/>
          </p:cNvSpPr>
          <p:nvPr>
            <p:ph type="body"/>
          </p:nvPr>
        </p:nvSpPr>
        <p:spPr>
          <a:xfrm>
            <a:off x="756000" y="5078520"/>
            <a:ext cx="6045120" cy="4808520"/>
          </a:xfrm>
          <a:prstGeom prst="rect">
            <a:avLst/>
          </a:prstGeom>
          <a:noFill/>
          <a:ln w="0">
            <a:noFill/>
          </a:ln>
        </p:spPr>
        <p:txBody>
          <a:bodyPr lIns="0" tIns="0" rIns="0" bIns="0" anchor="t">
            <a:noAutofit/>
          </a:bodyPr>
          <a:lstStyle/>
          <a:p>
            <a:pPr marL="216000" marR="0" lvl="0" indent="0" algn="l" defTabSz="914400" rtl="0" eaLnBrk="1" fontAlgn="auto" latinLnBrk="0" hangingPunct="1">
              <a:lnSpc>
                <a:spcPct val="100000"/>
              </a:lnSpc>
              <a:spcBef>
                <a:spcPts val="0"/>
              </a:spcBef>
              <a:spcAft>
                <a:spcPts val="0"/>
              </a:spcAft>
              <a:buClrTx/>
              <a:buSzTx/>
              <a:buFontTx/>
              <a:buNone/>
              <a:tabLst>
                <a:tab pos="0" algn="l"/>
              </a:tabLst>
              <a:defRPr/>
            </a:pPr>
            <a:r>
              <a:rPr lang="en-US" sz="2000" dirty="0"/>
              <a:t>Not only is the syntax very similar, but the computation is also highly identical</a:t>
            </a:r>
          </a:p>
          <a:p>
            <a:pPr marL="216000" indent="0">
              <a:lnSpc>
                <a:spcPct val="100000"/>
              </a:lnSpc>
              <a:buNone/>
              <a:tabLst>
                <a:tab pos="0" algn="l"/>
              </a:tabLst>
            </a:pPr>
            <a:endParaRPr lang="en-US" sz="2000" b="0" u="none" strike="noStrike" dirty="0">
              <a:solidFill>
                <a:srgbClr val="000000"/>
              </a:solidFill>
              <a:effectLst/>
              <a:uFillTx/>
              <a:latin typeface="Calibri"/>
              <a:ea typeface="DejaVu Sans"/>
            </a:endParaRPr>
          </a:p>
          <a:p>
            <a:pPr marL="216000" indent="0">
              <a:lnSpc>
                <a:spcPct val="100000"/>
              </a:lnSpc>
              <a:buNone/>
              <a:tabLst>
                <a:tab pos="0" algn="l"/>
              </a:tabLst>
            </a:pPr>
            <a:r>
              <a:rPr lang="en-US" sz="2000" b="0" u="none" strike="noStrike" dirty="0">
                <a:solidFill>
                  <a:srgbClr val="000000"/>
                </a:solidFill>
                <a:effectLst/>
                <a:uFillTx/>
                <a:latin typeface="Calibri"/>
                <a:ea typeface="DejaVu Sans"/>
              </a:rPr>
              <a:t>Message: concepts are not specific to pandas but general. </a:t>
            </a:r>
            <a:endParaRPr lang="en-GB" sz="2000" b="0" u="none" strike="noStrike" dirty="0">
              <a:solidFill>
                <a:srgbClr val="000000"/>
              </a:solidFill>
              <a:effectLst/>
              <a:uFillTx/>
              <a:latin typeface="Arial"/>
            </a:endParaRPr>
          </a:p>
          <a:p>
            <a:pPr marL="216000" indent="0">
              <a:lnSpc>
                <a:spcPct val="100000"/>
              </a:lnSpc>
              <a:buNone/>
              <a:tabLst>
                <a:tab pos="0" algn="l"/>
              </a:tabLst>
            </a:pPr>
            <a:r>
              <a:rPr lang="en-US" sz="2000" b="0" u="none" strike="noStrike" dirty="0">
                <a:solidFill>
                  <a:srgbClr val="000000"/>
                </a:solidFill>
                <a:effectLst/>
                <a:uFillTx/>
                <a:latin typeface="Calibri"/>
                <a:ea typeface="DejaVu Sans"/>
              </a:rPr>
              <a:t>Not go into detail but mention that other languages or frameworks use similar concepts (e.g. SQL)</a:t>
            </a:r>
            <a:endParaRPr lang="en-GB" sz="2000" b="0" u="none" strike="noStrike" dirty="0">
              <a:solidFill>
                <a:srgbClr val="000000"/>
              </a:solidFill>
              <a:effectLst/>
              <a:uFillTx/>
              <a:latin typeface="Arial"/>
            </a:endParaRPr>
          </a:p>
        </p:txBody>
      </p:sp>
    </p:spTree>
    <p:extLst>
      <p:ext uri="{BB962C8B-B14F-4D97-AF65-F5344CB8AC3E}">
        <p14:creationId xmlns:p14="http://schemas.microsoft.com/office/powerpoint/2010/main" val="22804390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55" name="PlaceHolder 4"/>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p>
            <a:pPr indent="0" algn="ctr">
              <a:lnSpc>
                <a:spcPct val="100000"/>
              </a:lnSpc>
              <a:buNone/>
              <a:tabLst>
                <a:tab pos="0" algn="l"/>
              </a:tabLst>
            </a:pPr>
            <a:r>
              <a:rPr lang="en-GB" sz="4400" b="0" u="none" strike="noStrike">
                <a:solidFill>
                  <a:srgbClr val="000000"/>
                </a:solidFill>
                <a:effectLst/>
                <a:uFillTx/>
                <a:latin typeface="Arial"/>
              </a:rPr>
              <a:t>Click to edit the title text format</a:t>
            </a:r>
          </a:p>
        </p:txBody>
      </p:sp>
      <p:sp>
        <p:nvSpPr>
          <p:cNvPr id="56" name="PlaceHolder 5"/>
          <p:cNvSpPr>
            <a:spLocks noGrp="1"/>
          </p:cNvSpPr>
          <p:nvPr>
            <p:ph type="body"/>
          </p:nvPr>
        </p:nvSpPr>
        <p:spPr>
          <a:xfrm>
            <a:off x="609480" y="1604520"/>
            <a:ext cx="10972080" cy="397692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32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2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2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20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
        <p:nvSpPr>
          <p:cNvPr id="2" name="PlaceHolder 2">
            <a:extLst>
              <a:ext uri="{FF2B5EF4-FFF2-40B4-BE49-F238E27FC236}">
                <a16:creationId xmlns:a16="http://schemas.microsoft.com/office/drawing/2014/main" id="{524F1DE7-7207-EE13-A09C-5D8B847FFC67}"/>
              </a:ext>
            </a:extLst>
          </p:cNvPr>
          <p:cNvSpPr>
            <a:spLocks noGrp="1"/>
          </p:cNvSpPr>
          <p:nvPr>
            <p:ph type="ftr" idx="1"/>
          </p:nvPr>
        </p:nvSpPr>
        <p:spPr>
          <a:xfrm>
            <a:off x="4038480" y="6356520"/>
            <a:ext cx="4111560" cy="361800"/>
          </a:xfrm>
          <a:prstGeom prst="rect">
            <a:avLst/>
          </a:prstGeom>
          <a:noFill/>
          <a:ln w="0">
            <a:noFill/>
          </a:ln>
        </p:spPr>
        <p:txBody>
          <a:bodyPr lIns="90000" tIns="45000" rIns="90000" bIns="45000" anchor="ctr">
            <a:noAutofit/>
          </a:bodyPr>
          <a:lstStyle>
            <a:lvl1pPr indent="0" algn="ctr">
              <a:lnSpc>
                <a:spcPct val="100000"/>
              </a:lnSpc>
              <a:buNone/>
              <a:tabLst>
                <a:tab pos="0" algn="l"/>
              </a:tabLst>
              <a:defRPr lang="en-US" sz="1200" b="0" u="none" strike="noStrike">
                <a:solidFill>
                  <a:srgbClr val="8B8B8B"/>
                </a:solidFill>
                <a:effectLst/>
                <a:uFillTx/>
                <a:latin typeface="Calibri"/>
                <a:ea typeface="DejaVu Sans"/>
              </a:defRPr>
            </a:lvl1pPr>
          </a:lstStyle>
          <a:p>
            <a:r>
              <a:rPr lang="en-US" dirty="0"/>
              <a:t>Tab, v3.0</a:t>
            </a:r>
          </a:p>
        </p:txBody>
      </p:sp>
      <p:sp>
        <p:nvSpPr>
          <p:cNvPr id="3" name="PlaceHolder 3">
            <a:extLst>
              <a:ext uri="{FF2B5EF4-FFF2-40B4-BE49-F238E27FC236}">
                <a16:creationId xmlns:a16="http://schemas.microsoft.com/office/drawing/2014/main" id="{52AB37A6-A3AB-08F8-8D29-E763EC787EC0}"/>
              </a:ext>
            </a:extLst>
          </p:cNvPr>
          <p:cNvSpPr>
            <a:spLocks noGrp="1"/>
          </p:cNvSpPr>
          <p:nvPr>
            <p:ph type="sldNum" idx="2"/>
          </p:nvPr>
        </p:nvSpPr>
        <p:spPr>
          <a:xfrm>
            <a:off x="8610480" y="6356520"/>
            <a:ext cx="2739960" cy="361800"/>
          </a:xfrm>
          <a:prstGeom prst="rect">
            <a:avLst/>
          </a:prstGeom>
          <a:noFill/>
          <a:ln w="0">
            <a:noFill/>
          </a:ln>
        </p:spPr>
        <p:txBody>
          <a:bodyPr lIns="90000" tIns="45000" rIns="90000" bIns="45000" anchor="ctr">
            <a:noAutofit/>
          </a:bodyPr>
          <a:lstStyle>
            <a:lvl1pPr indent="0" algn="r">
              <a:lnSpc>
                <a:spcPct val="100000"/>
              </a:lnSpc>
              <a:buNone/>
              <a:tabLst>
                <a:tab pos="0" algn="l"/>
              </a:tabLst>
              <a:defRPr lang="en-US" sz="1200" b="0" u="none" strike="noStrike">
                <a:solidFill>
                  <a:srgbClr val="8B8B8B"/>
                </a:solidFill>
                <a:effectLst/>
                <a:uFillTx/>
                <a:latin typeface="Calibri"/>
                <a:ea typeface="DejaVu Sans"/>
              </a:defRPr>
            </a:lvl1pPr>
          </a:lstStyle>
          <a:p>
            <a:pPr indent="0" algn="r">
              <a:lnSpc>
                <a:spcPct val="100000"/>
              </a:lnSpc>
              <a:buNone/>
              <a:tabLst>
                <a:tab pos="0" algn="l"/>
              </a:tabLst>
            </a:pPr>
            <a:fld id="{D26C5790-D993-4051-82AE-D75E25E1987E}" type="slidenum">
              <a:rPr lang="en-US" sz="1200" b="0" u="none" strike="noStrike">
                <a:solidFill>
                  <a:srgbClr val="8B8B8B"/>
                </a:solidFill>
                <a:effectLst/>
                <a:uFillTx/>
                <a:latin typeface="Calibri"/>
                <a:ea typeface="DejaVu Sans"/>
              </a:rPr>
              <a:t>‹#›</a:t>
            </a:fld>
            <a:endParaRPr lang="en-GB" sz="1200" b="0" u="none" strike="noStrike" dirty="0">
              <a:solidFill>
                <a:srgbClr val="000000"/>
              </a:solidFill>
              <a:effectLst/>
              <a:uFillTx/>
              <a:latin typeface="Times New Roman"/>
            </a:endParaRPr>
          </a:p>
        </p:txBody>
      </p:sp>
      <p:sp>
        <p:nvSpPr>
          <p:cNvPr id="4" name="PlaceHolder 4">
            <a:extLst>
              <a:ext uri="{FF2B5EF4-FFF2-40B4-BE49-F238E27FC236}">
                <a16:creationId xmlns:a16="http://schemas.microsoft.com/office/drawing/2014/main" id="{75F45193-782B-446B-04BE-7F2F68D2EF1E}"/>
              </a:ext>
            </a:extLst>
          </p:cNvPr>
          <p:cNvSpPr>
            <a:spLocks noGrp="1"/>
          </p:cNvSpPr>
          <p:nvPr>
            <p:ph type="dt" idx="3"/>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en-GB" sz="1400" b="0" u="none" strike="noStrike">
                <a:solidFill>
                  <a:srgbClr val="000000"/>
                </a:solidFill>
                <a:effectLst/>
                <a:uFillTx/>
                <a:latin typeface="Times New Roman"/>
              </a:defRPr>
            </a:lvl1pPr>
          </a:lstStyle>
          <a:p>
            <a:r>
              <a:rPr lang="de-CH" sz="1400" b="0" u="none" strike="noStrike" dirty="0">
                <a:solidFill>
                  <a:srgbClr val="8B8B8B"/>
                </a:solidFill>
                <a:effectLst/>
                <a:uFillTx/>
                <a:latin typeface="Calibri"/>
                <a:ea typeface="+mn-ea"/>
              </a:rPr>
              <a:t>ASPP LatAm, </a:t>
            </a:r>
            <a:r>
              <a:rPr lang="de-CH" sz="1400" b="0" u="none" strike="noStrike" dirty="0" err="1">
                <a:solidFill>
                  <a:srgbClr val="8B8B8B"/>
                </a:solidFill>
                <a:effectLst/>
                <a:uFillTx/>
                <a:latin typeface="Calibri"/>
                <a:ea typeface="+mn-ea"/>
              </a:rPr>
              <a:t>July</a:t>
            </a:r>
            <a:r>
              <a:rPr lang="de-CH" sz="1400" b="0" u="none" strike="noStrike" dirty="0">
                <a:solidFill>
                  <a:srgbClr val="8B8B8B"/>
                </a:solidFill>
                <a:effectLst/>
                <a:uFillTx/>
                <a:latin typeface="Calibri"/>
                <a:ea typeface="+mn-ea"/>
              </a:rPr>
              <a:t> 2026</a:t>
            </a:r>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laceHolder 2">
            <a:extLst>
              <a:ext uri="{FF2B5EF4-FFF2-40B4-BE49-F238E27FC236}">
                <a16:creationId xmlns:a16="http://schemas.microsoft.com/office/drawing/2014/main" id="{7996DFDB-ACD1-8811-ADA5-4BD4C65359F9}"/>
              </a:ext>
            </a:extLst>
          </p:cNvPr>
          <p:cNvSpPr>
            <a:spLocks noGrp="1"/>
          </p:cNvSpPr>
          <p:nvPr>
            <p:ph type="ftr" idx="3"/>
          </p:nvPr>
        </p:nvSpPr>
        <p:spPr>
          <a:xfrm>
            <a:off x="4038480" y="6356520"/>
            <a:ext cx="4111560" cy="361800"/>
          </a:xfrm>
          <a:prstGeom prst="rect">
            <a:avLst/>
          </a:prstGeom>
          <a:noFill/>
          <a:ln w="0">
            <a:noFill/>
          </a:ln>
        </p:spPr>
        <p:txBody>
          <a:bodyPr lIns="90000" tIns="45000" rIns="90000" bIns="45000" anchor="ctr">
            <a:noAutofit/>
          </a:bodyPr>
          <a:lstStyle>
            <a:lvl1pPr indent="0" algn="ctr">
              <a:lnSpc>
                <a:spcPct val="100000"/>
              </a:lnSpc>
              <a:buNone/>
              <a:tabLst>
                <a:tab pos="0" algn="l"/>
              </a:tabLst>
              <a:defRPr lang="en-US" sz="1200" b="0" u="none" strike="noStrike">
                <a:solidFill>
                  <a:srgbClr val="8B8B8B"/>
                </a:solidFill>
                <a:effectLst/>
                <a:uFillTx/>
                <a:latin typeface="Calibri"/>
                <a:ea typeface="DejaVu Sans"/>
              </a:defRPr>
            </a:lvl1pPr>
          </a:lstStyle>
          <a:p>
            <a:r>
              <a:rPr lang="en-US" dirty="0"/>
              <a:t>Tab, v3.0</a:t>
            </a:r>
          </a:p>
        </p:txBody>
      </p:sp>
      <p:sp>
        <p:nvSpPr>
          <p:cNvPr id="3" name="PlaceHolder 3">
            <a:extLst>
              <a:ext uri="{FF2B5EF4-FFF2-40B4-BE49-F238E27FC236}">
                <a16:creationId xmlns:a16="http://schemas.microsoft.com/office/drawing/2014/main" id="{6A7CA069-43BC-DF2E-04A8-C32C373929BE}"/>
              </a:ext>
            </a:extLst>
          </p:cNvPr>
          <p:cNvSpPr>
            <a:spLocks noGrp="1"/>
          </p:cNvSpPr>
          <p:nvPr>
            <p:ph type="sldNum" idx="4"/>
          </p:nvPr>
        </p:nvSpPr>
        <p:spPr>
          <a:xfrm>
            <a:off x="8610480" y="6356520"/>
            <a:ext cx="2739960" cy="361800"/>
          </a:xfrm>
          <a:prstGeom prst="rect">
            <a:avLst/>
          </a:prstGeom>
          <a:noFill/>
          <a:ln w="0">
            <a:noFill/>
          </a:ln>
        </p:spPr>
        <p:txBody>
          <a:bodyPr lIns="90000" tIns="45000" rIns="90000" bIns="45000" anchor="ctr">
            <a:noAutofit/>
          </a:bodyPr>
          <a:lstStyle>
            <a:lvl1pPr indent="0" algn="r">
              <a:lnSpc>
                <a:spcPct val="100000"/>
              </a:lnSpc>
              <a:buNone/>
              <a:tabLst>
                <a:tab pos="0" algn="l"/>
              </a:tabLst>
              <a:defRPr lang="en-US" sz="1200" b="0" u="none" strike="noStrike">
                <a:solidFill>
                  <a:srgbClr val="8B8B8B"/>
                </a:solidFill>
                <a:effectLst/>
                <a:uFillTx/>
                <a:latin typeface="Calibri"/>
                <a:ea typeface="DejaVu Sans"/>
              </a:defRPr>
            </a:lvl1pPr>
          </a:lstStyle>
          <a:p>
            <a:pPr indent="0" algn="r">
              <a:lnSpc>
                <a:spcPct val="100000"/>
              </a:lnSpc>
              <a:buNone/>
              <a:tabLst>
                <a:tab pos="0" algn="l"/>
              </a:tabLst>
            </a:pPr>
            <a:fld id="{D26C5790-D993-4051-82AE-D75E25E1987E}" type="slidenum">
              <a:rPr lang="en-US" sz="1200" b="0" u="none" strike="noStrike">
                <a:solidFill>
                  <a:srgbClr val="8B8B8B"/>
                </a:solidFill>
                <a:effectLst/>
                <a:uFillTx/>
                <a:latin typeface="Calibri"/>
                <a:ea typeface="DejaVu Sans"/>
              </a:rPr>
              <a:t>‹#›</a:t>
            </a:fld>
            <a:endParaRPr lang="en-GB" sz="1200" b="0" u="none" strike="noStrike" dirty="0">
              <a:solidFill>
                <a:srgbClr val="000000"/>
              </a:solidFill>
              <a:effectLst/>
              <a:uFillTx/>
              <a:latin typeface="Times New Roman"/>
            </a:endParaRPr>
          </a:p>
        </p:txBody>
      </p:sp>
      <p:sp>
        <p:nvSpPr>
          <p:cNvPr id="4" name="PlaceHolder 4">
            <a:extLst>
              <a:ext uri="{FF2B5EF4-FFF2-40B4-BE49-F238E27FC236}">
                <a16:creationId xmlns:a16="http://schemas.microsoft.com/office/drawing/2014/main" id="{5170C064-E795-E31F-D0C1-0A2D1373B621}"/>
              </a:ext>
            </a:extLst>
          </p:cNvPr>
          <p:cNvSpPr>
            <a:spLocks noGrp="1"/>
          </p:cNvSpPr>
          <p:nvPr>
            <p:ph type="dt" idx="2"/>
          </p:nvPr>
        </p:nvSpPr>
        <p:spPr>
          <a:xfrm>
            <a:off x="838080" y="6356520"/>
            <a:ext cx="2739960" cy="361800"/>
          </a:xfrm>
          <a:prstGeom prst="rect">
            <a:avLst/>
          </a:prstGeom>
          <a:noFill/>
          <a:ln w="0">
            <a:noFill/>
          </a:ln>
        </p:spPr>
        <p:txBody>
          <a:bodyPr lIns="90000" tIns="45000" rIns="90000" bIns="45000" anchor="ctr">
            <a:noAutofit/>
          </a:bodyPr>
          <a:lstStyle>
            <a:lvl1pPr indent="0">
              <a:lnSpc>
                <a:spcPct val="100000"/>
              </a:lnSpc>
              <a:buNone/>
              <a:tabLst>
                <a:tab pos="0" algn="l"/>
              </a:tabLst>
              <a:defRPr lang="en-GB" sz="1400" b="0" u="none" strike="noStrike">
                <a:solidFill>
                  <a:srgbClr val="000000"/>
                </a:solidFill>
                <a:effectLst/>
                <a:uFillTx/>
                <a:latin typeface="Times New Roman"/>
              </a:defRPr>
            </a:lvl1pPr>
          </a:lstStyle>
          <a:p>
            <a:r>
              <a:rPr lang="de-CH" sz="1400" b="0" u="none" strike="noStrike" dirty="0">
                <a:solidFill>
                  <a:srgbClr val="8B8B8B"/>
                </a:solidFill>
                <a:effectLst/>
                <a:uFillTx/>
                <a:latin typeface="Calibri"/>
                <a:ea typeface="+mn-ea"/>
              </a:rPr>
              <a:t>ASPP LatAm, </a:t>
            </a:r>
            <a:r>
              <a:rPr lang="de-CH" sz="1400" b="0" u="none" strike="noStrike" dirty="0" err="1">
                <a:solidFill>
                  <a:srgbClr val="8B8B8B"/>
                </a:solidFill>
                <a:effectLst/>
                <a:uFillTx/>
                <a:latin typeface="Calibri"/>
                <a:ea typeface="+mn-ea"/>
              </a:rPr>
              <a:t>July</a:t>
            </a:r>
            <a:r>
              <a:rPr lang="de-CH" sz="1400" b="0" u="none" strike="noStrike" dirty="0">
                <a:solidFill>
                  <a:srgbClr val="8B8B8B"/>
                </a:solidFill>
                <a:effectLst/>
                <a:uFillTx/>
                <a:latin typeface="Calibri"/>
                <a:ea typeface="+mn-ea"/>
              </a:rPr>
              <a:t> 2026</a:t>
            </a:r>
          </a:p>
        </p:txBody>
      </p:sp>
    </p:spTree>
  </p:cSld>
  <p:clrMap bg1="lt1" tx1="dk1" bg2="lt2" tx2="dk2" accent1="accent1" accent2="accent2" accent3="accent3" accent4="accent4" accent5="accent5" accent6="accent6" hlink="hlink" folHlink="folHlink"/>
  <p:sldLayoutIdLst>
    <p:sldLayoutId id="214748365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9.emf"/><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9.emf"/><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9.emf"/><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11.svg"/><Relationship Id="rId4" Type="http://schemas.openxmlformats.org/officeDocument/2006/relationships/image" Target="../media/image10.png"/></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9.emf"/><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5.svg"/></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8" Type="http://schemas.openxmlformats.org/officeDocument/2006/relationships/customXml" Target="../ink/ink3.xml"/><Relationship Id="rId13" Type="http://schemas.openxmlformats.org/officeDocument/2006/relationships/image" Target="../media/image22.png"/><Relationship Id="rId3" Type="http://schemas.openxmlformats.org/officeDocument/2006/relationships/image" Target="../media/image16.png"/><Relationship Id="rId7" Type="http://schemas.openxmlformats.org/officeDocument/2006/relationships/image" Target="../media/image19.png"/><Relationship Id="rId12" Type="http://schemas.openxmlformats.org/officeDocument/2006/relationships/customXml" Target="../ink/ink5.xml"/><Relationship Id="rId2" Type="http://schemas.openxmlformats.org/officeDocument/2006/relationships/image" Target="../media/image17.png"/><Relationship Id="rId1" Type="http://schemas.openxmlformats.org/officeDocument/2006/relationships/slideLayout" Target="../slideLayouts/slideLayout1.xml"/><Relationship Id="rId6" Type="http://schemas.openxmlformats.org/officeDocument/2006/relationships/customXml" Target="../ink/ink2.xml"/><Relationship Id="rId11" Type="http://schemas.openxmlformats.org/officeDocument/2006/relationships/image" Target="../media/image21.png"/><Relationship Id="rId5" Type="http://schemas.openxmlformats.org/officeDocument/2006/relationships/image" Target="../media/image18.png"/><Relationship Id="rId10" Type="http://schemas.openxmlformats.org/officeDocument/2006/relationships/customXml" Target="../ink/ink4.xml"/><Relationship Id="rId4" Type="http://schemas.openxmlformats.org/officeDocument/2006/relationships/customXml" Target="../ink/ink1.xml"/><Relationship Id="rId9" Type="http://schemas.openxmlformats.org/officeDocument/2006/relationships/image" Target="../media/image20.png"/></Relationships>
</file>

<file path=ppt/slides/_rels/slide23.xml.rels><?xml version="1.0" encoding="UTF-8" standalone="yes"?>
<Relationships xmlns="http://schemas.openxmlformats.org/package/2006/relationships"><Relationship Id="rId8" Type="http://schemas.openxmlformats.org/officeDocument/2006/relationships/customXml" Target="../ink/ink8.xml"/><Relationship Id="rId3" Type="http://schemas.openxmlformats.org/officeDocument/2006/relationships/image" Target="../media/image16.png"/><Relationship Id="rId7" Type="http://schemas.openxmlformats.org/officeDocument/2006/relationships/image" Target="../media/image19.png"/><Relationship Id="rId2" Type="http://schemas.openxmlformats.org/officeDocument/2006/relationships/image" Target="../media/image17.png"/><Relationship Id="rId1" Type="http://schemas.openxmlformats.org/officeDocument/2006/relationships/slideLayout" Target="../slideLayouts/slideLayout1.xml"/><Relationship Id="rId6" Type="http://schemas.openxmlformats.org/officeDocument/2006/relationships/customXml" Target="../ink/ink7.xml"/><Relationship Id="rId5" Type="http://schemas.openxmlformats.org/officeDocument/2006/relationships/image" Target="../media/image18.png"/><Relationship Id="rId10" Type="http://schemas.openxmlformats.org/officeDocument/2006/relationships/image" Target="../media/image18.svg"/><Relationship Id="rId4" Type="http://schemas.openxmlformats.org/officeDocument/2006/relationships/customXml" Target="../ink/ink6.xml"/><Relationship Id="rId9" Type="http://schemas.openxmlformats.org/officeDocument/2006/relationships/image" Target="../media/image2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1.xml"/><Relationship Id="rId5" Type="http://schemas.openxmlformats.org/officeDocument/2006/relationships/image" Target="../media/image26.png"/><Relationship Id="rId4" Type="http://schemas.openxmlformats.org/officeDocument/2006/relationships/image" Target="../media/image25.png"/></Relationships>
</file>

<file path=ppt/slides/_rels/slide2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1.xml"/><Relationship Id="rId5" Type="http://schemas.openxmlformats.org/officeDocument/2006/relationships/image" Target="../media/image26.png"/><Relationship Id="rId4" Type="http://schemas.openxmlformats.org/officeDocument/2006/relationships/image" Target="../media/image25.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comments" Target="../comments/comment1.xml"/></Relationships>
</file>

<file path=ppt/slides/_rels/slide3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comments" Target="../comments/comment2.xml"/></Relationships>
</file>

<file path=ppt/slides/_rels/slide3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comments" Target="../comments/comment3.xml"/></Relationships>
</file>

<file path=ppt/slides/_rels/slide33.xml.rels><?xml version="1.0" encoding="UTF-8" standalone="yes"?>
<Relationships xmlns="http://schemas.openxmlformats.org/package/2006/relationships"><Relationship Id="rId3" Type="http://schemas.openxmlformats.org/officeDocument/2006/relationships/comments" Target="../comments/comment4.xml"/><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30.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30.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30.png"/><Relationship Id="rId1" Type="http://schemas.openxmlformats.org/officeDocument/2006/relationships/slideLayout" Target="../slideLayouts/slideLayout1.xml"/><Relationship Id="rId4" Type="http://schemas.openxmlformats.org/officeDocument/2006/relationships/image" Target="../media/image31.png"/></Relationships>
</file>

<file path=ppt/slides/_rels/slide3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30.png"/><Relationship Id="rId1" Type="http://schemas.openxmlformats.org/officeDocument/2006/relationships/slideLayout" Target="../slideLayouts/slideLayout1.xml"/><Relationship Id="rId4" Type="http://schemas.openxmlformats.org/officeDocument/2006/relationships/image" Target="../media/image3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4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4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44.png"/><Relationship Id="rId1" Type="http://schemas.openxmlformats.org/officeDocument/2006/relationships/slideLayout" Target="../slideLayouts/slideLayout1.xml"/><Relationship Id="rId4" Type="http://schemas.openxmlformats.org/officeDocument/2006/relationships/image" Target="../media/image45.png"/></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46.png"/><Relationship Id="rId1" Type="http://schemas.openxmlformats.org/officeDocument/2006/relationships/slideLayout" Target="../slideLayouts/slideLayout1.xml"/><Relationship Id="rId4" Type="http://schemas.openxmlformats.org/officeDocument/2006/relationships/image" Target="../media/image47.png"/></Relationships>
</file>

<file path=ppt/slides/_rels/slide61.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comments" Target="../comments/comment5.xml"/></Relationships>
</file>

<file path=ppt/slides/_rels/slide6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jpeg"/><Relationship Id="rId1" Type="http://schemas.openxmlformats.org/officeDocument/2006/relationships/slideLayout" Target="../slideLayouts/slideLayout1.xml"/><Relationship Id="rId4" Type="http://schemas.openxmlformats.org/officeDocument/2006/relationships/image" Target="../media/image5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3" Type="http://schemas.openxmlformats.org/officeDocument/2006/relationships/hyperlink" Target="https://www.nejm.org/doi/full/10.1056/NEJMoa1800389" TargetMode="External"/><Relationship Id="rId2" Type="http://schemas.openxmlformats.org/officeDocument/2006/relationships/image" Target="../media/image54.jpeg"/><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hyperlink" Target="https://www.nejm.org/doi/full/10.1056/NEJMoa1800389" TargetMode="External"/><Relationship Id="rId1" Type="http://schemas.openxmlformats.org/officeDocument/2006/relationships/slideLayout" Target="../slideLayouts/slideLayout1.xml"/><Relationship Id="rId4" Type="http://schemas.openxmlformats.org/officeDocument/2006/relationships/image" Target="../media/image56.png"/></Relationships>
</file>

<file path=ppt/slides/_rels/slide6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1.xml"/><Relationship Id="rId5" Type="http://schemas.openxmlformats.org/officeDocument/2006/relationships/image" Target="../media/image26.png"/><Relationship Id="rId4" Type="http://schemas.openxmlformats.org/officeDocument/2006/relationships/image" Target="../media/image25.png"/></Relationships>
</file>

<file path=ppt/slides/_rels/slide72.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1.xml"/><Relationship Id="rId5" Type="http://schemas.openxmlformats.org/officeDocument/2006/relationships/image" Target="../media/image26.png"/><Relationship Id="rId4" Type="http://schemas.openxmlformats.org/officeDocument/2006/relationships/image" Target="../media/image25.png"/></Relationships>
</file>

<file path=ppt/slides/_rels/slide7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49.jpe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ceHolder 2"/>
          <p:cNvSpPr>
            <a:spLocks noGrp="1"/>
          </p:cNvSpPr>
          <p:nvPr>
            <p:ph type="ftr" idx="1"/>
          </p:nvPr>
        </p:nvSpPr>
        <p:spPr/>
        <p:txBody>
          <a:bodyPr/>
          <a:lstStyle/>
          <a:p>
            <a:r>
              <a:rPr lang="en-US" dirty="0"/>
              <a:t>Tab, v3.0</a:t>
            </a:r>
            <a:endParaRPr dirty="0"/>
          </a:p>
        </p:txBody>
      </p:sp>
      <p:sp>
        <p:nvSpPr>
          <p:cNvPr id="4" name="PlaceHolder 3"/>
          <p:cNvSpPr>
            <a:spLocks noGrp="1"/>
          </p:cNvSpPr>
          <p:nvPr>
            <p:ph type="sldNum" idx="2"/>
          </p:nvPr>
        </p:nvSpPr>
        <p:spPr/>
        <p:txBody>
          <a:bodyPr/>
          <a:lstStyle/>
          <a:p>
            <a:fld id="{2CBFA259-BABD-46FB-B7BE-7FC62B612749}" type="slidenum">
              <a:rPr/>
              <a:t>1</a:t>
            </a:fld>
            <a:endParaRPr dirty="0"/>
          </a:p>
        </p:txBody>
      </p:sp>
      <p:sp>
        <p:nvSpPr>
          <p:cNvPr id="221" name="PlaceHolder 1"/>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dirty="0">
                <a:solidFill>
                  <a:srgbClr val="8B8B8B"/>
                </a:solidFill>
                <a:effectLst/>
                <a:uFillTx/>
                <a:latin typeface="Calibri"/>
                <a:ea typeface="DejaVu Sans"/>
              </a:rPr>
              <a:t>ASPP LatAm, </a:t>
            </a:r>
            <a:r>
              <a:rPr lang="de-CH" sz="1200" b="0" u="none" strike="noStrike" dirty="0" err="1">
                <a:solidFill>
                  <a:srgbClr val="8B8B8B"/>
                </a:solidFill>
                <a:effectLst/>
                <a:uFillTx/>
                <a:latin typeface="Calibri"/>
                <a:ea typeface="DejaVu Sans"/>
              </a:rPr>
              <a:t>July</a:t>
            </a:r>
            <a:r>
              <a:rPr lang="de-CH" sz="1200" b="0" u="none" strike="noStrike" dirty="0">
                <a:solidFill>
                  <a:srgbClr val="8B8B8B"/>
                </a:solidFill>
                <a:effectLst/>
                <a:uFillTx/>
                <a:latin typeface="Calibri"/>
                <a:ea typeface="DejaVu Sans"/>
              </a:rPr>
              <a:t> 2026</a:t>
            </a:r>
          </a:p>
        </p:txBody>
      </p:sp>
      <p:pic>
        <p:nvPicPr>
          <p:cNvPr id="222" name="Picture 42" descr="Image"/>
          <p:cNvPicPr/>
          <p:nvPr/>
        </p:nvPicPr>
        <p:blipFill>
          <a:blip r:embed="rId3"/>
          <a:srcRect t="13533" b="10643"/>
          <a:stretch/>
        </p:blipFill>
        <p:spPr>
          <a:xfrm>
            <a:off x="1112400" y="2121120"/>
            <a:ext cx="9964080" cy="4232160"/>
          </a:xfrm>
          <a:prstGeom prst="rect">
            <a:avLst/>
          </a:prstGeom>
          <a:noFill/>
          <a:ln w="0">
            <a:noFill/>
          </a:ln>
        </p:spPr>
      </p:pic>
      <p:sp>
        <p:nvSpPr>
          <p:cNvPr id="223" name="Title 1"/>
          <p:cNvSpPr/>
          <p:nvPr/>
        </p:nvSpPr>
        <p:spPr>
          <a:xfrm>
            <a:off x="263520" y="360000"/>
            <a:ext cx="11928240" cy="1481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b">
            <a:noAutofit/>
          </a:bodyPr>
          <a:lstStyle/>
          <a:p>
            <a:pPr>
              <a:lnSpc>
                <a:spcPct val="90000"/>
              </a:lnSpc>
            </a:pPr>
            <a:r>
              <a:rPr lang="en-US" sz="8000" b="0" u="none" strike="noStrike" dirty="0">
                <a:solidFill>
                  <a:srgbClr val="000000"/>
                </a:solidFill>
                <a:effectLst/>
                <a:uFillTx/>
                <a:latin typeface="Calibri" panose="020F0502020204030204" pitchFamily="34" charset="0"/>
                <a:ea typeface="DejaVu Sans"/>
                <a:cs typeface="Calibri" panose="020F0502020204030204" pitchFamily="34" charset="0"/>
              </a:rPr>
              <a:t>Tabular data </a:t>
            </a:r>
            <a:endParaRPr lang="en-GB" sz="8000" b="0" u="none" strike="noStrike" dirty="0">
              <a:solidFill>
                <a:srgbClr val="000000"/>
              </a:solidFill>
              <a:effectLst/>
              <a:uFillTx/>
              <a:latin typeface="Calibri" panose="020F0502020204030204" pitchFamily="34" charset="0"/>
              <a:cs typeface="Calibri" panose="020F0502020204030204" pitchFamily="34" charset="0"/>
            </a:endParaRPr>
          </a:p>
          <a:p>
            <a:pPr>
              <a:lnSpc>
                <a:spcPct val="90000"/>
              </a:lnSpc>
            </a:pPr>
            <a:r>
              <a:rPr lang="en-US" sz="4200" b="0" u="none" strike="noStrike" dirty="0">
                <a:solidFill>
                  <a:srgbClr val="000000"/>
                </a:solidFill>
                <a:effectLst/>
                <a:uFillTx/>
                <a:latin typeface="Calibri" panose="020F0502020204030204" pitchFamily="34" charset="0"/>
                <a:ea typeface="DejaVu Sans"/>
                <a:cs typeface="Calibri" panose="020F0502020204030204" pitchFamily="34" charset="0"/>
              </a:rPr>
              <a:t>A particular type of data structure</a:t>
            </a:r>
            <a:endParaRPr lang="en-GB" sz="4200" b="0" u="none" strike="noStrike" dirty="0">
              <a:solidFill>
                <a:srgbClr val="000000"/>
              </a:solidFill>
              <a:effectLst/>
              <a:uFillTx/>
              <a:latin typeface="Calibri" panose="020F0502020204030204" pitchFamily="34" charset="0"/>
              <a:cs typeface="Calibri" panose="020F050202020403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6" name="PlaceHolder 1"/>
          <p:cNvSpPr>
            <a:spLocks noGrp="1"/>
          </p:cNvSpPr>
          <p:nvPr>
            <p:ph type="title"/>
          </p:nvPr>
        </p:nvSpPr>
        <p:spPr>
          <a:xfrm>
            <a:off x="608220" y="39600"/>
            <a:ext cx="10972080" cy="1144440"/>
          </a:xfrm>
          <a:prstGeom prst="rect">
            <a:avLst/>
          </a:prstGeom>
          <a:noFill/>
          <a:ln w="0">
            <a:noFill/>
          </a:ln>
        </p:spPr>
        <p:txBody>
          <a:bodyPr lIns="0" tIns="0" rIns="0" bIns="0" anchor="ctr">
            <a:norm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Spreadsheets and databases rule the world!</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248" name="TextBox 8"/>
          <p:cNvSpPr/>
          <p:nvPr/>
        </p:nvSpPr>
        <p:spPr>
          <a:xfrm>
            <a:off x="7248240" y="6250320"/>
            <a:ext cx="4559760" cy="423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100" b="0" u="none" strike="noStrike">
                <a:solidFill>
                  <a:srgbClr val="A6A6A6"/>
                </a:solidFill>
                <a:effectLst/>
                <a:uFillTx/>
                <a:latin typeface="Calibri"/>
                <a:ea typeface="DejaVu Sans"/>
              </a:rPr>
              <a:t>https://techcommunity.microsoft.com/t5/excel-blog/guinness-world-records-the-largest-collection-of-spreadsheet/ba-p/216592</a:t>
            </a:r>
            <a:endParaRPr lang="en-GB" sz="1100" b="0" u="none" strike="noStrike" dirty="0">
              <a:solidFill>
                <a:srgbClr val="000000"/>
              </a:solidFill>
              <a:effectLst/>
              <a:uFillTx/>
              <a:latin typeface="Arial"/>
            </a:endParaRPr>
          </a:p>
        </p:txBody>
      </p:sp>
      <p:grpSp>
        <p:nvGrpSpPr>
          <p:cNvPr id="249" name="Group 11"/>
          <p:cNvGrpSpPr/>
          <p:nvPr/>
        </p:nvGrpSpPr>
        <p:grpSpPr>
          <a:xfrm>
            <a:off x="2446200" y="1184040"/>
            <a:ext cx="7296120" cy="4979160"/>
            <a:chOff x="2446200" y="1184040"/>
            <a:chExt cx="7296120" cy="4979160"/>
          </a:xfrm>
        </p:grpSpPr>
        <p:pic>
          <p:nvPicPr>
            <p:cNvPr id="250" name="Picture 6"/>
            <p:cNvPicPr/>
            <p:nvPr/>
          </p:nvPicPr>
          <p:blipFill>
            <a:blip r:embed="rId2"/>
            <a:stretch/>
          </p:blipFill>
          <p:spPr>
            <a:xfrm>
              <a:off x="2452680" y="1184040"/>
              <a:ext cx="7093080" cy="4979160"/>
            </a:xfrm>
            <a:prstGeom prst="rect">
              <a:avLst/>
            </a:prstGeom>
            <a:noFill/>
            <a:ln w="0">
              <a:noFill/>
            </a:ln>
          </p:spPr>
        </p:pic>
        <p:sp>
          <p:nvSpPr>
            <p:cNvPr id="251" name="TextBox 7"/>
            <p:cNvSpPr/>
            <p:nvPr/>
          </p:nvSpPr>
          <p:spPr>
            <a:xfrm>
              <a:off x="2446200" y="5589000"/>
              <a:ext cx="7296120" cy="515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400" b="1" i="1" u="none" strike="noStrike">
                  <a:solidFill>
                    <a:srgbClr val="FFFFFF"/>
                  </a:solidFill>
                  <a:effectLst/>
                  <a:uFillTx/>
                  <a:latin typeface="Calibri"/>
                  <a:ea typeface="DejaVu Sans"/>
                </a:rPr>
                <a:t>Ariel </a:t>
              </a:r>
              <a:r>
                <a:rPr lang="en-US" sz="1400" b="1" i="1" u="none" strike="noStrike">
                  <a:solidFill>
                    <a:srgbClr val="FFFFFF"/>
                  </a:solidFill>
                  <a:effectLst/>
                  <a:uFillTx/>
                  <a:latin typeface="SegoeUI"/>
                  <a:ea typeface="DejaVu Sans"/>
                </a:rPr>
                <a:t>Fischman holds the Guinness World Record for owning the most spreadsheet software (over 500!)</a:t>
              </a:r>
              <a:endParaRPr lang="en-GB" sz="1400" b="0" u="none" strike="noStrike">
                <a:solidFill>
                  <a:srgbClr val="000000"/>
                </a:solidFill>
                <a:effectLst/>
                <a:uFillTx/>
                <a:latin typeface="Arial"/>
              </a:endParaRPr>
            </a:p>
          </p:txBody>
        </p:sp>
      </p:grpSp>
      <p:sp>
        <p:nvSpPr>
          <p:cNvPr id="3" name="PlaceHolder 1">
            <a:extLst>
              <a:ext uri="{FF2B5EF4-FFF2-40B4-BE49-F238E27FC236}">
                <a16:creationId xmlns:a16="http://schemas.microsoft.com/office/drawing/2014/main" id="{B2E12346-22C4-6790-B2DE-19A85E02B721}"/>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6" name="PlaceHolder 2">
            <a:extLst>
              <a:ext uri="{FF2B5EF4-FFF2-40B4-BE49-F238E27FC236}">
                <a16:creationId xmlns:a16="http://schemas.microsoft.com/office/drawing/2014/main" id="{3894F057-2F0A-9E9B-F83D-393572512D74}"/>
              </a:ext>
            </a:extLst>
          </p:cNvPr>
          <p:cNvSpPr>
            <a:spLocks noGrp="1"/>
          </p:cNvSpPr>
          <p:nvPr>
            <p:ph type="ftr" idx="1"/>
          </p:nvPr>
        </p:nvSpPr>
        <p:spPr>
          <a:xfrm>
            <a:off x="4038480" y="6356520"/>
            <a:ext cx="4111560" cy="361800"/>
          </a:xfrm>
        </p:spPr>
        <p:txBody>
          <a:bodyPr/>
          <a:lstStyle/>
          <a:p>
            <a:r>
              <a:rPr lang="en-US" dirty="0"/>
              <a:t>Tab, v3.0</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26" name="Table 6"/>
          <p:cNvGraphicFramePr/>
          <p:nvPr>
            <p:extLst>
              <p:ext uri="{D42A27DB-BD31-4B8C-83A1-F6EECF244321}">
                <p14:modId xmlns:p14="http://schemas.microsoft.com/office/powerpoint/2010/main" val="2982385278"/>
              </p:ext>
            </p:extLst>
          </p:nvPr>
        </p:nvGraphicFramePr>
        <p:xfrm>
          <a:off x="1841400" y="2421000"/>
          <a:ext cx="8528400" cy="1478160"/>
        </p:xfrm>
        <a:graphic>
          <a:graphicData uri="http://schemas.openxmlformats.org/drawingml/2006/table">
            <a:tbl>
              <a:tblPr/>
              <a:tblGrid>
                <a:gridCol w="1705680">
                  <a:extLst>
                    <a:ext uri="{9D8B030D-6E8A-4147-A177-3AD203B41FA5}">
                      <a16:colId xmlns:a16="http://schemas.microsoft.com/office/drawing/2014/main" val="20000"/>
                    </a:ext>
                  </a:extLst>
                </a:gridCol>
                <a:gridCol w="1705680">
                  <a:extLst>
                    <a:ext uri="{9D8B030D-6E8A-4147-A177-3AD203B41FA5}">
                      <a16:colId xmlns:a16="http://schemas.microsoft.com/office/drawing/2014/main" val="20001"/>
                    </a:ext>
                  </a:extLst>
                </a:gridCol>
                <a:gridCol w="1705680">
                  <a:extLst>
                    <a:ext uri="{9D8B030D-6E8A-4147-A177-3AD203B41FA5}">
                      <a16:colId xmlns:a16="http://schemas.microsoft.com/office/drawing/2014/main" val="20002"/>
                    </a:ext>
                  </a:extLst>
                </a:gridCol>
                <a:gridCol w="1705680">
                  <a:extLst>
                    <a:ext uri="{9D8B030D-6E8A-4147-A177-3AD203B41FA5}">
                      <a16:colId xmlns:a16="http://schemas.microsoft.com/office/drawing/2014/main" val="20003"/>
                    </a:ext>
                  </a:extLst>
                </a:gridCol>
                <a:gridCol w="1705680">
                  <a:extLst>
                    <a:ext uri="{9D8B030D-6E8A-4147-A177-3AD203B41FA5}">
                      <a16:colId xmlns:a16="http://schemas.microsoft.com/office/drawing/2014/main" val="20004"/>
                    </a:ext>
                  </a:extLst>
                </a:gridCol>
              </a:tblGrid>
              <a:tr h="124920">
                <a:tc>
                  <a:txBody>
                    <a:bodyPr/>
                    <a:lstStyle/>
                    <a:p>
                      <a:pPr>
                        <a:lnSpc>
                          <a:spcPct val="100000"/>
                        </a:lnSpc>
                      </a:pPr>
                      <a:r>
                        <a:rPr lang="en-CH" sz="1800" b="1" u="none" strike="noStrike">
                          <a:solidFill>
                            <a:schemeClr val="lt1"/>
                          </a:solidFill>
                          <a:effectLst/>
                          <a:uFillTx/>
                          <a:latin typeface="Calibri"/>
                          <a:ea typeface="DejaVu Sans"/>
                        </a:rPr>
                        <a:t>Date (index)</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Wind speed</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Wind direction</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Rain fall (mm)</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Hours of sun</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extLst>
                  <a:ext uri="{0D108BD9-81ED-4DB2-BD59-A6C34878D82A}">
                    <a16:rowId xmlns:a16="http://schemas.microsoft.com/office/drawing/2014/main" val="10000"/>
                  </a:ext>
                </a:extLst>
              </a:tr>
              <a:tr h="370800">
                <a:tc>
                  <a:txBody>
                    <a:bodyPr/>
                    <a:lstStyle/>
                    <a:p>
                      <a:pPr>
                        <a:lnSpc>
                          <a:spcPct val="100000"/>
                        </a:lnSpc>
                      </a:pPr>
                      <a:r>
                        <a:rPr lang="en-CH" sz="1800" b="0" u="none" strike="noStrike">
                          <a:solidFill>
                            <a:schemeClr val="dk1"/>
                          </a:solidFill>
                          <a:effectLst/>
                          <a:uFillTx/>
                          <a:latin typeface="Calibri"/>
                          <a:ea typeface="DejaVu Sans"/>
                        </a:rPr>
                        <a:t>7.3.2024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7.1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N</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0.0</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10</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extLst>
                  <a:ext uri="{0D108BD9-81ED-4DB2-BD59-A6C34878D82A}">
                    <a16:rowId xmlns:a16="http://schemas.microsoft.com/office/drawing/2014/main" val="10001"/>
                  </a:ext>
                </a:extLst>
              </a:tr>
              <a:tr h="370800">
                <a:tc>
                  <a:txBody>
                    <a:bodyPr/>
                    <a:lstStyle/>
                    <a:p>
                      <a:pPr>
                        <a:lnSpc>
                          <a:spcPct val="100000"/>
                        </a:lnSpc>
                        <a:tabLst>
                          <a:tab pos="0" algn="l"/>
                        </a:tabLst>
                      </a:pPr>
                      <a:r>
                        <a:rPr lang="en-CH" sz="1800" b="0" u="none" strike="noStrike">
                          <a:solidFill>
                            <a:schemeClr val="dk1"/>
                          </a:solidFill>
                          <a:effectLst/>
                          <a:uFillTx/>
                          <a:latin typeface="Calibri"/>
                          <a:ea typeface="DejaVu Sans"/>
                        </a:rPr>
                        <a:t>8.3.2024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0.3</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NW</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2.1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2</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extLst>
                  <a:ext uri="{0D108BD9-81ED-4DB2-BD59-A6C34878D82A}">
                    <a16:rowId xmlns:a16="http://schemas.microsoft.com/office/drawing/2014/main" val="10002"/>
                  </a:ext>
                </a:extLst>
              </a:tr>
              <a:tr h="370800">
                <a:tc>
                  <a:txBody>
                    <a:bodyPr/>
                    <a:lstStyle/>
                    <a:p>
                      <a:pPr>
                        <a:lnSpc>
                          <a:spcPct val="100000"/>
                        </a:lnSpc>
                      </a:pPr>
                      <a:r>
                        <a:rPr lang="en-CH" sz="1800" b="0" u="none" strike="noStrike">
                          <a:solidFill>
                            <a:schemeClr val="dk1"/>
                          </a:solidFill>
                          <a:effectLst/>
                          <a:uFillTx/>
                          <a:latin typeface="Calibri"/>
                          <a:ea typeface="DejaVu Sans"/>
                        </a:rPr>
                        <a:t>9.3.2024</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1.1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SE</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0.3</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5</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extLst>
                  <a:ext uri="{0D108BD9-81ED-4DB2-BD59-A6C34878D82A}">
                    <a16:rowId xmlns:a16="http://schemas.microsoft.com/office/drawing/2014/main" val="10003"/>
                  </a:ext>
                </a:extLst>
              </a:tr>
            </a:tbl>
          </a:graphicData>
        </a:graphic>
      </p:graphicFrame>
      <p:sp>
        <p:nvSpPr>
          <p:cNvPr id="224" name="PlaceHolder 1"/>
          <p:cNvSpPr>
            <a:spLocks noGrp="1"/>
          </p:cNvSpPr>
          <p:nvPr>
            <p:ph type="title"/>
          </p:nvPr>
        </p:nvSpPr>
        <p:spPr>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What is tabular data?</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5" name="PlaceHolder 4"/>
          <p:cNvSpPr>
            <a:spLocks noGrp="1"/>
          </p:cNvSpPr>
          <p:nvPr>
            <p:ph type="sldNum" idx="2"/>
          </p:nvPr>
        </p:nvSpPr>
        <p:spPr/>
        <p:txBody>
          <a:bodyPr/>
          <a:lstStyle/>
          <a:p>
            <a:fld id="{A1E596C4-6989-4025-9F10-DAD178BCAE86}" type="slidenum">
              <a:rPr>
                <a:latin typeface="Calibri" panose="020F0502020204030204" pitchFamily="34" charset="0"/>
                <a:cs typeface="Calibri" panose="020F0502020204030204" pitchFamily="34" charset="0"/>
              </a:rPr>
              <a:t>3</a:t>
            </a:fld>
            <a:endParaRPr>
              <a:latin typeface="Calibri" panose="020F0502020204030204" pitchFamily="34" charset="0"/>
              <a:cs typeface="Calibri" panose="020F0502020204030204" pitchFamily="34" charset="0"/>
            </a:endParaRPr>
          </a:p>
        </p:txBody>
      </p:sp>
      <p:sp>
        <p:nvSpPr>
          <p:cNvPr id="228" name="TextBox 7"/>
          <p:cNvSpPr/>
          <p:nvPr/>
        </p:nvSpPr>
        <p:spPr>
          <a:xfrm>
            <a:off x="6672820" y="762120"/>
            <a:ext cx="3741120" cy="1014209"/>
          </a:xfrm>
          <a:prstGeom prst="rect">
            <a:avLst/>
          </a:prstGeom>
          <a:solidFill>
            <a:schemeClr val="accent6">
              <a:lumMod val="20000"/>
              <a:lumOff val="80000"/>
            </a:schemeClr>
          </a:solid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CH" sz="2000" b="0" u="none" strike="noStrike">
                <a:solidFill>
                  <a:srgbClr val="000000"/>
                </a:solidFill>
                <a:effectLst/>
                <a:uFillTx/>
                <a:latin typeface="Calibri" panose="020F0502020204030204" pitchFamily="34" charset="0"/>
                <a:ea typeface="DejaVu Sans"/>
                <a:cs typeface="Calibri" panose="020F0502020204030204" pitchFamily="34" charset="0"/>
              </a:rPr>
              <a:t>Unlike arrays, each column can represent another type of value, with different data types</a:t>
            </a:r>
            <a:endParaRPr lang="en-GB" sz="2000" b="0" u="none" strike="noStrike" dirty="0">
              <a:solidFill>
                <a:srgbClr val="000000"/>
              </a:solidFill>
              <a:effectLst/>
              <a:uFillTx/>
              <a:latin typeface="Calibri" panose="020F0502020204030204" pitchFamily="34" charset="0"/>
              <a:cs typeface="Calibri" panose="020F0502020204030204" pitchFamily="34" charset="0"/>
            </a:endParaRPr>
          </a:p>
        </p:txBody>
      </p:sp>
      <p:cxnSp>
        <p:nvCxnSpPr>
          <p:cNvPr id="229" name="Straight Arrow Connector 10"/>
          <p:cNvCxnSpPr>
            <a:cxnSpLocks/>
          </p:cNvCxnSpPr>
          <p:nvPr/>
        </p:nvCxnSpPr>
        <p:spPr>
          <a:xfrm flipH="1">
            <a:off x="4515729" y="1729409"/>
            <a:ext cx="2157091" cy="691591"/>
          </a:xfrm>
          <a:prstGeom prst="straightConnector1">
            <a:avLst/>
          </a:prstGeom>
          <a:ln w="38100">
            <a:solidFill>
              <a:srgbClr val="000000"/>
            </a:solidFill>
            <a:round/>
            <a:tailEnd type="triangle" w="med" len="med"/>
          </a:ln>
        </p:spPr>
      </p:cxnSp>
      <p:cxnSp>
        <p:nvCxnSpPr>
          <p:cNvPr id="230" name="Straight Arrow Connector 12"/>
          <p:cNvCxnSpPr>
            <a:cxnSpLocks/>
            <a:endCxn id="226" idx="0"/>
          </p:cNvCxnSpPr>
          <p:nvPr/>
        </p:nvCxnSpPr>
        <p:spPr>
          <a:xfrm flipH="1">
            <a:off x="6105600" y="1776329"/>
            <a:ext cx="1354975" cy="644671"/>
          </a:xfrm>
          <a:prstGeom prst="straightConnector1">
            <a:avLst/>
          </a:prstGeom>
          <a:ln w="38100">
            <a:solidFill>
              <a:srgbClr val="000000"/>
            </a:solidFill>
            <a:round/>
            <a:tailEnd type="triangle" w="med" len="med"/>
          </a:ln>
        </p:spPr>
      </p:cxnSp>
      <p:cxnSp>
        <p:nvCxnSpPr>
          <p:cNvPr id="231" name="Straight Arrow Connector 14"/>
          <p:cNvCxnSpPr>
            <a:cxnSpLocks/>
            <a:stCxn id="228" idx="2"/>
          </p:cNvCxnSpPr>
          <p:nvPr/>
        </p:nvCxnSpPr>
        <p:spPr>
          <a:xfrm flipH="1">
            <a:off x="7807569" y="1776329"/>
            <a:ext cx="735811" cy="644671"/>
          </a:xfrm>
          <a:prstGeom prst="straightConnector1">
            <a:avLst/>
          </a:prstGeom>
          <a:ln w="38100">
            <a:solidFill>
              <a:srgbClr val="000000"/>
            </a:solidFill>
            <a:round/>
            <a:tailEnd type="triangle" w="med" len="med"/>
          </a:ln>
        </p:spPr>
      </p:cxnSp>
      <p:cxnSp>
        <p:nvCxnSpPr>
          <p:cNvPr id="232" name="Straight Arrow Connector 16"/>
          <p:cNvCxnSpPr>
            <a:cxnSpLocks/>
          </p:cNvCxnSpPr>
          <p:nvPr/>
        </p:nvCxnSpPr>
        <p:spPr>
          <a:xfrm>
            <a:off x="9650437" y="1729409"/>
            <a:ext cx="0" cy="691591"/>
          </a:xfrm>
          <a:prstGeom prst="straightConnector1">
            <a:avLst/>
          </a:prstGeom>
          <a:ln w="38100">
            <a:solidFill>
              <a:srgbClr val="000000"/>
            </a:solidFill>
            <a:round/>
            <a:tailEnd type="triangle" w="med" len="med"/>
          </a:ln>
        </p:spPr>
      </p:cxnSp>
      <p:cxnSp>
        <p:nvCxnSpPr>
          <p:cNvPr id="233" name="Straight Arrow Connector 18"/>
          <p:cNvCxnSpPr>
            <a:cxnSpLocks/>
          </p:cNvCxnSpPr>
          <p:nvPr/>
        </p:nvCxnSpPr>
        <p:spPr>
          <a:xfrm flipH="1">
            <a:off x="2729132" y="1252330"/>
            <a:ext cx="3949965" cy="1168670"/>
          </a:xfrm>
          <a:prstGeom prst="straightConnector1">
            <a:avLst/>
          </a:prstGeom>
          <a:ln w="38100">
            <a:solidFill>
              <a:srgbClr val="000000"/>
            </a:solidFill>
            <a:round/>
            <a:tailEnd type="triangle" w="med" len="med"/>
          </a:ln>
        </p:spPr>
      </p:cxnSp>
      <p:sp>
        <p:nvSpPr>
          <p:cNvPr id="6" name="PlaceHolder 1">
            <a:extLst>
              <a:ext uri="{FF2B5EF4-FFF2-40B4-BE49-F238E27FC236}">
                <a16:creationId xmlns:a16="http://schemas.microsoft.com/office/drawing/2014/main" id="{487CFEC6-DDBB-2309-7F17-DC291940FDF2}"/>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7" name="PlaceHolder 2">
            <a:extLst>
              <a:ext uri="{FF2B5EF4-FFF2-40B4-BE49-F238E27FC236}">
                <a16:creationId xmlns:a16="http://schemas.microsoft.com/office/drawing/2014/main" id="{80F1CE3C-ED07-D900-6756-06758976EE33}"/>
              </a:ext>
            </a:extLst>
          </p:cNvPr>
          <p:cNvSpPr>
            <a:spLocks noGrp="1"/>
          </p:cNvSpPr>
          <p:nvPr>
            <p:ph type="ftr" idx="1"/>
          </p:nvPr>
        </p:nvSpPr>
        <p:spPr>
          <a:xfrm>
            <a:off x="4038480" y="6356520"/>
            <a:ext cx="4111560" cy="361800"/>
          </a:xfrm>
        </p:spPr>
        <p:txBody>
          <a:bodyPr/>
          <a:lstStyle/>
          <a:p>
            <a:r>
              <a:rPr lang="en-US" dirty="0"/>
              <a:t>Tab, v3.0</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36" name="Table 6"/>
          <p:cNvGraphicFramePr/>
          <p:nvPr/>
        </p:nvGraphicFramePr>
        <p:xfrm>
          <a:off x="1841400" y="2421000"/>
          <a:ext cx="8528400" cy="1478160"/>
        </p:xfrm>
        <a:graphic>
          <a:graphicData uri="http://schemas.openxmlformats.org/drawingml/2006/table">
            <a:tbl>
              <a:tblPr/>
              <a:tblGrid>
                <a:gridCol w="1705680">
                  <a:extLst>
                    <a:ext uri="{9D8B030D-6E8A-4147-A177-3AD203B41FA5}">
                      <a16:colId xmlns:a16="http://schemas.microsoft.com/office/drawing/2014/main" val="20000"/>
                    </a:ext>
                  </a:extLst>
                </a:gridCol>
                <a:gridCol w="1705680">
                  <a:extLst>
                    <a:ext uri="{9D8B030D-6E8A-4147-A177-3AD203B41FA5}">
                      <a16:colId xmlns:a16="http://schemas.microsoft.com/office/drawing/2014/main" val="20001"/>
                    </a:ext>
                  </a:extLst>
                </a:gridCol>
                <a:gridCol w="1705680">
                  <a:extLst>
                    <a:ext uri="{9D8B030D-6E8A-4147-A177-3AD203B41FA5}">
                      <a16:colId xmlns:a16="http://schemas.microsoft.com/office/drawing/2014/main" val="20002"/>
                    </a:ext>
                  </a:extLst>
                </a:gridCol>
                <a:gridCol w="1705680">
                  <a:extLst>
                    <a:ext uri="{9D8B030D-6E8A-4147-A177-3AD203B41FA5}">
                      <a16:colId xmlns:a16="http://schemas.microsoft.com/office/drawing/2014/main" val="20003"/>
                    </a:ext>
                  </a:extLst>
                </a:gridCol>
                <a:gridCol w="1705680">
                  <a:extLst>
                    <a:ext uri="{9D8B030D-6E8A-4147-A177-3AD203B41FA5}">
                      <a16:colId xmlns:a16="http://schemas.microsoft.com/office/drawing/2014/main" val="20004"/>
                    </a:ext>
                  </a:extLst>
                </a:gridCol>
              </a:tblGrid>
              <a:tr h="124920">
                <a:tc>
                  <a:txBody>
                    <a:bodyPr/>
                    <a:lstStyle/>
                    <a:p>
                      <a:pPr>
                        <a:lnSpc>
                          <a:spcPct val="100000"/>
                        </a:lnSpc>
                      </a:pPr>
                      <a:r>
                        <a:rPr lang="en-CH" sz="1800" b="1" u="none" strike="noStrike">
                          <a:solidFill>
                            <a:schemeClr val="lt1"/>
                          </a:solidFill>
                          <a:effectLst/>
                          <a:uFillTx/>
                          <a:latin typeface="Calibri"/>
                          <a:ea typeface="DejaVu Sans"/>
                        </a:rPr>
                        <a:t>Date (index)</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4"/>
                    </a:solidFill>
                  </a:tcPr>
                </a:tc>
                <a:tc>
                  <a:txBody>
                    <a:bodyPr/>
                    <a:lstStyle/>
                    <a:p>
                      <a:pPr>
                        <a:lnSpc>
                          <a:spcPct val="100000"/>
                        </a:lnSpc>
                      </a:pPr>
                      <a:r>
                        <a:rPr lang="en-CH" sz="1800" b="1" u="none" strike="noStrike">
                          <a:solidFill>
                            <a:schemeClr val="lt1"/>
                          </a:solidFill>
                          <a:effectLst/>
                          <a:uFillTx/>
                          <a:latin typeface="Calibri"/>
                          <a:ea typeface="DejaVu Sans"/>
                        </a:rPr>
                        <a:t>Wind speed</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4"/>
                    </a:solidFill>
                  </a:tcPr>
                </a:tc>
                <a:tc>
                  <a:txBody>
                    <a:bodyPr/>
                    <a:lstStyle/>
                    <a:p>
                      <a:pPr>
                        <a:lnSpc>
                          <a:spcPct val="100000"/>
                        </a:lnSpc>
                      </a:pPr>
                      <a:r>
                        <a:rPr lang="en-CH" sz="1800" b="1" u="none" strike="noStrike">
                          <a:solidFill>
                            <a:schemeClr val="lt1"/>
                          </a:solidFill>
                          <a:effectLst/>
                          <a:uFillTx/>
                          <a:latin typeface="Calibri"/>
                          <a:ea typeface="DejaVu Sans"/>
                        </a:rPr>
                        <a:t>Wind direction</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4"/>
                    </a:solidFill>
                  </a:tcPr>
                </a:tc>
                <a:tc>
                  <a:txBody>
                    <a:bodyPr/>
                    <a:lstStyle/>
                    <a:p>
                      <a:pPr>
                        <a:lnSpc>
                          <a:spcPct val="100000"/>
                        </a:lnSpc>
                      </a:pPr>
                      <a:r>
                        <a:rPr lang="en-CH" sz="1800" b="1" u="none" strike="noStrike">
                          <a:solidFill>
                            <a:schemeClr val="lt1"/>
                          </a:solidFill>
                          <a:effectLst/>
                          <a:uFillTx/>
                          <a:latin typeface="Calibri"/>
                          <a:ea typeface="DejaVu Sans"/>
                        </a:rPr>
                        <a:t>Rain fall (mm)</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4"/>
                    </a:solidFill>
                  </a:tcPr>
                </a:tc>
                <a:tc>
                  <a:txBody>
                    <a:bodyPr/>
                    <a:lstStyle/>
                    <a:p>
                      <a:pPr>
                        <a:lnSpc>
                          <a:spcPct val="100000"/>
                        </a:lnSpc>
                      </a:pPr>
                      <a:r>
                        <a:rPr lang="en-CH" sz="1800" b="1" u="none" strike="noStrike">
                          <a:solidFill>
                            <a:schemeClr val="lt1"/>
                          </a:solidFill>
                          <a:effectLst/>
                          <a:uFillTx/>
                          <a:latin typeface="Calibri"/>
                          <a:ea typeface="DejaVu Sans"/>
                        </a:rPr>
                        <a:t>Hours of sun</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4"/>
                    </a:solidFill>
                  </a:tcPr>
                </a:tc>
                <a:extLst>
                  <a:ext uri="{0D108BD9-81ED-4DB2-BD59-A6C34878D82A}">
                    <a16:rowId xmlns:a16="http://schemas.microsoft.com/office/drawing/2014/main" val="10000"/>
                  </a:ext>
                </a:extLst>
              </a:tr>
              <a:tr h="370800">
                <a:tc>
                  <a:txBody>
                    <a:bodyPr/>
                    <a:lstStyle/>
                    <a:p>
                      <a:pPr>
                        <a:lnSpc>
                          <a:spcPct val="100000"/>
                        </a:lnSpc>
                      </a:pPr>
                      <a:r>
                        <a:rPr lang="en-CH" sz="1800" b="0" u="none" strike="noStrike">
                          <a:solidFill>
                            <a:schemeClr val="dk1"/>
                          </a:solidFill>
                          <a:effectLst/>
                          <a:uFillTx/>
                          <a:latin typeface="Calibri"/>
                          <a:ea typeface="DejaVu Sans"/>
                        </a:rPr>
                        <a:t>7.3.2024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4"/>
                    </a:solidFill>
                  </a:tcPr>
                </a:tc>
                <a:tc>
                  <a:txBody>
                    <a:bodyPr/>
                    <a:lstStyle/>
                    <a:p>
                      <a:pPr>
                        <a:lnSpc>
                          <a:spcPct val="100000"/>
                        </a:lnSpc>
                      </a:pPr>
                      <a:r>
                        <a:rPr lang="en-CH" sz="1800" b="0" u="none" strike="noStrike">
                          <a:solidFill>
                            <a:schemeClr val="dk1"/>
                          </a:solidFill>
                          <a:effectLst/>
                          <a:uFillTx/>
                          <a:latin typeface="Calibri"/>
                          <a:ea typeface="DejaVu Sans"/>
                        </a:rPr>
                        <a:t>7.1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N</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0.0</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10</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extLst>
                  <a:ext uri="{0D108BD9-81ED-4DB2-BD59-A6C34878D82A}">
                    <a16:rowId xmlns:a16="http://schemas.microsoft.com/office/drawing/2014/main" val="10001"/>
                  </a:ext>
                </a:extLst>
              </a:tr>
              <a:tr h="370800">
                <a:tc>
                  <a:txBody>
                    <a:bodyPr/>
                    <a:lstStyle/>
                    <a:p>
                      <a:pPr>
                        <a:lnSpc>
                          <a:spcPct val="100000"/>
                        </a:lnSpc>
                        <a:tabLst>
                          <a:tab pos="0" algn="l"/>
                        </a:tabLst>
                      </a:pPr>
                      <a:r>
                        <a:rPr lang="en-CH" sz="1800" b="0" u="none" strike="noStrike">
                          <a:solidFill>
                            <a:schemeClr val="dk1"/>
                          </a:solidFill>
                          <a:effectLst/>
                          <a:uFillTx/>
                          <a:latin typeface="Calibri"/>
                          <a:ea typeface="DejaVu Sans"/>
                        </a:rPr>
                        <a:t>8.3.2024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4"/>
                    </a:solidFill>
                  </a:tcPr>
                </a:tc>
                <a:tc>
                  <a:txBody>
                    <a:bodyPr/>
                    <a:lstStyle/>
                    <a:p>
                      <a:pPr>
                        <a:lnSpc>
                          <a:spcPct val="100000"/>
                        </a:lnSpc>
                      </a:pPr>
                      <a:r>
                        <a:rPr lang="en-CH" sz="1800" b="0" u="none" strike="noStrike">
                          <a:solidFill>
                            <a:schemeClr val="dk1"/>
                          </a:solidFill>
                          <a:effectLst/>
                          <a:uFillTx/>
                          <a:latin typeface="Calibri"/>
                          <a:ea typeface="DejaVu Sans"/>
                        </a:rPr>
                        <a:t>0.3</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NW</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2.1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2</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extLst>
                  <a:ext uri="{0D108BD9-81ED-4DB2-BD59-A6C34878D82A}">
                    <a16:rowId xmlns:a16="http://schemas.microsoft.com/office/drawing/2014/main" val="10002"/>
                  </a:ext>
                </a:extLst>
              </a:tr>
              <a:tr h="370800">
                <a:tc>
                  <a:txBody>
                    <a:bodyPr/>
                    <a:lstStyle/>
                    <a:p>
                      <a:pPr>
                        <a:lnSpc>
                          <a:spcPct val="100000"/>
                        </a:lnSpc>
                      </a:pPr>
                      <a:r>
                        <a:rPr lang="en-CH" sz="1800" b="0" u="none" strike="noStrike">
                          <a:solidFill>
                            <a:schemeClr val="dk1"/>
                          </a:solidFill>
                          <a:effectLst/>
                          <a:uFillTx/>
                          <a:latin typeface="Calibri"/>
                          <a:ea typeface="DejaVu Sans"/>
                        </a:rPr>
                        <a:t>9.3.2024</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4"/>
                    </a:solidFill>
                  </a:tcPr>
                </a:tc>
                <a:tc>
                  <a:txBody>
                    <a:bodyPr/>
                    <a:lstStyle/>
                    <a:p>
                      <a:pPr>
                        <a:lnSpc>
                          <a:spcPct val="100000"/>
                        </a:lnSpc>
                      </a:pPr>
                      <a:r>
                        <a:rPr lang="en-CH" sz="1800" b="0" u="none" strike="noStrike">
                          <a:solidFill>
                            <a:schemeClr val="dk1"/>
                          </a:solidFill>
                          <a:effectLst/>
                          <a:uFillTx/>
                          <a:latin typeface="Calibri"/>
                          <a:ea typeface="DejaVu Sans"/>
                        </a:rPr>
                        <a:t>1.1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SE</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0.3</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5</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extLst>
                  <a:ext uri="{0D108BD9-81ED-4DB2-BD59-A6C34878D82A}">
                    <a16:rowId xmlns:a16="http://schemas.microsoft.com/office/drawing/2014/main" val="10003"/>
                  </a:ext>
                </a:extLst>
              </a:tr>
            </a:tbl>
          </a:graphicData>
        </a:graphic>
      </p:graphicFrame>
      <p:sp>
        <p:nvSpPr>
          <p:cNvPr id="234" name="PlaceHolder 1"/>
          <p:cNvSpPr>
            <a:spLocks noGrp="1"/>
          </p:cNvSpPr>
          <p:nvPr>
            <p:ph type="title"/>
          </p:nvPr>
        </p:nvSpPr>
        <p:spPr>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What is tabular data?</a:t>
            </a:r>
            <a:endParaRPr lang="en-GB" sz="4400" b="0" u="none" strike="noStrike">
              <a:solidFill>
                <a:srgbClr val="000000"/>
              </a:solidFill>
              <a:effectLst/>
              <a:uFillTx/>
              <a:latin typeface="Calibri" panose="020F0502020204030204" pitchFamily="34" charset="0"/>
              <a:cs typeface="Calibri" panose="020F0502020204030204" pitchFamily="34" charset="0"/>
            </a:endParaRPr>
          </a:p>
        </p:txBody>
      </p:sp>
      <p:sp>
        <p:nvSpPr>
          <p:cNvPr id="5" name="PlaceHolder 4"/>
          <p:cNvSpPr>
            <a:spLocks noGrp="1"/>
          </p:cNvSpPr>
          <p:nvPr>
            <p:ph type="sldNum" idx="2"/>
          </p:nvPr>
        </p:nvSpPr>
        <p:spPr/>
        <p:txBody>
          <a:bodyPr/>
          <a:lstStyle/>
          <a:p>
            <a:fld id="{C0168CDE-C942-49D8-8ACA-81A3AEF67E64}" type="slidenum">
              <a:rPr>
                <a:latin typeface="Calibri" panose="020F0502020204030204" pitchFamily="34" charset="0"/>
                <a:cs typeface="Calibri" panose="020F0502020204030204" pitchFamily="34" charset="0"/>
              </a:rPr>
              <a:t>4</a:t>
            </a:fld>
            <a:endParaRPr>
              <a:latin typeface="Calibri" panose="020F0502020204030204" pitchFamily="34" charset="0"/>
              <a:cs typeface="Calibri" panose="020F0502020204030204" pitchFamily="34" charset="0"/>
            </a:endParaRPr>
          </a:p>
        </p:txBody>
      </p:sp>
      <p:sp>
        <p:nvSpPr>
          <p:cNvPr id="238" name="TextBox 7"/>
          <p:cNvSpPr/>
          <p:nvPr/>
        </p:nvSpPr>
        <p:spPr>
          <a:xfrm>
            <a:off x="708046" y="1223775"/>
            <a:ext cx="4014266" cy="1014209"/>
          </a:xfrm>
          <a:prstGeom prst="rect">
            <a:avLst/>
          </a:prstGeom>
          <a:solidFill>
            <a:schemeClr val="accent4"/>
          </a:solid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CH" sz="2000" b="0" u="none" strike="noStrike">
                <a:solidFill>
                  <a:srgbClr val="000000"/>
                </a:solidFill>
                <a:effectLst/>
                <a:uFillTx/>
                <a:latin typeface="Calibri" panose="020F0502020204030204" pitchFamily="34" charset="0"/>
                <a:ea typeface="DejaVu Sans"/>
                <a:cs typeface="Calibri" panose="020F0502020204030204" pitchFamily="34" charset="0"/>
              </a:rPr>
              <a:t>Column and rows have meaningful labels (indices) that are attached to the data for each operation</a:t>
            </a:r>
            <a:endParaRPr lang="en-GB" sz="20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6" name="PlaceHolder 1">
            <a:extLst>
              <a:ext uri="{FF2B5EF4-FFF2-40B4-BE49-F238E27FC236}">
                <a16:creationId xmlns:a16="http://schemas.microsoft.com/office/drawing/2014/main" id="{A3AAFCC3-09B2-80DF-A584-0405BADE9A1C}"/>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8" name="PlaceHolder 2">
            <a:extLst>
              <a:ext uri="{FF2B5EF4-FFF2-40B4-BE49-F238E27FC236}">
                <a16:creationId xmlns:a16="http://schemas.microsoft.com/office/drawing/2014/main" id="{8D20B855-6A94-E42E-52C9-D25590DF36DB}"/>
              </a:ext>
            </a:extLst>
          </p:cNvPr>
          <p:cNvSpPr>
            <a:spLocks noGrp="1"/>
          </p:cNvSpPr>
          <p:nvPr>
            <p:ph type="ftr" idx="1"/>
          </p:nvPr>
        </p:nvSpPr>
        <p:spPr>
          <a:xfrm>
            <a:off x="4038480" y="6356520"/>
            <a:ext cx="4111560" cy="361800"/>
          </a:xfrm>
        </p:spPr>
        <p:txBody>
          <a:bodyPr/>
          <a:lstStyle/>
          <a:p>
            <a:r>
              <a:rPr lang="en-US" dirty="0"/>
              <a:t>Tab, v3.0</a:t>
            </a:r>
            <a:endParaRPr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DBBE3-D1D4-6614-C512-05A13D4F8998}"/>
            </a:ext>
          </a:extLst>
        </p:cNvPr>
        <p:cNvGrpSpPr/>
        <p:nvPr/>
      </p:nvGrpSpPr>
      <p:grpSpPr>
        <a:xfrm>
          <a:off x="0" y="0"/>
          <a:ext cx="0" cy="0"/>
          <a:chOff x="0" y="0"/>
          <a:chExt cx="0" cy="0"/>
        </a:xfrm>
      </p:grpSpPr>
      <p:graphicFrame>
        <p:nvGraphicFramePr>
          <p:cNvPr id="237" name="Table 2">
            <a:extLst>
              <a:ext uri="{FF2B5EF4-FFF2-40B4-BE49-F238E27FC236}">
                <a16:creationId xmlns:a16="http://schemas.microsoft.com/office/drawing/2014/main" id="{F11DF7ED-A211-2E1B-A711-B548552ABF79}"/>
              </a:ext>
            </a:extLst>
          </p:cNvPr>
          <p:cNvGraphicFramePr/>
          <p:nvPr>
            <p:extLst>
              <p:ext uri="{D42A27DB-BD31-4B8C-83A1-F6EECF244321}">
                <p14:modId xmlns:p14="http://schemas.microsoft.com/office/powerpoint/2010/main" val="1347308946"/>
              </p:ext>
            </p:extLst>
          </p:nvPr>
        </p:nvGraphicFramePr>
        <p:xfrm>
          <a:off x="1833480" y="4343400"/>
          <a:ext cx="8528400" cy="1747440"/>
        </p:xfrm>
        <a:graphic>
          <a:graphicData uri="http://schemas.openxmlformats.org/drawingml/2006/table">
            <a:tbl>
              <a:tblPr/>
              <a:tblGrid>
                <a:gridCol w="1705680">
                  <a:extLst>
                    <a:ext uri="{9D8B030D-6E8A-4147-A177-3AD203B41FA5}">
                      <a16:colId xmlns:a16="http://schemas.microsoft.com/office/drawing/2014/main" val="20000"/>
                    </a:ext>
                  </a:extLst>
                </a:gridCol>
                <a:gridCol w="1705680">
                  <a:extLst>
                    <a:ext uri="{9D8B030D-6E8A-4147-A177-3AD203B41FA5}">
                      <a16:colId xmlns:a16="http://schemas.microsoft.com/office/drawing/2014/main" val="20001"/>
                    </a:ext>
                  </a:extLst>
                </a:gridCol>
                <a:gridCol w="1705680">
                  <a:extLst>
                    <a:ext uri="{9D8B030D-6E8A-4147-A177-3AD203B41FA5}">
                      <a16:colId xmlns:a16="http://schemas.microsoft.com/office/drawing/2014/main" val="20002"/>
                    </a:ext>
                  </a:extLst>
                </a:gridCol>
                <a:gridCol w="1705680">
                  <a:extLst>
                    <a:ext uri="{9D8B030D-6E8A-4147-A177-3AD203B41FA5}">
                      <a16:colId xmlns:a16="http://schemas.microsoft.com/office/drawing/2014/main" val="20003"/>
                    </a:ext>
                  </a:extLst>
                </a:gridCol>
                <a:gridCol w="1705680">
                  <a:extLst>
                    <a:ext uri="{9D8B030D-6E8A-4147-A177-3AD203B41FA5}">
                      <a16:colId xmlns:a16="http://schemas.microsoft.com/office/drawing/2014/main" val="20004"/>
                    </a:ext>
                  </a:extLst>
                </a:gridCol>
              </a:tblGrid>
              <a:tr h="370800">
                <a:tc>
                  <a:txBody>
                    <a:bodyPr/>
                    <a:lstStyle/>
                    <a:p>
                      <a:pPr>
                        <a:lnSpc>
                          <a:spcPct val="100000"/>
                        </a:lnSpc>
                      </a:pPr>
                      <a:r>
                        <a:rPr lang="en-CH" sz="1800" b="1" u="none" strike="noStrike">
                          <a:solidFill>
                            <a:schemeClr val="lt1"/>
                          </a:solidFill>
                          <a:effectLst/>
                          <a:uFillTx/>
                          <a:latin typeface="Calibri"/>
                          <a:ea typeface="DejaVu Sans"/>
                        </a:rPr>
                        <a:t>Subject ID (index)</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00B050"/>
                    </a:solidFill>
                  </a:tcPr>
                </a:tc>
                <a:tc>
                  <a:txBody>
                    <a:bodyPr/>
                    <a:lstStyle/>
                    <a:p>
                      <a:pPr>
                        <a:lnSpc>
                          <a:spcPct val="100000"/>
                        </a:lnSpc>
                      </a:pPr>
                      <a:r>
                        <a:rPr lang="en-CH" sz="1800" b="1" u="none" strike="noStrike">
                          <a:solidFill>
                            <a:schemeClr val="lt1"/>
                          </a:solidFill>
                          <a:effectLst/>
                          <a:uFillTx/>
                          <a:latin typeface="Calibri"/>
                          <a:ea typeface="DejaVu Sans"/>
                        </a:rPr>
                        <a:t>Condition ID</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00B050"/>
                    </a:solidFill>
                  </a:tcPr>
                </a:tc>
                <a:tc>
                  <a:txBody>
                    <a:bodyPr/>
                    <a:lstStyle/>
                    <a:p>
                      <a:pPr>
                        <a:lnSpc>
                          <a:spcPct val="100000"/>
                        </a:lnSpc>
                      </a:pPr>
                      <a:r>
                        <a:rPr lang="en-US" sz="1800" b="1" u="none" strike="noStrike" dirty="0">
                          <a:solidFill>
                            <a:schemeClr val="lt1"/>
                          </a:solidFill>
                          <a:effectLst/>
                          <a:uFillTx/>
                          <a:latin typeface="Calibri"/>
                        </a:rPr>
                        <a:t>Date</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00B050"/>
                    </a:solidFill>
                  </a:tcPr>
                </a:tc>
                <a:tc>
                  <a:txBody>
                    <a:bodyPr/>
                    <a:lstStyle/>
                    <a:p>
                      <a:pPr>
                        <a:lnSpc>
                          <a:spcPct val="100000"/>
                        </a:lnSpc>
                      </a:pPr>
                      <a:r>
                        <a:rPr lang="en-CH" sz="1800" b="1" u="none" strike="noStrike">
                          <a:solidFill>
                            <a:schemeClr val="lt1"/>
                          </a:solidFill>
                          <a:effectLst/>
                          <a:uFillTx/>
                          <a:latin typeface="Calibri"/>
                          <a:ea typeface="DejaVu Sans"/>
                        </a:rPr>
                        <a:t>Response time (ms)</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00B050"/>
                    </a:solidFill>
                  </a:tcPr>
                </a:tc>
                <a:tc>
                  <a:txBody>
                    <a:bodyPr/>
                    <a:lstStyle/>
                    <a:p>
                      <a:pPr>
                        <a:lnSpc>
                          <a:spcPct val="100000"/>
                        </a:lnSpc>
                      </a:pPr>
                      <a:r>
                        <a:rPr lang="en-CH" sz="1800" b="1" u="none" strike="noStrike">
                          <a:solidFill>
                            <a:schemeClr val="lt1"/>
                          </a:solidFill>
                          <a:effectLst/>
                          <a:uFillTx/>
                          <a:latin typeface="Calibri"/>
                          <a:ea typeface="DejaVu Sans"/>
                        </a:rPr>
                        <a:t>Response</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00B050"/>
                    </a:solidFill>
                  </a:tcPr>
                </a:tc>
                <a:extLst>
                  <a:ext uri="{0D108BD9-81ED-4DB2-BD59-A6C34878D82A}">
                    <a16:rowId xmlns:a16="http://schemas.microsoft.com/office/drawing/2014/main" val="10000"/>
                  </a:ext>
                </a:extLst>
              </a:tr>
              <a:tr h="370800">
                <a:tc>
                  <a:txBody>
                    <a:bodyPr/>
                    <a:lstStyle/>
                    <a:p>
                      <a:pPr>
                        <a:lnSpc>
                          <a:spcPct val="100000"/>
                        </a:lnSpc>
                      </a:pPr>
                      <a:r>
                        <a:rPr lang="en-CH" sz="1800" b="0" u="none" strike="noStrike">
                          <a:solidFill>
                            <a:schemeClr val="dk1"/>
                          </a:solidFill>
                          <a:effectLst/>
                          <a:uFillTx/>
                          <a:latin typeface="Calibri"/>
                          <a:ea typeface="DejaVu Sans"/>
                        </a:rPr>
                        <a:t>VM</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732</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US" sz="1800" b="0" u="none" strike="noStrike" dirty="0">
                          <a:solidFill>
                            <a:schemeClr val="dk1"/>
                          </a:solidFill>
                          <a:effectLst/>
                          <a:uFillTx/>
                          <a:latin typeface="Calibri"/>
                        </a:rPr>
                        <a:t>7.3.2024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28</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LEFT</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6">
                        <a:lumMod val="40000"/>
                        <a:lumOff val="60000"/>
                      </a:schemeClr>
                    </a:solidFill>
                  </a:tcPr>
                </a:tc>
                <a:extLst>
                  <a:ext uri="{0D108BD9-81ED-4DB2-BD59-A6C34878D82A}">
                    <a16:rowId xmlns:a16="http://schemas.microsoft.com/office/drawing/2014/main" val="10001"/>
                  </a:ext>
                </a:extLst>
              </a:tr>
              <a:tr h="370800">
                <a:tc>
                  <a:txBody>
                    <a:bodyPr/>
                    <a:lstStyle/>
                    <a:p>
                      <a:pPr>
                        <a:lnSpc>
                          <a:spcPct val="100000"/>
                        </a:lnSpc>
                        <a:tabLst>
                          <a:tab pos="0" algn="l"/>
                        </a:tabLst>
                      </a:pPr>
                      <a:r>
                        <a:rPr lang="en-CH" sz="1800" b="0" u="none" strike="noStrike">
                          <a:solidFill>
                            <a:schemeClr val="dk1"/>
                          </a:solidFill>
                          <a:effectLst/>
                          <a:uFillTx/>
                          <a:latin typeface="Calibri"/>
                          <a:ea typeface="DejaVu Sans"/>
                        </a:rPr>
                        <a:t>VM</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US" sz="1800" b="0" u="none" strike="noStrike" dirty="0">
                          <a:solidFill>
                            <a:schemeClr val="dk1"/>
                          </a:solidFill>
                          <a:effectLst/>
                          <a:uFillTx/>
                          <a:latin typeface="Calibri"/>
                        </a:rPr>
                        <a:t>567</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US" sz="1800" b="0" u="none" strike="noStrike" dirty="0">
                          <a:solidFill>
                            <a:schemeClr val="dk1"/>
                          </a:solidFill>
                          <a:effectLst/>
                          <a:uFillTx/>
                          <a:latin typeface="Calibri"/>
                        </a:rPr>
                        <a:t>8.3.2024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41</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RIGHT</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extLst>
                  <a:ext uri="{0D108BD9-81ED-4DB2-BD59-A6C34878D82A}">
                    <a16:rowId xmlns:a16="http://schemas.microsoft.com/office/drawing/2014/main" val="10002"/>
                  </a:ext>
                </a:extLst>
              </a:tr>
              <a:tr h="0">
                <a:tc>
                  <a:txBody>
                    <a:bodyPr/>
                    <a:lstStyle/>
                    <a:p>
                      <a:pPr>
                        <a:lnSpc>
                          <a:spcPct val="100000"/>
                        </a:lnSpc>
                      </a:pPr>
                      <a:r>
                        <a:rPr lang="en-CH" sz="1800" b="0" u="none" strike="noStrike">
                          <a:solidFill>
                            <a:schemeClr val="dk1"/>
                          </a:solidFill>
                          <a:effectLst/>
                          <a:uFillTx/>
                          <a:latin typeface="Calibri"/>
                          <a:ea typeface="DejaVu Sans"/>
                        </a:rPr>
                        <a:t>PB</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US" sz="1800" b="0" u="none" strike="noStrike" dirty="0">
                          <a:solidFill>
                            <a:schemeClr val="dk1"/>
                          </a:solidFill>
                          <a:effectLst/>
                          <a:uFillTx/>
                          <a:latin typeface="Calibri"/>
                        </a:rPr>
                        <a:t>732</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US" sz="1800" b="0" u="none" strike="noStrike" dirty="0">
                          <a:solidFill>
                            <a:schemeClr val="dk1"/>
                          </a:solidFill>
                          <a:effectLst/>
                          <a:uFillTx/>
                          <a:latin typeface="Calibri"/>
                        </a:rPr>
                        <a:t>9.3.2024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73</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LEFT</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extLst>
                  <a:ext uri="{0D108BD9-81ED-4DB2-BD59-A6C34878D82A}">
                    <a16:rowId xmlns:a16="http://schemas.microsoft.com/office/drawing/2014/main" val="10003"/>
                  </a:ext>
                </a:extLst>
              </a:tr>
            </a:tbl>
          </a:graphicData>
        </a:graphic>
      </p:graphicFrame>
      <p:sp>
        <p:nvSpPr>
          <p:cNvPr id="234" name="PlaceHolder 1">
            <a:extLst>
              <a:ext uri="{FF2B5EF4-FFF2-40B4-BE49-F238E27FC236}">
                <a16:creationId xmlns:a16="http://schemas.microsoft.com/office/drawing/2014/main" id="{76EEABFD-4534-4A55-4F31-AF29B2F434E1}"/>
              </a:ext>
            </a:extLst>
          </p:cNvPr>
          <p:cNvSpPr>
            <a:spLocks noGrp="1"/>
          </p:cNvSpPr>
          <p:nvPr>
            <p:ph type="title"/>
          </p:nvPr>
        </p:nvSpPr>
        <p:spPr>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What is tabular data?</a:t>
            </a:r>
            <a:endParaRPr lang="en-GB" sz="4400" b="0" u="none" strike="noStrike">
              <a:solidFill>
                <a:srgbClr val="000000"/>
              </a:solidFill>
              <a:effectLst/>
              <a:uFillTx/>
              <a:latin typeface="Calibri" panose="020F0502020204030204" pitchFamily="34" charset="0"/>
              <a:cs typeface="Calibri" panose="020F0502020204030204" pitchFamily="34" charset="0"/>
            </a:endParaRPr>
          </a:p>
        </p:txBody>
      </p:sp>
      <p:sp>
        <p:nvSpPr>
          <p:cNvPr id="5" name="PlaceHolder 4">
            <a:extLst>
              <a:ext uri="{FF2B5EF4-FFF2-40B4-BE49-F238E27FC236}">
                <a16:creationId xmlns:a16="http://schemas.microsoft.com/office/drawing/2014/main" id="{1215E728-AC81-D965-6EE9-D1E29AD3636E}"/>
              </a:ext>
            </a:extLst>
          </p:cNvPr>
          <p:cNvSpPr>
            <a:spLocks noGrp="1"/>
          </p:cNvSpPr>
          <p:nvPr>
            <p:ph type="sldNum" idx="2"/>
          </p:nvPr>
        </p:nvSpPr>
        <p:spPr/>
        <p:txBody>
          <a:bodyPr/>
          <a:lstStyle/>
          <a:p>
            <a:fld id="{C0168CDE-C942-49D8-8ACA-81A3AEF67E64}" type="slidenum">
              <a:rPr>
                <a:latin typeface="Calibri" panose="020F0502020204030204" pitchFamily="34" charset="0"/>
                <a:cs typeface="Calibri" panose="020F0502020204030204" pitchFamily="34" charset="0"/>
              </a:rPr>
              <a:t>5</a:t>
            </a:fld>
            <a:endParaRPr>
              <a:latin typeface="Calibri" panose="020F0502020204030204" pitchFamily="34" charset="0"/>
              <a:cs typeface="Calibri" panose="020F0502020204030204" pitchFamily="34" charset="0"/>
            </a:endParaRPr>
          </a:p>
        </p:txBody>
      </p:sp>
      <p:graphicFrame>
        <p:nvGraphicFramePr>
          <p:cNvPr id="3" name="Table 6">
            <a:extLst>
              <a:ext uri="{FF2B5EF4-FFF2-40B4-BE49-F238E27FC236}">
                <a16:creationId xmlns:a16="http://schemas.microsoft.com/office/drawing/2014/main" id="{ECF1A4E7-B8DE-77F8-CD0E-DAFA3C588F4E}"/>
              </a:ext>
            </a:extLst>
          </p:cNvPr>
          <p:cNvGraphicFramePr/>
          <p:nvPr>
            <p:extLst>
              <p:ext uri="{D42A27DB-BD31-4B8C-83A1-F6EECF244321}">
                <p14:modId xmlns:p14="http://schemas.microsoft.com/office/powerpoint/2010/main" val="3579303211"/>
              </p:ext>
            </p:extLst>
          </p:nvPr>
        </p:nvGraphicFramePr>
        <p:xfrm>
          <a:off x="1841400" y="2421000"/>
          <a:ext cx="8528400" cy="1478160"/>
        </p:xfrm>
        <a:graphic>
          <a:graphicData uri="http://schemas.openxmlformats.org/drawingml/2006/table">
            <a:tbl>
              <a:tblPr/>
              <a:tblGrid>
                <a:gridCol w="1705680">
                  <a:extLst>
                    <a:ext uri="{9D8B030D-6E8A-4147-A177-3AD203B41FA5}">
                      <a16:colId xmlns:a16="http://schemas.microsoft.com/office/drawing/2014/main" val="20000"/>
                    </a:ext>
                  </a:extLst>
                </a:gridCol>
                <a:gridCol w="1705680">
                  <a:extLst>
                    <a:ext uri="{9D8B030D-6E8A-4147-A177-3AD203B41FA5}">
                      <a16:colId xmlns:a16="http://schemas.microsoft.com/office/drawing/2014/main" val="20001"/>
                    </a:ext>
                  </a:extLst>
                </a:gridCol>
                <a:gridCol w="1705680">
                  <a:extLst>
                    <a:ext uri="{9D8B030D-6E8A-4147-A177-3AD203B41FA5}">
                      <a16:colId xmlns:a16="http://schemas.microsoft.com/office/drawing/2014/main" val="20002"/>
                    </a:ext>
                  </a:extLst>
                </a:gridCol>
                <a:gridCol w="1705680">
                  <a:extLst>
                    <a:ext uri="{9D8B030D-6E8A-4147-A177-3AD203B41FA5}">
                      <a16:colId xmlns:a16="http://schemas.microsoft.com/office/drawing/2014/main" val="20003"/>
                    </a:ext>
                  </a:extLst>
                </a:gridCol>
                <a:gridCol w="1705680">
                  <a:extLst>
                    <a:ext uri="{9D8B030D-6E8A-4147-A177-3AD203B41FA5}">
                      <a16:colId xmlns:a16="http://schemas.microsoft.com/office/drawing/2014/main" val="20004"/>
                    </a:ext>
                  </a:extLst>
                </a:gridCol>
              </a:tblGrid>
              <a:tr h="124920">
                <a:tc>
                  <a:txBody>
                    <a:bodyPr/>
                    <a:lstStyle/>
                    <a:p>
                      <a:pPr>
                        <a:lnSpc>
                          <a:spcPct val="100000"/>
                        </a:lnSpc>
                      </a:pPr>
                      <a:r>
                        <a:rPr lang="en-CH" sz="1800" b="1" u="none" strike="noStrike">
                          <a:solidFill>
                            <a:schemeClr val="lt1"/>
                          </a:solidFill>
                          <a:effectLst/>
                          <a:uFillTx/>
                          <a:latin typeface="Calibri"/>
                          <a:ea typeface="DejaVu Sans"/>
                        </a:rPr>
                        <a:t>Date (index)</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Wind speed</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Wind direction</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Rain fall (mm)</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Hours of sun</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extLst>
                  <a:ext uri="{0D108BD9-81ED-4DB2-BD59-A6C34878D82A}">
                    <a16:rowId xmlns:a16="http://schemas.microsoft.com/office/drawing/2014/main" val="10000"/>
                  </a:ext>
                </a:extLst>
              </a:tr>
              <a:tr h="370800">
                <a:tc>
                  <a:txBody>
                    <a:bodyPr/>
                    <a:lstStyle/>
                    <a:p>
                      <a:pPr>
                        <a:lnSpc>
                          <a:spcPct val="100000"/>
                        </a:lnSpc>
                      </a:pPr>
                      <a:r>
                        <a:rPr lang="en-CH" sz="1800" b="0" u="none" strike="noStrike">
                          <a:solidFill>
                            <a:schemeClr val="dk1"/>
                          </a:solidFill>
                          <a:effectLst/>
                          <a:uFillTx/>
                          <a:latin typeface="Calibri"/>
                          <a:ea typeface="DejaVu Sans"/>
                        </a:rPr>
                        <a:t>7.3.2024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7.1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N</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0.0</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10</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extLst>
                  <a:ext uri="{0D108BD9-81ED-4DB2-BD59-A6C34878D82A}">
                    <a16:rowId xmlns:a16="http://schemas.microsoft.com/office/drawing/2014/main" val="10001"/>
                  </a:ext>
                </a:extLst>
              </a:tr>
              <a:tr h="370800">
                <a:tc>
                  <a:txBody>
                    <a:bodyPr/>
                    <a:lstStyle/>
                    <a:p>
                      <a:pPr>
                        <a:lnSpc>
                          <a:spcPct val="100000"/>
                        </a:lnSpc>
                        <a:tabLst>
                          <a:tab pos="0" algn="l"/>
                        </a:tabLst>
                      </a:pPr>
                      <a:r>
                        <a:rPr lang="en-CH" sz="1800" b="0" u="none" strike="noStrike">
                          <a:solidFill>
                            <a:schemeClr val="dk1"/>
                          </a:solidFill>
                          <a:effectLst/>
                          <a:uFillTx/>
                          <a:latin typeface="Calibri"/>
                          <a:ea typeface="DejaVu Sans"/>
                        </a:rPr>
                        <a:t>8.3.2024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0.3</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NW</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2.1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2</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extLst>
                  <a:ext uri="{0D108BD9-81ED-4DB2-BD59-A6C34878D82A}">
                    <a16:rowId xmlns:a16="http://schemas.microsoft.com/office/drawing/2014/main" val="10002"/>
                  </a:ext>
                </a:extLst>
              </a:tr>
              <a:tr h="370800">
                <a:tc>
                  <a:txBody>
                    <a:bodyPr/>
                    <a:lstStyle/>
                    <a:p>
                      <a:pPr>
                        <a:lnSpc>
                          <a:spcPct val="100000"/>
                        </a:lnSpc>
                      </a:pPr>
                      <a:r>
                        <a:rPr lang="en-CH" sz="1800" b="0" u="none" strike="noStrike">
                          <a:solidFill>
                            <a:schemeClr val="dk1"/>
                          </a:solidFill>
                          <a:effectLst/>
                          <a:uFillTx/>
                          <a:latin typeface="Calibri"/>
                          <a:ea typeface="DejaVu Sans"/>
                        </a:rPr>
                        <a:t>9.3.2024</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1.1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SE</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0.3</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5</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extLst>
                  <a:ext uri="{0D108BD9-81ED-4DB2-BD59-A6C34878D82A}">
                    <a16:rowId xmlns:a16="http://schemas.microsoft.com/office/drawing/2014/main" val="10003"/>
                  </a:ext>
                </a:extLst>
              </a:tr>
            </a:tbl>
          </a:graphicData>
        </a:graphic>
      </p:graphicFrame>
      <p:sp>
        <p:nvSpPr>
          <p:cNvPr id="6" name="PlaceHolder 1">
            <a:extLst>
              <a:ext uri="{FF2B5EF4-FFF2-40B4-BE49-F238E27FC236}">
                <a16:creationId xmlns:a16="http://schemas.microsoft.com/office/drawing/2014/main" id="{0A263E47-107A-5011-F692-6A685F47C99B}"/>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7" name="PlaceHolder 2">
            <a:extLst>
              <a:ext uri="{FF2B5EF4-FFF2-40B4-BE49-F238E27FC236}">
                <a16:creationId xmlns:a16="http://schemas.microsoft.com/office/drawing/2014/main" id="{2BA67A5B-42E6-F030-4B91-F6B3CCBCE80A}"/>
              </a:ext>
            </a:extLst>
          </p:cNvPr>
          <p:cNvSpPr>
            <a:spLocks noGrp="1"/>
          </p:cNvSpPr>
          <p:nvPr>
            <p:ph type="ftr" idx="1"/>
          </p:nvPr>
        </p:nvSpPr>
        <p:spPr>
          <a:xfrm>
            <a:off x="4038480" y="6356520"/>
            <a:ext cx="4111560" cy="361800"/>
          </a:xfrm>
        </p:spPr>
        <p:txBody>
          <a:bodyPr/>
          <a:lstStyle/>
          <a:p>
            <a:r>
              <a:rPr lang="en-US" dirty="0"/>
              <a:t>Tab, v3.0</a:t>
            </a:r>
            <a:endParaRPr dirty="0"/>
          </a:p>
        </p:txBody>
      </p:sp>
    </p:spTree>
    <p:extLst>
      <p:ext uri="{BB962C8B-B14F-4D97-AF65-F5344CB8AC3E}">
        <p14:creationId xmlns:p14="http://schemas.microsoft.com/office/powerpoint/2010/main" val="33991211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836C5E-8BFD-EBA1-47E4-E003B5FD5378}"/>
            </a:ext>
          </a:extLst>
        </p:cNvPr>
        <p:cNvGrpSpPr/>
        <p:nvPr/>
      </p:nvGrpSpPr>
      <p:grpSpPr>
        <a:xfrm>
          <a:off x="0" y="0"/>
          <a:ext cx="0" cy="0"/>
          <a:chOff x="0" y="0"/>
          <a:chExt cx="0" cy="0"/>
        </a:xfrm>
      </p:grpSpPr>
      <p:graphicFrame>
        <p:nvGraphicFramePr>
          <p:cNvPr id="237" name="Table 2">
            <a:extLst>
              <a:ext uri="{FF2B5EF4-FFF2-40B4-BE49-F238E27FC236}">
                <a16:creationId xmlns:a16="http://schemas.microsoft.com/office/drawing/2014/main" id="{15581EAA-749E-5DDB-4117-FD5F776940A1}"/>
              </a:ext>
            </a:extLst>
          </p:cNvPr>
          <p:cNvGraphicFramePr/>
          <p:nvPr/>
        </p:nvGraphicFramePr>
        <p:xfrm>
          <a:off x="1833480" y="4343400"/>
          <a:ext cx="8528400" cy="1747440"/>
        </p:xfrm>
        <a:graphic>
          <a:graphicData uri="http://schemas.openxmlformats.org/drawingml/2006/table">
            <a:tbl>
              <a:tblPr/>
              <a:tblGrid>
                <a:gridCol w="1705680">
                  <a:extLst>
                    <a:ext uri="{9D8B030D-6E8A-4147-A177-3AD203B41FA5}">
                      <a16:colId xmlns:a16="http://schemas.microsoft.com/office/drawing/2014/main" val="20000"/>
                    </a:ext>
                  </a:extLst>
                </a:gridCol>
                <a:gridCol w="1705680">
                  <a:extLst>
                    <a:ext uri="{9D8B030D-6E8A-4147-A177-3AD203B41FA5}">
                      <a16:colId xmlns:a16="http://schemas.microsoft.com/office/drawing/2014/main" val="20001"/>
                    </a:ext>
                  </a:extLst>
                </a:gridCol>
                <a:gridCol w="1705680">
                  <a:extLst>
                    <a:ext uri="{9D8B030D-6E8A-4147-A177-3AD203B41FA5}">
                      <a16:colId xmlns:a16="http://schemas.microsoft.com/office/drawing/2014/main" val="20002"/>
                    </a:ext>
                  </a:extLst>
                </a:gridCol>
                <a:gridCol w="1705680">
                  <a:extLst>
                    <a:ext uri="{9D8B030D-6E8A-4147-A177-3AD203B41FA5}">
                      <a16:colId xmlns:a16="http://schemas.microsoft.com/office/drawing/2014/main" val="20003"/>
                    </a:ext>
                  </a:extLst>
                </a:gridCol>
                <a:gridCol w="1705680">
                  <a:extLst>
                    <a:ext uri="{9D8B030D-6E8A-4147-A177-3AD203B41FA5}">
                      <a16:colId xmlns:a16="http://schemas.microsoft.com/office/drawing/2014/main" val="20004"/>
                    </a:ext>
                  </a:extLst>
                </a:gridCol>
              </a:tblGrid>
              <a:tr h="370800">
                <a:tc>
                  <a:txBody>
                    <a:bodyPr/>
                    <a:lstStyle/>
                    <a:p>
                      <a:pPr>
                        <a:lnSpc>
                          <a:spcPct val="100000"/>
                        </a:lnSpc>
                      </a:pPr>
                      <a:r>
                        <a:rPr lang="en-CH" sz="1800" b="1" u="none" strike="noStrike">
                          <a:solidFill>
                            <a:schemeClr val="lt1"/>
                          </a:solidFill>
                          <a:effectLst/>
                          <a:uFillTx/>
                          <a:latin typeface="Calibri"/>
                          <a:ea typeface="DejaVu Sans"/>
                        </a:rPr>
                        <a:t>Subject ID (index)</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00B050"/>
                    </a:solidFill>
                  </a:tcPr>
                </a:tc>
                <a:tc>
                  <a:txBody>
                    <a:bodyPr/>
                    <a:lstStyle/>
                    <a:p>
                      <a:pPr>
                        <a:lnSpc>
                          <a:spcPct val="100000"/>
                        </a:lnSpc>
                      </a:pPr>
                      <a:r>
                        <a:rPr lang="en-CH" sz="1800" b="1" u="none" strike="noStrike">
                          <a:solidFill>
                            <a:schemeClr val="lt1"/>
                          </a:solidFill>
                          <a:effectLst/>
                          <a:uFillTx/>
                          <a:latin typeface="Calibri"/>
                          <a:ea typeface="DejaVu Sans"/>
                        </a:rPr>
                        <a:t>Condition ID</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00B050"/>
                    </a:solidFill>
                  </a:tcPr>
                </a:tc>
                <a:tc>
                  <a:txBody>
                    <a:bodyPr/>
                    <a:lstStyle/>
                    <a:p>
                      <a:pPr>
                        <a:lnSpc>
                          <a:spcPct val="100000"/>
                        </a:lnSpc>
                      </a:pPr>
                      <a:r>
                        <a:rPr lang="en-US" sz="1800" b="1" u="none" strike="noStrike" dirty="0">
                          <a:solidFill>
                            <a:schemeClr val="lt1"/>
                          </a:solidFill>
                          <a:effectLst/>
                          <a:uFillTx/>
                          <a:latin typeface="Calibri"/>
                        </a:rPr>
                        <a:t>Date</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00B050"/>
                    </a:solidFill>
                  </a:tcPr>
                </a:tc>
                <a:tc>
                  <a:txBody>
                    <a:bodyPr/>
                    <a:lstStyle/>
                    <a:p>
                      <a:pPr>
                        <a:lnSpc>
                          <a:spcPct val="100000"/>
                        </a:lnSpc>
                      </a:pPr>
                      <a:r>
                        <a:rPr lang="en-CH" sz="1800" b="1" u="none" strike="noStrike">
                          <a:solidFill>
                            <a:schemeClr val="lt1"/>
                          </a:solidFill>
                          <a:effectLst/>
                          <a:uFillTx/>
                          <a:latin typeface="Calibri"/>
                          <a:ea typeface="DejaVu Sans"/>
                        </a:rPr>
                        <a:t>Response time (ms)</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00B050"/>
                    </a:solidFill>
                  </a:tcPr>
                </a:tc>
                <a:tc>
                  <a:txBody>
                    <a:bodyPr/>
                    <a:lstStyle/>
                    <a:p>
                      <a:pPr>
                        <a:lnSpc>
                          <a:spcPct val="100000"/>
                        </a:lnSpc>
                      </a:pPr>
                      <a:r>
                        <a:rPr lang="en-CH" sz="1800" b="1" u="none" strike="noStrike">
                          <a:solidFill>
                            <a:schemeClr val="lt1"/>
                          </a:solidFill>
                          <a:effectLst/>
                          <a:uFillTx/>
                          <a:latin typeface="Calibri"/>
                          <a:ea typeface="DejaVu Sans"/>
                        </a:rPr>
                        <a:t>Response</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00B050"/>
                    </a:solidFill>
                  </a:tcPr>
                </a:tc>
                <a:extLst>
                  <a:ext uri="{0D108BD9-81ED-4DB2-BD59-A6C34878D82A}">
                    <a16:rowId xmlns:a16="http://schemas.microsoft.com/office/drawing/2014/main" val="10000"/>
                  </a:ext>
                </a:extLst>
              </a:tr>
              <a:tr h="370800">
                <a:tc>
                  <a:txBody>
                    <a:bodyPr/>
                    <a:lstStyle/>
                    <a:p>
                      <a:pPr>
                        <a:lnSpc>
                          <a:spcPct val="100000"/>
                        </a:lnSpc>
                      </a:pPr>
                      <a:r>
                        <a:rPr lang="en-CH" sz="1800" b="0" u="none" strike="noStrike">
                          <a:solidFill>
                            <a:schemeClr val="dk1"/>
                          </a:solidFill>
                          <a:effectLst/>
                          <a:uFillTx/>
                          <a:latin typeface="Calibri"/>
                          <a:ea typeface="DejaVu Sans"/>
                        </a:rPr>
                        <a:t>VM</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732</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US" sz="1800" b="0" u="none" strike="noStrike" dirty="0">
                          <a:solidFill>
                            <a:schemeClr val="dk1"/>
                          </a:solidFill>
                          <a:effectLst/>
                          <a:uFillTx/>
                          <a:latin typeface="Calibri"/>
                        </a:rPr>
                        <a:t>7.3.2024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28</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LEFT</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chemeClr val="accent6">
                        <a:lumMod val="40000"/>
                        <a:lumOff val="60000"/>
                      </a:schemeClr>
                    </a:solidFill>
                  </a:tcPr>
                </a:tc>
                <a:extLst>
                  <a:ext uri="{0D108BD9-81ED-4DB2-BD59-A6C34878D82A}">
                    <a16:rowId xmlns:a16="http://schemas.microsoft.com/office/drawing/2014/main" val="10001"/>
                  </a:ext>
                </a:extLst>
              </a:tr>
              <a:tr h="370800">
                <a:tc>
                  <a:txBody>
                    <a:bodyPr/>
                    <a:lstStyle/>
                    <a:p>
                      <a:pPr>
                        <a:lnSpc>
                          <a:spcPct val="100000"/>
                        </a:lnSpc>
                        <a:tabLst>
                          <a:tab pos="0" algn="l"/>
                        </a:tabLst>
                      </a:pPr>
                      <a:r>
                        <a:rPr lang="en-CH" sz="1800" b="0" u="none" strike="noStrike">
                          <a:solidFill>
                            <a:schemeClr val="dk1"/>
                          </a:solidFill>
                          <a:effectLst/>
                          <a:uFillTx/>
                          <a:latin typeface="Calibri"/>
                          <a:ea typeface="DejaVu Sans"/>
                        </a:rPr>
                        <a:t>VM</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US" sz="1800" b="0" u="none" strike="noStrike" dirty="0">
                          <a:solidFill>
                            <a:schemeClr val="dk1"/>
                          </a:solidFill>
                          <a:effectLst/>
                          <a:uFillTx/>
                          <a:latin typeface="Calibri"/>
                        </a:rPr>
                        <a:t>567</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US" sz="1800" b="0" u="none" strike="noStrike" dirty="0">
                          <a:solidFill>
                            <a:schemeClr val="dk1"/>
                          </a:solidFill>
                          <a:effectLst/>
                          <a:uFillTx/>
                          <a:latin typeface="Calibri"/>
                        </a:rPr>
                        <a:t>8.3.2024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41</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RIGHT</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extLst>
                  <a:ext uri="{0D108BD9-81ED-4DB2-BD59-A6C34878D82A}">
                    <a16:rowId xmlns:a16="http://schemas.microsoft.com/office/drawing/2014/main" val="10002"/>
                  </a:ext>
                </a:extLst>
              </a:tr>
              <a:tr h="0">
                <a:tc>
                  <a:txBody>
                    <a:bodyPr/>
                    <a:lstStyle/>
                    <a:p>
                      <a:pPr>
                        <a:lnSpc>
                          <a:spcPct val="100000"/>
                        </a:lnSpc>
                      </a:pPr>
                      <a:r>
                        <a:rPr lang="en-CH" sz="1800" b="0" u="none" strike="noStrike">
                          <a:solidFill>
                            <a:schemeClr val="dk1"/>
                          </a:solidFill>
                          <a:effectLst/>
                          <a:uFillTx/>
                          <a:latin typeface="Calibri"/>
                          <a:ea typeface="DejaVu Sans"/>
                        </a:rPr>
                        <a:t>PB</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US" sz="1800" b="0" u="none" strike="noStrike" dirty="0">
                          <a:solidFill>
                            <a:schemeClr val="dk1"/>
                          </a:solidFill>
                          <a:effectLst/>
                          <a:uFillTx/>
                          <a:latin typeface="Calibri"/>
                        </a:rPr>
                        <a:t>732</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US" sz="1800" b="0" u="none" strike="noStrike" dirty="0">
                          <a:solidFill>
                            <a:schemeClr val="dk1"/>
                          </a:solidFill>
                          <a:effectLst/>
                          <a:uFillTx/>
                          <a:latin typeface="Calibri"/>
                        </a:rPr>
                        <a:t>9.3.2024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73</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LEFT</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6">
                        <a:lumMod val="40000"/>
                        <a:lumOff val="60000"/>
                      </a:schemeClr>
                    </a:solidFill>
                  </a:tcPr>
                </a:tc>
                <a:extLst>
                  <a:ext uri="{0D108BD9-81ED-4DB2-BD59-A6C34878D82A}">
                    <a16:rowId xmlns:a16="http://schemas.microsoft.com/office/drawing/2014/main" val="10003"/>
                  </a:ext>
                </a:extLst>
              </a:tr>
            </a:tbl>
          </a:graphicData>
        </a:graphic>
      </p:graphicFrame>
      <p:sp>
        <p:nvSpPr>
          <p:cNvPr id="234" name="PlaceHolder 1">
            <a:extLst>
              <a:ext uri="{FF2B5EF4-FFF2-40B4-BE49-F238E27FC236}">
                <a16:creationId xmlns:a16="http://schemas.microsoft.com/office/drawing/2014/main" id="{9A0EA5EA-721C-0CEB-B849-1A6736399955}"/>
              </a:ext>
            </a:extLst>
          </p:cNvPr>
          <p:cNvSpPr>
            <a:spLocks noGrp="1"/>
          </p:cNvSpPr>
          <p:nvPr>
            <p:ph type="title"/>
          </p:nvPr>
        </p:nvSpPr>
        <p:spPr>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What is tabular data?</a:t>
            </a:r>
            <a:endParaRPr lang="en-GB" sz="4400" b="0" u="none" strike="noStrike">
              <a:solidFill>
                <a:srgbClr val="000000"/>
              </a:solidFill>
              <a:effectLst/>
              <a:uFillTx/>
              <a:latin typeface="Calibri" panose="020F0502020204030204" pitchFamily="34" charset="0"/>
              <a:cs typeface="Calibri" panose="020F0502020204030204" pitchFamily="34" charset="0"/>
            </a:endParaRPr>
          </a:p>
        </p:txBody>
      </p:sp>
      <p:sp>
        <p:nvSpPr>
          <p:cNvPr id="5" name="PlaceHolder 4">
            <a:extLst>
              <a:ext uri="{FF2B5EF4-FFF2-40B4-BE49-F238E27FC236}">
                <a16:creationId xmlns:a16="http://schemas.microsoft.com/office/drawing/2014/main" id="{45DE0995-B221-DE1F-8974-BF4BE387607C}"/>
              </a:ext>
            </a:extLst>
          </p:cNvPr>
          <p:cNvSpPr>
            <a:spLocks noGrp="1"/>
          </p:cNvSpPr>
          <p:nvPr>
            <p:ph type="sldNum" idx="2"/>
          </p:nvPr>
        </p:nvSpPr>
        <p:spPr/>
        <p:txBody>
          <a:bodyPr/>
          <a:lstStyle/>
          <a:p>
            <a:fld id="{C0168CDE-C942-49D8-8ACA-81A3AEF67E64}" type="slidenum">
              <a:rPr>
                <a:latin typeface="Calibri" panose="020F0502020204030204" pitchFamily="34" charset="0"/>
                <a:cs typeface="Calibri" panose="020F0502020204030204" pitchFamily="34" charset="0"/>
              </a:rPr>
              <a:t>6</a:t>
            </a:fld>
            <a:endParaRPr>
              <a:latin typeface="Calibri" panose="020F0502020204030204" pitchFamily="34" charset="0"/>
              <a:cs typeface="Calibri" panose="020F0502020204030204" pitchFamily="34" charset="0"/>
            </a:endParaRPr>
          </a:p>
        </p:txBody>
      </p:sp>
      <p:sp>
        <p:nvSpPr>
          <p:cNvPr id="238" name="TextBox 7">
            <a:extLst>
              <a:ext uri="{FF2B5EF4-FFF2-40B4-BE49-F238E27FC236}">
                <a16:creationId xmlns:a16="http://schemas.microsoft.com/office/drawing/2014/main" id="{F1446350-EB40-794F-FB32-61206BA8D853}"/>
              </a:ext>
            </a:extLst>
          </p:cNvPr>
          <p:cNvSpPr/>
          <p:nvPr/>
        </p:nvSpPr>
        <p:spPr>
          <a:xfrm>
            <a:off x="4239022" y="1147217"/>
            <a:ext cx="3639196" cy="829543"/>
          </a:xfrm>
          <a:prstGeom prst="rect">
            <a:avLst/>
          </a:prstGeom>
          <a:solidFill>
            <a:schemeClr val="accent6">
              <a:lumMod val="40000"/>
              <a:lumOff val="60000"/>
            </a:schemeClr>
          </a:solid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rPr>
              <a:t>Does the windspeed affect </a:t>
            </a:r>
            <a:r>
              <a:rPr lang="en-US" sz="2400" dirty="0">
                <a:solidFill>
                  <a:srgbClr val="000000"/>
                </a:solidFill>
                <a:latin typeface="Calibri" panose="020F0502020204030204" pitchFamily="34" charset="0"/>
                <a:ea typeface="DejaVu Sans"/>
                <a:cs typeface="Calibri" panose="020F0502020204030204" pitchFamily="34" charset="0"/>
              </a:rPr>
              <a:t>response time?</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p:txBody>
      </p:sp>
      <p:graphicFrame>
        <p:nvGraphicFramePr>
          <p:cNvPr id="3" name="Table 6">
            <a:extLst>
              <a:ext uri="{FF2B5EF4-FFF2-40B4-BE49-F238E27FC236}">
                <a16:creationId xmlns:a16="http://schemas.microsoft.com/office/drawing/2014/main" id="{19FF0079-A3F6-EED3-B4DF-89BC74776775}"/>
              </a:ext>
            </a:extLst>
          </p:cNvPr>
          <p:cNvGraphicFramePr/>
          <p:nvPr>
            <p:extLst>
              <p:ext uri="{D42A27DB-BD31-4B8C-83A1-F6EECF244321}">
                <p14:modId xmlns:p14="http://schemas.microsoft.com/office/powerpoint/2010/main" val="164059032"/>
              </p:ext>
            </p:extLst>
          </p:nvPr>
        </p:nvGraphicFramePr>
        <p:xfrm>
          <a:off x="1841400" y="2421000"/>
          <a:ext cx="8528400" cy="1478160"/>
        </p:xfrm>
        <a:graphic>
          <a:graphicData uri="http://schemas.openxmlformats.org/drawingml/2006/table">
            <a:tbl>
              <a:tblPr/>
              <a:tblGrid>
                <a:gridCol w="1705680">
                  <a:extLst>
                    <a:ext uri="{9D8B030D-6E8A-4147-A177-3AD203B41FA5}">
                      <a16:colId xmlns:a16="http://schemas.microsoft.com/office/drawing/2014/main" val="20000"/>
                    </a:ext>
                  </a:extLst>
                </a:gridCol>
                <a:gridCol w="1705680">
                  <a:extLst>
                    <a:ext uri="{9D8B030D-6E8A-4147-A177-3AD203B41FA5}">
                      <a16:colId xmlns:a16="http://schemas.microsoft.com/office/drawing/2014/main" val="20001"/>
                    </a:ext>
                  </a:extLst>
                </a:gridCol>
                <a:gridCol w="1705680">
                  <a:extLst>
                    <a:ext uri="{9D8B030D-6E8A-4147-A177-3AD203B41FA5}">
                      <a16:colId xmlns:a16="http://schemas.microsoft.com/office/drawing/2014/main" val="20002"/>
                    </a:ext>
                  </a:extLst>
                </a:gridCol>
                <a:gridCol w="1705680">
                  <a:extLst>
                    <a:ext uri="{9D8B030D-6E8A-4147-A177-3AD203B41FA5}">
                      <a16:colId xmlns:a16="http://schemas.microsoft.com/office/drawing/2014/main" val="20003"/>
                    </a:ext>
                  </a:extLst>
                </a:gridCol>
                <a:gridCol w="1705680">
                  <a:extLst>
                    <a:ext uri="{9D8B030D-6E8A-4147-A177-3AD203B41FA5}">
                      <a16:colId xmlns:a16="http://schemas.microsoft.com/office/drawing/2014/main" val="20004"/>
                    </a:ext>
                  </a:extLst>
                </a:gridCol>
              </a:tblGrid>
              <a:tr h="124920">
                <a:tc>
                  <a:txBody>
                    <a:bodyPr/>
                    <a:lstStyle/>
                    <a:p>
                      <a:pPr>
                        <a:lnSpc>
                          <a:spcPct val="100000"/>
                        </a:lnSpc>
                      </a:pPr>
                      <a:r>
                        <a:rPr lang="en-CH" sz="1800" b="1" u="none" strike="noStrike">
                          <a:solidFill>
                            <a:schemeClr val="lt1"/>
                          </a:solidFill>
                          <a:effectLst/>
                          <a:uFillTx/>
                          <a:latin typeface="Calibri"/>
                          <a:ea typeface="DejaVu Sans"/>
                        </a:rPr>
                        <a:t>Date (index)</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Wind speed</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Wind direction</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Rain fall (mm)</a:t>
                      </a:r>
                      <a:endParaRPr lang="en-GB" sz="1800" b="0" u="none" strike="noStrike">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tc>
                  <a:txBody>
                    <a:bodyPr/>
                    <a:lstStyle/>
                    <a:p>
                      <a:pPr>
                        <a:lnSpc>
                          <a:spcPct val="100000"/>
                        </a:lnSpc>
                      </a:pPr>
                      <a:r>
                        <a:rPr lang="en-CH" sz="1800" b="1" u="none" strike="noStrike">
                          <a:solidFill>
                            <a:schemeClr val="lt1"/>
                          </a:solidFill>
                          <a:effectLst/>
                          <a:uFillTx/>
                          <a:latin typeface="Calibri"/>
                          <a:ea typeface="DejaVu Sans"/>
                        </a:rPr>
                        <a:t>Hours of sun</a:t>
                      </a:r>
                      <a:endParaRPr lang="en-GB" sz="1800" b="0" u="none" strike="noStrike" dirty="0">
                        <a:solidFill>
                          <a:srgbClr val="FFFFFF"/>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accent1"/>
                    </a:solidFill>
                  </a:tcPr>
                </a:tc>
                <a:extLst>
                  <a:ext uri="{0D108BD9-81ED-4DB2-BD59-A6C34878D82A}">
                    <a16:rowId xmlns:a16="http://schemas.microsoft.com/office/drawing/2014/main" val="10000"/>
                  </a:ext>
                </a:extLst>
              </a:tr>
              <a:tr h="370800">
                <a:tc>
                  <a:txBody>
                    <a:bodyPr/>
                    <a:lstStyle/>
                    <a:p>
                      <a:pPr>
                        <a:lnSpc>
                          <a:spcPct val="100000"/>
                        </a:lnSpc>
                      </a:pPr>
                      <a:r>
                        <a:rPr lang="en-CH" sz="1800" b="0" u="none" strike="noStrike">
                          <a:solidFill>
                            <a:schemeClr val="dk1"/>
                          </a:solidFill>
                          <a:effectLst/>
                          <a:uFillTx/>
                          <a:latin typeface="Calibri"/>
                          <a:ea typeface="DejaVu Sans"/>
                        </a:rPr>
                        <a:t>7.3.2024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7.1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N</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0.0</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10</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38160">
                      <a:solidFill>
                        <a:srgbClr val="FFFFFF"/>
                      </a:solidFill>
                      <a:prstDash val="solid"/>
                    </a:lnT>
                    <a:lnB w="12240">
                      <a:solidFill>
                        <a:srgbClr val="FFFFFF"/>
                      </a:solidFill>
                      <a:prstDash val="solid"/>
                    </a:lnB>
                    <a:solidFill>
                      <a:srgbClr val="CFD5E9"/>
                    </a:solidFill>
                  </a:tcPr>
                </a:tc>
                <a:extLst>
                  <a:ext uri="{0D108BD9-81ED-4DB2-BD59-A6C34878D82A}">
                    <a16:rowId xmlns:a16="http://schemas.microsoft.com/office/drawing/2014/main" val="10001"/>
                  </a:ext>
                </a:extLst>
              </a:tr>
              <a:tr h="370800">
                <a:tc>
                  <a:txBody>
                    <a:bodyPr/>
                    <a:lstStyle/>
                    <a:p>
                      <a:pPr>
                        <a:lnSpc>
                          <a:spcPct val="100000"/>
                        </a:lnSpc>
                        <a:tabLst>
                          <a:tab pos="0" algn="l"/>
                        </a:tabLst>
                      </a:pPr>
                      <a:r>
                        <a:rPr lang="en-CH" sz="1800" b="0" u="none" strike="noStrike">
                          <a:solidFill>
                            <a:schemeClr val="dk1"/>
                          </a:solidFill>
                          <a:effectLst/>
                          <a:uFillTx/>
                          <a:latin typeface="Calibri"/>
                          <a:ea typeface="DejaVu Sans"/>
                        </a:rPr>
                        <a:t>8.3.2024</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0.3</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NW</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2.1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tc>
                  <a:txBody>
                    <a:bodyPr/>
                    <a:lstStyle/>
                    <a:p>
                      <a:pPr>
                        <a:lnSpc>
                          <a:spcPct val="100000"/>
                        </a:lnSpc>
                      </a:pPr>
                      <a:r>
                        <a:rPr lang="en-CH" sz="1800" b="0" u="none" strike="noStrike">
                          <a:solidFill>
                            <a:schemeClr val="dk1"/>
                          </a:solidFill>
                          <a:effectLst/>
                          <a:uFillTx/>
                          <a:latin typeface="Calibri"/>
                          <a:ea typeface="DejaVu Sans"/>
                        </a:rPr>
                        <a:t>2</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EBF4"/>
                    </a:solidFill>
                  </a:tcPr>
                </a:tc>
                <a:extLst>
                  <a:ext uri="{0D108BD9-81ED-4DB2-BD59-A6C34878D82A}">
                    <a16:rowId xmlns:a16="http://schemas.microsoft.com/office/drawing/2014/main" val="10002"/>
                  </a:ext>
                </a:extLst>
              </a:tr>
              <a:tr h="370800">
                <a:tc>
                  <a:txBody>
                    <a:bodyPr/>
                    <a:lstStyle/>
                    <a:p>
                      <a:pPr>
                        <a:lnSpc>
                          <a:spcPct val="100000"/>
                        </a:lnSpc>
                      </a:pPr>
                      <a:r>
                        <a:rPr lang="en-CH" sz="1800" b="0" u="none" strike="noStrike">
                          <a:solidFill>
                            <a:schemeClr val="dk1"/>
                          </a:solidFill>
                          <a:effectLst/>
                          <a:uFillTx/>
                          <a:latin typeface="Calibri"/>
                          <a:ea typeface="DejaVu Sans"/>
                        </a:rPr>
                        <a:t>9.3.2024</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1.1</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SE</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0.3</a:t>
                      </a:r>
                      <a:endParaRPr lang="en-GB" sz="1800" b="0" u="none" strike="noStrike">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tc>
                  <a:txBody>
                    <a:bodyPr/>
                    <a:lstStyle/>
                    <a:p>
                      <a:pPr>
                        <a:lnSpc>
                          <a:spcPct val="100000"/>
                        </a:lnSpc>
                      </a:pPr>
                      <a:r>
                        <a:rPr lang="en-CH" sz="1800" b="0" u="none" strike="noStrike">
                          <a:solidFill>
                            <a:schemeClr val="dk1"/>
                          </a:solidFill>
                          <a:effectLst/>
                          <a:uFillTx/>
                          <a:latin typeface="Calibri"/>
                          <a:ea typeface="DejaVu Sans"/>
                        </a:rPr>
                        <a:t>5</a:t>
                      </a:r>
                      <a:endParaRPr lang="en-GB" sz="1800" b="0" u="none" strike="noStrike" dirty="0">
                        <a:solidFill>
                          <a:srgbClr val="000000"/>
                        </a:solidFill>
                        <a:effectLst/>
                        <a:uFillTx/>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FD5E9"/>
                    </a:solidFill>
                  </a:tcPr>
                </a:tc>
                <a:extLst>
                  <a:ext uri="{0D108BD9-81ED-4DB2-BD59-A6C34878D82A}">
                    <a16:rowId xmlns:a16="http://schemas.microsoft.com/office/drawing/2014/main" val="10003"/>
                  </a:ext>
                </a:extLst>
              </a:tr>
            </a:tbl>
          </a:graphicData>
        </a:graphic>
      </p:graphicFrame>
      <p:sp>
        <p:nvSpPr>
          <p:cNvPr id="6" name="PlaceHolder 1">
            <a:extLst>
              <a:ext uri="{FF2B5EF4-FFF2-40B4-BE49-F238E27FC236}">
                <a16:creationId xmlns:a16="http://schemas.microsoft.com/office/drawing/2014/main" id="{A185E540-6991-2700-F82E-527113771D1C}"/>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7" name="PlaceHolder 2">
            <a:extLst>
              <a:ext uri="{FF2B5EF4-FFF2-40B4-BE49-F238E27FC236}">
                <a16:creationId xmlns:a16="http://schemas.microsoft.com/office/drawing/2014/main" id="{9E3C7B0B-D7FA-5080-F4F3-C158194EFFA2}"/>
              </a:ext>
            </a:extLst>
          </p:cNvPr>
          <p:cNvSpPr>
            <a:spLocks noGrp="1"/>
          </p:cNvSpPr>
          <p:nvPr>
            <p:ph type="ftr" idx="1"/>
          </p:nvPr>
        </p:nvSpPr>
        <p:spPr>
          <a:xfrm>
            <a:off x="4038480" y="6356520"/>
            <a:ext cx="4111560" cy="361800"/>
          </a:xfrm>
        </p:spPr>
        <p:txBody>
          <a:bodyPr/>
          <a:lstStyle/>
          <a:p>
            <a:r>
              <a:rPr lang="en-US" dirty="0"/>
              <a:t>Tab, v3.0</a:t>
            </a:r>
            <a:endParaRPr dirty="0"/>
          </a:p>
        </p:txBody>
      </p:sp>
    </p:spTree>
    <p:extLst>
      <p:ext uri="{BB962C8B-B14F-4D97-AF65-F5344CB8AC3E}">
        <p14:creationId xmlns:p14="http://schemas.microsoft.com/office/powerpoint/2010/main" val="41967595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laceHolder 2">
            <a:extLst>
              <a:ext uri="{FF2B5EF4-FFF2-40B4-BE49-F238E27FC236}">
                <a16:creationId xmlns:a16="http://schemas.microsoft.com/office/drawing/2014/main" id="{F6485EBD-2B30-4BA5-3599-EB0ACC6EE114}"/>
              </a:ext>
            </a:extLst>
          </p:cNvPr>
          <p:cNvSpPr>
            <a:spLocks noGrp="1"/>
          </p:cNvSpPr>
          <p:nvPr>
            <p:ph type="body"/>
          </p:nvPr>
        </p:nvSpPr>
        <p:spPr>
          <a:xfrm>
            <a:off x="609480" y="1604520"/>
            <a:ext cx="10972080" cy="3976920"/>
          </a:xfrm>
          <a:prstGeom prst="rect">
            <a:avLst/>
          </a:prstGeom>
          <a:noFill/>
          <a:ln w="0">
            <a:noFill/>
          </a:ln>
        </p:spPr>
        <p:txBody>
          <a:bodyPr lIns="90000" tIns="45000" rIns="90000" bIns="45000" anchor="t">
            <a:normAutofit lnSpcReduction="10000"/>
          </a:bodyPr>
          <a:lstStyle/>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Python tools</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pandas: in-memory tabular data</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dask: on-disk tabular data</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SQL databases</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Optimized for retrieving rows (tree data structure for index)</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Transactional: groups of operations are either all executed, or none</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Columnar DBs, Spark, Hadoop</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Optimized for operations on columns</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Ideal for data science tasks</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Operations can be automatically distributed over multiple machines</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6" name="PlaceHolder 5">
            <a:extLst>
              <a:ext uri="{FF2B5EF4-FFF2-40B4-BE49-F238E27FC236}">
                <a16:creationId xmlns:a16="http://schemas.microsoft.com/office/drawing/2014/main" id="{89E247B0-4773-9469-DF00-D856D10B4A9A}"/>
              </a:ext>
            </a:extLst>
          </p:cNvPr>
          <p:cNvSpPr>
            <a:spLocks noGrp="1"/>
          </p:cNvSpPr>
          <p:nvPr>
            <p:ph type="sldNum" idx="2"/>
          </p:nvPr>
        </p:nvSpPr>
        <p:spPr>
          <a:xfrm>
            <a:off x="8610480" y="6356520"/>
            <a:ext cx="2739960" cy="361800"/>
          </a:xfrm>
        </p:spPr>
        <p:txBody>
          <a:bodyPr/>
          <a:lstStyle/>
          <a:p>
            <a:fld id="{84715A79-DF31-4BA5-9F2D-21B8064E297F}" type="slidenum">
              <a:rPr/>
              <a:t>7</a:t>
            </a:fld>
            <a:endParaRPr/>
          </a:p>
        </p:txBody>
      </p:sp>
      <p:sp>
        <p:nvSpPr>
          <p:cNvPr id="7" name="PlaceHolder 1">
            <a:extLst>
              <a:ext uri="{FF2B5EF4-FFF2-40B4-BE49-F238E27FC236}">
                <a16:creationId xmlns:a16="http://schemas.microsoft.com/office/drawing/2014/main" id="{43857590-1B7D-5487-9C04-00740301F17A}"/>
              </a:ext>
            </a:extLst>
          </p:cNvPr>
          <p:cNvSpPr txBox="1">
            <a:spLocks/>
          </p:cNvSpPr>
          <p:nvPr/>
        </p:nvSpPr>
        <p:spPr>
          <a:xfrm>
            <a:off x="609480" y="273600"/>
            <a:ext cx="10972080" cy="1144440"/>
          </a:xfrm>
          <a:prstGeom prst="rect">
            <a:avLst/>
          </a:prstGeom>
          <a:noFill/>
          <a:ln w="0">
            <a:noFill/>
          </a:ln>
        </p:spPr>
        <p:txBody>
          <a:bodyPr lIns="90000" tIns="45000" rIns="90000" bIns="4500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tabLst>
                <a:tab pos="0" algn="l"/>
              </a:tabLst>
            </a:pPr>
            <a:r>
              <a:rPr lang="en-US">
                <a:solidFill>
                  <a:srgbClr val="1F2328"/>
                </a:solidFill>
                <a:latin typeface="Calibri Light"/>
                <a:ea typeface="DejaVu Sans"/>
              </a:rPr>
              <a:t>Many tools to handle tabular data</a:t>
            </a:r>
            <a:endParaRPr lang="en-GB" dirty="0">
              <a:solidFill>
                <a:srgbClr val="000000"/>
              </a:solidFill>
              <a:latin typeface="Arial"/>
            </a:endParaRPr>
          </a:p>
        </p:txBody>
      </p:sp>
      <p:sp>
        <p:nvSpPr>
          <p:cNvPr id="8" name="PlaceHolder 1">
            <a:extLst>
              <a:ext uri="{FF2B5EF4-FFF2-40B4-BE49-F238E27FC236}">
                <a16:creationId xmlns:a16="http://schemas.microsoft.com/office/drawing/2014/main" id="{F0DDA8BE-4A78-FED4-EB7C-24A0E2A77F9B}"/>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9" name="PlaceHolder 2">
            <a:extLst>
              <a:ext uri="{FF2B5EF4-FFF2-40B4-BE49-F238E27FC236}">
                <a16:creationId xmlns:a16="http://schemas.microsoft.com/office/drawing/2014/main" id="{838B40B1-0BC2-5776-69C4-BBA08BE49552}"/>
              </a:ext>
            </a:extLst>
          </p:cNvPr>
          <p:cNvSpPr>
            <a:spLocks noGrp="1"/>
          </p:cNvSpPr>
          <p:nvPr>
            <p:ph type="ftr" idx="1"/>
          </p:nvPr>
        </p:nvSpPr>
        <p:spPr>
          <a:xfrm>
            <a:off x="4038480" y="6356520"/>
            <a:ext cx="4111560" cy="361800"/>
          </a:xfrm>
        </p:spPr>
        <p:txBody>
          <a:bodyPr/>
          <a:lstStyle/>
          <a:p>
            <a:r>
              <a:rPr lang="en-US" dirty="0"/>
              <a:t>Tab, v3.0</a:t>
            </a:r>
            <a:endParaRPr dirty="0"/>
          </a:p>
        </p:txBody>
      </p:sp>
    </p:spTree>
    <p:extLst>
      <p:ext uri="{BB962C8B-B14F-4D97-AF65-F5344CB8AC3E}">
        <p14:creationId xmlns:p14="http://schemas.microsoft.com/office/powerpoint/2010/main" val="219090895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374D5A-93B6-555A-4012-0FB94114A111}"/>
            </a:ext>
          </a:extLst>
        </p:cNvPr>
        <p:cNvGrpSpPr/>
        <p:nvPr/>
      </p:nvGrpSpPr>
      <p:grpSpPr>
        <a:xfrm>
          <a:off x="0" y="0"/>
          <a:ext cx="0" cy="0"/>
          <a:chOff x="0" y="0"/>
          <a:chExt cx="0" cy="0"/>
        </a:xfrm>
      </p:grpSpPr>
      <p:sp>
        <p:nvSpPr>
          <p:cNvPr id="5" name="PlaceHolder 2">
            <a:extLst>
              <a:ext uri="{FF2B5EF4-FFF2-40B4-BE49-F238E27FC236}">
                <a16:creationId xmlns:a16="http://schemas.microsoft.com/office/drawing/2014/main" id="{ED9A4333-D900-DE3E-46CA-1A7900B32361}"/>
              </a:ext>
            </a:extLst>
          </p:cNvPr>
          <p:cNvSpPr>
            <a:spLocks noGrp="1"/>
          </p:cNvSpPr>
          <p:nvPr>
            <p:ph type="body"/>
          </p:nvPr>
        </p:nvSpPr>
        <p:spPr>
          <a:xfrm>
            <a:off x="609480" y="1604520"/>
            <a:ext cx="10972080" cy="3976920"/>
          </a:xfrm>
          <a:prstGeom prst="rect">
            <a:avLst/>
          </a:prstGeom>
          <a:noFill/>
          <a:ln w="0">
            <a:noFill/>
          </a:ln>
        </p:spPr>
        <p:txBody>
          <a:bodyPr lIns="90000" tIns="45000" rIns="90000" bIns="45000" anchor="t">
            <a:normAutofit lnSpcReduction="10000"/>
          </a:bodyPr>
          <a:lstStyle/>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Python tools</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pandas: in-memory tabular data</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dask: on-disk tabular data</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SQL databases</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Optimized for retrieving rows (tree data structure for index)</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Transactional: groups of operations are either all executed, or none</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Columnar DBs, Spark, Hadoop</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Optimized for operations on columns</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Ideal for data science tasks</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Operations can be automatically distributed over multiple machines</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6" name="PlaceHolder 5">
            <a:extLst>
              <a:ext uri="{FF2B5EF4-FFF2-40B4-BE49-F238E27FC236}">
                <a16:creationId xmlns:a16="http://schemas.microsoft.com/office/drawing/2014/main" id="{0E680EC3-545D-02AD-8DA7-A0681235598F}"/>
              </a:ext>
            </a:extLst>
          </p:cNvPr>
          <p:cNvSpPr>
            <a:spLocks noGrp="1"/>
          </p:cNvSpPr>
          <p:nvPr>
            <p:ph type="sldNum" idx="2"/>
          </p:nvPr>
        </p:nvSpPr>
        <p:spPr>
          <a:xfrm>
            <a:off x="8610480" y="6356520"/>
            <a:ext cx="2739960" cy="361800"/>
          </a:xfrm>
        </p:spPr>
        <p:txBody>
          <a:bodyPr/>
          <a:lstStyle/>
          <a:p>
            <a:fld id="{84715A79-DF31-4BA5-9F2D-21B8064E297F}" type="slidenum">
              <a:rPr/>
              <a:t>8</a:t>
            </a:fld>
            <a:endParaRPr/>
          </a:p>
        </p:txBody>
      </p:sp>
      <p:sp>
        <p:nvSpPr>
          <p:cNvPr id="7" name="PlaceHolder 1">
            <a:extLst>
              <a:ext uri="{FF2B5EF4-FFF2-40B4-BE49-F238E27FC236}">
                <a16:creationId xmlns:a16="http://schemas.microsoft.com/office/drawing/2014/main" id="{E4A447D4-CF8A-B35C-2661-9D739BF14174}"/>
              </a:ext>
            </a:extLst>
          </p:cNvPr>
          <p:cNvSpPr txBox="1">
            <a:spLocks/>
          </p:cNvSpPr>
          <p:nvPr/>
        </p:nvSpPr>
        <p:spPr>
          <a:xfrm>
            <a:off x="609480" y="273600"/>
            <a:ext cx="10972080" cy="1144440"/>
          </a:xfrm>
          <a:prstGeom prst="rect">
            <a:avLst/>
          </a:prstGeom>
          <a:noFill/>
          <a:ln w="0">
            <a:noFill/>
          </a:ln>
        </p:spPr>
        <p:txBody>
          <a:bodyPr lIns="90000" tIns="45000" rIns="90000" bIns="4500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tabLst>
                <a:tab pos="0" algn="l"/>
              </a:tabLst>
            </a:pPr>
            <a:r>
              <a:rPr lang="en-US">
                <a:solidFill>
                  <a:srgbClr val="1F2328"/>
                </a:solidFill>
                <a:latin typeface="Calibri Light"/>
                <a:ea typeface="DejaVu Sans"/>
              </a:rPr>
              <a:t>Many tools to handle tabular data</a:t>
            </a:r>
            <a:endParaRPr lang="en-GB" dirty="0">
              <a:solidFill>
                <a:srgbClr val="000000"/>
              </a:solidFill>
              <a:latin typeface="Arial"/>
            </a:endParaRPr>
          </a:p>
        </p:txBody>
      </p:sp>
      <p:sp>
        <p:nvSpPr>
          <p:cNvPr id="8" name="PlaceHolder 1">
            <a:extLst>
              <a:ext uri="{FF2B5EF4-FFF2-40B4-BE49-F238E27FC236}">
                <a16:creationId xmlns:a16="http://schemas.microsoft.com/office/drawing/2014/main" id="{1AD7EF3E-E7E6-0395-33A1-7DB3AFF7C9A7}"/>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9" name="PlaceHolder 2">
            <a:extLst>
              <a:ext uri="{FF2B5EF4-FFF2-40B4-BE49-F238E27FC236}">
                <a16:creationId xmlns:a16="http://schemas.microsoft.com/office/drawing/2014/main" id="{EA4A8974-2F7C-E45E-AE62-E56BFE822468}"/>
              </a:ext>
            </a:extLst>
          </p:cNvPr>
          <p:cNvSpPr>
            <a:spLocks noGrp="1"/>
          </p:cNvSpPr>
          <p:nvPr>
            <p:ph type="ftr" idx="1"/>
          </p:nvPr>
        </p:nvSpPr>
        <p:spPr>
          <a:xfrm>
            <a:off x="4038480" y="6356520"/>
            <a:ext cx="4111560" cy="361800"/>
          </a:xfrm>
        </p:spPr>
        <p:txBody>
          <a:bodyPr/>
          <a:lstStyle/>
          <a:p>
            <a:r>
              <a:rPr lang="en-US" dirty="0"/>
              <a:t>Tab, v3.0</a:t>
            </a:r>
            <a:endParaRPr dirty="0"/>
          </a:p>
        </p:txBody>
      </p:sp>
      <p:sp>
        <p:nvSpPr>
          <p:cNvPr id="10" name="TextBox 78">
            <a:extLst>
              <a:ext uri="{FF2B5EF4-FFF2-40B4-BE49-F238E27FC236}">
                <a16:creationId xmlns:a16="http://schemas.microsoft.com/office/drawing/2014/main" id="{989C4E9D-0206-9C10-AD2B-879DA5C0D9B4}"/>
              </a:ext>
            </a:extLst>
          </p:cNvPr>
          <p:cNvSpPr/>
          <p:nvPr/>
        </p:nvSpPr>
        <p:spPr>
          <a:xfrm>
            <a:off x="1574516" y="1775094"/>
            <a:ext cx="9179640" cy="3968864"/>
          </a:xfrm>
          <a:custGeom>
            <a:avLst/>
            <a:gdLst>
              <a:gd name="textAreaLeft" fmla="*/ 0 w 9179640"/>
              <a:gd name="textAreaRight" fmla="*/ 9184320 w 9179640"/>
              <a:gd name="textAreaTop" fmla="*/ 0 h 3377880"/>
              <a:gd name="textAreaBottom" fmla="*/ 3382200 h 3377880"/>
            </a:gdLst>
            <a:ahLst/>
            <a:cxnLst/>
            <a:rect l="textAreaLeft" t="textAreaTop" r="textAreaRight" b="textAreaBottom"/>
            <a:pathLst>
              <a:path w="5712296" h="2308324" fill="none">
                <a:moveTo>
                  <a:pt x="0" y="0"/>
                </a:moveTo>
                <a:cubicBezTo>
                  <a:pt x="170481" y="12395"/>
                  <a:pt x="474495" y="4923"/>
                  <a:pt x="691823" y="0"/>
                </a:cubicBezTo>
                <a:cubicBezTo>
                  <a:pt x="909151" y="-4923"/>
                  <a:pt x="1025161" y="11703"/>
                  <a:pt x="1155153" y="0"/>
                </a:cubicBezTo>
                <a:cubicBezTo>
                  <a:pt x="1285145" y="-11703"/>
                  <a:pt x="1576417" y="299"/>
                  <a:pt x="1732730" y="0"/>
                </a:cubicBezTo>
                <a:cubicBezTo>
                  <a:pt x="1889043" y="-299"/>
                  <a:pt x="2130093" y="16857"/>
                  <a:pt x="2481675" y="0"/>
                </a:cubicBezTo>
                <a:cubicBezTo>
                  <a:pt x="2833257" y="-16857"/>
                  <a:pt x="2873551" y="17793"/>
                  <a:pt x="3116375" y="0"/>
                </a:cubicBezTo>
                <a:cubicBezTo>
                  <a:pt x="3359199" y="-17793"/>
                  <a:pt x="3543615" y="15531"/>
                  <a:pt x="3808197" y="0"/>
                </a:cubicBezTo>
                <a:cubicBezTo>
                  <a:pt x="4072779" y="-15531"/>
                  <a:pt x="4244086" y="-26212"/>
                  <a:pt x="4385774" y="0"/>
                </a:cubicBezTo>
                <a:cubicBezTo>
                  <a:pt x="4527462" y="26212"/>
                  <a:pt x="4804411" y="-17362"/>
                  <a:pt x="5020473" y="0"/>
                </a:cubicBezTo>
                <a:cubicBezTo>
                  <a:pt x="5236535" y="17362"/>
                  <a:pt x="5483850" y="13915"/>
                  <a:pt x="5712296" y="0"/>
                </a:cubicBezTo>
                <a:cubicBezTo>
                  <a:pt x="5698337" y="227921"/>
                  <a:pt x="5726828" y="309662"/>
                  <a:pt x="5712296" y="530915"/>
                </a:cubicBezTo>
                <a:cubicBezTo>
                  <a:pt x="5697764" y="752169"/>
                  <a:pt x="5697572" y="832379"/>
                  <a:pt x="5712296" y="1038746"/>
                </a:cubicBezTo>
                <a:cubicBezTo>
                  <a:pt x="5727020" y="1245113"/>
                  <a:pt x="5718057" y="1350161"/>
                  <a:pt x="5712296" y="1569660"/>
                </a:cubicBezTo>
                <a:cubicBezTo>
                  <a:pt x="5706535" y="1789159"/>
                  <a:pt x="5715761" y="2034313"/>
                  <a:pt x="5712296" y="2308324"/>
                </a:cubicBezTo>
                <a:cubicBezTo>
                  <a:pt x="5427327" y="2287513"/>
                  <a:pt x="5344141" y="2327301"/>
                  <a:pt x="5077596" y="2308324"/>
                </a:cubicBezTo>
                <a:cubicBezTo>
                  <a:pt x="4811051" y="2289347"/>
                  <a:pt x="4588159" y="2292673"/>
                  <a:pt x="4442897" y="2308324"/>
                </a:cubicBezTo>
                <a:cubicBezTo>
                  <a:pt x="4297635" y="2323975"/>
                  <a:pt x="4142033" y="2304319"/>
                  <a:pt x="3922443" y="2308324"/>
                </a:cubicBezTo>
                <a:cubicBezTo>
                  <a:pt x="3702853" y="2312329"/>
                  <a:pt x="3448460" y="2301342"/>
                  <a:pt x="3287744" y="2308324"/>
                </a:cubicBezTo>
                <a:cubicBezTo>
                  <a:pt x="3127028" y="2315306"/>
                  <a:pt x="2908419" y="2286204"/>
                  <a:pt x="2653044" y="2308324"/>
                </a:cubicBezTo>
                <a:cubicBezTo>
                  <a:pt x="2397669" y="2330444"/>
                  <a:pt x="2181981" y="2338620"/>
                  <a:pt x="2018345" y="2308324"/>
                </a:cubicBezTo>
                <a:cubicBezTo>
                  <a:pt x="1854709" y="2278028"/>
                  <a:pt x="1523819" y="2337051"/>
                  <a:pt x="1383645" y="2308324"/>
                </a:cubicBezTo>
                <a:cubicBezTo>
                  <a:pt x="1243471" y="2279597"/>
                  <a:pt x="1031240" y="2304491"/>
                  <a:pt x="806068" y="2308324"/>
                </a:cubicBezTo>
                <a:cubicBezTo>
                  <a:pt x="580896" y="2312157"/>
                  <a:pt x="347967" y="2325492"/>
                  <a:pt x="0" y="2308324"/>
                </a:cubicBezTo>
                <a:cubicBezTo>
                  <a:pt x="9212" y="2185053"/>
                  <a:pt x="-17414" y="1970670"/>
                  <a:pt x="0" y="1731243"/>
                </a:cubicBezTo>
                <a:cubicBezTo>
                  <a:pt x="17414" y="1491816"/>
                  <a:pt x="-10325" y="1313911"/>
                  <a:pt x="0" y="1131079"/>
                </a:cubicBezTo>
                <a:cubicBezTo>
                  <a:pt x="10325" y="948247"/>
                  <a:pt x="-25330" y="680352"/>
                  <a:pt x="0" y="530915"/>
                </a:cubicBezTo>
                <a:cubicBezTo>
                  <a:pt x="25330" y="381478"/>
                  <a:pt x="12113" y="149989"/>
                  <a:pt x="0" y="0"/>
                </a:cubicBezTo>
                <a:close/>
              </a:path>
              <a:path w="5712296" h="2308324" stroke="0">
                <a:moveTo>
                  <a:pt x="0" y="0"/>
                </a:moveTo>
                <a:cubicBezTo>
                  <a:pt x="117366" y="12157"/>
                  <a:pt x="427981" y="-1654"/>
                  <a:pt x="577577" y="0"/>
                </a:cubicBezTo>
                <a:cubicBezTo>
                  <a:pt x="727173" y="1654"/>
                  <a:pt x="919785" y="-10211"/>
                  <a:pt x="1040907" y="0"/>
                </a:cubicBezTo>
                <a:cubicBezTo>
                  <a:pt x="1162029" y="10211"/>
                  <a:pt x="1577922" y="25650"/>
                  <a:pt x="1789853" y="0"/>
                </a:cubicBezTo>
                <a:cubicBezTo>
                  <a:pt x="2001784" y="-25650"/>
                  <a:pt x="2188209" y="-24222"/>
                  <a:pt x="2367429" y="0"/>
                </a:cubicBezTo>
                <a:cubicBezTo>
                  <a:pt x="2546649" y="24222"/>
                  <a:pt x="2756192" y="-23950"/>
                  <a:pt x="2945006" y="0"/>
                </a:cubicBezTo>
                <a:cubicBezTo>
                  <a:pt x="3133820" y="23950"/>
                  <a:pt x="3433459" y="-33367"/>
                  <a:pt x="3693951" y="0"/>
                </a:cubicBezTo>
                <a:cubicBezTo>
                  <a:pt x="3954443" y="33367"/>
                  <a:pt x="4032117" y="-813"/>
                  <a:pt x="4214405" y="0"/>
                </a:cubicBezTo>
                <a:cubicBezTo>
                  <a:pt x="4396693" y="813"/>
                  <a:pt x="4790380" y="18167"/>
                  <a:pt x="4963351" y="0"/>
                </a:cubicBezTo>
                <a:cubicBezTo>
                  <a:pt x="5136322" y="-18167"/>
                  <a:pt x="5355621" y="-34473"/>
                  <a:pt x="5712296" y="0"/>
                </a:cubicBezTo>
                <a:cubicBezTo>
                  <a:pt x="5703245" y="275623"/>
                  <a:pt x="5730046" y="433797"/>
                  <a:pt x="5712296" y="577081"/>
                </a:cubicBezTo>
                <a:cubicBezTo>
                  <a:pt x="5694546" y="720365"/>
                  <a:pt x="5706106" y="925832"/>
                  <a:pt x="5712296" y="1154162"/>
                </a:cubicBezTo>
                <a:cubicBezTo>
                  <a:pt x="5718486" y="1382492"/>
                  <a:pt x="5707131" y="1562931"/>
                  <a:pt x="5712296" y="1754326"/>
                </a:cubicBezTo>
                <a:cubicBezTo>
                  <a:pt x="5717461" y="1945721"/>
                  <a:pt x="5715860" y="2077979"/>
                  <a:pt x="5712296" y="2308324"/>
                </a:cubicBezTo>
                <a:cubicBezTo>
                  <a:pt x="5577581" y="2308670"/>
                  <a:pt x="5224458" y="2290918"/>
                  <a:pt x="5077596" y="2308324"/>
                </a:cubicBezTo>
                <a:cubicBezTo>
                  <a:pt x="4930734" y="2325730"/>
                  <a:pt x="4790654" y="2322770"/>
                  <a:pt x="4557143" y="2308324"/>
                </a:cubicBezTo>
                <a:cubicBezTo>
                  <a:pt x="4323632" y="2293878"/>
                  <a:pt x="4066460" y="2312216"/>
                  <a:pt x="3922443" y="2308324"/>
                </a:cubicBezTo>
                <a:cubicBezTo>
                  <a:pt x="3778426" y="2304432"/>
                  <a:pt x="3352455" y="2286696"/>
                  <a:pt x="3173498" y="2308324"/>
                </a:cubicBezTo>
                <a:cubicBezTo>
                  <a:pt x="2994541" y="2329952"/>
                  <a:pt x="2709991" y="2308489"/>
                  <a:pt x="2538798" y="2308324"/>
                </a:cubicBezTo>
                <a:cubicBezTo>
                  <a:pt x="2367605" y="2308159"/>
                  <a:pt x="2190477" y="2285762"/>
                  <a:pt x="2075468" y="2308324"/>
                </a:cubicBezTo>
                <a:cubicBezTo>
                  <a:pt x="1960459" y="2330887"/>
                  <a:pt x="1781938" y="2316511"/>
                  <a:pt x="1555014" y="2308324"/>
                </a:cubicBezTo>
                <a:cubicBezTo>
                  <a:pt x="1328090" y="2300137"/>
                  <a:pt x="978738" y="2284534"/>
                  <a:pt x="806068" y="2308324"/>
                </a:cubicBezTo>
                <a:cubicBezTo>
                  <a:pt x="633398" y="2332114"/>
                  <a:pt x="358206" y="2331133"/>
                  <a:pt x="0" y="2308324"/>
                </a:cubicBezTo>
                <a:cubicBezTo>
                  <a:pt x="-23618" y="2154219"/>
                  <a:pt x="18177" y="1906591"/>
                  <a:pt x="0" y="1777409"/>
                </a:cubicBezTo>
                <a:cubicBezTo>
                  <a:pt x="-18177" y="1648228"/>
                  <a:pt x="-9736" y="1356449"/>
                  <a:pt x="0" y="1223412"/>
                </a:cubicBezTo>
                <a:cubicBezTo>
                  <a:pt x="9736" y="1090375"/>
                  <a:pt x="16833" y="862591"/>
                  <a:pt x="0" y="715580"/>
                </a:cubicBezTo>
                <a:cubicBezTo>
                  <a:pt x="-16833" y="568569"/>
                  <a:pt x="13966" y="290526"/>
                  <a:pt x="0" y="0"/>
                </a:cubicBezTo>
                <a:close/>
              </a:path>
            </a:pathLst>
          </a:custGeom>
          <a:solidFill>
            <a:schemeClr val="accent5">
              <a:lumMod val="20000"/>
              <a:lumOff val="80000"/>
            </a:schemeClr>
          </a:solidFill>
          <a:ln w="38100">
            <a:solidFill>
              <a:srgbClr val="000000"/>
            </a:solidFill>
            <a:round/>
          </a:ln>
        </p:spPr>
        <p:style>
          <a:lnRef idx="0">
            <a:scrgbClr r="0" g="0" b="0"/>
          </a:lnRef>
          <a:fillRef idx="0">
            <a:scrgbClr r="0" g="0" b="0"/>
          </a:fillRef>
          <a:effectRef idx="0">
            <a:scrgbClr r="0" g="0" b="0"/>
          </a:effectRef>
          <a:fontRef idx="minor"/>
        </p:style>
        <p:txBody>
          <a:bodyPr lIns="90000" tIns="45000" rIns="90000" bIns="45000" anchor="t" anchorCtr="1">
            <a:spAutoFit/>
          </a:bodyPr>
          <a:lstStyle/>
          <a:p>
            <a:pPr algn="ctr">
              <a:lnSpc>
                <a:spcPct val="100000"/>
              </a:lnSpc>
            </a:pP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a:p>
            <a:pPr algn="ctr">
              <a:lnSpc>
                <a:spcPct val="100000"/>
              </a:lnSpc>
            </a:pP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Today we will see an example in </a:t>
            </a:r>
            <a:r>
              <a:rPr lang="en-CH" sz="3600" b="0" i="1" u="none" strike="noStrike">
                <a:solidFill>
                  <a:srgbClr val="000000"/>
                </a:solidFill>
                <a:effectLst/>
                <a:uFillTx/>
                <a:latin typeface="Calibri" panose="020F0502020204030204" pitchFamily="34" charset="0"/>
                <a:ea typeface="DejaVu Sans"/>
                <a:cs typeface="Calibri" panose="020F0502020204030204" pitchFamily="34" charset="0"/>
              </a:rPr>
              <a:t>pandas</a:t>
            </a: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but the reasoning we will see are general </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and apply to all of them</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a:p>
            <a:pPr algn="ctr">
              <a:lnSpc>
                <a:spcPct val="100000"/>
              </a:lnSpc>
            </a:pP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a:p>
            <a:pPr algn="ctr">
              <a:lnSpc>
                <a:spcPct val="100000"/>
              </a:lnSpc>
            </a:pP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pic>
        <p:nvPicPr>
          <p:cNvPr id="11" name="Picture 10" descr="Pandita Intenso 65 Pz">
            <a:extLst>
              <a:ext uri="{FF2B5EF4-FFF2-40B4-BE49-F238E27FC236}">
                <a16:creationId xmlns:a16="http://schemas.microsoft.com/office/drawing/2014/main" id="{2F33C0FD-7373-446F-6ECA-5E7E546C2A16}"/>
              </a:ext>
            </a:extLst>
          </p:cNvPr>
          <p:cNvPicPr>
            <a:picLocks noChangeAspect="1"/>
          </p:cNvPicPr>
          <p:nvPr/>
        </p:nvPicPr>
        <p:blipFill>
          <a:blip r:embed="rId2"/>
          <a:srcRect l="23479" t="4973" r="23966" b="5094"/>
          <a:stretch>
            <a:fillRect/>
          </a:stretch>
        </p:blipFill>
        <p:spPr>
          <a:xfrm>
            <a:off x="10061395" y="211705"/>
            <a:ext cx="1657797" cy="2836855"/>
          </a:xfrm>
          <a:prstGeom prst="rect">
            <a:avLst/>
          </a:prstGeom>
        </p:spPr>
      </p:pic>
    </p:spTree>
    <p:extLst>
      <p:ext uri="{BB962C8B-B14F-4D97-AF65-F5344CB8AC3E}">
        <p14:creationId xmlns:p14="http://schemas.microsoft.com/office/powerpoint/2010/main" val="31157843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PlaceHolder 5"/>
          <p:cNvSpPr>
            <a:spLocks noGrp="1"/>
          </p:cNvSpPr>
          <p:nvPr>
            <p:ph type="sldNum" idx="2"/>
          </p:nvPr>
        </p:nvSpPr>
        <p:spPr/>
        <p:txBody>
          <a:bodyPr/>
          <a:lstStyle/>
          <a:p>
            <a:fld id="{84715A79-DF31-4BA5-9F2D-21B8064E297F}" type="slidenum">
              <a:rPr/>
              <a:t>9</a:t>
            </a:fld>
            <a:endParaRPr/>
          </a:p>
        </p:txBody>
      </p:sp>
      <p:sp>
        <p:nvSpPr>
          <p:cNvPr id="252" name="PlaceHolder 1"/>
          <p:cNvSpPr>
            <a:spLocks noGrp="1"/>
          </p:cNvSpPr>
          <p:nvPr>
            <p:ph type="title"/>
          </p:nvPr>
        </p:nvSpPr>
        <p:spPr>
          <a:xfrm>
            <a:off x="608220" y="124123"/>
            <a:ext cx="10972080" cy="1144440"/>
          </a:xfrm>
          <a:prstGeom prst="rect">
            <a:avLst/>
          </a:prstGeom>
          <a:noFill/>
          <a:ln w="0">
            <a:noFill/>
          </a:ln>
        </p:spPr>
        <p:txBody>
          <a:bodyPr lIns="90000" tIns="45000" rIns="90000" bIns="45000" anchor="ctr">
            <a:noAutofit/>
          </a:bodyPr>
          <a:lstStyle/>
          <a:p>
            <a:pPr indent="0">
              <a:lnSpc>
                <a:spcPct val="90000"/>
              </a:lnSpc>
              <a:buNone/>
              <a:tabLst>
                <a:tab pos="0" algn="l"/>
              </a:tabLst>
            </a:pPr>
            <a:r>
              <a:rPr lang="en-US" sz="4400" b="0" u="none" strike="noStrike" dirty="0">
                <a:solidFill>
                  <a:srgbClr val="1F2328"/>
                </a:solidFill>
                <a:effectLst/>
                <a:uFillTx/>
                <a:latin typeface="Calibri Light"/>
                <a:ea typeface="DejaVu Sans"/>
              </a:rPr>
              <a:t>Why pandas?</a:t>
            </a:r>
            <a:endParaRPr lang="en-GB" sz="4400" b="0" u="none" strike="noStrike" dirty="0">
              <a:solidFill>
                <a:srgbClr val="000000"/>
              </a:solidFill>
              <a:effectLst/>
              <a:uFillTx/>
              <a:latin typeface="Arial"/>
            </a:endParaRPr>
          </a:p>
        </p:txBody>
      </p:sp>
      <p:sp>
        <p:nvSpPr>
          <p:cNvPr id="2" name="PlaceHolder 1">
            <a:extLst>
              <a:ext uri="{FF2B5EF4-FFF2-40B4-BE49-F238E27FC236}">
                <a16:creationId xmlns:a16="http://schemas.microsoft.com/office/drawing/2014/main" id="{E5A91741-0C98-E230-442E-B198FD0EA44B}"/>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7" name="PlaceHolder 2">
            <a:extLst>
              <a:ext uri="{FF2B5EF4-FFF2-40B4-BE49-F238E27FC236}">
                <a16:creationId xmlns:a16="http://schemas.microsoft.com/office/drawing/2014/main" id="{54ED9DE9-9AB8-89C7-6CA2-5F892891314B}"/>
              </a:ext>
            </a:extLst>
          </p:cNvPr>
          <p:cNvSpPr>
            <a:spLocks noGrp="1"/>
          </p:cNvSpPr>
          <p:nvPr>
            <p:ph type="ftr" idx="1"/>
          </p:nvPr>
        </p:nvSpPr>
        <p:spPr>
          <a:xfrm>
            <a:off x="4038480" y="6356520"/>
            <a:ext cx="4111560" cy="361800"/>
          </a:xfrm>
        </p:spPr>
        <p:txBody>
          <a:bodyPr/>
          <a:lstStyle/>
          <a:p>
            <a:r>
              <a:rPr lang="en-US" dirty="0"/>
              <a:t>Tab, v3.0</a:t>
            </a:r>
            <a:endParaRPr dirty="0"/>
          </a:p>
        </p:txBody>
      </p:sp>
      <p:pic>
        <p:nvPicPr>
          <p:cNvPr id="10" name="Picture 9">
            <a:extLst>
              <a:ext uri="{FF2B5EF4-FFF2-40B4-BE49-F238E27FC236}">
                <a16:creationId xmlns:a16="http://schemas.microsoft.com/office/drawing/2014/main" id="{9A61FBC5-877A-424C-1B0C-E0CC53D628D5}"/>
              </a:ext>
            </a:extLst>
          </p:cNvPr>
          <p:cNvPicPr>
            <a:picLocks noChangeAspect="1"/>
          </p:cNvPicPr>
          <p:nvPr/>
        </p:nvPicPr>
        <p:blipFill>
          <a:blip r:embed="rId3"/>
          <a:stretch>
            <a:fillRect/>
          </a:stretch>
        </p:blipFill>
        <p:spPr>
          <a:xfrm>
            <a:off x="1422280" y="2501204"/>
            <a:ext cx="3691609" cy="3828674"/>
          </a:xfrm>
          <a:prstGeom prst="rect">
            <a:avLst/>
          </a:prstGeom>
        </p:spPr>
      </p:pic>
      <p:sp>
        <p:nvSpPr>
          <p:cNvPr id="11" name="TextBox 10">
            <a:extLst>
              <a:ext uri="{FF2B5EF4-FFF2-40B4-BE49-F238E27FC236}">
                <a16:creationId xmlns:a16="http://schemas.microsoft.com/office/drawing/2014/main" id="{018C1072-CE57-DA47-0FC0-01E0A1997D1D}"/>
              </a:ext>
            </a:extLst>
          </p:cNvPr>
          <p:cNvSpPr txBox="1"/>
          <p:nvPr/>
        </p:nvSpPr>
        <p:spPr>
          <a:xfrm>
            <a:off x="1334597" y="1146987"/>
            <a:ext cx="4431021" cy="1354217"/>
          </a:xfrm>
          <a:prstGeom prst="rect">
            <a:avLst/>
          </a:prstGeom>
          <a:noFill/>
        </p:spPr>
        <p:txBody>
          <a:bodyPr wrap="none" rtlCol="0">
            <a:spAutoFit/>
          </a:bodyPr>
          <a:lstStyle/>
          <a:p>
            <a:r>
              <a:rPr lang="en-US" sz="1600" b="1" u="sng" dirty="0"/>
              <a:t>Stack overflow survey 2021</a:t>
            </a:r>
          </a:p>
          <a:p>
            <a:r>
              <a:rPr lang="en-DE" sz="1600" dirty="0"/>
              <a:t>Which </a:t>
            </a:r>
            <a:r>
              <a:rPr lang="en-DE" sz="1600" b="1" dirty="0"/>
              <a:t>other frameworks and libraries</a:t>
            </a:r>
            <a:r>
              <a:rPr lang="en-DE" sz="1600" dirty="0"/>
              <a:t> have </a:t>
            </a:r>
          </a:p>
          <a:p>
            <a:r>
              <a:rPr lang="en-DE" sz="1600" dirty="0"/>
              <a:t>you done extensive development work in </a:t>
            </a:r>
          </a:p>
          <a:p>
            <a:r>
              <a:rPr lang="en-DE" sz="1600" dirty="0"/>
              <a:t>over the past year, and which do you want</a:t>
            </a:r>
          </a:p>
          <a:p>
            <a:r>
              <a:rPr lang="en-DE" sz="1600" dirty="0"/>
              <a:t>to work in over the next year?</a:t>
            </a:r>
          </a:p>
        </p:txBody>
      </p:sp>
      <p:sp>
        <p:nvSpPr>
          <p:cNvPr id="14" name="TextBox 13">
            <a:extLst>
              <a:ext uri="{FF2B5EF4-FFF2-40B4-BE49-F238E27FC236}">
                <a16:creationId xmlns:a16="http://schemas.microsoft.com/office/drawing/2014/main" id="{1F02804D-12B0-F043-8401-C26C950A7A65}"/>
              </a:ext>
            </a:extLst>
          </p:cNvPr>
          <p:cNvSpPr txBox="1"/>
          <p:nvPr/>
        </p:nvSpPr>
        <p:spPr>
          <a:xfrm>
            <a:off x="1536352" y="6185412"/>
            <a:ext cx="3089307" cy="184666"/>
          </a:xfrm>
          <a:prstGeom prst="rect">
            <a:avLst/>
          </a:prstGeom>
          <a:noFill/>
        </p:spPr>
        <p:txBody>
          <a:bodyPr wrap="none" rtlCol="0">
            <a:spAutoFit/>
          </a:bodyPr>
          <a:lstStyle/>
          <a:p>
            <a:r>
              <a:rPr lang="en-US" sz="600" dirty="0">
                <a:solidFill>
                  <a:schemeClr val="bg1"/>
                </a:solidFill>
              </a:rPr>
              <a:t>https://</a:t>
            </a:r>
            <a:r>
              <a:rPr lang="en-US" sz="600" dirty="0" err="1">
                <a:solidFill>
                  <a:schemeClr val="bg1"/>
                </a:solidFill>
              </a:rPr>
              <a:t>survey.stackoverflow.co</a:t>
            </a:r>
            <a:r>
              <a:rPr lang="en-US" sz="600" dirty="0">
                <a:solidFill>
                  <a:schemeClr val="bg1"/>
                </a:solidFill>
              </a:rPr>
              <a:t>/2021?most-popular-technologies-misc-tech#overview</a:t>
            </a:r>
          </a:p>
        </p:txBody>
      </p:sp>
      <p:grpSp>
        <p:nvGrpSpPr>
          <p:cNvPr id="17" name="Group 16">
            <a:extLst>
              <a:ext uri="{FF2B5EF4-FFF2-40B4-BE49-F238E27FC236}">
                <a16:creationId xmlns:a16="http://schemas.microsoft.com/office/drawing/2014/main" id="{02204F38-5C56-92D0-1DD1-0F8E8134E85A}"/>
              </a:ext>
            </a:extLst>
          </p:cNvPr>
          <p:cNvGrpSpPr/>
          <p:nvPr/>
        </p:nvGrpSpPr>
        <p:grpSpPr>
          <a:xfrm>
            <a:off x="6876018" y="596549"/>
            <a:ext cx="4431021" cy="5733329"/>
            <a:chOff x="7739618" y="583849"/>
            <a:chExt cx="4431021" cy="5733329"/>
          </a:xfrm>
        </p:grpSpPr>
        <p:pic>
          <p:nvPicPr>
            <p:cNvPr id="15" name="Picture 14">
              <a:extLst>
                <a:ext uri="{FF2B5EF4-FFF2-40B4-BE49-F238E27FC236}">
                  <a16:creationId xmlns:a16="http://schemas.microsoft.com/office/drawing/2014/main" id="{01F53AB6-4E7D-EFDF-1252-BDDB48BC14CD}"/>
                </a:ext>
              </a:extLst>
            </p:cNvPr>
            <p:cNvPicPr>
              <a:picLocks noChangeAspect="1"/>
            </p:cNvPicPr>
            <p:nvPr/>
          </p:nvPicPr>
          <p:blipFill>
            <a:blip r:embed="rId4"/>
            <a:stretch>
              <a:fillRect/>
            </a:stretch>
          </p:blipFill>
          <p:spPr>
            <a:xfrm>
              <a:off x="7739618" y="583849"/>
              <a:ext cx="4431021" cy="5733329"/>
            </a:xfrm>
            <a:prstGeom prst="rect">
              <a:avLst/>
            </a:prstGeom>
          </p:spPr>
        </p:pic>
        <p:sp>
          <p:nvSpPr>
            <p:cNvPr id="16" name="TextBox 15">
              <a:extLst>
                <a:ext uri="{FF2B5EF4-FFF2-40B4-BE49-F238E27FC236}">
                  <a16:creationId xmlns:a16="http://schemas.microsoft.com/office/drawing/2014/main" id="{B04E9A5A-9665-08E3-86A9-161B4355CD11}"/>
                </a:ext>
              </a:extLst>
            </p:cNvPr>
            <p:cNvSpPr txBox="1"/>
            <p:nvPr/>
          </p:nvSpPr>
          <p:spPr>
            <a:xfrm>
              <a:off x="10072153" y="6132512"/>
              <a:ext cx="2087431" cy="184666"/>
            </a:xfrm>
            <a:prstGeom prst="rect">
              <a:avLst/>
            </a:prstGeom>
            <a:noFill/>
          </p:spPr>
          <p:txBody>
            <a:bodyPr wrap="none" rtlCol="0">
              <a:spAutoFit/>
            </a:bodyPr>
            <a:lstStyle/>
            <a:p>
              <a:r>
                <a:rPr lang="en-US" sz="600" dirty="0">
                  <a:solidFill>
                    <a:schemeClr val="bg1"/>
                  </a:solidFill>
                </a:rPr>
                <a:t>https://</a:t>
              </a:r>
              <a:r>
                <a:rPr lang="en-US" sz="600" dirty="0" err="1">
                  <a:solidFill>
                    <a:schemeClr val="bg1"/>
                  </a:solidFill>
                </a:rPr>
                <a:t>lp.jetbrains.com</a:t>
              </a:r>
              <a:r>
                <a:rPr lang="en-US" sz="600" dirty="0">
                  <a:solidFill>
                    <a:schemeClr val="bg1"/>
                  </a:solidFill>
                </a:rPr>
                <a:t>/python-developers-survey-2024/</a:t>
              </a:r>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0" name="PlaceHolder 1"/>
          <p:cNvSpPr>
            <a:spLocks noGrp="1"/>
          </p:cNvSpPr>
          <p:nvPr>
            <p:ph type="body"/>
          </p:nvPr>
        </p:nvSpPr>
        <p:spPr>
          <a:xfrm>
            <a:off x="609480" y="1604520"/>
            <a:ext cx="5486520" cy="3976920"/>
          </a:xfrm>
          <a:prstGeom prst="rect">
            <a:avLst/>
          </a:prstGeom>
          <a:noFill/>
          <a:ln w="0">
            <a:noFill/>
          </a:ln>
        </p:spPr>
        <p:txBody>
          <a:bodyPr lIns="90000" tIns="45000" rIns="90000" bIns="45000" anchor="t">
            <a:noAutofit/>
          </a:bodyPr>
          <a:lstStyle/>
          <a:p>
            <a:pPr marL="457200" indent="-457200">
              <a:lnSpc>
                <a:spcPct val="90000"/>
              </a:lnSpc>
              <a:spcBef>
                <a:spcPts val="1001"/>
              </a:spcBef>
              <a:buClr>
                <a:srgbClr val="000000"/>
              </a:buClr>
              <a:buFont typeface="Arial" panose="020B0604020202020204" pitchFamily="34" charset="0"/>
              <a:buChar char="•"/>
              <a:tabLst>
                <a:tab pos="0" algn="l"/>
              </a:tabLst>
            </a:pPr>
            <a:r>
              <a:rPr lang="en-US" sz="2400" dirty="0">
                <a:solidFill>
                  <a:srgbClr val="000000"/>
                </a:solidFill>
                <a:latin typeface="Calibri"/>
              </a:rPr>
              <a:t>Create a single table combining the information from the two separate tabular data files</a:t>
            </a:r>
          </a:p>
          <a:p>
            <a:pPr marL="0" indent="0" algn="ctr">
              <a:lnSpc>
                <a:spcPct val="90000"/>
              </a:lnSpc>
              <a:spcBef>
                <a:spcPts val="1001"/>
              </a:spcBef>
              <a:buClr>
                <a:srgbClr val="000000"/>
              </a:buClr>
              <a:buNone/>
              <a:tabLst>
                <a:tab pos="0" algn="l"/>
              </a:tabLst>
            </a:pPr>
            <a:endParaRPr lang="en-US" sz="2400" dirty="0">
              <a:solidFill>
                <a:srgbClr val="000000"/>
              </a:solidFill>
              <a:latin typeface="Calibri"/>
            </a:endParaRPr>
          </a:p>
          <a:p>
            <a:pPr marL="0" indent="0" algn="ctr">
              <a:lnSpc>
                <a:spcPct val="90000"/>
              </a:lnSpc>
              <a:spcBef>
                <a:spcPts val="1001"/>
              </a:spcBef>
              <a:buClr>
                <a:srgbClr val="000000"/>
              </a:buClr>
              <a:buNone/>
              <a:tabLst>
                <a:tab pos="0" algn="l"/>
              </a:tabLst>
            </a:pPr>
            <a:r>
              <a:rPr lang="en-US" sz="2400" dirty="0" err="1">
                <a:solidFill>
                  <a:srgbClr val="000000"/>
                </a:solidFill>
                <a:latin typeface="Courier New" panose="02070309020205020404" pitchFamily="49" charset="0"/>
                <a:cs typeface="Courier New" panose="02070309020205020404" pitchFamily="49" charset="0"/>
              </a:rPr>
              <a:t>predimed_records.csv</a:t>
            </a:r>
            <a:r>
              <a:rPr lang="en-US" sz="2400" dirty="0">
                <a:solidFill>
                  <a:srgbClr val="000000"/>
                </a:solidFill>
                <a:latin typeface="Courier New" panose="02070309020205020404" pitchFamily="49" charset="0"/>
                <a:cs typeface="Courier New" panose="02070309020205020404" pitchFamily="49" charset="0"/>
              </a:rPr>
              <a:t>	</a:t>
            </a:r>
          </a:p>
          <a:p>
            <a:pPr marL="0" indent="0" algn="ctr">
              <a:lnSpc>
                <a:spcPct val="90000"/>
              </a:lnSpc>
              <a:spcBef>
                <a:spcPts val="1001"/>
              </a:spcBef>
              <a:buClr>
                <a:srgbClr val="000000"/>
              </a:buClr>
              <a:buNone/>
              <a:tabLst>
                <a:tab pos="0" algn="l"/>
              </a:tabLst>
            </a:pPr>
            <a:r>
              <a:rPr lang="en-US" sz="2400" dirty="0">
                <a:solidFill>
                  <a:srgbClr val="000000"/>
                </a:solidFill>
                <a:latin typeface="Courier New" panose="02070309020205020404" pitchFamily="49" charset="0"/>
                <a:cs typeface="Courier New" panose="02070309020205020404" pitchFamily="49" charset="0"/>
              </a:rPr>
              <a:t>&amp;</a:t>
            </a:r>
          </a:p>
          <a:p>
            <a:pPr marL="0" indent="0" algn="ctr">
              <a:lnSpc>
                <a:spcPct val="90000"/>
              </a:lnSpc>
              <a:spcBef>
                <a:spcPts val="1001"/>
              </a:spcBef>
              <a:buClr>
                <a:srgbClr val="000000"/>
              </a:buClr>
              <a:buNone/>
              <a:tabLst>
                <a:tab pos="0" algn="l"/>
              </a:tabLst>
            </a:pPr>
            <a:r>
              <a:rPr lang="en-US" sz="2400" dirty="0">
                <a:solidFill>
                  <a:srgbClr val="000000"/>
                </a:solidFill>
                <a:latin typeface="Courier New" panose="02070309020205020404" pitchFamily="49" charset="0"/>
                <a:cs typeface="Courier New" panose="02070309020205020404" pitchFamily="49" charset="0"/>
              </a:rPr>
              <a:t>	</a:t>
            </a:r>
            <a:r>
              <a:rPr lang="en-US" sz="2400" dirty="0" err="1">
                <a:solidFill>
                  <a:srgbClr val="000000"/>
                </a:solidFill>
                <a:latin typeface="Courier New" panose="02070309020205020404" pitchFamily="49" charset="0"/>
                <a:cs typeface="Courier New" panose="02070309020205020404" pitchFamily="49" charset="0"/>
              </a:rPr>
              <a:t>predimed_locations.csv</a:t>
            </a:r>
            <a:endParaRPr lang="en-US" sz="2400" dirty="0">
              <a:solidFill>
                <a:srgbClr val="000000"/>
              </a:solidFill>
              <a:latin typeface="Courier New" panose="02070309020205020404" pitchFamily="49" charset="0"/>
              <a:cs typeface="Courier New" panose="02070309020205020404" pitchFamily="49" charset="0"/>
            </a:endParaRPr>
          </a:p>
          <a:p>
            <a:pPr marL="457200" lvl="2" indent="-457200">
              <a:lnSpc>
                <a:spcPct val="90000"/>
              </a:lnSpc>
              <a:spcBef>
                <a:spcPts val="1001"/>
              </a:spcBef>
              <a:buClr>
                <a:srgbClr val="000000"/>
              </a:buClr>
              <a:buFont typeface="Arial" panose="020B0604020202020204" pitchFamily="34" charset="0"/>
              <a:buChar char="•"/>
              <a:tabLst>
                <a:tab pos="0" algn="l"/>
              </a:tabLst>
            </a:pPr>
            <a:endParaRPr lang="en-US" sz="2400" dirty="0">
              <a:solidFill>
                <a:srgbClr val="000000"/>
              </a:solidFill>
              <a:latin typeface="Calibri"/>
            </a:endParaRPr>
          </a:p>
          <a:p>
            <a:pPr marL="0" lvl="2" indent="0">
              <a:lnSpc>
                <a:spcPct val="90000"/>
              </a:lnSpc>
              <a:spcBef>
                <a:spcPts val="1001"/>
              </a:spcBef>
              <a:buClr>
                <a:srgbClr val="000000"/>
              </a:buClr>
              <a:buNone/>
              <a:tabLst>
                <a:tab pos="0" algn="l"/>
              </a:tabLst>
            </a:pPr>
            <a:endParaRPr lang="en-US" sz="2400" dirty="0">
              <a:solidFill>
                <a:srgbClr val="000000"/>
              </a:solidFill>
              <a:latin typeface="Calibri"/>
            </a:endParaRPr>
          </a:p>
        </p:txBody>
      </p:sp>
      <p:sp>
        <p:nvSpPr>
          <p:cNvPr id="6" name="PlaceHolder 5"/>
          <p:cNvSpPr>
            <a:spLocks noGrp="1"/>
          </p:cNvSpPr>
          <p:nvPr>
            <p:ph type="sldNum" idx="2"/>
          </p:nvPr>
        </p:nvSpPr>
        <p:spPr/>
        <p:txBody>
          <a:bodyPr/>
          <a:lstStyle/>
          <a:p>
            <a:fld id="{63F6CC6A-DF16-4F88-82E8-D125745032A3}" type="slidenum">
              <a:rPr/>
              <a:t>10</a:t>
            </a:fld>
            <a:endParaRPr/>
          </a:p>
        </p:txBody>
      </p:sp>
      <p:sp>
        <p:nvSpPr>
          <p:cNvPr id="245" name="PlaceHolder 3"/>
          <p:cNvSpPr>
            <a:spLocks noGrp="1"/>
          </p:cNvSpPr>
          <p:nvPr>
            <p:ph type="title"/>
          </p:nvPr>
        </p:nvSpPr>
        <p:spPr>
          <a:prstGeom prst="rect">
            <a:avLst/>
          </a:prstGeom>
          <a:noFill/>
          <a:ln w="0">
            <a:noFill/>
          </a:ln>
        </p:spPr>
        <p:txBody>
          <a:bodyPr lIns="90000" tIns="45000" rIns="90000" bIns="45000" anchor="ctr">
            <a:normAutofit/>
          </a:bodyPr>
          <a:lstStyle/>
          <a:p>
            <a:pPr indent="0">
              <a:lnSpc>
                <a:spcPct val="90000"/>
              </a:lnSpc>
              <a:buNone/>
              <a:tabLst>
                <a:tab pos="0" algn="l"/>
              </a:tabLst>
            </a:pPr>
            <a:r>
              <a:rPr lang="en-US" sz="4400" b="1" u="none" strike="noStrike" dirty="0">
                <a:solidFill>
                  <a:srgbClr val="000000"/>
                </a:solidFill>
                <a:effectLst/>
                <a:uFillTx/>
                <a:latin typeface="Calibri Light"/>
                <a:ea typeface="DejaVu Sans"/>
              </a:rPr>
              <a:t>Hands-on</a:t>
            </a:r>
            <a:endParaRPr lang="en-GB" sz="4400" b="0" u="none" strike="noStrike" dirty="0">
              <a:solidFill>
                <a:srgbClr val="000000"/>
              </a:solidFill>
              <a:effectLst/>
              <a:uFillTx/>
              <a:latin typeface="Arial"/>
            </a:endParaRPr>
          </a:p>
        </p:txBody>
      </p:sp>
      <p:grpSp>
        <p:nvGrpSpPr>
          <p:cNvPr id="2" name="Group 1">
            <a:extLst>
              <a:ext uri="{FF2B5EF4-FFF2-40B4-BE49-F238E27FC236}">
                <a16:creationId xmlns:a16="http://schemas.microsoft.com/office/drawing/2014/main" id="{02E68497-CB2D-BE87-750D-E6C6DBC2E68F}"/>
              </a:ext>
            </a:extLst>
          </p:cNvPr>
          <p:cNvGrpSpPr/>
          <p:nvPr/>
        </p:nvGrpSpPr>
        <p:grpSpPr>
          <a:xfrm>
            <a:off x="6501008" y="2684165"/>
            <a:ext cx="5054601" cy="1489669"/>
            <a:chOff x="5812077" y="489442"/>
            <a:chExt cx="4634631" cy="1489669"/>
          </a:xfrm>
        </p:grpSpPr>
        <p:sp>
          <p:nvSpPr>
            <p:cNvPr id="239" name="Rectangle 3"/>
            <p:cNvSpPr/>
            <p:nvPr/>
          </p:nvSpPr>
          <p:spPr>
            <a:xfrm>
              <a:off x="5812078" y="489442"/>
              <a:ext cx="4634630" cy="1489669"/>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endParaRPr lang="en-DE" sz="1800" b="0" u="none" strike="noStrike">
                <a:solidFill>
                  <a:srgbClr val="000000"/>
                </a:solidFill>
                <a:effectLst/>
                <a:uFillTx/>
                <a:latin typeface="Courier New"/>
                <a:ea typeface="DejaVu Sans"/>
              </a:endParaRPr>
            </a:p>
          </p:txBody>
        </p:sp>
        <p:sp>
          <p:nvSpPr>
            <p:cNvPr id="242" name="TextBox 79"/>
            <p:cNvSpPr/>
            <p:nvPr/>
          </p:nvSpPr>
          <p:spPr>
            <a:xfrm>
              <a:off x="5812077" y="636145"/>
              <a:ext cx="4634629" cy="39865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a:lnSpc>
                  <a:spcPct val="100000"/>
                </a:lnSpc>
              </a:pPr>
              <a:r>
                <a:rPr lang="en-DE" sz="2000" b="1" u="none" strike="noStrike" dirty="0">
                  <a:solidFill>
                    <a:srgbClr val="000000"/>
                  </a:solidFill>
                  <a:effectLst/>
                  <a:uFillTx/>
                  <a:latin typeface="Courier New"/>
                  <a:ea typeface="DejaVu Sans"/>
                </a:rPr>
                <a:t>Exercise 20 minutes</a:t>
              </a:r>
              <a:endParaRPr lang="en-GB" sz="2000" b="0" u="none" strike="noStrike" dirty="0">
                <a:solidFill>
                  <a:srgbClr val="000000"/>
                </a:solidFill>
                <a:effectLst/>
                <a:uFillTx/>
                <a:latin typeface="Arial"/>
              </a:endParaRPr>
            </a:p>
          </p:txBody>
        </p:sp>
        <p:pic>
          <p:nvPicPr>
            <p:cNvPr id="243" name="Graphic 9"/>
            <p:cNvPicPr/>
            <p:nvPr/>
          </p:nvPicPr>
          <p:blipFill>
            <a:blip r:embed="rId3"/>
            <a:stretch/>
          </p:blipFill>
          <p:spPr>
            <a:xfrm>
              <a:off x="6094258" y="958156"/>
              <a:ext cx="691200" cy="552240"/>
            </a:xfrm>
            <a:prstGeom prst="rect">
              <a:avLst/>
            </a:prstGeom>
            <a:noFill/>
            <a:ln w="0">
              <a:noFill/>
            </a:ln>
          </p:spPr>
        </p:pic>
        <p:sp>
          <p:nvSpPr>
            <p:cNvPr id="244" name="TextBox 80"/>
            <p:cNvSpPr/>
            <p:nvPr/>
          </p:nvSpPr>
          <p:spPr>
            <a:xfrm>
              <a:off x="7089390" y="1105287"/>
              <a:ext cx="3053387" cy="644877"/>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GB" dirty="0">
                  <a:solidFill>
                    <a:srgbClr val="000000"/>
                  </a:solidFill>
                  <a:latin typeface="Courier New"/>
                  <a:ea typeface="DejaVu Sans"/>
                </a:rPr>
                <a:t>e</a:t>
              </a:r>
              <a:r>
                <a:rPr lang="en-GB" b="0" u="none" strike="noStrike" dirty="0">
                  <a:solidFill>
                    <a:srgbClr val="000000"/>
                  </a:solidFill>
                  <a:effectLst/>
                  <a:uFillTx/>
                  <a:latin typeface="Courier New"/>
                  <a:ea typeface="DejaVu Sans"/>
                </a:rPr>
                <a:t>xercises/</a:t>
              </a:r>
              <a:r>
                <a:rPr lang="en-GB" b="0" u="none" strike="noStrike" dirty="0" err="1">
                  <a:solidFill>
                    <a:srgbClr val="000000"/>
                  </a:solidFill>
                  <a:effectLst/>
                  <a:uFillTx/>
                  <a:latin typeface="Courier New"/>
                  <a:ea typeface="DejaVu Sans"/>
                </a:rPr>
                <a:t>tabular_join</a:t>
              </a:r>
              <a:r>
                <a:rPr lang="en-GB" dirty="0">
                  <a:solidFill>
                    <a:srgbClr val="000000"/>
                  </a:solidFill>
                  <a:latin typeface="Courier New"/>
                  <a:ea typeface="DejaVu Sans"/>
                </a:rPr>
                <a:t>/</a:t>
              </a:r>
              <a:r>
                <a:rPr lang="en-GB" dirty="0" err="1">
                  <a:solidFill>
                    <a:srgbClr val="000000"/>
                  </a:solidFill>
                  <a:latin typeface="Courier New"/>
                  <a:ea typeface="DejaVu Sans"/>
                </a:rPr>
                <a:t>tabular_join.ipynb</a:t>
              </a:r>
              <a:r>
                <a:rPr lang="en-GB" b="0" u="none" strike="noStrike" dirty="0">
                  <a:solidFill>
                    <a:srgbClr val="000000"/>
                  </a:solidFill>
                  <a:effectLst/>
                  <a:uFillTx/>
                  <a:latin typeface="Arial"/>
                  <a:ea typeface="DejaVu Sans"/>
                </a:rPr>
                <a:t> </a:t>
              </a:r>
              <a:endParaRPr lang="en-GB" b="0" u="none" strike="noStrike" dirty="0">
                <a:solidFill>
                  <a:srgbClr val="000000"/>
                </a:solidFill>
                <a:effectLst/>
                <a:uFillTx/>
                <a:latin typeface="Arial"/>
              </a:endParaRPr>
            </a:p>
          </p:txBody>
        </p:sp>
      </p:grpSp>
      <p:sp>
        <p:nvSpPr>
          <p:cNvPr id="3" name="PlaceHolder 1">
            <a:extLst>
              <a:ext uri="{FF2B5EF4-FFF2-40B4-BE49-F238E27FC236}">
                <a16:creationId xmlns:a16="http://schemas.microsoft.com/office/drawing/2014/main" id="{70A46943-7200-EE46-5B33-55841A00D68C}"/>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4" name="PlaceHolder 2">
            <a:extLst>
              <a:ext uri="{FF2B5EF4-FFF2-40B4-BE49-F238E27FC236}">
                <a16:creationId xmlns:a16="http://schemas.microsoft.com/office/drawing/2014/main" id="{AE88D20A-8905-E8D8-5B0A-41F247EEF664}"/>
              </a:ext>
            </a:extLst>
          </p:cNvPr>
          <p:cNvSpPr>
            <a:spLocks noGrp="1"/>
          </p:cNvSpPr>
          <p:nvPr>
            <p:ph type="ftr" idx="1"/>
          </p:nvPr>
        </p:nvSpPr>
        <p:spPr>
          <a:xfrm>
            <a:off x="4038480" y="6356520"/>
            <a:ext cx="4111560" cy="361800"/>
          </a:xfrm>
        </p:spPr>
        <p:txBody>
          <a:bodyPr/>
          <a:lstStyle/>
          <a:p>
            <a:r>
              <a:rPr lang="en-US" dirty="0"/>
              <a:t>Tab, v3.0</a:t>
            </a:r>
            <a:endParaRPr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B63821-341B-7F24-5D26-9C9549EB4FF3}"/>
            </a:ext>
          </a:extLst>
        </p:cNvPr>
        <p:cNvGrpSpPr/>
        <p:nvPr/>
      </p:nvGrpSpPr>
      <p:grpSpPr>
        <a:xfrm>
          <a:off x="0" y="0"/>
          <a:ext cx="0" cy="0"/>
          <a:chOff x="0" y="0"/>
          <a:chExt cx="0" cy="0"/>
        </a:xfrm>
      </p:grpSpPr>
      <p:sp>
        <p:nvSpPr>
          <p:cNvPr id="240" name="PlaceHolder 1">
            <a:extLst>
              <a:ext uri="{FF2B5EF4-FFF2-40B4-BE49-F238E27FC236}">
                <a16:creationId xmlns:a16="http://schemas.microsoft.com/office/drawing/2014/main" id="{3EE120FF-978D-D2F4-54EB-B6A8E15155ED}"/>
              </a:ext>
            </a:extLst>
          </p:cNvPr>
          <p:cNvSpPr>
            <a:spLocks noGrp="1"/>
          </p:cNvSpPr>
          <p:nvPr>
            <p:ph type="body"/>
          </p:nvPr>
        </p:nvSpPr>
        <p:spPr>
          <a:xfrm>
            <a:off x="609480" y="1604519"/>
            <a:ext cx="5486520" cy="4243387"/>
          </a:xfrm>
          <a:prstGeom prst="rect">
            <a:avLst/>
          </a:prstGeom>
          <a:noFill/>
          <a:ln w="0">
            <a:noFill/>
          </a:ln>
        </p:spPr>
        <p:txBody>
          <a:bodyPr lIns="90000" tIns="45000" rIns="90000" bIns="45000" anchor="t">
            <a:noAutofit/>
          </a:bodyPr>
          <a:lstStyle/>
          <a:p>
            <a:pPr marL="457200" indent="-457200">
              <a:lnSpc>
                <a:spcPct val="90000"/>
              </a:lnSpc>
              <a:spcBef>
                <a:spcPts val="1001"/>
              </a:spcBef>
              <a:buClr>
                <a:srgbClr val="000000"/>
              </a:buClr>
              <a:buFont typeface="Arial" panose="020B0604020202020204" pitchFamily="34" charset="0"/>
              <a:buChar char="•"/>
              <a:tabLst>
                <a:tab pos="0" algn="l"/>
              </a:tabLst>
            </a:pPr>
            <a:r>
              <a:rPr lang="en-US" sz="2400" dirty="0">
                <a:solidFill>
                  <a:srgbClr val="000000"/>
                </a:solidFill>
                <a:latin typeface="Calibri"/>
              </a:rPr>
              <a:t>Create a single table combining the information from the two separate tabular data files</a:t>
            </a:r>
          </a:p>
          <a:p>
            <a:pPr marL="0" indent="0" algn="ctr">
              <a:lnSpc>
                <a:spcPct val="90000"/>
              </a:lnSpc>
              <a:spcBef>
                <a:spcPts val="1001"/>
              </a:spcBef>
              <a:buClr>
                <a:srgbClr val="000000"/>
              </a:buClr>
              <a:buNone/>
              <a:tabLst>
                <a:tab pos="0" algn="l"/>
              </a:tabLst>
            </a:pPr>
            <a:endParaRPr lang="en-US" sz="2400" dirty="0">
              <a:solidFill>
                <a:srgbClr val="000000"/>
              </a:solidFill>
              <a:latin typeface="Calibri"/>
            </a:endParaRPr>
          </a:p>
          <a:p>
            <a:pPr marL="0" indent="0" algn="ctr">
              <a:lnSpc>
                <a:spcPct val="90000"/>
              </a:lnSpc>
              <a:spcBef>
                <a:spcPts val="1001"/>
              </a:spcBef>
              <a:buClr>
                <a:srgbClr val="000000"/>
              </a:buClr>
              <a:buNone/>
              <a:tabLst>
                <a:tab pos="0" algn="l"/>
              </a:tabLst>
            </a:pPr>
            <a:r>
              <a:rPr lang="en-US" sz="2400" dirty="0" err="1">
                <a:solidFill>
                  <a:srgbClr val="000000"/>
                </a:solidFill>
                <a:latin typeface="Courier New" panose="02070309020205020404" pitchFamily="49" charset="0"/>
                <a:cs typeface="Courier New" panose="02070309020205020404" pitchFamily="49" charset="0"/>
              </a:rPr>
              <a:t>predimed_records.csv</a:t>
            </a:r>
            <a:r>
              <a:rPr lang="en-US" sz="2400" dirty="0">
                <a:solidFill>
                  <a:srgbClr val="000000"/>
                </a:solidFill>
                <a:latin typeface="Courier New" panose="02070309020205020404" pitchFamily="49" charset="0"/>
                <a:cs typeface="Courier New" panose="02070309020205020404" pitchFamily="49" charset="0"/>
              </a:rPr>
              <a:t>	</a:t>
            </a:r>
          </a:p>
          <a:p>
            <a:pPr marL="0" indent="0" algn="ctr">
              <a:lnSpc>
                <a:spcPct val="90000"/>
              </a:lnSpc>
              <a:spcBef>
                <a:spcPts val="1001"/>
              </a:spcBef>
              <a:buClr>
                <a:srgbClr val="000000"/>
              </a:buClr>
              <a:buNone/>
              <a:tabLst>
                <a:tab pos="0" algn="l"/>
              </a:tabLst>
            </a:pPr>
            <a:r>
              <a:rPr lang="en-US" sz="2400" dirty="0">
                <a:solidFill>
                  <a:srgbClr val="000000"/>
                </a:solidFill>
                <a:latin typeface="Courier New" panose="02070309020205020404" pitchFamily="49" charset="0"/>
                <a:cs typeface="Courier New" panose="02070309020205020404" pitchFamily="49" charset="0"/>
              </a:rPr>
              <a:t>&amp;</a:t>
            </a:r>
          </a:p>
          <a:p>
            <a:pPr marL="0" indent="0" algn="ctr">
              <a:lnSpc>
                <a:spcPct val="90000"/>
              </a:lnSpc>
              <a:spcBef>
                <a:spcPts val="1001"/>
              </a:spcBef>
              <a:buClr>
                <a:srgbClr val="000000"/>
              </a:buClr>
              <a:buNone/>
              <a:tabLst>
                <a:tab pos="0" algn="l"/>
              </a:tabLst>
            </a:pPr>
            <a:r>
              <a:rPr lang="en-US" sz="2400" dirty="0">
                <a:solidFill>
                  <a:srgbClr val="000000"/>
                </a:solidFill>
                <a:latin typeface="Courier New" panose="02070309020205020404" pitchFamily="49" charset="0"/>
                <a:cs typeface="Courier New" panose="02070309020205020404" pitchFamily="49" charset="0"/>
              </a:rPr>
              <a:t>	</a:t>
            </a:r>
            <a:r>
              <a:rPr lang="en-US" sz="2400" dirty="0" err="1">
                <a:solidFill>
                  <a:srgbClr val="000000"/>
                </a:solidFill>
                <a:latin typeface="Courier New" panose="02070309020205020404" pitchFamily="49" charset="0"/>
                <a:cs typeface="Courier New" panose="02070309020205020404" pitchFamily="49" charset="0"/>
              </a:rPr>
              <a:t>predimed_locations.csv</a:t>
            </a:r>
            <a:endParaRPr lang="en-US" sz="2400" dirty="0">
              <a:solidFill>
                <a:srgbClr val="000000"/>
              </a:solidFill>
              <a:latin typeface="Courier New" panose="02070309020205020404" pitchFamily="49" charset="0"/>
              <a:cs typeface="Courier New" panose="02070309020205020404" pitchFamily="49" charset="0"/>
            </a:endParaRPr>
          </a:p>
          <a:p>
            <a:pPr marL="457200" lvl="2" indent="-457200">
              <a:lnSpc>
                <a:spcPct val="90000"/>
              </a:lnSpc>
              <a:spcBef>
                <a:spcPts val="1001"/>
              </a:spcBef>
              <a:buClr>
                <a:srgbClr val="000000"/>
              </a:buClr>
              <a:buFont typeface="Arial" panose="020B0604020202020204" pitchFamily="34" charset="0"/>
              <a:buChar char="•"/>
              <a:tabLst>
                <a:tab pos="0" algn="l"/>
              </a:tabLst>
            </a:pPr>
            <a:endParaRPr lang="en-US" sz="2400" dirty="0">
              <a:solidFill>
                <a:srgbClr val="000000"/>
              </a:solidFill>
              <a:latin typeface="Calibri"/>
            </a:endParaRPr>
          </a:p>
          <a:p>
            <a:pPr marL="457200" lvl="2" indent="-457200">
              <a:lnSpc>
                <a:spcPct val="90000"/>
              </a:lnSpc>
              <a:spcBef>
                <a:spcPts val="1001"/>
              </a:spcBef>
              <a:buClr>
                <a:srgbClr val="000000"/>
              </a:buClr>
              <a:buFont typeface="Arial" panose="020B0604020202020204" pitchFamily="34" charset="0"/>
              <a:buChar char="•"/>
              <a:tabLst>
                <a:tab pos="0" algn="l"/>
              </a:tabLst>
            </a:pPr>
            <a:r>
              <a:rPr lang="en-US" sz="2400" dirty="0">
                <a:solidFill>
                  <a:srgbClr val="000000"/>
                </a:solidFill>
                <a:latin typeface="Calibri"/>
              </a:rPr>
              <a:t>Extra: what happens if we increase the table size? How is the performance of your solution affected?</a:t>
            </a:r>
          </a:p>
          <a:p>
            <a:pPr marL="457200" lvl="2" indent="-457200">
              <a:lnSpc>
                <a:spcPct val="90000"/>
              </a:lnSpc>
              <a:spcBef>
                <a:spcPts val="1001"/>
              </a:spcBef>
              <a:buClr>
                <a:srgbClr val="000000"/>
              </a:buClr>
              <a:buFont typeface="Arial" panose="020B0604020202020204" pitchFamily="34" charset="0"/>
              <a:buChar char="•"/>
              <a:tabLst>
                <a:tab pos="0" algn="l"/>
              </a:tabLst>
            </a:pPr>
            <a:endParaRPr lang="en-US" sz="2400" dirty="0">
              <a:solidFill>
                <a:srgbClr val="000000"/>
              </a:solidFill>
              <a:latin typeface="Calibri"/>
            </a:endParaRPr>
          </a:p>
          <a:p>
            <a:pPr marL="0" lvl="2" indent="0">
              <a:lnSpc>
                <a:spcPct val="90000"/>
              </a:lnSpc>
              <a:spcBef>
                <a:spcPts val="1001"/>
              </a:spcBef>
              <a:buClr>
                <a:srgbClr val="000000"/>
              </a:buClr>
              <a:buNone/>
              <a:tabLst>
                <a:tab pos="0" algn="l"/>
              </a:tabLst>
            </a:pPr>
            <a:endParaRPr lang="en-US" sz="2400" dirty="0">
              <a:solidFill>
                <a:srgbClr val="000000"/>
              </a:solidFill>
              <a:latin typeface="Calibri"/>
            </a:endParaRPr>
          </a:p>
        </p:txBody>
      </p:sp>
      <p:sp>
        <p:nvSpPr>
          <p:cNvPr id="6" name="PlaceHolder 5">
            <a:extLst>
              <a:ext uri="{FF2B5EF4-FFF2-40B4-BE49-F238E27FC236}">
                <a16:creationId xmlns:a16="http://schemas.microsoft.com/office/drawing/2014/main" id="{E07712A8-91DD-9F75-2900-823035BDE9DD}"/>
              </a:ext>
            </a:extLst>
          </p:cNvPr>
          <p:cNvSpPr>
            <a:spLocks noGrp="1"/>
          </p:cNvSpPr>
          <p:nvPr>
            <p:ph type="sldNum" idx="2"/>
          </p:nvPr>
        </p:nvSpPr>
        <p:spPr/>
        <p:txBody>
          <a:bodyPr/>
          <a:lstStyle/>
          <a:p>
            <a:fld id="{63F6CC6A-DF16-4F88-82E8-D125745032A3}" type="slidenum">
              <a:rPr/>
              <a:t>11</a:t>
            </a:fld>
            <a:endParaRPr/>
          </a:p>
        </p:txBody>
      </p:sp>
      <p:sp>
        <p:nvSpPr>
          <p:cNvPr id="245" name="PlaceHolder 3">
            <a:extLst>
              <a:ext uri="{FF2B5EF4-FFF2-40B4-BE49-F238E27FC236}">
                <a16:creationId xmlns:a16="http://schemas.microsoft.com/office/drawing/2014/main" id="{0DD03E64-56F3-8DEA-3F36-D88D309D8151}"/>
              </a:ext>
            </a:extLst>
          </p:cNvPr>
          <p:cNvSpPr>
            <a:spLocks noGrp="1"/>
          </p:cNvSpPr>
          <p:nvPr>
            <p:ph type="title"/>
          </p:nvPr>
        </p:nvSpPr>
        <p:spPr>
          <a:prstGeom prst="rect">
            <a:avLst/>
          </a:prstGeom>
          <a:noFill/>
          <a:ln w="0">
            <a:noFill/>
          </a:ln>
        </p:spPr>
        <p:txBody>
          <a:bodyPr lIns="90000" tIns="45000" rIns="90000" bIns="45000" anchor="ctr">
            <a:normAutofit/>
          </a:bodyPr>
          <a:lstStyle/>
          <a:p>
            <a:pPr indent="0">
              <a:lnSpc>
                <a:spcPct val="90000"/>
              </a:lnSpc>
              <a:buNone/>
              <a:tabLst>
                <a:tab pos="0" algn="l"/>
              </a:tabLst>
            </a:pPr>
            <a:r>
              <a:rPr lang="en-US" sz="4400" b="1" u="none" strike="noStrike" dirty="0">
                <a:solidFill>
                  <a:srgbClr val="000000"/>
                </a:solidFill>
                <a:effectLst/>
                <a:uFillTx/>
                <a:latin typeface="Calibri Light"/>
                <a:ea typeface="DejaVu Sans"/>
              </a:rPr>
              <a:t>Hands-on</a:t>
            </a:r>
            <a:endParaRPr lang="en-GB" sz="4400" b="0" u="none" strike="noStrike" dirty="0">
              <a:solidFill>
                <a:srgbClr val="000000"/>
              </a:solidFill>
              <a:effectLst/>
              <a:uFillTx/>
              <a:latin typeface="Arial"/>
            </a:endParaRPr>
          </a:p>
        </p:txBody>
      </p:sp>
      <p:grpSp>
        <p:nvGrpSpPr>
          <p:cNvPr id="2" name="Group 1">
            <a:extLst>
              <a:ext uri="{FF2B5EF4-FFF2-40B4-BE49-F238E27FC236}">
                <a16:creationId xmlns:a16="http://schemas.microsoft.com/office/drawing/2014/main" id="{3654B1E4-CB03-210D-655D-96690F61ABAB}"/>
              </a:ext>
            </a:extLst>
          </p:cNvPr>
          <p:cNvGrpSpPr/>
          <p:nvPr/>
        </p:nvGrpSpPr>
        <p:grpSpPr>
          <a:xfrm>
            <a:off x="6501008" y="2684165"/>
            <a:ext cx="5054601" cy="1489669"/>
            <a:chOff x="5812077" y="489442"/>
            <a:chExt cx="4634631" cy="1489669"/>
          </a:xfrm>
        </p:grpSpPr>
        <p:sp>
          <p:nvSpPr>
            <p:cNvPr id="239" name="Rectangle 3">
              <a:extLst>
                <a:ext uri="{FF2B5EF4-FFF2-40B4-BE49-F238E27FC236}">
                  <a16:creationId xmlns:a16="http://schemas.microsoft.com/office/drawing/2014/main" id="{EFB398B9-D8E0-3DD2-39BC-8D8AA47A6149}"/>
                </a:ext>
              </a:extLst>
            </p:cNvPr>
            <p:cNvSpPr/>
            <p:nvPr/>
          </p:nvSpPr>
          <p:spPr>
            <a:xfrm>
              <a:off x="5812078" y="489442"/>
              <a:ext cx="4634630" cy="1489669"/>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endParaRPr lang="en-DE" sz="1800" b="0" u="none" strike="noStrike">
                <a:solidFill>
                  <a:srgbClr val="000000"/>
                </a:solidFill>
                <a:effectLst/>
                <a:uFillTx/>
                <a:latin typeface="Courier New"/>
                <a:ea typeface="DejaVu Sans"/>
              </a:endParaRPr>
            </a:p>
          </p:txBody>
        </p:sp>
        <p:sp>
          <p:nvSpPr>
            <p:cNvPr id="242" name="TextBox 79">
              <a:extLst>
                <a:ext uri="{FF2B5EF4-FFF2-40B4-BE49-F238E27FC236}">
                  <a16:creationId xmlns:a16="http://schemas.microsoft.com/office/drawing/2014/main" id="{826959D9-0551-2ADD-A0B0-9D35C63B4C30}"/>
                </a:ext>
              </a:extLst>
            </p:cNvPr>
            <p:cNvSpPr/>
            <p:nvPr/>
          </p:nvSpPr>
          <p:spPr>
            <a:xfrm>
              <a:off x="5812077" y="636145"/>
              <a:ext cx="4634629" cy="39865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a:lnSpc>
                  <a:spcPct val="100000"/>
                </a:lnSpc>
              </a:pPr>
              <a:r>
                <a:rPr lang="en-DE" sz="2000" b="1" u="none" strike="noStrike" dirty="0">
                  <a:solidFill>
                    <a:srgbClr val="000000"/>
                  </a:solidFill>
                  <a:effectLst/>
                  <a:uFillTx/>
                  <a:latin typeface="Courier New"/>
                  <a:ea typeface="DejaVu Sans"/>
                </a:rPr>
                <a:t>Exercise 20 minutes</a:t>
              </a:r>
              <a:endParaRPr lang="en-GB" sz="2000" b="0" u="none" strike="noStrike" dirty="0">
                <a:solidFill>
                  <a:srgbClr val="000000"/>
                </a:solidFill>
                <a:effectLst/>
                <a:uFillTx/>
                <a:latin typeface="Arial"/>
              </a:endParaRPr>
            </a:p>
          </p:txBody>
        </p:sp>
        <p:pic>
          <p:nvPicPr>
            <p:cNvPr id="243" name="Graphic 9">
              <a:extLst>
                <a:ext uri="{FF2B5EF4-FFF2-40B4-BE49-F238E27FC236}">
                  <a16:creationId xmlns:a16="http://schemas.microsoft.com/office/drawing/2014/main" id="{1F7E550C-9772-5BA2-8788-03B252AE89B9}"/>
                </a:ext>
              </a:extLst>
            </p:cNvPr>
            <p:cNvPicPr/>
            <p:nvPr/>
          </p:nvPicPr>
          <p:blipFill>
            <a:blip r:embed="rId3"/>
            <a:stretch/>
          </p:blipFill>
          <p:spPr>
            <a:xfrm>
              <a:off x="6094258" y="958156"/>
              <a:ext cx="691200" cy="552240"/>
            </a:xfrm>
            <a:prstGeom prst="rect">
              <a:avLst/>
            </a:prstGeom>
            <a:noFill/>
            <a:ln w="0">
              <a:noFill/>
            </a:ln>
          </p:spPr>
        </p:pic>
        <p:sp>
          <p:nvSpPr>
            <p:cNvPr id="244" name="TextBox 80">
              <a:extLst>
                <a:ext uri="{FF2B5EF4-FFF2-40B4-BE49-F238E27FC236}">
                  <a16:creationId xmlns:a16="http://schemas.microsoft.com/office/drawing/2014/main" id="{0D65D7D6-94C1-A215-6BB7-EBE477C8DC48}"/>
                </a:ext>
              </a:extLst>
            </p:cNvPr>
            <p:cNvSpPr/>
            <p:nvPr/>
          </p:nvSpPr>
          <p:spPr>
            <a:xfrm>
              <a:off x="7089390" y="1105287"/>
              <a:ext cx="3053387" cy="644877"/>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GB" dirty="0">
                  <a:solidFill>
                    <a:srgbClr val="000000"/>
                  </a:solidFill>
                  <a:latin typeface="Courier New"/>
                  <a:ea typeface="DejaVu Sans"/>
                </a:rPr>
                <a:t>e</a:t>
              </a:r>
              <a:r>
                <a:rPr lang="en-GB" b="0" u="none" strike="noStrike" dirty="0">
                  <a:solidFill>
                    <a:srgbClr val="000000"/>
                  </a:solidFill>
                  <a:effectLst/>
                  <a:uFillTx/>
                  <a:latin typeface="Courier New"/>
                  <a:ea typeface="DejaVu Sans"/>
                </a:rPr>
                <a:t>xercises/</a:t>
              </a:r>
              <a:r>
                <a:rPr lang="en-GB" b="0" u="none" strike="noStrike" dirty="0" err="1">
                  <a:solidFill>
                    <a:srgbClr val="000000"/>
                  </a:solidFill>
                  <a:effectLst/>
                  <a:uFillTx/>
                  <a:latin typeface="Courier New"/>
                  <a:ea typeface="DejaVu Sans"/>
                </a:rPr>
                <a:t>tabular_join</a:t>
              </a:r>
              <a:r>
                <a:rPr lang="en-GB" dirty="0">
                  <a:solidFill>
                    <a:srgbClr val="000000"/>
                  </a:solidFill>
                  <a:latin typeface="Courier New"/>
                  <a:ea typeface="DejaVu Sans"/>
                </a:rPr>
                <a:t>/</a:t>
              </a:r>
              <a:r>
                <a:rPr lang="en-GB" dirty="0" err="1">
                  <a:solidFill>
                    <a:srgbClr val="000000"/>
                  </a:solidFill>
                  <a:latin typeface="Courier New"/>
                  <a:ea typeface="DejaVu Sans"/>
                </a:rPr>
                <a:t>tabular_join.ipynb</a:t>
              </a:r>
              <a:r>
                <a:rPr lang="en-GB" b="0" u="none" strike="noStrike" dirty="0">
                  <a:solidFill>
                    <a:srgbClr val="000000"/>
                  </a:solidFill>
                  <a:effectLst/>
                  <a:uFillTx/>
                  <a:latin typeface="Arial"/>
                  <a:ea typeface="DejaVu Sans"/>
                </a:rPr>
                <a:t> </a:t>
              </a:r>
              <a:endParaRPr lang="en-GB" b="0" u="none" strike="noStrike" dirty="0">
                <a:solidFill>
                  <a:srgbClr val="000000"/>
                </a:solidFill>
                <a:effectLst/>
                <a:uFillTx/>
                <a:latin typeface="Arial"/>
              </a:endParaRPr>
            </a:p>
          </p:txBody>
        </p:sp>
      </p:grpSp>
      <p:sp>
        <p:nvSpPr>
          <p:cNvPr id="3" name="PlaceHolder 1">
            <a:extLst>
              <a:ext uri="{FF2B5EF4-FFF2-40B4-BE49-F238E27FC236}">
                <a16:creationId xmlns:a16="http://schemas.microsoft.com/office/drawing/2014/main" id="{9EEB1A44-7064-760D-B21D-300E9FA0F34F}"/>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4" name="PlaceHolder 2">
            <a:extLst>
              <a:ext uri="{FF2B5EF4-FFF2-40B4-BE49-F238E27FC236}">
                <a16:creationId xmlns:a16="http://schemas.microsoft.com/office/drawing/2014/main" id="{D01D0790-FC7B-BF2B-9649-747D41153C85}"/>
              </a:ext>
            </a:extLst>
          </p:cNvPr>
          <p:cNvSpPr>
            <a:spLocks noGrp="1"/>
          </p:cNvSpPr>
          <p:nvPr>
            <p:ph type="ftr" idx="1"/>
          </p:nvPr>
        </p:nvSpPr>
        <p:spPr>
          <a:xfrm>
            <a:off x="4038480" y="6356520"/>
            <a:ext cx="4111560" cy="361800"/>
          </a:xfrm>
        </p:spPr>
        <p:txBody>
          <a:bodyPr/>
          <a:lstStyle/>
          <a:p>
            <a:r>
              <a:rPr lang="en-US" dirty="0"/>
              <a:t>Tab, v3.0</a:t>
            </a:r>
            <a:endParaRPr dirty="0"/>
          </a:p>
        </p:txBody>
      </p:sp>
    </p:spTree>
    <p:extLst>
      <p:ext uri="{BB962C8B-B14F-4D97-AF65-F5344CB8AC3E}">
        <p14:creationId xmlns:p14="http://schemas.microsoft.com/office/powerpoint/2010/main" val="15588546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a:extLst>
              <a:ext uri="{FF2B5EF4-FFF2-40B4-BE49-F238E27FC236}">
                <a16:creationId xmlns:a16="http://schemas.microsoft.com/office/drawing/2014/main" id="{4E10B2FB-5E35-FC53-F0FB-3F3F5E38A641}"/>
              </a:ext>
            </a:extLst>
          </p:cNvPr>
          <p:cNvSpPr txBox="1"/>
          <p:nvPr/>
        </p:nvSpPr>
        <p:spPr>
          <a:xfrm>
            <a:off x="250967" y="1867782"/>
            <a:ext cx="2448690" cy="1245469"/>
          </a:xfrm>
          <a:prstGeom prst="rect">
            <a:avLst/>
          </a:prstGeom>
          <a:noFill/>
        </p:spPr>
        <p:txBody>
          <a:bodyPr wrap="square" rtlCol="0">
            <a:spAutoFit/>
          </a:bodyPr>
          <a:lstStyle/>
          <a:p>
            <a:pPr>
              <a:lnSpc>
                <a:spcPct val="90000"/>
              </a:lnSpc>
              <a:spcBef>
                <a:spcPts val="1001"/>
              </a:spcBef>
              <a:buClr>
                <a:srgbClr val="000000"/>
              </a:buClr>
              <a:tabLst>
                <a:tab pos="0" algn="l"/>
              </a:tabLst>
            </a:pPr>
            <a:r>
              <a:rPr lang="en-US" dirty="0" err="1">
                <a:solidFill>
                  <a:srgbClr val="000000"/>
                </a:solidFill>
                <a:latin typeface="Courier New" panose="02070309020205020404" pitchFamily="49" charset="0"/>
                <a:cs typeface="Courier New" panose="02070309020205020404" pitchFamily="49" charset="0"/>
              </a:rPr>
              <a:t>predimed_records</a:t>
            </a:r>
            <a:r>
              <a:rPr lang="en-US" dirty="0">
                <a:solidFill>
                  <a:srgbClr val="000000"/>
                </a:solidFill>
                <a:latin typeface="Courier New" panose="02070309020205020404" pitchFamily="49" charset="0"/>
                <a:cs typeface="Courier New" panose="02070309020205020404" pitchFamily="49" charset="0"/>
              </a:rPr>
              <a:t>	</a:t>
            </a:r>
          </a:p>
          <a:p>
            <a:pPr>
              <a:lnSpc>
                <a:spcPct val="90000"/>
              </a:lnSpc>
              <a:spcBef>
                <a:spcPts val="1001"/>
              </a:spcBef>
              <a:buClr>
                <a:srgbClr val="000000"/>
              </a:buClr>
              <a:tabLst>
                <a:tab pos="0" algn="l"/>
              </a:tabLst>
            </a:pPr>
            <a:r>
              <a:rPr lang="en-GB" dirty="0"/>
              <a:t>6324 (N) rows</a:t>
            </a:r>
          </a:p>
          <a:p>
            <a:r>
              <a:rPr lang="en-GB" dirty="0"/>
              <a:t>16 columns</a:t>
            </a:r>
            <a:endParaRPr lang="en-US" dirty="0"/>
          </a:p>
        </p:txBody>
      </p:sp>
      <p:sp>
        <p:nvSpPr>
          <p:cNvPr id="2" name="Title 1">
            <a:extLst>
              <a:ext uri="{FF2B5EF4-FFF2-40B4-BE49-F238E27FC236}">
                <a16:creationId xmlns:a16="http://schemas.microsoft.com/office/drawing/2014/main" id="{DC7445BF-1F6D-3CB8-9121-7F192865C163}"/>
              </a:ext>
            </a:extLst>
          </p:cNvPr>
          <p:cNvSpPr>
            <a:spLocks noGrp="1"/>
          </p:cNvSpPr>
          <p:nvPr>
            <p:ph type="title"/>
          </p:nvPr>
        </p:nvSpPr>
        <p:spPr/>
        <p:txBody>
          <a:bodyPr/>
          <a:lstStyle/>
          <a:p>
            <a:r>
              <a:rPr lang="en-US" dirty="0">
                <a:latin typeface="Calibri" panose="020F0502020204030204" pitchFamily="34" charset="0"/>
                <a:cs typeface="Calibri" panose="020F0502020204030204" pitchFamily="34" charset="0"/>
              </a:rPr>
              <a:t>Tabular data join and performance</a:t>
            </a:r>
          </a:p>
        </p:txBody>
      </p:sp>
      <p:sp>
        <p:nvSpPr>
          <p:cNvPr id="18" name="TextBox 17">
            <a:extLst>
              <a:ext uri="{FF2B5EF4-FFF2-40B4-BE49-F238E27FC236}">
                <a16:creationId xmlns:a16="http://schemas.microsoft.com/office/drawing/2014/main" id="{E9DB0604-63DF-6434-D1C2-2948F9DC78CA}"/>
              </a:ext>
            </a:extLst>
          </p:cNvPr>
          <p:cNvSpPr txBox="1"/>
          <p:nvPr/>
        </p:nvSpPr>
        <p:spPr>
          <a:xfrm>
            <a:off x="250967" y="4486795"/>
            <a:ext cx="2666114" cy="1172629"/>
          </a:xfrm>
          <a:prstGeom prst="rect">
            <a:avLst/>
          </a:prstGeom>
          <a:noFill/>
        </p:spPr>
        <p:txBody>
          <a:bodyPr wrap="none" rtlCol="0">
            <a:spAutoFit/>
          </a:bodyPr>
          <a:lstStyle/>
          <a:p>
            <a:pPr>
              <a:lnSpc>
                <a:spcPct val="90000"/>
              </a:lnSpc>
              <a:spcBef>
                <a:spcPts val="1001"/>
              </a:spcBef>
              <a:buClr>
                <a:srgbClr val="000000"/>
              </a:buClr>
              <a:tabLst>
                <a:tab pos="0" algn="l"/>
              </a:tabLst>
            </a:pPr>
            <a:r>
              <a:rPr lang="en-US" dirty="0" err="1">
                <a:solidFill>
                  <a:srgbClr val="000000"/>
                </a:solidFill>
                <a:latin typeface="Courier New" panose="02070309020205020404" pitchFamily="49" charset="0"/>
                <a:cs typeface="Courier New" panose="02070309020205020404" pitchFamily="49" charset="0"/>
              </a:rPr>
              <a:t>predimed_locations</a:t>
            </a:r>
            <a:endParaRPr lang="en-US" dirty="0">
              <a:solidFill>
                <a:srgbClr val="000000"/>
              </a:solidFill>
              <a:latin typeface="Courier New" panose="02070309020205020404" pitchFamily="49" charset="0"/>
              <a:cs typeface="Courier New" panose="02070309020205020404" pitchFamily="49" charset="0"/>
            </a:endParaRPr>
          </a:p>
          <a:p>
            <a:endParaRPr lang="en-US" dirty="0"/>
          </a:p>
          <a:p>
            <a:r>
              <a:rPr lang="en-US" dirty="0"/>
              <a:t>5 (M)</a:t>
            </a:r>
            <a:r>
              <a:rPr lang="en-GB" dirty="0"/>
              <a:t> rows</a:t>
            </a:r>
          </a:p>
          <a:p>
            <a:r>
              <a:rPr lang="en-GB" dirty="0"/>
              <a:t>3 columns</a:t>
            </a:r>
            <a:endParaRPr lang="en-US" dirty="0"/>
          </a:p>
        </p:txBody>
      </p:sp>
      <p:pic>
        <p:nvPicPr>
          <p:cNvPr id="19" name="Picture 18">
            <a:extLst>
              <a:ext uri="{FF2B5EF4-FFF2-40B4-BE49-F238E27FC236}">
                <a16:creationId xmlns:a16="http://schemas.microsoft.com/office/drawing/2014/main" id="{8F2539ED-52CE-C1A8-DD01-E95D08F7A061}"/>
              </a:ext>
            </a:extLst>
          </p:cNvPr>
          <p:cNvPicPr>
            <a:picLocks noChangeAspect="1"/>
          </p:cNvPicPr>
          <p:nvPr/>
        </p:nvPicPr>
        <p:blipFill>
          <a:blip r:embed="rId2"/>
          <a:stretch>
            <a:fillRect/>
          </a:stretch>
        </p:blipFill>
        <p:spPr>
          <a:xfrm>
            <a:off x="3079872" y="3948173"/>
            <a:ext cx="2615404" cy="2360243"/>
          </a:xfrm>
          <a:prstGeom prst="rect">
            <a:avLst/>
          </a:prstGeom>
        </p:spPr>
      </p:pic>
      <p:grpSp>
        <p:nvGrpSpPr>
          <p:cNvPr id="20" name="Group 19">
            <a:extLst>
              <a:ext uri="{FF2B5EF4-FFF2-40B4-BE49-F238E27FC236}">
                <a16:creationId xmlns:a16="http://schemas.microsoft.com/office/drawing/2014/main" id="{251B2A9E-9AB4-EF10-676E-1CF7FBD20374}"/>
              </a:ext>
            </a:extLst>
          </p:cNvPr>
          <p:cNvGrpSpPr/>
          <p:nvPr/>
        </p:nvGrpSpPr>
        <p:grpSpPr>
          <a:xfrm>
            <a:off x="2577594" y="1445868"/>
            <a:ext cx="9363439" cy="2067804"/>
            <a:chOff x="1610899" y="1277259"/>
            <a:chExt cx="6883106" cy="1520052"/>
          </a:xfrm>
        </p:grpSpPr>
        <p:pic>
          <p:nvPicPr>
            <p:cNvPr id="21" name="Picture 20">
              <a:extLst>
                <a:ext uri="{FF2B5EF4-FFF2-40B4-BE49-F238E27FC236}">
                  <a16:creationId xmlns:a16="http://schemas.microsoft.com/office/drawing/2014/main" id="{55840425-9F26-5235-14A3-234E03AF102C}"/>
                </a:ext>
              </a:extLst>
            </p:cNvPr>
            <p:cNvPicPr>
              <a:picLocks noChangeAspect="1"/>
            </p:cNvPicPr>
            <p:nvPr/>
          </p:nvPicPr>
          <p:blipFill>
            <a:blip r:embed="rId3"/>
            <a:srcRect b="70671"/>
            <a:stretch>
              <a:fillRect/>
            </a:stretch>
          </p:blipFill>
          <p:spPr>
            <a:xfrm>
              <a:off x="1623135" y="1277259"/>
              <a:ext cx="6870870" cy="767926"/>
            </a:xfrm>
            <a:prstGeom prst="rect">
              <a:avLst/>
            </a:prstGeom>
          </p:spPr>
        </p:pic>
        <p:pic>
          <p:nvPicPr>
            <p:cNvPr id="22" name="Picture 21">
              <a:extLst>
                <a:ext uri="{FF2B5EF4-FFF2-40B4-BE49-F238E27FC236}">
                  <a16:creationId xmlns:a16="http://schemas.microsoft.com/office/drawing/2014/main" id="{9A9BFADF-CD04-3E2D-5B5B-89BD0D082506}"/>
                </a:ext>
              </a:extLst>
            </p:cNvPr>
            <p:cNvPicPr>
              <a:picLocks noChangeAspect="1"/>
            </p:cNvPicPr>
            <p:nvPr/>
          </p:nvPicPr>
          <p:blipFill>
            <a:blip r:embed="rId3"/>
            <a:srcRect l="-635" t="43488" r="635" b="47181"/>
            <a:stretch>
              <a:fillRect/>
            </a:stretch>
          </p:blipFill>
          <p:spPr>
            <a:xfrm>
              <a:off x="1615443" y="2056204"/>
              <a:ext cx="6870870" cy="244306"/>
            </a:xfrm>
            <a:prstGeom prst="rect">
              <a:avLst/>
            </a:prstGeom>
          </p:spPr>
        </p:pic>
        <p:pic>
          <p:nvPicPr>
            <p:cNvPr id="23" name="Picture 22">
              <a:extLst>
                <a:ext uri="{FF2B5EF4-FFF2-40B4-BE49-F238E27FC236}">
                  <a16:creationId xmlns:a16="http://schemas.microsoft.com/office/drawing/2014/main" id="{3B0172D6-AC2D-7B00-F8D8-E17F42F66867}"/>
                </a:ext>
              </a:extLst>
            </p:cNvPr>
            <p:cNvPicPr>
              <a:picLocks noChangeAspect="1"/>
            </p:cNvPicPr>
            <p:nvPr/>
          </p:nvPicPr>
          <p:blipFill>
            <a:blip r:embed="rId3"/>
            <a:srcRect l="-112" t="81437" r="112" b="-325"/>
            <a:stretch>
              <a:fillRect/>
            </a:stretch>
          </p:blipFill>
          <p:spPr>
            <a:xfrm>
              <a:off x="1610899" y="2302757"/>
              <a:ext cx="6870870" cy="494554"/>
            </a:xfrm>
            <a:prstGeom prst="rect">
              <a:avLst/>
            </a:prstGeom>
          </p:spPr>
        </p:pic>
      </p:grpSp>
      <p:sp>
        <p:nvSpPr>
          <p:cNvPr id="24" name="PlaceHolder 1">
            <a:extLst>
              <a:ext uri="{FF2B5EF4-FFF2-40B4-BE49-F238E27FC236}">
                <a16:creationId xmlns:a16="http://schemas.microsoft.com/office/drawing/2014/main" id="{962D2441-1359-3465-4F78-932BD4C64E2F}"/>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4" name="PlaceHolder 2">
            <a:extLst>
              <a:ext uri="{FF2B5EF4-FFF2-40B4-BE49-F238E27FC236}">
                <a16:creationId xmlns:a16="http://schemas.microsoft.com/office/drawing/2014/main" id="{CB1F83DB-4A5F-CA0B-0FD1-FEF451A663E2}"/>
              </a:ext>
            </a:extLst>
          </p:cNvPr>
          <p:cNvSpPr>
            <a:spLocks noGrp="1"/>
          </p:cNvSpPr>
          <p:nvPr>
            <p:ph type="ftr" idx="1"/>
          </p:nvPr>
        </p:nvSpPr>
        <p:spPr>
          <a:xfrm>
            <a:off x="4038480" y="6356520"/>
            <a:ext cx="4111560" cy="361800"/>
          </a:xfrm>
        </p:spPr>
        <p:txBody>
          <a:bodyPr/>
          <a:lstStyle/>
          <a:p>
            <a:r>
              <a:rPr lang="en-US" dirty="0"/>
              <a:t>Tab, v3.0</a:t>
            </a:r>
            <a:endParaRPr dirty="0"/>
          </a:p>
        </p:txBody>
      </p:sp>
      <p:sp>
        <p:nvSpPr>
          <p:cNvPr id="5" name="PlaceHolder 5">
            <a:extLst>
              <a:ext uri="{FF2B5EF4-FFF2-40B4-BE49-F238E27FC236}">
                <a16:creationId xmlns:a16="http://schemas.microsoft.com/office/drawing/2014/main" id="{5878E452-83E6-5F0B-E552-FAF8415BB218}"/>
              </a:ext>
            </a:extLst>
          </p:cNvPr>
          <p:cNvSpPr>
            <a:spLocks noGrp="1"/>
          </p:cNvSpPr>
          <p:nvPr>
            <p:ph type="sldNum" idx="2"/>
          </p:nvPr>
        </p:nvSpPr>
        <p:spPr>
          <a:xfrm>
            <a:off x="8610480" y="6356520"/>
            <a:ext cx="2739960" cy="361800"/>
          </a:xfrm>
        </p:spPr>
        <p:txBody>
          <a:bodyPr/>
          <a:lstStyle/>
          <a:p>
            <a:fld id="{63F6CC6A-DF16-4F88-82E8-D125745032A3}" type="slidenum">
              <a:rPr/>
              <a:t>12</a:t>
            </a:fld>
            <a:endParaRPr/>
          </a:p>
        </p:txBody>
      </p:sp>
    </p:spTree>
    <p:extLst>
      <p:ext uri="{BB962C8B-B14F-4D97-AF65-F5344CB8AC3E}">
        <p14:creationId xmlns:p14="http://schemas.microsoft.com/office/powerpoint/2010/main" val="32760460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1A564D-C499-6DF2-CECE-5AE7B47FEEC6}"/>
              </a:ext>
            </a:extLst>
          </p:cNvPr>
          <p:cNvSpPr>
            <a:spLocks noGrp="1"/>
          </p:cNvSpPr>
          <p:nvPr>
            <p:ph type="title"/>
          </p:nvPr>
        </p:nvSpPr>
        <p:spPr/>
        <p:txBody>
          <a:bodyPr/>
          <a:lstStyle/>
          <a:p>
            <a:r>
              <a:rPr lang="en-US" dirty="0"/>
              <a:t>Solution</a:t>
            </a:r>
          </a:p>
        </p:txBody>
      </p:sp>
      <p:sp>
        <p:nvSpPr>
          <p:cNvPr id="16" name="PlaceHolder 1">
            <a:extLst>
              <a:ext uri="{FF2B5EF4-FFF2-40B4-BE49-F238E27FC236}">
                <a16:creationId xmlns:a16="http://schemas.microsoft.com/office/drawing/2014/main" id="{8E39B2E3-C862-4523-F551-2BEC02095F23}"/>
              </a:ext>
            </a:extLst>
          </p:cNvPr>
          <p:cNvSpPr>
            <a:spLocks noGrp="1"/>
          </p:cNvSpPr>
          <p:nvPr>
            <p:ph type="body"/>
          </p:nvPr>
        </p:nvSpPr>
        <p:spPr>
          <a:xfrm>
            <a:off x="8481073" y="560109"/>
            <a:ext cx="3469784" cy="427346"/>
          </a:xfrm>
          <a:prstGeom prst="rect">
            <a:avLst/>
          </a:prstGeom>
          <a:noFill/>
          <a:ln w="0">
            <a:noFill/>
          </a:ln>
        </p:spPr>
        <p:txBody>
          <a:bodyPr lIns="90000" tIns="45000" rIns="90000" bIns="45000" anchor="t">
            <a:noAutofit/>
          </a:bodyPr>
          <a:lstStyle/>
          <a:p>
            <a:pPr>
              <a:lnSpc>
                <a:spcPct val="90000"/>
              </a:lnSpc>
              <a:spcBef>
                <a:spcPts val="1001"/>
              </a:spcBef>
              <a:buClr>
                <a:srgbClr val="000000"/>
              </a:buClr>
              <a:tabLst>
                <a:tab pos="0" algn="l"/>
              </a:tabLst>
            </a:pPr>
            <a:r>
              <a:rPr lang="en-US" sz="2000" dirty="0" err="1">
                <a:solidFill>
                  <a:srgbClr val="000000"/>
                </a:solidFill>
                <a:latin typeface="Courier New" panose="02070309020205020404" pitchFamily="49" charset="0"/>
                <a:cs typeface="Courier New" panose="02070309020205020404" pitchFamily="49" charset="0"/>
              </a:rPr>
              <a:t>predimed_records.csv</a:t>
            </a:r>
            <a:r>
              <a:rPr lang="en-US" sz="2000" dirty="0">
                <a:solidFill>
                  <a:srgbClr val="000000"/>
                </a:solidFill>
                <a:latin typeface="Courier New" panose="02070309020205020404" pitchFamily="49" charset="0"/>
                <a:cs typeface="Courier New" panose="02070309020205020404" pitchFamily="49" charset="0"/>
              </a:rPr>
              <a:t>	</a:t>
            </a:r>
          </a:p>
        </p:txBody>
      </p:sp>
      <p:sp>
        <p:nvSpPr>
          <p:cNvPr id="17" name="PlaceHolder 1">
            <a:extLst>
              <a:ext uri="{FF2B5EF4-FFF2-40B4-BE49-F238E27FC236}">
                <a16:creationId xmlns:a16="http://schemas.microsoft.com/office/drawing/2014/main" id="{B548E81E-C99E-7156-74D5-21EBE73B5752}"/>
              </a:ext>
            </a:extLst>
          </p:cNvPr>
          <p:cNvSpPr>
            <a:spLocks noGrp="1"/>
          </p:cNvSpPr>
          <p:nvPr>
            <p:ph type="body"/>
          </p:nvPr>
        </p:nvSpPr>
        <p:spPr>
          <a:xfrm>
            <a:off x="8401519" y="3843925"/>
            <a:ext cx="3619472" cy="412126"/>
          </a:xfrm>
          <a:prstGeom prst="rect">
            <a:avLst/>
          </a:prstGeom>
          <a:noFill/>
          <a:ln w="0">
            <a:noFill/>
          </a:ln>
        </p:spPr>
        <p:txBody>
          <a:bodyPr lIns="90000" tIns="45000" rIns="90000" bIns="45000" anchor="t">
            <a:noAutofit/>
          </a:bodyPr>
          <a:lstStyle/>
          <a:p>
            <a:pPr>
              <a:lnSpc>
                <a:spcPct val="90000"/>
              </a:lnSpc>
              <a:spcBef>
                <a:spcPts val="1001"/>
              </a:spcBef>
              <a:buClr>
                <a:srgbClr val="000000"/>
              </a:buClr>
              <a:tabLst>
                <a:tab pos="0" algn="l"/>
              </a:tabLst>
            </a:pPr>
            <a:r>
              <a:rPr lang="en-US" sz="2000" dirty="0">
                <a:solidFill>
                  <a:srgbClr val="000000"/>
                </a:solidFill>
                <a:latin typeface="Courier New" panose="02070309020205020404" pitchFamily="49" charset="0"/>
                <a:cs typeface="Courier New" panose="02070309020205020404" pitchFamily="49" charset="0"/>
              </a:rPr>
              <a:t>	</a:t>
            </a:r>
            <a:r>
              <a:rPr lang="en-US" sz="2000" dirty="0" err="1">
                <a:solidFill>
                  <a:srgbClr val="000000"/>
                </a:solidFill>
                <a:latin typeface="Courier New" panose="02070309020205020404" pitchFamily="49" charset="0"/>
                <a:cs typeface="Courier New" panose="02070309020205020404" pitchFamily="49" charset="0"/>
              </a:rPr>
              <a:t>predimed_locations.csv</a:t>
            </a:r>
            <a:endParaRPr lang="en-US" sz="2000" dirty="0">
              <a:solidFill>
                <a:srgbClr val="000000"/>
              </a:solidFill>
              <a:latin typeface="Courier New" panose="02070309020205020404" pitchFamily="49" charset="0"/>
              <a:cs typeface="Courier New" panose="02070309020205020404" pitchFamily="49" charset="0"/>
            </a:endParaRPr>
          </a:p>
        </p:txBody>
      </p:sp>
      <p:pic>
        <p:nvPicPr>
          <p:cNvPr id="15" name="Picture 14">
            <a:extLst>
              <a:ext uri="{FF2B5EF4-FFF2-40B4-BE49-F238E27FC236}">
                <a16:creationId xmlns:a16="http://schemas.microsoft.com/office/drawing/2014/main" id="{7119568E-CFEC-64C4-8F3C-9ACEF3AE10C1}"/>
              </a:ext>
            </a:extLst>
          </p:cNvPr>
          <p:cNvPicPr>
            <a:picLocks noChangeAspect="1"/>
          </p:cNvPicPr>
          <p:nvPr/>
        </p:nvPicPr>
        <p:blipFill>
          <a:blip r:embed="rId2"/>
          <a:srcRect r="68073"/>
          <a:stretch>
            <a:fillRect/>
          </a:stretch>
        </p:blipFill>
        <p:spPr>
          <a:xfrm>
            <a:off x="8762296" y="1086967"/>
            <a:ext cx="2897921" cy="2007487"/>
          </a:xfrm>
          <a:prstGeom prst="rect">
            <a:avLst/>
          </a:prstGeom>
        </p:spPr>
      </p:pic>
      <p:pic>
        <p:nvPicPr>
          <p:cNvPr id="30" name="Picture 29">
            <a:extLst>
              <a:ext uri="{FF2B5EF4-FFF2-40B4-BE49-F238E27FC236}">
                <a16:creationId xmlns:a16="http://schemas.microsoft.com/office/drawing/2014/main" id="{DBCB808F-D6C7-E28F-8156-1CA986AD613F}"/>
              </a:ext>
            </a:extLst>
          </p:cNvPr>
          <p:cNvPicPr>
            <a:picLocks noChangeAspect="1"/>
          </p:cNvPicPr>
          <p:nvPr/>
        </p:nvPicPr>
        <p:blipFill>
          <a:blip r:embed="rId3"/>
          <a:stretch>
            <a:fillRect/>
          </a:stretch>
        </p:blipFill>
        <p:spPr>
          <a:xfrm>
            <a:off x="9212480" y="4310203"/>
            <a:ext cx="1997551" cy="1802669"/>
          </a:xfrm>
          <a:prstGeom prst="rect">
            <a:avLst/>
          </a:prstGeom>
        </p:spPr>
      </p:pic>
      <p:sp>
        <p:nvSpPr>
          <p:cNvPr id="37" name="TextBox 36">
            <a:extLst>
              <a:ext uri="{FF2B5EF4-FFF2-40B4-BE49-F238E27FC236}">
                <a16:creationId xmlns:a16="http://schemas.microsoft.com/office/drawing/2014/main" id="{D702C206-A861-24E0-233F-278363E20531}"/>
              </a:ext>
            </a:extLst>
          </p:cNvPr>
          <p:cNvSpPr txBox="1"/>
          <p:nvPr/>
        </p:nvSpPr>
        <p:spPr>
          <a:xfrm>
            <a:off x="8122449" y="5089736"/>
            <a:ext cx="979755" cy="369332"/>
          </a:xfrm>
          <a:prstGeom prst="rect">
            <a:avLst/>
          </a:prstGeom>
          <a:noFill/>
        </p:spPr>
        <p:txBody>
          <a:bodyPr wrap="none" rtlCol="0">
            <a:spAutoFit/>
          </a:bodyPr>
          <a:lstStyle/>
          <a:p>
            <a:r>
              <a:rPr lang="en-US" b="1" dirty="0">
                <a:solidFill>
                  <a:srgbClr val="7D0079"/>
                </a:solidFill>
              </a:rPr>
              <a:t>M rows</a:t>
            </a:r>
          </a:p>
        </p:txBody>
      </p:sp>
      <p:sp>
        <p:nvSpPr>
          <p:cNvPr id="40" name="TextBox 39">
            <a:extLst>
              <a:ext uri="{FF2B5EF4-FFF2-40B4-BE49-F238E27FC236}">
                <a16:creationId xmlns:a16="http://schemas.microsoft.com/office/drawing/2014/main" id="{C80DC15C-4F03-E728-5CB5-B92C0C2C5F41}"/>
              </a:ext>
            </a:extLst>
          </p:cNvPr>
          <p:cNvSpPr txBox="1"/>
          <p:nvPr/>
        </p:nvSpPr>
        <p:spPr>
          <a:xfrm>
            <a:off x="7656899" y="1906044"/>
            <a:ext cx="954107" cy="369332"/>
          </a:xfrm>
          <a:prstGeom prst="rect">
            <a:avLst/>
          </a:prstGeom>
          <a:noFill/>
        </p:spPr>
        <p:txBody>
          <a:bodyPr wrap="none" rtlCol="0">
            <a:spAutoFit/>
          </a:bodyPr>
          <a:lstStyle/>
          <a:p>
            <a:r>
              <a:rPr lang="en-US" b="1" dirty="0">
                <a:solidFill>
                  <a:srgbClr val="7D0079"/>
                </a:solidFill>
              </a:rPr>
              <a:t>N rows</a:t>
            </a:r>
          </a:p>
        </p:txBody>
      </p:sp>
    </p:spTree>
    <p:extLst>
      <p:ext uri="{BB962C8B-B14F-4D97-AF65-F5344CB8AC3E}">
        <p14:creationId xmlns:p14="http://schemas.microsoft.com/office/powerpoint/2010/main" val="42811766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20A816-F0B1-F642-55B3-6AB687CA81F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51F100F-A9E5-7661-AB27-CCBB7EB54CC8}"/>
              </a:ext>
            </a:extLst>
          </p:cNvPr>
          <p:cNvSpPr>
            <a:spLocks noGrp="1"/>
          </p:cNvSpPr>
          <p:nvPr>
            <p:ph type="title"/>
          </p:nvPr>
        </p:nvSpPr>
        <p:spPr/>
        <p:txBody>
          <a:bodyPr/>
          <a:lstStyle/>
          <a:p>
            <a:r>
              <a:rPr lang="en-US" dirty="0"/>
              <a:t>Solution</a:t>
            </a:r>
          </a:p>
        </p:txBody>
      </p:sp>
      <p:sp>
        <p:nvSpPr>
          <p:cNvPr id="16" name="PlaceHolder 1">
            <a:extLst>
              <a:ext uri="{FF2B5EF4-FFF2-40B4-BE49-F238E27FC236}">
                <a16:creationId xmlns:a16="http://schemas.microsoft.com/office/drawing/2014/main" id="{783609FE-0B11-D8A5-5A53-95DD64FBE7F9}"/>
              </a:ext>
            </a:extLst>
          </p:cNvPr>
          <p:cNvSpPr>
            <a:spLocks noGrp="1"/>
          </p:cNvSpPr>
          <p:nvPr>
            <p:ph type="body"/>
          </p:nvPr>
        </p:nvSpPr>
        <p:spPr>
          <a:xfrm>
            <a:off x="8481073" y="560109"/>
            <a:ext cx="3469784" cy="427346"/>
          </a:xfrm>
          <a:prstGeom prst="rect">
            <a:avLst/>
          </a:prstGeom>
          <a:noFill/>
          <a:ln w="0">
            <a:noFill/>
          </a:ln>
        </p:spPr>
        <p:txBody>
          <a:bodyPr lIns="90000" tIns="45000" rIns="90000" bIns="45000" anchor="t">
            <a:noAutofit/>
          </a:bodyPr>
          <a:lstStyle/>
          <a:p>
            <a:pPr>
              <a:lnSpc>
                <a:spcPct val="90000"/>
              </a:lnSpc>
              <a:spcBef>
                <a:spcPts val="1001"/>
              </a:spcBef>
              <a:buClr>
                <a:srgbClr val="000000"/>
              </a:buClr>
              <a:tabLst>
                <a:tab pos="0" algn="l"/>
              </a:tabLst>
            </a:pPr>
            <a:r>
              <a:rPr lang="en-US" sz="2000" dirty="0" err="1">
                <a:solidFill>
                  <a:srgbClr val="000000"/>
                </a:solidFill>
                <a:latin typeface="Courier New" panose="02070309020205020404" pitchFamily="49" charset="0"/>
                <a:cs typeface="Courier New" panose="02070309020205020404" pitchFamily="49" charset="0"/>
              </a:rPr>
              <a:t>predimed_records.csv</a:t>
            </a:r>
            <a:r>
              <a:rPr lang="en-US" sz="2000" dirty="0">
                <a:solidFill>
                  <a:srgbClr val="000000"/>
                </a:solidFill>
                <a:latin typeface="Courier New" panose="02070309020205020404" pitchFamily="49" charset="0"/>
                <a:cs typeface="Courier New" panose="02070309020205020404" pitchFamily="49" charset="0"/>
              </a:rPr>
              <a:t>	</a:t>
            </a:r>
          </a:p>
        </p:txBody>
      </p:sp>
      <p:sp>
        <p:nvSpPr>
          <p:cNvPr id="17" name="PlaceHolder 1">
            <a:extLst>
              <a:ext uri="{FF2B5EF4-FFF2-40B4-BE49-F238E27FC236}">
                <a16:creationId xmlns:a16="http://schemas.microsoft.com/office/drawing/2014/main" id="{9932428D-06B1-27AD-8ABA-294988995E26}"/>
              </a:ext>
            </a:extLst>
          </p:cNvPr>
          <p:cNvSpPr>
            <a:spLocks noGrp="1"/>
          </p:cNvSpPr>
          <p:nvPr>
            <p:ph type="body"/>
          </p:nvPr>
        </p:nvSpPr>
        <p:spPr>
          <a:xfrm>
            <a:off x="8401519" y="3843925"/>
            <a:ext cx="3619472" cy="412126"/>
          </a:xfrm>
          <a:prstGeom prst="rect">
            <a:avLst/>
          </a:prstGeom>
          <a:noFill/>
          <a:ln w="0">
            <a:noFill/>
          </a:ln>
        </p:spPr>
        <p:txBody>
          <a:bodyPr lIns="90000" tIns="45000" rIns="90000" bIns="45000" anchor="t">
            <a:noAutofit/>
          </a:bodyPr>
          <a:lstStyle/>
          <a:p>
            <a:pPr>
              <a:lnSpc>
                <a:spcPct val="90000"/>
              </a:lnSpc>
              <a:spcBef>
                <a:spcPts val="1001"/>
              </a:spcBef>
              <a:buClr>
                <a:srgbClr val="000000"/>
              </a:buClr>
              <a:tabLst>
                <a:tab pos="0" algn="l"/>
              </a:tabLst>
            </a:pPr>
            <a:r>
              <a:rPr lang="en-US" sz="2000" dirty="0">
                <a:solidFill>
                  <a:srgbClr val="000000"/>
                </a:solidFill>
                <a:latin typeface="Courier New" panose="02070309020205020404" pitchFamily="49" charset="0"/>
                <a:cs typeface="Courier New" panose="02070309020205020404" pitchFamily="49" charset="0"/>
              </a:rPr>
              <a:t>	</a:t>
            </a:r>
            <a:r>
              <a:rPr lang="en-US" sz="2000" dirty="0" err="1">
                <a:solidFill>
                  <a:srgbClr val="000000"/>
                </a:solidFill>
                <a:latin typeface="Courier New" panose="02070309020205020404" pitchFamily="49" charset="0"/>
                <a:cs typeface="Courier New" panose="02070309020205020404" pitchFamily="49" charset="0"/>
              </a:rPr>
              <a:t>predimed_locations.csv</a:t>
            </a:r>
            <a:endParaRPr lang="en-US" sz="2000" dirty="0">
              <a:solidFill>
                <a:srgbClr val="000000"/>
              </a:solidFill>
              <a:latin typeface="Courier New" panose="02070309020205020404" pitchFamily="49" charset="0"/>
              <a:cs typeface="Courier New" panose="02070309020205020404" pitchFamily="49" charset="0"/>
            </a:endParaRPr>
          </a:p>
        </p:txBody>
      </p:sp>
      <p:pic>
        <p:nvPicPr>
          <p:cNvPr id="15" name="Picture 14">
            <a:extLst>
              <a:ext uri="{FF2B5EF4-FFF2-40B4-BE49-F238E27FC236}">
                <a16:creationId xmlns:a16="http://schemas.microsoft.com/office/drawing/2014/main" id="{B128CCAD-7A79-0010-6B1A-F88D533E78AC}"/>
              </a:ext>
            </a:extLst>
          </p:cNvPr>
          <p:cNvPicPr>
            <a:picLocks noChangeAspect="1"/>
          </p:cNvPicPr>
          <p:nvPr/>
        </p:nvPicPr>
        <p:blipFill>
          <a:blip r:embed="rId2"/>
          <a:srcRect r="68073"/>
          <a:stretch>
            <a:fillRect/>
          </a:stretch>
        </p:blipFill>
        <p:spPr>
          <a:xfrm>
            <a:off x="8762296" y="1086967"/>
            <a:ext cx="2897921" cy="2007487"/>
          </a:xfrm>
          <a:prstGeom prst="rect">
            <a:avLst/>
          </a:prstGeom>
        </p:spPr>
      </p:pic>
      <p:pic>
        <p:nvPicPr>
          <p:cNvPr id="30" name="Picture 29">
            <a:extLst>
              <a:ext uri="{FF2B5EF4-FFF2-40B4-BE49-F238E27FC236}">
                <a16:creationId xmlns:a16="http://schemas.microsoft.com/office/drawing/2014/main" id="{142FD06E-1673-CA98-B56C-1FC37D54985A}"/>
              </a:ext>
            </a:extLst>
          </p:cNvPr>
          <p:cNvPicPr>
            <a:picLocks noChangeAspect="1"/>
          </p:cNvPicPr>
          <p:nvPr/>
        </p:nvPicPr>
        <p:blipFill>
          <a:blip r:embed="rId3"/>
          <a:stretch>
            <a:fillRect/>
          </a:stretch>
        </p:blipFill>
        <p:spPr>
          <a:xfrm>
            <a:off x="9212480" y="4310203"/>
            <a:ext cx="1997551" cy="1802669"/>
          </a:xfrm>
          <a:prstGeom prst="rect">
            <a:avLst/>
          </a:prstGeom>
        </p:spPr>
      </p:pic>
      <p:grpSp>
        <p:nvGrpSpPr>
          <p:cNvPr id="38" name="Group 37">
            <a:extLst>
              <a:ext uri="{FF2B5EF4-FFF2-40B4-BE49-F238E27FC236}">
                <a16:creationId xmlns:a16="http://schemas.microsoft.com/office/drawing/2014/main" id="{860DBB06-83A4-C520-257D-7A926A1D9A1C}"/>
              </a:ext>
            </a:extLst>
          </p:cNvPr>
          <p:cNvGrpSpPr/>
          <p:nvPr/>
        </p:nvGrpSpPr>
        <p:grpSpPr>
          <a:xfrm>
            <a:off x="205429" y="1619530"/>
            <a:ext cx="7945059" cy="1899183"/>
            <a:chOff x="205429" y="2458772"/>
            <a:chExt cx="7945059" cy="1899183"/>
          </a:xfrm>
        </p:grpSpPr>
        <p:pic>
          <p:nvPicPr>
            <p:cNvPr id="35" name="Picture 34">
              <a:extLst>
                <a:ext uri="{FF2B5EF4-FFF2-40B4-BE49-F238E27FC236}">
                  <a16:creationId xmlns:a16="http://schemas.microsoft.com/office/drawing/2014/main" id="{C8044A93-A5ED-5636-3BBA-E56CB0001A56}"/>
                </a:ext>
              </a:extLst>
            </p:cNvPr>
            <p:cNvPicPr>
              <a:picLocks noChangeAspect="1"/>
            </p:cNvPicPr>
            <p:nvPr/>
          </p:nvPicPr>
          <p:blipFill>
            <a:blip r:embed="rId4"/>
            <a:stretch>
              <a:fillRect/>
            </a:stretch>
          </p:blipFill>
          <p:spPr>
            <a:xfrm>
              <a:off x="205429" y="2458772"/>
              <a:ext cx="7945059" cy="1899183"/>
            </a:xfrm>
            <a:prstGeom prst="rect">
              <a:avLst/>
            </a:prstGeom>
          </p:spPr>
        </p:pic>
        <p:sp>
          <p:nvSpPr>
            <p:cNvPr id="27" name="TextBox 26">
              <a:extLst>
                <a:ext uri="{FF2B5EF4-FFF2-40B4-BE49-F238E27FC236}">
                  <a16:creationId xmlns:a16="http://schemas.microsoft.com/office/drawing/2014/main" id="{D94A3210-FAF8-105C-FB64-AB6AA61D4AFD}"/>
                </a:ext>
              </a:extLst>
            </p:cNvPr>
            <p:cNvSpPr txBox="1"/>
            <p:nvPr/>
          </p:nvSpPr>
          <p:spPr>
            <a:xfrm>
              <a:off x="4076862" y="2931173"/>
              <a:ext cx="684803" cy="369332"/>
            </a:xfrm>
            <a:prstGeom prst="rect">
              <a:avLst/>
            </a:prstGeom>
            <a:solidFill>
              <a:srgbClr val="F5F5F5"/>
            </a:solidFill>
          </p:spPr>
          <p:txBody>
            <a:bodyPr wrap="none" rtlCol="0">
              <a:spAutoFit/>
            </a:bodyPr>
            <a:lstStyle/>
            <a:p>
              <a:r>
                <a:rPr lang="en-US" b="1" dirty="0">
                  <a:solidFill>
                    <a:srgbClr val="F5F5F5"/>
                  </a:solidFill>
                </a:rPr>
                <a:t>O(N)</a:t>
              </a:r>
            </a:p>
          </p:txBody>
        </p:sp>
      </p:grpSp>
      <p:sp>
        <p:nvSpPr>
          <p:cNvPr id="37" name="TextBox 36">
            <a:extLst>
              <a:ext uri="{FF2B5EF4-FFF2-40B4-BE49-F238E27FC236}">
                <a16:creationId xmlns:a16="http://schemas.microsoft.com/office/drawing/2014/main" id="{165B88FD-D871-0B72-9F1B-05540EEB8A45}"/>
              </a:ext>
            </a:extLst>
          </p:cNvPr>
          <p:cNvSpPr txBox="1"/>
          <p:nvPr/>
        </p:nvSpPr>
        <p:spPr>
          <a:xfrm>
            <a:off x="8122449" y="5089736"/>
            <a:ext cx="979755" cy="369332"/>
          </a:xfrm>
          <a:prstGeom prst="rect">
            <a:avLst/>
          </a:prstGeom>
          <a:noFill/>
        </p:spPr>
        <p:txBody>
          <a:bodyPr wrap="none" rtlCol="0">
            <a:spAutoFit/>
          </a:bodyPr>
          <a:lstStyle/>
          <a:p>
            <a:r>
              <a:rPr lang="en-US" b="1" dirty="0">
                <a:solidFill>
                  <a:srgbClr val="7D0079"/>
                </a:solidFill>
              </a:rPr>
              <a:t>M rows</a:t>
            </a:r>
          </a:p>
        </p:txBody>
      </p:sp>
      <p:sp>
        <p:nvSpPr>
          <p:cNvPr id="40" name="TextBox 39">
            <a:extLst>
              <a:ext uri="{FF2B5EF4-FFF2-40B4-BE49-F238E27FC236}">
                <a16:creationId xmlns:a16="http://schemas.microsoft.com/office/drawing/2014/main" id="{9DE8C9B6-487D-C177-9BFD-0149487796A8}"/>
              </a:ext>
            </a:extLst>
          </p:cNvPr>
          <p:cNvSpPr txBox="1"/>
          <p:nvPr/>
        </p:nvSpPr>
        <p:spPr>
          <a:xfrm>
            <a:off x="7656899" y="1906044"/>
            <a:ext cx="954107" cy="369332"/>
          </a:xfrm>
          <a:prstGeom prst="rect">
            <a:avLst/>
          </a:prstGeom>
          <a:noFill/>
        </p:spPr>
        <p:txBody>
          <a:bodyPr wrap="none" rtlCol="0">
            <a:spAutoFit/>
          </a:bodyPr>
          <a:lstStyle/>
          <a:p>
            <a:r>
              <a:rPr lang="en-US" b="1" dirty="0">
                <a:solidFill>
                  <a:srgbClr val="7D0079"/>
                </a:solidFill>
              </a:rPr>
              <a:t>N rows</a:t>
            </a:r>
          </a:p>
        </p:txBody>
      </p:sp>
    </p:spTree>
    <p:extLst>
      <p:ext uri="{BB962C8B-B14F-4D97-AF65-F5344CB8AC3E}">
        <p14:creationId xmlns:p14="http://schemas.microsoft.com/office/powerpoint/2010/main" val="25859793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9B22A2-20E9-A75F-A4BF-D8F27771276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00A6818-D72A-43D2-82BE-3F57269981A4}"/>
              </a:ext>
            </a:extLst>
          </p:cNvPr>
          <p:cNvSpPr>
            <a:spLocks noGrp="1"/>
          </p:cNvSpPr>
          <p:nvPr>
            <p:ph type="title"/>
          </p:nvPr>
        </p:nvSpPr>
        <p:spPr/>
        <p:txBody>
          <a:bodyPr/>
          <a:lstStyle/>
          <a:p>
            <a:r>
              <a:rPr lang="en-US" dirty="0"/>
              <a:t>Solution</a:t>
            </a:r>
          </a:p>
        </p:txBody>
      </p:sp>
      <p:sp>
        <p:nvSpPr>
          <p:cNvPr id="16" name="PlaceHolder 1">
            <a:extLst>
              <a:ext uri="{FF2B5EF4-FFF2-40B4-BE49-F238E27FC236}">
                <a16:creationId xmlns:a16="http://schemas.microsoft.com/office/drawing/2014/main" id="{FAD7B6B3-7F7C-FF71-AEE4-C54EC406CF09}"/>
              </a:ext>
            </a:extLst>
          </p:cNvPr>
          <p:cNvSpPr>
            <a:spLocks noGrp="1"/>
          </p:cNvSpPr>
          <p:nvPr>
            <p:ph type="body"/>
          </p:nvPr>
        </p:nvSpPr>
        <p:spPr>
          <a:xfrm>
            <a:off x="8481073" y="560109"/>
            <a:ext cx="3469784" cy="427346"/>
          </a:xfrm>
          <a:prstGeom prst="rect">
            <a:avLst/>
          </a:prstGeom>
          <a:noFill/>
          <a:ln w="0">
            <a:noFill/>
          </a:ln>
        </p:spPr>
        <p:txBody>
          <a:bodyPr lIns="90000" tIns="45000" rIns="90000" bIns="45000" anchor="t">
            <a:noAutofit/>
          </a:bodyPr>
          <a:lstStyle/>
          <a:p>
            <a:pPr>
              <a:lnSpc>
                <a:spcPct val="90000"/>
              </a:lnSpc>
              <a:spcBef>
                <a:spcPts val="1001"/>
              </a:spcBef>
              <a:buClr>
                <a:srgbClr val="000000"/>
              </a:buClr>
              <a:tabLst>
                <a:tab pos="0" algn="l"/>
              </a:tabLst>
            </a:pPr>
            <a:r>
              <a:rPr lang="en-US" sz="2000" dirty="0" err="1">
                <a:solidFill>
                  <a:srgbClr val="000000"/>
                </a:solidFill>
                <a:latin typeface="Courier New" panose="02070309020205020404" pitchFamily="49" charset="0"/>
                <a:cs typeface="Courier New" panose="02070309020205020404" pitchFamily="49" charset="0"/>
              </a:rPr>
              <a:t>predimed_records.csv</a:t>
            </a:r>
            <a:r>
              <a:rPr lang="en-US" sz="2000" dirty="0">
                <a:solidFill>
                  <a:srgbClr val="000000"/>
                </a:solidFill>
                <a:latin typeface="Courier New" panose="02070309020205020404" pitchFamily="49" charset="0"/>
                <a:cs typeface="Courier New" panose="02070309020205020404" pitchFamily="49" charset="0"/>
              </a:rPr>
              <a:t>	</a:t>
            </a:r>
          </a:p>
        </p:txBody>
      </p:sp>
      <p:sp>
        <p:nvSpPr>
          <p:cNvPr id="17" name="PlaceHolder 1">
            <a:extLst>
              <a:ext uri="{FF2B5EF4-FFF2-40B4-BE49-F238E27FC236}">
                <a16:creationId xmlns:a16="http://schemas.microsoft.com/office/drawing/2014/main" id="{25031ACD-A1D1-D129-4EE2-51DDDB2CEC28}"/>
              </a:ext>
            </a:extLst>
          </p:cNvPr>
          <p:cNvSpPr>
            <a:spLocks noGrp="1"/>
          </p:cNvSpPr>
          <p:nvPr>
            <p:ph type="body"/>
          </p:nvPr>
        </p:nvSpPr>
        <p:spPr>
          <a:xfrm>
            <a:off x="8401519" y="3843925"/>
            <a:ext cx="3619472" cy="412126"/>
          </a:xfrm>
          <a:prstGeom prst="rect">
            <a:avLst/>
          </a:prstGeom>
          <a:noFill/>
          <a:ln w="0">
            <a:noFill/>
          </a:ln>
        </p:spPr>
        <p:txBody>
          <a:bodyPr lIns="90000" tIns="45000" rIns="90000" bIns="45000" anchor="t">
            <a:noAutofit/>
          </a:bodyPr>
          <a:lstStyle/>
          <a:p>
            <a:pPr>
              <a:lnSpc>
                <a:spcPct val="90000"/>
              </a:lnSpc>
              <a:spcBef>
                <a:spcPts val="1001"/>
              </a:spcBef>
              <a:buClr>
                <a:srgbClr val="000000"/>
              </a:buClr>
              <a:tabLst>
                <a:tab pos="0" algn="l"/>
              </a:tabLst>
            </a:pPr>
            <a:r>
              <a:rPr lang="en-US" sz="2000" dirty="0">
                <a:solidFill>
                  <a:srgbClr val="000000"/>
                </a:solidFill>
                <a:latin typeface="Courier New" panose="02070309020205020404" pitchFamily="49" charset="0"/>
                <a:cs typeface="Courier New" panose="02070309020205020404" pitchFamily="49" charset="0"/>
              </a:rPr>
              <a:t>	</a:t>
            </a:r>
            <a:r>
              <a:rPr lang="en-US" sz="2000" dirty="0" err="1">
                <a:solidFill>
                  <a:srgbClr val="000000"/>
                </a:solidFill>
                <a:latin typeface="Courier New" panose="02070309020205020404" pitchFamily="49" charset="0"/>
                <a:cs typeface="Courier New" panose="02070309020205020404" pitchFamily="49" charset="0"/>
              </a:rPr>
              <a:t>predimed_locations.csv</a:t>
            </a:r>
            <a:endParaRPr lang="en-US" sz="2000" dirty="0">
              <a:solidFill>
                <a:srgbClr val="000000"/>
              </a:solidFill>
              <a:latin typeface="Courier New" panose="02070309020205020404" pitchFamily="49" charset="0"/>
              <a:cs typeface="Courier New" panose="02070309020205020404" pitchFamily="49" charset="0"/>
            </a:endParaRPr>
          </a:p>
        </p:txBody>
      </p:sp>
      <p:grpSp>
        <p:nvGrpSpPr>
          <p:cNvPr id="28" name="Group 27">
            <a:extLst>
              <a:ext uri="{FF2B5EF4-FFF2-40B4-BE49-F238E27FC236}">
                <a16:creationId xmlns:a16="http://schemas.microsoft.com/office/drawing/2014/main" id="{BE6A0756-7FB0-3107-C1D6-67F24D74F273}"/>
              </a:ext>
            </a:extLst>
          </p:cNvPr>
          <p:cNvGrpSpPr/>
          <p:nvPr/>
        </p:nvGrpSpPr>
        <p:grpSpPr>
          <a:xfrm>
            <a:off x="8660859" y="1086967"/>
            <a:ext cx="2999358" cy="2007487"/>
            <a:chOff x="8820196" y="1647191"/>
            <a:chExt cx="2999358" cy="2007487"/>
          </a:xfrm>
        </p:grpSpPr>
        <p:pic>
          <p:nvPicPr>
            <p:cNvPr id="15" name="Picture 14">
              <a:extLst>
                <a:ext uri="{FF2B5EF4-FFF2-40B4-BE49-F238E27FC236}">
                  <a16:creationId xmlns:a16="http://schemas.microsoft.com/office/drawing/2014/main" id="{92B8DAB2-B320-6A06-70AD-B6CA4C63BD33}"/>
                </a:ext>
              </a:extLst>
            </p:cNvPr>
            <p:cNvPicPr>
              <a:picLocks noChangeAspect="1"/>
            </p:cNvPicPr>
            <p:nvPr/>
          </p:nvPicPr>
          <p:blipFill>
            <a:blip r:embed="rId2"/>
            <a:srcRect r="68073"/>
            <a:stretch>
              <a:fillRect/>
            </a:stretch>
          </p:blipFill>
          <p:spPr>
            <a:xfrm>
              <a:off x="8921633" y="1647191"/>
              <a:ext cx="2897921" cy="2007487"/>
            </a:xfrm>
            <a:prstGeom prst="rect">
              <a:avLst/>
            </a:prstGeom>
          </p:spPr>
        </p:pic>
        <p:cxnSp>
          <p:nvCxnSpPr>
            <p:cNvPr id="22" name="Straight Arrow Connector 21">
              <a:extLst>
                <a:ext uri="{FF2B5EF4-FFF2-40B4-BE49-F238E27FC236}">
                  <a16:creationId xmlns:a16="http://schemas.microsoft.com/office/drawing/2014/main" id="{7B12D495-9535-491E-EDC4-E1EC3DCD1737}"/>
                </a:ext>
              </a:extLst>
            </p:cNvPr>
            <p:cNvCxnSpPr>
              <a:cxnSpLocks/>
            </p:cNvCxnSpPr>
            <p:nvPr/>
          </p:nvCxnSpPr>
          <p:spPr>
            <a:xfrm>
              <a:off x="8820196" y="1701342"/>
              <a:ext cx="0" cy="1899184"/>
            </a:xfrm>
            <a:prstGeom prst="straightConnector1">
              <a:avLst/>
            </a:prstGeom>
            <a:ln w="38100">
              <a:solidFill>
                <a:srgbClr val="7D0079"/>
              </a:solidFill>
              <a:tailEnd type="triangle"/>
            </a:ln>
          </p:spPr>
          <p:style>
            <a:lnRef idx="1">
              <a:schemeClr val="accent1"/>
            </a:lnRef>
            <a:fillRef idx="0">
              <a:schemeClr val="accent1"/>
            </a:fillRef>
            <a:effectRef idx="0">
              <a:schemeClr val="accent1"/>
            </a:effectRef>
            <a:fontRef idx="minor">
              <a:schemeClr val="tx1"/>
            </a:fontRef>
          </p:style>
        </p:cxnSp>
      </p:grpSp>
      <p:pic>
        <p:nvPicPr>
          <p:cNvPr id="30" name="Picture 29">
            <a:extLst>
              <a:ext uri="{FF2B5EF4-FFF2-40B4-BE49-F238E27FC236}">
                <a16:creationId xmlns:a16="http://schemas.microsoft.com/office/drawing/2014/main" id="{D961D575-83E3-FE88-29F8-1E73084A54C1}"/>
              </a:ext>
            </a:extLst>
          </p:cNvPr>
          <p:cNvPicPr>
            <a:picLocks noChangeAspect="1"/>
          </p:cNvPicPr>
          <p:nvPr/>
        </p:nvPicPr>
        <p:blipFill>
          <a:blip r:embed="rId3"/>
          <a:stretch>
            <a:fillRect/>
          </a:stretch>
        </p:blipFill>
        <p:spPr>
          <a:xfrm>
            <a:off x="9212480" y="4310203"/>
            <a:ext cx="1997551" cy="1802669"/>
          </a:xfrm>
          <a:prstGeom prst="rect">
            <a:avLst/>
          </a:prstGeom>
        </p:spPr>
      </p:pic>
      <p:grpSp>
        <p:nvGrpSpPr>
          <p:cNvPr id="38" name="Group 37">
            <a:extLst>
              <a:ext uri="{FF2B5EF4-FFF2-40B4-BE49-F238E27FC236}">
                <a16:creationId xmlns:a16="http://schemas.microsoft.com/office/drawing/2014/main" id="{D7A4FA43-D955-D9DD-9DE9-D60D47A11343}"/>
              </a:ext>
            </a:extLst>
          </p:cNvPr>
          <p:cNvGrpSpPr/>
          <p:nvPr/>
        </p:nvGrpSpPr>
        <p:grpSpPr>
          <a:xfrm>
            <a:off x="205429" y="1619530"/>
            <a:ext cx="7945059" cy="1899183"/>
            <a:chOff x="205429" y="2458772"/>
            <a:chExt cx="7945059" cy="1899183"/>
          </a:xfrm>
        </p:grpSpPr>
        <p:pic>
          <p:nvPicPr>
            <p:cNvPr id="35" name="Picture 34">
              <a:extLst>
                <a:ext uri="{FF2B5EF4-FFF2-40B4-BE49-F238E27FC236}">
                  <a16:creationId xmlns:a16="http://schemas.microsoft.com/office/drawing/2014/main" id="{4E3DE82E-830D-153F-D54D-DF0D4CF1C041}"/>
                </a:ext>
              </a:extLst>
            </p:cNvPr>
            <p:cNvPicPr>
              <a:picLocks noChangeAspect="1"/>
            </p:cNvPicPr>
            <p:nvPr/>
          </p:nvPicPr>
          <p:blipFill>
            <a:blip r:embed="rId4"/>
            <a:stretch>
              <a:fillRect/>
            </a:stretch>
          </p:blipFill>
          <p:spPr>
            <a:xfrm>
              <a:off x="205429" y="2458772"/>
              <a:ext cx="7945059" cy="1899183"/>
            </a:xfrm>
            <a:prstGeom prst="rect">
              <a:avLst/>
            </a:prstGeom>
          </p:spPr>
        </p:pic>
        <p:sp>
          <p:nvSpPr>
            <p:cNvPr id="27" name="TextBox 26">
              <a:extLst>
                <a:ext uri="{FF2B5EF4-FFF2-40B4-BE49-F238E27FC236}">
                  <a16:creationId xmlns:a16="http://schemas.microsoft.com/office/drawing/2014/main" id="{43B04903-EAAC-B28C-23C2-AF2682E676A2}"/>
                </a:ext>
              </a:extLst>
            </p:cNvPr>
            <p:cNvSpPr txBox="1"/>
            <p:nvPr/>
          </p:nvSpPr>
          <p:spPr>
            <a:xfrm>
              <a:off x="4076862" y="2931173"/>
              <a:ext cx="684803" cy="369332"/>
            </a:xfrm>
            <a:prstGeom prst="rect">
              <a:avLst/>
            </a:prstGeom>
            <a:solidFill>
              <a:srgbClr val="F5F5F5"/>
            </a:solidFill>
          </p:spPr>
          <p:txBody>
            <a:bodyPr wrap="none" rtlCol="0">
              <a:spAutoFit/>
            </a:bodyPr>
            <a:lstStyle/>
            <a:p>
              <a:r>
                <a:rPr lang="en-US" b="1" dirty="0">
                  <a:solidFill>
                    <a:srgbClr val="7D0079"/>
                  </a:solidFill>
                </a:rPr>
                <a:t>O(N)</a:t>
              </a:r>
            </a:p>
          </p:txBody>
        </p:sp>
        <p:sp>
          <p:nvSpPr>
            <p:cNvPr id="31" name="TextBox 30">
              <a:extLst>
                <a:ext uri="{FF2B5EF4-FFF2-40B4-BE49-F238E27FC236}">
                  <a16:creationId xmlns:a16="http://schemas.microsoft.com/office/drawing/2014/main" id="{C510ABDD-7E62-58DD-E3DB-4E44FB50769E}"/>
                </a:ext>
              </a:extLst>
            </p:cNvPr>
            <p:cNvSpPr txBox="1"/>
            <p:nvPr/>
          </p:nvSpPr>
          <p:spPr>
            <a:xfrm>
              <a:off x="3840283" y="3285558"/>
              <a:ext cx="784462" cy="369332"/>
            </a:xfrm>
            <a:prstGeom prst="rect">
              <a:avLst/>
            </a:prstGeom>
            <a:solidFill>
              <a:srgbClr val="F5F5F5"/>
            </a:solidFill>
          </p:spPr>
          <p:txBody>
            <a:bodyPr wrap="square" rtlCol="0">
              <a:spAutoFit/>
            </a:bodyPr>
            <a:lstStyle/>
            <a:p>
              <a:r>
                <a:rPr lang="en-US" b="1" dirty="0">
                  <a:solidFill>
                    <a:srgbClr val="7D0079"/>
                  </a:solidFill>
                </a:rPr>
                <a:t>O(M)</a:t>
              </a:r>
            </a:p>
          </p:txBody>
        </p:sp>
      </p:grpSp>
      <p:cxnSp>
        <p:nvCxnSpPr>
          <p:cNvPr id="36" name="Straight Arrow Connector 35">
            <a:extLst>
              <a:ext uri="{FF2B5EF4-FFF2-40B4-BE49-F238E27FC236}">
                <a16:creationId xmlns:a16="http://schemas.microsoft.com/office/drawing/2014/main" id="{03414975-5CAB-4622-3DCD-DE3546118F01}"/>
              </a:ext>
            </a:extLst>
          </p:cNvPr>
          <p:cNvCxnSpPr>
            <a:cxnSpLocks/>
          </p:cNvCxnSpPr>
          <p:nvPr/>
        </p:nvCxnSpPr>
        <p:spPr>
          <a:xfrm>
            <a:off x="9138935" y="4324810"/>
            <a:ext cx="0" cy="1899184"/>
          </a:xfrm>
          <a:prstGeom prst="straightConnector1">
            <a:avLst/>
          </a:prstGeom>
          <a:ln w="38100">
            <a:solidFill>
              <a:srgbClr val="7D0079"/>
            </a:solidFill>
            <a:tailEnd type="triangle"/>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30D2FB5E-1799-2B4E-3AE4-555C0C038BD2}"/>
              </a:ext>
            </a:extLst>
          </p:cNvPr>
          <p:cNvSpPr txBox="1"/>
          <p:nvPr/>
        </p:nvSpPr>
        <p:spPr>
          <a:xfrm>
            <a:off x="8122449" y="5089736"/>
            <a:ext cx="979755" cy="369332"/>
          </a:xfrm>
          <a:prstGeom prst="rect">
            <a:avLst/>
          </a:prstGeom>
          <a:noFill/>
        </p:spPr>
        <p:txBody>
          <a:bodyPr wrap="none" rtlCol="0">
            <a:spAutoFit/>
          </a:bodyPr>
          <a:lstStyle/>
          <a:p>
            <a:r>
              <a:rPr lang="en-US" b="1" dirty="0">
                <a:solidFill>
                  <a:srgbClr val="7D0079"/>
                </a:solidFill>
              </a:rPr>
              <a:t>M rows</a:t>
            </a:r>
          </a:p>
        </p:txBody>
      </p:sp>
      <p:cxnSp>
        <p:nvCxnSpPr>
          <p:cNvPr id="39" name="Straight Arrow Connector 38">
            <a:extLst>
              <a:ext uri="{FF2B5EF4-FFF2-40B4-BE49-F238E27FC236}">
                <a16:creationId xmlns:a16="http://schemas.microsoft.com/office/drawing/2014/main" id="{EC70174D-2BEA-43B0-DCD4-C7B90EF7773B}"/>
              </a:ext>
            </a:extLst>
          </p:cNvPr>
          <p:cNvCxnSpPr>
            <a:cxnSpLocks/>
          </p:cNvCxnSpPr>
          <p:nvPr/>
        </p:nvCxnSpPr>
        <p:spPr>
          <a:xfrm>
            <a:off x="8660859" y="1141118"/>
            <a:ext cx="0" cy="1899184"/>
          </a:xfrm>
          <a:prstGeom prst="straightConnector1">
            <a:avLst/>
          </a:prstGeom>
          <a:ln w="38100">
            <a:solidFill>
              <a:srgbClr val="7D0079"/>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26C1AC62-EB6A-E997-609D-FA51663E8745}"/>
              </a:ext>
            </a:extLst>
          </p:cNvPr>
          <p:cNvSpPr txBox="1"/>
          <p:nvPr/>
        </p:nvSpPr>
        <p:spPr>
          <a:xfrm>
            <a:off x="7656899" y="1906044"/>
            <a:ext cx="954107" cy="369332"/>
          </a:xfrm>
          <a:prstGeom prst="rect">
            <a:avLst/>
          </a:prstGeom>
          <a:noFill/>
        </p:spPr>
        <p:txBody>
          <a:bodyPr wrap="none" rtlCol="0">
            <a:spAutoFit/>
          </a:bodyPr>
          <a:lstStyle/>
          <a:p>
            <a:r>
              <a:rPr lang="en-US" b="1" dirty="0">
                <a:solidFill>
                  <a:srgbClr val="7D0079"/>
                </a:solidFill>
              </a:rPr>
              <a:t>N rows</a:t>
            </a:r>
          </a:p>
        </p:txBody>
      </p:sp>
    </p:spTree>
    <p:extLst>
      <p:ext uri="{BB962C8B-B14F-4D97-AF65-F5344CB8AC3E}">
        <p14:creationId xmlns:p14="http://schemas.microsoft.com/office/powerpoint/2010/main" val="28665610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DB75C8-DE14-7531-2377-464A79766FA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C49E848-0840-5DC3-7F90-70F060A99872}"/>
              </a:ext>
            </a:extLst>
          </p:cNvPr>
          <p:cNvSpPr>
            <a:spLocks noGrp="1"/>
          </p:cNvSpPr>
          <p:nvPr>
            <p:ph type="title"/>
          </p:nvPr>
        </p:nvSpPr>
        <p:spPr/>
        <p:txBody>
          <a:bodyPr/>
          <a:lstStyle/>
          <a:p>
            <a:r>
              <a:rPr lang="en-US" dirty="0"/>
              <a:t>Solution O(N*M)</a:t>
            </a:r>
          </a:p>
        </p:txBody>
      </p:sp>
      <p:sp>
        <p:nvSpPr>
          <p:cNvPr id="17" name="PlaceHolder 1">
            <a:extLst>
              <a:ext uri="{FF2B5EF4-FFF2-40B4-BE49-F238E27FC236}">
                <a16:creationId xmlns:a16="http://schemas.microsoft.com/office/drawing/2014/main" id="{B24A7B36-8BBD-48CF-0E77-4DCD8E023314}"/>
              </a:ext>
            </a:extLst>
          </p:cNvPr>
          <p:cNvSpPr>
            <a:spLocks noGrp="1"/>
          </p:cNvSpPr>
          <p:nvPr>
            <p:ph type="body"/>
          </p:nvPr>
        </p:nvSpPr>
        <p:spPr>
          <a:xfrm>
            <a:off x="8401519" y="3843925"/>
            <a:ext cx="3619472" cy="412126"/>
          </a:xfrm>
          <a:prstGeom prst="rect">
            <a:avLst/>
          </a:prstGeom>
          <a:noFill/>
          <a:ln w="0">
            <a:noFill/>
          </a:ln>
        </p:spPr>
        <p:txBody>
          <a:bodyPr lIns="90000" tIns="45000" rIns="90000" bIns="45000" anchor="t">
            <a:noAutofit/>
          </a:bodyPr>
          <a:lstStyle/>
          <a:p>
            <a:pPr>
              <a:lnSpc>
                <a:spcPct val="90000"/>
              </a:lnSpc>
              <a:spcBef>
                <a:spcPts val="1001"/>
              </a:spcBef>
              <a:buClr>
                <a:srgbClr val="000000"/>
              </a:buClr>
              <a:tabLst>
                <a:tab pos="0" algn="l"/>
              </a:tabLst>
            </a:pPr>
            <a:r>
              <a:rPr lang="en-US" sz="2000" dirty="0">
                <a:solidFill>
                  <a:srgbClr val="000000"/>
                </a:solidFill>
                <a:latin typeface="Courier New" panose="02070309020205020404" pitchFamily="49" charset="0"/>
                <a:cs typeface="Courier New" panose="02070309020205020404" pitchFamily="49" charset="0"/>
              </a:rPr>
              <a:t>	</a:t>
            </a:r>
            <a:r>
              <a:rPr lang="en-US" sz="2000" dirty="0" err="1">
                <a:solidFill>
                  <a:srgbClr val="000000"/>
                </a:solidFill>
                <a:latin typeface="Courier New" panose="02070309020205020404" pitchFamily="49" charset="0"/>
                <a:cs typeface="Courier New" panose="02070309020205020404" pitchFamily="49" charset="0"/>
              </a:rPr>
              <a:t>predimed_locations.csv</a:t>
            </a:r>
            <a:endParaRPr lang="en-US" sz="2000" dirty="0">
              <a:solidFill>
                <a:srgbClr val="000000"/>
              </a:solidFill>
              <a:latin typeface="Courier New" panose="02070309020205020404" pitchFamily="49" charset="0"/>
              <a:cs typeface="Courier New" panose="02070309020205020404" pitchFamily="49" charset="0"/>
            </a:endParaRPr>
          </a:p>
        </p:txBody>
      </p:sp>
      <p:pic>
        <p:nvPicPr>
          <p:cNvPr id="30" name="Picture 29">
            <a:extLst>
              <a:ext uri="{FF2B5EF4-FFF2-40B4-BE49-F238E27FC236}">
                <a16:creationId xmlns:a16="http://schemas.microsoft.com/office/drawing/2014/main" id="{B78AF198-C325-616F-E067-7651DEF062D6}"/>
              </a:ext>
            </a:extLst>
          </p:cNvPr>
          <p:cNvPicPr>
            <a:picLocks noChangeAspect="1"/>
          </p:cNvPicPr>
          <p:nvPr/>
        </p:nvPicPr>
        <p:blipFill>
          <a:blip r:embed="rId3"/>
          <a:stretch>
            <a:fillRect/>
          </a:stretch>
        </p:blipFill>
        <p:spPr>
          <a:xfrm>
            <a:off x="9212480" y="4310203"/>
            <a:ext cx="1997551" cy="1802669"/>
          </a:xfrm>
          <a:prstGeom prst="rect">
            <a:avLst/>
          </a:prstGeom>
        </p:spPr>
      </p:pic>
      <p:grpSp>
        <p:nvGrpSpPr>
          <p:cNvPr id="38" name="Group 37">
            <a:extLst>
              <a:ext uri="{FF2B5EF4-FFF2-40B4-BE49-F238E27FC236}">
                <a16:creationId xmlns:a16="http://schemas.microsoft.com/office/drawing/2014/main" id="{3B8CC776-1410-6105-2B06-7988E7B310FF}"/>
              </a:ext>
            </a:extLst>
          </p:cNvPr>
          <p:cNvGrpSpPr/>
          <p:nvPr/>
        </p:nvGrpSpPr>
        <p:grpSpPr>
          <a:xfrm>
            <a:off x="205429" y="1619530"/>
            <a:ext cx="7945059" cy="1899183"/>
            <a:chOff x="205429" y="2458772"/>
            <a:chExt cx="7945059" cy="1899183"/>
          </a:xfrm>
        </p:grpSpPr>
        <p:pic>
          <p:nvPicPr>
            <p:cNvPr id="35" name="Picture 34">
              <a:extLst>
                <a:ext uri="{FF2B5EF4-FFF2-40B4-BE49-F238E27FC236}">
                  <a16:creationId xmlns:a16="http://schemas.microsoft.com/office/drawing/2014/main" id="{3B1654F5-3089-8AE0-10E4-65782A7B314C}"/>
                </a:ext>
              </a:extLst>
            </p:cNvPr>
            <p:cNvPicPr>
              <a:picLocks noChangeAspect="1"/>
            </p:cNvPicPr>
            <p:nvPr/>
          </p:nvPicPr>
          <p:blipFill>
            <a:blip r:embed="rId4"/>
            <a:stretch>
              <a:fillRect/>
            </a:stretch>
          </p:blipFill>
          <p:spPr>
            <a:xfrm>
              <a:off x="205429" y="2458772"/>
              <a:ext cx="7945059" cy="1899183"/>
            </a:xfrm>
            <a:prstGeom prst="rect">
              <a:avLst/>
            </a:prstGeom>
          </p:spPr>
        </p:pic>
        <p:sp>
          <p:nvSpPr>
            <p:cNvPr id="27" name="TextBox 26">
              <a:extLst>
                <a:ext uri="{FF2B5EF4-FFF2-40B4-BE49-F238E27FC236}">
                  <a16:creationId xmlns:a16="http://schemas.microsoft.com/office/drawing/2014/main" id="{52AC2BF4-D413-DD7A-98C5-D4FAB8A66354}"/>
                </a:ext>
              </a:extLst>
            </p:cNvPr>
            <p:cNvSpPr txBox="1"/>
            <p:nvPr/>
          </p:nvSpPr>
          <p:spPr>
            <a:xfrm>
              <a:off x="4076862" y="2931173"/>
              <a:ext cx="684803" cy="369332"/>
            </a:xfrm>
            <a:prstGeom prst="rect">
              <a:avLst/>
            </a:prstGeom>
            <a:solidFill>
              <a:srgbClr val="F5F5F5"/>
            </a:solidFill>
          </p:spPr>
          <p:txBody>
            <a:bodyPr wrap="none" rtlCol="0">
              <a:spAutoFit/>
            </a:bodyPr>
            <a:lstStyle/>
            <a:p>
              <a:r>
                <a:rPr lang="en-US" b="1" dirty="0">
                  <a:solidFill>
                    <a:srgbClr val="7D0079"/>
                  </a:solidFill>
                </a:rPr>
                <a:t>O(N)</a:t>
              </a:r>
            </a:p>
          </p:txBody>
        </p:sp>
        <p:sp>
          <p:nvSpPr>
            <p:cNvPr id="31" name="TextBox 30">
              <a:extLst>
                <a:ext uri="{FF2B5EF4-FFF2-40B4-BE49-F238E27FC236}">
                  <a16:creationId xmlns:a16="http://schemas.microsoft.com/office/drawing/2014/main" id="{ED1757FF-FFBC-4FBA-B33A-1273E7330369}"/>
                </a:ext>
              </a:extLst>
            </p:cNvPr>
            <p:cNvSpPr txBox="1"/>
            <p:nvPr/>
          </p:nvSpPr>
          <p:spPr>
            <a:xfrm>
              <a:off x="3840283" y="3285558"/>
              <a:ext cx="784462" cy="369332"/>
            </a:xfrm>
            <a:prstGeom prst="rect">
              <a:avLst/>
            </a:prstGeom>
            <a:solidFill>
              <a:srgbClr val="F5F5F5"/>
            </a:solidFill>
          </p:spPr>
          <p:txBody>
            <a:bodyPr wrap="square" rtlCol="0">
              <a:spAutoFit/>
            </a:bodyPr>
            <a:lstStyle/>
            <a:p>
              <a:r>
                <a:rPr lang="en-US" b="1" dirty="0">
                  <a:solidFill>
                    <a:srgbClr val="7D0079"/>
                  </a:solidFill>
                </a:rPr>
                <a:t>O(M)</a:t>
              </a:r>
            </a:p>
          </p:txBody>
        </p:sp>
      </p:grpSp>
      <p:cxnSp>
        <p:nvCxnSpPr>
          <p:cNvPr id="36" name="Straight Arrow Connector 35">
            <a:extLst>
              <a:ext uri="{FF2B5EF4-FFF2-40B4-BE49-F238E27FC236}">
                <a16:creationId xmlns:a16="http://schemas.microsoft.com/office/drawing/2014/main" id="{57A57F7D-F218-C7B1-05AD-D55D3C24F38B}"/>
              </a:ext>
            </a:extLst>
          </p:cNvPr>
          <p:cNvCxnSpPr>
            <a:cxnSpLocks/>
          </p:cNvCxnSpPr>
          <p:nvPr/>
        </p:nvCxnSpPr>
        <p:spPr>
          <a:xfrm>
            <a:off x="9138935" y="4324810"/>
            <a:ext cx="0" cy="1899184"/>
          </a:xfrm>
          <a:prstGeom prst="straightConnector1">
            <a:avLst/>
          </a:prstGeom>
          <a:ln w="38100">
            <a:solidFill>
              <a:srgbClr val="7D0079"/>
            </a:solidFill>
            <a:tailEnd type="triangle"/>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E999AA50-DA70-1411-B31A-893F8911C8B2}"/>
              </a:ext>
            </a:extLst>
          </p:cNvPr>
          <p:cNvSpPr txBox="1"/>
          <p:nvPr/>
        </p:nvSpPr>
        <p:spPr>
          <a:xfrm>
            <a:off x="8122449" y="5089736"/>
            <a:ext cx="979755" cy="369332"/>
          </a:xfrm>
          <a:prstGeom prst="rect">
            <a:avLst/>
          </a:prstGeom>
          <a:noFill/>
        </p:spPr>
        <p:txBody>
          <a:bodyPr wrap="none" rtlCol="0">
            <a:spAutoFit/>
          </a:bodyPr>
          <a:lstStyle/>
          <a:p>
            <a:r>
              <a:rPr lang="en-US" b="1" dirty="0">
                <a:solidFill>
                  <a:srgbClr val="7D0079"/>
                </a:solidFill>
              </a:rPr>
              <a:t>M rows</a:t>
            </a:r>
          </a:p>
        </p:txBody>
      </p:sp>
      <p:sp>
        <p:nvSpPr>
          <p:cNvPr id="40" name="TextBox 39">
            <a:extLst>
              <a:ext uri="{FF2B5EF4-FFF2-40B4-BE49-F238E27FC236}">
                <a16:creationId xmlns:a16="http://schemas.microsoft.com/office/drawing/2014/main" id="{0B8FEA9C-974C-4CAD-243B-17BE9075D7B3}"/>
              </a:ext>
            </a:extLst>
          </p:cNvPr>
          <p:cNvSpPr txBox="1"/>
          <p:nvPr/>
        </p:nvSpPr>
        <p:spPr>
          <a:xfrm>
            <a:off x="7656899" y="1906044"/>
            <a:ext cx="954107" cy="369332"/>
          </a:xfrm>
          <a:prstGeom prst="rect">
            <a:avLst/>
          </a:prstGeom>
          <a:noFill/>
        </p:spPr>
        <p:txBody>
          <a:bodyPr wrap="none" rtlCol="0">
            <a:spAutoFit/>
          </a:bodyPr>
          <a:lstStyle/>
          <a:p>
            <a:r>
              <a:rPr lang="en-US" b="1" dirty="0">
                <a:solidFill>
                  <a:srgbClr val="7D0079"/>
                </a:solidFill>
              </a:rPr>
              <a:t>N rows</a:t>
            </a:r>
          </a:p>
        </p:txBody>
      </p:sp>
      <p:pic>
        <p:nvPicPr>
          <p:cNvPr id="3" name="Graphic 2">
            <a:extLst>
              <a:ext uri="{FF2B5EF4-FFF2-40B4-BE49-F238E27FC236}">
                <a16:creationId xmlns:a16="http://schemas.microsoft.com/office/drawing/2014/main" id="{1509F41F-B312-B11A-8503-DD14D6A9410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16857" y="1840188"/>
            <a:ext cx="5334000" cy="4419600"/>
          </a:xfrm>
          <a:prstGeom prst="rect">
            <a:avLst/>
          </a:prstGeom>
        </p:spPr>
      </p:pic>
      <p:sp>
        <p:nvSpPr>
          <p:cNvPr id="8" name="TextBox 7">
            <a:extLst>
              <a:ext uri="{FF2B5EF4-FFF2-40B4-BE49-F238E27FC236}">
                <a16:creationId xmlns:a16="http://schemas.microsoft.com/office/drawing/2014/main" id="{C4C5E766-9737-0E44-02C3-FA99217A8EA6}"/>
              </a:ext>
            </a:extLst>
          </p:cNvPr>
          <p:cNvSpPr txBox="1"/>
          <p:nvPr/>
        </p:nvSpPr>
        <p:spPr>
          <a:xfrm>
            <a:off x="7375640" y="1859850"/>
            <a:ext cx="4092734" cy="338554"/>
          </a:xfrm>
          <a:prstGeom prst="rect">
            <a:avLst/>
          </a:prstGeom>
          <a:solidFill>
            <a:schemeClr val="bg1"/>
          </a:solidFill>
        </p:spPr>
        <p:txBody>
          <a:bodyPr wrap="square" rtlCol="0">
            <a:spAutoFit/>
          </a:bodyPr>
          <a:lstStyle/>
          <a:p>
            <a:r>
              <a:rPr lang="en-DE" sz="1600" dirty="0">
                <a:solidFill>
                  <a:srgbClr val="800080"/>
                </a:solidFill>
              </a:rPr>
              <a:t>two for-loops: 	</a:t>
            </a:r>
            <a:r>
              <a:rPr lang="en-GB" sz="1600" dirty="0">
                <a:solidFill>
                  <a:srgbClr val="800080"/>
                </a:solidFill>
              </a:rPr>
              <a:t>O(N*M)</a:t>
            </a:r>
            <a:endParaRPr lang="en-DE" sz="1600" dirty="0">
              <a:solidFill>
                <a:srgbClr val="800080"/>
              </a:solidFill>
            </a:endParaRPr>
          </a:p>
        </p:txBody>
      </p:sp>
    </p:spTree>
    <p:extLst>
      <p:ext uri="{BB962C8B-B14F-4D97-AF65-F5344CB8AC3E}">
        <p14:creationId xmlns:p14="http://schemas.microsoft.com/office/powerpoint/2010/main" val="15554511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F5AFC6-9B3A-8EAC-BA77-5E06AC80DF0A}"/>
              </a:ext>
            </a:extLst>
          </p:cNvPr>
          <p:cNvSpPr>
            <a:spLocks noGrp="1"/>
          </p:cNvSpPr>
          <p:nvPr>
            <p:ph type="title"/>
          </p:nvPr>
        </p:nvSpPr>
        <p:spPr>
          <a:xfrm>
            <a:off x="609480" y="88021"/>
            <a:ext cx="10972080" cy="1144440"/>
          </a:xfrm>
        </p:spPr>
        <p:txBody>
          <a:bodyPr/>
          <a:lstStyle/>
          <a:p>
            <a:r>
              <a:rPr lang="en-US" dirty="0"/>
              <a:t>Solution sort</a:t>
            </a:r>
          </a:p>
        </p:txBody>
      </p:sp>
      <p:sp>
        <p:nvSpPr>
          <p:cNvPr id="6" name="PlaceHolder 1">
            <a:extLst>
              <a:ext uri="{FF2B5EF4-FFF2-40B4-BE49-F238E27FC236}">
                <a16:creationId xmlns:a16="http://schemas.microsoft.com/office/drawing/2014/main" id="{291A657B-EEB2-8B22-4B80-F41CC2F24714}"/>
              </a:ext>
            </a:extLst>
          </p:cNvPr>
          <p:cNvSpPr>
            <a:spLocks noGrp="1"/>
          </p:cNvSpPr>
          <p:nvPr>
            <p:ph type="body"/>
          </p:nvPr>
        </p:nvSpPr>
        <p:spPr>
          <a:xfrm>
            <a:off x="306982" y="1288745"/>
            <a:ext cx="3469784" cy="427346"/>
          </a:xfrm>
          <a:prstGeom prst="rect">
            <a:avLst/>
          </a:prstGeom>
          <a:noFill/>
          <a:ln w="0">
            <a:noFill/>
          </a:ln>
        </p:spPr>
        <p:txBody>
          <a:bodyPr lIns="90000" tIns="45000" rIns="90000" bIns="45000" anchor="t">
            <a:noAutofit/>
          </a:bodyPr>
          <a:lstStyle/>
          <a:p>
            <a:pPr>
              <a:lnSpc>
                <a:spcPct val="90000"/>
              </a:lnSpc>
              <a:spcBef>
                <a:spcPts val="1001"/>
              </a:spcBef>
              <a:buClr>
                <a:srgbClr val="000000"/>
              </a:buClr>
              <a:tabLst>
                <a:tab pos="0" algn="l"/>
              </a:tabLst>
            </a:pPr>
            <a:r>
              <a:rPr lang="en-US" sz="2000" dirty="0" err="1">
                <a:solidFill>
                  <a:srgbClr val="000000"/>
                </a:solidFill>
                <a:latin typeface="Courier New" panose="02070309020205020404" pitchFamily="49" charset="0"/>
                <a:cs typeface="Courier New" panose="02070309020205020404" pitchFamily="49" charset="0"/>
              </a:rPr>
              <a:t>predimed_records.csv</a:t>
            </a:r>
            <a:r>
              <a:rPr lang="en-US" sz="2000" dirty="0">
                <a:solidFill>
                  <a:srgbClr val="000000"/>
                </a:solidFill>
                <a:latin typeface="Courier New" panose="02070309020205020404" pitchFamily="49" charset="0"/>
                <a:cs typeface="Courier New" panose="02070309020205020404" pitchFamily="49" charset="0"/>
              </a:rPr>
              <a:t>	</a:t>
            </a:r>
          </a:p>
        </p:txBody>
      </p:sp>
      <p:sp>
        <p:nvSpPr>
          <p:cNvPr id="7" name="PlaceHolder 1">
            <a:extLst>
              <a:ext uri="{FF2B5EF4-FFF2-40B4-BE49-F238E27FC236}">
                <a16:creationId xmlns:a16="http://schemas.microsoft.com/office/drawing/2014/main" id="{EBCEED8C-F36F-3B87-E8F9-D7EA8D215415}"/>
              </a:ext>
            </a:extLst>
          </p:cNvPr>
          <p:cNvSpPr>
            <a:spLocks noGrp="1"/>
          </p:cNvSpPr>
          <p:nvPr>
            <p:ph type="body"/>
          </p:nvPr>
        </p:nvSpPr>
        <p:spPr>
          <a:xfrm>
            <a:off x="306982" y="4784224"/>
            <a:ext cx="3619472" cy="412126"/>
          </a:xfrm>
          <a:prstGeom prst="rect">
            <a:avLst/>
          </a:prstGeom>
          <a:noFill/>
          <a:ln w="0">
            <a:noFill/>
          </a:ln>
        </p:spPr>
        <p:txBody>
          <a:bodyPr lIns="90000" tIns="45000" rIns="90000" bIns="45000" anchor="t">
            <a:noAutofit/>
          </a:bodyPr>
          <a:lstStyle/>
          <a:p>
            <a:pPr>
              <a:lnSpc>
                <a:spcPct val="90000"/>
              </a:lnSpc>
              <a:spcBef>
                <a:spcPts val="1001"/>
              </a:spcBef>
              <a:buClr>
                <a:srgbClr val="000000"/>
              </a:buClr>
              <a:tabLst>
                <a:tab pos="0" algn="l"/>
              </a:tabLst>
            </a:pPr>
            <a:r>
              <a:rPr lang="en-US" sz="2000" dirty="0">
                <a:solidFill>
                  <a:srgbClr val="000000"/>
                </a:solidFill>
                <a:latin typeface="Courier New" panose="02070309020205020404" pitchFamily="49" charset="0"/>
                <a:cs typeface="Courier New" panose="02070309020205020404" pitchFamily="49" charset="0"/>
              </a:rPr>
              <a:t>	</a:t>
            </a:r>
            <a:r>
              <a:rPr lang="en-US" sz="2000" dirty="0" err="1">
                <a:solidFill>
                  <a:srgbClr val="000000"/>
                </a:solidFill>
                <a:latin typeface="Courier New" panose="02070309020205020404" pitchFamily="49" charset="0"/>
                <a:cs typeface="Courier New" panose="02070309020205020404" pitchFamily="49" charset="0"/>
              </a:rPr>
              <a:t>predimed_locations.csv</a:t>
            </a:r>
            <a:endParaRPr lang="en-US" sz="2000" dirty="0">
              <a:solidFill>
                <a:srgbClr val="000000"/>
              </a:solidFill>
              <a:latin typeface="Courier New" panose="02070309020205020404" pitchFamily="49" charset="0"/>
              <a:cs typeface="Courier New" panose="02070309020205020404" pitchFamily="49" charset="0"/>
            </a:endParaRPr>
          </a:p>
        </p:txBody>
      </p:sp>
      <p:pic>
        <p:nvPicPr>
          <p:cNvPr id="8" name="Picture 7">
            <a:extLst>
              <a:ext uri="{FF2B5EF4-FFF2-40B4-BE49-F238E27FC236}">
                <a16:creationId xmlns:a16="http://schemas.microsoft.com/office/drawing/2014/main" id="{EA1A5787-EC42-2253-817B-20866783721A}"/>
              </a:ext>
            </a:extLst>
          </p:cNvPr>
          <p:cNvPicPr>
            <a:picLocks noChangeAspect="1"/>
          </p:cNvPicPr>
          <p:nvPr/>
        </p:nvPicPr>
        <p:blipFill>
          <a:blip r:embed="rId2"/>
          <a:srcRect r="68073"/>
          <a:stretch>
            <a:fillRect/>
          </a:stretch>
        </p:blipFill>
        <p:spPr>
          <a:xfrm>
            <a:off x="3351064" y="1600533"/>
            <a:ext cx="2897921" cy="2007487"/>
          </a:xfrm>
          <a:prstGeom prst="rect">
            <a:avLst/>
          </a:prstGeom>
        </p:spPr>
      </p:pic>
      <p:pic>
        <p:nvPicPr>
          <p:cNvPr id="9" name="Picture 8">
            <a:extLst>
              <a:ext uri="{FF2B5EF4-FFF2-40B4-BE49-F238E27FC236}">
                <a16:creationId xmlns:a16="http://schemas.microsoft.com/office/drawing/2014/main" id="{E308DEDA-ECA8-5CB5-ABE8-6E5F13DCCA40}"/>
              </a:ext>
            </a:extLst>
          </p:cNvPr>
          <p:cNvPicPr>
            <a:picLocks noChangeAspect="1"/>
          </p:cNvPicPr>
          <p:nvPr/>
        </p:nvPicPr>
        <p:blipFill>
          <a:blip r:embed="rId3"/>
          <a:stretch>
            <a:fillRect/>
          </a:stretch>
        </p:blipFill>
        <p:spPr>
          <a:xfrm>
            <a:off x="4302288" y="4823769"/>
            <a:ext cx="1997551" cy="1802669"/>
          </a:xfrm>
          <a:prstGeom prst="rect">
            <a:avLst/>
          </a:prstGeom>
        </p:spPr>
      </p:pic>
      <p:sp>
        <p:nvSpPr>
          <p:cNvPr id="10" name="TextBox 9">
            <a:extLst>
              <a:ext uri="{FF2B5EF4-FFF2-40B4-BE49-F238E27FC236}">
                <a16:creationId xmlns:a16="http://schemas.microsoft.com/office/drawing/2014/main" id="{6F746ED9-18C7-6E9B-FA50-0A3A0B977EE9}"/>
              </a:ext>
            </a:extLst>
          </p:cNvPr>
          <p:cNvSpPr txBox="1"/>
          <p:nvPr/>
        </p:nvSpPr>
        <p:spPr>
          <a:xfrm>
            <a:off x="3212257" y="5603302"/>
            <a:ext cx="979755" cy="369332"/>
          </a:xfrm>
          <a:prstGeom prst="rect">
            <a:avLst/>
          </a:prstGeom>
          <a:noFill/>
        </p:spPr>
        <p:txBody>
          <a:bodyPr wrap="none" rtlCol="0">
            <a:spAutoFit/>
          </a:bodyPr>
          <a:lstStyle/>
          <a:p>
            <a:r>
              <a:rPr lang="en-US" b="1" dirty="0">
                <a:solidFill>
                  <a:srgbClr val="7D0079"/>
                </a:solidFill>
              </a:rPr>
              <a:t>M rows</a:t>
            </a:r>
          </a:p>
        </p:txBody>
      </p:sp>
      <p:sp>
        <p:nvSpPr>
          <p:cNvPr id="11" name="TextBox 10">
            <a:extLst>
              <a:ext uri="{FF2B5EF4-FFF2-40B4-BE49-F238E27FC236}">
                <a16:creationId xmlns:a16="http://schemas.microsoft.com/office/drawing/2014/main" id="{61DE2888-41F8-9798-2E1A-2B6245A96ECA}"/>
              </a:ext>
            </a:extLst>
          </p:cNvPr>
          <p:cNvSpPr txBox="1"/>
          <p:nvPr/>
        </p:nvSpPr>
        <p:spPr>
          <a:xfrm>
            <a:off x="2245667" y="2419610"/>
            <a:ext cx="954107" cy="369332"/>
          </a:xfrm>
          <a:prstGeom prst="rect">
            <a:avLst/>
          </a:prstGeom>
          <a:noFill/>
        </p:spPr>
        <p:txBody>
          <a:bodyPr wrap="none" rtlCol="0">
            <a:spAutoFit/>
          </a:bodyPr>
          <a:lstStyle/>
          <a:p>
            <a:r>
              <a:rPr lang="en-US" b="1" dirty="0">
                <a:solidFill>
                  <a:srgbClr val="7D0079"/>
                </a:solidFill>
              </a:rPr>
              <a:t>N rows</a:t>
            </a:r>
          </a:p>
        </p:txBody>
      </p:sp>
      <p:grpSp>
        <p:nvGrpSpPr>
          <p:cNvPr id="14" name="Group 13">
            <a:extLst>
              <a:ext uri="{FF2B5EF4-FFF2-40B4-BE49-F238E27FC236}">
                <a16:creationId xmlns:a16="http://schemas.microsoft.com/office/drawing/2014/main" id="{F93A85F9-C571-6949-4B3C-2C990FE3E1CD}"/>
              </a:ext>
            </a:extLst>
          </p:cNvPr>
          <p:cNvGrpSpPr/>
          <p:nvPr/>
        </p:nvGrpSpPr>
        <p:grpSpPr>
          <a:xfrm>
            <a:off x="8867365" y="1088288"/>
            <a:ext cx="2750851" cy="2279755"/>
            <a:chOff x="8757699" y="910837"/>
            <a:chExt cx="2750851" cy="2279755"/>
          </a:xfrm>
        </p:grpSpPr>
        <p:pic>
          <p:nvPicPr>
            <p:cNvPr id="5" name="Picture 4">
              <a:extLst>
                <a:ext uri="{FF2B5EF4-FFF2-40B4-BE49-F238E27FC236}">
                  <a16:creationId xmlns:a16="http://schemas.microsoft.com/office/drawing/2014/main" id="{D2D9AF3A-AB48-6029-5EB3-3CD30FECC1C6}"/>
                </a:ext>
              </a:extLst>
            </p:cNvPr>
            <p:cNvPicPr>
              <a:picLocks noChangeAspect="1"/>
            </p:cNvPicPr>
            <p:nvPr/>
          </p:nvPicPr>
          <p:blipFill>
            <a:blip r:embed="rId4"/>
            <a:srcRect b="67031"/>
            <a:stretch>
              <a:fillRect/>
            </a:stretch>
          </p:blipFill>
          <p:spPr>
            <a:xfrm>
              <a:off x="8757699" y="910837"/>
              <a:ext cx="2750851" cy="1268692"/>
            </a:xfrm>
            <a:prstGeom prst="rect">
              <a:avLst/>
            </a:prstGeom>
          </p:spPr>
        </p:pic>
        <p:pic>
          <p:nvPicPr>
            <p:cNvPr id="12" name="Picture 11">
              <a:extLst>
                <a:ext uri="{FF2B5EF4-FFF2-40B4-BE49-F238E27FC236}">
                  <a16:creationId xmlns:a16="http://schemas.microsoft.com/office/drawing/2014/main" id="{DCB98E96-FF0E-868A-BB87-257F2C8942AB}"/>
                </a:ext>
              </a:extLst>
            </p:cNvPr>
            <p:cNvPicPr>
              <a:picLocks noChangeAspect="1"/>
            </p:cNvPicPr>
            <p:nvPr/>
          </p:nvPicPr>
          <p:blipFill>
            <a:blip r:embed="rId4"/>
            <a:srcRect t="46031" b="45139"/>
            <a:stretch>
              <a:fillRect/>
            </a:stretch>
          </p:blipFill>
          <p:spPr>
            <a:xfrm>
              <a:off x="8757699" y="2167003"/>
              <a:ext cx="2750851" cy="339793"/>
            </a:xfrm>
            <a:prstGeom prst="rect">
              <a:avLst/>
            </a:prstGeom>
          </p:spPr>
        </p:pic>
        <p:pic>
          <p:nvPicPr>
            <p:cNvPr id="13" name="Picture 12">
              <a:extLst>
                <a:ext uri="{FF2B5EF4-FFF2-40B4-BE49-F238E27FC236}">
                  <a16:creationId xmlns:a16="http://schemas.microsoft.com/office/drawing/2014/main" id="{674F4EC6-460B-7D92-E91E-2D5860D4C1BA}"/>
                </a:ext>
              </a:extLst>
            </p:cNvPr>
            <p:cNvPicPr>
              <a:picLocks noChangeAspect="1"/>
            </p:cNvPicPr>
            <p:nvPr/>
          </p:nvPicPr>
          <p:blipFill>
            <a:blip r:embed="rId4"/>
            <a:srcRect t="81213"/>
            <a:stretch>
              <a:fillRect/>
            </a:stretch>
          </p:blipFill>
          <p:spPr>
            <a:xfrm>
              <a:off x="8757699" y="2467628"/>
              <a:ext cx="2750851" cy="722964"/>
            </a:xfrm>
            <a:prstGeom prst="rect">
              <a:avLst/>
            </a:prstGeom>
          </p:spPr>
        </p:pic>
      </p:grpSp>
      <p:sp>
        <p:nvSpPr>
          <p:cNvPr id="15" name="PlaceHolder 1">
            <a:extLst>
              <a:ext uri="{FF2B5EF4-FFF2-40B4-BE49-F238E27FC236}">
                <a16:creationId xmlns:a16="http://schemas.microsoft.com/office/drawing/2014/main" id="{EB327D29-1FFD-B541-D19E-23696BEDF1F4}"/>
              </a:ext>
            </a:extLst>
          </p:cNvPr>
          <p:cNvSpPr>
            <a:spLocks noGrp="1"/>
          </p:cNvSpPr>
          <p:nvPr>
            <p:ph type="body"/>
          </p:nvPr>
        </p:nvSpPr>
        <p:spPr>
          <a:xfrm>
            <a:off x="6331163" y="3675447"/>
            <a:ext cx="1869806" cy="427346"/>
          </a:xfrm>
          <a:prstGeom prst="rect">
            <a:avLst/>
          </a:prstGeom>
          <a:noFill/>
          <a:ln w="0">
            <a:noFill/>
          </a:ln>
        </p:spPr>
        <p:txBody>
          <a:bodyPr lIns="90000" tIns="45000" rIns="90000" bIns="45000" anchor="t">
            <a:noAutofit/>
          </a:bodyPr>
          <a:lstStyle/>
          <a:p>
            <a:pPr algn="ctr">
              <a:lnSpc>
                <a:spcPct val="90000"/>
              </a:lnSpc>
              <a:spcBef>
                <a:spcPts val="1001"/>
              </a:spcBef>
              <a:buClr>
                <a:srgbClr val="000000"/>
              </a:buClr>
              <a:tabLst>
                <a:tab pos="0" algn="l"/>
              </a:tabLst>
            </a:pPr>
            <a:r>
              <a:rPr lang="en-US" sz="2000" dirty="0">
                <a:solidFill>
                  <a:srgbClr val="000000"/>
                </a:solidFill>
                <a:latin typeface="Courier New" panose="02070309020205020404" pitchFamily="49" charset="0"/>
                <a:cs typeface="Courier New" panose="02070309020205020404" pitchFamily="49" charset="0"/>
              </a:rPr>
              <a:t>sort on</a:t>
            </a:r>
          </a:p>
          <a:p>
            <a:pPr algn="ctr">
              <a:lnSpc>
                <a:spcPct val="90000"/>
              </a:lnSpc>
              <a:spcBef>
                <a:spcPts val="1001"/>
              </a:spcBef>
              <a:buClr>
                <a:srgbClr val="000000"/>
              </a:buClr>
              <a:tabLst>
                <a:tab pos="0" algn="l"/>
              </a:tabLst>
            </a:pPr>
            <a:r>
              <a:rPr lang="en-US" sz="2000" dirty="0">
                <a:solidFill>
                  <a:srgbClr val="000000"/>
                </a:solidFill>
                <a:latin typeface="Courier New" panose="02070309020205020404" pitchFamily="49" charset="0"/>
                <a:cs typeface="Courier New" panose="02070309020205020404" pitchFamily="49" charset="0"/>
              </a:rPr>
              <a:t>location-id</a:t>
            </a:r>
          </a:p>
        </p:txBody>
      </p:sp>
      <p:pic>
        <p:nvPicPr>
          <p:cNvPr id="16" name="Picture 15">
            <a:extLst>
              <a:ext uri="{FF2B5EF4-FFF2-40B4-BE49-F238E27FC236}">
                <a16:creationId xmlns:a16="http://schemas.microsoft.com/office/drawing/2014/main" id="{E253FDBF-205B-4113-0102-3195219A08AC}"/>
              </a:ext>
            </a:extLst>
          </p:cNvPr>
          <p:cNvPicPr>
            <a:picLocks noChangeAspect="1"/>
          </p:cNvPicPr>
          <p:nvPr/>
        </p:nvPicPr>
        <p:blipFill>
          <a:blip r:embed="rId5"/>
          <a:stretch>
            <a:fillRect/>
          </a:stretch>
        </p:blipFill>
        <p:spPr>
          <a:xfrm>
            <a:off x="9548375" y="4578161"/>
            <a:ext cx="2033185" cy="1789203"/>
          </a:xfrm>
          <a:prstGeom prst="rect">
            <a:avLst/>
          </a:prstGeom>
        </p:spPr>
      </p:pic>
      <p:sp>
        <p:nvSpPr>
          <p:cNvPr id="17" name="Right Arrow 5">
            <a:extLst>
              <a:ext uri="{FF2B5EF4-FFF2-40B4-BE49-F238E27FC236}">
                <a16:creationId xmlns:a16="http://schemas.microsoft.com/office/drawing/2014/main" id="{D53FC689-4576-4108-DF0E-DD73B876EC64}"/>
              </a:ext>
            </a:extLst>
          </p:cNvPr>
          <p:cNvSpPr/>
          <p:nvPr/>
        </p:nvSpPr>
        <p:spPr>
          <a:xfrm>
            <a:off x="6293585" y="2875841"/>
            <a:ext cx="2460492" cy="2303768"/>
          </a:xfrm>
          <a:prstGeom prst="rightArrow">
            <a:avLst>
              <a:gd name="adj1" fmla="val 50000"/>
              <a:gd name="adj2" fmla="val 50000"/>
            </a:avLst>
          </a:prstGeom>
          <a:noFill/>
          <a:ln w="28575">
            <a:solidFill>
              <a:srgbClr val="0A7E06"/>
            </a:soli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CH" sz="1800" b="0" u="none" strike="noStrike">
              <a:solidFill>
                <a:schemeClr val="lt1"/>
              </a:solidFill>
              <a:effectLst/>
              <a:uFillTx/>
              <a:latin typeface="Calibri"/>
              <a:ea typeface="DejaVu Sans"/>
            </a:endParaRPr>
          </a:p>
        </p:txBody>
      </p:sp>
      <p:sp>
        <p:nvSpPr>
          <p:cNvPr id="22" name="TextBox 21">
            <a:extLst>
              <a:ext uri="{FF2B5EF4-FFF2-40B4-BE49-F238E27FC236}">
                <a16:creationId xmlns:a16="http://schemas.microsoft.com/office/drawing/2014/main" id="{A4A9D8E0-ED5E-F9AD-B6B1-86EE75467EEE}"/>
              </a:ext>
            </a:extLst>
          </p:cNvPr>
          <p:cNvSpPr txBox="1"/>
          <p:nvPr/>
        </p:nvSpPr>
        <p:spPr>
          <a:xfrm>
            <a:off x="8568620" y="5472762"/>
            <a:ext cx="979755" cy="369332"/>
          </a:xfrm>
          <a:prstGeom prst="rect">
            <a:avLst/>
          </a:prstGeom>
          <a:noFill/>
        </p:spPr>
        <p:txBody>
          <a:bodyPr wrap="none" rtlCol="0">
            <a:spAutoFit/>
          </a:bodyPr>
          <a:lstStyle/>
          <a:p>
            <a:r>
              <a:rPr lang="en-US" b="1" dirty="0">
                <a:solidFill>
                  <a:srgbClr val="0A7E06"/>
                </a:solidFill>
              </a:rPr>
              <a:t>M rows</a:t>
            </a:r>
          </a:p>
        </p:txBody>
      </p:sp>
      <p:sp>
        <p:nvSpPr>
          <p:cNvPr id="23" name="TextBox 22">
            <a:extLst>
              <a:ext uri="{FF2B5EF4-FFF2-40B4-BE49-F238E27FC236}">
                <a16:creationId xmlns:a16="http://schemas.microsoft.com/office/drawing/2014/main" id="{D1F293C8-C62F-AF01-3DD2-8C4514DF4136}"/>
              </a:ext>
            </a:extLst>
          </p:cNvPr>
          <p:cNvSpPr txBox="1"/>
          <p:nvPr/>
        </p:nvSpPr>
        <p:spPr>
          <a:xfrm>
            <a:off x="7913258" y="2164828"/>
            <a:ext cx="954107" cy="369332"/>
          </a:xfrm>
          <a:prstGeom prst="rect">
            <a:avLst/>
          </a:prstGeom>
          <a:noFill/>
        </p:spPr>
        <p:txBody>
          <a:bodyPr wrap="none" rtlCol="0">
            <a:spAutoFit/>
          </a:bodyPr>
          <a:lstStyle/>
          <a:p>
            <a:r>
              <a:rPr lang="en-US" b="1" dirty="0">
                <a:solidFill>
                  <a:srgbClr val="0A7E06"/>
                </a:solidFill>
              </a:rPr>
              <a:t>N rows</a:t>
            </a:r>
          </a:p>
        </p:txBody>
      </p:sp>
    </p:spTree>
    <p:extLst>
      <p:ext uri="{BB962C8B-B14F-4D97-AF65-F5344CB8AC3E}">
        <p14:creationId xmlns:p14="http://schemas.microsoft.com/office/powerpoint/2010/main" val="12051159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96574-9707-F45A-C20C-1D4CA2E4D662}"/>
            </a:ext>
          </a:extLst>
        </p:cNvPr>
        <p:cNvGrpSpPr/>
        <p:nvPr/>
      </p:nvGrpSpPr>
      <p:grpSpPr>
        <a:xfrm>
          <a:off x="0" y="0"/>
          <a:ext cx="0" cy="0"/>
          <a:chOff x="0" y="0"/>
          <a:chExt cx="0" cy="0"/>
        </a:xfrm>
      </p:grpSpPr>
      <p:sp>
        <p:nvSpPr>
          <p:cNvPr id="6" name="PlaceHolder 1">
            <a:extLst>
              <a:ext uri="{FF2B5EF4-FFF2-40B4-BE49-F238E27FC236}">
                <a16:creationId xmlns:a16="http://schemas.microsoft.com/office/drawing/2014/main" id="{50CD5ADA-D62C-D616-53FE-877B1938CD8D}"/>
              </a:ext>
            </a:extLst>
          </p:cNvPr>
          <p:cNvSpPr>
            <a:spLocks noGrp="1"/>
          </p:cNvSpPr>
          <p:nvPr>
            <p:ph type="body"/>
          </p:nvPr>
        </p:nvSpPr>
        <p:spPr>
          <a:xfrm>
            <a:off x="8481073" y="560109"/>
            <a:ext cx="3469784" cy="427346"/>
          </a:xfrm>
          <a:prstGeom prst="rect">
            <a:avLst/>
          </a:prstGeom>
          <a:noFill/>
          <a:ln w="0">
            <a:noFill/>
          </a:ln>
        </p:spPr>
        <p:txBody>
          <a:bodyPr lIns="90000" tIns="45000" rIns="90000" bIns="45000" anchor="t">
            <a:noAutofit/>
          </a:bodyPr>
          <a:lstStyle/>
          <a:p>
            <a:pPr>
              <a:lnSpc>
                <a:spcPct val="90000"/>
              </a:lnSpc>
              <a:spcBef>
                <a:spcPts val="1001"/>
              </a:spcBef>
              <a:buClr>
                <a:srgbClr val="000000"/>
              </a:buClr>
              <a:tabLst>
                <a:tab pos="0" algn="l"/>
              </a:tabLst>
            </a:pPr>
            <a:r>
              <a:rPr lang="en-US" sz="2000" dirty="0" err="1">
                <a:solidFill>
                  <a:srgbClr val="000000"/>
                </a:solidFill>
                <a:latin typeface="Courier New" panose="02070309020205020404" pitchFamily="49" charset="0"/>
                <a:cs typeface="Courier New" panose="02070309020205020404" pitchFamily="49" charset="0"/>
              </a:rPr>
              <a:t>predimed_records.csv</a:t>
            </a:r>
            <a:r>
              <a:rPr lang="en-US" sz="2000" dirty="0">
                <a:solidFill>
                  <a:srgbClr val="000000"/>
                </a:solidFill>
                <a:latin typeface="Courier New" panose="02070309020205020404" pitchFamily="49" charset="0"/>
                <a:cs typeface="Courier New" panose="02070309020205020404" pitchFamily="49" charset="0"/>
              </a:rPr>
              <a:t>	</a:t>
            </a:r>
          </a:p>
        </p:txBody>
      </p:sp>
      <p:sp>
        <p:nvSpPr>
          <p:cNvPr id="7" name="PlaceHolder 1">
            <a:extLst>
              <a:ext uri="{FF2B5EF4-FFF2-40B4-BE49-F238E27FC236}">
                <a16:creationId xmlns:a16="http://schemas.microsoft.com/office/drawing/2014/main" id="{35EA8427-BDD1-A88A-856B-CFA80AA6D37A}"/>
              </a:ext>
            </a:extLst>
          </p:cNvPr>
          <p:cNvSpPr>
            <a:spLocks noGrp="1"/>
          </p:cNvSpPr>
          <p:nvPr>
            <p:ph type="body"/>
          </p:nvPr>
        </p:nvSpPr>
        <p:spPr>
          <a:xfrm>
            <a:off x="8406229" y="4056581"/>
            <a:ext cx="3619472" cy="412126"/>
          </a:xfrm>
          <a:prstGeom prst="rect">
            <a:avLst/>
          </a:prstGeom>
          <a:noFill/>
          <a:ln w="0">
            <a:noFill/>
          </a:ln>
        </p:spPr>
        <p:txBody>
          <a:bodyPr lIns="90000" tIns="45000" rIns="90000" bIns="45000" anchor="t">
            <a:noAutofit/>
          </a:bodyPr>
          <a:lstStyle/>
          <a:p>
            <a:pPr>
              <a:lnSpc>
                <a:spcPct val="90000"/>
              </a:lnSpc>
              <a:spcBef>
                <a:spcPts val="1001"/>
              </a:spcBef>
              <a:buClr>
                <a:srgbClr val="000000"/>
              </a:buClr>
              <a:tabLst>
                <a:tab pos="0" algn="l"/>
              </a:tabLst>
            </a:pPr>
            <a:r>
              <a:rPr lang="en-US" sz="2000" dirty="0">
                <a:solidFill>
                  <a:srgbClr val="000000"/>
                </a:solidFill>
                <a:latin typeface="Courier New" panose="02070309020205020404" pitchFamily="49" charset="0"/>
                <a:cs typeface="Courier New" panose="02070309020205020404" pitchFamily="49" charset="0"/>
              </a:rPr>
              <a:t>	</a:t>
            </a:r>
            <a:r>
              <a:rPr lang="en-US" sz="2000" dirty="0" err="1">
                <a:solidFill>
                  <a:srgbClr val="000000"/>
                </a:solidFill>
                <a:latin typeface="Courier New" panose="02070309020205020404" pitchFamily="49" charset="0"/>
                <a:cs typeface="Courier New" panose="02070309020205020404" pitchFamily="49" charset="0"/>
              </a:rPr>
              <a:t>predimed_locations.csv</a:t>
            </a:r>
            <a:endParaRPr lang="en-US" sz="2000" dirty="0">
              <a:solidFill>
                <a:srgbClr val="000000"/>
              </a:solidFill>
              <a:latin typeface="Courier New" panose="02070309020205020404" pitchFamily="49" charset="0"/>
              <a:cs typeface="Courier New" panose="02070309020205020404" pitchFamily="49" charset="0"/>
            </a:endParaRPr>
          </a:p>
        </p:txBody>
      </p:sp>
      <p:grpSp>
        <p:nvGrpSpPr>
          <p:cNvPr id="3" name="Group 2">
            <a:extLst>
              <a:ext uri="{FF2B5EF4-FFF2-40B4-BE49-F238E27FC236}">
                <a16:creationId xmlns:a16="http://schemas.microsoft.com/office/drawing/2014/main" id="{433272B0-6861-261D-D8AC-BED5D1329D0F}"/>
              </a:ext>
            </a:extLst>
          </p:cNvPr>
          <p:cNvGrpSpPr/>
          <p:nvPr/>
        </p:nvGrpSpPr>
        <p:grpSpPr>
          <a:xfrm>
            <a:off x="8867365" y="1088288"/>
            <a:ext cx="2750851" cy="2279755"/>
            <a:chOff x="8757699" y="910837"/>
            <a:chExt cx="2750851" cy="2279755"/>
          </a:xfrm>
        </p:grpSpPr>
        <p:pic>
          <p:nvPicPr>
            <p:cNvPr id="12" name="Picture 11">
              <a:extLst>
                <a:ext uri="{FF2B5EF4-FFF2-40B4-BE49-F238E27FC236}">
                  <a16:creationId xmlns:a16="http://schemas.microsoft.com/office/drawing/2014/main" id="{C411A18A-DA78-092D-CC3F-B4A5F3389E52}"/>
                </a:ext>
              </a:extLst>
            </p:cNvPr>
            <p:cNvPicPr>
              <a:picLocks noChangeAspect="1"/>
            </p:cNvPicPr>
            <p:nvPr/>
          </p:nvPicPr>
          <p:blipFill>
            <a:blip r:embed="rId2"/>
            <a:srcRect b="67031"/>
            <a:stretch>
              <a:fillRect/>
            </a:stretch>
          </p:blipFill>
          <p:spPr>
            <a:xfrm>
              <a:off x="8757699" y="910837"/>
              <a:ext cx="2750851" cy="1268692"/>
            </a:xfrm>
            <a:prstGeom prst="rect">
              <a:avLst/>
            </a:prstGeom>
          </p:spPr>
        </p:pic>
        <p:pic>
          <p:nvPicPr>
            <p:cNvPr id="13" name="Picture 12">
              <a:extLst>
                <a:ext uri="{FF2B5EF4-FFF2-40B4-BE49-F238E27FC236}">
                  <a16:creationId xmlns:a16="http://schemas.microsoft.com/office/drawing/2014/main" id="{AD11C7CB-7EF2-68FD-F541-5A88A39A5D2A}"/>
                </a:ext>
              </a:extLst>
            </p:cNvPr>
            <p:cNvPicPr>
              <a:picLocks noChangeAspect="1"/>
            </p:cNvPicPr>
            <p:nvPr/>
          </p:nvPicPr>
          <p:blipFill>
            <a:blip r:embed="rId2"/>
            <a:srcRect t="46031" b="45139"/>
            <a:stretch>
              <a:fillRect/>
            </a:stretch>
          </p:blipFill>
          <p:spPr>
            <a:xfrm>
              <a:off x="8757699" y="2167003"/>
              <a:ext cx="2750851" cy="339793"/>
            </a:xfrm>
            <a:prstGeom prst="rect">
              <a:avLst/>
            </a:prstGeom>
          </p:spPr>
        </p:pic>
        <p:pic>
          <p:nvPicPr>
            <p:cNvPr id="14" name="Picture 13">
              <a:extLst>
                <a:ext uri="{FF2B5EF4-FFF2-40B4-BE49-F238E27FC236}">
                  <a16:creationId xmlns:a16="http://schemas.microsoft.com/office/drawing/2014/main" id="{358D23D5-F3D5-9B96-C602-6E681B5DB6DB}"/>
                </a:ext>
              </a:extLst>
            </p:cNvPr>
            <p:cNvPicPr>
              <a:picLocks noChangeAspect="1"/>
            </p:cNvPicPr>
            <p:nvPr/>
          </p:nvPicPr>
          <p:blipFill>
            <a:blip r:embed="rId2"/>
            <a:srcRect t="81213"/>
            <a:stretch>
              <a:fillRect/>
            </a:stretch>
          </p:blipFill>
          <p:spPr>
            <a:xfrm>
              <a:off x="8757699" y="2467628"/>
              <a:ext cx="2750851" cy="722964"/>
            </a:xfrm>
            <a:prstGeom prst="rect">
              <a:avLst/>
            </a:prstGeom>
          </p:spPr>
        </p:pic>
      </p:grpSp>
      <p:pic>
        <p:nvPicPr>
          <p:cNvPr id="15" name="Picture 14">
            <a:extLst>
              <a:ext uri="{FF2B5EF4-FFF2-40B4-BE49-F238E27FC236}">
                <a16:creationId xmlns:a16="http://schemas.microsoft.com/office/drawing/2014/main" id="{00A45A24-7345-7F51-320F-54E367E85233}"/>
              </a:ext>
            </a:extLst>
          </p:cNvPr>
          <p:cNvPicPr>
            <a:picLocks noChangeAspect="1"/>
          </p:cNvPicPr>
          <p:nvPr/>
        </p:nvPicPr>
        <p:blipFill>
          <a:blip r:embed="rId3"/>
          <a:stretch>
            <a:fillRect/>
          </a:stretch>
        </p:blipFill>
        <p:spPr>
          <a:xfrm>
            <a:off x="9548375" y="4578161"/>
            <a:ext cx="2033185" cy="1789203"/>
          </a:xfrm>
          <a:prstGeom prst="rect">
            <a:avLst/>
          </a:prstGeom>
        </p:spPr>
      </p:pic>
      <p:sp>
        <p:nvSpPr>
          <p:cNvPr id="16" name="TextBox 15">
            <a:extLst>
              <a:ext uri="{FF2B5EF4-FFF2-40B4-BE49-F238E27FC236}">
                <a16:creationId xmlns:a16="http://schemas.microsoft.com/office/drawing/2014/main" id="{6412B894-7840-F4E2-6842-E4EB28ED8DB5}"/>
              </a:ext>
            </a:extLst>
          </p:cNvPr>
          <p:cNvSpPr txBox="1"/>
          <p:nvPr/>
        </p:nvSpPr>
        <p:spPr>
          <a:xfrm>
            <a:off x="8568620" y="5472762"/>
            <a:ext cx="979755" cy="369332"/>
          </a:xfrm>
          <a:prstGeom prst="rect">
            <a:avLst/>
          </a:prstGeom>
          <a:noFill/>
        </p:spPr>
        <p:txBody>
          <a:bodyPr wrap="none" rtlCol="0">
            <a:spAutoFit/>
          </a:bodyPr>
          <a:lstStyle/>
          <a:p>
            <a:r>
              <a:rPr lang="en-US" b="1" dirty="0">
                <a:solidFill>
                  <a:srgbClr val="0A7E06"/>
                </a:solidFill>
              </a:rPr>
              <a:t>M rows</a:t>
            </a:r>
          </a:p>
        </p:txBody>
      </p:sp>
      <p:sp>
        <p:nvSpPr>
          <p:cNvPr id="17" name="TextBox 16">
            <a:extLst>
              <a:ext uri="{FF2B5EF4-FFF2-40B4-BE49-F238E27FC236}">
                <a16:creationId xmlns:a16="http://schemas.microsoft.com/office/drawing/2014/main" id="{8245FDA5-8EEB-E27E-3F63-D649F149DED2}"/>
              </a:ext>
            </a:extLst>
          </p:cNvPr>
          <p:cNvSpPr txBox="1"/>
          <p:nvPr/>
        </p:nvSpPr>
        <p:spPr>
          <a:xfrm>
            <a:off x="7913258" y="2164828"/>
            <a:ext cx="954107" cy="369332"/>
          </a:xfrm>
          <a:prstGeom prst="rect">
            <a:avLst/>
          </a:prstGeom>
          <a:noFill/>
        </p:spPr>
        <p:txBody>
          <a:bodyPr wrap="none" rtlCol="0">
            <a:spAutoFit/>
          </a:bodyPr>
          <a:lstStyle/>
          <a:p>
            <a:r>
              <a:rPr lang="en-US" b="1" dirty="0">
                <a:solidFill>
                  <a:srgbClr val="0A7E06"/>
                </a:solidFill>
              </a:rPr>
              <a:t>N rows</a:t>
            </a:r>
          </a:p>
        </p:txBody>
      </p:sp>
      <p:pic>
        <p:nvPicPr>
          <p:cNvPr id="18" name="Picture 17">
            <a:extLst>
              <a:ext uri="{FF2B5EF4-FFF2-40B4-BE49-F238E27FC236}">
                <a16:creationId xmlns:a16="http://schemas.microsoft.com/office/drawing/2014/main" id="{A6DD0CC4-C6D1-93E6-4094-D84FF01FB2A6}"/>
              </a:ext>
            </a:extLst>
          </p:cNvPr>
          <p:cNvPicPr>
            <a:picLocks noChangeAspect="1"/>
          </p:cNvPicPr>
          <p:nvPr/>
        </p:nvPicPr>
        <p:blipFill>
          <a:blip r:embed="rId4"/>
          <a:srcRect b="83054"/>
          <a:stretch>
            <a:fillRect/>
          </a:stretch>
        </p:blipFill>
        <p:spPr>
          <a:xfrm>
            <a:off x="240183" y="1136212"/>
            <a:ext cx="7772400" cy="917697"/>
          </a:xfrm>
          <a:prstGeom prst="rect">
            <a:avLst/>
          </a:prstGeom>
        </p:spPr>
      </p:pic>
      <p:sp>
        <p:nvSpPr>
          <p:cNvPr id="19" name="TextBox 18">
            <a:extLst>
              <a:ext uri="{FF2B5EF4-FFF2-40B4-BE49-F238E27FC236}">
                <a16:creationId xmlns:a16="http://schemas.microsoft.com/office/drawing/2014/main" id="{9F99B9CF-946B-7D54-D4D5-CFE915E6833E}"/>
              </a:ext>
            </a:extLst>
          </p:cNvPr>
          <p:cNvSpPr txBox="1"/>
          <p:nvPr/>
        </p:nvSpPr>
        <p:spPr>
          <a:xfrm>
            <a:off x="6313118" y="1379885"/>
            <a:ext cx="1600140" cy="369332"/>
          </a:xfrm>
          <a:prstGeom prst="rect">
            <a:avLst/>
          </a:prstGeom>
          <a:solidFill>
            <a:srgbClr val="F5F5F5"/>
          </a:solidFill>
        </p:spPr>
        <p:txBody>
          <a:bodyPr wrap="square" rtlCol="0">
            <a:spAutoFit/>
          </a:bodyPr>
          <a:lstStyle/>
          <a:p>
            <a:pPr algn="r"/>
            <a:r>
              <a:rPr lang="en-US" b="1" dirty="0">
                <a:solidFill>
                  <a:srgbClr val="0A7E06"/>
                </a:solidFill>
              </a:rPr>
              <a:t>O(N log N)</a:t>
            </a:r>
          </a:p>
        </p:txBody>
      </p:sp>
      <p:sp>
        <p:nvSpPr>
          <p:cNvPr id="20" name="TextBox 19">
            <a:extLst>
              <a:ext uri="{FF2B5EF4-FFF2-40B4-BE49-F238E27FC236}">
                <a16:creationId xmlns:a16="http://schemas.microsoft.com/office/drawing/2014/main" id="{59FED709-8424-9154-B9FB-5943E6680EB6}"/>
              </a:ext>
            </a:extLst>
          </p:cNvPr>
          <p:cNvSpPr txBox="1"/>
          <p:nvPr/>
        </p:nvSpPr>
        <p:spPr>
          <a:xfrm>
            <a:off x="6597837" y="1705864"/>
            <a:ext cx="1377300" cy="369332"/>
          </a:xfrm>
          <a:prstGeom prst="rect">
            <a:avLst/>
          </a:prstGeom>
          <a:solidFill>
            <a:srgbClr val="F5F5F5"/>
          </a:solidFill>
        </p:spPr>
        <p:txBody>
          <a:bodyPr wrap="none" rtlCol="0">
            <a:spAutoFit/>
          </a:bodyPr>
          <a:lstStyle/>
          <a:p>
            <a:r>
              <a:rPr lang="en-US" b="1" dirty="0">
                <a:solidFill>
                  <a:srgbClr val="0A7E06"/>
                </a:solidFill>
              </a:rPr>
              <a:t>O(M log M)</a:t>
            </a:r>
          </a:p>
        </p:txBody>
      </p:sp>
      <p:sp>
        <p:nvSpPr>
          <p:cNvPr id="24" name="Title 1">
            <a:extLst>
              <a:ext uri="{FF2B5EF4-FFF2-40B4-BE49-F238E27FC236}">
                <a16:creationId xmlns:a16="http://schemas.microsoft.com/office/drawing/2014/main" id="{6389F541-211F-C6FB-DBB1-BEC20BDA784D}"/>
              </a:ext>
            </a:extLst>
          </p:cNvPr>
          <p:cNvSpPr txBox="1">
            <a:spLocks/>
          </p:cNvSpPr>
          <p:nvPr/>
        </p:nvSpPr>
        <p:spPr>
          <a:xfrm>
            <a:off x="609480" y="88021"/>
            <a:ext cx="10972080" cy="1144440"/>
          </a:xfrm>
          <a:prstGeom prst="rect">
            <a:avLst/>
          </a:prstGeom>
          <a:noFill/>
          <a:ln w="0">
            <a:noFill/>
          </a:ln>
        </p:spPr>
        <p:txBody>
          <a:bodyPr lIns="0" tIns="0" rIns="0" bIns="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Solution sort</a:t>
            </a:r>
          </a:p>
        </p:txBody>
      </p:sp>
    </p:spTree>
    <p:extLst>
      <p:ext uri="{BB962C8B-B14F-4D97-AF65-F5344CB8AC3E}">
        <p14:creationId xmlns:p14="http://schemas.microsoft.com/office/powerpoint/2010/main" val="34186077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A6BDEF-7EE5-6AD4-32AB-9479AAEDDD51}"/>
            </a:ext>
          </a:extLst>
        </p:cNvPr>
        <p:cNvGrpSpPr/>
        <p:nvPr/>
      </p:nvGrpSpPr>
      <p:grpSpPr>
        <a:xfrm>
          <a:off x="0" y="0"/>
          <a:ext cx="0" cy="0"/>
          <a:chOff x="0" y="0"/>
          <a:chExt cx="0" cy="0"/>
        </a:xfrm>
      </p:grpSpPr>
      <p:sp>
        <p:nvSpPr>
          <p:cNvPr id="6" name="PlaceHolder 1">
            <a:extLst>
              <a:ext uri="{FF2B5EF4-FFF2-40B4-BE49-F238E27FC236}">
                <a16:creationId xmlns:a16="http://schemas.microsoft.com/office/drawing/2014/main" id="{AE32561C-0E73-BC34-1DC8-875FC1DE31A1}"/>
              </a:ext>
            </a:extLst>
          </p:cNvPr>
          <p:cNvSpPr>
            <a:spLocks noGrp="1"/>
          </p:cNvSpPr>
          <p:nvPr>
            <p:ph type="body"/>
          </p:nvPr>
        </p:nvSpPr>
        <p:spPr>
          <a:xfrm>
            <a:off x="8481073" y="560109"/>
            <a:ext cx="3469784" cy="427346"/>
          </a:xfrm>
          <a:prstGeom prst="rect">
            <a:avLst/>
          </a:prstGeom>
          <a:noFill/>
          <a:ln w="0">
            <a:noFill/>
          </a:ln>
        </p:spPr>
        <p:txBody>
          <a:bodyPr lIns="90000" tIns="45000" rIns="90000" bIns="45000" anchor="t">
            <a:noAutofit/>
          </a:bodyPr>
          <a:lstStyle/>
          <a:p>
            <a:pPr>
              <a:lnSpc>
                <a:spcPct val="90000"/>
              </a:lnSpc>
              <a:spcBef>
                <a:spcPts val="1001"/>
              </a:spcBef>
              <a:buClr>
                <a:srgbClr val="000000"/>
              </a:buClr>
              <a:tabLst>
                <a:tab pos="0" algn="l"/>
              </a:tabLst>
            </a:pPr>
            <a:r>
              <a:rPr lang="en-US" sz="2000" dirty="0" err="1">
                <a:solidFill>
                  <a:srgbClr val="000000"/>
                </a:solidFill>
                <a:latin typeface="Courier New" panose="02070309020205020404" pitchFamily="49" charset="0"/>
                <a:cs typeface="Courier New" panose="02070309020205020404" pitchFamily="49" charset="0"/>
              </a:rPr>
              <a:t>predimed_records.csv</a:t>
            </a:r>
            <a:r>
              <a:rPr lang="en-US" sz="2000" dirty="0">
                <a:solidFill>
                  <a:srgbClr val="000000"/>
                </a:solidFill>
                <a:latin typeface="Courier New" panose="02070309020205020404" pitchFamily="49" charset="0"/>
                <a:cs typeface="Courier New" panose="02070309020205020404" pitchFamily="49" charset="0"/>
              </a:rPr>
              <a:t>	</a:t>
            </a:r>
          </a:p>
        </p:txBody>
      </p:sp>
      <p:grpSp>
        <p:nvGrpSpPr>
          <p:cNvPr id="3" name="Group 2">
            <a:extLst>
              <a:ext uri="{FF2B5EF4-FFF2-40B4-BE49-F238E27FC236}">
                <a16:creationId xmlns:a16="http://schemas.microsoft.com/office/drawing/2014/main" id="{A21675A9-D43A-4823-46E4-88A65C59ED50}"/>
              </a:ext>
            </a:extLst>
          </p:cNvPr>
          <p:cNvGrpSpPr/>
          <p:nvPr/>
        </p:nvGrpSpPr>
        <p:grpSpPr>
          <a:xfrm>
            <a:off x="8867365" y="1088288"/>
            <a:ext cx="2750851" cy="2279755"/>
            <a:chOff x="8757699" y="910837"/>
            <a:chExt cx="2750851" cy="2279755"/>
          </a:xfrm>
        </p:grpSpPr>
        <p:pic>
          <p:nvPicPr>
            <p:cNvPr id="12" name="Picture 11">
              <a:extLst>
                <a:ext uri="{FF2B5EF4-FFF2-40B4-BE49-F238E27FC236}">
                  <a16:creationId xmlns:a16="http://schemas.microsoft.com/office/drawing/2014/main" id="{21DCD01D-061F-29C4-B689-671DAAEB4B79}"/>
                </a:ext>
              </a:extLst>
            </p:cNvPr>
            <p:cNvPicPr>
              <a:picLocks noChangeAspect="1"/>
            </p:cNvPicPr>
            <p:nvPr/>
          </p:nvPicPr>
          <p:blipFill>
            <a:blip r:embed="rId2"/>
            <a:srcRect b="67031"/>
            <a:stretch>
              <a:fillRect/>
            </a:stretch>
          </p:blipFill>
          <p:spPr>
            <a:xfrm>
              <a:off x="8757699" y="910837"/>
              <a:ext cx="2750851" cy="1268692"/>
            </a:xfrm>
            <a:prstGeom prst="rect">
              <a:avLst/>
            </a:prstGeom>
          </p:spPr>
        </p:pic>
        <p:pic>
          <p:nvPicPr>
            <p:cNvPr id="13" name="Picture 12">
              <a:extLst>
                <a:ext uri="{FF2B5EF4-FFF2-40B4-BE49-F238E27FC236}">
                  <a16:creationId xmlns:a16="http://schemas.microsoft.com/office/drawing/2014/main" id="{11CBBAB3-69F3-5BF0-989A-DCEAE401C0D7}"/>
                </a:ext>
              </a:extLst>
            </p:cNvPr>
            <p:cNvPicPr>
              <a:picLocks noChangeAspect="1"/>
            </p:cNvPicPr>
            <p:nvPr/>
          </p:nvPicPr>
          <p:blipFill>
            <a:blip r:embed="rId2"/>
            <a:srcRect t="46031" b="45139"/>
            <a:stretch>
              <a:fillRect/>
            </a:stretch>
          </p:blipFill>
          <p:spPr>
            <a:xfrm>
              <a:off x="8757699" y="2167003"/>
              <a:ext cx="2750851" cy="339793"/>
            </a:xfrm>
            <a:prstGeom prst="rect">
              <a:avLst/>
            </a:prstGeom>
          </p:spPr>
        </p:pic>
        <p:pic>
          <p:nvPicPr>
            <p:cNvPr id="14" name="Picture 13">
              <a:extLst>
                <a:ext uri="{FF2B5EF4-FFF2-40B4-BE49-F238E27FC236}">
                  <a16:creationId xmlns:a16="http://schemas.microsoft.com/office/drawing/2014/main" id="{0CE85CD4-C5F2-23BF-9BEC-236403116438}"/>
                </a:ext>
              </a:extLst>
            </p:cNvPr>
            <p:cNvPicPr>
              <a:picLocks noChangeAspect="1"/>
            </p:cNvPicPr>
            <p:nvPr/>
          </p:nvPicPr>
          <p:blipFill>
            <a:blip r:embed="rId2"/>
            <a:srcRect t="81213"/>
            <a:stretch>
              <a:fillRect/>
            </a:stretch>
          </p:blipFill>
          <p:spPr>
            <a:xfrm>
              <a:off x="8757699" y="2467628"/>
              <a:ext cx="2750851" cy="722964"/>
            </a:xfrm>
            <a:prstGeom prst="rect">
              <a:avLst/>
            </a:prstGeom>
          </p:spPr>
        </p:pic>
      </p:grpSp>
      <p:pic>
        <p:nvPicPr>
          <p:cNvPr id="15" name="Picture 14">
            <a:extLst>
              <a:ext uri="{FF2B5EF4-FFF2-40B4-BE49-F238E27FC236}">
                <a16:creationId xmlns:a16="http://schemas.microsoft.com/office/drawing/2014/main" id="{9A35B822-B4D1-1FF4-B158-A1E72BCFB280}"/>
              </a:ext>
            </a:extLst>
          </p:cNvPr>
          <p:cNvPicPr>
            <a:picLocks noChangeAspect="1"/>
          </p:cNvPicPr>
          <p:nvPr/>
        </p:nvPicPr>
        <p:blipFill>
          <a:blip r:embed="rId3"/>
          <a:stretch>
            <a:fillRect/>
          </a:stretch>
        </p:blipFill>
        <p:spPr>
          <a:xfrm>
            <a:off x="9548375" y="4578161"/>
            <a:ext cx="2033185" cy="1789203"/>
          </a:xfrm>
          <a:prstGeom prst="rect">
            <a:avLst/>
          </a:prstGeom>
        </p:spPr>
      </p:pic>
      <p:sp>
        <p:nvSpPr>
          <p:cNvPr id="16" name="TextBox 15">
            <a:extLst>
              <a:ext uri="{FF2B5EF4-FFF2-40B4-BE49-F238E27FC236}">
                <a16:creationId xmlns:a16="http://schemas.microsoft.com/office/drawing/2014/main" id="{F6FB6DF3-7A67-2623-82D0-3C58400D5332}"/>
              </a:ext>
            </a:extLst>
          </p:cNvPr>
          <p:cNvSpPr txBox="1"/>
          <p:nvPr/>
        </p:nvSpPr>
        <p:spPr>
          <a:xfrm>
            <a:off x="8568620" y="5472762"/>
            <a:ext cx="979755" cy="369332"/>
          </a:xfrm>
          <a:prstGeom prst="rect">
            <a:avLst/>
          </a:prstGeom>
          <a:noFill/>
        </p:spPr>
        <p:txBody>
          <a:bodyPr wrap="none" rtlCol="0">
            <a:spAutoFit/>
          </a:bodyPr>
          <a:lstStyle/>
          <a:p>
            <a:r>
              <a:rPr lang="en-US" b="1" dirty="0">
                <a:solidFill>
                  <a:srgbClr val="0A7E06"/>
                </a:solidFill>
              </a:rPr>
              <a:t>M rows</a:t>
            </a:r>
          </a:p>
        </p:txBody>
      </p:sp>
      <p:sp>
        <p:nvSpPr>
          <p:cNvPr id="17" name="TextBox 16">
            <a:extLst>
              <a:ext uri="{FF2B5EF4-FFF2-40B4-BE49-F238E27FC236}">
                <a16:creationId xmlns:a16="http://schemas.microsoft.com/office/drawing/2014/main" id="{2ED3142D-57AA-F40B-7B50-5380D45C211A}"/>
              </a:ext>
            </a:extLst>
          </p:cNvPr>
          <p:cNvSpPr txBox="1"/>
          <p:nvPr/>
        </p:nvSpPr>
        <p:spPr>
          <a:xfrm>
            <a:off x="7913258" y="2164828"/>
            <a:ext cx="954107" cy="369332"/>
          </a:xfrm>
          <a:prstGeom prst="rect">
            <a:avLst/>
          </a:prstGeom>
          <a:noFill/>
        </p:spPr>
        <p:txBody>
          <a:bodyPr wrap="none" rtlCol="0">
            <a:spAutoFit/>
          </a:bodyPr>
          <a:lstStyle/>
          <a:p>
            <a:r>
              <a:rPr lang="en-US" b="1" dirty="0">
                <a:solidFill>
                  <a:srgbClr val="0A7E06"/>
                </a:solidFill>
              </a:rPr>
              <a:t>N rows</a:t>
            </a:r>
          </a:p>
        </p:txBody>
      </p:sp>
      <p:pic>
        <p:nvPicPr>
          <p:cNvPr id="18" name="Picture 17">
            <a:extLst>
              <a:ext uri="{FF2B5EF4-FFF2-40B4-BE49-F238E27FC236}">
                <a16:creationId xmlns:a16="http://schemas.microsoft.com/office/drawing/2014/main" id="{774A83DE-7A62-3D01-CE3D-E7C4F315BC26}"/>
              </a:ext>
            </a:extLst>
          </p:cNvPr>
          <p:cNvPicPr>
            <a:picLocks noChangeAspect="1"/>
          </p:cNvPicPr>
          <p:nvPr/>
        </p:nvPicPr>
        <p:blipFill>
          <a:blip r:embed="rId4"/>
          <a:stretch>
            <a:fillRect/>
          </a:stretch>
        </p:blipFill>
        <p:spPr>
          <a:xfrm>
            <a:off x="240183" y="1136212"/>
            <a:ext cx="7772400" cy="5415426"/>
          </a:xfrm>
          <a:prstGeom prst="rect">
            <a:avLst/>
          </a:prstGeom>
        </p:spPr>
      </p:pic>
      <p:sp>
        <p:nvSpPr>
          <p:cNvPr id="9" name="Title 1">
            <a:extLst>
              <a:ext uri="{FF2B5EF4-FFF2-40B4-BE49-F238E27FC236}">
                <a16:creationId xmlns:a16="http://schemas.microsoft.com/office/drawing/2014/main" id="{95292699-665C-E0F3-EA62-B8F9FD32E413}"/>
              </a:ext>
            </a:extLst>
          </p:cNvPr>
          <p:cNvSpPr txBox="1">
            <a:spLocks/>
          </p:cNvSpPr>
          <p:nvPr/>
        </p:nvSpPr>
        <p:spPr>
          <a:xfrm>
            <a:off x="609480" y="88021"/>
            <a:ext cx="10972080" cy="1144440"/>
          </a:xfrm>
          <a:prstGeom prst="rect">
            <a:avLst/>
          </a:prstGeom>
          <a:noFill/>
          <a:ln w="0">
            <a:noFill/>
          </a:ln>
        </p:spPr>
        <p:txBody>
          <a:bodyPr lIns="0" tIns="0" rIns="0" bIns="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Solution sort</a:t>
            </a:r>
          </a:p>
        </p:txBody>
      </p:sp>
      <p:sp>
        <p:nvSpPr>
          <p:cNvPr id="10" name="TextBox 9">
            <a:extLst>
              <a:ext uri="{FF2B5EF4-FFF2-40B4-BE49-F238E27FC236}">
                <a16:creationId xmlns:a16="http://schemas.microsoft.com/office/drawing/2014/main" id="{D6477F86-540E-63C7-3354-D749CC53573A}"/>
              </a:ext>
            </a:extLst>
          </p:cNvPr>
          <p:cNvSpPr txBox="1"/>
          <p:nvPr/>
        </p:nvSpPr>
        <p:spPr>
          <a:xfrm>
            <a:off x="6313118" y="1379885"/>
            <a:ext cx="1600140" cy="369332"/>
          </a:xfrm>
          <a:prstGeom prst="rect">
            <a:avLst/>
          </a:prstGeom>
          <a:solidFill>
            <a:srgbClr val="F5F5F5"/>
          </a:solidFill>
        </p:spPr>
        <p:txBody>
          <a:bodyPr wrap="square" rtlCol="0">
            <a:spAutoFit/>
          </a:bodyPr>
          <a:lstStyle/>
          <a:p>
            <a:pPr algn="r"/>
            <a:r>
              <a:rPr lang="en-US" b="1" dirty="0">
                <a:solidFill>
                  <a:srgbClr val="0A7E06"/>
                </a:solidFill>
              </a:rPr>
              <a:t>O(N log N)</a:t>
            </a:r>
          </a:p>
        </p:txBody>
      </p:sp>
      <p:sp>
        <p:nvSpPr>
          <p:cNvPr id="11" name="TextBox 10">
            <a:extLst>
              <a:ext uri="{FF2B5EF4-FFF2-40B4-BE49-F238E27FC236}">
                <a16:creationId xmlns:a16="http://schemas.microsoft.com/office/drawing/2014/main" id="{5142CC7F-0530-3655-7656-2E72E2E87F9E}"/>
              </a:ext>
            </a:extLst>
          </p:cNvPr>
          <p:cNvSpPr txBox="1"/>
          <p:nvPr/>
        </p:nvSpPr>
        <p:spPr>
          <a:xfrm>
            <a:off x="6597837" y="1705864"/>
            <a:ext cx="1377300" cy="369332"/>
          </a:xfrm>
          <a:prstGeom prst="rect">
            <a:avLst/>
          </a:prstGeom>
          <a:solidFill>
            <a:srgbClr val="F5F5F5"/>
          </a:solidFill>
        </p:spPr>
        <p:txBody>
          <a:bodyPr wrap="none" rtlCol="0">
            <a:spAutoFit/>
          </a:bodyPr>
          <a:lstStyle/>
          <a:p>
            <a:r>
              <a:rPr lang="en-US" b="1" dirty="0">
                <a:solidFill>
                  <a:srgbClr val="0A7E06"/>
                </a:solidFill>
              </a:rPr>
              <a:t>O(M log M)</a:t>
            </a:r>
          </a:p>
        </p:txBody>
      </p:sp>
      <p:sp>
        <p:nvSpPr>
          <p:cNvPr id="23" name="PlaceHolder 1">
            <a:extLst>
              <a:ext uri="{FF2B5EF4-FFF2-40B4-BE49-F238E27FC236}">
                <a16:creationId xmlns:a16="http://schemas.microsoft.com/office/drawing/2014/main" id="{33A50277-0B6D-E235-D6BF-A884FFE54508}"/>
              </a:ext>
            </a:extLst>
          </p:cNvPr>
          <p:cNvSpPr>
            <a:spLocks noGrp="1"/>
          </p:cNvSpPr>
          <p:nvPr>
            <p:ph type="body"/>
          </p:nvPr>
        </p:nvSpPr>
        <p:spPr>
          <a:xfrm>
            <a:off x="8406229" y="4056581"/>
            <a:ext cx="3619472" cy="412126"/>
          </a:xfrm>
          <a:prstGeom prst="rect">
            <a:avLst/>
          </a:prstGeom>
          <a:noFill/>
          <a:ln w="0">
            <a:noFill/>
          </a:ln>
        </p:spPr>
        <p:txBody>
          <a:bodyPr lIns="90000" tIns="45000" rIns="90000" bIns="45000" anchor="t">
            <a:noAutofit/>
          </a:bodyPr>
          <a:lstStyle/>
          <a:p>
            <a:pPr>
              <a:lnSpc>
                <a:spcPct val="90000"/>
              </a:lnSpc>
              <a:spcBef>
                <a:spcPts val="1001"/>
              </a:spcBef>
              <a:buClr>
                <a:srgbClr val="000000"/>
              </a:buClr>
              <a:tabLst>
                <a:tab pos="0" algn="l"/>
              </a:tabLst>
            </a:pPr>
            <a:r>
              <a:rPr lang="en-US" sz="2000" dirty="0">
                <a:solidFill>
                  <a:srgbClr val="000000"/>
                </a:solidFill>
                <a:latin typeface="Courier New" panose="02070309020205020404" pitchFamily="49" charset="0"/>
                <a:cs typeface="Courier New" panose="02070309020205020404" pitchFamily="49" charset="0"/>
              </a:rPr>
              <a:t>	</a:t>
            </a:r>
            <a:r>
              <a:rPr lang="en-US" sz="2000" dirty="0" err="1">
                <a:solidFill>
                  <a:srgbClr val="000000"/>
                </a:solidFill>
                <a:latin typeface="Courier New" panose="02070309020205020404" pitchFamily="49" charset="0"/>
                <a:cs typeface="Courier New" panose="02070309020205020404" pitchFamily="49" charset="0"/>
              </a:rPr>
              <a:t>predimed_locations.csv</a:t>
            </a:r>
            <a:endParaRPr lang="en-US" sz="2000" dirty="0">
              <a:solidFill>
                <a:srgbClr val="000000"/>
              </a:solidFill>
              <a:latin typeface="Courier New" panose="02070309020205020404" pitchFamily="49" charset="0"/>
              <a:cs typeface="Courier New" panose="02070309020205020404" pitchFamily="49" charset="0"/>
            </a:endParaRPr>
          </a:p>
        </p:txBody>
      </p:sp>
      <p:sp>
        <p:nvSpPr>
          <p:cNvPr id="24" name="TextBox 23">
            <a:extLst>
              <a:ext uri="{FF2B5EF4-FFF2-40B4-BE49-F238E27FC236}">
                <a16:creationId xmlns:a16="http://schemas.microsoft.com/office/drawing/2014/main" id="{65D689E8-2594-F4DA-2F03-4083F6B03DD3}"/>
              </a:ext>
            </a:extLst>
          </p:cNvPr>
          <p:cNvSpPr txBox="1"/>
          <p:nvPr/>
        </p:nvSpPr>
        <p:spPr>
          <a:xfrm>
            <a:off x="1665961" y="2821895"/>
            <a:ext cx="1289077" cy="369332"/>
          </a:xfrm>
          <a:prstGeom prst="rect">
            <a:avLst/>
          </a:prstGeom>
          <a:solidFill>
            <a:srgbClr val="F5F5F5"/>
          </a:solidFill>
        </p:spPr>
        <p:txBody>
          <a:bodyPr wrap="square" rtlCol="0">
            <a:spAutoFit/>
          </a:bodyPr>
          <a:lstStyle/>
          <a:p>
            <a:pPr algn="r"/>
            <a:r>
              <a:rPr lang="en-US" b="1" dirty="0">
                <a:solidFill>
                  <a:srgbClr val="0A7E06"/>
                </a:solidFill>
              </a:rPr>
              <a:t>O(N +M)</a:t>
            </a:r>
          </a:p>
        </p:txBody>
      </p:sp>
    </p:spTree>
    <p:extLst>
      <p:ext uri="{BB962C8B-B14F-4D97-AF65-F5344CB8AC3E}">
        <p14:creationId xmlns:p14="http://schemas.microsoft.com/office/powerpoint/2010/main" val="34438419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4FCF68-CABC-56EC-2817-1358FBECA51B}"/>
            </a:ext>
          </a:extLst>
        </p:cNvPr>
        <p:cNvGrpSpPr/>
        <p:nvPr/>
      </p:nvGrpSpPr>
      <p:grpSpPr>
        <a:xfrm>
          <a:off x="0" y="0"/>
          <a:ext cx="0" cy="0"/>
          <a:chOff x="0" y="0"/>
          <a:chExt cx="0" cy="0"/>
        </a:xfrm>
      </p:grpSpPr>
      <p:sp>
        <p:nvSpPr>
          <p:cNvPr id="16" name="TextBox 15">
            <a:extLst>
              <a:ext uri="{FF2B5EF4-FFF2-40B4-BE49-F238E27FC236}">
                <a16:creationId xmlns:a16="http://schemas.microsoft.com/office/drawing/2014/main" id="{4D081A29-B535-DB9B-02DC-8F376A4E691C}"/>
              </a:ext>
            </a:extLst>
          </p:cNvPr>
          <p:cNvSpPr txBox="1"/>
          <p:nvPr/>
        </p:nvSpPr>
        <p:spPr>
          <a:xfrm>
            <a:off x="8568620" y="5472762"/>
            <a:ext cx="979755" cy="369332"/>
          </a:xfrm>
          <a:prstGeom prst="rect">
            <a:avLst/>
          </a:prstGeom>
          <a:noFill/>
        </p:spPr>
        <p:txBody>
          <a:bodyPr wrap="none" rtlCol="0">
            <a:spAutoFit/>
          </a:bodyPr>
          <a:lstStyle/>
          <a:p>
            <a:r>
              <a:rPr lang="en-US" b="1" dirty="0">
                <a:solidFill>
                  <a:srgbClr val="0A7E06"/>
                </a:solidFill>
              </a:rPr>
              <a:t>M rows</a:t>
            </a:r>
          </a:p>
        </p:txBody>
      </p:sp>
      <p:sp>
        <p:nvSpPr>
          <p:cNvPr id="17" name="TextBox 16">
            <a:extLst>
              <a:ext uri="{FF2B5EF4-FFF2-40B4-BE49-F238E27FC236}">
                <a16:creationId xmlns:a16="http://schemas.microsoft.com/office/drawing/2014/main" id="{68689B7F-4656-D89C-3BAF-1A89EE17475D}"/>
              </a:ext>
            </a:extLst>
          </p:cNvPr>
          <p:cNvSpPr txBox="1"/>
          <p:nvPr/>
        </p:nvSpPr>
        <p:spPr>
          <a:xfrm>
            <a:off x="7913258" y="2164828"/>
            <a:ext cx="954107" cy="369332"/>
          </a:xfrm>
          <a:prstGeom prst="rect">
            <a:avLst/>
          </a:prstGeom>
          <a:noFill/>
        </p:spPr>
        <p:txBody>
          <a:bodyPr wrap="none" rtlCol="0">
            <a:spAutoFit/>
          </a:bodyPr>
          <a:lstStyle/>
          <a:p>
            <a:r>
              <a:rPr lang="en-US" b="1" dirty="0">
                <a:solidFill>
                  <a:srgbClr val="0A7E06"/>
                </a:solidFill>
              </a:rPr>
              <a:t>N rows</a:t>
            </a:r>
          </a:p>
        </p:txBody>
      </p:sp>
      <p:pic>
        <p:nvPicPr>
          <p:cNvPr id="18" name="Picture 17">
            <a:extLst>
              <a:ext uri="{FF2B5EF4-FFF2-40B4-BE49-F238E27FC236}">
                <a16:creationId xmlns:a16="http://schemas.microsoft.com/office/drawing/2014/main" id="{68A1FE1B-AE48-9A0B-8967-E876A9451209}"/>
              </a:ext>
            </a:extLst>
          </p:cNvPr>
          <p:cNvPicPr>
            <a:picLocks noChangeAspect="1"/>
          </p:cNvPicPr>
          <p:nvPr/>
        </p:nvPicPr>
        <p:blipFill>
          <a:blip r:embed="rId3"/>
          <a:stretch>
            <a:fillRect/>
          </a:stretch>
        </p:blipFill>
        <p:spPr>
          <a:xfrm>
            <a:off x="240183" y="1136212"/>
            <a:ext cx="7772400" cy="5415426"/>
          </a:xfrm>
          <a:prstGeom prst="rect">
            <a:avLst/>
          </a:prstGeom>
        </p:spPr>
      </p:pic>
      <p:sp>
        <p:nvSpPr>
          <p:cNvPr id="9" name="Title 1">
            <a:extLst>
              <a:ext uri="{FF2B5EF4-FFF2-40B4-BE49-F238E27FC236}">
                <a16:creationId xmlns:a16="http://schemas.microsoft.com/office/drawing/2014/main" id="{724FB327-5B7B-0CFF-5526-6D23072CE27D}"/>
              </a:ext>
            </a:extLst>
          </p:cNvPr>
          <p:cNvSpPr txBox="1">
            <a:spLocks/>
          </p:cNvSpPr>
          <p:nvPr/>
        </p:nvSpPr>
        <p:spPr>
          <a:xfrm>
            <a:off x="609480" y="88021"/>
            <a:ext cx="7796749" cy="1144440"/>
          </a:xfrm>
          <a:prstGeom prst="rect">
            <a:avLst/>
          </a:prstGeom>
          <a:noFill/>
          <a:ln w="0">
            <a:noFill/>
          </a:ln>
        </p:spPr>
        <p:txBody>
          <a:bodyPr lIns="0" tIns="0" rIns="0" bIns="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Solution sort</a:t>
            </a:r>
          </a:p>
        </p:txBody>
      </p:sp>
      <p:sp>
        <p:nvSpPr>
          <p:cNvPr id="10" name="TextBox 9">
            <a:extLst>
              <a:ext uri="{FF2B5EF4-FFF2-40B4-BE49-F238E27FC236}">
                <a16:creationId xmlns:a16="http://schemas.microsoft.com/office/drawing/2014/main" id="{6A2A4930-0A10-B9C1-FF4C-AB1B3D2FAA03}"/>
              </a:ext>
            </a:extLst>
          </p:cNvPr>
          <p:cNvSpPr txBox="1"/>
          <p:nvPr/>
        </p:nvSpPr>
        <p:spPr>
          <a:xfrm>
            <a:off x="6313118" y="1379885"/>
            <a:ext cx="1600140" cy="369332"/>
          </a:xfrm>
          <a:prstGeom prst="rect">
            <a:avLst/>
          </a:prstGeom>
          <a:solidFill>
            <a:srgbClr val="F5F5F5"/>
          </a:solidFill>
        </p:spPr>
        <p:txBody>
          <a:bodyPr wrap="square" rtlCol="0">
            <a:spAutoFit/>
          </a:bodyPr>
          <a:lstStyle/>
          <a:p>
            <a:pPr algn="r"/>
            <a:r>
              <a:rPr lang="en-US" b="1" dirty="0">
                <a:solidFill>
                  <a:srgbClr val="0A7E06"/>
                </a:solidFill>
              </a:rPr>
              <a:t>O(N log N)</a:t>
            </a:r>
          </a:p>
        </p:txBody>
      </p:sp>
      <p:sp>
        <p:nvSpPr>
          <p:cNvPr id="11" name="TextBox 10">
            <a:extLst>
              <a:ext uri="{FF2B5EF4-FFF2-40B4-BE49-F238E27FC236}">
                <a16:creationId xmlns:a16="http://schemas.microsoft.com/office/drawing/2014/main" id="{BCE8C0DB-6919-B8C9-CCC1-EC0FAD1BD756}"/>
              </a:ext>
            </a:extLst>
          </p:cNvPr>
          <p:cNvSpPr txBox="1"/>
          <p:nvPr/>
        </p:nvSpPr>
        <p:spPr>
          <a:xfrm>
            <a:off x="6597837" y="1705864"/>
            <a:ext cx="1377300" cy="369332"/>
          </a:xfrm>
          <a:prstGeom prst="rect">
            <a:avLst/>
          </a:prstGeom>
          <a:solidFill>
            <a:srgbClr val="F5F5F5"/>
          </a:solidFill>
        </p:spPr>
        <p:txBody>
          <a:bodyPr wrap="none" rtlCol="0">
            <a:spAutoFit/>
          </a:bodyPr>
          <a:lstStyle/>
          <a:p>
            <a:r>
              <a:rPr lang="en-US" b="1" dirty="0">
                <a:solidFill>
                  <a:srgbClr val="0A7E06"/>
                </a:solidFill>
              </a:rPr>
              <a:t>O(M log M)</a:t>
            </a:r>
          </a:p>
        </p:txBody>
      </p:sp>
      <p:sp>
        <p:nvSpPr>
          <p:cNvPr id="23" name="PlaceHolder 1">
            <a:extLst>
              <a:ext uri="{FF2B5EF4-FFF2-40B4-BE49-F238E27FC236}">
                <a16:creationId xmlns:a16="http://schemas.microsoft.com/office/drawing/2014/main" id="{8C6F1412-7E6E-F49B-974A-7D7AC403622F}"/>
              </a:ext>
            </a:extLst>
          </p:cNvPr>
          <p:cNvSpPr>
            <a:spLocks noGrp="1"/>
          </p:cNvSpPr>
          <p:nvPr>
            <p:ph type="body"/>
          </p:nvPr>
        </p:nvSpPr>
        <p:spPr>
          <a:xfrm>
            <a:off x="8406229" y="4056581"/>
            <a:ext cx="3619472" cy="412126"/>
          </a:xfrm>
          <a:prstGeom prst="rect">
            <a:avLst/>
          </a:prstGeom>
          <a:noFill/>
          <a:ln w="0">
            <a:noFill/>
          </a:ln>
        </p:spPr>
        <p:txBody>
          <a:bodyPr lIns="90000" tIns="45000" rIns="90000" bIns="45000" anchor="t">
            <a:noAutofit/>
          </a:bodyPr>
          <a:lstStyle/>
          <a:p>
            <a:pPr>
              <a:lnSpc>
                <a:spcPct val="90000"/>
              </a:lnSpc>
              <a:spcBef>
                <a:spcPts val="1001"/>
              </a:spcBef>
              <a:buClr>
                <a:srgbClr val="000000"/>
              </a:buClr>
              <a:tabLst>
                <a:tab pos="0" algn="l"/>
              </a:tabLst>
            </a:pPr>
            <a:r>
              <a:rPr lang="en-US" sz="2000" dirty="0">
                <a:solidFill>
                  <a:srgbClr val="000000"/>
                </a:solidFill>
                <a:latin typeface="Courier New" panose="02070309020205020404" pitchFamily="49" charset="0"/>
                <a:cs typeface="Courier New" panose="02070309020205020404" pitchFamily="49" charset="0"/>
              </a:rPr>
              <a:t>	</a:t>
            </a:r>
            <a:r>
              <a:rPr lang="en-US" sz="2000" dirty="0" err="1">
                <a:solidFill>
                  <a:srgbClr val="000000"/>
                </a:solidFill>
                <a:latin typeface="Courier New" panose="02070309020205020404" pitchFamily="49" charset="0"/>
                <a:cs typeface="Courier New" panose="02070309020205020404" pitchFamily="49" charset="0"/>
              </a:rPr>
              <a:t>predimed_locations.csv</a:t>
            </a:r>
            <a:endParaRPr lang="en-US" sz="2000" dirty="0">
              <a:solidFill>
                <a:srgbClr val="000000"/>
              </a:solidFill>
              <a:latin typeface="Courier New" panose="02070309020205020404" pitchFamily="49" charset="0"/>
              <a:cs typeface="Courier New" panose="02070309020205020404" pitchFamily="49" charset="0"/>
            </a:endParaRPr>
          </a:p>
        </p:txBody>
      </p:sp>
      <p:sp>
        <p:nvSpPr>
          <p:cNvPr id="24" name="TextBox 23">
            <a:extLst>
              <a:ext uri="{FF2B5EF4-FFF2-40B4-BE49-F238E27FC236}">
                <a16:creationId xmlns:a16="http://schemas.microsoft.com/office/drawing/2014/main" id="{46D000F8-4622-FCD1-4B3C-2ADE7E879EC9}"/>
              </a:ext>
            </a:extLst>
          </p:cNvPr>
          <p:cNvSpPr txBox="1"/>
          <p:nvPr/>
        </p:nvSpPr>
        <p:spPr>
          <a:xfrm>
            <a:off x="1665961" y="2821895"/>
            <a:ext cx="1289077" cy="369332"/>
          </a:xfrm>
          <a:prstGeom prst="rect">
            <a:avLst/>
          </a:prstGeom>
          <a:solidFill>
            <a:srgbClr val="F5F5F5"/>
          </a:solidFill>
        </p:spPr>
        <p:txBody>
          <a:bodyPr wrap="square" rtlCol="0">
            <a:spAutoFit/>
          </a:bodyPr>
          <a:lstStyle/>
          <a:p>
            <a:pPr algn="r"/>
            <a:r>
              <a:rPr lang="en-US" b="1" dirty="0">
                <a:solidFill>
                  <a:srgbClr val="0A7E06"/>
                </a:solidFill>
              </a:rPr>
              <a:t>O(N +M)</a:t>
            </a:r>
          </a:p>
        </p:txBody>
      </p:sp>
      <p:pic>
        <p:nvPicPr>
          <p:cNvPr id="4" name="Graphic 3">
            <a:extLst>
              <a:ext uri="{FF2B5EF4-FFF2-40B4-BE49-F238E27FC236}">
                <a16:creationId xmlns:a16="http://schemas.microsoft.com/office/drawing/2014/main" id="{B98F89C6-7B95-EBF4-E73B-EE65C8121C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773201" y="2173525"/>
            <a:ext cx="5334000" cy="4419600"/>
          </a:xfrm>
          <a:prstGeom prst="rect">
            <a:avLst/>
          </a:prstGeom>
        </p:spPr>
      </p:pic>
      <p:sp>
        <p:nvSpPr>
          <p:cNvPr id="5" name="TextBox 4">
            <a:extLst>
              <a:ext uri="{FF2B5EF4-FFF2-40B4-BE49-F238E27FC236}">
                <a16:creationId xmlns:a16="http://schemas.microsoft.com/office/drawing/2014/main" id="{629A0C60-778B-9B1C-F45B-A9A24305265F}"/>
              </a:ext>
            </a:extLst>
          </p:cNvPr>
          <p:cNvSpPr txBox="1"/>
          <p:nvPr/>
        </p:nvSpPr>
        <p:spPr>
          <a:xfrm>
            <a:off x="8014467" y="1343551"/>
            <a:ext cx="4092734" cy="830997"/>
          </a:xfrm>
          <a:prstGeom prst="rect">
            <a:avLst/>
          </a:prstGeom>
          <a:solidFill>
            <a:schemeClr val="bg1"/>
          </a:solidFill>
        </p:spPr>
        <p:txBody>
          <a:bodyPr wrap="square" rtlCol="0">
            <a:spAutoFit/>
          </a:bodyPr>
          <a:lstStyle/>
          <a:p>
            <a:endParaRPr lang="bg-BG" sz="1600" dirty="0">
              <a:solidFill>
                <a:srgbClr val="800080"/>
              </a:solidFill>
            </a:endParaRPr>
          </a:p>
          <a:p>
            <a:r>
              <a:rPr lang="en-DE" sz="1600" dirty="0">
                <a:solidFill>
                  <a:srgbClr val="800080"/>
                </a:solidFill>
              </a:rPr>
              <a:t>two for-loops: 	</a:t>
            </a:r>
            <a:r>
              <a:rPr lang="en-GB" sz="1600" dirty="0">
                <a:solidFill>
                  <a:srgbClr val="800080"/>
                </a:solidFill>
              </a:rPr>
              <a:t>O(N*M)</a:t>
            </a:r>
            <a:endParaRPr lang="en-DE" sz="1600" dirty="0">
              <a:solidFill>
                <a:srgbClr val="800080"/>
              </a:solidFill>
            </a:endParaRPr>
          </a:p>
          <a:p>
            <a:r>
              <a:rPr lang="en-GB" sz="1600" dirty="0">
                <a:solidFill>
                  <a:srgbClr val="008001"/>
                </a:solidFill>
              </a:rPr>
              <a:t>s</a:t>
            </a:r>
            <a:r>
              <a:rPr lang="en-DE" sz="1600" dirty="0">
                <a:solidFill>
                  <a:srgbClr val="008001"/>
                </a:solidFill>
              </a:rPr>
              <a:t>orted for loop:	</a:t>
            </a:r>
            <a:r>
              <a:rPr lang="en-GB" sz="1600" dirty="0">
                <a:solidFill>
                  <a:srgbClr val="008001"/>
                </a:solidFill>
              </a:rPr>
              <a:t>O(N log N + M log M)</a:t>
            </a:r>
            <a:endParaRPr lang="en-DE" sz="1600" dirty="0">
              <a:solidFill>
                <a:srgbClr val="008001"/>
              </a:solidFill>
            </a:endParaRPr>
          </a:p>
        </p:txBody>
      </p:sp>
    </p:spTree>
    <p:extLst>
      <p:ext uri="{BB962C8B-B14F-4D97-AF65-F5344CB8AC3E}">
        <p14:creationId xmlns:p14="http://schemas.microsoft.com/office/powerpoint/2010/main" val="37953657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42964F-00DC-B925-2CC4-E87395F9161D}"/>
              </a:ext>
            </a:extLst>
          </p:cNvPr>
          <p:cNvSpPr>
            <a:spLocks noGrp="1"/>
          </p:cNvSpPr>
          <p:nvPr>
            <p:ph type="title"/>
          </p:nvPr>
        </p:nvSpPr>
        <p:spPr/>
        <p:txBody>
          <a:bodyPr/>
          <a:lstStyle/>
          <a:p>
            <a:r>
              <a:rPr lang="en-US" dirty="0"/>
              <a:t>Solution join operation</a:t>
            </a:r>
          </a:p>
        </p:txBody>
      </p:sp>
      <p:pic>
        <p:nvPicPr>
          <p:cNvPr id="7" name="Picture 6">
            <a:extLst>
              <a:ext uri="{FF2B5EF4-FFF2-40B4-BE49-F238E27FC236}">
                <a16:creationId xmlns:a16="http://schemas.microsoft.com/office/drawing/2014/main" id="{260B3375-E145-CD0C-B3EC-CE13BF9DFA02}"/>
              </a:ext>
            </a:extLst>
          </p:cNvPr>
          <p:cNvPicPr>
            <a:picLocks noChangeAspect="1"/>
          </p:cNvPicPr>
          <p:nvPr/>
        </p:nvPicPr>
        <p:blipFill>
          <a:blip r:embed="rId3"/>
          <a:stretch>
            <a:fillRect/>
          </a:stretch>
        </p:blipFill>
        <p:spPr>
          <a:xfrm>
            <a:off x="609480" y="1650044"/>
            <a:ext cx="7188200" cy="952500"/>
          </a:xfrm>
          <a:prstGeom prst="rect">
            <a:avLst/>
          </a:prstGeom>
        </p:spPr>
      </p:pic>
      <p:pic>
        <p:nvPicPr>
          <p:cNvPr id="8" name="Picture 7">
            <a:extLst>
              <a:ext uri="{FF2B5EF4-FFF2-40B4-BE49-F238E27FC236}">
                <a16:creationId xmlns:a16="http://schemas.microsoft.com/office/drawing/2014/main" id="{2D91C824-611A-98EB-0FD2-7BF74A8243A6}"/>
              </a:ext>
            </a:extLst>
          </p:cNvPr>
          <p:cNvPicPr>
            <a:picLocks noChangeAspect="1"/>
          </p:cNvPicPr>
          <p:nvPr/>
        </p:nvPicPr>
        <p:blipFill>
          <a:blip r:embed="rId4"/>
          <a:stretch>
            <a:fillRect/>
          </a:stretch>
        </p:blipFill>
        <p:spPr>
          <a:xfrm>
            <a:off x="349838" y="3097150"/>
            <a:ext cx="8294295" cy="3056818"/>
          </a:xfrm>
          <a:prstGeom prst="rect">
            <a:avLst/>
          </a:prstGeom>
        </p:spPr>
      </p:pic>
    </p:spTree>
    <p:extLst>
      <p:ext uri="{BB962C8B-B14F-4D97-AF65-F5344CB8AC3E}">
        <p14:creationId xmlns:p14="http://schemas.microsoft.com/office/powerpoint/2010/main" val="36795805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6F454F-54BE-3880-D4A5-FA88D6B9BD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7D8205-DCD0-344A-8A47-37CAAB6E3D6D}"/>
              </a:ext>
            </a:extLst>
          </p:cNvPr>
          <p:cNvSpPr>
            <a:spLocks noGrp="1"/>
          </p:cNvSpPr>
          <p:nvPr>
            <p:ph type="title"/>
          </p:nvPr>
        </p:nvSpPr>
        <p:spPr/>
        <p:txBody>
          <a:bodyPr/>
          <a:lstStyle/>
          <a:p>
            <a:r>
              <a:rPr lang="en-US" dirty="0"/>
              <a:t>Solution join operation</a:t>
            </a:r>
          </a:p>
        </p:txBody>
      </p:sp>
      <p:pic>
        <p:nvPicPr>
          <p:cNvPr id="6" name="Picture 5">
            <a:extLst>
              <a:ext uri="{FF2B5EF4-FFF2-40B4-BE49-F238E27FC236}">
                <a16:creationId xmlns:a16="http://schemas.microsoft.com/office/drawing/2014/main" id="{86C95525-8802-6A15-99EE-DDF7373BB812}"/>
              </a:ext>
            </a:extLst>
          </p:cNvPr>
          <p:cNvPicPr>
            <a:picLocks noChangeAspect="1"/>
          </p:cNvPicPr>
          <p:nvPr/>
        </p:nvPicPr>
        <p:blipFill>
          <a:blip r:embed="rId2"/>
          <a:stretch>
            <a:fillRect/>
          </a:stretch>
        </p:blipFill>
        <p:spPr>
          <a:xfrm>
            <a:off x="349838" y="3097150"/>
            <a:ext cx="8294295" cy="3056818"/>
          </a:xfrm>
          <a:prstGeom prst="rect">
            <a:avLst/>
          </a:prstGeom>
        </p:spPr>
      </p:pic>
      <p:pic>
        <p:nvPicPr>
          <p:cNvPr id="7" name="Picture 6">
            <a:extLst>
              <a:ext uri="{FF2B5EF4-FFF2-40B4-BE49-F238E27FC236}">
                <a16:creationId xmlns:a16="http://schemas.microsoft.com/office/drawing/2014/main" id="{633D995A-E991-BF15-E5AA-47E8341BE6CC}"/>
              </a:ext>
            </a:extLst>
          </p:cNvPr>
          <p:cNvPicPr>
            <a:picLocks noChangeAspect="1"/>
          </p:cNvPicPr>
          <p:nvPr/>
        </p:nvPicPr>
        <p:blipFill>
          <a:blip r:embed="rId3"/>
          <a:stretch>
            <a:fillRect/>
          </a:stretch>
        </p:blipFill>
        <p:spPr>
          <a:xfrm>
            <a:off x="609480" y="1650044"/>
            <a:ext cx="7188200" cy="952500"/>
          </a:xfrm>
          <a:prstGeom prst="rect">
            <a:avLst/>
          </a:prstGeom>
        </p:spPr>
      </p:pic>
      <p:sp>
        <p:nvSpPr>
          <p:cNvPr id="3" name="TextBox 2">
            <a:extLst>
              <a:ext uri="{FF2B5EF4-FFF2-40B4-BE49-F238E27FC236}">
                <a16:creationId xmlns:a16="http://schemas.microsoft.com/office/drawing/2014/main" id="{E361B8E9-C6BE-29A9-7171-3328A51E4732}"/>
              </a:ext>
            </a:extLst>
          </p:cNvPr>
          <p:cNvSpPr txBox="1"/>
          <p:nvPr/>
        </p:nvSpPr>
        <p:spPr>
          <a:xfrm>
            <a:off x="8907543" y="1072377"/>
            <a:ext cx="2736647" cy="923330"/>
          </a:xfrm>
          <a:prstGeom prst="rect">
            <a:avLst/>
          </a:prstGeom>
          <a:solidFill>
            <a:srgbClr val="FFC862">
              <a:alpha val="45882"/>
            </a:srgbClr>
          </a:solidFill>
          <a:ln>
            <a:solidFill>
              <a:srgbClr val="FFAE11"/>
            </a:solidFill>
            <a:prstDash val="dash"/>
          </a:ln>
        </p:spPr>
        <p:txBody>
          <a:bodyPr wrap="none" rtlCol="0">
            <a:spAutoFit/>
          </a:bodyPr>
          <a:lstStyle/>
          <a:p>
            <a:r>
              <a:rPr lang="en-DE" dirty="0"/>
              <a:t>column or index level</a:t>
            </a:r>
          </a:p>
          <a:p>
            <a:r>
              <a:rPr lang="en-DE" dirty="0"/>
              <a:t>names to join on,</a:t>
            </a:r>
          </a:p>
          <a:p>
            <a:r>
              <a:rPr lang="en-DE" dirty="0"/>
              <a:t>found in both dataframes</a:t>
            </a:r>
            <a:endParaRPr lang="en-US" dirty="0"/>
          </a:p>
        </p:txBody>
      </p:sp>
      <p:sp>
        <p:nvSpPr>
          <p:cNvPr id="4" name="TextBox 3">
            <a:extLst>
              <a:ext uri="{FF2B5EF4-FFF2-40B4-BE49-F238E27FC236}">
                <a16:creationId xmlns:a16="http://schemas.microsoft.com/office/drawing/2014/main" id="{634870F3-85FA-5993-6B68-C57640357949}"/>
              </a:ext>
            </a:extLst>
          </p:cNvPr>
          <p:cNvSpPr txBox="1"/>
          <p:nvPr/>
        </p:nvSpPr>
        <p:spPr>
          <a:xfrm>
            <a:off x="8907543" y="2360389"/>
            <a:ext cx="2736647" cy="1477328"/>
          </a:xfrm>
          <a:prstGeom prst="rect">
            <a:avLst/>
          </a:prstGeom>
          <a:solidFill>
            <a:srgbClr val="FFC862">
              <a:alpha val="45882"/>
            </a:srgbClr>
          </a:solidFill>
          <a:ln>
            <a:solidFill>
              <a:srgbClr val="FFAE11"/>
            </a:solidFill>
            <a:prstDash val="dash"/>
          </a:ln>
        </p:spPr>
        <p:txBody>
          <a:bodyPr wrap="square" rtlCol="0">
            <a:spAutoFit/>
          </a:bodyPr>
          <a:lstStyle/>
          <a:p>
            <a:r>
              <a:rPr lang="en-DE" dirty="0"/>
              <a:t>type of merge to be performed. Here t</a:t>
            </a:r>
            <a:r>
              <a:rPr lang="en-GB" dirty="0"/>
              <a:t>he</a:t>
            </a:r>
            <a:r>
              <a:rPr lang="en-DE" dirty="0"/>
              <a:t> keys and the order  of the left dataframe </a:t>
            </a:r>
            <a:r>
              <a:rPr lang="en-US" dirty="0" err="1">
                <a:solidFill>
                  <a:srgbClr val="000000"/>
                </a:solidFill>
                <a:latin typeface="Courier New" panose="02070309020205020404" pitchFamily="49" charset="0"/>
                <a:cs typeface="Courier New" panose="02070309020205020404" pitchFamily="49" charset="0"/>
              </a:rPr>
              <a:t>df_patients</a:t>
            </a:r>
            <a:r>
              <a:rPr lang="en-DE" dirty="0">
                <a:solidFill>
                  <a:srgbClr val="000000"/>
                </a:solidFill>
                <a:latin typeface="Courier New" panose="02070309020205020404" pitchFamily="49" charset="0"/>
                <a:cs typeface="Courier New" panose="02070309020205020404" pitchFamily="49" charset="0"/>
              </a:rPr>
              <a:t> </a:t>
            </a:r>
            <a:r>
              <a:rPr lang="en-GB" dirty="0" err="1"/>
              <a:t>ar</a:t>
            </a:r>
            <a:r>
              <a:rPr lang="en-DE" dirty="0"/>
              <a:t>e kept</a:t>
            </a:r>
          </a:p>
        </p:txBody>
      </p:sp>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ADC78246-6BE3-B7BB-F755-6BA653AADA06}"/>
                  </a:ext>
                </a:extLst>
              </p14:cNvPr>
              <p14:cNvContentPartPr/>
              <p14:nvPr/>
            </p14:nvContentPartPr>
            <p14:xfrm>
              <a:off x="7627493" y="829835"/>
              <a:ext cx="1800" cy="1800"/>
            </p14:xfrm>
          </p:contentPart>
        </mc:Choice>
        <mc:Fallback xmlns="">
          <p:pic>
            <p:nvPicPr>
              <p:cNvPr id="12" name="Ink 11">
                <a:extLst>
                  <a:ext uri="{FF2B5EF4-FFF2-40B4-BE49-F238E27FC236}">
                    <a16:creationId xmlns:a16="http://schemas.microsoft.com/office/drawing/2014/main" id="{ADC78246-6BE3-B7BB-F755-6BA653AADA06}"/>
                  </a:ext>
                </a:extLst>
              </p:cNvPr>
              <p:cNvPicPr/>
              <p:nvPr/>
            </p:nvPicPr>
            <p:blipFill>
              <a:blip r:embed="rId5"/>
              <a:stretch>
                <a:fillRect/>
              </a:stretch>
            </p:blipFill>
            <p:spPr>
              <a:xfrm>
                <a:off x="7618853" y="820835"/>
                <a:ext cx="19440" cy="1944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13C9B956-B985-AF4B-FF33-E133823F2F44}"/>
                  </a:ext>
                </a:extLst>
              </p14:cNvPr>
              <p14:cNvContentPartPr/>
              <p14:nvPr/>
            </p14:nvContentPartPr>
            <p14:xfrm>
              <a:off x="8536133" y="1536515"/>
              <a:ext cx="220320" cy="216360"/>
            </p14:xfrm>
          </p:contentPart>
        </mc:Choice>
        <mc:Fallback xmlns="">
          <p:pic>
            <p:nvPicPr>
              <p:cNvPr id="16" name="Ink 15">
                <a:extLst>
                  <a:ext uri="{FF2B5EF4-FFF2-40B4-BE49-F238E27FC236}">
                    <a16:creationId xmlns:a16="http://schemas.microsoft.com/office/drawing/2014/main" id="{13C9B956-B985-AF4B-FF33-E133823F2F44}"/>
                  </a:ext>
                </a:extLst>
              </p:cNvPr>
              <p:cNvPicPr/>
              <p:nvPr/>
            </p:nvPicPr>
            <p:blipFill>
              <a:blip r:embed="rId7"/>
              <a:stretch>
                <a:fillRect/>
              </a:stretch>
            </p:blipFill>
            <p:spPr>
              <a:xfrm>
                <a:off x="8518493" y="1518515"/>
                <a:ext cx="255960" cy="252000"/>
              </a:xfrm>
              <a:prstGeom prst="rect">
                <a:avLst/>
              </a:prstGeom>
            </p:spPr>
          </p:pic>
        </mc:Fallback>
      </mc:AlternateContent>
      <p:grpSp>
        <p:nvGrpSpPr>
          <p:cNvPr id="20" name="Group 19">
            <a:extLst>
              <a:ext uri="{FF2B5EF4-FFF2-40B4-BE49-F238E27FC236}">
                <a16:creationId xmlns:a16="http://schemas.microsoft.com/office/drawing/2014/main" id="{D431A71A-AF59-3907-D49F-18287E9FE16F}"/>
              </a:ext>
            </a:extLst>
          </p:cNvPr>
          <p:cNvGrpSpPr/>
          <p:nvPr/>
        </p:nvGrpSpPr>
        <p:grpSpPr>
          <a:xfrm>
            <a:off x="6256253" y="2386835"/>
            <a:ext cx="2551320" cy="580320"/>
            <a:chOff x="6256253" y="2386835"/>
            <a:chExt cx="2551320" cy="580320"/>
          </a:xfrm>
        </p:grpSpPr>
        <mc:AlternateContent xmlns:mc="http://schemas.openxmlformats.org/markup-compatibility/2006" xmlns:p14="http://schemas.microsoft.com/office/powerpoint/2010/main">
          <mc:Choice Requires="p14">
            <p:contentPart p14:bwMode="auto" r:id="rId8">
              <p14:nvContentPartPr>
                <p14:cNvPr id="17" name="Ink 16">
                  <a:extLst>
                    <a:ext uri="{FF2B5EF4-FFF2-40B4-BE49-F238E27FC236}">
                      <a16:creationId xmlns:a16="http://schemas.microsoft.com/office/drawing/2014/main" id="{B62D9CF4-5AB6-6DBF-16B4-D406CF19373B}"/>
                    </a:ext>
                  </a:extLst>
                </p14:cNvPr>
                <p14:cNvContentPartPr/>
                <p14:nvPr/>
              </p14:nvContentPartPr>
              <p14:xfrm>
                <a:off x="6256253" y="2386835"/>
                <a:ext cx="2402640" cy="470880"/>
              </p14:xfrm>
            </p:contentPart>
          </mc:Choice>
          <mc:Fallback xmlns="">
            <p:pic>
              <p:nvPicPr>
                <p:cNvPr id="17" name="Ink 16">
                  <a:extLst>
                    <a:ext uri="{FF2B5EF4-FFF2-40B4-BE49-F238E27FC236}">
                      <a16:creationId xmlns:a16="http://schemas.microsoft.com/office/drawing/2014/main" id="{B62D9CF4-5AB6-6DBF-16B4-D406CF19373B}"/>
                    </a:ext>
                  </a:extLst>
                </p:cNvPr>
                <p:cNvPicPr/>
                <p:nvPr/>
              </p:nvPicPr>
              <p:blipFill>
                <a:blip r:embed="rId9"/>
                <a:stretch>
                  <a:fillRect/>
                </a:stretch>
              </p:blipFill>
              <p:spPr>
                <a:xfrm>
                  <a:off x="6238613" y="2369195"/>
                  <a:ext cx="2438280" cy="5065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8" name="Ink 17">
                  <a:extLst>
                    <a:ext uri="{FF2B5EF4-FFF2-40B4-BE49-F238E27FC236}">
                      <a16:creationId xmlns:a16="http://schemas.microsoft.com/office/drawing/2014/main" id="{D7EC668B-BC35-8C23-F3B2-74A0FD76FA27}"/>
                    </a:ext>
                  </a:extLst>
                </p14:cNvPr>
                <p14:cNvContentPartPr/>
                <p14:nvPr/>
              </p14:nvContentPartPr>
              <p14:xfrm>
                <a:off x="8614613" y="2762315"/>
                <a:ext cx="192960" cy="204840"/>
              </p14:xfrm>
            </p:contentPart>
          </mc:Choice>
          <mc:Fallback xmlns="">
            <p:pic>
              <p:nvPicPr>
                <p:cNvPr id="18" name="Ink 17">
                  <a:extLst>
                    <a:ext uri="{FF2B5EF4-FFF2-40B4-BE49-F238E27FC236}">
                      <a16:creationId xmlns:a16="http://schemas.microsoft.com/office/drawing/2014/main" id="{D7EC668B-BC35-8C23-F3B2-74A0FD76FA27}"/>
                    </a:ext>
                  </a:extLst>
                </p:cNvPr>
                <p:cNvPicPr/>
                <p:nvPr/>
              </p:nvPicPr>
              <p:blipFill>
                <a:blip r:embed="rId11"/>
                <a:stretch>
                  <a:fillRect/>
                </a:stretch>
              </p:blipFill>
              <p:spPr>
                <a:xfrm>
                  <a:off x="8596613" y="2744315"/>
                  <a:ext cx="228600" cy="2404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2">
            <p14:nvContentPartPr>
              <p14:cNvPr id="23" name="Ink 22">
                <a:extLst>
                  <a:ext uri="{FF2B5EF4-FFF2-40B4-BE49-F238E27FC236}">
                    <a16:creationId xmlns:a16="http://schemas.microsoft.com/office/drawing/2014/main" id="{A7C03BD6-D60A-D36D-45E7-C8B68FF8AE5E}"/>
                  </a:ext>
                </a:extLst>
              </p14:cNvPr>
              <p14:cNvContentPartPr/>
              <p14:nvPr/>
            </p14:nvContentPartPr>
            <p14:xfrm>
              <a:off x="7238333" y="1618595"/>
              <a:ext cx="1405800" cy="451080"/>
            </p14:xfrm>
          </p:contentPart>
        </mc:Choice>
        <mc:Fallback xmlns="">
          <p:pic>
            <p:nvPicPr>
              <p:cNvPr id="23" name="Ink 22">
                <a:extLst>
                  <a:ext uri="{FF2B5EF4-FFF2-40B4-BE49-F238E27FC236}">
                    <a16:creationId xmlns:a16="http://schemas.microsoft.com/office/drawing/2014/main" id="{A7C03BD6-D60A-D36D-45E7-C8B68FF8AE5E}"/>
                  </a:ext>
                </a:extLst>
              </p:cNvPr>
              <p:cNvPicPr/>
              <p:nvPr/>
            </p:nvPicPr>
            <p:blipFill>
              <a:blip r:embed="rId13"/>
              <a:stretch>
                <a:fillRect/>
              </a:stretch>
            </p:blipFill>
            <p:spPr>
              <a:xfrm>
                <a:off x="7220693" y="1600955"/>
                <a:ext cx="1441440" cy="486720"/>
              </a:xfrm>
              <a:prstGeom prst="rect">
                <a:avLst/>
              </a:prstGeom>
            </p:spPr>
          </p:pic>
        </mc:Fallback>
      </mc:AlternateContent>
      <p:sp>
        <p:nvSpPr>
          <p:cNvPr id="24" name="TextBox 23">
            <a:extLst>
              <a:ext uri="{FF2B5EF4-FFF2-40B4-BE49-F238E27FC236}">
                <a16:creationId xmlns:a16="http://schemas.microsoft.com/office/drawing/2014/main" id="{A5F2836A-8517-2C7E-1255-FDF602A066F1}"/>
              </a:ext>
            </a:extLst>
          </p:cNvPr>
          <p:cNvSpPr txBox="1"/>
          <p:nvPr/>
        </p:nvSpPr>
        <p:spPr>
          <a:xfrm>
            <a:off x="5568133" y="33045"/>
            <a:ext cx="6376639" cy="461665"/>
          </a:xfrm>
          <a:prstGeom prst="rect">
            <a:avLst/>
          </a:prstGeom>
          <a:noFill/>
        </p:spPr>
        <p:txBody>
          <a:bodyPr wrap="square" rtlCol="0">
            <a:spAutoFit/>
          </a:bodyPr>
          <a:lstStyle/>
          <a:p>
            <a:r>
              <a:rPr lang="en-US" sz="1200" dirty="0"/>
              <a:t>Documentation </a:t>
            </a:r>
            <a:r>
              <a:rPr lang="en-DE" sz="1200" b="1" dirty="0"/>
              <a:t>pandas.DataFrame.merge</a:t>
            </a:r>
          </a:p>
          <a:p>
            <a:r>
              <a:rPr lang="en-US" sz="1200" dirty="0"/>
              <a:t>https://</a:t>
            </a:r>
            <a:r>
              <a:rPr lang="en-US" sz="1200" dirty="0" err="1"/>
              <a:t>pandas.pydata.org</a:t>
            </a:r>
            <a:r>
              <a:rPr lang="en-US" sz="1200" dirty="0"/>
              <a:t>/pandas-docs/stable/reference/</a:t>
            </a:r>
            <a:r>
              <a:rPr lang="en-US" sz="1200" dirty="0" err="1"/>
              <a:t>api</a:t>
            </a:r>
            <a:r>
              <a:rPr lang="en-US" sz="1200" dirty="0"/>
              <a:t>/</a:t>
            </a:r>
            <a:r>
              <a:rPr lang="en-US" sz="1200" dirty="0" err="1"/>
              <a:t>pandas.DataFrame.merge.html</a:t>
            </a:r>
            <a:endParaRPr lang="en-US" sz="1200" dirty="0"/>
          </a:p>
        </p:txBody>
      </p:sp>
    </p:spTree>
    <p:extLst>
      <p:ext uri="{BB962C8B-B14F-4D97-AF65-F5344CB8AC3E}">
        <p14:creationId xmlns:p14="http://schemas.microsoft.com/office/powerpoint/2010/main" val="2358457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A7C3C3-A34B-2C1B-AFAF-95BBB01B37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DB55B7-96A4-7407-71E5-41C1C1861E89}"/>
              </a:ext>
            </a:extLst>
          </p:cNvPr>
          <p:cNvSpPr>
            <a:spLocks noGrp="1"/>
          </p:cNvSpPr>
          <p:nvPr>
            <p:ph type="title"/>
          </p:nvPr>
        </p:nvSpPr>
        <p:spPr/>
        <p:txBody>
          <a:bodyPr/>
          <a:lstStyle/>
          <a:p>
            <a:r>
              <a:rPr lang="en-US" dirty="0"/>
              <a:t>Solution join operation</a:t>
            </a:r>
          </a:p>
        </p:txBody>
      </p:sp>
      <p:pic>
        <p:nvPicPr>
          <p:cNvPr id="6" name="Picture 5">
            <a:extLst>
              <a:ext uri="{FF2B5EF4-FFF2-40B4-BE49-F238E27FC236}">
                <a16:creationId xmlns:a16="http://schemas.microsoft.com/office/drawing/2014/main" id="{A36ED006-1AFD-B9F5-B686-16C7E5FC5694}"/>
              </a:ext>
            </a:extLst>
          </p:cNvPr>
          <p:cNvPicPr>
            <a:picLocks noChangeAspect="1"/>
          </p:cNvPicPr>
          <p:nvPr/>
        </p:nvPicPr>
        <p:blipFill>
          <a:blip r:embed="rId2"/>
          <a:stretch>
            <a:fillRect/>
          </a:stretch>
        </p:blipFill>
        <p:spPr>
          <a:xfrm>
            <a:off x="349838" y="3097150"/>
            <a:ext cx="8294295" cy="3056818"/>
          </a:xfrm>
          <a:prstGeom prst="rect">
            <a:avLst/>
          </a:prstGeom>
        </p:spPr>
      </p:pic>
      <p:pic>
        <p:nvPicPr>
          <p:cNvPr id="7" name="Picture 6">
            <a:extLst>
              <a:ext uri="{FF2B5EF4-FFF2-40B4-BE49-F238E27FC236}">
                <a16:creationId xmlns:a16="http://schemas.microsoft.com/office/drawing/2014/main" id="{C4E6F0D8-613A-774C-A082-31B3A62FD088}"/>
              </a:ext>
            </a:extLst>
          </p:cNvPr>
          <p:cNvPicPr>
            <a:picLocks noChangeAspect="1"/>
          </p:cNvPicPr>
          <p:nvPr/>
        </p:nvPicPr>
        <p:blipFill>
          <a:blip r:embed="rId3"/>
          <a:stretch>
            <a:fillRect/>
          </a:stretch>
        </p:blipFill>
        <p:spPr>
          <a:xfrm>
            <a:off x="609480" y="1650044"/>
            <a:ext cx="7188200" cy="952500"/>
          </a:xfrm>
          <a:prstGeom prst="rect">
            <a:avLst/>
          </a:prstGeom>
        </p:spPr>
      </p:pic>
      <p:sp>
        <p:nvSpPr>
          <p:cNvPr id="3" name="TextBox 2">
            <a:extLst>
              <a:ext uri="{FF2B5EF4-FFF2-40B4-BE49-F238E27FC236}">
                <a16:creationId xmlns:a16="http://schemas.microsoft.com/office/drawing/2014/main" id="{020C15BC-0ABA-32CD-04C9-7E5D8CC3BAD9}"/>
              </a:ext>
            </a:extLst>
          </p:cNvPr>
          <p:cNvSpPr txBox="1"/>
          <p:nvPr/>
        </p:nvSpPr>
        <p:spPr>
          <a:xfrm>
            <a:off x="8907543" y="1072377"/>
            <a:ext cx="2736647" cy="923330"/>
          </a:xfrm>
          <a:prstGeom prst="rect">
            <a:avLst/>
          </a:prstGeom>
          <a:solidFill>
            <a:srgbClr val="FFC862">
              <a:alpha val="45882"/>
            </a:srgbClr>
          </a:solidFill>
          <a:ln>
            <a:solidFill>
              <a:srgbClr val="FFAE11"/>
            </a:solidFill>
            <a:prstDash val="dash"/>
          </a:ln>
        </p:spPr>
        <p:txBody>
          <a:bodyPr wrap="none" rtlCol="0">
            <a:spAutoFit/>
          </a:bodyPr>
          <a:lstStyle/>
          <a:p>
            <a:r>
              <a:rPr lang="en-DE" dirty="0"/>
              <a:t>column or index level</a:t>
            </a:r>
          </a:p>
          <a:p>
            <a:r>
              <a:rPr lang="en-DE" dirty="0"/>
              <a:t>names to join on,</a:t>
            </a:r>
          </a:p>
          <a:p>
            <a:r>
              <a:rPr lang="en-DE" dirty="0"/>
              <a:t>found in both dataframes</a:t>
            </a:r>
            <a:endParaRPr lang="en-US" dirty="0"/>
          </a:p>
        </p:txBody>
      </p:sp>
      <p:sp>
        <p:nvSpPr>
          <p:cNvPr id="4" name="TextBox 3">
            <a:extLst>
              <a:ext uri="{FF2B5EF4-FFF2-40B4-BE49-F238E27FC236}">
                <a16:creationId xmlns:a16="http://schemas.microsoft.com/office/drawing/2014/main" id="{6C12EF22-7774-CE87-9CFD-3A0A726A3CC1}"/>
              </a:ext>
            </a:extLst>
          </p:cNvPr>
          <p:cNvSpPr txBox="1"/>
          <p:nvPr/>
        </p:nvSpPr>
        <p:spPr>
          <a:xfrm>
            <a:off x="8907543" y="2360389"/>
            <a:ext cx="2736647" cy="1477328"/>
          </a:xfrm>
          <a:prstGeom prst="rect">
            <a:avLst/>
          </a:prstGeom>
          <a:solidFill>
            <a:srgbClr val="FFC862">
              <a:alpha val="45882"/>
            </a:srgbClr>
          </a:solidFill>
          <a:ln>
            <a:solidFill>
              <a:srgbClr val="FFAE11"/>
            </a:solidFill>
            <a:prstDash val="dash"/>
          </a:ln>
        </p:spPr>
        <p:txBody>
          <a:bodyPr wrap="square" rtlCol="0">
            <a:spAutoFit/>
          </a:bodyPr>
          <a:lstStyle/>
          <a:p>
            <a:r>
              <a:rPr lang="en-DE" dirty="0"/>
              <a:t>type of merge to be performed. Here t</a:t>
            </a:r>
            <a:r>
              <a:rPr lang="en-GB" dirty="0"/>
              <a:t>he</a:t>
            </a:r>
            <a:r>
              <a:rPr lang="en-DE" dirty="0"/>
              <a:t> keys and the order  of the left dataframe </a:t>
            </a:r>
            <a:r>
              <a:rPr lang="en-US" dirty="0" err="1">
                <a:solidFill>
                  <a:srgbClr val="000000"/>
                </a:solidFill>
                <a:latin typeface="Courier New" panose="02070309020205020404" pitchFamily="49" charset="0"/>
                <a:cs typeface="Courier New" panose="02070309020205020404" pitchFamily="49" charset="0"/>
              </a:rPr>
              <a:t>df_patients</a:t>
            </a:r>
            <a:r>
              <a:rPr lang="en-DE" dirty="0">
                <a:solidFill>
                  <a:srgbClr val="000000"/>
                </a:solidFill>
                <a:latin typeface="Courier New" panose="02070309020205020404" pitchFamily="49" charset="0"/>
                <a:cs typeface="Courier New" panose="02070309020205020404" pitchFamily="49" charset="0"/>
              </a:rPr>
              <a:t> </a:t>
            </a:r>
            <a:r>
              <a:rPr lang="en-GB" dirty="0" err="1"/>
              <a:t>ar</a:t>
            </a:r>
            <a:r>
              <a:rPr lang="en-DE" dirty="0"/>
              <a:t>e kept</a:t>
            </a:r>
          </a:p>
        </p:txBody>
      </p:sp>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ED72F2F6-C516-85D3-CBF7-649AFCF72069}"/>
                  </a:ext>
                </a:extLst>
              </p14:cNvPr>
              <p14:cNvContentPartPr/>
              <p14:nvPr/>
            </p14:nvContentPartPr>
            <p14:xfrm>
              <a:off x="7627493" y="829835"/>
              <a:ext cx="1800" cy="1800"/>
            </p14:xfrm>
          </p:contentPart>
        </mc:Choice>
        <mc:Fallback xmlns="">
          <p:pic>
            <p:nvPicPr>
              <p:cNvPr id="12" name="Ink 11">
                <a:extLst>
                  <a:ext uri="{FF2B5EF4-FFF2-40B4-BE49-F238E27FC236}">
                    <a16:creationId xmlns:a16="http://schemas.microsoft.com/office/drawing/2014/main" id="{ED72F2F6-C516-85D3-CBF7-649AFCF72069}"/>
                  </a:ext>
                </a:extLst>
              </p:cNvPr>
              <p:cNvPicPr/>
              <p:nvPr/>
            </p:nvPicPr>
            <p:blipFill>
              <a:blip r:embed="rId5"/>
              <a:stretch>
                <a:fillRect/>
              </a:stretch>
            </p:blipFill>
            <p:spPr>
              <a:xfrm>
                <a:off x="7618853" y="820835"/>
                <a:ext cx="19440" cy="1944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900C439F-8E1B-CAA9-5473-6B3CCCED64E9}"/>
                  </a:ext>
                </a:extLst>
              </p14:cNvPr>
              <p14:cNvContentPartPr/>
              <p14:nvPr/>
            </p14:nvContentPartPr>
            <p14:xfrm>
              <a:off x="8536133" y="1536515"/>
              <a:ext cx="220320" cy="216360"/>
            </p14:xfrm>
          </p:contentPart>
        </mc:Choice>
        <mc:Fallback xmlns="">
          <p:pic>
            <p:nvPicPr>
              <p:cNvPr id="16" name="Ink 15">
                <a:extLst>
                  <a:ext uri="{FF2B5EF4-FFF2-40B4-BE49-F238E27FC236}">
                    <a16:creationId xmlns:a16="http://schemas.microsoft.com/office/drawing/2014/main" id="{900C439F-8E1B-CAA9-5473-6B3CCCED64E9}"/>
                  </a:ext>
                </a:extLst>
              </p:cNvPr>
              <p:cNvPicPr/>
              <p:nvPr/>
            </p:nvPicPr>
            <p:blipFill>
              <a:blip r:embed="rId7"/>
              <a:stretch>
                <a:fillRect/>
              </a:stretch>
            </p:blipFill>
            <p:spPr>
              <a:xfrm>
                <a:off x="8518493" y="1518515"/>
                <a:ext cx="255960" cy="2520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3" name="Ink 22">
                <a:extLst>
                  <a:ext uri="{FF2B5EF4-FFF2-40B4-BE49-F238E27FC236}">
                    <a16:creationId xmlns:a16="http://schemas.microsoft.com/office/drawing/2014/main" id="{A73D8E3C-4B1F-A675-4040-E91D14148ED6}"/>
                  </a:ext>
                </a:extLst>
              </p14:cNvPr>
              <p14:cNvContentPartPr/>
              <p14:nvPr/>
            </p14:nvContentPartPr>
            <p14:xfrm>
              <a:off x="7238333" y="1618595"/>
              <a:ext cx="1405800" cy="451080"/>
            </p14:xfrm>
          </p:contentPart>
        </mc:Choice>
        <mc:Fallback xmlns="">
          <p:pic>
            <p:nvPicPr>
              <p:cNvPr id="23" name="Ink 22">
                <a:extLst>
                  <a:ext uri="{FF2B5EF4-FFF2-40B4-BE49-F238E27FC236}">
                    <a16:creationId xmlns:a16="http://schemas.microsoft.com/office/drawing/2014/main" id="{A73D8E3C-4B1F-A675-4040-E91D14148ED6}"/>
                  </a:ext>
                </a:extLst>
              </p:cNvPr>
              <p:cNvPicPr/>
              <p:nvPr/>
            </p:nvPicPr>
            <p:blipFill>
              <a:blip r:embed="rId9"/>
              <a:stretch>
                <a:fillRect/>
              </a:stretch>
            </p:blipFill>
            <p:spPr>
              <a:xfrm>
                <a:off x="7220693" y="1600955"/>
                <a:ext cx="1441440" cy="486720"/>
              </a:xfrm>
              <a:prstGeom prst="rect">
                <a:avLst/>
              </a:prstGeom>
            </p:spPr>
          </p:pic>
        </mc:Fallback>
      </mc:AlternateContent>
      <p:sp>
        <p:nvSpPr>
          <p:cNvPr id="24" name="TextBox 23">
            <a:extLst>
              <a:ext uri="{FF2B5EF4-FFF2-40B4-BE49-F238E27FC236}">
                <a16:creationId xmlns:a16="http://schemas.microsoft.com/office/drawing/2014/main" id="{D960EAE3-4C7D-717E-4416-C2828514A625}"/>
              </a:ext>
            </a:extLst>
          </p:cNvPr>
          <p:cNvSpPr txBox="1"/>
          <p:nvPr/>
        </p:nvSpPr>
        <p:spPr>
          <a:xfrm>
            <a:off x="5568133" y="33045"/>
            <a:ext cx="6376639" cy="461665"/>
          </a:xfrm>
          <a:prstGeom prst="rect">
            <a:avLst/>
          </a:prstGeom>
          <a:noFill/>
        </p:spPr>
        <p:txBody>
          <a:bodyPr wrap="square" rtlCol="0">
            <a:spAutoFit/>
          </a:bodyPr>
          <a:lstStyle/>
          <a:p>
            <a:r>
              <a:rPr lang="en-US" sz="1200" dirty="0"/>
              <a:t>Documentation </a:t>
            </a:r>
            <a:r>
              <a:rPr lang="en-DE" sz="1200" b="1" dirty="0"/>
              <a:t>pandas.DataFrame.merge</a:t>
            </a:r>
          </a:p>
          <a:p>
            <a:r>
              <a:rPr lang="en-US" sz="1200" dirty="0"/>
              <a:t>https://</a:t>
            </a:r>
            <a:r>
              <a:rPr lang="en-US" sz="1200" dirty="0" err="1"/>
              <a:t>pandas.pydata.org</a:t>
            </a:r>
            <a:r>
              <a:rPr lang="en-US" sz="1200" dirty="0"/>
              <a:t>/pandas-docs/stable/reference/</a:t>
            </a:r>
            <a:r>
              <a:rPr lang="en-US" sz="1200" dirty="0" err="1"/>
              <a:t>api</a:t>
            </a:r>
            <a:r>
              <a:rPr lang="en-US" sz="1200" dirty="0"/>
              <a:t>/</a:t>
            </a:r>
            <a:r>
              <a:rPr lang="en-US" sz="1200" dirty="0" err="1"/>
              <a:t>pandas.DataFrame.merge.html</a:t>
            </a:r>
            <a:endParaRPr lang="en-US" sz="1200" dirty="0"/>
          </a:p>
        </p:txBody>
      </p:sp>
      <p:pic>
        <p:nvPicPr>
          <p:cNvPr id="8" name="Graphic 7">
            <a:extLst>
              <a:ext uri="{FF2B5EF4-FFF2-40B4-BE49-F238E27FC236}">
                <a16:creationId xmlns:a16="http://schemas.microsoft.com/office/drawing/2014/main" id="{C9CCE741-1563-7EA5-065E-0844CA25C4CD}"/>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7189028" y="2027155"/>
            <a:ext cx="5002971" cy="4145319"/>
          </a:xfrm>
          <a:prstGeom prst="rect">
            <a:avLst/>
          </a:prstGeom>
        </p:spPr>
      </p:pic>
      <p:sp>
        <p:nvSpPr>
          <p:cNvPr id="9" name="TextBox 8">
            <a:extLst>
              <a:ext uri="{FF2B5EF4-FFF2-40B4-BE49-F238E27FC236}">
                <a16:creationId xmlns:a16="http://schemas.microsoft.com/office/drawing/2014/main" id="{9B610F02-6FF1-35AD-081E-F11DA6EF8904}"/>
              </a:ext>
            </a:extLst>
          </p:cNvPr>
          <p:cNvSpPr txBox="1"/>
          <p:nvPr/>
        </p:nvSpPr>
        <p:spPr>
          <a:xfrm>
            <a:off x="7627493" y="974314"/>
            <a:ext cx="4564506" cy="1077218"/>
          </a:xfrm>
          <a:prstGeom prst="rect">
            <a:avLst/>
          </a:prstGeom>
          <a:solidFill>
            <a:schemeClr val="bg1"/>
          </a:solidFill>
        </p:spPr>
        <p:txBody>
          <a:bodyPr wrap="square" rtlCol="0">
            <a:spAutoFit/>
          </a:bodyPr>
          <a:lstStyle/>
          <a:p>
            <a:endParaRPr lang="bg-BG" sz="1600" dirty="0">
              <a:solidFill>
                <a:srgbClr val="800080"/>
              </a:solidFill>
            </a:endParaRPr>
          </a:p>
          <a:p>
            <a:r>
              <a:rPr lang="bg-BG" sz="1600" dirty="0">
                <a:solidFill>
                  <a:srgbClr val="800080"/>
                </a:solidFill>
              </a:rPr>
              <a:t>   </a:t>
            </a:r>
            <a:r>
              <a:rPr lang="en-DE" sz="1600" dirty="0">
                <a:solidFill>
                  <a:srgbClr val="800080"/>
                </a:solidFill>
              </a:rPr>
              <a:t>two for-loops: 	</a:t>
            </a:r>
            <a:r>
              <a:rPr lang="en-GB" sz="1600" dirty="0">
                <a:solidFill>
                  <a:srgbClr val="800080"/>
                </a:solidFill>
              </a:rPr>
              <a:t>O(N*M)</a:t>
            </a:r>
            <a:endParaRPr lang="en-DE" sz="1600" dirty="0">
              <a:solidFill>
                <a:srgbClr val="800080"/>
              </a:solidFill>
            </a:endParaRPr>
          </a:p>
          <a:p>
            <a:r>
              <a:rPr lang="bg-BG" sz="1600" dirty="0">
                <a:solidFill>
                  <a:srgbClr val="008001"/>
                </a:solidFill>
              </a:rPr>
              <a:t>   </a:t>
            </a:r>
            <a:r>
              <a:rPr lang="en-GB" sz="1600" dirty="0">
                <a:solidFill>
                  <a:srgbClr val="008001"/>
                </a:solidFill>
              </a:rPr>
              <a:t>s</a:t>
            </a:r>
            <a:r>
              <a:rPr lang="en-DE" sz="1600" dirty="0">
                <a:solidFill>
                  <a:srgbClr val="008001"/>
                </a:solidFill>
              </a:rPr>
              <a:t>orted for loop:	</a:t>
            </a:r>
            <a:r>
              <a:rPr lang="en-GB" sz="1600" dirty="0">
                <a:solidFill>
                  <a:srgbClr val="008001"/>
                </a:solidFill>
              </a:rPr>
              <a:t>O(N log N + M log M)</a:t>
            </a:r>
            <a:endParaRPr lang="en-DE" sz="1600" dirty="0">
              <a:solidFill>
                <a:srgbClr val="008001"/>
              </a:solidFill>
            </a:endParaRPr>
          </a:p>
          <a:p>
            <a:r>
              <a:rPr lang="bg-BG" sz="1600" dirty="0">
                <a:solidFill>
                  <a:srgbClr val="FFA500"/>
                </a:solidFill>
              </a:rPr>
              <a:t>   </a:t>
            </a:r>
            <a:r>
              <a:rPr lang="en-GB" sz="1600" dirty="0">
                <a:solidFill>
                  <a:srgbClr val="FFA500"/>
                </a:solidFill>
              </a:rPr>
              <a:t>join operation</a:t>
            </a:r>
            <a:r>
              <a:rPr lang="en-DE" sz="1600" dirty="0">
                <a:solidFill>
                  <a:srgbClr val="FFA500"/>
                </a:solidFill>
              </a:rPr>
              <a:t>:	O (N + M)</a:t>
            </a:r>
            <a:endParaRPr lang="en-US" sz="1600" dirty="0">
              <a:solidFill>
                <a:srgbClr val="FFA500"/>
              </a:solidFill>
            </a:endParaRPr>
          </a:p>
        </p:txBody>
      </p:sp>
    </p:spTree>
    <p:extLst>
      <p:ext uri="{BB962C8B-B14F-4D97-AF65-F5344CB8AC3E}">
        <p14:creationId xmlns:p14="http://schemas.microsoft.com/office/powerpoint/2010/main" val="40738449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9" name="PlaceHolder 2"/>
          <p:cNvSpPr>
            <a:spLocks noGrp="1"/>
          </p:cNvSpPr>
          <p:nvPr>
            <p:ph type="body"/>
          </p:nvPr>
        </p:nvSpPr>
        <p:spPr>
          <a:prstGeom prst="rect">
            <a:avLst/>
          </a:prstGeom>
          <a:noFill/>
          <a:ln w="0">
            <a:noFill/>
          </a:ln>
        </p:spPr>
        <p:txBody>
          <a:bodyPr lIns="90000" tIns="45000" rIns="90000" bIns="45000" anchor="t">
            <a:normAutofit/>
          </a:bodyPr>
          <a:lstStyle/>
          <a:p>
            <a:pPr marL="214920" indent="-214920">
              <a:lnSpc>
                <a:spcPct val="90000"/>
              </a:lnSpc>
              <a:spcBef>
                <a:spcPts val="1001"/>
              </a:spcBef>
              <a:buClr>
                <a:srgbClr val="000000"/>
              </a:buClr>
              <a:buFont typeface="Arial"/>
              <a:buChar char="•"/>
            </a:pPr>
            <a:r>
              <a:rPr lang="en-CH" sz="2800" b="0" u="none" strike="noStrike" dirty="0">
                <a:solidFill>
                  <a:srgbClr val="000000"/>
                </a:solidFill>
                <a:effectLst/>
                <a:uFillTx/>
                <a:latin typeface="Calibri" panose="020F0502020204030204" pitchFamily="34" charset="0"/>
                <a:ea typeface="DejaVu Sans"/>
                <a:cs typeface="Calibri" panose="020F0502020204030204" pitchFamily="34" charset="0"/>
              </a:rPr>
              <a:t>Combine information across tables (</a:t>
            </a:r>
            <a:r>
              <a:rPr lang="en-CH" sz="2800" b="1" u="none" strike="noStrike" dirty="0">
                <a:solidFill>
                  <a:srgbClr val="000000"/>
                </a:solidFill>
                <a:effectLst/>
                <a:uFillTx/>
                <a:latin typeface="Calibri" panose="020F0502020204030204" pitchFamily="34" charset="0"/>
                <a:ea typeface="DejaVu Sans"/>
                <a:cs typeface="Calibri" panose="020F0502020204030204" pitchFamily="34" charset="0"/>
              </a:rPr>
              <a:t>join, anti-join</a:t>
            </a:r>
            <a:r>
              <a:rPr lang="en-CH" sz="2800" b="0" u="none" strike="noStrike" dirty="0">
                <a:solidFill>
                  <a:srgbClr val="000000"/>
                </a:solidFill>
                <a:effectLst/>
                <a:uFillTx/>
                <a:latin typeface="Calibri" panose="020F0502020204030204" pitchFamily="34" charset="0"/>
                <a:ea typeface="DejaVu Sans"/>
                <a:cs typeface="Calibri" panose="020F0502020204030204" pitchFamily="34" charset="0"/>
              </a:rPr>
              <a:t>)</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49800" lvl="1" indent="-214920">
              <a:lnSpc>
                <a:spcPct val="90000"/>
              </a:lnSpc>
              <a:spcBef>
                <a:spcPts val="499"/>
              </a:spcBef>
              <a:buClr>
                <a:srgbClr val="000000"/>
              </a:buClr>
              <a:buFont typeface="Arial"/>
              <a:buChar char="•"/>
              <a:tabLst>
                <a:tab pos="0" algn="l"/>
              </a:tabLst>
            </a:pPr>
            <a:r>
              <a:rPr lang="en-CH" sz="2200" b="1" u="none" strike="noStrike" dirty="0">
                <a:solidFill>
                  <a:srgbClr val="000000"/>
                </a:solidFill>
                <a:effectLst/>
                <a:uFillTx/>
                <a:latin typeface="Calibri" panose="020F0502020204030204" pitchFamily="34" charset="0"/>
                <a:ea typeface="DejaVu Sans"/>
                <a:cs typeface="Calibri" panose="020F0502020204030204" pitchFamily="34" charset="0"/>
              </a:rPr>
              <a:t>Join</a:t>
            </a:r>
            <a:r>
              <a:rPr lang="en-CH" sz="2200" b="0" u="none" strike="noStrike" dirty="0">
                <a:solidFill>
                  <a:srgbClr val="000000"/>
                </a:solidFill>
                <a:effectLst/>
                <a:uFillTx/>
                <a:latin typeface="Calibri" panose="020F0502020204030204" pitchFamily="34" charset="0"/>
                <a:ea typeface="DejaVu Sans"/>
                <a:cs typeface="Calibri" panose="020F0502020204030204" pitchFamily="34" charset="0"/>
              </a:rPr>
              <a:t>: e.g., combine table with experiments results with table with experiments metadata (date, location, experimenter, free-form notes, …)</a:t>
            </a:r>
            <a:endParaRPr lang="en-GB" sz="2200" b="0" u="none" strike="noStrike" dirty="0">
              <a:solidFill>
                <a:srgbClr val="000000"/>
              </a:solidFill>
              <a:effectLst/>
              <a:uFillTx/>
              <a:latin typeface="Calibri" panose="020F0502020204030204" pitchFamily="34" charset="0"/>
              <a:cs typeface="Calibri" panose="020F0502020204030204" pitchFamily="34" charset="0"/>
            </a:endParaRPr>
          </a:p>
          <a:p>
            <a:pPr marL="649800" lvl="1" indent="-214920">
              <a:lnSpc>
                <a:spcPct val="90000"/>
              </a:lnSpc>
              <a:spcBef>
                <a:spcPts val="499"/>
              </a:spcBef>
              <a:buClr>
                <a:srgbClr val="000000"/>
              </a:buClr>
              <a:buFont typeface="Arial"/>
              <a:buChar char="•"/>
              <a:tabLst>
                <a:tab pos="0" algn="l"/>
              </a:tabLst>
            </a:pPr>
            <a:r>
              <a:rPr lang="en-CH" sz="2200" b="1" u="none" strike="noStrike" dirty="0">
                <a:solidFill>
                  <a:srgbClr val="000000"/>
                </a:solidFill>
                <a:effectLst/>
                <a:uFillTx/>
                <a:latin typeface="Calibri" panose="020F0502020204030204" pitchFamily="34" charset="0"/>
                <a:ea typeface="DejaVu Sans"/>
                <a:cs typeface="Calibri" panose="020F0502020204030204" pitchFamily="34" charset="0"/>
              </a:rPr>
              <a:t>Anti-join</a:t>
            </a:r>
            <a:r>
              <a:rPr lang="en-CH" sz="2200" b="0" u="none" strike="noStrike" dirty="0">
                <a:solidFill>
                  <a:srgbClr val="000000"/>
                </a:solidFill>
                <a:effectLst/>
                <a:uFillTx/>
                <a:latin typeface="Calibri" panose="020F0502020204030204" pitchFamily="34" charset="0"/>
                <a:ea typeface="DejaVu Sans"/>
                <a:cs typeface="Calibri" panose="020F0502020204030204" pitchFamily="34" charset="0"/>
              </a:rPr>
              <a:t>: e.g. student compiles list of outliers, exclude them from t</a:t>
            </a:r>
            <a:r>
              <a:rPr lang="en-US" sz="2200" b="0" u="none" strike="noStrike" dirty="0">
                <a:solidFill>
                  <a:srgbClr val="000000"/>
                </a:solidFill>
                <a:effectLst/>
                <a:uFillTx/>
                <a:latin typeface="Calibri" panose="020F0502020204030204" pitchFamily="34" charset="0"/>
                <a:ea typeface="DejaVu Sans"/>
                <a:cs typeface="Calibri" panose="020F0502020204030204" pitchFamily="34" charset="0"/>
              </a:rPr>
              <a:t>h</a:t>
            </a:r>
            <a:r>
              <a:rPr lang="en-CH" sz="2200" b="0" u="none" strike="noStrike" dirty="0">
                <a:solidFill>
                  <a:srgbClr val="000000"/>
                </a:solidFill>
                <a:effectLst/>
                <a:uFillTx/>
                <a:latin typeface="Calibri" panose="020F0502020204030204" pitchFamily="34" charset="0"/>
                <a:ea typeface="DejaVu Sans"/>
                <a:cs typeface="Calibri" panose="020F0502020204030204" pitchFamily="34" charset="0"/>
              </a:rPr>
              <a:t>e table of experiments to analyz</a:t>
            </a:r>
            <a:r>
              <a:rPr lang="en-US" sz="2200" b="0" u="none" strike="noStrike" dirty="0">
                <a:solidFill>
                  <a:srgbClr val="000000"/>
                </a:solidFill>
                <a:effectLst/>
                <a:uFillTx/>
                <a:latin typeface="Calibri" panose="020F0502020204030204" pitchFamily="34" charset="0"/>
                <a:ea typeface="DejaVu Sans"/>
                <a:cs typeface="Calibri" panose="020F0502020204030204" pitchFamily="34" charset="0"/>
              </a:rPr>
              <a:t>e</a:t>
            </a:r>
            <a:r>
              <a:rPr lang="en-CH" sz="2800" b="0" u="none" strike="noStrike" dirty="0">
                <a:solidFill>
                  <a:srgbClr val="FFFFFF"/>
                </a:solidFill>
                <a:effectLst/>
                <a:uFillTx/>
                <a:latin typeface="Calibri" panose="020F0502020204030204" pitchFamily="34" charset="0"/>
                <a:ea typeface="DejaVu Sans"/>
                <a:cs typeface="Calibri" panose="020F0502020204030204" pitchFamily="34" charset="0"/>
              </a:rPr>
              <a:t> vectorized ope</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indent="0">
              <a:lnSpc>
                <a:spcPct val="90000"/>
              </a:lnSpc>
              <a:spcBef>
                <a:spcPts val="1417"/>
              </a:spcBef>
              <a:buNone/>
              <a:tabLst>
                <a:tab pos="0" algn="l"/>
              </a:tabLst>
            </a:pP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indent="0">
              <a:lnSpc>
                <a:spcPct val="90000"/>
              </a:lnSpc>
              <a:spcBef>
                <a:spcPts val="1417"/>
              </a:spcBef>
              <a:buNone/>
              <a:tabLst>
                <a:tab pos="0" algn="l"/>
              </a:tabLst>
            </a:pP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indent="0">
              <a:lnSpc>
                <a:spcPct val="90000"/>
              </a:lnSpc>
              <a:spcBef>
                <a:spcPts val="1417"/>
              </a:spcBef>
              <a:buNone/>
              <a:tabLst>
                <a:tab pos="0" algn="l"/>
              </a:tabLst>
            </a:pP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indent="0">
              <a:lnSpc>
                <a:spcPct val="90000"/>
              </a:lnSpc>
              <a:spcBef>
                <a:spcPts val="1417"/>
              </a:spcBef>
              <a:buNone/>
              <a:tabLst>
                <a:tab pos="0" algn="l"/>
              </a:tabLst>
            </a:pP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indent="0">
              <a:lnSpc>
                <a:spcPct val="90000"/>
              </a:lnSpc>
              <a:spcBef>
                <a:spcPts val="1417"/>
              </a:spcBef>
              <a:buNone/>
              <a:tabLst>
                <a:tab pos="0" algn="l"/>
              </a:tabLst>
            </a:pP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indent="0">
              <a:lnSpc>
                <a:spcPct val="90000"/>
              </a:lnSpc>
              <a:spcBef>
                <a:spcPts val="1417"/>
              </a:spcBef>
              <a:buNone/>
              <a:tabLst>
                <a:tab pos="0" algn="l"/>
              </a:tabLst>
            </a:pP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16" name="PlaceHolder 2">
            <a:extLst>
              <a:ext uri="{FF2B5EF4-FFF2-40B4-BE49-F238E27FC236}">
                <a16:creationId xmlns:a16="http://schemas.microsoft.com/office/drawing/2014/main" id="{484A99D9-4E65-213C-D70C-5D4F36B8A508}"/>
              </a:ext>
            </a:extLst>
          </p:cNvPr>
          <p:cNvSpPr>
            <a:spLocks noGrp="1"/>
          </p:cNvSpPr>
          <p:nvPr>
            <p:ph type="ftr" idx="1"/>
          </p:nvPr>
        </p:nvSpPr>
        <p:spPr/>
        <p:txBody>
          <a:bodyPr/>
          <a:lstStyle/>
          <a:p>
            <a:r>
              <a:rPr lang="en-US" dirty="0"/>
              <a:t>Tab, v3.0</a:t>
            </a:r>
            <a:endParaRPr dirty="0"/>
          </a:p>
        </p:txBody>
      </p:sp>
      <p:sp>
        <p:nvSpPr>
          <p:cNvPr id="6" name="PlaceHolder 5"/>
          <p:cNvSpPr>
            <a:spLocks noGrp="1"/>
          </p:cNvSpPr>
          <p:nvPr>
            <p:ph type="sldNum" idx="2"/>
          </p:nvPr>
        </p:nvSpPr>
        <p:spPr/>
        <p:txBody>
          <a:bodyPr/>
          <a:lstStyle/>
          <a:p>
            <a:fld id="{E2CF6877-FF63-44A7-AB15-0859B560B298}" type="slidenum">
              <a:rPr/>
              <a:t>24</a:t>
            </a:fld>
            <a:endParaRPr dirty="0"/>
          </a:p>
        </p:txBody>
      </p:sp>
      <p:sp>
        <p:nvSpPr>
          <p:cNvPr id="278" name="PlaceHolder 1"/>
          <p:cNvSpPr>
            <a:spLocks noGrp="1"/>
          </p:cNvSpPr>
          <p:nvPr>
            <p:ph type="title"/>
          </p:nvPr>
        </p:nvSpPr>
        <p:spPr>
          <a:prstGeom prst="rect">
            <a:avLst/>
          </a:prstGeom>
          <a:noFill/>
          <a:ln w="0">
            <a:noFill/>
          </a:ln>
        </p:spPr>
        <p:txBody>
          <a:bodyPr lIns="90000" tIns="45000" rIns="90000" bIns="45000" anchor="ctr">
            <a:norm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Common operations on tabular data</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3" name="PlaceHolder 1">
            <a:extLst>
              <a:ext uri="{FF2B5EF4-FFF2-40B4-BE49-F238E27FC236}">
                <a16:creationId xmlns:a16="http://schemas.microsoft.com/office/drawing/2014/main" id="{261DD008-7834-43B4-2B49-44C32CAE392D}"/>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8B1F0-1C71-4267-A00F-207783F0C610}"/>
            </a:ext>
          </a:extLst>
        </p:cNvPr>
        <p:cNvGrpSpPr/>
        <p:nvPr/>
      </p:nvGrpSpPr>
      <p:grpSpPr>
        <a:xfrm>
          <a:off x="0" y="0"/>
          <a:ext cx="0" cy="0"/>
          <a:chOff x="0" y="0"/>
          <a:chExt cx="0" cy="0"/>
        </a:xfrm>
      </p:grpSpPr>
      <p:sp>
        <p:nvSpPr>
          <p:cNvPr id="279" name="PlaceHolder 2">
            <a:extLst>
              <a:ext uri="{FF2B5EF4-FFF2-40B4-BE49-F238E27FC236}">
                <a16:creationId xmlns:a16="http://schemas.microsoft.com/office/drawing/2014/main" id="{F5B47331-8654-319F-D1BF-666D3061FFE9}"/>
              </a:ext>
            </a:extLst>
          </p:cNvPr>
          <p:cNvSpPr>
            <a:spLocks noGrp="1"/>
          </p:cNvSpPr>
          <p:nvPr>
            <p:ph type="body"/>
          </p:nvPr>
        </p:nvSpPr>
        <p:spPr>
          <a:prstGeom prst="rect">
            <a:avLst/>
          </a:prstGeom>
          <a:noFill/>
          <a:ln w="0">
            <a:noFill/>
          </a:ln>
        </p:spPr>
        <p:txBody>
          <a:bodyPr lIns="90000" tIns="45000" rIns="90000" bIns="45000" anchor="t">
            <a:normAutofit/>
          </a:bodyPr>
          <a:lstStyle/>
          <a:p>
            <a:pPr marL="214920" indent="-214920">
              <a:lnSpc>
                <a:spcPct val="90000"/>
              </a:lnSpc>
              <a:spcBef>
                <a:spcPts val="1001"/>
              </a:spcBef>
              <a:buClr>
                <a:srgbClr val="000000"/>
              </a:buClr>
              <a:buFont typeface="Arial"/>
              <a:buChar char="•"/>
            </a:pP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Combine information across tables (</a:t>
            </a:r>
            <a:r>
              <a:rPr lang="en-CH" sz="2800" b="1" u="none" strike="noStrike">
                <a:solidFill>
                  <a:srgbClr val="000000"/>
                </a:solidFill>
                <a:effectLst/>
                <a:uFillTx/>
                <a:latin typeface="Calibri" panose="020F0502020204030204" pitchFamily="34" charset="0"/>
                <a:ea typeface="DejaVu Sans"/>
                <a:cs typeface="Calibri" panose="020F0502020204030204" pitchFamily="34" charset="0"/>
              </a:rPr>
              <a:t>join, anti-join</a:t>
            </a: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panose="020F0502020204030204" pitchFamily="34" charset="0"/>
                <a:ea typeface="DejaVu Sans"/>
                <a:cs typeface="Calibri" panose="020F0502020204030204" pitchFamily="34" charset="0"/>
              </a:rPr>
              <a:t>Join</a:t>
            </a:r>
            <a:r>
              <a:rPr lang="en-CH" sz="2200" b="0" u="none" strike="noStrike">
                <a:solidFill>
                  <a:srgbClr val="000000"/>
                </a:solidFill>
                <a:effectLst/>
                <a:uFillTx/>
                <a:latin typeface="Calibri" panose="020F0502020204030204" pitchFamily="34" charset="0"/>
                <a:ea typeface="DejaVu Sans"/>
                <a:cs typeface="Calibri" panose="020F0502020204030204" pitchFamily="34" charset="0"/>
              </a:rPr>
              <a:t>: e.g., combine table with experiments results with table with experiments metadata (date, location, experimenter, free-form notes, …)</a:t>
            </a:r>
            <a:endParaRPr lang="en-GB" sz="2200" b="0" u="none" strike="noStrike" dirty="0">
              <a:solidFill>
                <a:srgbClr val="000000"/>
              </a:solidFill>
              <a:effectLst/>
              <a:uFillTx/>
              <a:latin typeface="Calibri" panose="020F0502020204030204" pitchFamily="34" charset="0"/>
              <a:cs typeface="Calibri" panose="020F0502020204030204" pitchFamily="34" charset="0"/>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panose="020F0502020204030204" pitchFamily="34" charset="0"/>
                <a:ea typeface="DejaVu Sans"/>
                <a:cs typeface="Calibri" panose="020F0502020204030204" pitchFamily="34" charset="0"/>
              </a:rPr>
              <a:t>Anti-join</a:t>
            </a:r>
            <a:r>
              <a:rPr lang="en-CH" sz="2200" b="0" u="none" strike="noStrike">
                <a:solidFill>
                  <a:srgbClr val="000000"/>
                </a:solidFill>
                <a:effectLst/>
                <a:uFillTx/>
                <a:latin typeface="Calibri" panose="020F0502020204030204" pitchFamily="34" charset="0"/>
                <a:ea typeface="DejaVu Sans"/>
                <a:cs typeface="Calibri" panose="020F0502020204030204" pitchFamily="34" charset="0"/>
              </a:rPr>
              <a:t>: e.g. student compiles list of outliers, exclude them from t</a:t>
            </a:r>
            <a:r>
              <a:rPr lang="en-US" sz="2200" b="0" u="none" strike="noStrike" dirty="0">
                <a:solidFill>
                  <a:srgbClr val="000000"/>
                </a:solidFill>
                <a:effectLst/>
                <a:uFillTx/>
                <a:latin typeface="Calibri" panose="020F0502020204030204" pitchFamily="34" charset="0"/>
                <a:ea typeface="DejaVu Sans"/>
                <a:cs typeface="Calibri" panose="020F0502020204030204" pitchFamily="34" charset="0"/>
              </a:rPr>
              <a:t>h</a:t>
            </a:r>
            <a:r>
              <a:rPr lang="en-CH" sz="2200" b="0" u="none" strike="noStrike">
                <a:solidFill>
                  <a:srgbClr val="000000"/>
                </a:solidFill>
                <a:effectLst/>
                <a:uFillTx/>
                <a:latin typeface="Calibri" panose="020F0502020204030204" pitchFamily="34" charset="0"/>
                <a:ea typeface="DejaVu Sans"/>
                <a:cs typeface="Calibri" panose="020F0502020204030204" pitchFamily="34" charset="0"/>
              </a:rPr>
              <a:t>e table of experiments to analyze</a:t>
            </a:r>
            <a:endParaRPr lang="en-GB" sz="2200" b="0" u="none" strike="noStrike" dirty="0">
              <a:solidFill>
                <a:srgbClr val="000000"/>
              </a:solidFill>
              <a:effectLst/>
              <a:uFillTx/>
              <a:latin typeface="Calibri" panose="020F0502020204030204" pitchFamily="34" charset="0"/>
              <a:cs typeface="Calibri" panose="020F0502020204030204" pitchFamily="34" charset="0"/>
            </a:endParaRPr>
          </a:p>
          <a:p>
            <a:pPr marL="214920" indent="-214920">
              <a:lnSpc>
                <a:spcPct val="90000"/>
              </a:lnSpc>
              <a:spcBef>
                <a:spcPts val="1001"/>
              </a:spcBef>
              <a:buClr>
                <a:srgbClr val="000000"/>
              </a:buClr>
              <a:buFont typeface="Arial"/>
              <a:buChar char="•"/>
              <a:tabLst>
                <a:tab pos="0" algn="l"/>
              </a:tabLst>
            </a:pP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Summary tables (</a:t>
            </a:r>
            <a:r>
              <a:rPr lang="en-CH" sz="2800" b="1" u="none" strike="noStrike">
                <a:solidFill>
                  <a:srgbClr val="000000"/>
                </a:solidFill>
                <a:effectLst/>
                <a:uFillTx/>
                <a:latin typeface="Calibri" panose="020F0502020204030204" pitchFamily="34" charset="0"/>
                <a:ea typeface="DejaVu Sans"/>
                <a:cs typeface="Calibri" panose="020F0502020204030204" pitchFamily="34" charset="0"/>
              </a:rPr>
              <a:t>split-apply-combine</a:t>
            </a:r>
            <a:r>
              <a:rPr lang="en-CH" sz="2800" b="0" u="none" strike="noStrike">
                <a:solidFill>
                  <a:srgbClr val="000000"/>
                </a:solidFill>
                <a:effectLst/>
                <a:uFillTx/>
                <a:latin typeface="Calibri" panose="020F0502020204030204" pitchFamily="34" charset="0"/>
                <a:ea typeface="DejaVu Sans"/>
                <a:cs typeface="Calibri" panose="020F0502020204030204" pitchFamily="34" charset="0"/>
              </a:rPr>
              <a:t>)</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49800" lvl="1" indent="-214920">
              <a:lnSpc>
                <a:spcPct val="90000"/>
              </a:lnSpc>
              <a:spcBef>
                <a:spcPts val="499"/>
              </a:spcBef>
              <a:buClr>
                <a:srgbClr val="000000"/>
              </a:buClr>
              <a:buFont typeface="Arial"/>
              <a:buChar char="•"/>
              <a:tabLst>
                <a:tab pos="0" algn="l"/>
              </a:tabLst>
            </a:pPr>
            <a:r>
              <a:rPr lang="en-CH" sz="2200" b="0" u="none" strike="noStrike">
                <a:solidFill>
                  <a:srgbClr val="000000"/>
                </a:solidFill>
                <a:effectLst/>
                <a:uFillTx/>
                <a:latin typeface="Calibri" panose="020F0502020204030204" pitchFamily="34" charset="0"/>
                <a:ea typeface="DejaVu Sans"/>
                <a:cs typeface="Calibri" panose="020F0502020204030204" pitchFamily="34" charset="0"/>
              </a:rPr>
              <a:t>E.g., compute average measurement and standard deviation by experimental condition and treatment dosage</a:t>
            </a:r>
            <a:r>
              <a:rPr lang="en-CH" sz="2800" b="0" u="none" strike="noStrike">
                <a:solidFill>
                  <a:srgbClr val="FFFFFF"/>
                </a:solidFill>
                <a:effectLst/>
                <a:uFillTx/>
                <a:latin typeface="Calibri" panose="020F0502020204030204" pitchFamily="34" charset="0"/>
                <a:ea typeface="DejaVu Sans"/>
                <a:cs typeface="Calibri" panose="020F0502020204030204" pitchFamily="34" charset="0"/>
              </a:rPr>
              <a:t>use vectorized operations</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indent="0">
              <a:lnSpc>
                <a:spcPct val="90000"/>
              </a:lnSpc>
              <a:spcBef>
                <a:spcPts val="1417"/>
              </a:spcBef>
              <a:buNone/>
              <a:tabLst>
                <a:tab pos="0" algn="l"/>
              </a:tabLst>
            </a:pP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4" name="PlaceHolder 2">
            <a:extLst>
              <a:ext uri="{FF2B5EF4-FFF2-40B4-BE49-F238E27FC236}">
                <a16:creationId xmlns:a16="http://schemas.microsoft.com/office/drawing/2014/main" id="{36B00C36-2C4D-99D3-04D2-3AC65A2B5C36}"/>
              </a:ext>
            </a:extLst>
          </p:cNvPr>
          <p:cNvSpPr>
            <a:spLocks noGrp="1"/>
          </p:cNvSpPr>
          <p:nvPr>
            <p:ph type="ftr" idx="1"/>
          </p:nvPr>
        </p:nvSpPr>
        <p:spPr/>
        <p:txBody>
          <a:bodyPr/>
          <a:lstStyle/>
          <a:p>
            <a:r>
              <a:rPr lang="en-US" dirty="0"/>
              <a:t>Tab, v3.0</a:t>
            </a:r>
            <a:endParaRPr dirty="0"/>
          </a:p>
        </p:txBody>
      </p:sp>
      <p:sp>
        <p:nvSpPr>
          <p:cNvPr id="6" name="PlaceHolder 5">
            <a:extLst>
              <a:ext uri="{FF2B5EF4-FFF2-40B4-BE49-F238E27FC236}">
                <a16:creationId xmlns:a16="http://schemas.microsoft.com/office/drawing/2014/main" id="{39037126-DC85-0831-E152-FFB475D55563}"/>
              </a:ext>
            </a:extLst>
          </p:cNvPr>
          <p:cNvSpPr>
            <a:spLocks noGrp="1"/>
          </p:cNvSpPr>
          <p:nvPr>
            <p:ph type="sldNum" idx="2"/>
          </p:nvPr>
        </p:nvSpPr>
        <p:spPr/>
        <p:txBody>
          <a:bodyPr/>
          <a:lstStyle/>
          <a:p>
            <a:fld id="{E2CF6877-FF63-44A7-AB15-0859B560B298}" type="slidenum">
              <a:rPr/>
              <a:t>25</a:t>
            </a:fld>
            <a:endParaRPr/>
          </a:p>
        </p:txBody>
      </p:sp>
      <p:sp>
        <p:nvSpPr>
          <p:cNvPr id="278" name="PlaceHolder 1">
            <a:extLst>
              <a:ext uri="{FF2B5EF4-FFF2-40B4-BE49-F238E27FC236}">
                <a16:creationId xmlns:a16="http://schemas.microsoft.com/office/drawing/2014/main" id="{00EAAD72-4180-4FB6-BC7D-ECCDECF46F10}"/>
              </a:ext>
            </a:extLst>
          </p:cNvPr>
          <p:cNvSpPr>
            <a:spLocks noGrp="1"/>
          </p:cNvSpPr>
          <p:nvPr>
            <p:ph type="title"/>
          </p:nvPr>
        </p:nvSpPr>
        <p:spPr>
          <a:prstGeom prst="rect">
            <a:avLst/>
          </a:prstGeom>
          <a:noFill/>
          <a:ln w="0">
            <a:noFill/>
          </a:ln>
        </p:spPr>
        <p:txBody>
          <a:bodyPr lIns="90000" tIns="45000" rIns="90000" bIns="45000" anchor="ctr">
            <a:norm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Common operations on tabular data</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2" name="PlaceHolder 1">
            <a:extLst>
              <a:ext uri="{FF2B5EF4-FFF2-40B4-BE49-F238E27FC236}">
                <a16:creationId xmlns:a16="http://schemas.microsoft.com/office/drawing/2014/main" id="{476725D7-25DA-ECA3-591A-36DEB2CE59F1}"/>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Tree>
    <p:extLst>
      <p:ext uri="{BB962C8B-B14F-4D97-AF65-F5344CB8AC3E}">
        <p14:creationId xmlns:p14="http://schemas.microsoft.com/office/powerpoint/2010/main" val="116233679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8" name="PlaceHolder 1"/>
          <p:cNvSpPr>
            <a:spLocks noGrp="1"/>
          </p:cNvSpPr>
          <p:nvPr>
            <p:ph type="title"/>
          </p:nvPr>
        </p:nvSpPr>
        <p:spPr>
          <a:prstGeom prst="rect">
            <a:avLst/>
          </a:prstGeom>
          <a:noFill/>
          <a:ln w="0">
            <a:noFill/>
          </a:ln>
        </p:spPr>
        <p:txBody>
          <a:bodyPr lIns="0" tIns="0" rIns="0" bIns="0" anchor="ctr">
            <a:norm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The basic structure of most numerical analyses</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pic>
        <p:nvPicPr>
          <p:cNvPr id="290" name="Picture 36"/>
          <p:cNvPicPr/>
          <p:nvPr/>
        </p:nvPicPr>
        <p:blipFill>
          <a:blip r:embed="rId2"/>
          <a:stretch/>
        </p:blipFill>
        <p:spPr>
          <a:xfrm>
            <a:off x="3935880" y="2162520"/>
            <a:ext cx="2883600" cy="4555800"/>
          </a:xfrm>
          <a:prstGeom prst="rect">
            <a:avLst/>
          </a:prstGeom>
          <a:noFill/>
          <a:ln w="0">
            <a:noFill/>
          </a:ln>
        </p:spPr>
      </p:pic>
      <p:pic>
        <p:nvPicPr>
          <p:cNvPr id="291" name="Picture 37"/>
          <p:cNvPicPr/>
          <p:nvPr/>
        </p:nvPicPr>
        <p:blipFill>
          <a:blip r:embed="rId3"/>
          <a:stretch/>
        </p:blipFill>
        <p:spPr>
          <a:xfrm>
            <a:off x="7584840" y="2500560"/>
            <a:ext cx="1473840" cy="3626280"/>
          </a:xfrm>
          <a:prstGeom prst="rect">
            <a:avLst/>
          </a:prstGeom>
          <a:noFill/>
          <a:ln w="0">
            <a:noFill/>
          </a:ln>
        </p:spPr>
      </p:pic>
      <p:pic>
        <p:nvPicPr>
          <p:cNvPr id="292" name="Picture 38"/>
          <p:cNvPicPr/>
          <p:nvPr/>
        </p:nvPicPr>
        <p:blipFill>
          <a:blip r:embed="rId4"/>
          <a:stretch/>
        </p:blipFill>
        <p:spPr>
          <a:xfrm>
            <a:off x="9859680" y="2999880"/>
            <a:ext cx="1809000" cy="1952280"/>
          </a:xfrm>
          <a:prstGeom prst="rect">
            <a:avLst/>
          </a:prstGeom>
          <a:noFill/>
          <a:ln w="0">
            <a:noFill/>
          </a:ln>
        </p:spPr>
      </p:pic>
      <p:pic>
        <p:nvPicPr>
          <p:cNvPr id="293" name="Picture 39"/>
          <p:cNvPicPr/>
          <p:nvPr/>
        </p:nvPicPr>
        <p:blipFill>
          <a:blip r:embed="rId5"/>
          <a:stretch/>
        </p:blipFill>
        <p:spPr>
          <a:xfrm>
            <a:off x="460080" y="2783880"/>
            <a:ext cx="2661120" cy="2585880"/>
          </a:xfrm>
          <a:prstGeom prst="rect">
            <a:avLst/>
          </a:prstGeom>
          <a:noFill/>
          <a:ln w="0">
            <a:noFill/>
          </a:ln>
        </p:spPr>
      </p:pic>
      <p:sp>
        <p:nvSpPr>
          <p:cNvPr id="294" name="TextBox 68"/>
          <p:cNvSpPr/>
          <p:nvPr/>
        </p:nvSpPr>
        <p:spPr>
          <a:xfrm>
            <a:off x="2617920" y="1321920"/>
            <a:ext cx="1869120" cy="644877"/>
          </a:xfrm>
          <a:prstGeom prst="rect">
            <a:avLst/>
          </a:prstGeom>
          <a:solidFill>
            <a:schemeClr val="accent2">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split</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295" name="TextBox 69"/>
          <p:cNvSpPr/>
          <p:nvPr/>
        </p:nvSpPr>
        <p:spPr>
          <a:xfrm>
            <a:off x="6311880" y="1321920"/>
            <a:ext cx="1869120" cy="644877"/>
          </a:xfrm>
          <a:prstGeom prst="rect">
            <a:avLst/>
          </a:prstGeom>
          <a:solidFill>
            <a:schemeClr val="accent5">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apply</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296" name="TextBox 70"/>
          <p:cNvSpPr/>
          <p:nvPr/>
        </p:nvSpPr>
        <p:spPr>
          <a:xfrm>
            <a:off x="9783360" y="1321920"/>
            <a:ext cx="1869120" cy="644877"/>
          </a:xfrm>
          <a:prstGeom prst="rect">
            <a:avLst/>
          </a:prstGeom>
          <a:solidFill>
            <a:schemeClr val="accent6">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combine</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cxnSp>
        <p:nvCxnSpPr>
          <p:cNvPr id="297" name="Straight Arrow Connector 31"/>
          <p:cNvCxnSpPr/>
          <p:nvPr/>
        </p:nvCxnSpPr>
        <p:spPr>
          <a:xfrm flipV="1">
            <a:off x="3287520" y="2783520"/>
            <a:ext cx="651240" cy="745560"/>
          </a:xfrm>
          <a:prstGeom prst="straightConnector1">
            <a:avLst/>
          </a:prstGeom>
          <a:ln w="57150">
            <a:solidFill>
              <a:srgbClr val="C55A11"/>
            </a:solidFill>
            <a:round/>
            <a:tailEnd type="triangle" w="med" len="med"/>
          </a:ln>
        </p:spPr>
      </p:cxnSp>
      <p:cxnSp>
        <p:nvCxnSpPr>
          <p:cNvPr id="298" name="Straight Arrow Connector 32"/>
          <p:cNvCxnSpPr/>
          <p:nvPr/>
        </p:nvCxnSpPr>
        <p:spPr>
          <a:xfrm flipV="1">
            <a:off x="3281400" y="3784320"/>
            <a:ext cx="651240" cy="115560"/>
          </a:xfrm>
          <a:prstGeom prst="straightConnector1">
            <a:avLst/>
          </a:prstGeom>
          <a:ln w="57150">
            <a:solidFill>
              <a:srgbClr val="C55A11"/>
            </a:solidFill>
            <a:round/>
            <a:tailEnd type="triangle" w="med" len="med"/>
          </a:ln>
        </p:spPr>
      </p:cxnSp>
      <p:cxnSp>
        <p:nvCxnSpPr>
          <p:cNvPr id="299" name="Straight Arrow Connector 33"/>
          <p:cNvCxnSpPr/>
          <p:nvPr/>
        </p:nvCxnSpPr>
        <p:spPr>
          <a:xfrm>
            <a:off x="3281760" y="4326480"/>
            <a:ext cx="640440" cy="399240"/>
          </a:xfrm>
          <a:prstGeom prst="straightConnector1">
            <a:avLst/>
          </a:prstGeom>
          <a:ln w="57150">
            <a:solidFill>
              <a:srgbClr val="C55A11"/>
            </a:solidFill>
            <a:round/>
            <a:tailEnd type="triangle" w="med" len="med"/>
          </a:ln>
        </p:spPr>
      </p:cxnSp>
      <p:cxnSp>
        <p:nvCxnSpPr>
          <p:cNvPr id="300" name="Straight Arrow Connector 34"/>
          <p:cNvCxnSpPr/>
          <p:nvPr/>
        </p:nvCxnSpPr>
        <p:spPr>
          <a:xfrm>
            <a:off x="3291840" y="5254200"/>
            <a:ext cx="640800" cy="1190160"/>
          </a:xfrm>
          <a:prstGeom prst="straightConnector1">
            <a:avLst/>
          </a:prstGeom>
          <a:ln w="57150">
            <a:solidFill>
              <a:srgbClr val="C55A11"/>
            </a:solidFill>
            <a:round/>
            <a:tailEnd type="triangle" w="med" len="med"/>
          </a:ln>
        </p:spPr>
      </p:cxnSp>
      <p:cxnSp>
        <p:nvCxnSpPr>
          <p:cNvPr id="301" name="Straight Arrow Connector 35"/>
          <p:cNvCxnSpPr/>
          <p:nvPr/>
        </p:nvCxnSpPr>
        <p:spPr>
          <a:xfrm>
            <a:off x="3281400" y="4874760"/>
            <a:ext cx="651240" cy="757080"/>
          </a:xfrm>
          <a:prstGeom prst="straightConnector1">
            <a:avLst/>
          </a:prstGeom>
          <a:ln w="57150">
            <a:solidFill>
              <a:srgbClr val="C55A11"/>
            </a:solidFill>
            <a:round/>
            <a:tailEnd type="triangle" w="med" len="med"/>
          </a:ln>
        </p:spPr>
      </p:cxnSp>
      <p:sp>
        <p:nvSpPr>
          <p:cNvPr id="302" name="TextBox 71"/>
          <p:cNvSpPr/>
          <p:nvPr/>
        </p:nvSpPr>
        <p:spPr>
          <a:xfrm>
            <a:off x="3228840" y="2734560"/>
            <a:ext cx="644760" cy="36787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A1</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303" name="TextBox 72"/>
          <p:cNvSpPr/>
          <p:nvPr/>
        </p:nvSpPr>
        <p:spPr>
          <a:xfrm>
            <a:off x="3223800" y="3516480"/>
            <a:ext cx="644760" cy="36787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A2</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304" name="TextBox 73"/>
          <p:cNvSpPr/>
          <p:nvPr/>
        </p:nvSpPr>
        <p:spPr>
          <a:xfrm>
            <a:off x="3223800" y="4020480"/>
            <a:ext cx="644760" cy="36787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B1</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305" name="TextBox 74"/>
          <p:cNvSpPr/>
          <p:nvPr/>
        </p:nvSpPr>
        <p:spPr>
          <a:xfrm>
            <a:off x="3233520" y="4754520"/>
            <a:ext cx="644760" cy="36787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B2</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306" name="TextBox 75"/>
          <p:cNvSpPr/>
          <p:nvPr/>
        </p:nvSpPr>
        <p:spPr>
          <a:xfrm>
            <a:off x="3233520" y="5244480"/>
            <a:ext cx="644760" cy="36787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C2</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307" name="Right Arrow 3"/>
          <p:cNvSpPr/>
          <p:nvPr/>
        </p:nvSpPr>
        <p:spPr>
          <a:xfrm>
            <a:off x="6996240" y="4089240"/>
            <a:ext cx="500760" cy="857520"/>
          </a:xfrm>
          <a:prstGeom prst="rightArrow">
            <a:avLst>
              <a:gd name="adj1" fmla="val 50000"/>
              <a:gd name="adj2" fmla="val 50000"/>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CH" sz="1800" b="0" u="none" strike="noStrike">
              <a:solidFill>
                <a:schemeClr val="lt1"/>
              </a:solidFill>
              <a:effectLst/>
              <a:uFillTx/>
              <a:latin typeface="Calibri" panose="020F0502020204030204" pitchFamily="34" charset="0"/>
              <a:ea typeface="DejaVu Sans"/>
              <a:cs typeface="Calibri" panose="020F0502020204030204" pitchFamily="34" charset="0"/>
            </a:endParaRPr>
          </a:p>
        </p:txBody>
      </p:sp>
      <p:sp>
        <p:nvSpPr>
          <p:cNvPr id="308" name="TextBox 76"/>
          <p:cNvSpPr/>
          <p:nvPr/>
        </p:nvSpPr>
        <p:spPr>
          <a:xfrm>
            <a:off x="6837120" y="3702960"/>
            <a:ext cx="779400" cy="36787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1" u="none" strike="noStrike">
                <a:solidFill>
                  <a:srgbClr val="000000"/>
                </a:solidFill>
                <a:effectLst/>
                <a:uFillTx/>
                <a:latin typeface="Calibri" panose="020F0502020204030204" pitchFamily="34" charset="0"/>
                <a:ea typeface="DejaVu Sans"/>
                <a:cs typeface="Calibri" panose="020F0502020204030204" pitchFamily="34" charset="0"/>
              </a:rPr>
              <a:t>mean</a:t>
            </a:r>
            <a:endParaRPr lang="en-GB" sz="1800" b="0" u="none" strike="noStrike" dirty="0">
              <a:solidFill>
                <a:srgbClr val="000000"/>
              </a:solidFill>
              <a:effectLst/>
              <a:uFillTx/>
              <a:latin typeface="Calibri" panose="020F0502020204030204" pitchFamily="34" charset="0"/>
              <a:cs typeface="Calibri" panose="020F0502020204030204" pitchFamily="34" charset="0"/>
            </a:endParaRPr>
          </a:p>
        </p:txBody>
      </p:sp>
      <p:cxnSp>
        <p:nvCxnSpPr>
          <p:cNvPr id="309" name="Straight Arrow Connector 36"/>
          <p:cNvCxnSpPr/>
          <p:nvPr/>
        </p:nvCxnSpPr>
        <p:spPr>
          <a:xfrm>
            <a:off x="9076320" y="2923920"/>
            <a:ext cx="710280" cy="595800"/>
          </a:xfrm>
          <a:prstGeom prst="straightConnector1">
            <a:avLst/>
          </a:prstGeom>
          <a:ln w="57150">
            <a:solidFill>
              <a:srgbClr val="548235"/>
            </a:solidFill>
            <a:round/>
            <a:tailEnd type="triangle" w="med" len="med"/>
          </a:ln>
        </p:spPr>
      </p:cxnSp>
      <p:cxnSp>
        <p:nvCxnSpPr>
          <p:cNvPr id="310" name="Straight Arrow Connector 37"/>
          <p:cNvCxnSpPr/>
          <p:nvPr/>
        </p:nvCxnSpPr>
        <p:spPr>
          <a:xfrm>
            <a:off x="9076320" y="3645000"/>
            <a:ext cx="710280" cy="198720"/>
          </a:xfrm>
          <a:prstGeom prst="straightConnector1">
            <a:avLst/>
          </a:prstGeom>
          <a:ln w="57150">
            <a:solidFill>
              <a:srgbClr val="548235"/>
            </a:solidFill>
            <a:round/>
            <a:tailEnd type="triangle" w="med" len="med"/>
          </a:ln>
        </p:spPr>
      </p:cxnSp>
      <p:cxnSp>
        <p:nvCxnSpPr>
          <p:cNvPr id="311" name="Straight Arrow Connector 38"/>
          <p:cNvCxnSpPr/>
          <p:nvPr/>
        </p:nvCxnSpPr>
        <p:spPr>
          <a:xfrm flipV="1">
            <a:off x="9065520" y="4205160"/>
            <a:ext cx="721080" cy="219960"/>
          </a:xfrm>
          <a:prstGeom prst="straightConnector1">
            <a:avLst/>
          </a:prstGeom>
          <a:ln w="57150">
            <a:solidFill>
              <a:srgbClr val="548235"/>
            </a:solidFill>
            <a:round/>
            <a:tailEnd type="triangle" w="med" len="med"/>
          </a:ln>
        </p:spPr>
      </p:cxnSp>
      <p:cxnSp>
        <p:nvCxnSpPr>
          <p:cNvPr id="312" name="Straight Arrow Connector 39"/>
          <p:cNvCxnSpPr/>
          <p:nvPr/>
        </p:nvCxnSpPr>
        <p:spPr>
          <a:xfrm flipV="1">
            <a:off x="9076320" y="4421880"/>
            <a:ext cx="710280" cy="710640"/>
          </a:xfrm>
          <a:prstGeom prst="straightConnector1">
            <a:avLst/>
          </a:prstGeom>
          <a:ln w="57150">
            <a:solidFill>
              <a:srgbClr val="548235"/>
            </a:solidFill>
            <a:round/>
            <a:tailEnd type="triangle" w="med" len="med"/>
          </a:ln>
        </p:spPr>
      </p:cxnSp>
      <p:cxnSp>
        <p:nvCxnSpPr>
          <p:cNvPr id="313" name="Straight Arrow Connector 40"/>
          <p:cNvCxnSpPr/>
          <p:nvPr/>
        </p:nvCxnSpPr>
        <p:spPr>
          <a:xfrm flipV="1">
            <a:off x="9076320" y="4775400"/>
            <a:ext cx="710280" cy="1166400"/>
          </a:xfrm>
          <a:prstGeom prst="straightConnector1">
            <a:avLst/>
          </a:prstGeom>
          <a:ln w="57150">
            <a:solidFill>
              <a:srgbClr val="548235"/>
            </a:solidFill>
            <a:round/>
            <a:tailEnd type="triangle" w="med" len="med"/>
          </a:ln>
        </p:spPr>
      </p:cxnSp>
      <p:sp>
        <p:nvSpPr>
          <p:cNvPr id="2" name="PlaceHolder 1">
            <a:extLst>
              <a:ext uri="{FF2B5EF4-FFF2-40B4-BE49-F238E27FC236}">
                <a16:creationId xmlns:a16="http://schemas.microsoft.com/office/drawing/2014/main" id="{1DF8EC7D-55A8-C0D7-E5DC-70D96F6EF9AF}"/>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5" name="PlaceHolder 5">
            <a:extLst>
              <a:ext uri="{FF2B5EF4-FFF2-40B4-BE49-F238E27FC236}">
                <a16:creationId xmlns:a16="http://schemas.microsoft.com/office/drawing/2014/main" id="{1FD81489-7D49-9139-A634-558B0AE1CD2E}"/>
              </a:ext>
            </a:extLst>
          </p:cNvPr>
          <p:cNvSpPr>
            <a:spLocks noGrp="1"/>
          </p:cNvSpPr>
          <p:nvPr>
            <p:ph type="sldNum" idx="2"/>
          </p:nvPr>
        </p:nvSpPr>
        <p:spPr>
          <a:xfrm>
            <a:off x="8610480" y="6356520"/>
            <a:ext cx="2739960" cy="361800"/>
          </a:xfrm>
        </p:spPr>
        <p:txBody>
          <a:bodyPr/>
          <a:lstStyle/>
          <a:p>
            <a:fld id="{E2CF6877-FF63-44A7-AB15-0859B560B298}" type="slidenum">
              <a:rPr/>
              <a:t>26</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5" name="Picture 40"/>
          <p:cNvPicPr/>
          <p:nvPr/>
        </p:nvPicPr>
        <p:blipFill>
          <a:blip r:embed="rId2"/>
          <a:stretch/>
        </p:blipFill>
        <p:spPr>
          <a:xfrm>
            <a:off x="3935880" y="2162520"/>
            <a:ext cx="2883600" cy="4555800"/>
          </a:xfrm>
          <a:prstGeom prst="rect">
            <a:avLst/>
          </a:prstGeom>
          <a:noFill/>
          <a:ln w="0">
            <a:noFill/>
          </a:ln>
        </p:spPr>
      </p:pic>
      <p:pic>
        <p:nvPicPr>
          <p:cNvPr id="316" name="Picture 41"/>
          <p:cNvPicPr/>
          <p:nvPr/>
        </p:nvPicPr>
        <p:blipFill>
          <a:blip r:embed="rId3"/>
          <a:stretch/>
        </p:blipFill>
        <p:spPr>
          <a:xfrm>
            <a:off x="7584840" y="2500560"/>
            <a:ext cx="1473840" cy="3626280"/>
          </a:xfrm>
          <a:prstGeom prst="rect">
            <a:avLst/>
          </a:prstGeom>
          <a:noFill/>
          <a:ln w="0">
            <a:noFill/>
          </a:ln>
        </p:spPr>
      </p:pic>
      <p:pic>
        <p:nvPicPr>
          <p:cNvPr id="317" name="Picture 43"/>
          <p:cNvPicPr/>
          <p:nvPr/>
        </p:nvPicPr>
        <p:blipFill>
          <a:blip r:embed="rId4"/>
          <a:stretch/>
        </p:blipFill>
        <p:spPr>
          <a:xfrm>
            <a:off x="9859680" y="2999880"/>
            <a:ext cx="1809000" cy="1952280"/>
          </a:xfrm>
          <a:prstGeom prst="rect">
            <a:avLst/>
          </a:prstGeom>
          <a:noFill/>
          <a:ln w="0">
            <a:noFill/>
          </a:ln>
        </p:spPr>
      </p:pic>
      <p:pic>
        <p:nvPicPr>
          <p:cNvPr id="318" name="Picture 44"/>
          <p:cNvPicPr/>
          <p:nvPr/>
        </p:nvPicPr>
        <p:blipFill>
          <a:blip r:embed="rId5"/>
          <a:stretch/>
        </p:blipFill>
        <p:spPr>
          <a:xfrm>
            <a:off x="460080" y="2783880"/>
            <a:ext cx="2661120" cy="2585880"/>
          </a:xfrm>
          <a:prstGeom prst="rect">
            <a:avLst/>
          </a:prstGeom>
          <a:noFill/>
          <a:ln w="0">
            <a:noFill/>
          </a:ln>
        </p:spPr>
      </p:pic>
      <p:sp>
        <p:nvSpPr>
          <p:cNvPr id="319" name="TextBox 81"/>
          <p:cNvSpPr/>
          <p:nvPr/>
        </p:nvSpPr>
        <p:spPr>
          <a:xfrm>
            <a:off x="2617920" y="1321920"/>
            <a:ext cx="1869120" cy="644877"/>
          </a:xfrm>
          <a:prstGeom prst="rect">
            <a:avLst/>
          </a:prstGeom>
          <a:solidFill>
            <a:schemeClr val="accent2">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split</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320" name="TextBox 82"/>
          <p:cNvSpPr/>
          <p:nvPr/>
        </p:nvSpPr>
        <p:spPr>
          <a:xfrm>
            <a:off x="6311880" y="1321920"/>
            <a:ext cx="1869120" cy="644877"/>
          </a:xfrm>
          <a:prstGeom prst="rect">
            <a:avLst/>
          </a:prstGeom>
          <a:solidFill>
            <a:schemeClr val="accent5">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apply</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321" name="TextBox 83"/>
          <p:cNvSpPr/>
          <p:nvPr/>
        </p:nvSpPr>
        <p:spPr>
          <a:xfrm>
            <a:off x="9783360" y="1321920"/>
            <a:ext cx="1869120" cy="638280"/>
          </a:xfrm>
          <a:prstGeom prst="rect">
            <a:avLst/>
          </a:prstGeom>
          <a:solidFill>
            <a:schemeClr val="accent6">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combine</a:t>
            </a:r>
            <a:endParaRPr lang="en-GB" sz="3600" b="0" u="none" strike="noStrike">
              <a:solidFill>
                <a:srgbClr val="000000"/>
              </a:solidFill>
              <a:effectLst/>
              <a:uFillTx/>
              <a:latin typeface="Arial"/>
            </a:endParaRPr>
          </a:p>
        </p:txBody>
      </p:sp>
      <p:cxnSp>
        <p:nvCxnSpPr>
          <p:cNvPr id="322" name="Straight Arrow Connector 41"/>
          <p:cNvCxnSpPr/>
          <p:nvPr/>
        </p:nvCxnSpPr>
        <p:spPr>
          <a:xfrm flipV="1">
            <a:off x="3287520" y="2783520"/>
            <a:ext cx="651240" cy="745560"/>
          </a:xfrm>
          <a:prstGeom prst="straightConnector1">
            <a:avLst/>
          </a:prstGeom>
          <a:ln w="57150">
            <a:solidFill>
              <a:srgbClr val="C55A11"/>
            </a:solidFill>
            <a:round/>
            <a:tailEnd type="triangle" w="med" len="med"/>
          </a:ln>
        </p:spPr>
      </p:cxnSp>
      <p:cxnSp>
        <p:nvCxnSpPr>
          <p:cNvPr id="323" name="Straight Arrow Connector 43"/>
          <p:cNvCxnSpPr/>
          <p:nvPr/>
        </p:nvCxnSpPr>
        <p:spPr>
          <a:xfrm flipV="1">
            <a:off x="3281400" y="3784320"/>
            <a:ext cx="651240" cy="115560"/>
          </a:xfrm>
          <a:prstGeom prst="straightConnector1">
            <a:avLst/>
          </a:prstGeom>
          <a:ln w="57150">
            <a:solidFill>
              <a:srgbClr val="C55A11"/>
            </a:solidFill>
            <a:round/>
            <a:tailEnd type="triangle" w="med" len="med"/>
          </a:ln>
        </p:spPr>
      </p:cxnSp>
      <p:cxnSp>
        <p:nvCxnSpPr>
          <p:cNvPr id="324" name="Straight Arrow Connector 45"/>
          <p:cNvCxnSpPr/>
          <p:nvPr/>
        </p:nvCxnSpPr>
        <p:spPr>
          <a:xfrm>
            <a:off x="3281760" y="4326480"/>
            <a:ext cx="640440" cy="399240"/>
          </a:xfrm>
          <a:prstGeom prst="straightConnector1">
            <a:avLst/>
          </a:prstGeom>
          <a:ln w="57150">
            <a:solidFill>
              <a:srgbClr val="C55A11"/>
            </a:solidFill>
            <a:round/>
            <a:tailEnd type="triangle" w="med" len="med"/>
          </a:ln>
        </p:spPr>
      </p:cxnSp>
      <p:cxnSp>
        <p:nvCxnSpPr>
          <p:cNvPr id="325" name="Straight Arrow Connector 46"/>
          <p:cNvCxnSpPr/>
          <p:nvPr/>
        </p:nvCxnSpPr>
        <p:spPr>
          <a:xfrm>
            <a:off x="3291840" y="5254200"/>
            <a:ext cx="640800" cy="1190160"/>
          </a:xfrm>
          <a:prstGeom prst="straightConnector1">
            <a:avLst/>
          </a:prstGeom>
          <a:ln w="57150">
            <a:solidFill>
              <a:srgbClr val="C55A11"/>
            </a:solidFill>
            <a:round/>
            <a:tailEnd type="triangle" w="med" len="med"/>
          </a:ln>
        </p:spPr>
      </p:cxnSp>
      <p:cxnSp>
        <p:nvCxnSpPr>
          <p:cNvPr id="326" name="Straight Arrow Connector 47"/>
          <p:cNvCxnSpPr/>
          <p:nvPr/>
        </p:nvCxnSpPr>
        <p:spPr>
          <a:xfrm>
            <a:off x="3281400" y="4874760"/>
            <a:ext cx="651240" cy="757080"/>
          </a:xfrm>
          <a:prstGeom prst="straightConnector1">
            <a:avLst/>
          </a:prstGeom>
          <a:ln w="57150">
            <a:solidFill>
              <a:srgbClr val="C55A11"/>
            </a:solidFill>
            <a:round/>
            <a:tailEnd type="triangle" w="med" len="med"/>
          </a:ln>
        </p:spPr>
      </p:cxnSp>
      <p:sp>
        <p:nvSpPr>
          <p:cNvPr id="327" name="TextBox 84"/>
          <p:cNvSpPr/>
          <p:nvPr/>
        </p:nvSpPr>
        <p:spPr>
          <a:xfrm>
            <a:off x="3228840" y="273456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A1</a:t>
            </a:r>
            <a:endParaRPr lang="en-GB" sz="1800" b="0" u="none" strike="noStrike">
              <a:solidFill>
                <a:srgbClr val="000000"/>
              </a:solidFill>
              <a:effectLst/>
              <a:uFillTx/>
              <a:latin typeface="Arial"/>
            </a:endParaRPr>
          </a:p>
        </p:txBody>
      </p:sp>
      <p:sp>
        <p:nvSpPr>
          <p:cNvPr id="328" name="TextBox 85"/>
          <p:cNvSpPr/>
          <p:nvPr/>
        </p:nvSpPr>
        <p:spPr>
          <a:xfrm>
            <a:off x="3223800" y="351648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A2</a:t>
            </a:r>
            <a:endParaRPr lang="en-GB" sz="1800" b="0" u="none" strike="noStrike">
              <a:solidFill>
                <a:srgbClr val="000000"/>
              </a:solidFill>
              <a:effectLst/>
              <a:uFillTx/>
              <a:latin typeface="Arial"/>
            </a:endParaRPr>
          </a:p>
        </p:txBody>
      </p:sp>
      <p:sp>
        <p:nvSpPr>
          <p:cNvPr id="329" name="TextBox 86"/>
          <p:cNvSpPr/>
          <p:nvPr/>
        </p:nvSpPr>
        <p:spPr>
          <a:xfrm>
            <a:off x="3223800" y="402048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B1</a:t>
            </a:r>
            <a:endParaRPr lang="en-GB" sz="1800" b="0" u="none" strike="noStrike">
              <a:solidFill>
                <a:srgbClr val="000000"/>
              </a:solidFill>
              <a:effectLst/>
              <a:uFillTx/>
              <a:latin typeface="Arial"/>
            </a:endParaRPr>
          </a:p>
        </p:txBody>
      </p:sp>
      <p:sp>
        <p:nvSpPr>
          <p:cNvPr id="330" name="TextBox 87"/>
          <p:cNvSpPr/>
          <p:nvPr/>
        </p:nvSpPr>
        <p:spPr>
          <a:xfrm>
            <a:off x="3233520" y="475452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B2</a:t>
            </a:r>
            <a:endParaRPr lang="en-GB" sz="1800" b="0" u="none" strike="noStrike">
              <a:solidFill>
                <a:srgbClr val="000000"/>
              </a:solidFill>
              <a:effectLst/>
              <a:uFillTx/>
              <a:latin typeface="Arial"/>
            </a:endParaRPr>
          </a:p>
        </p:txBody>
      </p:sp>
      <p:sp>
        <p:nvSpPr>
          <p:cNvPr id="331" name="TextBox 88"/>
          <p:cNvSpPr/>
          <p:nvPr/>
        </p:nvSpPr>
        <p:spPr>
          <a:xfrm>
            <a:off x="3233520" y="524448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C2</a:t>
            </a:r>
            <a:endParaRPr lang="en-GB" sz="1800" b="0" u="none" strike="noStrike">
              <a:solidFill>
                <a:srgbClr val="000000"/>
              </a:solidFill>
              <a:effectLst/>
              <a:uFillTx/>
              <a:latin typeface="Arial"/>
            </a:endParaRPr>
          </a:p>
        </p:txBody>
      </p:sp>
      <p:sp>
        <p:nvSpPr>
          <p:cNvPr id="332" name="Right Arrow 5"/>
          <p:cNvSpPr/>
          <p:nvPr/>
        </p:nvSpPr>
        <p:spPr>
          <a:xfrm>
            <a:off x="6996240" y="4089240"/>
            <a:ext cx="500760" cy="857520"/>
          </a:xfrm>
          <a:prstGeom prst="rightArrow">
            <a:avLst>
              <a:gd name="adj1" fmla="val 50000"/>
              <a:gd name="adj2" fmla="val 50000"/>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CH" sz="1800" b="0" u="none" strike="noStrike">
              <a:solidFill>
                <a:schemeClr val="lt1"/>
              </a:solidFill>
              <a:effectLst/>
              <a:uFillTx/>
              <a:latin typeface="Calibri"/>
              <a:ea typeface="DejaVu Sans"/>
            </a:endParaRPr>
          </a:p>
        </p:txBody>
      </p:sp>
      <p:sp>
        <p:nvSpPr>
          <p:cNvPr id="333" name="TextBox 89"/>
          <p:cNvSpPr/>
          <p:nvPr/>
        </p:nvSpPr>
        <p:spPr>
          <a:xfrm>
            <a:off x="6837120" y="3702960"/>
            <a:ext cx="77940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1" u="none" strike="noStrike">
                <a:solidFill>
                  <a:srgbClr val="000000"/>
                </a:solidFill>
                <a:effectLst/>
                <a:uFillTx/>
                <a:latin typeface="Calibri"/>
                <a:ea typeface="DejaVu Sans"/>
              </a:rPr>
              <a:t>mean</a:t>
            </a:r>
            <a:endParaRPr lang="en-GB" sz="1800" b="0" u="none" strike="noStrike">
              <a:solidFill>
                <a:srgbClr val="000000"/>
              </a:solidFill>
              <a:effectLst/>
              <a:uFillTx/>
              <a:latin typeface="Arial"/>
            </a:endParaRPr>
          </a:p>
        </p:txBody>
      </p:sp>
      <p:cxnSp>
        <p:nvCxnSpPr>
          <p:cNvPr id="334" name="Straight Arrow Connector 49"/>
          <p:cNvCxnSpPr/>
          <p:nvPr/>
        </p:nvCxnSpPr>
        <p:spPr>
          <a:xfrm>
            <a:off x="9076320" y="2923920"/>
            <a:ext cx="710280" cy="595800"/>
          </a:xfrm>
          <a:prstGeom prst="straightConnector1">
            <a:avLst/>
          </a:prstGeom>
          <a:ln w="57150">
            <a:solidFill>
              <a:srgbClr val="548235"/>
            </a:solidFill>
            <a:round/>
            <a:tailEnd type="triangle" w="med" len="med"/>
          </a:ln>
        </p:spPr>
      </p:cxnSp>
      <p:cxnSp>
        <p:nvCxnSpPr>
          <p:cNvPr id="335" name="Straight Arrow Connector 50"/>
          <p:cNvCxnSpPr/>
          <p:nvPr/>
        </p:nvCxnSpPr>
        <p:spPr>
          <a:xfrm>
            <a:off x="9076320" y="3645000"/>
            <a:ext cx="710280" cy="198720"/>
          </a:xfrm>
          <a:prstGeom prst="straightConnector1">
            <a:avLst/>
          </a:prstGeom>
          <a:ln w="57150">
            <a:solidFill>
              <a:srgbClr val="548235"/>
            </a:solidFill>
            <a:round/>
            <a:tailEnd type="triangle" w="med" len="med"/>
          </a:ln>
        </p:spPr>
      </p:cxnSp>
      <p:cxnSp>
        <p:nvCxnSpPr>
          <p:cNvPr id="336" name="Straight Arrow Connector 51"/>
          <p:cNvCxnSpPr/>
          <p:nvPr/>
        </p:nvCxnSpPr>
        <p:spPr>
          <a:xfrm flipV="1">
            <a:off x="9065520" y="4205160"/>
            <a:ext cx="721080" cy="219960"/>
          </a:xfrm>
          <a:prstGeom prst="straightConnector1">
            <a:avLst/>
          </a:prstGeom>
          <a:ln w="57150">
            <a:solidFill>
              <a:srgbClr val="548235"/>
            </a:solidFill>
            <a:round/>
            <a:tailEnd type="triangle" w="med" len="med"/>
          </a:ln>
        </p:spPr>
      </p:cxnSp>
      <p:cxnSp>
        <p:nvCxnSpPr>
          <p:cNvPr id="337" name="Straight Arrow Connector 52"/>
          <p:cNvCxnSpPr/>
          <p:nvPr/>
        </p:nvCxnSpPr>
        <p:spPr>
          <a:xfrm flipV="1">
            <a:off x="9076320" y="4421880"/>
            <a:ext cx="710280" cy="710640"/>
          </a:xfrm>
          <a:prstGeom prst="straightConnector1">
            <a:avLst/>
          </a:prstGeom>
          <a:ln w="57150">
            <a:solidFill>
              <a:srgbClr val="548235"/>
            </a:solidFill>
            <a:round/>
            <a:tailEnd type="triangle" w="med" len="med"/>
          </a:ln>
        </p:spPr>
      </p:cxnSp>
      <p:cxnSp>
        <p:nvCxnSpPr>
          <p:cNvPr id="338" name="Straight Arrow Connector 53"/>
          <p:cNvCxnSpPr/>
          <p:nvPr/>
        </p:nvCxnSpPr>
        <p:spPr>
          <a:xfrm flipV="1">
            <a:off x="9076320" y="4775400"/>
            <a:ext cx="710280" cy="1166400"/>
          </a:xfrm>
          <a:prstGeom prst="straightConnector1">
            <a:avLst/>
          </a:prstGeom>
          <a:ln w="57150">
            <a:solidFill>
              <a:srgbClr val="548235"/>
            </a:solidFill>
            <a:round/>
            <a:tailEnd type="triangle" w="med" len="med"/>
          </a:ln>
        </p:spPr>
      </p:cxnSp>
      <p:sp>
        <p:nvSpPr>
          <p:cNvPr id="339" name="TextBox 90"/>
          <p:cNvSpPr/>
          <p:nvPr/>
        </p:nvSpPr>
        <p:spPr>
          <a:xfrm>
            <a:off x="515520" y="293760"/>
            <a:ext cx="1115784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2800" b="0" u="none" strike="noStrike">
                <a:solidFill>
                  <a:srgbClr val="000000"/>
                </a:solidFill>
                <a:effectLst/>
                <a:uFillTx/>
                <a:latin typeface="Consolas"/>
                <a:ea typeface="DejaVu Sans"/>
              </a:rPr>
              <a:t>df</a:t>
            </a:r>
            <a:r>
              <a:rPr lang="en-CH" sz="2800" b="0" u="none" strike="noStrike">
                <a:solidFill>
                  <a:schemeClr val="accent2">
                    <a:lumMod val="75000"/>
                  </a:schemeClr>
                </a:solidFill>
                <a:effectLst/>
                <a:uFillTx/>
                <a:latin typeface="Consolas"/>
                <a:ea typeface="DejaVu Sans"/>
              </a:rPr>
              <a:t>.groupby(‘condition_id’)</a:t>
            </a:r>
            <a:r>
              <a:rPr lang="en-CH" sz="2800" b="0" u="none" strike="noStrike">
                <a:solidFill>
                  <a:schemeClr val="accent1">
                    <a:lumMod val="75000"/>
                  </a:schemeClr>
                </a:solidFill>
                <a:effectLst/>
                <a:uFillTx/>
                <a:latin typeface="Consolas"/>
                <a:ea typeface="DejaVu Sans"/>
              </a:rPr>
              <a:t>[‘response_time’].mean()</a:t>
            </a:r>
            <a:endParaRPr lang="en-GB" sz="2800" b="0" u="none" strike="noStrike" dirty="0">
              <a:solidFill>
                <a:srgbClr val="000000"/>
              </a:solidFill>
              <a:effectLst/>
              <a:uFillTx/>
              <a:latin typeface="Arial"/>
            </a:endParaRPr>
          </a:p>
        </p:txBody>
      </p:sp>
      <p:sp>
        <p:nvSpPr>
          <p:cNvPr id="2" name="PlaceHolder 1">
            <a:extLst>
              <a:ext uri="{FF2B5EF4-FFF2-40B4-BE49-F238E27FC236}">
                <a16:creationId xmlns:a16="http://schemas.microsoft.com/office/drawing/2014/main" id="{69330AB7-6A97-DC95-6E3B-513AF11C45BD}"/>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6" name="PlaceHolder 5">
            <a:extLst>
              <a:ext uri="{FF2B5EF4-FFF2-40B4-BE49-F238E27FC236}">
                <a16:creationId xmlns:a16="http://schemas.microsoft.com/office/drawing/2014/main" id="{D05787B4-071B-D25F-CE0E-E3E5AB1A9AA1}"/>
              </a:ext>
            </a:extLst>
          </p:cNvPr>
          <p:cNvSpPr>
            <a:spLocks noGrp="1"/>
          </p:cNvSpPr>
          <p:nvPr>
            <p:ph type="sldNum" idx="2"/>
          </p:nvPr>
        </p:nvSpPr>
        <p:spPr>
          <a:xfrm>
            <a:off x="8610480" y="6356520"/>
            <a:ext cx="2739960" cy="361800"/>
          </a:xfrm>
        </p:spPr>
        <p:txBody>
          <a:bodyPr/>
          <a:lstStyle/>
          <a:p>
            <a:fld id="{E2CF6877-FF63-44A7-AB15-0859B560B298}" type="slidenum">
              <a:rPr/>
              <a:t>27</a:t>
            </a:fld>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1" name="PlaceHolder 2"/>
          <p:cNvSpPr>
            <a:spLocks noGrp="1"/>
          </p:cNvSpPr>
          <p:nvPr>
            <p:ph type="body"/>
          </p:nvPr>
        </p:nvSpPr>
        <p:spPr>
          <a:prstGeom prst="rect">
            <a:avLst/>
          </a:prstGeom>
          <a:noFill/>
          <a:ln w="0">
            <a:noFill/>
          </a:ln>
        </p:spPr>
        <p:txBody>
          <a:bodyPr lIns="90000" tIns="45000" rIns="90000" bIns="45000" anchor="t">
            <a:normAutofit/>
          </a:bodyPr>
          <a:lstStyle/>
          <a:p>
            <a:pPr marL="228600" indent="0">
              <a:lnSpc>
                <a:spcPct val="90000"/>
              </a:lnSpc>
              <a:spcBef>
                <a:spcPts val="1001"/>
              </a:spcBef>
              <a:buNone/>
              <a:tabLst>
                <a:tab pos="0" algn="l"/>
              </a:tabLst>
            </a:pPr>
            <a:endParaRPr lang="en-GB" sz="2800" b="0" u="none" strike="noStrike" dirty="0">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US" sz="2800" b="0" u="none" strike="noStrike" dirty="0">
                <a:solidFill>
                  <a:srgbClr val="000000"/>
                </a:solidFill>
                <a:effectLst/>
                <a:uFillTx/>
                <a:latin typeface="Calibri"/>
                <a:ea typeface="DejaVu Sans"/>
              </a:rPr>
              <a:t>Tabular data tools vectorize the standard </a:t>
            </a:r>
            <a:r>
              <a:rPr lang="en-US" sz="2800" b="0" i="1" u="none" strike="noStrike" dirty="0">
                <a:solidFill>
                  <a:srgbClr val="000000"/>
                </a:solidFill>
                <a:effectLst/>
                <a:uFillTx/>
                <a:latin typeface="Calibri"/>
                <a:ea typeface="DejaVu Sans"/>
              </a:rPr>
              <a:t>split-apply-combine</a:t>
            </a:r>
            <a:r>
              <a:rPr lang="en-US" sz="2800" b="0" u="none" strike="noStrike" dirty="0">
                <a:solidFill>
                  <a:srgbClr val="000000"/>
                </a:solidFill>
                <a:effectLst/>
                <a:uFillTx/>
                <a:latin typeface="Calibri"/>
                <a:ea typeface="DejaVu Sans"/>
              </a:rPr>
              <a:t> operations, using a “group-by” command</a:t>
            </a:r>
            <a:endParaRPr lang="en-GB" sz="2800" b="0" u="none" strike="noStrike" dirty="0">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dirty="0">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US" sz="2800" b="0" u="none" strike="noStrike" dirty="0">
                <a:solidFill>
                  <a:srgbClr val="000000"/>
                </a:solidFill>
                <a:effectLst/>
                <a:uFillTx/>
                <a:latin typeface="Calibri"/>
                <a:ea typeface="DejaVu Sans"/>
              </a:rPr>
              <a:t>In addition, pandas has a “pivot-table” command that can be used to simplify the creation of more complex summary tables</a:t>
            </a:r>
            <a:endParaRPr lang="en-GB" sz="2800" b="0" u="none" strike="noStrike" dirty="0">
              <a:solidFill>
                <a:srgbClr val="000000"/>
              </a:solidFill>
              <a:effectLst/>
              <a:uFillTx/>
              <a:latin typeface="Arial"/>
            </a:endParaRPr>
          </a:p>
        </p:txBody>
      </p:sp>
      <p:sp>
        <p:nvSpPr>
          <p:cNvPr id="7" name="PlaceHolder 2">
            <a:extLst>
              <a:ext uri="{FF2B5EF4-FFF2-40B4-BE49-F238E27FC236}">
                <a16:creationId xmlns:a16="http://schemas.microsoft.com/office/drawing/2014/main" id="{7776D7B0-F83C-4672-C444-D1A2F35F597D}"/>
              </a:ext>
            </a:extLst>
          </p:cNvPr>
          <p:cNvSpPr>
            <a:spLocks noGrp="1"/>
          </p:cNvSpPr>
          <p:nvPr>
            <p:ph type="ftr" idx="1"/>
          </p:nvPr>
        </p:nvSpPr>
        <p:spPr/>
        <p:txBody>
          <a:bodyPr/>
          <a:lstStyle/>
          <a:p>
            <a:r>
              <a:rPr lang="en-US" dirty="0"/>
              <a:t>Tab, v3.0</a:t>
            </a:r>
            <a:endParaRPr dirty="0"/>
          </a:p>
        </p:txBody>
      </p:sp>
      <p:sp>
        <p:nvSpPr>
          <p:cNvPr id="4" name="PlaceHolder 5">
            <a:extLst>
              <a:ext uri="{FF2B5EF4-FFF2-40B4-BE49-F238E27FC236}">
                <a16:creationId xmlns:a16="http://schemas.microsoft.com/office/drawing/2014/main" id="{817B28A6-C54B-4354-F2E2-6A2A6D20396B}"/>
              </a:ext>
            </a:extLst>
          </p:cNvPr>
          <p:cNvSpPr>
            <a:spLocks noGrp="1"/>
          </p:cNvSpPr>
          <p:nvPr>
            <p:ph type="sldNum" idx="2"/>
          </p:nvPr>
        </p:nvSpPr>
        <p:spPr/>
        <p:txBody>
          <a:bodyPr/>
          <a:lstStyle/>
          <a:p>
            <a:fld id="{E2CF6877-FF63-44A7-AB15-0859B560B298}" type="slidenum">
              <a:rPr/>
              <a:t>28</a:t>
            </a:fld>
            <a:endParaRPr/>
          </a:p>
        </p:txBody>
      </p:sp>
      <p:sp>
        <p:nvSpPr>
          <p:cNvPr id="340" name="PlaceHolder 1"/>
          <p:cNvSpPr>
            <a:spLocks noGrp="1"/>
          </p:cNvSpPr>
          <p:nvPr>
            <p:ph type="title"/>
          </p:nvPr>
        </p:nvSpPr>
        <p:spPr>
          <a:prstGeom prst="rect">
            <a:avLst/>
          </a:prstGeom>
          <a:noFill/>
          <a:ln w="0">
            <a:noFill/>
          </a:ln>
        </p:spPr>
        <p:txBody>
          <a:bodyPr lIns="90000" tIns="45000" rIns="90000" bIns="45000" anchor="ctr">
            <a:norm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Split-apply-combine </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2" name="PlaceHolder 1">
            <a:extLst>
              <a:ext uri="{FF2B5EF4-FFF2-40B4-BE49-F238E27FC236}">
                <a16:creationId xmlns:a16="http://schemas.microsoft.com/office/drawing/2014/main" id="{B245EA5C-9F95-037C-0566-72ED00ED00F0}"/>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44" name="Picture 45"/>
          <p:cNvPicPr/>
          <p:nvPr/>
        </p:nvPicPr>
        <p:blipFill>
          <a:blip r:embed="rId2"/>
          <a:stretch/>
        </p:blipFill>
        <p:spPr>
          <a:xfrm>
            <a:off x="1775520" y="2645640"/>
            <a:ext cx="3396240" cy="3300480"/>
          </a:xfrm>
          <a:prstGeom prst="rect">
            <a:avLst/>
          </a:prstGeom>
          <a:noFill/>
          <a:ln w="0">
            <a:noFill/>
          </a:ln>
        </p:spPr>
      </p:pic>
      <p:sp>
        <p:nvSpPr>
          <p:cNvPr id="345" name="TextBox 91"/>
          <p:cNvSpPr/>
          <p:nvPr/>
        </p:nvSpPr>
        <p:spPr>
          <a:xfrm>
            <a:off x="9984600" y="476640"/>
            <a:ext cx="1869120" cy="638280"/>
          </a:xfrm>
          <a:prstGeom prst="rect">
            <a:avLst/>
          </a:prstGeom>
          <a:solidFill>
            <a:schemeClr val="accent2">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split</a:t>
            </a:r>
            <a:endParaRPr lang="en-GB" sz="3600" b="0" u="none" strike="noStrike">
              <a:solidFill>
                <a:srgbClr val="000000"/>
              </a:solidFill>
              <a:effectLst/>
              <a:uFillTx/>
              <a:latin typeface="Arial"/>
            </a:endParaRPr>
          </a:p>
        </p:txBody>
      </p:sp>
      <p:sp>
        <p:nvSpPr>
          <p:cNvPr id="346" name="TextBox 92"/>
          <p:cNvSpPr/>
          <p:nvPr/>
        </p:nvSpPr>
        <p:spPr>
          <a:xfrm>
            <a:off x="9984600" y="1214280"/>
            <a:ext cx="1869120" cy="644877"/>
          </a:xfrm>
          <a:prstGeom prst="rect">
            <a:avLst/>
          </a:prstGeom>
          <a:solidFill>
            <a:schemeClr val="accent5">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apply</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347" name="TextBox 93"/>
          <p:cNvSpPr/>
          <p:nvPr/>
        </p:nvSpPr>
        <p:spPr>
          <a:xfrm>
            <a:off x="9987480" y="2017440"/>
            <a:ext cx="1869120" cy="644877"/>
          </a:xfrm>
          <a:prstGeom prst="rect">
            <a:avLst/>
          </a:prstGeom>
          <a:solidFill>
            <a:schemeClr val="accent6">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combine</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348" name="TextBox 94"/>
          <p:cNvSpPr/>
          <p:nvPr/>
        </p:nvSpPr>
        <p:spPr>
          <a:xfrm>
            <a:off x="515340" y="536017"/>
            <a:ext cx="9469260" cy="1568206"/>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sz="2400" b="0" u="none" strike="noStrike" dirty="0" err="1">
                <a:solidFill>
                  <a:srgbClr val="000000"/>
                </a:solidFill>
                <a:effectLst/>
                <a:uFillTx/>
                <a:latin typeface="Consolas"/>
                <a:ea typeface="DejaVu Sans"/>
              </a:rPr>
              <a:t>data.pivot_table</a:t>
            </a:r>
            <a:r>
              <a:rPr lang="en-US" sz="2400" b="0" u="none" strike="noStrike" dirty="0">
                <a:solidFill>
                  <a:srgbClr val="000000"/>
                </a:solidFill>
                <a:effectLst/>
                <a:uFillTx/>
                <a:latin typeface="Consolas"/>
                <a:ea typeface="DejaVu Sans"/>
              </a:rPr>
              <a:t>(</a:t>
            </a:r>
            <a:br>
              <a:rPr sz="2400" dirty="0"/>
            </a:br>
            <a:r>
              <a:rPr lang="en-US" sz="2400" b="0" u="none" strike="noStrike" dirty="0">
                <a:solidFill>
                  <a:srgbClr val="000000"/>
                </a:solidFill>
                <a:effectLst/>
                <a:uFillTx/>
                <a:latin typeface="Consolas"/>
                <a:ea typeface="DejaVu Sans"/>
              </a:rPr>
              <a:t>	</a:t>
            </a:r>
            <a:r>
              <a:rPr lang="en-US" sz="2400" b="0" u="none" strike="noStrike" dirty="0">
                <a:solidFill>
                  <a:schemeClr val="accent2">
                    <a:lumMod val="75000"/>
                  </a:schemeClr>
                </a:solidFill>
                <a:effectLst/>
                <a:uFillTx/>
                <a:latin typeface="Consolas"/>
                <a:ea typeface="DejaVu Sans"/>
              </a:rPr>
              <a:t>index = '</a:t>
            </a:r>
            <a:r>
              <a:rPr lang="en-US" sz="2400" b="0" u="none" strike="noStrike" dirty="0" err="1">
                <a:solidFill>
                  <a:schemeClr val="accent2">
                    <a:lumMod val="75000"/>
                  </a:schemeClr>
                </a:solidFill>
                <a:effectLst/>
                <a:uFillTx/>
                <a:latin typeface="Consolas"/>
                <a:ea typeface="DejaVu Sans"/>
              </a:rPr>
              <a:t>condition_id</a:t>
            </a:r>
            <a:r>
              <a:rPr lang="en-US" sz="2400" b="0" u="none" strike="noStrike" dirty="0">
                <a:solidFill>
                  <a:schemeClr val="accent2">
                    <a:lumMod val="75000"/>
                  </a:schemeClr>
                </a:solidFill>
                <a:effectLst/>
                <a:uFillTx/>
                <a:latin typeface="Consolas"/>
                <a:ea typeface="DejaVu Sans"/>
              </a:rPr>
              <a:t>', columns = 'response'</a:t>
            </a:r>
            <a:r>
              <a:rPr lang="en-US" sz="2400" b="0" u="none" strike="noStrike" dirty="0">
                <a:solidFill>
                  <a:srgbClr val="000000"/>
                </a:solidFill>
                <a:effectLst/>
                <a:uFillTx/>
                <a:latin typeface="Consolas"/>
                <a:ea typeface="DejaVu Sans"/>
              </a:rPr>
              <a:t>, 	</a:t>
            </a:r>
            <a:r>
              <a:rPr lang="en-US" sz="2400" b="0" u="none" strike="noStrike" dirty="0">
                <a:solidFill>
                  <a:schemeClr val="accent1">
                    <a:lumMod val="75000"/>
                  </a:schemeClr>
                </a:solidFill>
                <a:effectLst/>
                <a:uFillTx/>
                <a:latin typeface="Consolas"/>
                <a:ea typeface="DejaVu Sans"/>
              </a:rPr>
              <a:t>values = '</a:t>
            </a:r>
            <a:r>
              <a:rPr lang="en-US" sz="2400" b="0" u="none" strike="noStrike" dirty="0" err="1">
                <a:solidFill>
                  <a:schemeClr val="accent1">
                    <a:lumMod val="75000"/>
                  </a:schemeClr>
                </a:solidFill>
                <a:effectLst/>
                <a:uFillTx/>
                <a:latin typeface="Consolas"/>
                <a:ea typeface="DejaVu Sans"/>
              </a:rPr>
              <a:t>response_time</a:t>
            </a:r>
            <a:r>
              <a:rPr lang="en-US" sz="2400" b="0" u="none" strike="noStrike" dirty="0">
                <a:solidFill>
                  <a:schemeClr val="accent1">
                    <a:lumMod val="75000"/>
                  </a:schemeClr>
                </a:solidFill>
                <a:effectLst/>
                <a:uFillTx/>
                <a:latin typeface="Consolas"/>
                <a:ea typeface="DejaVu Sans"/>
              </a:rPr>
              <a:t>', </a:t>
            </a:r>
            <a:r>
              <a:rPr lang="en-US" sz="2400" b="0" u="none" strike="noStrike" dirty="0" err="1">
                <a:solidFill>
                  <a:schemeClr val="accent1">
                    <a:lumMod val="75000"/>
                  </a:schemeClr>
                </a:solidFill>
                <a:effectLst/>
                <a:uFillTx/>
                <a:latin typeface="Consolas"/>
                <a:ea typeface="DejaVu Sans"/>
              </a:rPr>
              <a:t>aggfunc</a:t>
            </a:r>
            <a:r>
              <a:rPr lang="en-US" sz="2400" b="0" u="none" strike="noStrike" dirty="0">
                <a:solidFill>
                  <a:schemeClr val="accent1">
                    <a:lumMod val="75000"/>
                  </a:schemeClr>
                </a:solidFill>
                <a:effectLst/>
                <a:uFillTx/>
                <a:latin typeface="Consolas"/>
                <a:ea typeface="DejaVu Sans"/>
              </a:rPr>
              <a:t> = 'mean',</a:t>
            </a:r>
            <a:endParaRPr lang="en-GB" sz="2400" b="0" u="none" strike="noStrike" dirty="0">
              <a:solidFill>
                <a:srgbClr val="000000"/>
              </a:solidFill>
              <a:effectLst/>
              <a:uFillTx/>
              <a:latin typeface="Arial"/>
            </a:endParaRPr>
          </a:p>
          <a:p>
            <a:pPr>
              <a:lnSpc>
                <a:spcPct val="100000"/>
              </a:lnSpc>
            </a:pPr>
            <a:r>
              <a:rPr lang="en-US" sz="2400" b="0" u="none" strike="noStrike" dirty="0">
                <a:solidFill>
                  <a:srgbClr val="000000"/>
                </a:solidFill>
                <a:effectLst/>
                <a:uFillTx/>
                <a:latin typeface="Consolas"/>
                <a:ea typeface="DejaVu Sans"/>
              </a:rPr>
              <a:t>)</a:t>
            </a:r>
            <a:endParaRPr lang="en-GB" sz="2400" b="0" u="none" strike="noStrike" dirty="0">
              <a:solidFill>
                <a:srgbClr val="000000"/>
              </a:solidFill>
              <a:effectLst/>
              <a:uFillTx/>
              <a:latin typeface="Arial"/>
            </a:endParaRPr>
          </a:p>
        </p:txBody>
      </p:sp>
      <p:pic>
        <p:nvPicPr>
          <p:cNvPr id="349" name="Picture 46"/>
          <p:cNvPicPr/>
          <p:nvPr/>
        </p:nvPicPr>
        <p:blipFill>
          <a:blip r:embed="rId3"/>
          <a:stretch/>
        </p:blipFill>
        <p:spPr>
          <a:xfrm>
            <a:off x="6966000" y="3065400"/>
            <a:ext cx="2371680" cy="2460600"/>
          </a:xfrm>
          <a:prstGeom prst="rect">
            <a:avLst/>
          </a:prstGeom>
          <a:noFill/>
          <a:ln w="0">
            <a:noFill/>
          </a:ln>
        </p:spPr>
      </p:pic>
      <p:sp>
        <p:nvSpPr>
          <p:cNvPr id="350" name="Right Arrow 6"/>
          <p:cNvSpPr/>
          <p:nvPr/>
        </p:nvSpPr>
        <p:spPr>
          <a:xfrm>
            <a:off x="5818320" y="3867120"/>
            <a:ext cx="500760" cy="857520"/>
          </a:xfrm>
          <a:prstGeom prst="rightArrow">
            <a:avLst>
              <a:gd name="adj1" fmla="val 50000"/>
              <a:gd name="adj2" fmla="val 50000"/>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CH" sz="1800" b="0" u="none" strike="noStrike">
              <a:solidFill>
                <a:schemeClr val="lt1"/>
              </a:solidFill>
              <a:effectLst/>
              <a:uFillTx/>
              <a:latin typeface="Calibri"/>
              <a:ea typeface="DejaVu Sans"/>
            </a:endParaRPr>
          </a:p>
        </p:txBody>
      </p:sp>
      <p:sp>
        <p:nvSpPr>
          <p:cNvPr id="2" name="PlaceHolder 1">
            <a:extLst>
              <a:ext uri="{FF2B5EF4-FFF2-40B4-BE49-F238E27FC236}">
                <a16:creationId xmlns:a16="http://schemas.microsoft.com/office/drawing/2014/main" id="{53DF97E2-D020-E7DD-15A0-123A7F3ADCAC}"/>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6" name="PlaceHolder 2">
            <a:extLst>
              <a:ext uri="{FF2B5EF4-FFF2-40B4-BE49-F238E27FC236}">
                <a16:creationId xmlns:a16="http://schemas.microsoft.com/office/drawing/2014/main" id="{5FBA17CE-A8B5-1268-F8CF-E4CC5B1E8EE5}"/>
              </a:ext>
            </a:extLst>
          </p:cNvPr>
          <p:cNvSpPr>
            <a:spLocks noGrp="1"/>
          </p:cNvSpPr>
          <p:nvPr>
            <p:ph type="ftr" idx="1"/>
          </p:nvPr>
        </p:nvSpPr>
        <p:spPr>
          <a:xfrm>
            <a:off x="4038480" y="6356520"/>
            <a:ext cx="4111560" cy="361800"/>
          </a:xfrm>
        </p:spPr>
        <p:txBody>
          <a:bodyPr/>
          <a:lstStyle/>
          <a:p>
            <a:r>
              <a:rPr lang="en-US" dirty="0"/>
              <a:t>Tab, v3.0</a:t>
            </a:r>
            <a:endParaRPr dirty="0"/>
          </a:p>
        </p:txBody>
      </p:sp>
      <p:sp>
        <p:nvSpPr>
          <p:cNvPr id="7" name="PlaceHolder 5">
            <a:extLst>
              <a:ext uri="{FF2B5EF4-FFF2-40B4-BE49-F238E27FC236}">
                <a16:creationId xmlns:a16="http://schemas.microsoft.com/office/drawing/2014/main" id="{D083CB3B-0E73-CD4A-EA2D-11FD4DF7313C}"/>
              </a:ext>
            </a:extLst>
          </p:cNvPr>
          <p:cNvSpPr>
            <a:spLocks noGrp="1"/>
          </p:cNvSpPr>
          <p:nvPr>
            <p:ph type="sldNum" idx="2"/>
          </p:nvPr>
        </p:nvSpPr>
        <p:spPr>
          <a:xfrm>
            <a:off x="8610480" y="6356520"/>
            <a:ext cx="2739960" cy="361800"/>
          </a:xfrm>
        </p:spPr>
        <p:txBody>
          <a:bodyPr/>
          <a:lstStyle/>
          <a:p>
            <a:fld id="{3E148585-ABA2-4DA4-835D-3B33A5959990}" type="slidenum">
              <a:rPr/>
              <a:t>29</a:t>
            </a:fld>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2" name="PlaceHolder 1"/>
          <p:cNvSpPr>
            <a:spLocks noGrp="1"/>
          </p:cNvSpPr>
          <p:nvPr>
            <p:ph type="body"/>
          </p:nvPr>
        </p:nvSpPr>
        <p:spPr>
          <a:xfrm>
            <a:off x="609480" y="1604520"/>
            <a:ext cx="5486520" cy="3976920"/>
          </a:xfrm>
          <a:prstGeom prst="rect">
            <a:avLst/>
          </a:prstGeom>
          <a:noFill/>
          <a:ln w="0">
            <a:noFill/>
          </a:ln>
        </p:spPr>
        <p:txBody>
          <a:bodyPr lIns="90000" tIns="45000" rIns="90000" bIns="45000" anchor="t">
            <a:noAutofit/>
          </a:bodyPr>
          <a:lstStyle/>
          <a:p>
            <a:pPr marL="457200" indent="-457200">
              <a:spcBef>
                <a:spcPts val="1001"/>
              </a:spcBef>
              <a:buClr>
                <a:srgbClr val="000000"/>
              </a:buClr>
              <a:buFont typeface="Arial" panose="020B0604020202020204" pitchFamily="34" charset="0"/>
              <a:buChar char="•"/>
              <a:tabLst>
                <a:tab pos="0" algn="l"/>
              </a:tabLst>
            </a:pPr>
            <a:r>
              <a:rPr lang="en-GB" sz="2400" dirty="0">
                <a:solidFill>
                  <a:srgbClr val="000000"/>
                </a:solidFill>
                <a:latin typeface="Calibri" panose="020F0502020204030204" pitchFamily="34" charset="0"/>
                <a:cs typeface="Calibri" panose="020F0502020204030204" pitchFamily="34" charset="0"/>
              </a:rPr>
              <a:t>Pt1: Work with the dataset from the previous exercise </a:t>
            </a:r>
            <a:r>
              <a:rPr lang="en-GB" sz="2400" dirty="0">
                <a:solidFill>
                  <a:srgbClr val="000000"/>
                </a:solidFill>
                <a:latin typeface="Calibri" panose="020F0502020204030204" pitchFamily="34" charset="0"/>
                <a:ea typeface="DejaVu Sans"/>
                <a:cs typeface="Calibri" panose="020F0502020204030204" pitchFamily="34" charset="0"/>
              </a:rPr>
              <a:t>to answer the question: </a:t>
            </a:r>
            <a:r>
              <a:rPr lang="en-GB" sz="2400" b="0" u="sng" strike="noStrike" dirty="0">
                <a:solidFill>
                  <a:srgbClr val="000000"/>
                </a:solidFill>
                <a:effectLst/>
                <a:uFillTx/>
                <a:latin typeface="Calibri" panose="020F0502020204030204" pitchFamily="34" charset="0"/>
                <a:ea typeface="DejaVu Sans"/>
                <a:cs typeface="Calibri" panose="020F0502020204030204" pitchFamily="34" charset="0"/>
              </a:rPr>
              <a:t>I</a:t>
            </a:r>
            <a:r>
              <a:rPr lang="en-US" sz="2400" b="0" u="sng" strike="noStrike" dirty="0">
                <a:solidFill>
                  <a:srgbClr val="000000"/>
                </a:solidFill>
                <a:effectLst/>
                <a:uFillTx/>
                <a:latin typeface="Calibri" panose="020F0502020204030204" pitchFamily="34" charset="0"/>
                <a:ea typeface="DejaVu Sans"/>
                <a:cs typeface="Calibri" panose="020F0502020204030204" pitchFamily="34" charset="0"/>
              </a:rPr>
              <a:t>s</a:t>
            </a:r>
            <a:r>
              <a:rPr lang="en-GB" sz="2400" b="0" u="sng" strike="noStrike" dirty="0">
                <a:solidFill>
                  <a:srgbClr val="000000"/>
                </a:solidFill>
                <a:effectLst/>
                <a:uFillTx/>
                <a:latin typeface="Calibri" panose="020F0502020204030204" pitchFamily="34" charset="0"/>
                <a:ea typeface="DejaVu Sans"/>
                <a:cs typeface="Calibri" panose="020F0502020204030204" pitchFamily="34" charset="0"/>
              </a:rPr>
              <a:t> the mediterranean diet associated with less cardiovascular events?</a:t>
            </a:r>
          </a:p>
        </p:txBody>
      </p:sp>
      <p:sp>
        <p:nvSpPr>
          <p:cNvPr id="6" name="PlaceHolder 5"/>
          <p:cNvSpPr>
            <a:spLocks noGrp="1"/>
          </p:cNvSpPr>
          <p:nvPr>
            <p:ph type="sldNum" idx="2"/>
          </p:nvPr>
        </p:nvSpPr>
        <p:spPr/>
        <p:txBody>
          <a:bodyPr/>
          <a:lstStyle/>
          <a:p>
            <a:fld id="{3E148585-ABA2-4DA4-835D-3B33A5959990}" type="slidenum">
              <a:rPr/>
              <a:t>30</a:t>
            </a:fld>
            <a:endParaRPr/>
          </a:p>
        </p:txBody>
      </p:sp>
      <p:sp>
        <p:nvSpPr>
          <p:cNvPr id="357" name="PlaceHolder 3"/>
          <p:cNvSpPr>
            <a:spLocks noGrp="1"/>
          </p:cNvSpPr>
          <p:nvPr>
            <p:ph type="title"/>
          </p:nvPr>
        </p:nvSpPr>
        <p:spPr>
          <a:prstGeom prst="rect">
            <a:avLst/>
          </a:prstGeom>
          <a:noFill/>
          <a:ln w="0">
            <a:noFill/>
          </a:ln>
        </p:spPr>
        <p:txBody>
          <a:bodyPr lIns="90000" tIns="45000" rIns="90000" bIns="45000" anchor="ctr">
            <a:normAutofit/>
          </a:bodyPr>
          <a:lstStyle/>
          <a:p>
            <a:pPr indent="0">
              <a:lnSpc>
                <a:spcPct val="90000"/>
              </a:lnSpc>
              <a:buNone/>
              <a:tabLst>
                <a:tab pos="0" algn="l"/>
              </a:tabLst>
            </a:pPr>
            <a:r>
              <a:rPr lang="en-US" sz="4400" b="1" u="none" strike="noStrike" dirty="0">
                <a:solidFill>
                  <a:srgbClr val="000000"/>
                </a:solidFill>
                <a:effectLst/>
                <a:uFillTx/>
                <a:latin typeface="Calibri Light"/>
                <a:ea typeface="DejaVu Sans"/>
              </a:rPr>
              <a:t>Hands-on</a:t>
            </a:r>
            <a:endParaRPr lang="en-GB" sz="4400" b="0" u="none" strike="noStrike" dirty="0">
              <a:solidFill>
                <a:srgbClr val="000000"/>
              </a:solidFill>
              <a:effectLst/>
              <a:uFillTx/>
              <a:latin typeface="Arial"/>
            </a:endParaRPr>
          </a:p>
        </p:txBody>
      </p:sp>
      <p:grpSp>
        <p:nvGrpSpPr>
          <p:cNvPr id="2" name="Group 1">
            <a:extLst>
              <a:ext uri="{FF2B5EF4-FFF2-40B4-BE49-F238E27FC236}">
                <a16:creationId xmlns:a16="http://schemas.microsoft.com/office/drawing/2014/main" id="{63B572B5-E351-267C-AAEC-8C3BA10CB17E}"/>
              </a:ext>
            </a:extLst>
          </p:cNvPr>
          <p:cNvGrpSpPr/>
          <p:nvPr/>
        </p:nvGrpSpPr>
        <p:grpSpPr>
          <a:xfrm>
            <a:off x="6542614" y="1461163"/>
            <a:ext cx="5054600" cy="1990139"/>
            <a:chOff x="5812078" y="489442"/>
            <a:chExt cx="4634630" cy="1537721"/>
          </a:xfrm>
        </p:grpSpPr>
        <p:sp>
          <p:nvSpPr>
            <p:cNvPr id="3" name="Rectangle 3">
              <a:extLst>
                <a:ext uri="{FF2B5EF4-FFF2-40B4-BE49-F238E27FC236}">
                  <a16:creationId xmlns:a16="http://schemas.microsoft.com/office/drawing/2014/main" id="{D0C8DE16-458E-DB1D-31D8-FBD9DB9C93F8}"/>
                </a:ext>
              </a:extLst>
            </p:cNvPr>
            <p:cNvSpPr/>
            <p:nvPr/>
          </p:nvSpPr>
          <p:spPr>
            <a:xfrm>
              <a:off x="5812078" y="489442"/>
              <a:ext cx="4634630" cy="1489669"/>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endParaRPr lang="en-DE" sz="1800" b="0" u="none" strike="noStrike">
                <a:solidFill>
                  <a:srgbClr val="000000"/>
                </a:solidFill>
                <a:effectLst/>
                <a:uFillTx/>
                <a:latin typeface="Courier New"/>
                <a:ea typeface="DejaVu Sans"/>
              </a:endParaRPr>
            </a:p>
          </p:txBody>
        </p:sp>
        <p:sp>
          <p:nvSpPr>
            <p:cNvPr id="4" name="TextBox 79">
              <a:extLst>
                <a:ext uri="{FF2B5EF4-FFF2-40B4-BE49-F238E27FC236}">
                  <a16:creationId xmlns:a16="http://schemas.microsoft.com/office/drawing/2014/main" id="{02D1BFD0-A264-CFEC-E044-ECD8F91AB502}"/>
                </a:ext>
              </a:extLst>
            </p:cNvPr>
            <p:cNvSpPr/>
            <p:nvPr/>
          </p:nvSpPr>
          <p:spPr>
            <a:xfrm>
              <a:off x="5812078" y="636145"/>
              <a:ext cx="4634628" cy="308029"/>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a:lnSpc>
                  <a:spcPct val="100000"/>
                </a:lnSpc>
              </a:pPr>
              <a:r>
                <a:rPr lang="en-DE" sz="2000" b="1" u="none" strike="noStrike" dirty="0">
                  <a:solidFill>
                    <a:srgbClr val="000000"/>
                  </a:solidFill>
                  <a:effectLst/>
                  <a:uFillTx/>
                  <a:latin typeface="Courier New"/>
                  <a:ea typeface="DejaVu Sans"/>
                </a:rPr>
                <a:t>Exercise pt 1: 15 minutes</a:t>
              </a:r>
              <a:endParaRPr lang="en-GB" sz="2000" b="0" u="none" strike="noStrike" dirty="0">
                <a:solidFill>
                  <a:srgbClr val="000000"/>
                </a:solidFill>
                <a:effectLst/>
                <a:uFillTx/>
                <a:latin typeface="Arial"/>
              </a:endParaRPr>
            </a:p>
          </p:txBody>
        </p:sp>
        <p:pic>
          <p:nvPicPr>
            <p:cNvPr id="7" name="Graphic 9">
              <a:extLst>
                <a:ext uri="{FF2B5EF4-FFF2-40B4-BE49-F238E27FC236}">
                  <a16:creationId xmlns:a16="http://schemas.microsoft.com/office/drawing/2014/main" id="{5B577435-DEAE-D704-A21E-56763C05CFA0}"/>
                </a:ext>
              </a:extLst>
            </p:cNvPr>
            <p:cNvPicPr/>
            <p:nvPr/>
          </p:nvPicPr>
          <p:blipFill>
            <a:blip r:embed="rId3"/>
            <a:stretch/>
          </p:blipFill>
          <p:spPr>
            <a:xfrm>
              <a:off x="6105134" y="958156"/>
              <a:ext cx="691200" cy="552240"/>
            </a:xfrm>
            <a:prstGeom prst="rect">
              <a:avLst/>
            </a:prstGeom>
            <a:noFill/>
            <a:ln w="0">
              <a:noFill/>
            </a:ln>
          </p:spPr>
        </p:pic>
        <p:sp>
          <p:nvSpPr>
            <p:cNvPr id="8" name="TextBox 80">
              <a:extLst>
                <a:ext uri="{FF2B5EF4-FFF2-40B4-BE49-F238E27FC236}">
                  <a16:creationId xmlns:a16="http://schemas.microsoft.com/office/drawing/2014/main" id="{5F29C437-44F3-14EE-0B19-5A46C0ABE738}"/>
                </a:ext>
              </a:extLst>
            </p:cNvPr>
            <p:cNvSpPr/>
            <p:nvPr/>
          </p:nvSpPr>
          <p:spPr>
            <a:xfrm>
              <a:off x="7089390" y="1105287"/>
              <a:ext cx="3053387" cy="921876"/>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GB" dirty="0">
                  <a:solidFill>
                    <a:srgbClr val="000000"/>
                  </a:solidFill>
                  <a:latin typeface="Courier New"/>
                  <a:ea typeface="DejaVu Sans"/>
                </a:rPr>
                <a:t>e</a:t>
              </a:r>
              <a:r>
                <a:rPr lang="en-GB" b="0" u="none" strike="noStrike" dirty="0">
                  <a:solidFill>
                    <a:srgbClr val="000000"/>
                  </a:solidFill>
                  <a:effectLst/>
                  <a:uFillTx/>
                  <a:latin typeface="Courier New"/>
                  <a:ea typeface="DejaVu Sans"/>
                </a:rPr>
                <a:t>xercises/tabular_</a:t>
              </a:r>
              <a:r>
                <a:rPr lang="en-US" b="0" u="none" strike="noStrike" dirty="0" err="1">
                  <a:solidFill>
                    <a:srgbClr val="000000"/>
                  </a:solidFill>
                  <a:effectLst/>
                  <a:uFillTx/>
                  <a:latin typeface="Courier New"/>
                  <a:ea typeface="DejaVu Sans"/>
                </a:rPr>
                <a:t>split_apply_combine</a:t>
              </a:r>
              <a:r>
                <a:rPr lang="en-GB" dirty="0">
                  <a:solidFill>
                    <a:srgbClr val="000000"/>
                  </a:solidFill>
                  <a:latin typeface="Courier New"/>
                  <a:ea typeface="DejaVu Sans"/>
                </a:rPr>
                <a:t>/split_apply_combine_part1.ipynb</a:t>
              </a:r>
              <a:endParaRPr lang="en-GB" b="0" u="none" strike="noStrike" dirty="0">
                <a:solidFill>
                  <a:srgbClr val="000000"/>
                </a:solidFill>
                <a:effectLst/>
                <a:uFillTx/>
                <a:latin typeface="Arial"/>
              </a:endParaRPr>
            </a:p>
          </p:txBody>
        </p:sp>
      </p:grpSp>
      <p:sp>
        <p:nvSpPr>
          <p:cNvPr id="16" name="PlaceHolder 1">
            <a:extLst>
              <a:ext uri="{FF2B5EF4-FFF2-40B4-BE49-F238E27FC236}">
                <a16:creationId xmlns:a16="http://schemas.microsoft.com/office/drawing/2014/main" id="{4FFB7CD8-17A0-1AD0-B239-C5107D520FA7}"/>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9" name="PlaceHolder 2">
            <a:extLst>
              <a:ext uri="{FF2B5EF4-FFF2-40B4-BE49-F238E27FC236}">
                <a16:creationId xmlns:a16="http://schemas.microsoft.com/office/drawing/2014/main" id="{E59D2C86-5480-47F0-E962-1A799A053143}"/>
              </a:ext>
            </a:extLst>
          </p:cNvPr>
          <p:cNvSpPr>
            <a:spLocks noGrp="1"/>
          </p:cNvSpPr>
          <p:nvPr>
            <p:ph type="ftr" idx="1"/>
          </p:nvPr>
        </p:nvSpPr>
        <p:spPr>
          <a:xfrm>
            <a:off x="4038480" y="6356520"/>
            <a:ext cx="4111560" cy="361800"/>
          </a:xfrm>
        </p:spPr>
        <p:txBody>
          <a:bodyPr/>
          <a:lstStyle/>
          <a:p>
            <a:r>
              <a:rPr lang="en-US" dirty="0"/>
              <a:t>Tab, v3.0</a:t>
            </a:r>
            <a:endParaRPr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9FC9D2DA-A69A-CBEC-9FC5-636BA04219D4}"/>
              </a:ext>
            </a:extLst>
          </p:cNvPr>
          <p:cNvSpPr>
            <a:spLocks noGrp="1"/>
          </p:cNvSpPr>
          <p:nvPr>
            <p:ph type="title"/>
          </p:nvPr>
        </p:nvSpPr>
        <p:spPr/>
        <p:txBody>
          <a:bodyPr/>
          <a:lstStyle/>
          <a:p>
            <a:r>
              <a:rPr lang="en-US" dirty="0">
                <a:latin typeface="Calibri" panose="020F0502020204030204" pitchFamily="34" charset="0"/>
                <a:cs typeface="Calibri" panose="020F0502020204030204" pitchFamily="34" charset="0"/>
              </a:rPr>
              <a:t>Split-apply-combine operations and performance</a:t>
            </a:r>
          </a:p>
        </p:txBody>
      </p:sp>
      <p:sp>
        <p:nvSpPr>
          <p:cNvPr id="6" name="PlaceHolder 5"/>
          <p:cNvSpPr>
            <a:spLocks noGrp="1"/>
          </p:cNvSpPr>
          <p:nvPr>
            <p:ph type="sldNum" idx="2"/>
          </p:nvPr>
        </p:nvSpPr>
        <p:spPr/>
        <p:txBody>
          <a:bodyPr/>
          <a:lstStyle/>
          <a:p>
            <a:fld id="{4D37C06B-2B80-444E-91D9-E29CAECFF7F7}" type="slidenum">
              <a:rPr/>
              <a:t>31</a:t>
            </a:fld>
            <a:endParaRPr/>
          </a:p>
        </p:txBody>
      </p:sp>
      <p:sp>
        <p:nvSpPr>
          <p:cNvPr id="2" name="PlaceHolder 1">
            <a:extLst>
              <a:ext uri="{FF2B5EF4-FFF2-40B4-BE49-F238E27FC236}">
                <a16:creationId xmlns:a16="http://schemas.microsoft.com/office/drawing/2014/main" id="{68198F41-0F02-B5F2-9316-942CE4B3CD00}"/>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pic>
        <p:nvPicPr>
          <p:cNvPr id="21" name="Picture 20">
            <a:extLst>
              <a:ext uri="{FF2B5EF4-FFF2-40B4-BE49-F238E27FC236}">
                <a16:creationId xmlns:a16="http://schemas.microsoft.com/office/drawing/2014/main" id="{75BADF87-4242-2867-F2C2-03898FD1D1D0}"/>
              </a:ext>
            </a:extLst>
          </p:cNvPr>
          <p:cNvPicPr>
            <a:picLocks noChangeAspect="1"/>
          </p:cNvPicPr>
          <p:nvPr/>
        </p:nvPicPr>
        <p:blipFill>
          <a:blip r:embed="rId3"/>
          <a:stretch>
            <a:fillRect/>
          </a:stretch>
        </p:blipFill>
        <p:spPr>
          <a:xfrm>
            <a:off x="318533" y="1962150"/>
            <a:ext cx="3407815" cy="3578576"/>
          </a:xfrm>
          <a:prstGeom prst="rect">
            <a:avLst/>
          </a:prstGeom>
        </p:spPr>
      </p:pic>
      <p:sp>
        <p:nvSpPr>
          <p:cNvPr id="4" name="PlaceHolder 2">
            <a:extLst>
              <a:ext uri="{FF2B5EF4-FFF2-40B4-BE49-F238E27FC236}">
                <a16:creationId xmlns:a16="http://schemas.microsoft.com/office/drawing/2014/main" id="{3479E94B-C666-7554-1852-CCCF1DD6E6A5}"/>
              </a:ext>
            </a:extLst>
          </p:cNvPr>
          <p:cNvSpPr>
            <a:spLocks noGrp="1"/>
          </p:cNvSpPr>
          <p:nvPr>
            <p:ph type="ftr" idx="1"/>
          </p:nvPr>
        </p:nvSpPr>
        <p:spPr>
          <a:xfrm>
            <a:off x="4038480" y="6356520"/>
            <a:ext cx="4111560" cy="361800"/>
          </a:xfrm>
        </p:spPr>
        <p:txBody>
          <a:bodyPr/>
          <a:lstStyle/>
          <a:p>
            <a:r>
              <a:rPr lang="en-US" dirty="0"/>
              <a:t>Tab, v3.0</a:t>
            </a:r>
            <a:endParaRPr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C275B6-9E78-58A9-2CA3-31B8D87F3243}"/>
            </a:ext>
          </a:extLst>
        </p:cNvPr>
        <p:cNvGrpSpPr/>
        <p:nvPr/>
      </p:nvGrpSpPr>
      <p:grpSpPr>
        <a:xfrm>
          <a:off x="0" y="0"/>
          <a:ext cx="0" cy="0"/>
          <a:chOff x="0" y="0"/>
          <a:chExt cx="0" cy="0"/>
        </a:xfrm>
      </p:grpSpPr>
      <p:sp>
        <p:nvSpPr>
          <p:cNvPr id="6" name="PlaceHolder 5">
            <a:extLst>
              <a:ext uri="{FF2B5EF4-FFF2-40B4-BE49-F238E27FC236}">
                <a16:creationId xmlns:a16="http://schemas.microsoft.com/office/drawing/2014/main" id="{DEE273D6-B4A3-BE11-A2BE-EA7D7E24208F}"/>
              </a:ext>
            </a:extLst>
          </p:cNvPr>
          <p:cNvSpPr>
            <a:spLocks noGrp="1"/>
          </p:cNvSpPr>
          <p:nvPr>
            <p:ph type="sldNum" idx="2"/>
          </p:nvPr>
        </p:nvSpPr>
        <p:spPr/>
        <p:txBody>
          <a:bodyPr/>
          <a:lstStyle/>
          <a:p>
            <a:fld id="{4D37C06B-2B80-444E-91D9-E29CAECFF7F7}" type="slidenum">
              <a:rPr/>
              <a:t>32</a:t>
            </a:fld>
            <a:endParaRPr/>
          </a:p>
        </p:txBody>
      </p:sp>
      <p:sp>
        <p:nvSpPr>
          <p:cNvPr id="2" name="PlaceHolder 1">
            <a:extLst>
              <a:ext uri="{FF2B5EF4-FFF2-40B4-BE49-F238E27FC236}">
                <a16:creationId xmlns:a16="http://schemas.microsoft.com/office/drawing/2014/main" id="{1F0C7A23-02CE-267B-BE6D-687FC2E10494}"/>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t>ASPP </a:t>
            </a:r>
            <a:r>
              <a:rPr lang="en-GB" dirty="0" err="1"/>
              <a:t>LatAm</a:t>
            </a:r>
            <a:r>
              <a:rPr lang="en-GB" dirty="0"/>
              <a:t>, July 2026</a:t>
            </a:r>
          </a:p>
        </p:txBody>
      </p:sp>
      <p:sp>
        <p:nvSpPr>
          <p:cNvPr id="17" name="TextBox 68">
            <a:extLst>
              <a:ext uri="{FF2B5EF4-FFF2-40B4-BE49-F238E27FC236}">
                <a16:creationId xmlns:a16="http://schemas.microsoft.com/office/drawing/2014/main" id="{90F6E6EC-E893-446A-8C31-E4A7AE0F75D9}"/>
              </a:ext>
            </a:extLst>
          </p:cNvPr>
          <p:cNvSpPr/>
          <p:nvPr/>
        </p:nvSpPr>
        <p:spPr>
          <a:xfrm>
            <a:off x="4331632" y="1514134"/>
            <a:ext cx="1869120" cy="644877"/>
          </a:xfrm>
          <a:prstGeom prst="rect">
            <a:avLst/>
          </a:prstGeom>
          <a:solidFill>
            <a:schemeClr val="accent2">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split</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18" name="TextBox 69">
            <a:extLst>
              <a:ext uri="{FF2B5EF4-FFF2-40B4-BE49-F238E27FC236}">
                <a16:creationId xmlns:a16="http://schemas.microsoft.com/office/drawing/2014/main" id="{0B079563-EF39-7CEC-93E3-9FB63530D0D7}"/>
              </a:ext>
            </a:extLst>
          </p:cNvPr>
          <p:cNvSpPr/>
          <p:nvPr/>
        </p:nvSpPr>
        <p:spPr>
          <a:xfrm>
            <a:off x="4331632" y="3311495"/>
            <a:ext cx="1869120" cy="644877"/>
          </a:xfrm>
          <a:prstGeom prst="rect">
            <a:avLst/>
          </a:prstGeom>
          <a:solidFill>
            <a:schemeClr val="accent5">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apply</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19" name="TextBox 70">
            <a:extLst>
              <a:ext uri="{FF2B5EF4-FFF2-40B4-BE49-F238E27FC236}">
                <a16:creationId xmlns:a16="http://schemas.microsoft.com/office/drawing/2014/main" id="{9AD215D6-F1B7-A6CA-D331-E382A86E16EB}"/>
              </a:ext>
            </a:extLst>
          </p:cNvPr>
          <p:cNvSpPr/>
          <p:nvPr/>
        </p:nvSpPr>
        <p:spPr>
          <a:xfrm>
            <a:off x="4331632" y="5108855"/>
            <a:ext cx="1869120" cy="644877"/>
          </a:xfrm>
          <a:prstGeom prst="rect">
            <a:avLst/>
          </a:prstGeom>
          <a:solidFill>
            <a:schemeClr val="accent6">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combine</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pic>
        <p:nvPicPr>
          <p:cNvPr id="21" name="Picture 20">
            <a:extLst>
              <a:ext uri="{FF2B5EF4-FFF2-40B4-BE49-F238E27FC236}">
                <a16:creationId xmlns:a16="http://schemas.microsoft.com/office/drawing/2014/main" id="{92F21F5B-B820-BE59-63A9-D2F5DCB0B26D}"/>
              </a:ext>
            </a:extLst>
          </p:cNvPr>
          <p:cNvPicPr>
            <a:picLocks noChangeAspect="1"/>
          </p:cNvPicPr>
          <p:nvPr/>
        </p:nvPicPr>
        <p:blipFill>
          <a:blip r:embed="rId3"/>
          <a:stretch>
            <a:fillRect/>
          </a:stretch>
        </p:blipFill>
        <p:spPr>
          <a:xfrm>
            <a:off x="318533" y="1962150"/>
            <a:ext cx="3407815" cy="3578576"/>
          </a:xfrm>
          <a:prstGeom prst="rect">
            <a:avLst/>
          </a:prstGeom>
        </p:spPr>
      </p:pic>
      <p:sp>
        <p:nvSpPr>
          <p:cNvPr id="22" name="TextBox 21">
            <a:extLst>
              <a:ext uri="{FF2B5EF4-FFF2-40B4-BE49-F238E27FC236}">
                <a16:creationId xmlns:a16="http://schemas.microsoft.com/office/drawing/2014/main" id="{C729CA7A-784D-F2CC-C571-BCF4D9DA0501}"/>
              </a:ext>
            </a:extLst>
          </p:cNvPr>
          <p:cNvSpPr txBox="1"/>
          <p:nvPr/>
        </p:nvSpPr>
        <p:spPr>
          <a:xfrm>
            <a:off x="4277781" y="2550587"/>
            <a:ext cx="1976823" cy="369332"/>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by diet group</a:t>
            </a:r>
          </a:p>
        </p:txBody>
      </p:sp>
      <p:sp>
        <p:nvSpPr>
          <p:cNvPr id="23" name="TextBox 22">
            <a:extLst>
              <a:ext uri="{FF2B5EF4-FFF2-40B4-BE49-F238E27FC236}">
                <a16:creationId xmlns:a16="http://schemas.microsoft.com/office/drawing/2014/main" id="{A1DF95CE-3AEA-B853-A19E-3822B85B146D}"/>
              </a:ext>
            </a:extLst>
          </p:cNvPr>
          <p:cNvSpPr txBox="1"/>
          <p:nvPr/>
        </p:nvSpPr>
        <p:spPr>
          <a:xfrm>
            <a:off x="3726348" y="4347948"/>
            <a:ext cx="3079689" cy="369332"/>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sum() of event counts</a:t>
            </a:r>
          </a:p>
        </p:txBody>
      </p:sp>
      <p:sp>
        <p:nvSpPr>
          <p:cNvPr id="3" name="TextBox 90">
            <a:extLst>
              <a:ext uri="{FF2B5EF4-FFF2-40B4-BE49-F238E27FC236}">
                <a16:creationId xmlns:a16="http://schemas.microsoft.com/office/drawing/2014/main" id="{96048B9F-80CE-5209-4F28-B000DC4DE05D}"/>
              </a:ext>
            </a:extLst>
          </p:cNvPr>
          <p:cNvSpPr/>
          <p:nvPr/>
        </p:nvSpPr>
        <p:spPr>
          <a:xfrm>
            <a:off x="318533" y="535117"/>
            <a:ext cx="1115784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US" sz="2800" dirty="0" err="1">
                <a:solidFill>
                  <a:srgbClr val="000000"/>
                </a:solidFill>
                <a:latin typeface="Consolas"/>
                <a:ea typeface="DejaVu Sans"/>
              </a:rPr>
              <a:t>df_patients</a:t>
            </a:r>
            <a:r>
              <a:rPr lang="en-CH" sz="2800" b="0" u="none" strike="noStrike">
                <a:solidFill>
                  <a:schemeClr val="accent2">
                    <a:lumMod val="75000"/>
                  </a:schemeClr>
                </a:solidFill>
                <a:effectLst/>
                <a:uFillTx/>
                <a:latin typeface="Consolas"/>
                <a:ea typeface="DejaVu Sans"/>
              </a:rPr>
              <a:t>.groupby(‘</a:t>
            </a:r>
            <a:r>
              <a:rPr lang="en-US" sz="2800" dirty="0">
                <a:solidFill>
                  <a:schemeClr val="accent2">
                    <a:lumMod val="75000"/>
                  </a:schemeClr>
                </a:solidFill>
                <a:latin typeface="Consolas"/>
                <a:ea typeface="DejaVu Sans"/>
              </a:rPr>
              <a:t>group</a:t>
            </a:r>
            <a:r>
              <a:rPr lang="en-CH" sz="2800" b="0" u="none" strike="noStrike">
                <a:solidFill>
                  <a:schemeClr val="accent2">
                    <a:lumMod val="75000"/>
                  </a:schemeClr>
                </a:solidFill>
                <a:effectLst/>
                <a:uFillTx/>
                <a:latin typeface="Consolas"/>
                <a:ea typeface="DejaVu Sans"/>
              </a:rPr>
              <a:t>’)</a:t>
            </a:r>
            <a:r>
              <a:rPr lang="en-CH" sz="2800" b="0" u="none" strike="noStrike">
                <a:solidFill>
                  <a:schemeClr val="accent1">
                    <a:lumMod val="75000"/>
                  </a:schemeClr>
                </a:solidFill>
                <a:effectLst/>
                <a:uFillTx/>
                <a:latin typeface="Consolas"/>
                <a:ea typeface="DejaVu Sans"/>
              </a:rPr>
              <a:t>[‘</a:t>
            </a:r>
            <a:r>
              <a:rPr lang="en-US" sz="2800" b="0" u="none" strike="noStrike" dirty="0" err="1">
                <a:solidFill>
                  <a:schemeClr val="accent1">
                    <a:lumMod val="75000"/>
                  </a:schemeClr>
                </a:solidFill>
                <a:effectLst/>
                <a:uFillTx/>
                <a:latin typeface="Consolas"/>
                <a:ea typeface="DejaVu Sans"/>
              </a:rPr>
              <a:t>event_int</a:t>
            </a:r>
            <a:r>
              <a:rPr lang="en-CH" sz="2800" b="0" u="none" strike="noStrike">
                <a:solidFill>
                  <a:schemeClr val="accent1">
                    <a:lumMod val="75000"/>
                  </a:schemeClr>
                </a:solidFill>
                <a:effectLst/>
                <a:uFillTx/>
                <a:latin typeface="Consolas"/>
                <a:ea typeface="DejaVu Sans"/>
              </a:rPr>
              <a:t>’].</a:t>
            </a:r>
            <a:r>
              <a:rPr lang="en-US" sz="2800" b="0" u="none" strike="noStrike" dirty="0">
                <a:solidFill>
                  <a:schemeClr val="accent1">
                    <a:lumMod val="75000"/>
                  </a:schemeClr>
                </a:solidFill>
                <a:effectLst/>
                <a:uFillTx/>
                <a:latin typeface="Consolas"/>
                <a:ea typeface="DejaVu Sans"/>
              </a:rPr>
              <a:t>sum</a:t>
            </a:r>
            <a:r>
              <a:rPr lang="en-CH" sz="2800" b="0" u="none" strike="noStrike">
                <a:solidFill>
                  <a:schemeClr val="accent1">
                    <a:lumMod val="75000"/>
                  </a:schemeClr>
                </a:solidFill>
                <a:effectLst/>
                <a:uFillTx/>
                <a:latin typeface="Consolas"/>
                <a:ea typeface="DejaVu Sans"/>
              </a:rPr>
              <a:t>()</a:t>
            </a:r>
            <a:endParaRPr lang="en-GB" sz="2800" b="0" u="none" strike="noStrike" dirty="0">
              <a:solidFill>
                <a:srgbClr val="000000"/>
              </a:solidFill>
              <a:effectLst/>
              <a:uFillTx/>
              <a:latin typeface="Arial"/>
            </a:endParaRPr>
          </a:p>
        </p:txBody>
      </p:sp>
      <p:sp>
        <p:nvSpPr>
          <p:cNvPr id="11" name="PlaceHolder 2">
            <a:extLst>
              <a:ext uri="{FF2B5EF4-FFF2-40B4-BE49-F238E27FC236}">
                <a16:creationId xmlns:a16="http://schemas.microsoft.com/office/drawing/2014/main" id="{EC1591EA-1806-DD8A-EDB7-B009B609A77E}"/>
              </a:ext>
            </a:extLst>
          </p:cNvPr>
          <p:cNvSpPr>
            <a:spLocks noGrp="1"/>
          </p:cNvSpPr>
          <p:nvPr>
            <p:ph type="ftr" idx="1"/>
          </p:nvPr>
        </p:nvSpPr>
        <p:spPr>
          <a:xfrm>
            <a:off x="4038480" y="6356520"/>
            <a:ext cx="4111560" cy="361800"/>
          </a:xfrm>
        </p:spPr>
        <p:txBody>
          <a:bodyPr/>
          <a:lstStyle/>
          <a:p>
            <a:r>
              <a:rPr lang="en-US" dirty="0"/>
              <a:t>Tab, v3.0</a:t>
            </a:r>
            <a:endParaRPr dirty="0"/>
          </a:p>
        </p:txBody>
      </p:sp>
    </p:spTree>
    <p:extLst>
      <p:ext uri="{BB962C8B-B14F-4D97-AF65-F5344CB8AC3E}">
        <p14:creationId xmlns:p14="http://schemas.microsoft.com/office/powerpoint/2010/main" val="407745575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7A5701-F6A5-CCE0-9749-3C5657BA94E6}"/>
            </a:ext>
          </a:extLst>
        </p:cNvPr>
        <p:cNvGrpSpPr/>
        <p:nvPr/>
      </p:nvGrpSpPr>
      <p:grpSpPr>
        <a:xfrm>
          <a:off x="0" y="0"/>
          <a:ext cx="0" cy="0"/>
          <a:chOff x="0" y="0"/>
          <a:chExt cx="0" cy="0"/>
        </a:xfrm>
      </p:grpSpPr>
      <p:sp>
        <p:nvSpPr>
          <p:cNvPr id="352" name="PlaceHolder 1">
            <a:extLst>
              <a:ext uri="{FF2B5EF4-FFF2-40B4-BE49-F238E27FC236}">
                <a16:creationId xmlns:a16="http://schemas.microsoft.com/office/drawing/2014/main" id="{CEA77338-FAB8-EE94-89A9-E29D1BD43816}"/>
              </a:ext>
            </a:extLst>
          </p:cNvPr>
          <p:cNvSpPr>
            <a:spLocks noGrp="1"/>
          </p:cNvSpPr>
          <p:nvPr>
            <p:ph type="body"/>
          </p:nvPr>
        </p:nvSpPr>
        <p:spPr>
          <a:xfrm>
            <a:off x="609480" y="1438860"/>
            <a:ext cx="5486520" cy="4542453"/>
          </a:xfrm>
          <a:prstGeom prst="rect">
            <a:avLst/>
          </a:prstGeom>
          <a:noFill/>
          <a:ln w="0">
            <a:noFill/>
          </a:ln>
        </p:spPr>
        <p:txBody>
          <a:bodyPr lIns="90000" tIns="45000" rIns="90000" bIns="45000" anchor="t">
            <a:noAutofit/>
          </a:bodyPr>
          <a:lstStyle/>
          <a:p>
            <a:pPr marL="457200" indent="-457200">
              <a:spcBef>
                <a:spcPts val="1001"/>
              </a:spcBef>
              <a:buClr>
                <a:srgbClr val="000000"/>
              </a:buClr>
              <a:buFont typeface="Arial" panose="020B0604020202020204" pitchFamily="34" charset="0"/>
              <a:buChar char="•"/>
              <a:tabLst>
                <a:tab pos="0" algn="l"/>
              </a:tabLst>
            </a:pPr>
            <a:r>
              <a:rPr lang="en-GB" sz="2400" dirty="0">
                <a:solidFill>
                  <a:srgbClr val="000000"/>
                </a:solidFill>
                <a:latin typeface="Calibri" panose="020F0502020204030204" pitchFamily="34" charset="0"/>
                <a:cs typeface="Calibri" panose="020F0502020204030204" pitchFamily="34" charset="0"/>
              </a:rPr>
              <a:t>Pt1: Work with the dataset from the previous exercise </a:t>
            </a:r>
            <a:r>
              <a:rPr lang="en-GB" sz="2400" dirty="0">
                <a:solidFill>
                  <a:srgbClr val="000000"/>
                </a:solidFill>
                <a:latin typeface="Calibri" panose="020F0502020204030204" pitchFamily="34" charset="0"/>
                <a:ea typeface="DejaVu Sans"/>
                <a:cs typeface="Calibri" panose="020F0502020204030204" pitchFamily="34" charset="0"/>
              </a:rPr>
              <a:t>to answer the question: </a:t>
            </a:r>
            <a:r>
              <a:rPr lang="en-GB" sz="2400" b="0" u="sng" strike="noStrike" dirty="0">
                <a:solidFill>
                  <a:srgbClr val="000000"/>
                </a:solidFill>
                <a:effectLst/>
                <a:uFillTx/>
                <a:latin typeface="Calibri" panose="020F0502020204030204" pitchFamily="34" charset="0"/>
                <a:ea typeface="DejaVu Sans"/>
                <a:cs typeface="Calibri" panose="020F0502020204030204" pitchFamily="34" charset="0"/>
              </a:rPr>
              <a:t>I</a:t>
            </a:r>
            <a:r>
              <a:rPr lang="en-US" sz="2400" b="0" u="sng" strike="noStrike" dirty="0">
                <a:solidFill>
                  <a:srgbClr val="000000"/>
                </a:solidFill>
                <a:effectLst/>
                <a:uFillTx/>
                <a:latin typeface="Calibri" panose="020F0502020204030204" pitchFamily="34" charset="0"/>
                <a:ea typeface="DejaVu Sans"/>
                <a:cs typeface="Calibri" panose="020F0502020204030204" pitchFamily="34" charset="0"/>
              </a:rPr>
              <a:t>s</a:t>
            </a:r>
            <a:r>
              <a:rPr lang="en-GB" sz="2400" b="0" u="sng" strike="noStrike" dirty="0">
                <a:solidFill>
                  <a:srgbClr val="000000"/>
                </a:solidFill>
                <a:effectLst/>
                <a:uFillTx/>
                <a:latin typeface="Calibri" panose="020F0502020204030204" pitchFamily="34" charset="0"/>
                <a:ea typeface="DejaVu Sans"/>
                <a:cs typeface="Calibri" panose="020F0502020204030204" pitchFamily="34" charset="0"/>
              </a:rPr>
              <a:t> the mediterranean diet associated with less cardiovascular events?</a:t>
            </a:r>
          </a:p>
          <a:p>
            <a:pPr>
              <a:lnSpc>
                <a:spcPct val="90000"/>
              </a:lnSpc>
              <a:spcBef>
                <a:spcPts val="1001"/>
              </a:spcBef>
              <a:buClr>
                <a:srgbClr val="000000"/>
              </a:buClr>
              <a:tabLst>
                <a:tab pos="0" algn="l"/>
              </a:tabLst>
            </a:pPr>
            <a:endParaRPr lang="en-GB" sz="2400" dirty="0">
              <a:solidFill>
                <a:srgbClr val="000000"/>
              </a:solidFill>
              <a:latin typeface="Calibri" panose="020F0502020204030204" pitchFamily="34" charset="0"/>
              <a:ea typeface="DejaVu Sans"/>
              <a:cs typeface="Calibri" panose="020F0502020204030204" pitchFamily="34" charset="0"/>
            </a:endParaRPr>
          </a:p>
          <a:p>
            <a:pPr marL="457200" indent="-457200">
              <a:spcBef>
                <a:spcPts val="1001"/>
              </a:spcBef>
              <a:buClr>
                <a:srgbClr val="000000"/>
              </a:buClr>
              <a:buFont typeface="Arial" panose="020B0604020202020204" pitchFamily="34" charset="0"/>
              <a:buChar char="•"/>
              <a:tabLst>
                <a:tab pos="0" algn="l"/>
              </a:tabLst>
            </a:pPr>
            <a:r>
              <a:rPr lang="en-GB" sz="2400" b="0" u="none" strike="noStrike" dirty="0">
                <a:solidFill>
                  <a:srgbClr val="000000"/>
                </a:solidFill>
                <a:effectLst/>
                <a:uFillTx/>
                <a:latin typeface="Calibri" panose="020F0502020204030204" pitchFamily="34" charset="0"/>
                <a:ea typeface="DejaVu Sans"/>
                <a:cs typeface="Calibri" panose="020F0502020204030204" pitchFamily="34" charset="0"/>
              </a:rPr>
              <a:t>Pt2: Work with the </a:t>
            </a:r>
            <a:r>
              <a:rPr lang="en-GB" sz="2400" dirty="0" err="1">
                <a:solidFill>
                  <a:srgbClr val="000000"/>
                </a:solidFill>
                <a:latin typeface="Courier New" panose="02070309020205020404" pitchFamily="49" charset="0"/>
                <a:cs typeface="Courier New" panose="02070309020205020404" pitchFamily="49" charset="0"/>
              </a:rPr>
              <a:t>predimed_smokers.csv</a:t>
            </a:r>
            <a:r>
              <a:rPr lang="en-GB" sz="1600" dirty="0">
                <a:solidFill>
                  <a:srgbClr val="000000"/>
                </a:solidFill>
                <a:latin typeface="Courier New" panose="02070309020205020404" pitchFamily="49" charset="0"/>
                <a:cs typeface="Courier New" panose="02070309020205020404" pitchFamily="49" charset="0"/>
              </a:rPr>
              <a:t> </a:t>
            </a:r>
            <a:br>
              <a:rPr lang="en-GB" sz="3200" dirty="0">
                <a:solidFill>
                  <a:srgbClr val="000000"/>
                </a:solidFill>
                <a:latin typeface="Calibri" panose="020F0502020204030204" pitchFamily="34" charset="0"/>
                <a:cs typeface="Calibri" panose="020F0502020204030204" pitchFamily="34" charset="0"/>
              </a:rPr>
            </a:br>
            <a:r>
              <a:rPr lang="en-GB" sz="2400" b="0" u="none" strike="noStrike" dirty="0">
                <a:solidFill>
                  <a:srgbClr val="000000"/>
                </a:solidFill>
                <a:effectLst/>
                <a:uFillTx/>
                <a:latin typeface="Calibri" panose="020F0502020204030204" pitchFamily="34" charset="0"/>
                <a:ea typeface="DejaVu Sans"/>
                <a:cs typeface="Calibri" panose="020F0502020204030204" pitchFamily="34" charset="0"/>
              </a:rPr>
              <a:t>dataset to answer the question: </a:t>
            </a:r>
            <a:r>
              <a:rPr lang="en-GB" sz="2400" b="0" u="sng" strike="noStrike" dirty="0">
                <a:solidFill>
                  <a:srgbClr val="000000"/>
                </a:solidFill>
                <a:effectLst/>
                <a:uFillTx/>
                <a:latin typeface="Calibri" panose="020F0502020204030204" pitchFamily="34" charset="0"/>
                <a:ea typeface="DejaVu Sans"/>
                <a:cs typeface="Calibri" panose="020F0502020204030204" pitchFamily="34" charset="0"/>
              </a:rPr>
              <a:t>What is the mean age per diet group?</a:t>
            </a:r>
          </a:p>
        </p:txBody>
      </p:sp>
      <p:sp>
        <p:nvSpPr>
          <p:cNvPr id="6" name="PlaceHolder 5">
            <a:extLst>
              <a:ext uri="{FF2B5EF4-FFF2-40B4-BE49-F238E27FC236}">
                <a16:creationId xmlns:a16="http://schemas.microsoft.com/office/drawing/2014/main" id="{633231D1-2CDC-863A-338F-BA6A43D7E8EA}"/>
              </a:ext>
            </a:extLst>
          </p:cNvPr>
          <p:cNvSpPr>
            <a:spLocks noGrp="1"/>
          </p:cNvSpPr>
          <p:nvPr>
            <p:ph type="sldNum" idx="2"/>
          </p:nvPr>
        </p:nvSpPr>
        <p:spPr/>
        <p:txBody>
          <a:bodyPr/>
          <a:lstStyle/>
          <a:p>
            <a:fld id="{3E148585-ABA2-4DA4-835D-3B33A5959990}" type="slidenum">
              <a:rPr/>
              <a:t>33</a:t>
            </a:fld>
            <a:endParaRPr/>
          </a:p>
        </p:txBody>
      </p:sp>
      <p:sp>
        <p:nvSpPr>
          <p:cNvPr id="357" name="PlaceHolder 3">
            <a:extLst>
              <a:ext uri="{FF2B5EF4-FFF2-40B4-BE49-F238E27FC236}">
                <a16:creationId xmlns:a16="http://schemas.microsoft.com/office/drawing/2014/main" id="{E75F3507-70FA-6089-3885-0D22500D451C}"/>
              </a:ext>
            </a:extLst>
          </p:cNvPr>
          <p:cNvSpPr>
            <a:spLocks noGrp="1"/>
          </p:cNvSpPr>
          <p:nvPr>
            <p:ph type="title"/>
          </p:nvPr>
        </p:nvSpPr>
        <p:spPr>
          <a:prstGeom prst="rect">
            <a:avLst/>
          </a:prstGeom>
          <a:noFill/>
          <a:ln w="0">
            <a:noFill/>
          </a:ln>
        </p:spPr>
        <p:txBody>
          <a:bodyPr lIns="90000" tIns="45000" rIns="90000" bIns="45000" anchor="ctr">
            <a:normAutofit/>
          </a:bodyPr>
          <a:lstStyle/>
          <a:p>
            <a:pPr indent="0">
              <a:lnSpc>
                <a:spcPct val="90000"/>
              </a:lnSpc>
              <a:buNone/>
              <a:tabLst>
                <a:tab pos="0" algn="l"/>
              </a:tabLst>
            </a:pPr>
            <a:r>
              <a:rPr lang="en-US" sz="4400" b="1" u="none" strike="noStrike" dirty="0">
                <a:solidFill>
                  <a:srgbClr val="000000"/>
                </a:solidFill>
                <a:effectLst/>
                <a:uFillTx/>
                <a:latin typeface="Calibri Light"/>
                <a:ea typeface="DejaVu Sans"/>
              </a:rPr>
              <a:t>Hands-on</a:t>
            </a:r>
            <a:endParaRPr lang="en-GB" sz="4400" b="0" u="none" strike="noStrike" dirty="0">
              <a:solidFill>
                <a:srgbClr val="000000"/>
              </a:solidFill>
              <a:effectLst/>
              <a:uFillTx/>
              <a:latin typeface="Arial"/>
            </a:endParaRPr>
          </a:p>
        </p:txBody>
      </p:sp>
      <p:grpSp>
        <p:nvGrpSpPr>
          <p:cNvPr id="2" name="Group 1">
            <a:extLst>
              <a:ext uri="{FF2B5EF4-FFF2-40B4-BE49-F238E27FC236}">
                <a16:creationId xmlns:a16="http://schemas.microsoft.com/office/drawing/2014/main" id="{DF136624-075F-740D-9D13-4EC5B3147B44}"/>
              </a:ext>
            </a:extLst>
          </p:cNvPr>
          <p:cNvGrpSpPr/>
          <p:nvPr/>
        </p:nvGrpSpPr>
        <p:grpSpPr>
          <a:xfrm>
            <a:off x="6542614" y="1438861"/>
            <a:ext cx="5054600" cy="1990139"/>
            <a:chOff x="5812078" y="489442"/>
            <a:chExt cx="4634630" cy="1537721"/>
          </a:xfrm>
        </p:grpSpPr>
        <p:sp>
          <p:nvSpPr>
            <p:cNvPr id="3" name="Rectangle 3">
              <a:extLst>
                <a:ext uri="{FF2B5EF4-FFF2-40B4-BE49-F238E27FC236}">
                  <a16:creationId xmlns:a16="http://schemas.microsoft.com/office/drawing/2014/main" id="{FB394DB4-0A49-30FA-4AC7-641D954E6A18}"/>
                </a:ext>
              </a:extLst>
            </p:cNvPr>
            <p:cNvSpPr/>
            <p:nvPr/>
          </p:nvSpPr>
          <p:spPr>
            <a:xfrm>
              <a:off x="5812078" y="489442"/>
              <a:ext cx="4634630" cy="1489669"/>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endParaRPr lang="en-DE" sz="1800" b="0" u="none" strike="noStrike">
                <a:solidFill>
                  <a:srgbClr val="000000"/>
                </a:solidFill>
                <a:effectLst/>
                <a:uFillTx/>
                <a:latin typeface="Courier New"/>
                <a:ea typeface="DejaVu Sans"/>
              </a:endParaRPr>
            </a:p>
          </p:txBody>
        </p:sp>
        <p:sp>
          <p:nvSpPr>
            <p:cNvPr id="4" name="TextBox 79">
              <a:extLst>
                <a:ext uri="{FF2B5EF4-FFF2-40B4-BE49-F238E27FC236}">
                  <a16:creationId xmlns:a16="http://schemas.microsoft.com/office/drawing/2014/main" id="{B387B98A-2164-3930-F082-E1A5DBE6ED2B}"/>
                </a:ext>
              </a:extLst>
            </p:cNvPr>
            <p:cNvSpPr/>
            <p:nvPr/>
          </p:nvSpPr>
          <p:spPr>
            <a:xfrm>
              <a:off x="5812078" y="636145"/>
              <a:ext cx="4634628" cy="308029"/>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a:lnSpc>
                  <a:spcPct val="100000"/>
                </a:lnSpc>
              </a:pPr>
              <a:r>
                <a:rPr lang="en-DE" sz="2000" b="1" u="none" strike="noStrike" dirty="0">
                  <a:solidFill>
                    <a:srgbClr val="000000"/>
                  </a:solidFill>
                  <a:effectLst/>
                  <a:uFillTx/>
                  <a:latin typeface="Courier New"/>
                  <a:ea typeface="DejaVu Sans"/>
                </a:rPr>
                <a:t>Exercise pt 1: 15 minutes</a:t>
              </a:r>
              <a:endParaRPr lang="en-GB" sz="2000" b="0" u="none" strike="noStrike" dirty="0">
                <a:solidFill>
                  <a:srgbClr val="000000"/>
                </a:solidFill>
                <a:effectLst/>
                <a:uFillTx/>
                <a:latin typeface="Arial"/>
              </a:endParaRPr>
            </a:p>
          </p:txBody>
        </p:sp>
        <p:pic>
          <p:nvPicPr>
            <p:cNvPr id="7" name="Graphic 9">
              <a:extLst>
                <a:ext uri="{FF2B5EF4-FFF2-40B4-BE49-F238E27FC236}">
                  <a16:creationId xmlns:a16="http://schemas.microsoft.com/office/drawing/2014/main" id="{D34A4644-3899-BE4C-527B-3EB9ABB5CC5C}"/>
                </a:ext>
              </a:extLst>
            </p:cNvPr>
            <p:cNvPicPr/>
            <p:nvPr/>
          </p:nvPicPr>
          <p:blipFill>
            <a:blip r:embed="rId2"/>
            <a:stretch/>
          </p:blipFill>
          <p:spPr>
            <a:xfrm>
              <a:off x="6105134" y="958156"/>
              <a:ext cx="691200" cy="552240"/>
            </a:xfrm>
            <a:prstGeom prst="rect">
              <a:avLst/>
            </a:prstGeom>
            <a:noFill/>
            <a:ln w="0">
              <a:noFill/>
            </a:ln>
          </p:spPr>
        </p:pic>
        <p:sp>
          <p:nvSpPr>
            <p:cNvPr id="8" name="TextBox 80">
              <a:extLst>
                <a:ext uri="{FF2B5EF4-FFF2-40B4-BE49-F238E27FC236}">
                  <a16:creationId xmlns:a16="http://schemas.microsoft.com/office/drawing/2014/main" id="{D8C680F8-5D3D-F88B-5972-888743195B95}"/>
                </a:ext>
              </a:extLst>
            </p:cNvPr>
            <p:cNvSpPr/>
            <p:nvPr/>
          </p:nvSpPr>
          <p:spPr>
            <a:xfrm>
              <a:off x="7089390" y="1105287"/>
              <a:ext cx="3053387" cy="921876"/>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GB" dirty="0">
                  <a:solidFill>
                    <a:srgbClr val="000000"/>
                  </a:solidFill>
                  <a:latin typeface="Courier New"/>
                  <a:ea typeface="DejaVu Sans"/>
                </a:rPr>
                <a:t>e</a:t>
              </a:r>
              <a:r>
                <a:rPr lang="en-GB" b="0" u="none" strike="noStrike" dirty="0">
                  <a:solidFill>
                    <a:srgbClr val="000000"/>
                  </a:solidFill>
                  <a:effectLst/>
                  <a:uFillTx/>
                  <a:latin typeface="Courier New"/>
                  <a:ea typeface="DejaVu Sans"/>
                </a:rPr>
                <a:t>xercises/tabular_</a:t>
              </a:r>
              <a:r>
                <a:rPr lang="en-US" b="0" u="none" strike="noStrike" dirty="0" err="1">
                  <a:solidFill>
                    <a:srgbClr val="000000"/>
                  </a:solidFill>
                  <a:effectLst/>
                  <a:uFillTx/>
                  <a:latin typeface="Courier New"/>
                  <a:ea typeface="DejaVu Sans"/>
                </a:rPr>
                <a:t>split_apply_combine</a:t>
              </a:r>
              <a:r>
                <a:rPr lang="en-GB" dirty="0">
                  <a:solidFill>
                    <a:srgbClr val="000000"/>
                  </a:solidFill>
                  <a:latin typeface="Courier New"/>
                  <a:ea typeface="DejaVu Sans"/>
                </a:rPr>
                <a:t>/split_apply_combine_part1.ipynb</a:t>
              </a:r>
              <a:endParaRPr lang="en-GB" b="0" u="none" strike="noStrike" dirty="0">
                <a:solidFill>
                  <a:srgbClr val="000000"/>
                </a:solidFill>
                <a:effectLst/>
                <a:uFillTx/>
                <a:latin typeface="Arial"/>
              </a:endParaRPr>
            </a:p>
          </p:txBody>
        </p:sp>
      </p:grpSp>
      <p:grpSp>
        <p:nvGrpSpPr>
          <p:cNvPr id="10" name="Group 9">
            <a:extLst>
              <a:ext uri="{FF2B5EF4-FFF2-40B4-BE49-F238E27FC236}">
                <a16:creationId xmlns:a16="http://schemas.microsoft.com/office/drawing/2014/main" id="{04091A0F-3EE9-2485-27EC-153930EB10A6}"/>
              </a:ext>
            </a:extLst>
          </p:cNvPr>
          <p:cNvGrpSpPr/>
          <p:nvPr/>
        </p:nvGrpSpPr>
        <p:grpSpPr>
          <a:xfrm>
            <a:off x="6542614" y="4053365"/>
            <a:ext cx="5054601" cy="1927949"/>
            <a:chOff x="5812077" y="489442"/>
            <a:chExt cx="4634631" cy="1537721"/>
          </a:xfrm>
        </p:grpSpPr>
        <p:sp>
          <p:nvSpPr>
            <p:cNvPr id="11" name="Rectangle 3">
              <a:extLst>
                <a:ext uri="{FF2B5EF4-FFF2-40B4-BE49-F238E27FC236}">
                  <a16:creationId xmlns:a16="http://schemas.microsoft.com/office/drawing/2014/main" id="{E22FBDA5-E2C7-C827-9396-AB0D49BCD903}"/>
                </a:ext>
              </a:extLst>
            </p:cNvPr>
            <p:cNvSpPr/>
            <p:nvPr/>
          </p:nvSpPr>
          <p:spPr>
            <a:xfrm>
              <a:off x="5812078" y="489442"/>
              <a:ext cx="4634630" cy="1489669"/>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endParaRPr lang="en-DE" sz="1800" b="0" u="none" strike="noStrike">
                <a:solidFill>
                  <a:srgbClr val="000000"/>
                </a:solidFill>
                <a:effectLst/>
                <a:uFillTx/>
                <a:latin typeface="Courier New"/>
                <a:ea typeface="DejaVu Sans"/>
              </a:endParaRPr>
            </a:p>
          </p:txBody>
        </p:sp>
        <p:sp>
          <p:nvSpPr>
            <p:cNvPr id="12" name="TextBox 79">
              <a:extLst>
                <a:ext uri="{FF2B5EF4-FFF2-40B4-BE49-F238E27FC236}">
                  <a16:creationId xmlns:a16="http://schemas.microsoft.com/office/drawing/2014/main" id="{8A50B08D-934D-6B01-F6F8-3C1B91293150}"/>
                </a:ext>
              </a:extLst>
            </p:cNvPr>
            <p:cNvSpPr/>
            <p:nvPr/>
          </p:nvSpPr>
          <p:spPr>
            <a:xfrm>
              <a:off x="5812077" y="636145"/>
              <a:ext cx="4634629" cy="31796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a:lnSpc>
                  <a:spcPct val="100000"/>
                </a:lnSpc>
              </a:pPr>
              <a:r>
                <a:rPr lang="en-DE" sz="2000" b="1" u="none" strike="noStrike" dirty="0">
                  <a:solidFill>
                    <a:srgbClr val="000000"/>
                  </a:solidFill>
                  <a:effectLst/>
                  <a:uFillTx/>
                  <a:latin typeface="Courier New"/>
                  <a:ea typeface="DejaVu Sans"/>
                </a:rPr>
                <a:t>Exercise pt 2: 7 minutes</a:t>
              </a:r>
              <a:endParaRPr lang="en-GB" sz="2000" b="0" u="none" strike="noStrike" dirty="0">
                <a:solidFill>
                  <a:srgbClr val="000000"/>
                </a:solidFill>
                <a:effectLst/>
                <a:uFillTx/>
                <a:latin typeface="Arial"/>
              </a:endParaRPr>
            </a:p>
          </p:txBody>
        </p:sp>
        <p:pic>
          <p:nvPicPr>
            <p:cNvPr id="13" name="Graphic 9">
              <a:extLst>
                <a:ext uri="{FF2B5EF4-FFF2-40B4-BE49-F238E27FC236}">
                  <a16:creationId xmlns:a16="http://schemas.microsoft.com/office/drawing/2014/main" id="{834BA98A-6D45-CA65-881B-21C630A4733F}"/>
                </a:ext>
              </a:extLst>
            </p:cNvPr>
            <p:cNvPicPr/>
            <p:nvPr/>
          </p:nvPicPr>
          <p:blipFill>
            <a:blip r:embed="rId2"/>
            <a:stretch/>
          </p:blipFill>
          <p:spPr>
            <a:xfrm>
              <a:off x="6107863" y="958156"/>
              <a:ext cx="691200" cy="552240"/>
            </a:xfrm>
            <a:prstGeom prst="rect">
              <a:avLst/>
            </a:prstGeom>
            <a:noFill/>
            <a:ln w="0">
              <a:noFill/>
            </a:ln>
          </p:spPr>
        </p:pic>
        <p:sp>
          <p:nvSpPr>
            <p:cNvPr id="14" name="TextBox 80">
              <a:extLst>
                <a:ext uri="{FF2B5EF4-FFF2-40B4-BE49-F238E27FC236}">
                  <a16:creationId xmlns:a16="http://schemas.microsoft.com/office/drawing/2014/main" id="{101774A1-1418-1894-71EE-BDC499A18C55}"/>
                </a:ext>
              </a:extLst>
            </p:cNvPr>
            <p:cNvSpPr/>
            <p:nvPr/>
          </p:nvSpPr>
          <p:spPr>
            <a:xfrm>
              <a:off x="7089390" y="1105287"/>
              <a:ext cx="3053387" cy="921876"/>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GB" dirty="0">
                  <a:solidFill>
                    <a:srgbClr val="000000"/>
                  </a:solidFill>
                  <a:latin typeface="Courier New"/>
                  <a:ea typeface="DejaVu Sans"/>
                </a:rPr>
                <a:t>e</a:t>
              </a:r>
              <a:r>
                <a:rPr lang="en-GB" b="0" u="none" strike="noStrike" dirty="0">
                  <a:solidFill>
                    <a:srgbClr val="000000"/>
                  </a:solidFill>
                  <a:effectLst/>
                  <a:uFillTx/>
                  <a:latin typeface="Courier New"/>
                  <a:ea typeface="DejaVu Sans"/>
                </a:rPr>
                <a:t>xercises/tabular_</a:t>
              </a:r>
              <a:r>
                <a:rPr lang="en-US" b="0" u="none" strike="noStrike" dirty="0" err="1">
                  <a:solidFill>
                    <a:srgbClr val="000000"/>
                  </a:solidFill>
                  <a:effectLst/>
                  <a:uFillTx/>
                  <a:latin typeface="Courier New"/>
                  <a:ea typeface="DejaVu Sans"/>
                </a:rPr>
                <a:t>split_apply_combine</a:t>
              </a:r>
              <a:r>
                <a:rPr lang="en-GB" dirty="0">
                  <a:solidFill>
                    <a:srgbClr val="000000"/>
                  </a:solidFill>
                  <a:latin typeface="Courier New"/>
                  <a:ea typeface="DejaVu Sans"/>
                </a:rPr>
                <a:t>/split_apply_combine_part2.ipynb</a:t>
              </a:r>
            </a:p>
          </p:txBody>
        </p:sp>
      </p:grpSp>
      <p:sp>
        <p:nvSpPr>
          <p:cNvPr id="9" name="PlaceHolder 1">
            <a:extLst>
              <a:ext uri="{FF2B5EF4-FFF2-40B4-BE49-F238E27FC236}">
                <a16:creationId xmlns:a16="http://schemas.microsoft.com/office/drawing/2014/main" id="{63870C26-0EAC-6E3C-EF63-E911F16149C5}"/>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t>ASPP </a:t>
            </a:r>
            <a:r>
              <a:rPr lang="en-GB" dirty="0" err="1"/>
              <a:t>LatAm</a:t>
            </a:r>
            <a:r>
              <a:rPr lang="en-GB" dirty="0"/>
              <a:t>, July 2026</a:t>
            </a:r>
          </a:p>
        </p:txBody>
      </p:sp>
      <p:sp>
        <p:nvSpPr>
          <p:cNvPr id="19" name="PlaceHolder 2">
            <a:extLst>
              <a:ext uri="{FF2B5EF4-FFF2-40B4-BE49-F238E27FC236}">
                <a16:creationId xmlns:a16="http://schemas.microsoft.com/office/drawing/2014/main" id="{B17B70D3-32AF-39E7-148B-E738EF824FED}"/>
              </a:ext>
            </a:extLst>
          </p:cNvPr>
          <p:cNvSpPr>
            <a:spLocks noGrp="1"/>
          </p:cNvSpPr>
          <p:nvPr>
            <p:ph type="ftr" idx="1"/>
          </p:nvPr>
        </p:nvSpPr>
        <p:spPr>
          <a:xfrm>
            <a:off x="4038480" y="6356520"/>
            <a:ext cx="4111560" cy="361800"/>
          </a:xfrm>
        </p:spPr>
        <p:txBody>
          <a:bodyPr/>
          <a:lstStyle/>
          <a:p>
            <a:r>
              <a:rPr lang="en-US" dirty="0"/>
              <a:t>Tab, v3.0</a:t>
            </a:r>
            <a:endParaRPr dirty="0"/>
          </a:p>
        </p:txBody>
      </p:sp>
    </p:spTree>
    <p:extLst>
      <p:ext uri="{BB962C8B-B14F-4D97-AF65-F5344CB8AC3E}">
        <p14:creationId xmlns:p14="http://schemas.microsoft.com/office/powerpoint/2010/main" val="157188858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0A4751-327C-56EE-41B6-04DB030EBEF2}"/>
            </a:ext>
          </a:extLst>
        </p:cNvPr>
        <p:cNvGrpSpPr/>
        <p:nvPr/>
      </p:nvGrpSpPr>
      <p:grpSpPr>
        <a:xfrm>
          <a:off x="0" y="0"/>
          <a:ext cx="0" cy="0"/>
          <a:chOff x="0" y="0"/>
          <a:chExt cx="0" cy="0"/>
        </a:xfrm>
      </p:grpSpPr>
      <p:sp>
        <p:nvSpPr>
          <p:cNvPr id="395" name="PlaceHolder 1">
            <a:extLst>
              <a:ext uri="{FF2B5EF4-FFF2-40B4-BE49-F238E27FC236}">
                <a16:creationId xmlns:a16="http://schemas.microsoft.com/office/drawing/2014/main" id="{182AC840-DA12-C660-E722-9A5F4984D05F}"/>
              </a:ext>
            </a:extLst>
          </p:cNvPr>
          <p:cNvSpPr>
            <a:spLocks noGrp="1"/>
          </p:cNvSpPr>
          <p:nvPr>
            <p:ph type="title"/>
          </p:nvPr>
        </p:nvSpPr>
        <p:spPr>
          <a:prstGeom prst="rect">
            <a:avLst/>
          </a:prstGeom>
          <a:noFill/>
          <a:ln w="0">
            <a:noFill/>
          </a:ln>
        </p:spPr>
        <p:txBody>
          <a:bodyPr lIns="0" tIns="0" rIns="0" bIns="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Messy data</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pic>
        <p:nvPicPr>
          <p:cNvPr id="401" name="Picture 11">
            <a:extLst>
              <a:ext uri="{FF2B5EF4-FFF2-40B4-BE49-F238E27FC236}">
                <a16:creationId xmlns:a16="http://schemas.microsoft.com/office/drawing/2014/main" id="{6005EC16-FB13-F548-DE55-FA5E4548C93D}"/>
              </a:ext>
            </a:extLst>
          </p:cNvPr>
          <p:cNvPicPr/>
          <p:nvPr/>
        </p:nvPicPr>
        <p:blipFill>
          <a:blip r:embed="rId2"/>
          <a:stretch/>
        </p:blipFill>
        <p:spPr>
          <a:xfrm>
            <a:off x="565200" y="3282854"/>
            <a:ext cx="2522160" cy="2349360"/>
          </a:xfrm>
          <a:prstGeom prst="rect">
            <a:avLst/>
          </a:prstGeom>
          <a:noFill/>
          <a:ln w="0">
            <a:noFill/>
          </a:ln>
        </p:spPr>
      </p:pic>
      <p:sp>
        <p:nvSpPr>
          <p:cNvPr id="402" name="TextBox 12">
            <a:extLst>
              <a:ext uri="{FF2B5EF4-FFF2-40B4-BE49-F238E27FC236}">
                <a16:creationId xmlns:a16="http://schemas.microsoft.com/office/drawing/2014/main" id="{2E4D2624-7AE5-982D-3CDB-4290D21E8E09}"/>
              </a:ext>
            </a:extLst>
          </p:cNvPr>
          <p:cNvSpPr/>
          <p:nvPr/>
        </p:nvSpPr>
        <p:spPr>
          <a:xfrm>
            <a:off x="542880" y="2119694"/>
            <a:ext cx="194976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Variables are stored in both rows and columns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3" name="TextBox 13">
            <a:extLst>
              <a:ext uri="{FF2B5EF4-FFF2-40B4-BE49-F238E27FC236}">
                <a16:creationId xmlns:a16="http://schemas.microsoft.com/office/drawing/2014/main" id="{28A21321-DEDB-0C4E-E108-36A008B53F6D}"/>
              </a:ext>
            </a:extLst>
          </p:cNvPr>
          <p:cNvSpPr/>
          <p:nvPr/>
        </p:nvSpPr>
        <p:spPr>
          <a:xfrm>
            <a:off x="2376720" y="237529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sp>
        <p:nvSpPr>
          <p:cNvPr id="3" name="PlaceHolder 1">
            <a:extLst>
              <a:ext uri="{FF2B5EF4-FFF2-40B4-BE49-F238E27FC236}">
                <a16:creationId xmlns:a16="http://schemas.microsoft.com/office/drawing/2014/main" id="{EA101F29-8EB6-1A58-765F-29EB1BD87EDA}"/>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4" name="PlaceHolder 2">
            <a:extLst>
              <a:ext uri="{FF2B5EF4-FFF2-40B4-BE49-F238E27FC236}">
                <a16:creationId xmlns:a16="http://schemas.microsoft.com/office/drawing/2014/main" id="{71CB225D-4633-9275-3DF2-7C040A1EC63B}"/>
              </a:ext>
            </a:extLst>
          </p:cNvPr>
          <p:cNvSpPr>
            <a:spLocks noGrp="1"/>
          </p:cNvSpPr>
          <p:nvPr>
            <p:ph type="ftr" idx="1"/>
          </p:nvPr>
        </p:nvSpPr>
        <p:spPr>
          <a:xfrm>
            <a:off x="4038480" y="6356520"/>
            <a:ext cx="4111560" cy="361800"/>
          </a:xfrm>
        </p:spPr>
        <p:txBody>
          <a:bodyPr/>
          <a:lstStyle/>
          <a:p>
            <a:r>
              <a:rPr lang="en-US" dirty="0"/>
              <a:t>Tab, v3.0</a:t>
            </a:r>
            <a:endParaRPr dirty="0"/>
          </a:p>
        </p:txBody>
      </p:sp>
      <p:sp>
        <p:nvSpPr>
          <p:cNvPr id="5" name="PlaceHolder 5">
            <a:extLst>
              <a:ext uri="{FF2B5EF4-FFF2-40B4-BE49-F238E27FC236}">
                <a16:creationId xmlns:a16="http://schemas.microsoft.com/office/drawing/2014/main" id="{ECB4F4B9-08F6-2D6B-0FC7-D2415BDBFE5E}"/>
              </a:ext>
            </a:extLst>
          </p:cNvPr>
          <p:cNvSpPr>
            <a:spLocks noGrp="1"/>
          </p:cNvSpPr>
          <p:nvPr>
            <p:ph type="sldNum" idx="2"/>
          </p:nvPr>
        </p:nvSpPr>
        <p:spPr>
          <a:xfrm>
            <a:off x="8610480" y="6356520"/>
            <a:ext cx="2739960" cy="361800"/>
          </a:xfrm>
        </p:spPr>
        <p:txBody>
          <a:bodyPr/>
          <a:lstStyle/>
          <a:p>
            <a:fld id="{D35AB332-6AEC-41D2-9046-0A10834BBC65}" type="slidenum">
              <a:rPr>
                <a:latin typeface="Calibri" panose="020F0502020204030204" pitchFamily="34" charset="0"/>
                <a:cs typeface="Calibri" panose="020F0502020204030204" pitchFamily="34" charset="0"/>
              </a:rPr>
              <a:t>34</a:t>
            </a:fld>
            <a:endParaRPr>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3247451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951FD4-B850-3654-E57F-3BDAF4DDE692}"/>
            </a:ext>
          </a:extLst>
        </p:cNvPr>
        <p:cNvGrpSpPr/>
        <p:nvPr/>
      </p:nvGrpSpPr>
      <p:grpSpPr>
        <a:xfrm>
          <a:off x="0" y="0"/>
          <a:ext cx="0" cy="0"/>
          <a:chOff x="0" y="0"/>
          <a:chExt cx="0" cy="0"/>
        </a:xfrm>
      </p:grpSpPr>
      <p:sp>
        <p:nvSpPr>
          <p:cNvPr id="395" name="PlaceHolder 1">
            <a:extLst>
              <a:ext uri="{FF2B5EF4-FFF2-40B4-BE49-F238E27FC236}">
                <a16:creationId xmlns:a16="http://schemas.microsoft.com/office/drawing/2014/main" id="{CC300945-909D-D05E-196B-C49069FA8AF0}"/>
              </a:ext>
            </a:extLst>
          </p:cNvPr>
          <p:cNvSpPr>
            <a:spLocks noGrp="1"/>
          </p:cNvSpPr>
          <p:nvPr>
            <p:ph type="title"/>
          </p:nvPr>
        </p:nvSpPr>
        <p:spPr>
          <a:prstGeom prst="rect">
            <a:avLst/>
          </a:prstGeom>
          <a:noFill/>
          <a:ln w="0">
            <a:noFill/>
          </a:ln>
        </p:spPr>
        <p:txBody>
          <a:bodyPr lIns="0" tIns="0" rIns="0" bIns="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Messy data</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pic>
        <p:nvPicPr>
          <p:cNvPr id="398" name="Picture 8">
            <a:extLst>
              <a:ext uri="{FF2B5EF4-FFF2-40B4-BE49-F238E27FC236}">
                <a16:creationId xmlns:a16="http://schemas.microsoft.com/office/drawing/2014/main" id="{DA59F425-8B87-7C21-6192-F821F190C022}"/>
              </a:ext>
            </a:extLst>
          </p:cNvPr>
          <p:cNvPicPr/>
          <p:nvPr/>
        </p:nvPicPr>
        <p:blipFill>
          <a:blip r:embed="rId2"/>
          <a:stretch/>
        </p:blipFill>
        <p:spPr>
          <a:xfrm>
            <a:off x="3647880" y="4512254"/>
            <a:ext cx="2074320" cy="1683000"/>
          </a:xfrm>
          <a:prstGeom prst="rect">
            <a:avLst/>
          </a:prstGeom>
          <a:noFill/>
          <a:ln w="0">
            <a:noFill/>
          </a:ln>
        </p:spPr>
      </p:pic>
      <p:sp>
        <p:nvSpPr>
          <p:cNvPr id="399" name="TextBox 9">
            <a:extLst>
              <a:ext uri="{FF2B5EF4-FFF2-40B4-BE49-F238E27FC236}">
                <a16:creationId xmlns:a16="http://schemas.microsoft.com/office/drawing/2014/main" id="{204C69F5-02A7-C5E9-626A-3F010035F6C0}"/>
              </a:ext>
            </a:extLst>
          </p:cNvPr>
          <p:cNvSpPr/>
          <p:nvPr/>
        </p:nvSpPr>
        <p:spPr>
          <a:xfrm>
            <a:off x="3594600" y="3252614"/>
            <a:ext cx="172512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Column headers are values, not variable names</a:t>
            </a:r>
            <a:endParaRPr lang="en-GB" sz="18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400" name="TextBox 10">
            <a:extLst>
              <a:ext uri="{FF2B5EF4-FFF2-40B4-BE49-F238E27FC236}">
                <a16:creationId xmlns:a16="http://schemas.microsoft.com/office/drawing/2014/main" id="{F189D5B6-ABD3-2FF9-9A91-F742C6553F7A}"/>
              </a:ext>
            </a:extLst>
          </p:cNvPr>
          <p:cNvSpPr/>
          <p:nvPr/>
        </p:nvSpPr>
        <p:spPr>
          <a:xfrm>
            <a:off x="5254200" y="354565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pic>
        <p:nvPicPr>
          <p:cNvPr id="401" name="Picture 11">
            <a:extLst>
              <a:ext uri="{FF2B5EF4-FFF2-40B4-BE49-F238E27FC236}">
                <a16:creationId xmlns:a16="http://schemas.microsoft.com/office/drawing/2014/main" id="{D68C043D-1C81-5C80-8576-0AB0F364639B}"/>
              </a:ext>
            </a:extLst>
          </p:cNvPr>
          <p:cNvPicPr/>
          <p:nvPr/>
        </p:nvPicPr>
        <p:blipFill>
          <a:blip r:embed="rId3"/>
          <a:stretch/>
        </p:blipFill>
        <p:spPr>
          <a:xfrm>
            <a:off x="565200" y="3282854"/>
            <a:ext cx="2522160" cy="2349360"/>
          </a:xfrm>
          <a:prstGeom prst="rect">
            <a:avLst/>
          </a:prstGeom>
          <a:noFill/>
          <a:ln w="0">
            <a:noFill/>
          </a:ln>
        </p:spPr>
      </p:pic>
      <p:sp>
        <p:nvSpPr>
          <p:cNvPr id="402" name="TextBox 12">
            <a:extLst>
              <a:ext uri="{FF2B5EF4-FFF2-40B4-BE49-F238E27FC236}">
                <a16:creationId xmlns:a16="http://schemas.microsoft.com/office/drawing/2014/main" id="{4660E031-3576-DF2F-919B-948AA3BCFBD6}"/>
              </a:ext>
            </a:extLst>
          </p:cNvPr>
          <p:cNvSpPr/>
          <p:nvPr/>
        </p:nvSpPr>
        <p:spPr>
          <a:xfrm>
            <a:off x="542880" y="2119694"/>
            <a:ext cx="194976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Variables are stored in both rows and columns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3" name="TextBox 13">
            <a:extLst>
              <a:ext uri="{FF2B5EF4-FFF2-40B4-BE49-F238E27FC236}">
                <a16:creationId xmlns:a16="http://schemas.microsoft.com/office/drawing/2014/main" id="{9244275E-264B-9B39-4266-CC62D6EC9737}"/>
              </a:ext>
            </a:extLst>
          </p:cNvPr>
          <p:cNvSpPr/>
          <p:nvPr/>
        </p:nvSpPr>
        <p:spPr>
          <a:xfrm>
            <a:off x="2376720" y="237529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sp>
        <p:nvSpPr>
          <p:cNvPr id="3" name="PlaceHolder 1">
            <a:extLst>
              <a:ext uri="{FF2B5EF4-FFF2-40B4-BE49-F238E27FC236}">
                <a16:creationId xmlns:a16="http://schemas.microsoft.com/office/drawing/2014/main" id="{E1285ADA-9F20-0B5B-AB93-15267C6B111F}"/>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4" name="PlaceHolder 2">
            <a:extLst>
              <a:ext uri="{FF2B5EF4-FFF2-40B4-BE49-F238E27FC236}">
                <a16:creationId xmlns:a16="http://schemas.microsoft.com/office/drawing/2014/main" id="{50EEC1A9-98B8-0D6E-C217-7BD4495BA737}"/>
              </a:ext>
            </a:extLst>
          </p:cNvPr>
          <p:cNvSpPr>
            <a:spLocks noGrp="1"/>
          </p:cNvSpPr>
          <p:nvPr>
            <p:ph type="ftr" idx="1"/>
          </p:nvPr>
        </p:nvSpPr>
        <p:spPr>
          <a:xfrm>
            <a:off x="4038480" y="6356520"/>
            <a:ext cx="4111560" cy="361800"/>
          </a:xfrm>
        </p:spPr>
        <p:txBody>
          <a:bodyPr/>
          <a:lstStyle/>
          <a:p>
            <a:r>
              <a:rPr lang="en-US" dirty="0"/>
              <a:t>Tab, v3.0</a:t>
            </a:r>
            <a:endParaRPr dirty="0"/>
          </a:p>
        </p:txBody>
      </p:sp>
      <p:sp>
        <p:nvSpPr>
          <p:cNvPr id="5" name="PlaceHolder 5">
            <a:extLst>
              <a:ext uri="{FF2B5EF4-FFF2-40B4-BE49-F238E27FC236}">
                <a16:creationId xmlns:a16="http://schemas.microsoft.com/office/drawing/2014/main" id="{03829C98-2E0A-4F98-2928-93E31F794B1A}"/>
              </a:ext>
            </a:extLst>
          </p:cNvPr>
          <p:cNvSpPr>
            <a:spLocks noGrp="1"/>
          </p:cNvSpPr>
          <p:nvPr>
            <p:ph type="sldNum" idx="2"/>
          </p:nvPr>
        </p:nvSpPr>
        <p:spPr>
          <a:xfrm>
            <a:off x="8610480" y="6356520"/>
            <a:ext cx="2739960" cy="361800"/>
          </a:xfrm>
        </p:spPr>
        <p:txBody>
          <a:bodyPr/>
          <a:lstStyle/>
          <a:p>
            <a:fld id="{D35AB332-6AEC-41D2-9046-0A10834BBC65}" type="slidenum">
              <a:rPr>
                <a:latin typeface="Calibri" panose="020F0502020204030204" pitchFamily="34" charset="0"/>
                <a:cs typeface="Calibri" panose="020F0502020204030204" pitchFamily="34" charset="0"/>
              </a:rPr>
              <a:t>35</a:t>
            </a:fld>
            <a:endParaRPr>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407707025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4E1176-E904-D02B-13C9-70D02B38B82A}"/>
            </a:ext>
          </a:extLst>
        </p:cNvPr>
        <p:cNvGrpSpPr/>
        <p:nvPr/>
      </p:nvGrpSpPr>
      <p:grpSpPr>
        <a:xfrm>
          <a:off x="0" y="0"/>
          <a:ext cx="0" cy="0"/>
          <a:chOff x="0" y="0"/>
          <a:chExt cx="0" cy="0"/>
        </a:xfrm>
      </p:grpSpPr>
      <p:sp>
        <p:nvSpPr>
          <p:cNvPr id="395" name="PlaceHolder 1">
            <a:extLst>
              <a:ext uri="{FF2B5EF4-FFF2-40B4-BE49-F238E27FC236}">
                <a16:creationId xmlns:a16="http://schemas.microsoft.com/office/drawing/2014/main" id="{EC948250-665C-CCE8-26A2-1E4B8927D0FE}"/>
              </a:ext>
            </a:extLst>
          </p:cNvPr>
          <p:cNvSpPr>
            <a:spLocks noGrp="1"/>
          </p:cNvSpPr>
          <p:nvPr>
            <p:ph type="title"/>
          </p:nvPr>
        </p:nvSpPr>
        <p:spPr>
          <a:prstGeom prst="rect">
            <a:avLst/>
          </a:prstGeom>
          <a:noFill/>
          <a:ln w="0">
            <a:noFill/>
          </a:ln>
        </p:spPr>
        <p:txBody>
          <a:bodyPr lIns="0" tIns="0" rIns="0" bIns="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Messy data</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pic>
        <p:nvPicPr>
          <p:cNvPr id="398" name="Picture 8">
            <a:extLst>
              <a:ext uri="{FF2B5EF4-FFF2-40B4-BE49-F238E27FC236}">
                <a16:creationId xmlns:a16="http://schemas.microsoft.com/office/drawing/2014/main" id="{9042F78E-1493-9EA7-35CA-61492BEA365C}"/>
              </a:ext>
            </a:extLst>
          </p:cNvPr>
          <p:cNvPicPr/>
          <p:nvPr/>
        </p:nvPicPr>
        <p:blipFill>
          <a:blip r:embed="rId2"/>
          <a:stretch/>
        </p:blipFill>
        <p:spPr>
          <a:xfrm>
            <a:off x="3647880" y="4512254"/>
            <a:ext cx="2074320" cy="1683000"/>
          </a:xfrm>
          <a:prstGeom prst="rect">
            <a:avLst/>
          </a:prstGeom>
          <a:noFill/>
          <a:ln w="0">
            <a:noFill/>
          </a:ln>
        </p:spPr>
      </p:pic>
      <p:sp>
        <p:nvSpPr>
          <p:cNvPr id="399" name="TextBox 9">
            <a:extLst>
              <a:ext uri="{FF2B5EF4-FFF2-40B4-BE49-F238E27FC236}">
                <a16:creationId xmlns:a16="http://schemas.microsoft.com/office/drawing/2014/main" id="{2BE56438-7D1E-E2BE-9496-E8A85CAF0332}"/>
              </a:ext>
            </a:extLst>
          </p:cNvPr>
          <p:cNvSpPr/>
          <p:nvPr/>
        </p:nvSpPr>
        <p:spPr>
          <a:xfrm>
            <a:off x="3594600" y="3252614"/>
            <a:ext cx="172512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Column headers are values, not variable names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0" name="TextBox 10">
            <a:extLst>
              <a:ext uri="{FF2B5EF4-FFF2-40B4-BE49-F238E27FC236}">
                <a16:creationId xmlns:a16="http://schemas.microsoft.com/office/drawing/2014/main" id="{010CAF62-A02F-FC08-FE5F-DC5B79A3BA3A}"/>
              </a:ext>
            </a:extLst>
          </p:cNvPr>
          <p:cNvSpPr/>
          <p:nvPr/>
        </p:nvSpPr>
        <p:spPr>
          <a:xfrm>
            <a:off x="5254200" y="354565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pic>
        <p:nvPicPr>
          <p:cNvPr id="401" name="Picture 11">
            <a:extLst>
              <a:ext uri="{FF2B5EF4-FFF2-40B4-BE49-F238E27FC236}">
                <a16:creationId xmlns:a16="http://schemas.microsoft.com/office/drawing/2014/main" id="{77871108-4162-EFF7-DD14-264953C3AA3B}"/>
              </a:ext>
            </a:extLst>
          </p:cNvPr>
          <p:cNvPicPr/>
          <p:nvPr/>
        </p:nvPicPr>
        <p:blipFill>
          <a:blip r:embed="rId3"/>
          <a:stretch/>
        </p:blipFill>
        <p:spPr>
          <a:xfrm>
            <a:off x="565200" y="3282854"/>
            <a:ext cx="2522160" cy="2349360"/>
          </a:xfrm>
          <a:prstGeom prst="rect">
            <a:avLst/>
          </a:prstGeom>
          <a:noFill/>
          <a:ln w="0">
            <a:noFill/>
          </a:ln>
        </p:spPr>
      </p:pic>
      <p:sp>
        <p:nvSpPr>
          <p:cNvPr id="402" name="TextBox 12">
            <a:extLst>
              <a:ext uri="{FF2B5EF4-FFF2-40B4-BE49-F238E27FC236}">
                <a16:creationId xmlns:a16="http://schemas.microsoft.com/office/drawing/2014/main" id="{96EC0567-3C03-395E-552C-7A056BC887B9}"/>
              </a:ext>
            </a:extLst>
          </p:cNvPr>
          <p:cNvSpPr/>
          <p:nvPr/>
        </p:nvSpPr>
        <p:spPr>
          <a:xfrm>
            <a:off x="542880" y="2119694"/>
            <a:ext cx="194976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Variables are stored in both rows and columns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3" name="TextBox 13">
            <a:extLst>
              <a:ext uri="{FF2B5EF4-FFF2-40B4-BE49-F238E27FC236}">
                <a16:creationId xmlns:a16="http://schemas.microsoft.com/office/drawing/2014/main" id="{197849D1-B05C-298E-E0D5-37F22D587BE9}"/>
              </a:ext>
            </a:extLst>
          </p:cNvPr>
          <p:cNvSpPr/>
          <p:nvPr/>
        </p:nvSpPr>
        <p:spPr>
          <a:xfrm>
            <a:off x="2376720" y="237529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7" name="TextBox 17">
            <a:extLst>
              <a:ext uri="{FF2B5EF4-FFF2-40B4-BE49-F238E27FC236}">
                <a16:creationId xmlns:a16="http://schemas.microsoft.com/office/drawing/2014/main" id="{3EDC664B-E066-E1E9-BA70-5B958AE9C1C7}"/>
              </a:ext>
            </a:extLst>
          </p:cNvPr>
          <p:cNvSpPr/>
          <p:nvPr/>
        </p:nvSpPr>
        <p:spPr>
          <a:xfrm>
            <a:off x="6187320" y="2112854"/>
            <a:ext cx="172512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Some variables are stored in the file names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8" name="TextBox 18">
            <a:extLst>
              <a:ext uri="{FF2B5EF4-FFF2-40B4-BE49-F238E27FC236}">
                <a16:creationId xmlns:a16="http://schemas.microsoft.com/office/drawing/2014/main" id="{A2EC170A-EC47-196D-725C-A607FE688EFF}"/>
              </a:ext>
            </a:extLst>
          </p:cNvPr>
          <p:cNvSpPr/>
          <p:nvPr/>
        </p:nvSpPr>
        <p:spPr>
          <a:xfrm>
            <a:off x="7915320" y="224749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9" name="TextBox 20">
            <a:extLst>
              <a:ext uri="{FF2B5EF4-FFF2-40B4-BE49-F238E27FC236}">
                <a16:creationId xmlns:a16="http://schemas.microsoft.com/office/drawing/2014/main" id="{58820215-DFC1-9CA1-3E9D-84FB20D6111C}"/>
              </a:ext>
            </a:extLst>
          </p:cNvPr>
          <p:cNvSpPr/>
          <p:nvPr/>
        </p:nvSpPr>
        <p:spPr>
          <a:xfrm>
            <a:off x="6187320" y="3253694"/>
            <a:ext cx="2687400" cy="10623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600" b="0" u="none" strike="noStrike" dirty="0">
                <a:solidFill>
                  <a:srgbClr val="000000"/>
                </a:solidFill>
                <a:effectLst/>
                <a:uFillTx/>
                <a:latin typeface="Consolas"/>
                <a:ea typeface="DejaVu Sans"/>
              </a:rPr>
              <a:t>2024-01_prices_DE.csv</a:t>
            </a:r>
            <a:br>
              <a:rPr sz="1600" dirty="0"/>
            </a:br>
            <a:r>
              <a:rPr lang="en-US" sz="1600" b="0" u="none" strike="noStrike" dirty="0">
                <a:solidFill>
                  <a:srgbClr val="000000"/>
                </a:solidFill>
                <a:effectLst/>
                <a:uFillTx/>
                <a:latin typeface="Consolas"/>
                <a:ea typeface="DejaVu Sans"/>
              </a:rPr>
              <a:t>2024-01_prices_FR.csv</a:t>
            </a:r>
            <a:br>
              <a:rPr sz="1600" dirty="0"/>
            </a:br>
            <a:r>
              <a:rPr lang="en-US" sz="1600" b="0" u="none" strike="noStrike" dirty="0">
                <a:solidFill>
                  <a:srgbClr val="000000"/>
                </a:solidFill>
                <a:effectLst/>
                <a:uFillTx/>
                <a:latin typeface="Consolas"/>
                <a:ea typeface="DejaVu Sans"/>
              </a:rPr>
              <a:t>2024-02_prices_DE.csv</a:t>
            </a:r>
            <a:br>
              <a:rPr sz="1600" dirty="0"/>
            </a:br>
            <a:r>
              <a:rPr lang="en-US" sz="1600" b="0" u="none" strike="noStrike" dirty="0">
                <a:solidFill>
                  <a:srgbClr val="000000"/>
                </a:solidFill>
                <a:effectLst/>
                <a:uFillTx/>
                <a:latin typeface="Consolas"/>
                <a:ea typeface="DejaVu Sans"/>
              </a:rPr>
              <a:t>2024-02_prices_FR.csv</a:t>
            </a:r>
            <a:endParaRPr lang="en-GB" sz="1600" b="0" u="none" strike="noStrike" dirty="0">
              <a:solidFill>
                <a:srgbClr val="000000"/>
              </a:solidFill>
              <a:effectLst/>
              <a:uFillTx/>
              <a:latin typeface="Arial"/>
            </a:endParaRPr>
          </a:p>
        </p:txBody>
      </p:sp>
      <p:sp>
        <p:nvSpPr>
          <p:cNvPr id="3" name="PlaceHolder 1">
            <a:extLst>
              <a:ext uri="{FF2B5EF4-FFF2-40B4-BE49-F238E27FC236}">
                <a16:creationId xmlns:a16="http://schemas.microsoft.com/office/drawing/2014/main" id="{7181A3F6-EDC7-74C8-C4BE-F65FC7C32BE5}"/>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4" name="PlaceHolder 2">
            <a:extLst>
              <a:ext uri="{FF2B5EF4-FFF2-40B4-BE49-F238E27FC236}">
                <a16:creationId xmlns:a16="http://schemas.microsoft.com/office/drawing/2014/main" id="{97685348-7084-B7C1-2484-6BB1CE9EC21B}"/>
              </a:ext>
            </a:extLst>
          </p:cNvPr>
          <p:cNvSpPr>
            <a:spLocks noGrp="1"/>
          </p:cNvSpPr>
          <p:nvPr>
            <p:ph type="ftr" idx="1"/>
          </p:nvPr>
        </p:nvSpPr>
        <p:spPr>
          <a:xfrm>
            <a:off x="4038480" y="6356520"/>
            <a:ext cx="4111560" cy="361800"/>
          </a:xfrm>
        </p:spPr>
        <p:txBody>
          <a:bodyPr/>
          <a:lstStyle/>
          <a:p>
            <a:r>
              <a:rPr lang="en-US" dirty="0"/>
              <a:t>Tab, v3.0</a:t>
            </a:r>
            <a:endParaRPr dirty="0"/>
          </a:p>
        </p:txBody>
      </p:sp>
      <p:sp>
        <p:nvSpPr>
          <p:cNvPr id="5" name="PlaceHolder 5">
            <a:extLst>
              <a:ext uri="{FF2B5EF4-FFF2-40B4-BE49-F238E27FC236}">
                <a16:creationId xmlns:a16="http://schemas.microsoft.com/office/drawing/2014/main" id="{FC286CBE-BCCA-2745-DC4A-065FBC57CEA1}"/>
              </a:ext>
            </a:extLst>
          </p:cNvPr>
          <p:cNvSpPr>
            <a:spLocks noGrp="1"/>
          </p:cNvSpPr>
          <p:nvPr>
            <p:ph type="sldNum" idx="2"/>
          </p:nvPr>
        </p:nvSpPr>
        <p:spPr>
          <a:xfrm>
            <a:off x="8610480" y="6356520"/>
            <a:ext cx="2739960" cy="361800"/>
          </a:xfrm>
        </p:spPr>
        <p:txBody>
          <a:bodyPr/>
          <a:lstStyle/>
          <a:p>
            <a:fld id="{D35AB332-6AEC-41D2-9046-0A10834BBC65}" type="slidenum">
              <a:rPr>
                <a:latin typeface="Calibri" panose="020F0502020204030204" pitchFamily="34" charset="0"/>
                <a:cs typeface="Calibri" panose="020F0502020204030204" pitchFamily="34" charset="0"/>
              </a:rPr>
              <a:t>36</a:t>
            </a:fld>
            <a:endParaRPr>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15278232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02965E-D8BA-2180-49A4-608B5FA7E6B7}"/>
            </a:ext>
          </a:extLst>
        </p:cNvPr>
        <p:cNvGrpSpPr/>
        <p:nvPr/>
      </p:nvGrpSpPr>
      <p:grpSpPr>
        <a:xfrm>
          <a:off x="0" y="0"/>
          <a:ext cx="0" cy="0"/>
          <a:chOff x="0" y="0"/>
          <a:chExt cx="0" cy="0"/>
        </a:xfrm>
      </p:grpSpPr>
      <p:sp>
        <p:nvSpPr>
          <p:cNvPr id="395" name="PlaceHolder 1">
            <a:extLst>
              <a:ext uri="{FF2B5EF4-FFF2-40B4-BE49-F238E27FC236}">
                <a16:creationId xmlns:a16="http://schemas.microsoft.com/office/drawing/2014/main" id="{435792D1-A2C9-C0DD-44DF-D45D7BA27BA7}"/>
              </a:ext>
            </a:extLst>
          </p:cNvPr>
          <p:cNvSpPr>
            <a:spLocks noGrp="1"/>
          </p:cNvSpPr>
          <p:nvPr>
            <p:ph type="title"/>
          </p:nvPr>
        </p:nvSpPr>
        <p:spPr>
          <a:prstGeom prst="rect">
            <a:avLst/>
          </a:prstGeom>
          <a:noFill/>
          <a:ln w="0">
            <a:noFill/>
          </a:ln>
        </p:spPr>
        <p:txBody>
          <a:bodyPr lIns="0" tIns="0" rIns="0" bIns="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Messy data</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pic>
        <p:nvPicPr>
          <p:cNvPr id="398" name="Picture 8">
            <a:extLst>
              <a:ext uri="{FF2B5EF4-FFF2-40B4-BE49-F238E27FC236}">
                <a16:creationId xmlns:a16="http://schemas.microsoft.com/office/drawing/2014/main" id="{BAC429BB-6E1C-54E1-0632-98F85C8F6B13}"/>
              </a:ext>
            </a:extLst>
          </p:cNvPr>
          <p:cNvPicPr/>
          <p:nvPr/>
        </p:nvPicPr>
        <p:blipFill>
          <a:blip r:embed="rId2"/>
          <a:stretch/>
        </p:blipFill>
        <p:spPr>
          <a:xfrm>
            <a:off x="3647880" y="4512254"/>
            <a:ext cx="2074320" cy="1683000"/>
          </a:xfrm>
          <a:prstGeom prst="rect">
            <a:avLst/>
          </a:prstGeom>
          <a:noFill/>
          <a:ln w="0">
            <a:noFill/>
          </a:ln>
        </p:spPr>
      </p:pic>
      <p:sp>
        <p:nvSpPr>
          <p:cNvPr id="399" name="TextBox 9">
            <a:extLst>
              <a:ext uri="{FF2B5EF4-FFF2-40B4-BE49-F238E27FC236}">
                <a16:creationId xmlns:a16="http://schemas.microsoft.com/office/drawing/2014/main" id="{7AC300D4-B3FF-112F-2D66-7004C0075925}"/>
              </a:ext>
            </a:extLst>
          </p:cNvPr>
          <p:cNvSpPr/>
          <p:nvPr/>
        </p:nvSpPr>
        <p:spPr>
          <a:xfrm>
            <a:off x="3594600" y="3252614"/>
            <a:ext cx="172512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Column headers are values, not variable names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0" name="TextBox 10">
            <a:extLst>
              <a:ext uri="{FF2B5EF4-FFF2-40B4-BE49-F238E27FC236}">
                <a16:creationId xmlns:a16="http://schemas.microsoft.com/office/drawing/2014/main" id="{4B5F9CDF-A90D-318C-43D2-6E90A1067F9F}"/>
              </a:ext>
            </a:extLst>
          </p:cNvPr>
          <p:cNvSpPr/>
          <p:nvPr/>
        </p:nvSpPr>
        <p:spPr>
          <a:xfrm>
            <a:off x="5254200" y="354565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pic>
        <p:nvPicPr>
          <p:cNvPr id="401" name="Picture 11">
            <a:extLst>
              <a:ext uri="{FF2B5EF4-FFF2-40B4-BE49-F238E27FC236}">
                <a16:creationId xmlns:a16="http://schemas.microsoft.com/office/drawing/2014/main" id="{34201322-C61C-64B9-2E8D-FD678DDFBE55}"/>
              </a:ext>
            </a:extLst>
          </p:cNvPr>
          <p:cNvPicPr/>
          <p:nvPr/>
        </p:nvPicPr>
        <p:blipFill>
          <a:blip r:embed="rId3"/>
          <a:stretch/>
        </p:blipFill>
        <p:spPr>
          <a:xfrm>
            <a:off x="565200" y="3282854"/>
            <a:ext cx="2522160" cy="2349360"/>
          </a:xfrm>
          <a:prstGeom prst="rect">
            <a:avLst/>
          </a:prstGeom>
          <a:noFill/>
          <a:ln w="0">
            <a:noFill/>
          </a:ln>
        </p:spPr>
      </p:pic>
      <p:sp>
        <p:nvSpPr>
          <p:cNvPr id="402" name="TextBox 12">
            <a:extLst>
              <a:ext uri="{FF2B5EF4-FFF2-40B4-BE49-F238E27FC236}">
                <a16:creationId xmlns:a16="http://schemas.microsoft.com/office/drawing/2014/main" id="{18D08ADC-1B74-D976-EC4B-48F51A8F6E92}"/>
              </a:ext>
            </a:extLst>
          </p:cNvPr>
          <p:cNvSpPr/>
          <p:nvPr/>
        </p:nvSpPr>
        <p:spPr>
          <a:xfrm>
            <a:off x="542880" y="2119694"/>
            <a:ext cx="194976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Variables are stored in both rows and columns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3" name="TextBox 13">
            <a:extLst>
              <a:ext uri="{FF2B5EF4-FFF2-40B4-BE49-F238E27FC236}">
                <a16:creationId xmlns:a16="http://schemas.microsoft.com/office/drawing/2014/main" id="{2239875B-5A1F-3E45-9D1C-DB28F539ED70}"/>
              </a:ext>
            </a:extLst>
          </p:cNvPr>
          <p:cNvSpPr/>
          <p:nvPr/>
        </p:nvSpPr>
        <p:spPr>
          <a:xfrm>
            <a:off x="2376720" y="237529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pic>
        <p:nvPicPr>
          <p:cNvPr id="404" name="Picture 14">
            <a:extLst>
              <a:ext uri="{FF2B5EF4-FFF2-40B4-BE49-F238E27FC236}">
                <a16:creationId xmlns:a16="http://schemas.microsoft.com/office/drawing/2014/main" id="{BFCA35AA-B6C5-64FC-8093-6A7BE15C0624}"/>
              </a:ext>
            </a:extLst>
          </p:cNvPr>
          <p:cNvPicPr/>
          <p:nvPr/>
        </p:nvPicPr>
        <p:blipFill>
          <a:blip r:embed="rId4"/>
          <a:stretch/>
        </p:blipFill>
        <p:spPr>
          <a:xfrm>
            <a:off x="9230040" y="4264574"/>
            <a:ext cx="2230920" cy="2170440"/>
          </a:xfrm>
          <a:prstGeom prst="rect">
            <a:avLst/>
          </a:prstGeom>
          <a:noFill/>
          <a:ln w="0">
            <a:noFill/>
          </a:ln>
        </p:spPr>
      </p:pic>
      <p:sp>
        <p:nvSpPr>
          <p:cNvPr id="405" name="TextBox 15">
            <a:extLst>
              <a:ext uri="{FF2B5EF4-FFF2-40B4-BE49-F238E27FC236}">
                <a16:creationId xmlns:a16="http://schemas.microsoft.com/office/drawing/2014/main" id="{98C628D8-B267-1B88-0D93-0555FFC8CD35}"/>
              </a:ext>
            </a:extLst>
          </p:cNvPr>
          <p:cNvSpPr/>
          <p:nvPr/>
        </p:nvSpPr>
        <p:spPr>
          <a:xfrm>
            <a:off x="9227880" y="3073694"/>
            <a:ext cx="190512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Multiple variables are stored in one column</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6" name="TextBox 16">
            <a:extLst>
              <a:ext uri="{FF2B5EF4-FFF2-40B4-BE49-F238E27FC236}">
                <a16:creationId xmlns:a16="http://schemas.microsoft.com/office/drawing/2014/main" id="{FDBE715D-9D1B-6E8B-DDF9-DFDA2D399F45}"/>
              </a:ext>
            </a:extLst>
          </p:cNvPr>
          <p:cNvSpPr/>
          <p:nvPr/>
        </p:nvSpPr>
        <p:spPr>
          <a:xfrm>
            <a:off x="11044800" y="324253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7" name="TextBox 17">
            <a:extLst>
              <a:ext uri="{FF2B5EF4-FFF2-40B4-BE49-F238E27FC236}">
                <a16:creationId xmlns:a16="http://schemas.microsoft.com/office/drawing/2014/main" id="{1BC1A672-45B3-E605-0BFF-3EC40F6AD34D}"/>
              </a:ext>
            </a:extLst>
          </p:cNvPr>
          <p:cNvSpPr/>
          <p:nvPr/>
        </p:nvSpPr>
        <p:spPr>
          <a:xfrm>
            <a:off x="6187320" y="2112854"/>
            <a:ext cx="172512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Some variables are stored in the file names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8" name="TextBox 18">
            <a:extLst>
              <a:ext uri="{FF2B5EF4-FFF2-40B4-BE49-F238E27FC236}">
                <a16:creationId xmlns:a16="http://schemas.microsoft.com/office/drawing/2014/main" id="{29325EE3-B18A-2751-6BF9-FA8A5861C34B}"/>
              </a:ext>
            </a:extLst>
          </p:cNvPr>
          <p:cNvSpPr/>
          <p:nvPr/>
        </p:nvSpPr>
        <p:spPr>
          <a:xfrm>
            <a:off x="7915320" y="224749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9" name="TextBox 20">
            <a:extLst>
              <a:ext uri="{FF2B5EF4-FFF2-40B4-BE49-F238E27FC236}">
                <a16:creationId xmlns:a16="http://schemas.microsoft.com/office/drawing/2014/main" id="{073401A9-4F46-E312-223F-0362655D6B7B}"/>
              </a:ext>
            </a:extLst>
          </p:cNvPr>
          <p:cNvSpPr/>
          <p:nvPr/>
        </p:nvSpPr>
        <p:spPr>
          <a:xfrm>
            <a:off x="6187320" y="3253694"/>
            <a:ext cx="2687400" cy="10623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600" b="0" u="none" strike="noStrike" dirty="0">
                <a:solidFill>
                  <a:srgbClr val="000000"/>
                </a:solidFill>
                <a:effectLst/>
                <a:uFillTx/>
                <a:latin typeface="Consolas"/>
                <a:ea typeface="DejaVu Sans"/>
              </a:rPr>
              <a:t>2024-01_prices_DE.csv</a:t>
            </a:r>
            <a:br>
              <a:rPr sz="1600" dirty="0"/>
            </a:br>
            <a:r>
              <a:rPr lang="en-US" sz="1600" b="0" u="none" strike="noStrike" dirty="0">
                <a:solidFill>
                  <a:srgbClr val="000000"/>
                </a:solidFill>
                <a:effectLst/>
                <a:uFillTx/>
                <a:latin typeface="Consolas"/>
                <a:ea typeface="DejaVu Sans"/>
              </a:rPr>
              <a:t>2024-01_prices_FR.csv</a:t>
            </a:r>
            <a:br>
              <a:rPr sz="1600" dirty="0"/>
            </a:br>
            <a:r>
              <a:rPr lang="en-US" sz="1600" b="0" u="none" strike="noStrike" dirty="0">
                <a:solidFill>
                  <a:srgbClr val="000000"/>
                </a:solidFill>
                <a:effectLst/>
                <a:uFillTx/>
                <a:latin typeface="Consolas"/>
                <a:ea typeface="DejaVu Sans"/>
              </a:rPr>
              <a:t>2024-02_prices_DE.csv</a:t>
            </a:r>
            <a:br>
              <a:rPr sz="1600" dirty="0"/>
            </a:br>
            <a:r>
              <a:rPr lang="en-US" sz="1600" b="0" u="none" strike="noStrike" dirty="0">
                <a:solidFill>
                  <a:srgbClr val="000000"/>
                </a:solidFill>
                <a:effectLst/>
                <a:uFillTx/>
                <a:latin typeface="Consolas"/>
                <a:ea typeface="DejaVu Sans"/>
              </a:rPr>
              <a:t>2024-02_prices_FR.csv</a:t>
            </a:r>
            <a:endParaRPr lang="en-GB" sz="1600" b="0" u="none" strike="noStrike" dirty="0">
              <a:solidFill>
                <a:srgbClr val="000000"/>
              </a:solidFill>
              <a:effectLst/>
              <a:uFillTx/>
              <a:latin typeface="Arial"/>
            </a:endParaRPr>
          </a:p>
        </p:txBody>
      </p:sp>
      <p:sp>
        <p:nvSpPr>
          <p:cNvPr id="3" name="PlaceHolder 1">
            <a:extLst>
              <a:ext uri="{FF2B5EF4-FFF2-40B4-BE49-F238E27FC236}">
                <a16:creationId xmlns:a16="http://schemas.microsoft.com/office/drawing/2014/main" id="{F624F29A-E9CA-1F86-E8B7-A691C9794715}"/>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t>ASPP </a:t>
            </a:r>
            <a:r>
              <a:rPr lang="en-GB" dirty="0" err="1"/>
              <a:t>LatAm</a:t>
            </a:r>
            <a:r>
              <a:rPr lang="en-GB" dirty="0"/>
              <a:t>, July 2026</a:t>
            </a:r>
          </a:p>
        </p:txBody>
      </p:sp>
      <p:sp>
        <p:nvSpPr>
          <p:cNvPr id="4" name="PlaceHolder 2">
            <a:extLst>
              <a:ext uri="{FF2B5EF4-FFF2-40B4-BE49-F238E27FC236}">
                <a16:creationId xmlns:a16="http://schemas.microsoft.com/office/drawing/2014/main" id="{C6CA7756-4201-3BF0-3D1D-43015BCAB851}"/>
              </a:ext>
            </a:extLst>
          </p:cNvPr>
          <p:cNvSpPr>
            <a:spLocks noGrp="1"/>
          </p:cNvSpPr>
          <p:nvPr>
            <p:ph type="ftr" idx="1"/>
          </p:nvPr>
        </p:nvSpPr>
        <p:spPr>
          <a:xfrm>
            <a:off x="4038480" y="6356520"/>
            <a:ext cx="4111560" cy="361800"/>
          </a:xfrm>
        </p:spPr>
        <p:txBody>
          <a:bodyPr/>
          <a:lstStyle/>
          <a:p>
            <a:r>
              <a:rPr lang="en-US" dirty="0"/>
              <a:t>Tab, v3.0</a:t>
            </a:r>
            <a:endParaRPr dirty="0"/>
          </a:p>
        </p:txBody>
      </p:sp>
      <p:sp>
        <p:nvSpPr>
          <p:cNvPr id="5" name="PlaceHolder 5">
            <a:extLst>
              <a:ext uri="{FF2B5EF4-FFF2-40B4-BE49-F238E27FC236}">
                <a16:creationId xmlns:a16="http://schemas.microsoft.com/office/drawing/2014/main" id="{E35DEE80-B165-A0B5-4E6E-73A3833ABE31}"/>
              </a:ext>
            </a:extLst>
          </p:cNvPr>
          <p:cNvSpPr>
            <a:spLocks noGrp="1"/>
          </p:cNvSpPr>
          <p:nvPr>
            <p:ph type="sldNum" idx="2"/>
          </p:nvPr>
        </p:nvSpPr>
        <p:spPr>
          <a:xfrm>
            <a:off x="8610480" y="6356520"/>
            <a:ext cx="2739960" cy="361800"/>
          </a:xfrm>
        </p:spPr>
        <p:txBody>
          <a:bodyPr/>
          <a:lstStyle/>
          <a:p>
            <a:fld id="{D35AB332-6AEC-41D2-9046-0A10834BBC65}" type="slidenum">
              <a:rPr>
                <a:latin typeface="Calibri" panose="020F0502020204030204" pitchFamily="34" charset="0"/>
                <a:cs typeface="Calibri" panose="020F0502020204030204" pitchFamily="34" charset="0"/>
              </a:rPr>
              <a:t>37</a:t>
            </a:fld>
            <a:endParaRPr>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4373355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D7C3C-0D7B-6BCB-766A-B0BB43942E27}"/>
            </a:ext>
          </a:extLst>
        </p:cNvPr>
        <p:cNvGrpSpPr/>
        <p:nvPr/>
      </p:nvGrpSpPr>
      <p:grpSpPr>
        <a:xfrm>
          <a:off x="0" y="0"/>
          <a:ext cx="0" cy="0"/>
          <a:chOff x="0" y="0"/>
          <a:chExt cx="0" cy="0"/>
        </a:xfrm>
      </p:grpSpPr>
      <p:sp>
        <p:nvSpPr>
          <p:cNvPr id="395" name="PlaceHolder 1">
            <a:extLst>
              <a:ext uri="{FF2B5EF4-FFF2-40B4-BE49-F238E27FC236}">
                <a16:creationId xmlns:a16="http://schemas.microsoft.com/office/drawing/2014/main" id="{6D37F24A-71B4-1A41-B58D-E2E44C8C1749}"/>
              </a:ext>
            </a:extLst>
          </p:cNvPr>
          <p:cNvSpPr>
            <a:spLocks noGrp="1"/>
          </p:cNvSpPr>
          <p:nvPr>
            <p:ph type="title"/>
          </p:nvPr>
        </p:nvSpPr>
        <p:spPr>
          <a:prstGeom prst="rect">
            <a:avLst/>
          </a:prstGeom>
          <a:noFill/>
          <a:ln w="0">
            <a:noFill/>
          </a:ln>
        </p:spPr>
        <p:txBody>
          <a:bodyPr lIns="0" tIns="0" rIns="0" bIns="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Messy data</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pic>
        <p:nvPicPr>
          <p:cNvPr id="398" name="Picture 8">
            <a:extLst>
              <a:ext uri="{FF2B5EF4-FFF2-40B4-BE49-F238E27FC236}">
                <a16:creationId xmlns:a16="http://schemas.microsoft.com/office/drawing/2014/main" id="{355F7B3E-2F40-2074-F404-FDE9A094E335}"/>
              </a:ext>
            </a:extLst>
          </p:cNvPr>
          <p:cNvPicPr/>
          <p:nvPr/>
        </p:nvPicPr>
        <p:blipFill>
          <a:blip r:embed="rId2"/>
          <a:stretch/>
        </p:blipFill>
        <p:spPr>
          <a:xfrm>
            <a:off x="3647880" y="4512254"/>
            <a:ext cx="2074320" cy="1683000"/>
          </a:xfrm>
          <a:prstGeom prst="rect">
            <a:avLst/>
          </a:prstGeom>
          <a:noFill/>
          <a:ln w="0">
            <a:noFill/>
          </a:ln>
        </p:spPr>
      </p:pic>
      <p:sp>
        <p:nvSpPr>
          <p:cNvPr id="399" name="TextBox 9">
            <a:extLst>
              <a:ext uri="{FF2B5EF4-FFF2-40B4-BE49-F238E27FC236}">
                <a16:creationId xmlns:a16="http://schemas.microsoft.com/office/drawing/2014/main" id="{58819842-CA7D-C151-F6F4-5516B062D518}"/>
              </a:ext>
            </a:extLst>
          </p:cNvPr>
          <p:cNvSpPr/>
          <p:nvPr/>
        </p:nvSpPr>
        <p:spPr>
          <a:xfrm>
            <a:off x="3594600" y="3252614"/>
            <a:ext cx="172512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Column headers are values, not variable names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0" name="TextBox 10">
            <a:extLst>
              <a:ext uri="{FF2B5EF4-FFF2-40B4-BE49-F238E27FC236}">
                <a16:creationId xmlns:a16="http://schemas.microsoft.com/office/drawing/2014/main" id="{C7436E83-767D-5159-3EDE-B658FAEF0863}"/>
              </a:ext>
            </a:extLst>
          </p:cNvPr>
          <p:cNvSpPr/>
          <p:nvPr/>
        </p:nvSpPr>
        <p:spPr>
          <a:xfrm>
            <a:off x="5254200" y="354565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pic>
        <p:nvPicPr>
          <p:cNvPr id="401" name="Picture 11">
            <a:extLst>
              <a:ext uri="{FF2B5EF4-FFF2-40B4-BE49-F238E27FC236}">
                <a16:creationId xmlns:a16="http://schemas.microsoft.com/office/drawing/2014/main" id="{9B45D161-0E84-64B8-C387-179204B34289}"/>
              </a:ext>
            </a:extLst>
          </p:cNvPr>
          <p:cNvPicPr/>
          <p:nvPr/>
        </p:nvPicPr>
        <p:blipFill>
          <a:blip r:embed="rId3"/>
          <a:stretch/>
        </p:blipFill>
        <p:spPr>
          <a:xfrm>
            <a:off x="565200" y="3282854"/>
            <a:ext cx="2522160" cy="2349360"/>
          </a:xfrm>
          <a:prstGeom prst="rect">
            <a:avLst/>
          </a:prstGeom>
          <a:noFill/>
          <a:ln w="0">
            <a:noFill/>
          </a:ln>
        </p:spPr>
      </p:pic>
      <p:sp>
        <p:nvSpPr>
          <p:cNvPr id="402" name="TextBox 12">
            <a:extLst>
              <a:ext uri="{FF2B5EF4-FFF2-40B4-BE49-F238E27FC236}">
                <a16:creationId xmlns:a16="http://schemas.microsoft.com/office/drawing/2014/main" id="{7405BD98-158D-63D2-2D8A-C11A657A29B1}"/>
              </a:ext>
            </a:extLst>
          </p:cNvPr>
          <p:cNvSpPr/>
          <p:nvPr/>
        </p:nvSpPr>
        <p:spPr>
          <a:xfrm>
            <a:off x="542880" y="2119694"/>
            <a:ext cx="194976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Variables are stored in both rows and columns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3" name="TextBox 13">
            <a:extLst>
              <a:ext uri="{FF2B5EF4-FFF2-40B4-BE49-F238E27FC236}">
                <a16:creationId xmlns:a16="http://schemas.microsoft.com/office/drawing/2014/main" id="{B7D238C4-8F8A-7192-2CFE-A99079CBBE2F}"/>
              </a:ext>
            </a:extLst>
          </p:cNvPr>
          <p:cNvSpPr/>
          <p:nvPr/>
        </p:nvSpPr>
        <p:spPr>
          <a:xfrm>
            <a:off x="2376720" y="237529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pic>
        <p:nvPicPr>
          <p:cNvPr id="404" name="Picture 14">
            <a:extLst>
              <a:ext uri="{FF2B5EF4-FFF2-40B4-BE49-F238E27FC236}">
                <a16:creationId xmlns:a16="http://schemas.microsoft.com/office/drawing/2014/main" id="{CCD5E4BA-BE57-B9DA-1023-4C1FCFFA472C}"/>
              </a:ext>
            </a:extLst>
          </p:cNvPr>
          <p:cNvPicPr/>
          <p:nvPr/>
        </p:nvPicPr>
        <p:blipFill>
          <a:blip r:embed="rId4"/>
          <a:stretch/>
        </p:blipFill>
        <p:spPr>
          <a:xfrm>
            <a:off x="9230040" y="4264574"/>
            <a:ext cx="2230920" cy="2170440"/>
          </a:xfrm>
          <a:prstGeom prst="rect">
            <a:avLst/>
          </a:prstGeom>
          <a:noFill/>
          <a:ln w="0">
            <a:noFill/>
          </a:ln>
        </p:spPr>
      </p:pic>
      <p:sp>
        <p:nvSpPr>
          <p:cNvPr id="405" name="TextBox 15">
            <a:extLst>
              <a:ext uri="{FF2B5EF4-FFF2-40B4-BE49-F238E27FC236}">
                <a16:creationId xmlns:a16="http://schemas.microsoft.com/office/drawing/2014/main" id="{760FE2AD-93A6-1C07-E00C-36CD5254D1F6}"/>
              </a:ext>
            </a:extLst>
          </p:cNvPr>
          <p:cNvSpPr/>
          <p:nvPr/>
        </p:nvSpPr>
        <p:spPr>
          <a:xfrm>
            <a:off x="9227880" y="3073694"/>
            <a:ext cx="190512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Multiple variables are stored in one column</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6" name="TextBox 16">
            <a:extLst>
              <a:ext uri="{FF2B5EF4-FFF2-40B4-BE49-F238E27FC236}">
                <a16:creationId xmlns:a16="http://schemas.microsoft.com/office/drawing/2014/main" id="{8D7837D4-736D-F52A-6D4C-928DF9DB356A}"/>
              </a:ext>
            </a:extLst>
          </p:cNvPr>
          <p:cNvSpPr/>
          <p:nvPr/>
        </p:nvSpPr>
        <p:spPr>
          <a:xfrm>
            <a:off x="11044800" y="324253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7" name="TextBox 17">
            <a:extLst>
              <a:ext uri="{FF2B5EF4-FFF2-40B4-BE49-F238E27FC236}">
                <a16:creationId xmlns:a16="http://schemas.microsoft.com/office/drawing/2014/main" id="{97DDB512-1703-35A2-55D7-8FBC887749C6}"/>
              </a:ext>
            </a:extLst>
          </p:cNvPr>
          <p:cNvSpPr/>
          <p:nvPr/>
        </p:nvSpPr>
        <p:spPr>
          <a:xfrm>
            <a:off x="6187320" y="2112854"/>
            <a:ext cx="172512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Some variables are stored in the file names</a:t>
            </a:r>
            <a:endParaRPr lang="en-GB" sz="1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8" name="TextBox 18">
            <a:extLst>
              <a:ext uri="{FF2B5EF4-FFF2-40B4-BE49-F238E27FC236}">
                <a16:creationId xmlns:a16="http://schemas.microsoft.com/office/drawing/2014/main" id="{6604B1B4-6D03-42E4-EF3B-0B44159A579E}"/>
              </a:ext>
            </a:extLst>
          </p:cNvPr>
          <p:cNvSpPr/>
          <p:nvPr/>
        </p:nvSpPr>
        <p:spPr>
          <a:xfrm>
            <a:off x="7915320" y="2247494"/>
            <a:ext cx="926640" cy="706432"/>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Calibri" panose="020F0502020204030204" pitchFamily="34" charset="0"/>
                <a:ea typeface="DejaVu Sans"/>
                <a:cs typeface="Calibri" panose="020F0502020204030204" pitchFamily="34" charset="0"/>
              </a:rPr>
              <a:t>😱 </a:t>
            </a:r>
            <a:endParaRPr lang="en-GB" sz="40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9" name="TextBox 20">
            <a:extLst>
              <a:ext uri="{FF2B5EF4-FFF2-40B4-BE49-F238E27FC236}">
                <a16:creationId xmlns:a16="http://schemas.microsoft.com/office/drawing/2014/main" id="{A6A20065-C5E3-50EF-621B-25A764431E68}"/>
              </a:ext>
            </a:extLst>
          </p:cNvPr>
          <p:cNvSpPr/>
          <p:nvPr/>
        </p:nvSpPr>
        <p:spPr>
          <a:xfrm>
            <a:off x="6187320" y="3253694"/>
            <a:ext cx="2687400" cy="10623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600" b="0" u="none" strike="noStrike" dirty="0">
                <a:solidFill>
                  <a:srgbClr val="000000"/>
                </a:solidFill>
                <a:effectLst/>
                <a:uFillTx/>
                <a:latin typeface="Consolas"/>
                <a:ea typeface="DejaVu Sans"/>
              </a:rPr>
              <a:t>2024-01_prices_DE.csv</a:t>
            </a:r>
            <a:br>
              <a:rPr sz="1600" dirty="0"/>
            </a:br>
            <a:r>
              <a:rPr lang="en-US" sz="1600" b="0" u="none" strike="noStrike" dirty="0">
                <a:solidFill>
                  <a:srgbClr val="000000"/>
                </a:solidFill>
                <a:effectLst/>
                <a:uFillTx/>
                <a:latin typeface="Consolas"/>
                <a:ea typeface="DejaVu Sans"/>
              </a:rPr>
              <a:t>2024-01_prices_FR.csv</a:t>
            </a:r>
            <a:br>
              <a:rPr sz="1600" dirty="0"/>
            </a:br>
            <a:r>
              <a:rPr lang="en-US" sz="1600" b="0" u="none" strike="noStrike" dirty="0">
                <a:solidFill>
                  <a:srgbClr val="000000"/>
                </a:solidFill>
                <a:effectLst/>
                <a:uFillTx/>
                <a:latin typeface="Consolas"/>
                <a:ea typeface="DejaVu Sans"/>
              </a:rPr>
              <a:t>2024-02_prices_DE.csv</a:t>
            </a:r>
            <a:br>
              <a:rPr sz="1600" dirty="0"/>
            </a:br>
            <a:r>
              <a:rPr lang="en-US" sz="1600" b="0" u="none" strike="noStrike" dirty="0">
                <a:solidFill>
                  <a:srgbClr val="000000"/>
                </a:solidFill>
                <a:effectLst/>
                <a:uFillTx/>
                <a:latin typeface="Consolas"/>
                <a:ea typeface="DejaVu Sans"/>
              </a:rPr>
              <a:t>2024-02_prices_FR.csv</a:t>
            </a:r>
            <a:endParaRPr lang="en-GB" sz="1600" b="0" u="none" strike="noStrike" dirty="0">
              <a:solidFill>
                <a:srgbClr val="000000"/>
              </a:solidFill>
              <a:effectLst/>
              <a:uFillTx/>
              <a:latin typeface="Arial"/>
            </a:endParaRPr>
          </a:p>
        </p:txBody>
      </p:sp>
      <p:sp>
        <p:nvSpPr>
          <p:cNvPr id="2" name="TextBox 6">
            <a:extLst>
              <a:ext uri="{FF2B5EF4-FFF2-40B4-BE49-F238E27FC236}">
                <a16:creationId xmlns:a16="http://schemas.microsoft.com/office/drawing/2014/main" id="{1915C82D-E9EB-9A65-0EA7-46DBF0A9C448}"/>
              </a:ext>
            </a:extLst>
          </p:cNvPr>
          <p:cNvSpPr/>
          <p:nvPr/>
        </p:nvSpPr>
        <p:spPr>
          <a:xfrm>
            <a:off x="7094045" y="348735"/>
            <a:ext cx="4414075" cy="1198875"/>
          </a:xfrm>
          <a:prstGeom prst="rect">
            <a:avLst/>
          </a:prstGeom>
          <a:solidFill>
            <a:srgbClr val="F20000">
              <a:alpha val="9000"/>
            </a:srgbClr>
          </a:solid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sz="2400" b="0" i="1" u="none" strike="noStrike" dirty="0">
                <a:solidFill>
                  <a:srgbClr val="000000"/>
                </a:solidFill>
                <a:effectLst/>
                <a:uFillTx/>
                <a:latin typeface="Baskerville"/>
                <a:ea typeface="Baskerville"/>
              </a:rPr>
              <a:t>“Tidy datasets are all alike but every messy dataset is messy in its own way” </a:t>
            </a:r>
            <a:br>
              <a:rPr sz="2400" dirty="0"/>
            </a:br>
            <a:r>
              <a:rPr lang="en-US" sz="2400" b="0" i="1" u="none" strike="noStrike" dirty="0">
                <a:solidFill>
                  <a:srgbClr val="000000"/>
                </a:solidFill>
                <a:effectLst/>
                <a:uFillTx/>
                <a:latin typeface="Baskerville"/>
                <a:ea typeface="Baskerville"/>
              </a:rPr>
              <a:t>– Hadley Wickham</a:t>
            </a:r>
            <a:endParaRPr lang="en-GB" sz="2400" b="0" u="none" strike="noStrike" dirty="0">
              <a:solidFill>
                <a:srgbClr val="FFFFFF"/>
              </a:solidFill>
              <a:effectLst/>
              <a:uFillTx/>
              <a:latin typeface="Arial"/>
            </a:endParaRPr>
          </a:p>
        </p:txBody>
      </p:sp>
      <p:sp>
        <p:nvSpPr>
          <p:cNvPr id="4" name="PlaceHolder 1">
            <a:extLst>
              <a:ext uri="{FF2B5EF4-FFF2-40B4-BE49-F238E27FC236}">
                <a16:creationId xmlns:a16="http://schemas.microsoft.com/office/drawing/2014/main" id="{170F05B4-0692-6536-81E4-BEBFBB9AFD46}"/>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t>ASPP </a:t>
            </a:r>
            <a:r>
              <a:rPr lang="en-GB" dirty="0" err="1"/>
              <a:t>LatAm</a:t>
            </a:r>
            <a:r>
              <a:rPr lang="en-GB" dirty="0"/>
              <a:t>, July 2026</a:t>
            </a:r>
          </a:p>
        </p:txBody>
      </p:sp>
      <p:sp>
        <p:nvSpPr>
          <p:cNvPr id="5" name="PlaceHolder 2">
            <a:extLst>
              <a:ext uri="{FF2B5EF4-FFF2-40B4-BE49-F238E27FC236}">
                <a16:creationId xmlns:a16="http://schemas.microsoft.com/office/drawing/2014/main" id="{CD0F2179-CA15-D2CE-3C18-AEDA438368DB}"/>
              </a:ext>
            </a:extLst>
          </p:cNvPr>
          <p:cNvSpPr>
            <a:spLocks noGrp="1"/>
          </p:cNvSpPr>
          <p:nvPr>
            <p:ph type="ftr" idx="1"/>
          </p:nvPr>
        </p:nvSpPr>
        <p:spPr>
          <a:xfrm>
            <a:off x="4038480" y="6356520"/>
            <a:ext cx="4111560" cy="361800"/>
          </a:xfrm>
        </p:spPr>
        <p:txBody>
          <a:bodyPr/>
          <a:lstStyle/>
          <a:p>
            <a:r>
              <a:rPr lang="en-US" dirty="0"/>
              <a:t>Tab, v3.0</a:t>
            </a:r>
            <a:endParaRPr dirty="0"/>
          </a:p>
        </p:txBody>
      </p:sp>
      <p:sp>
        <p:nvSpPr>
          <p:cNvPr id="6" name="PlaceHolder 5">
            <a:extLst>
              <a:ext uri="{FF2B5EF4-FFF2-40B4-BE49-F238E27FC236}">
                <a16:creationId xmlns:a16="http://schemas.microsoft.com/office/drawing/2014/main" id="{268805C0-3757-EF00-FFB3-907452B7DC86}"/>
              </a:ext>
            </a:extLst>
          </p:cNvPr>
          <p:cNvSpPr>
            <a:spLocks noGrp="1"/>
          </p:cNvSpPr>
          <p:nvPr>
            <p:ph type="sldNum" idx="2"/>
          </p:nvPr>
        </p:nvSpPr>
        <p:spPr>
          <a:xfrm>
            <a:off x="8610480" y="6356520"/>
            <a:ext cx="2739960" cy="361800"/>
          </a:xfrm>
        </p:spPr>
        <p:txBody>
          <a:bodyPr/>
          <a:lstStyle/>
          <a:p>
            <a:fld id="{D35AB332-6AEC-41D2-9046-0A10834BBC65}" type="slidenum">
              <a:rPr>
                <a:latin typeface="Calibri" panose="020F0502020204030204" pitchFamily="34" charset="0"/>
                <a:cs typeface="Calibri" panose="020F0502020204030204" pitchFamily="34" charset="0"/>
              </a:rPr>
              <a:t>38</a:t>
            </a:fld>
            <a:endParaRPr>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61941699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1" name="PlaceHolder 1"/>
          <p:cNvSpPr>
            <a:spLocks noGrp="1"/>
          </p:cNvSpPr>
          <p:nvPr>
            <p:ph type="title"/>
          </p:nvPr>
        </p:nvSpPr>
        <p:spPr>
          <a:xfrm>
            <a:off x="609480" y="2972198"/>
            <a:ext cx="10972080" cy="1144440"/>
          </a:xfrm>
          <a:prstGeom prst="rect">
            <a:avLst/>
          </a:prstGeom>
          <a:noFill/>
          <a:ln w="0">
            <a:noFill/>
          </a:ln>
        </p:spPr>
        <p:txBody>
          <a:bodyPr lIns="0" tIns="0" rIns="0" bIns="0" anchor="ctr">
            <a:normAutofit/>
          </a:bodyPr>
          <a:lstStyle/>
          <a:p>
            <a:pPr indent="0" algn="ctr">
              <a:lnSpc>
                <a:spcPct val="90000"/>
              </a:lnSpc>
              <a:buNone/>
              <a:tabLst>
                <a:tab pos="0" algn="l"/>
              </a:tabLst>
            </a:pPr>
            <a:r>
              <a:rPr lang="en-CH" sz="5400" b="0" u="none" strike="noStrike">
                <a:solidFill>
                  <a:srgbClr val="000000"/>
                </a:solidFill>
                <a:effectLst/>
                <a:uFillTx/>
                <a:latin typeface="Calibri" panose="020F0502020204030204" pitchFamily="34" charset="0"/>
                <a:ea typeface="DejaVu Sans"/>
                <a:cs typeface="Calibri" panose="020F0502020204030204" pitchFamily="34" charset="0"/>
              </a:rPr>
              <a:t>Tidy Data</a:t>
            </a:r>
            <a:endParaRPr lang="en-GB" sz="5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2" name="PlaceHolder 1">
            <a:extLst>
              <a:ext uri="{FF2B5EF4-FFF2-40B4-BE49-F238E27FC236}">
                <a16:creationId xmlns:a16="http://schemas.microsoft.com/office/drawing/2014/main" id="{F307070E-13F0-B712-36A9-DCC9233DD6C8}"/>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t>ASPP </a:t>
            </a:r>
            <a:r>
              <a:rPr lang="en-GB" dirty="0" err="1"/>
              <a:t>LatAm</a:t>
            </a:r>
            <a:r>
              <a:rPr lang="en-GB" dirty="0"/>
              <a:t>, July 2026</a:t>
            </a:r>
          </a:p>
        </p:txBody>
      </p:sp>
      <p:sp>
        <p:nvSpPr>
          <p:cNvPr id="4" name="PlaceHolder 2">
            <a:extLst>
              <a:ext uri="{FF2B5EF4-FFF2-40B4-BE49-F238E27FC236}">
                <a16:creationId xmlns:a16="http://schemas.microsoft.com/office/drawing/2014/main" id="{648A94A3-56CA-BB42-AB9E-81CB70224E66}"/>
              </a:ext>
            </a:extLst>
          </p:cNvPr>
          <p:cNvSpPr>
            <a:spLocks noGrp="1"/>
          </p:cNvSpPr>
          <p:nvPr>
            <p:ph type="ftr" idx="1"/>
          </p:nvPr>
        </p:nvSpPr>
        <p:spPr>
          <a:xfrm>
            <a:off x="4038480" y="6345369"/>
            <a:ext cx="4111560" cy="361800"/>
          </a:xfrm>
        </p:spPr>
        <p:txBody>
          <a:bodyPr/>
          <a:lstStyle/>
          <a:p>
            <a:r>
              <a:rPr lang="en-US" dirty="0"/>
              <a:t>Tab, v3.0</a:t>
            </a:r>
            <a:endParaRPr dirty="0"/>
          </a:p>
        </p:txBody>
      </p:sp>
      <p:sp>
        <p:nvSpPr>
          <p:cNvPr id="5" name="PlaceHolder 5">
            <a:extLst>
              <a:ext uri="{FF2B5EF4-FFF2-40B4-BE49-F238E27FC236}">
                <a16:creationId xmlns:a16="http://schemas.microsoft.com/office/drawing/2014/main" id="{CF3873C0-14A3-1104-4238-0E9593AB4300}"/>
              </a:ext>
            </a:extLst>
          </p:cNvPr>
          <p:cNvSpPr>
            <a:spLocks noGrp="1"/>
          </p:cNvSpPr>
          <p:nvPr>
            <p:ph type="sldNum" idx="2"/>
          </p:nvPr>
        </p:nvSpPr>
        <p:spPr>
          <a:xfrm>
            <a:off x="8610480" y="6345369"/>
            <a:ext cx="2739960" cy="361800"/>
          </a:xfrm>
        </p:spPr>
        <p:txBody>
          <a:bodyPr/>
          <a:lstStyle/>
          <a:p>
            <a:fld id="{D35AB332-6AEC-41D2-9046-0A10834BBC65}" type="slidenum">
              <a:rPr>
                <a:latin typeface="Calibri" panose="020F0502020204030204" pitchFamily="34" charset="0"/>
                <a:cs typeface="Calibri" panose="020F0502020204030204" pitchFamily="34" charset="0"/>
              </a:rPr>
              <a:t>39</a:t>
            </a:fld>
            <a:endParaRPr>
              <a:latin typeface="Calibri" panose="020F0502020204030204" pitchFamily="34" charset="0"/>
              <a:cs typeface="Calibri" panose="020F0502020204030204" pitchFamily="34" charset="0"/>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4" name="PlaceHolder 1"/>
          <p:cNvSpPr>
            <a:spLocks noGrp="1"/>
          </p:cNvSpPr>
          <p:nvPr>
            <p:ph type="title"/>
          </p:nvPr>
        </p:nvSpPr>
        <p:spPr>
          <a:prstGeom prst="rect">
            <a:avLst/>
          </a:prstGeom>
          <a:noFill/>
          <a:ln w="0">
            <a:noFill/>
          </a:ln>
        </p:spPr>
        <p:txBody>
          <a:bodyPr lIns="0" tIns="0" rIns="0" bIns="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Tidy data</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graphicFrame>
        <p:nvGraphicFramePr>
          <p:cNvPr id="376" name="Table 8"/>
          <p:cNvGraphicFramePr/>
          <p:nvPr>
            <p:extLst>
              <p:ext uri="{D42A27DB-BD31-4B8C-83A1-F6EECF244321}">
                <p14:modId xmlns:p14="http://schemas.microsoft.com/office/powerpoint/2010/main" val="3554017942"/>
              </p:ext>
            </p:extLst>
          </p:nvPr>
        </p:nvGraphicFramePr>
        <p:xfrm>
          <a:off x="2905200" y="2988000"/>
          <a:ext cx="6795510" cy="1752480"/>
        </p:xfrm>
        <a:graphic>
          <a:graphicData uri="http://schemas.openxmlformats.org/drawingml/2006/table">
            <a:tbl>
              <a:tblPr/>
              <a:tblGrid>
                <a:gridCol w="1357989">
                  <a:extLst>
                    <a:ext uri="{9D8B030D-6E8A-4147-A177-3AD203B41FA5}">
                      <a16:colId xmlns:a16="http://schemas.microsoft.com/office/drawing/2014/main" val="20000"/>
                    </a:ext>
                  </a:extLst>
                </a:gridCol>
                <a:gridCol w="1425893">
                  <a:extLst>
                    <a:ext uri="{9D8B030D-6E8A-4147-A177-3AD203B41FA5}">
                      <a16:colId xmlns:a16="http://schemas.microsoft.com/office/drawing/2014/main" val="20001"/>
                    </a:ext>
                  </a:extLst>
                </a:gridCol>
                <a:gridCol w="1056005">
                  <a:extLst>
                    <a:ext uri="{9D8B030D-6E8A-4147-A177-3AD203B41FA5}">
                      <a16:colId xmlns:a16="http://schemas.microsoft.com/office/drawing/2014/main" val="20002"/>
                    </a:ext>
                  </a:extLst>
                </a:gridCol>
                <a:gridCol w="1278107">
                  <a:extLst>
                    <a:ext uri="{9D8B030D-6E8A-4147-A177-3AD203B41FA5}">
                      <a16:colId xmlns:a16="http://schemas.microsoft.com/office/drawing/2014/main" val="20003"/>
                    </a:ext>
                  </a:extLst>
                </a:gridCol>
                <a:gridCol w="1677516">
                  <a:extLst>
                    <a:ext uri="{9D8B030D-6E8A-4147-A177-3AD203B41FA5}">
                      <a16:colId xmlns:a16="http://schemas.microsoft.com/office/drawing/2014/main" val="20004"/>
                    </a:ext>
                  </a:extLst>
                </a:gridCol>
              </a:tblGrid>
              <a:tr h="370800">
                <a:tc>
                  <a:txBody>
                    <a:bodyPr/>
                    <a:lstStyle/>
                    <a:p>
                      <a:pPr>
                        <a:lnSpc>
                          <a:spcPct val="100000"/>
                        </a:lnSpc>
                      </a:pPr>
                      <a:r>
                        <a:rPr lang="en-CH" sz="1800" b="1" u="none" strike="noStrike">
                          <a:solidFill>
                            <a:srgbClr val="000000"/>
                          </a:solidFill>
                          <a:effectLst/>
                          <a:uFillTx/>
                          <a:latin typeface="Calibri"/>
                          <a:ea typeface="DejaVu Sans"/>
                        </a:rPr>
                        <a:t>Subject ID </a:t>
                      </a:r>
                      <a:endParaRPr lang="en-GB" sz="180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solidFill>
                  </a:tcPr>
                </a:tc>
                <a:tc>
                  <a:txBody>
                    <a:bodyPr/>
                    <a:lstStyle/>
                    <a:p>
                      <a:pPr>
                        <a:lnSpc>
                          <a:spcPct val="100000"/>
                        </a:lnSpc>
                      </a:pPr>
                      <a:r>
                        <a:rPr lang="en-CH" sz="1800" b="1" u="none" strike="noStrike">
                          <a:solidFill>
                            <a:srgbClr val="000000"/>
                          </a:solidFill>
                          <a:effectLst/>
                          <a:uFillTx/>
                          <a:latin typeface="Calibri"/>
                          <a:ea typeface="DejaVu Sans"/>
                        </a:rPr>
                        <a:t>Condition ID</a:t>
                      </a:r>
                      <a:endParaRPr lang="en-GB" sz="180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solidFill>
                  </a:tcPr>
                </a:tc>
                <a:tc>
                  <a:txBody>
                    <a:bodyPr/>
                    <a:lstStyle/>
                    <a:p>
                      <a:pPr>
                        <a:lnSpc>
                          <a:spcPct val="100000"/>
                        </a:lnSpc>
                      </a:pPr>
                      <a:r>
                        <a:rPr lang="en-US" sz="1800" b="1" u="none" strike="noStrike" dirty="0">
                          <a:solidFill>
                            <a:srgbClr val="000000"/>
                          </a:solidFill>
                          <a:effectLst/>
                          <a:uFillTx/>
                          <a:latin typeface="Calibri"/>
                        </a:rPr>
                        <a:t>Date</a:t>
                      </a:r>
                      <a:endParaRPr lang="en-GB" sz="1800" b="0" u="none" strike="noStrike" dirty="0">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solidFill>
                  </a:tcPr>
                </a:tc>
                <a:tc>
                  <a:txBody>
                    <a:bodyPr/>
                    <a:lstStyle/>
                    <a:p>
                      <a:pPr>
                        <a:lnSpc>
                          <a:spcPct val="100000"/>
                        </a:lnSpc>
                      </a:pPr>
                      <a:r>
                        <a:rPr lang="en-CH" sz="1800" b="1" u="none" strike="noStrike">
                          <a:solidFill>
                            <a:srgbClr val="000000"/>
                          </a:solidFill>
                          <a:effectLst/>
                          <a:uFillTx/>
                          <a:latin typeface="Calibri"/>
                          <a:ea typeface="DejaVu Sans"/>
                        </a:rPr>
                        <a:t>Response time (ms)</a:t>
                      </a:r>
                      <a:endParaRPr lang="en-GB" sz="1800" b="0" u="none" strike="noStrike" dirty="0">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solidFill>
                  </a:tcPr>
                </a:tc>
                <a:tc>
                  <a:txBody>
                    <a:bodyPr/>
                    <a:lstStyle/>
                    <a:p>
                      <a:pPr>
                        <a:lnSpc>
                          <a:spcPct val="100000"/>
                        </a:lnSpc>
                      </a:pPr>
                      <a:r>
                        <a:rPr lang="en-CH" sz="1800" b="1" u="none" strike="noStrike">
                          <a:solidFill>
                            <a:srgbClr val="000000"/>
                          </a:solidFill>
                          <a:effectLst/>
                          <a:uFillTx/>
                          <a:latin typeface="Calibri"/>
                          <a:ea typeface="DejaVu Sans"/>
                        </a:rPr>
                        <a:t>Response</a:t>
                      </a:r>
                      <a:endParaRPr lang="en-GB" sz="1800" b="0" u="none" strike="noStrike">
                        <a:solidFill>
                          <a:srgbClr val="FFFFFF"/>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solidFill>
                  </a:tcPr>
                </a:tc>
                <a:extLst>
                  <a:ext uri="{0D108BD9-81ED-4DB2-BD59-A6C34878D82A}">
                    <a16:rowId xmlns:a16="http://schemas.microsoft.com/office/drawing/2014/main" val="10000"/>
                  </a:ext>
                </a:extLst>
              </a:tr>
              <a:tr h="370800">
                <a:tc>
                  <a:txBody>
                    <a:bodyPr/>
                    <a:lstStyle/>
                    <a:p>
                      <a:pPr>
                        <a:lnSpc>
                          <a:spcPct val="100000"/>
                        </a:lnSpc>
                      </a:pPr>
                      <a:r>
                        <a:rPr lang="en-CH" sz="1800" b="0" u="none" strike="noStrike">
                          <a:solidFill>
                            <a:schemeClr val="dk1"/>
                          </a:solidFill>
                          <a:effectLst/>
                          <a:uFillTx/>
                          <a:latin typeface="Calibri"/>
                          <a:ea typeface="DejaVu Sans"/>
                        </a:rPr>
                        <a:t>VM</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732</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u="none" strike="noStrike" dirty="0">
                          <a:solidFill>
                            <a:schemeClr val="dk1"/>
                          </a:solidFill>
                          <a:effectLst/>
                          <a:uFillTx/>
                          <a:latin typeface="Calibri"/>
                        </a:rPr>
                        <a:t>7.3.2024</a:t>
                      </a:r>
                      <a:endParaRPr lang="en-GB" sz="1800" b="0" u="none" strike="noStrike" dirty="0">
                        <a:solidFill>
                          <a:srgbClr val="000000"/>
                        </a:solidFill>
                        <a:effectLst/>
                        <a:uFillTx/>
                        <a:latin typeface="+mn-lt"/>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28</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LEFT</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extLst>
                  <a:ext uri="{0D108BD9-81ED-4DB2-BD59-A6C34878D82A}">
                    <a16:rowId xmlns:a16="http://schemas.microsoft.com/office/drawing/2014/main" val="10001"/>
                  </a:ext>
                </a:extLst>
              </a:tr>
              <a:tr h="370800">
                <a:tc>
                  <a:txBody>
                    <a:bodyPr/>
                    <a:lstStyle/>
                    <a:p>
                      <a:pPr>
                        <a:lnSpc>
                          <a:spcPct val="100000"/>
                        </a:lnSpc>
                        <a:tabLst>
                          <a:tab pos="0" algn="l"/>
                        </a:tabLst>
                      </a:pPr>
                      <a:r>
                        <a:rPr lang="en-CH" sz="1800" b="0" u="none" strike="noStrike">
                          <a:solidFill>
                            <a:schemeClr val="dk1"/>
                          </a:solidFill>
                          <a:effectLst/>
                          <a:uFillTx/>
                          <a:latin typeface="Calibri"/>
                          <a:ea typeface="DejaVu Sans"/>
                        </a:rPr>
                        <a:t>VM</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732</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u="none" strike="noStrike" dirty="0">
                          <a:solidFill>
                            <a:schemeClr val="dk1"/>
                          </a:solidFill>
                          <a:effectLst/>
                          <a:uFillTx/>
                          <a:latin typeface="Calibri"/>
                        </a:rPr>
                        <a:t>8.3.2024</a:t>
                      </a:r>
                      <a:endParaRPr lang="en-GB" sz="1800" b="0" u="none" strike="noStrike" dirty="0">
                        <a:solidFill>
                          <a:srgbClr val="000000"/>
                        </a:solidFill>
                        <a:effectLst/>
                        <a:uFillTx/>
                        <a:latin typeface="+mn-lt"/>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41</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RIGHT</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extLst>
                  <a:ext uri="{0D108BD9-81ED-4DB2-BD59-A6C34878D82A}">
                    <a16:rowId xmlns:a16="http://schemas.microsoft.com/office/drawing/2014/main" val="10002"/>
                  </a:ext>
                </a:extLst>
              </a:tr>
              <a:tr h="370800">
                <a:tc>
                  <a:txBody>
                    <a:bodyPr/>
                    <a:lstStyle/>
                    <a:p>
                      <a:pPr>
                        <a:lnSpc>
                          <a:spcPct val="100000"/>
                        </a:lnSpc>
                      </a:pPr>
                      <a:r>
                        <a:rPr lang="en-CH" sz="1800" b="0" u="none" strike="noStrike">
                          <a:solidFill>
                            <a:schemeClr val="dk1"/>
                          </a:solidFill>
                          <a:effectLst/>
                          <a:uFillTx/>
                          <a:latin typeface="Calibri"/>
                          <a:ea typeface="DejaVu Sans"/>
                        </a:rPr>
                        <a:t>PB</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665</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u="none" strike="noStrike" dirty="0">
                          <a:solidFill>
                            <a:schemeClr val="dk1"/>
                          </a:solidFill>
                          <a:effectLst/>
                          <a:uFillTx/>
                          <a:latin typeface="Calibri"/>
                        </a:rPr>
                        <a:t>9.3.2024</a:t>
                      </a:r>
                      <a:endParaRPr lang="en-GB" sz="1800" b="0" u="none" strike="noStrike" dirty="0">
                        <a:solidFill>
                          <a:srgbClr val="000000"/>
                        </a:solidFill>
                        <a:effectLst/>
                        <a:uFillTx/>
                        <a:latin typeface="+mn-lt"/>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73</a:t>
                      </a:r>
                      <a:endParaRPr lang="en-GB" sz="1800" b="0" u="none" strike="noStrike">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tc>
                  <a:txBody>
                    <a:bodyPr/>
                    <a:lstStyle/>
                    <a:p>
                      <a:pPr>
                        <a:lnSpc>
                          <a:spcPct val="100000"/>
                        </a:lnSpc>
                      </a:pPr>
                      <a:r>
                        <a:rPr lang="en-CH" sz="1800" b="0" u="none" strike="noStrike">
                          <a:solidFill>
                            <a:schemeClr val="dk1"/>
                          </a:solidFill>
                          <a:effectLst/>
                          <a:uFillTx/>
                          <a:latin typeface="Calibri"/>
                          <a:ea typeface="DejaVu Sans"/>
                        </a:rPr>
                        <a:t>LEFT</a:t>
                      </a:r>
                      <a:endParaRPr lang="en-GB" sz="1800" b="0" u="none" strike="noStrike" dirty="0">
                        <a:solidFill>
                          <a:srgbClr val="000000"/>
                        </a:solidFill>
                        <a:effectLst/>
                        <a:uFillTx/>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4">
                        <a:lumMod val="40000"/>
                        <a:lumOff val="60000"/>
                      </a:schemeClr>
                    </a:solidFill>
                  </a:tcPr>
                </a:tc>
                <a:extLst>
                  <a:ext uri="{0D108BD9-81ED-4DB2-BD59-A6C34878D82A}">
                    <a16:rowId xmlns:a16="http://schemas.microsoft.com/office/drawing/2014/main" val="10003"/>
                  </a:ext>
                </a:extLst>
              </a:tr>
            </a:tbl>
          </a:graphicData>
        </a:graphic>
      </p:graphicFrame>
      <p:sp>
        <p:nvSpPr>
          <p:cNvPr id="377" name="TextBox 10"/>
          <p:cNvSpPr/>
          <p:nvPr/>
        </p:nvSpPr>
        <p:spPr>
          <a:xfrm>
            <a:off x="2764080" y="2329560"/>
            <a:ext cx="639972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2800" b="1" u="none" strike="noStrike">
                <a:solidFill>
                  <a:schemeClr val="accent6"/>
                </a:solidFill>
                <a:effectLst/>
                <a:uFillTx/>
                <a:latin typeface="Calibri" panose="020F0502020204030204" pitchFamily="34" charset="0"/>
                <a:ea typeface="DejaVu Sans"/>
                <a:cs typeface="Calibri" panose="020F0502020204030204" pitchFamily="34" charset="0"/>
              </a:rPr>
              <a:t>Variables (or features, attributes)</a:t>
            </a:r>
            <a:endParaRPr lang="en-GB" sz="2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378" name="TextBox 11"/>
          <p:cNvSpPr/>
          <p:nvPr/>
        </p:nvSpPr>
        <p:spPr>
          <a:xfrm rot="16200000">
            <a:off x="708480" y="3466574"/>
            <a:ext cx="2372040" cy="95265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2800" b="1" u="none" strike="noStrike">
                <a:solidFill>
                  <a:schemeClr val="accent5"/>
                </a:solidFill>
                <a:effectLst/>
                <a:uFillTx/>
                <a:latin typeface="Calibri" panose="020F0502020204030204" pitchFamily="34" charset="0"/>
                <a:ea typeface="DejaVu Sans"/>
                <a:cs typeface="Calibri" panose="020F0502020204030204" pitchFamily="34" charset="0"/>
              </a:rPr>
              <a:t>Observations (or samples)</a:t>
            </a:r>
            <a:endParaRPr lang="en-GB" sz="2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379" name="TextBox 12"/>
          <p:cNvSpPr/>
          <p:nvPr/>
        </p:nvSpPr>
        <p:spPr>
          <a:xfrm>
            <a:off x="3885677" y="397840"/>
            <a:ext cx="6549480" cy="1568206"/>
          </a:xfrm>
          <a:custGeom>
            <a:avLst/>
            <a:gdLst>
              <a:gd name="textAreaLeft" fmla="*/ 0 w 6549480"/>
              <a:gd name="textAreaRight" fmla="*/ 6552720 w 6549480"/>
              <a:gd name="textAreaTop" fmla="*/ 0 h 1915920"/>
              <a:gd name="textAreaBottom" fmla="*/ 1919160 h 1915920"/>
            </a:gdLst>
            <a:ahLst/>
            <a:cxnLst/>
            <a:rect l="textAreaLeft" t="textAreaTop" r="textAreaRight" b="textAreaBottom"/>
            <a:pathLst>
              <a:path w="6552728" h="1569660" fill="none">
                <a:moveTo>
                  <a:pt x="0" y="0"/>
                </a:moveTo>
                <a:cubicBezTo>
                  <a:pt x="166419" y="-423"/>
                  <a:pt x="359212" y="-15014"/>
                  <a:pt x="524218" y="0"/>
                </a:cubicBezTo>
                <a:cubicBezTo>
                  <a:pt x="689224" y="15014"/>
                  <a:pt x="788676" y="-4207"/>
                  <a:pt x="1048436" y="0"/>
                </a:cubicBezTo>
                <a:cubicBezTo>
                  <a:pt x="1308196" y="4207"/>
                  <a:pt x="1291664" y="14801"/>
                  <a:pt x="1507127" y="0"/>
                </a:cubicBezTo>
                <a:cubicBezTo>
                  <a:pt x="1722590" y="-14801"/>
                  <a:pt x="1966041" y="7224"/>
                  <a:pt x="2293455" y="0"/>
                </a:cubicBezTo>
                <a:cubicBezTo>
                  <a:pt x="2620869" y="-7224"/>
                  <a:pt x="2527916" y="10517"/>
                  <a:pt x="2752146" y="0"/>
                </a:cubicBezTo>
                <a:cubicBezTo>
                  <a:pt x="2976376" y="-10517"/>
                  <a:pt x="3162926" y="28823"/>
                  <a:pt x="3472946" y="0"/>
                </a:cubicBezTo>
                <a:cubicBezTo>
                  <a:pt x="3782966" y="-28823"/>
                  <a:pt x="3740348" y="15487"/>
                  <a:pt x="3931637" y="0"/>
                </a:cubicBezTo>
                <a:cubicBezTo>
                  <a:pt x="4122926" y="-15487"/>
                  <a:pt x="4292237" y="-19151"/>
                  <a:pt x="4652437" y="0"/>
                </a:cubicBezTo>
                <a:cubicBezTo>
                  <a:pt x="5012637" y="19151"/>
                  <a:pt x="5176641" y="-9385"/>
                  <a:pt x="5307710" y="0"/>
                </a:cubicBezTo>
                <a:cubicBezTo>
                  <a:pt x="5438779" y="9385"/>
                  <a:pt x="5635367" y="24036"/>
                  <a:pt x="5831928" y="0"/>
                </a:cubicBezTo>
                <a:cubicBezTo>
                  <a:pt x="6028489" y="-24036"/>
                  <a:pt x="6315045" y="-1572"/>
                  <a:pt x="6552728" y="0"/>
                </a:cubicBezTo>
                <a:cubicBezTo>
                  <a:pt x="6578896" y="167135"/>
                  <a:pt x="6545030" y="433517"/>
                  <a:pt x="6552728" y="554613"/>
                </a:cubicBezTo>
                <a:cubicBezTo>
                  <a:pt x="6560426" y="675709"/>
                  <a:pt x="6558548" y="796698"/>
                  <a:pt x="6552728" y="1030743"/>
                </a:cubicBezTo>
                <a:cubicBezTo>
                  <a:pt x="6546909" y="1264788"/>
                  <a:pt x="6548253" y="1346613"/>
                  <a:pt x="6552728" y="1569660"/>
                </a:cubicBezTo>
                <a:cubicBezTo>
                  <a:pt x="6306048" y="1578089"/>
                  <a:pt x="6257480" y="1588739"/>
                  <a:pt x="6028510" y="1569660"/>
                </a:cubicBezTo>
                <a:cubicBezTo>
                  <a:pt x="5799540" y="1550581"/>
                  <a:pt x="5750000" y="1549130"/>
                  <a:pt x="5569819" y="1569660"/>
                </a:cubicBezTo>
                <a:cubicBezTo>
                  <a:pt x="5389638" y="1590190"/>
                  <a:pt x="5109329" y="1543701"/>
                  <a:pt x="4849019" y="1569660"/>
                </a:cubicBezTo>
                <a:cubicBezTo>
                  <a:pt x="4588709" y="1595619"/>
                  <a:pt x="4435227" y="1569163"/>
                  <a:pt x="4259273" y="1569660"/>
                </a:cubicBezTo>
                <a:cubicBezTo>
                  <a:pt x="4083319" y="1570157"/>
                  <a:pt x="3776601" y="1572099"/>
                  <a:pt x="3538473" y="1569660"/>
                </a:cubicBezTo>
                <a:cubicBezTo>
                  <a:pt x="3300345" y="1567221"/>
                  <a:pt x="3220535" y="1563996"/>
                  <a:pt x="3014255" y="1569660"/>
                </a:cubicBezTo>
                <a:cubicBezTo>
                  <a:pt x="2807975" y="1575324"/>
                  <a:pt x="2680474" y="1586876"/>
                  <a:pt x="2555564" y="1569660"/>
                </a:cubicBezTo>
                <a:cubicBezTo>
                  <a:pt x="2430654" y="1552444"/>
                  <a:pt x="1981924" y="1555011"/>
                  <a:pt x="1834764" y="1569660"/>
                </a:cubicBezTo>
                <a:cubicBezTo>
                  <a:pt x="1687604" y="1584309"/>
                  <a:pt x="1504110" y="1589358"/>
                  <a:pt x="1179491" y="1569660"/>
                </a:cubicBezTo>
                <a:cubicBezTo>
                  <a:pt x="854872" y="1549962"/>
                  <a:pt x="497714" y="1555029"/>
                  <a:pt x="0" y="1569660"/>
                </a:cubicBezTo>
                <a:cubicBezTo>
                  <a:pt x="-16176" y="1418876"/>
                  <a:pt x="23450" y="1211321"/>
                  <a:pt x="0" y="1046440"/>
                </a:cubicBezTo>
                <a:cubicBezTo>
                  <a:pt x="-23450" y="881559"/>
                  <a:pt x="-10584" y="681472"/>
                  <a:pt x="0" y="523220"/>
                </a:cubicBezTo>
                <a:cubicBezTo>
                  <a:pt x="10584" y="364968"/>
                  <a:pt x="8015" y="138700"/>
                  <a:pt x="0" y="0"/>
                </a:cubicBezTo>
                <a:close/>
              </a:path>
              <a:path w="6552728" h="1569660" stroke="0">
                <a:moveTo>
                  <a:pt x="0" y="0"/>
                </a:moveTo>
                <a:cubicBezTo>
                  <a:pt x="237273" y="21323"/>
                  <a:pt x="373062" y="16468"/>
                  <a:pt x="655273" y="0"/>
                </a:cubicBezTo>
                <a:cubicBezTo>
                  <a:pt x="937484" y="-16468"/>
                  <a:pt x="1225304" y="39289"/>
                  <a:pt x="1441600" y="0"/>
                </a:cubicBezTo>
                <a:cubicBezTo>
                  <a:pt x="1657896" y="-39289"/>
                  <a:pt x="1832535" y="-1542"/>
                  <a:pt x="2162400" y="0"/>
                </a:cubicBezTo>
                <a:cubicBezTo>
                  <a:pt x="2492265" y="1542"/>
                  <a:pt x="2728296" y="17429"/>
                  <a:pt x="2883200" y="0"/>
                </a:cubicBezTo>
                <a:cubicBezTo>
                  <a:pt x="3038104" y="-17429"/>
                  <a:pt x="3204829" y="7231"/>
                  <a:pt x="3472946" y="0"/>
                </a:cubicBezTo>
                <a:cubicBezTo>
                  <a:pt x="3741063" y="-7231"/>
                  <a:pt x="3807774" y="-16854"/>
                  <a:pt x="4062691" y="0"/>
                </a:cubicBezTo>
                <a:cubicBezTo>
                  <a:pt x="4317608" y="16854"/>
                  <a:pt x="4387418" y="-764"/>
                  <a:pt x="4521382" y="0"/>
                </a:cubicBezTo>
                <a:cubicBezTo>
                  <a:pt x="4655346" y="764"/>
                  <a:pt x="5016904" y="5362"/>
                  <a:pt x="5242182" y="0"/>
                </a:cubicBezTo>
                <a:cubicBezTo>
                  <a:pt x="5467460" y="-5362"/>
                  <a:pt x="5478829" y="3331"/>
                  <a:pt x="5700873" y="0"/>
                </a:cubicBezTo>
                <a:cubicBezTo>
                  <a:pt x="5922917" y="-3331"/>
                  <a:pt x="6214951" y="-10856"/>
                  <a:pt x="6552728" y="0"/>
                </a:cubicBezTo>
                <a:cubicBezTo>
                  <a:pt x="6548587" y="175294"/>
                  <a:pt x="6536344" y="339906"/>
                  <a:pt x="6552728" y="554613"/>
                </a:cubicBezTo>
                <a:cubicBezTo>
                  <a:pt x="6569112" y="769320"/>
                  <a:pt x="6539640" y="886963"/>
                  <a:pt x="6552728" y="1093530"/>
                </a:cubicBezTo>
                <a:cubicBezTo>
                  <a:pt x="6565816" y="1300097"/>
                  <a:pt x="6544049" y="1466238"/>
                  <a:pt x="6552728" y="1569660"/>
                </a:cubicBezTo>
                <a:cubicBezTo>
                  <a:pt x="6206451" y="1573109"/>
                  <a:pt x="6114152" y="1560077"/>
                  <a:pt x="5766401" y="1569660"/>
                </a:cubicBezTo>
                <a:cubicBezTo>
                  <a:pt x="5418650" y="1579243"/>
                  <a:pt x="5424681" y="1583451"/>
                  <a:pt x="5176655" y="1569660"/>
                </a:cubicBezTo>
                <a:cubicBezTo>
                  <a:pt x="4928629" y="1555869"/>
                  <a:pt x="4667278" y="1597241"/>
                  <a:pt x="4521382" y="1569660"/>
                </a:cubicBezTo>
                <a:cubicBezTo>
                  <a:pt x="4375486" y="1542079"/>
                  <a:pt x="4101707" y="1581799"/>
                  <a:pt x="3931637" y="1569660"/>
                </a:cubicBezTo>
                <a:cubicBezTo>
                  <a:pt x="3761568" y="1557521"/>
                  <a:pt x="3579898" y="1585538"/>
                  <a:pt x="3472946" y="1569660"/>
                </a:cubicBezTo>
                <a:cubicBezTo>
                  <a:pt x="3365994" y="1553782"/>
                  <a:pt x="3009255" y="1569223"/>
                  <a:pt x="2817673" y="1569660"/>
                </a:cubicBezTo>
                <a:cubicBezTo>
                  <a:pt x="2626091" y="1570097"/>
                  <a:pt x="2440158" y="1559255"/>
                  <a:pt x="2227928" y="1569660"/>
                </a:cubicBezTo>
                <a:cubicBezTo>
                  <a:pt x="2015699" y="1580065"/>
                  <a:pt x="1923066" y="1581389"/>
                  <a:pt x="1703709" y="1569660"/>
                </a:cubicBezTo>
                <a:cubicBezTo>
                  <a:pt x="1484352" y="1557931"/>
                  <a:pt x="1166821" y="1567437"/>
                  <a:pt x="982909" y="1569660"/>
                </a:cubicBezTo>
                <a:cubicBezTo>
                  <a:pt x="798997" y="1571883"/>
                  <a:pt x="248179" y="1599336"/>
                  <a:pt x="0" y="1569660"/>
                </a:cubicBezTo>
                <a:cubicBezTo>
                  <a:pt x="-3033" y="1415200"/>
                  <a:pt x="21133" y="1186207"/>
                  <a:pt x="0" y="1062137"/>
                </a:cubicBezTo>
                <a:cubicBezTo>
                  <a:pt x="-21133" y="938067"/>
                  <a:pt x="11829" y="822262"/>
                  <a:pt x="0" y="586006"/>
                </a:cubicBezTo>
                <a:cubicBezTo>
                  <a:pt x="-11829" y="349750"/>
                  <a:pt x="16853" y="271378"/>
                  <a:pt x="0" y="0"/>
                </a:cubicBezTo>
                <a:close/>
              </a:path>
            </a:pathLst>
          </a:custGeom>
          <a:solidFill>
            <a:schemeClr val="bg1">
              <a:lumMod val="95000"/>
            </a:schemeClr>
          </a:solidFill>
          <a:ln w="38100">
            <a:solidFill>
              <a:srgbClr val="000000"/>
            </a:solidFill>
            <a:round/>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rPr>
              <a:t>In tidy data:</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a:lnSpc>
                <a:spcPct val="100000"/>
              </a:lnSpc>
            </a:pPr>
            <a:r>
              <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rPr>
              <a:t>1. Each variable forms a column</a:t>
            </a:r>
            <a:br>
              <a:rPr sz="2400" dirty="0">
                <a:latin typeface="Calibri" panose="020F0502020204030204" pitchFamily="34" charset="0"/>
                <a:cs typeface="Calibri" panose="020F0502020204030204" pitchFamily="34" charset="0"/>
              </a:rPr>
            </a:br>
            <a:r>
              <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rPr>
              <a:t>2. Each observation forms a row</a:t>
            </a:r>
            <a:br>
              <a:rPr sz="2400" dirty="0">
                <a:latin typeface="Calibri" panose="020F0502020204030204" pitchFamily="34" charset="0"/>
                <a:cs typeface="Calibri" panose="020F0502020204030204" pitchFamily="34" charset="0"/>
              </a:rPr>
            </a:br>
            <a:r>
              <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rPr>
              <a:t>3. Each type of observational unit forms a table</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380" name="TextBox 13"/>
          <p:cNvSpPr/>
          <p:nvPr/>
        </p:nvSpPr>
        <p:spPr>
          <a:xfrm>
            <a:off x="1050120" y="5146560"/>
            <a:ext cx="293472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1" u="none" strike="noStrike">
                <a:solidFill>
                  <a:schemeClr val="accent5">
                    <a:lumMod val="75000"/>
                  </a:schemeClr>
                </a:solidFill>
                <a:effectLst/>
                <a:uFillTx/>
                <a:latin typeface="Calibri" panose="020F0502020204030204" pitchFamily="34" charset="0"/>
                <a:ea typeface="DejaVu Sans"/>
                <a:cs typeface="Calibri" panose="020F0502020204030204" pitchFamily="34" charset="0"/>
              </a:rPr>
              <a:t>Observations</a:t>
            </a: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 increase when new units (dates, subjects, …) are measured</a:t>
            </a:r>
            <a:endParaRPr lang="en-GB" sz="18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381" name="TextBox 9"/>
          <p:cNvSpPr/>
          <p:nvPr/>
        </p:nvSpPr>
        <p:spPr>
          <a:xfrm>
            <a:off x="9799080" y="2271438"/>
            <a:ext cx="2392920" cy="119887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1" u="none" strike="noStrike">
                <a:solidFill>
                  <a:schemeClr val="accent6"/>
                </a:solidFill>
                <a:effectLst/>
                <a:uFillTx/>
                <a:latin typeface="Calibri" panose="020F0502020204030204" pitchFamily="34" charset="0"/>
                <a:ea typeface="DejaVu Sans"/>
                <a:cs typeface="Calibri" panose="020F0502020204030204" pitchFamily="34" charset="0"/>
              </a:rPr>
              <a:t>Variables</a:t>
            </a:r>
            <a:r>
              <a:rPr lang="en-CH" sz="1800" b="0" u="none" strike="noStrike">
                <a:solidFill>
                  <a:srgbClr val="000000"/>
                </a:solidFill>
                <a:effectLst/>
                <a:uFillTx/>
                <a:latin typeface="Calibri" panose="020F0502020204030204" pitchFamily="34" charset="0"/>
                <a:ea typeface="DejaVu Sans"/>
                <a:cs typeface="Calibri" panose="020F0502020204030204" pitchFamily="34" charset="0"/>
              </a:rPr>
              <a:t> increase when new types of measurements are introduced</a:t>
            </a:r>
            <a:endParaRPr lang="en-GB" sz="18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2" name="PlaceHolder 1">
            <a:extLst>
              <a:ext uri="{FF2B5EF4-FFF2-40B4-BE49-F238E27FC236}">
                <a16:creationId xmlns:a16="http://schemas.microsoft.com/office/drawing/2014/main" id="{02D21888-C3EB-FA03-EB34-41F35D40DCA4}"/>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4" name="PlaceHolder 2">
            <a:extLst>
              <a:ext uri="{FF2B5EF4-FFF2-40B4-BE49-F238E27FC236}">
                <a16:creationId xmlns:a16="http://schemas.microsoft.com/office/drawing/2014/main" id="{B30AE83F-1F82-D1B9-C2CE-3833FE8497A2}"/>
              </a:ext>
            </a:extLst>
          </p:cNvPr>
          <p:cNvSpPr>
            <a:spLocks noGrp="1"/>
          </p:cNvSpPr>
          <p:nvPr>
            <p:ph type="ftr" idx="1"/>
          </p:nvPr>
        </p:nvSpPr>
        <p:spPr>
          <a:xfrm>
            <a:off x="4038480" y="6356520"/>
            <a:ext cx="4111560" cy="361800"/>
          </a:xfrm>
        </p:spPr>
        <p:txBody>
          <a:bodyPr/>
          <a:lstStyle/>
          <a:p>
            <a:r>
              <a:rPr lang="en-US" dirty="0"/>
              <a:t>Tab, v3.0</a:t>
            </a:r>
            <a:endParaRPr dirty="0"/>
          </a:p>
        </p:txBody>
      </p:sp>
      <p:sp>
        <p:nvSpPr>
          <p:cNvPr id="5" name="PlaceHolder 5">
            <a:extLst>
              <a:ext uri="{FF2B5EF4-FFF2-40B4-BE49-F238E27FC236}">
                <a16:creationId xmlns:a16="http://schemas.microsoft.com/office/drawing/2014/main" id="{6D21D231-B68E-D792-C877-6F7936C65391}"/>
              </a:ext>
            </a:extLst>
          </p:cNvPr>
          <p:cNvSpPr>
            <a:spLocks noGrp="1"/>
          </p:cNvSpPr>
          <p:nvPr>
            <p:ph type="sldNum" idx="2"/>
          </p:nvPr>
        </p:nvSpPr>
        <p:spPr>
          <a:xfrm>
            <a:off x="8610480" y="6356520"/>
            <a:ext cx="2739960" cy="361800"/>
          </a:xfrm>
        </p:spPr>
        <p:txBody>
          <a:bodyPr/>
          <a:lstStyle/>
          <a:p>
            <a:fld id="{D35AB332-6AEC-41D2-9046-0A10834BBC65}" type="slidenum">
              <a:rPr>
                <a:latin typeface="Calibri" panose="020F0502020204030204" pitchFamily="34" charset="0"/>
                <a:cs typeface="Calibri" panose="020F0502020204030204" pitchFamily="34" charset="0"/>
              </a:rPr>
              <a:t>40</a:t>
            </a:fld>
            <a:endParaRPr dirty="0">
              <a:latin typeface="Calibri" panose="020F0502020204030204" pitchFamily="34" charset="0"/>
              <a:cs typeface="Calibri" panose="020F0502020204030204" pitchFamily="34" charset="0"/>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3" name="PlaceHolder 1"/>
          <p:cNvSpPr>
            <a:spLocks noGrp="1"/>
          </p:cNvSpPr>
          <p:nvPr>
            <p:ph type="title"/>
          </p:nvPr>
        </p:nvSpPr>
        <p:spPr>
          <a:xfrm>
            <a:off x="609480" y="273600"/>
            <a:ext cx="10972080" cy="1508040"/>
          </a:xfrm>
          <a:prstGeom prst="rect">
            <a:avLst/>
          </a:prstGeom>
          <a:noFill/>
          <a:ln w="0">
            <a:noFill/>
          </a:ln>
        </p:spPr>
        <p:txBody>
          <a:bodyPr lIns="0" tIns="0" rIns="0" bIns="0" anchor="ctr">
            <a:normAutofit fontScale="90000"/>
          </a:bodyPr>
          <a:lstStyle/>
          <a:p>
            <a:pPr indent="0">
              <a:lnSpc>
                <a:spcPct val="90000"/>
              </a:lnSpc>
              <a:buNone/>
              <a:tabLst>
                <a:tab pos="0" algn="l"/>
              </a:tabLst>
            </a:pPr>
            <a:r>
              <a:rPr lang="en-US" dirty="0">
                <a:solidFill>
                  <a:srgbClr val="000000"/>
                </a:solidFill>
                <a:latin typeface="Calibri" panose="020F0502020204030204" pitchFamily="34" charset="0"/>
                <a:ea typeface="DejaVu Sans"/>
                <a:cs typeface="Calibri" panose="020F0502020204030204" pitchFamily="34" charset="0"/>
              </a:rPr>
              <a:t>Hands on:</a:t>
            </a:r>
            <a:br>
              <a:rPr lang="en-US" dirty="0">
                <a:solidFill>
                  <a:srgbClr val="000000"/>
                </a:solidFill>
                <a:latin typeface="Calibri" panose="020F0502020204030204" pitchFamily="34" charset="0"/>
                <a:ea typeface="DejaVu Sans"/>
                <a:cs typeface="Calibri" panose="020F0502020204030204" pitchFamily="34" charset="0"/>
              </a:rPr>
            </a:b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Same data, different organization</a:t>
            </a:r>
            <a:br>
              <a:rPr sz="4400" dirty="0">
                <a:latin typeface="Calibri" panose="020F0502020204030204" pitchFamily="34" charset="0"/>
                <a:cs typeface="Calibri" panose="020F0502020204030204" pitchFamily="34" charset="0"/>
              </a:rPr>
            </a:b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Which one is best for data analysis?</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pic>
        <p:nvPicPr>
          <p:cNvPr id="365" name="Picture 6"/>
          <p:cNvPicPr/>
          <p:nvPr/>
        </p:nvPicPr>
        <p:blipFill>
          <a:blip r:embed="rId2"/>
          <a:stretch/>
        </p:blipFill>
        <p:spPr>
          <a:xfrm>
            <a:off x="6527880" y="3078000"/>
            <a:ext cx="4365720" cy="1508040"/>
          </a:xfrm>
          <a:prstGeom prst="rect">
            <a:avLst/>
          </a:prstGeom>
          <a:noFill/>
          <a:ln w="0">
            <a:noFill/>
          </a:ln>
        </p:spPr>
      </p:pic>
      <p:pic>
        <p:nvPicPr>
          <p:cNvPr id="366" name="Picture 7"/>
          <p:cNvPicPr/>
          <p:nvPr/>
        </p:nvPicPr>
        <p:blipFill>
          <a:blip r:embed="rId3"/>
          <a:stretch/>
        </p:blipFill>
        <p:spPr>
          <a:xfrm>
            <a:off x="551520" y="2119320"/>
            <a:ext cx="5381640" cy="1254240"/>
          </a:xfrm>
          <a:prstGeom prst="rect">
            <a:avLst/>
          </a:prstGeom>
          <a:noFill/>
          <a:ln w="0">
            <a:noFill/>
          </a:ln>
        </p:spPr>
      </p:pic>
      <p:pic>
        <p:nvPicPr>
          <p:cNvPr id="367" name="Picture 8"/>
          <p:cNvPicPr/>
          <p:nvPr/>
        </p:nvPicPr>
        <p:blipFill>
          <a:blip r:embed="rId4"/>
          <a:stretch/>
        </p:blipFill>
        <p:spPr>
          <a:xfrm>
            <a:off x="2927520" y="3944160"/>
            <a:ext cx="2917800" cy="2270160"/>
          </a:xfrm>
          <a:prstGeom prst="rect">
            <a:avLst/>
          </a:prstGeom>
          <a:noFill/>
          <a:ln w="0">
            <a:noFill/>
          </a:ln>
        </p:spPr>
      </p:pic>
      <p:sp>
        <p:nvSpPr>
          <p:cNvPr id="2" name="PlaceHolder 1">
            <a:extLst>
              <a:ext uri="{FF2B5EF4-FFF2-40B4-BE49-F238E27FC236}">
                <a16:creationId xmlns:a16="http://schemas.microsoft.com/office/drawing/2014/main" id="{CADB5DC3-540A-63DB-994C-07E06C3C16C7}"/>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4" name="PlaceHolder 5">
            <a:extLst>
              <a:ext uri="{FF2B5EF4-FFF2-40B4-BE49-F238E27FC236}">
                <a16:creationId xmlns:a16="http://schemas.microsoft.com/office/drawing/2014/main" id="{8743E3EE-B2AA-2C53-9EED-FD9E15644396}"/>
              </a:ext>
            </a:extLst>
          </p:cNvPr>
          <p:cNvSpPr>
            <a:spLocks noGrp="1"/>
          </p:cNvSpPr>
          <p:nvPr>
            <p:ph type="sldNum" idx="2"/>
          </p:nvPr>
        </p:nvSpPr>
        <p:spPr>
          <a:xfrm>
            <a:off x="8610480" y="6356520"/>
            <a:ext cx="2739960" cy="361800"/>
          </a:xfrm>
        </p:spPr>
        <p:txBody>
          <a:bodyPr/>
          <a:lstStyle/>
          <a:p>
            <a:fld id="{D35AB332-6AEC-41D2-9046-0A10834BBC65}" type="slidenum">
              <a:rPr>
                <a:latin typeface="Calibri" panose="020F0502020204030204" pitchFamily="34" charset="0"/>
                <a:cs typeface="Calibri" panose="020F0502020204030204" pitchFamily="34" charset="0"/>
              </a:rPr>
              <a:t>41</a:t>
            </a:fld>
            <a:endParaRPr dirty="0">
              <a:latin typeface="Calibri" panose="020F0502020204030204" pitchFamily="34" charset="0"/>
              <a:cs typeface="Calibri" panose="020F0502020204030204" pitchFamily="34" charset="0"/>
            </a:endParaRPr>
          </a:p>
        </p:txBody>
      </p:sp>
      <p:sp>
        <p:nvSpPr>
          <p:cNvPr id="5" name="PlaceHolder 2">
            <a:extLst>
              <a:ext uri="{FF2B5EF4-FFF2-40B4-BE49-F238E27FC236}">
                <a16:creationId xmlns:a16="http://schemas.microsoft.com/office/drawing/2014/main" id="{401E1C02-0D22-C833-3DF2-0BBE031E6E72}"/>
              </a:ext>
            </a:extLst>
          </p:cNvPr>
          <p:cNvSpPr>
            <a:spLocks noGrp="1"/>
          </p:cNvSpPr>
          <p:nvPr>
            <p:ph type="ftr" idx="1"/>
          </p:nvPr>
        </p:nvSpPr>
        <p:spPr>
          <a:xfrm>
            <a:off x="4038480" y="6356520"/>
            <a:ext cx="4111560" cy="361800"/>
          </a:xfrm>
        </p:spPr>
        <p:txBody>
          <a:bodyPr/>
          <a:lstStyle/>
          <a:p>
            <a:r>
              <a:rPr lang="en-US" dirty="0"/>
              <a:t>Tab, v3.0</a:t>
            </a:r>
            <a:endParaRPr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0" name="Picture 6"/>
          <p:cNvPicPr/>
          <p:nvPr/>
        </p:nvPicPr>
        <p:blipFill>
          <a:blip r:embed="rId2"/>
          <a:stretch/>
        </p:blipFill>
        <p:spPr>
          <a:xfrm>
            <a:off x="6527880" y="3078000"/>
            <a:ext cx="4365720" cy="1508040"/>
          </a:xfrm>
          <a:prstGeom prst="rect">
            <a:avLst/>
          </a:prstGeom>
          <a:noFill/>
          <a:ln w="0">
            <a:noFill/>
          </a:ln>
        </p:spPr>
      </p:pic>
      <p:pic>
        <p:nvPicPr>
          <p:cNvPr id="371" name="Picture 7"/>
          <p:cNvPicPr/>
          <p:nvPr/>
        </p:nvPicPr>
        <p:blipFill>
          <a:blip r:embed="rId3"/>
          <a:stretch/>
        </p:blipFill>
        <p:spPr>
          <a:xfrm>
            <a:off x="551520" y="2119320"/>
            <a:ext cx="5381640" cy="1254240"/>
          </a:xfrm>
          <a:prstGeom prst="rect">
            <a:avLst/>
          </a:prstGeom>
          <a:noFill/>
          <a:ln w="0">
            <a:noFill/>
          </a:ln>
        </p:spPr>
      </p:pic>
      <p:pic>
        <p:nvPicPr>
          <p:cNvPr id="372" name="Picture 8"/>
          <p:cNvPicPr/>
          <p:nvPr/>
        </p:nvPicPr>
        <p:blipFill>
          <a:blip r:embed="rId4"/>
          <a:stretch/>
        </p:blipFill>
        <p:spPr>
          <a:xfrm>
            <a:off x="2927520" y="3944160"/>
            <a:ext cx="2917800" cy="2270160"/>
          </a:xfrm>
          <a:prstGeom prst="rect">
            <a:avLst/>
          </a:prstGeom>
          <a:noFill/>
          <a:ln w="0">
            <a:noFill/>
          </a:ln>
        </p:spPr>
      </p:pic>
      <p:sp>
        <p:nvSpPr>
          <p:cNvPr id="373" name="TextBox 2"/>
          <p:cNvSpPr/>
          <p:nvPr/>
        </p:nvSpPr>
        <p:spPr>
          <a:xfrm>
            <a:off x="1774440" y="2255220"/>
            <a:ext cx="8639640" cy="3377880"/>
          </a:xfrm>
          <a:custGeom>
            <a:avLst/>
            <a:gdLst>
              <a:gd name="textAreaLeft" fmla="*/ 0 w 8639640"/>
              <a:gd name="textAreaRight" fmla="*/ 8643960 w 8639640"/>
              <a:gd name="textAreaTop" fmla="*/ 0 h 3377880"/>
              <a:gd name="textAreaBottom" fmla="*/ 3382200 h 3377880"/>
            </a:gdLst>
            <a:ahLst/>
            <a:cxnLst/>
            <a:rect l="textAreaLeft" t="textAreaTop" r="textAreaRight" b="textAreaBottom"/>
            <a:pathLst>
              <a:path w="5712296" h="2308324" fill="none">
                <a:moveTo>
                  <a:pt x="0" y="0"/>
                </a:moveTo>
                <a:cubicBezTo>
                  <a:pt x="170481" y="12395"/>
                  <a:pt x="474495" y="4923"/>
                  <a:pt x="691823" y="0"/>
                </a:cubicBezTo>
                <a:cubicBezTo>
                  <a:pt x="909151" y="-4923"/>
                  <a:pt x="1025161" y="11703"/>
                  <a:pt x="1155153" y="0"/>
                </a:cubicBezTo>
                <a:cubicBezTo>
                  <a:pt x="1285145" y="-11703"/>
                  <a:pt x="1576417" y="299"/>
                  <a:pt x="1732730" y="0"/>
                </a:cubicBezTo>
                <a:cubicBezTo>
                  <a:pt x="1889043" y="-299"/>
                  <a:pt x="2130093" y="16857"/>
                  <a:pt x="2481675" y="0"/>
                </a:cubicBezTo>
                <a:cubicBezTo>
                  <a:pt x="2833257" y="-16857"/>
                  <a:pt x="2873551" y="17793"/>
                  <a:pt x="3116375" y="0"/>
                </a:cubicBezTo>
                <a:cubicBezTo>
                  <a:pt x="3359199" y="-17793"/>
                  <a:pt x="3543615" y="15531"/>
                  <a:pt x="3808197" y="0"/>
                </a:cubicBezTo>
                <a:cubicBezTo>
                  <a:pt x="4072779" y="-15531"/>
                  <a:pt x="4244086" y="-26212"/>
                  <a:pt x="4385774" y="0"/>
                </a:cubicBezTo>
                <a:cubicBezTo>
                  <a:pt x="4527462" y="26212"/>
                  <a:pt x="4804411" y="-17362"/>
                  <a:pt x="5020473" y="0"/>
                </a:cubicBezTo>
                <a:cubicBezTo>
                  <a:pt x="5236535" y="17362"/>
                  <a:pt x="5483850" y="13915"/>
                  <a:pt x="5712296" y="0"/>
                </a:cubicBezTo>
                <a:cubicBezTo>
                  <a:pt x="5698337" y="227921"/>
                  <a:pt x="5726828" y="309662"/>
                  <a:pt x="5712296" y="530915"/>
                </a:cubicBezTo>
                <a:cubicBezTo>
                  <a:pt x="5697764" y="752169"/>
                  <a:pt x="5697572" y="832379"/>
                  <a:pt x="5712296" y="1038746"/>
                </a:cubicBezTo>
                <a:cubicBezTo>
                  <a:pt x="5727020" y="1245113"/>
                  <a:pt x="5718057" y="1350161"/>
                  <a:pt x="5712296" y="1569660"/>
                </a:cubicBezTo>
                <a:cubicBezTo>
                  <a:pt x="5706535" y="1789159"/>
                  <a:pt x="5715761" y="2034313"/>
                  <a:pt x="5712296" y="2308324"/>
                </a:cubicBezTo>
                <a:cubicBezTo>
                  <a:pt x="5427327" y="2287513"/>
                  <a:pt x="5344141" y="2327301"/>
                  <a:pt x="5077596" y="2308324"/>
                </a:cubicBezTo>
                <a:cubicBezTo>
                  <a:pt x="4811051" y="2289347"/>
                  <a:pt x="4588159" y="2292673"/>
                  <a:pt x="4442897" y="2308324"/>
                </a:cubicBezTo>
                <a:cubicBezTo>
                  <a:pt x="4297635" y="2323975"/>
                  <a:pt x="4142033" y="2304319"/>
                  <a:pt x="3922443" y="2308324"/>
                </a:cubicBezTo>
                <a:cubicBezTo>
                  <a:pt x="3702853" y="2312329"/>
                  <a:pt x="3448460" y="2301342"/>
                  <a:pt x="3287744" y="2308324"/>
                </a:cubicBezTo>
                <a:cubicBezTo>
                  <a:pt x="3127028" y="2315306"/>
                  <a:pt x="2908419" y="2286204"/>
                  <a:pt x="2653044" y="2308324"/>
                </a:cubicBezTo>
                <a:cubicBezTo>
                  <a:pt x="2397669" y="2330444"/>
                  <a:pt x="2181981" y="2338620"/>
                  <a:pt x="2018345" y="2308324"/>
                </a:cubicBezTo>
                <a:cubicBezTo>
                  <a:pt x="1854709" y="2278028"/>
                  <a:pt x="1523819" y="2337051"/>
                  <a:pt x="1383645" y="2308324"/>
                </a:cubicBezTo>
                <a:cubicBezTo>
                  <a:pt x="1243471" y="2279597"/>
                  <a:pt x="1031240" y="2304491"/>
                  <a:pt x="806068" y="2308324"/>
                </a:cubicBezTo>
                <a:cubicBezTo>
                  <a:pt x="580896" y="2312157"/>
                  <a:pt x="347967" y="2325492"/>
                  <a:pt x="0" y="2308324"/>
                </a:cubicBezTo>
                <a:cubicBezTo>
                  <a:pt x="9212" y="2185053"/>
                  <a:pt x="-17414" y="1970670"/>
                  <a:pt x="0" y="1731243"/>
                </a:cubicBezTo>
                <a:cubicBezTo>
                  <a:pt x="17414" y="1491816"/>
                  <a:pt x="-10325" y="1313911"/>
                  <a:pt x="0" y="1131079"/>
                </a:cubicBezTo>
                <a:cubicBezTo>
                  <a:pt x="10325" y="948247"/>
                  <a:pt x="-25330" y="680352"/>
                  <a:pt x="0" y="530915"/>
                </a:cubicBezTo>
                <a:cubicBezTo>
                  <a:pt x="25330" y="381478"/>
                  <a:pt x="12113" y="149989"/>
                  <a:pt x="0" y="0"/>
                </a:cubicBezTo>
                <a:close/>
              </a:path>
              <a:path w="5712296" h="2308324" stroke="0">
                <a:moveTo>
                  <a:pt x="0" y="0"/>
                </a:moveTo>
                <a:cubicBezTo>
                  <a:pt x="117366" y="12157"/>
                  <a:pt x="427981" y="-1654"/>
                  <a:pt x="577577" y="0"/>
                </a:cubicBezTo>
                <a:cubicBezTo>
                  <a:pt x="727173" y="1654"/>
                  <a:pt x="919785" y="-10211"/>
                  <a:pt x="1040907" y="0"/>
                </a:cubicBezTo>
                <a:cubicBezTo>
                  <a:pt x="1162029" y="10211"/>
                  <a:pt x="1577922" y="25650"/>
                  <a:pt x="1789853" y="0"/>
                </a:cubicBezTo>
                <a:cubicBezTo>
                  <a:pt x="2001784" y="-25650"/>
                  <a:pt x="2188209" y="-24222"/>
                  <a:pt x="2367429" y="0"/>
                </a:cubicBezTo>
                <a:cubicBezTo>
                  <a:pt x="2546649" y="24222"/>
                  <a:pt x="2756192" y="-23950"/>
                  <a:pt x="2945006" y="0"/>
                </a:cubicBezTo>
                <a:cubicBezTo>
                  <a:pt x="3133820" y="23950"/>
                  <a:pt x="3433459" y="-33367"/>
                  <a:pt x="3693951" y="0"/>
                </a:cubicBezTo>
                <a:cubicBezTo>
                  <a:pt x="3954443" y="33367"/>
                  <a:pt x="4032117" y="-813"/>
                  <a:pt x="4214405" y="0"/>
                </a:cubicBezTo>
                <a:cubicBezTo>
                  <a:pt x="4396693" y="813"/>
                  <a:pt x="4790380" y="18167"/>
                  <a:pt x="4963351" y="0"/>
                </a:cubicBezTo>
                <a:cubicBezTo>
                  <a:pt x="5136322" y="-18167"/>
                  <a:pt x="5355621" y="-34473"/>
                  <a:pt x="5712296" y="0"/>
                </a:cubicBezTo>
                <a:cubicBezTo>
                  <a:pt x="5703245" y="275623"/>
                  <a:pt x="5730046" y="433797"/>
                  <a:pt x="5712296" y="577081"/>
                </a:cubicBezTo>
                <a:cubicBezTo>
                  <a:pt x="5694546" y="720365"/>
                  <a:pt x="5706106" y="925832"/>
                  <a:pt x="5712296" y="1154162"/>
                </a:cubicBezTo>
                <a:cubicBezTo>
                  <a:pt x="5718486" y="1382492"/>
                  <a:pt x="5707131" y="1562931"/>
                  <a:pt x="5712296" y="1754326"/>
                </a:cubicBezTo>
                <a:cubicBezTo>
                  <a:pt x="5717461" y="1945721"/>
                  <a:pt x="5715860" y="2077979"/>
                  <a:pt x="5712296" y="2308324"/>
                </a:cubicBezTo>
                <a:cubicBezTo>
                  <a:pt x="5577581" y="2308670"/>
                  <a:pt x="5224458" y="2290918"/>
                  <a:pt x="5077596" y="2308324"/>
                </a:cubicBezTo>
                <a:cubicBezTo>
                  <a:pt x="4930734" y="2325730"/>
                  <a:pt x="4790654" y="2322770"/>
                  <a:pt x="4557143" y="2308324"/>
                </a:cubicBezTo>
                <a:cubicBezTo>
                  <a:pt x="4323632" y="2293878"/>
                  <a:pt x="4066460" y="2312216"/>
                  <a:pt x="3922443" y="2308324"/>
                </a:cubicBezTo>
                <a:cubicBezTo>
                  <a:pt x="3778426" y="2304432"/>
                  <a:pt x="3352455" y="2286696"/>
                  <a:pt x="3173498" y="2308324"/>
                </a:cubicBezTo>
                <a:cubicBezTo>
                  <a:pt x="2994541" y="2329952"/>
                  <a:pt x="2709991" y="2308489"/>
                  <a:pt x="2538798" y="2308324"/>
                </a:cubicBezTo>
                <a:cubicBezTo>
                  <a:pt x="2367605" y="2308159"/>
                  <a:pt x="2190477" y="2285762"/>
                  <a:pt x="2075468" y="2308324"/>
                </a:cubicBezTo>
                <a:cubicBezTo>
                  <a:pt x="1960459" y="2330887"/>
                  <a:pt x="1781938" y="2316511"/>
                  <a:pt x="1555014" y="2308324"/>
                </a:cubicBezTo>
                <a:cubicBezTo>
                  <a:pt x="1328090" y="2300137"/>
                  <a:pt x="978738" y="2284534"/>
                  <a:pt x="806068" y="2308324"/>
                </a:cubicBezTo>
                <a:cubicBezTo>
                  <a:pt x="633398" y="2332114"/>
                  <a:pt x="358206" y="2331133"/>
                  <a:pt x="0" y="2308324"/>
                </a:cubicBezTo>
                <a:cubicBezTo>
                  <a:pt x="-23618" y="2154219"/>
                  <a:pt x="18177" y="1906591"/>
                  <a:pt x="0" y="1777409"/>
                </a:cubicBezTo>
                <a:cubicBezTo>
                  <a:pt x="-18177" y="1648228"/>
                  <a:pt x="-9736" y="1356449"/>
                  <a:pt x="0" y="1223412"/>
                </a:cubicBezTo>
                <a:cubicBezTo>
                  <a:pt x="9736" y="1090375"/>
                  <a:pt x="16833" y="862591"/>
                  <a:pt x="0" y="715580"/>
                </a:cubicBezTo>
                <a:cubicBezTo>
                  <a:pt x="-16833" y="568569"/>
                  <a:pt x="13966" y="290526"/>
                  <a:pt x="0" y="0"/>
                </a:cubicBezTo>
                <a:close/>
              </a:path>
            </a:pathLst>
          </a:custGeom>
          <a:solidFill>
            <a:schemeClr val="accent5">
              <a:lumMod val="20000"/>
              <a:lumOff val="80000"/>
            </a:schemeClr>
          </a:solidFill>
          <a:ln w="38100">
            <a:solidFill>
              <a:srgbClr val="000000"/>
            </a:solidFill>
            <a:round/>
          </a:ln>
        </p:spPr>
        <p:style>
          <a:lnRef idx="0">
            <a:scrgbClr r="0" g="0" b="0"/>
          </a:lnRef>
          <a:fillRef idx="0">
            <a:scrgbClr r="0" g="0" b="0"/>
          </a:fillRef>
          <a:effectRef idx="0">
            <a:scrgbClr r="0" g="0" b="0"/>
          </a:effectRef>
          <a:fontRef idx="minor"/>
        </p:style>
        <p:txBody>
          <a:bodyPr lIns="90000" tIns="45000" rIns="90000" bIns="45000" anchor="t" anchorCtr="1">
            <a:spAutoFit/>
          </a:bodyPr>
          <a:lstStyle/>
          <a:p>
            <a:pPr algn="ctr">
              <a:lnSpc>
                <a:spcPct val="100000"/>
              </a:lnSpc>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What do we want?</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a:p>
            <a:pPr algn="ctr">
              <a:lnSpc>
                <a:spcPct val="100000"/>
              </a:lnSpc>
            </a:pP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a:p>
            <a:pPr algn="ctr">
              <a:lnSpc>
                <a:spcPct val="100000"/>
              </a:lnSpc>
            </a:pPr>
            <a:r>
              <a:rPr lang="en-CH" sz="3600" b="1" u="none" strike="noStrike">
                <a:solidFill>
                  <a:srgbClr val="000000"/>
                </a:solidFill>
                <a:effectLst/>
                <a:uFillTx/>
                <a:latin typeface="Calibri" panose="020F0502020204030204" pitchFamily="34" charset="0"/>
                <a:ea typeface="DejaVu Sans"/>
                <a:cs typeface="Calibri" panose="020F0502020204030204" pitchFamily="34" charset="0"/>
              </a:rPr>
              <a:t>We want data to be in a natural format, such that we can make use of the optimizations already built in the library</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a:p>
            <a:pPr algn="ctr">
              <a:lnSpc>
                <a:spcPct val="100000"/>
              </a:lnSpc>
            </a:pPr>
            <a:r>
              <a:rPr lang="en-CH" sz="3600" b="1" u="none" strike="noStrike">
                <a:solidFill>
                  <a:srgbClr val="000000"/>
                </a:solidFill>
                <a:effectLst/>
                <a:uFillTx/>
                <a:latin typeface="Calibri" panose="020F0502020204030204" pitchFamily="34" charset="0"/>
                <a:ea typeface="DejaVu Sans"/>
                <a:cs typeface="Calibri" panose="020F0502020204030204" pitchFamily="34" charset="0"/>
              </a:rPr>
              <a:t>(as we have already seen)</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7" name="PlaceHolder 1">
            <a:extLst>
              <a:ext uri="{FF2B5EF4-FFF2-40B4-BE49-F238E27FC236}">
                <a16:creationId xmlns:a16="http://schemas.microsoft.com/office/drawing/2014/main" id="{DCAF7617-8206-6421-B746-5569825F0050}"/>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5" name="PlaceHolder 2">
            <a:extLst>
              <a:ext uri="{FF2B5EF4-FFF2-40B4-BE49-F238E27FC236}">
                <a16:creationId xmlns:a16="http://schemas.microsoft.com/office/drawing/2014/main" id="{1DB64DED-E735-8195-C8E7-EB5454C403E2}"/>
              </a:ext>
            </a:extLst>
          </p:cNvPr>
          <p:cNvSpPr>
            <a:spLocks noGrp="1"/>
          </p:cNvSpPr>
          <p:nvPr>
            <p:ph type="ftr" idx="1"/>
          </p:nvPr>
        </p:nvSpPr>
        <p:spPr>
          <a:xfrm>
            <a:off x="4038480" y="6356520"/>
            <a:ext cx="4111560" cy="361800"/>
          </a:xfrm>
        </p:spPr>
        <p:txBody>
          <a:bodyPr/>
          <a:lstStyle/>
          <a:p>
            <a:r>
              <a:rPr lang="en-US" dirty="0"/>
              <a:t>Tab, v3.0</a:t>
            </a:r>
            <a:endParaRPr dirty="0"/>
          </a:p>
        </p:txBody>
      </p:sp>
      <p:sp>
        <p:nvSpPr>
          <p:cNvPr id="8" name="PlaceHolder 5">
            <a:extLst>
              <a:ext uri="{FF2B5EF4-FFF2-40B4-BE49-F238E27FC236}">
                <a16:creationId xmlns:a16="http://schemas.microsoft.com/office/drawing/2014/main" id="{886BBD40-9371-9D4F-69C5-0FBAB2C2DF8A}"/>
              </a:ext>
            </a:extLst>
          </p:cNvPr>
          <p:cNvSpPr>
            <a:spLocks noGrp="1"/>
          </p:cNvSpPr>
          <p:nvPr>
            <p:ph type="sldNum" idx="2"/>
          </p:nvPr>
        </p:nvSpPr>
        <p:spPr>
          <a:xfrm>
            <a:off x="8610480" y="6356520"/>
            <a:ext cx="2739960" cy="361800"/>
          </a:xfrm>
        </p:spPr>
        <p:txBody>
          <a:bodyPr/>
          <a:lstStyle/>
          <a:p>
            <a:fld id="{D35AB332-6AEC-41D2-9046-0A10834BBC65}" type="slidenum">
              <a:rPr>
                <a:latin typeface="Calibri" panose="020F0502020204030204" pitchFamily="34" charset="0"/>
                <a:cs typeface="Calibri" panose="020F0502020204030204" pitchFamily="34" charset="0"/>
              </a:rPr>
              <a:t>42</a:t>
            </a:fld>
            <a:endParaRPr>
              <a:latin typeface="Calibri" panose="020F0502020204030204" pitchFamily="34" charset="0"/>
              <a:cs typeface="Calibri" panose="020F0502020204030204" pitchFamily="34" charset="0"/>
            </a:endParaRPr>
          </a:p>
        </p:txBody>
      </p:sp>
      <p:sp>
        <p:nvSpPr>
          <p:cNvPr id="13" name="PlaceHolder 1">
            <a:extLst>
              <a:ext uri="{FF2B5EF4-FFF2-40B4-BE49-F238E27FC236}">
                <a16:creationId xmlns:a16="http://schemas.microsoft.com/office/drawing/2014/main" id="{90C104DE-6EA2-7C7F-7134-F7609427A6E1}"/>
              </a:ext>
            </a:extLst>
          </p:cNvPr>
          <p:cNvSpPr>
            <a:spLocks noGrp="1"/>
          </p:cNvSpPr>
          <p:nvPr>
            <p:ph type="title"/>
          </p:nvPr>
        </p:nvSpPr>
        <p:spPr>
          <a:xfrm>
            <a:off x="609480" y="273600"/>
            <a:ext cx="10972080" cy="1508040"/>
          </a:xfrm>
          <a:prstGeom prst="rect">
            <a:avLst/>
          </a:prstGeom>
          <a:noFill/>
          <a:ln w="0">
            <a:noFill/>
          </a:ln>
        </p:spPr>
        <p:txBody>
          <a:bodyPr lIns="0" tIns="0" rIns="0" bIns="0" anchor="ctr">
            <a:normAutofit fontScale="90000"/>
          </a:bodyPr>
          <a:lstStyle/>
          <a:p>
            <a:pPr indent="0">
              <a:lnSpc>
                <a:spcPct val="90000"/>
              </a:lnSpc>
              <a:buNone/>
              <a:tabLst>
                <a:tab pos="0" algn="l"/>
              </a:tabLst>
            </a:pPr>
            <a:r>
              <a:rPr lang="en-US" dirty="0">
                <a:solidFill>
                  <a:srgbClr val="000000"/>
                </a:solidFill>
                <a:latin typeface="Calibri" panose="020F0502020204030204" pitchFamily="34" charset="0"/>
                <a:ea typeface="DejaVu Sans"/>
                <a:cs typeface="Calibri" panose="020F0502020204030204" pitchFamily="34" charset="0"/>
              </a:rPr>
              <a:t>Hands on:</a:t>
            </a:r>
            <a:br>
              <a:rPr lang="en-US" dirty="0">
                <a:solidFill>
                  <a:srgbClr val="000000"/>
                </a:solidFill>
                <a:latin typeface="Calibri" panose="020F0502020204030204" pitchFamily="34" charset="0"/>
                <a:ea typeface="DejaVu Sans"/>
                <a:cs typeface="Calibri" panose="020F0502020204030204" pitchFamily="34" charset="0"/>
              </a:rPr>
            </a:b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Same data, different organization</a:t>
            </a:r>
            <a:br>
              <a:rPr sz="4400" dirty="0">
                <a:latin typeface="Calibri" panose="020F0502020204030204" pitchFamily="34" charset="0"/>
                <a:cs typeface="Calibri" panose="020F0502020204030204" pitchFamily="34" charset="0"/>
              </a:rPr>
            </a:b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Which one is best for data analysis?</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PlaceHolder 1">
            <a:extLst>
              <a:ext uri="{FF2B5EF4-FFF2-40B4-BE49-F238E27FC236}">
                <a16:creationId xmlns:a16="http://schemas.microsoft.com/office/drawing/2014/main" id="{2E4AB8FC-ECDC-5EEF-97DE-D5E70DD46D2A}"/>
              </a:ext>
            </a:extLst>
          </p:cNvPr>
          <p:cNvSpPr>
            <a:spLocks noGrp="1"/>
          </p:cNvSpPr>
          <p:nvPr>
            <p:ph type="title"/>
          </p:nvPr>
        </p:nvSpPr>
        <p:spPr>
          <a:xfrm>
            <a:off x="609480" y="273600"/>
            <a:ext cx="10972080" cy="1144440"/>
          </a:xfrm>
          <a:prstGeom prst="rect">
            <a:avLst/>
          </a:prstGeom>
          <a:noFill/>
          <a:ln w="0">
            <a:noFill/>
          </a:ln>
        </p:spPr>
        <p:txBody>
          <a:bodyPr lIns="90000" tIns="45000" rIns="90000" bIns="45000" anchor="ctr">
            <a:noAutofit/>
          </a:bodyPr>
          <a:lstStyle/>
          <a:p>
            <a:pPr indent="0">
              <a:lnSpc>
                <a:spcPct val="90000"/>
              </a:lnSpc>
              <a:buNone/>
              <a:tabLst>
                <a:tab pos="0" algn="l"/>
              </a:tabLst>
            </a:pPr>
            <a:r>
              <a:rPr lang="en-US" sz="4400" b="0" u="none" strike="noStrike" dirty="0">
                <a:solidFill>
                  <a:srgbClr val="000000"/>
                </a:solidFill>
                <a:effectLst/>
                <a:uFillTx/>
                <a:latin typeface="Calibri" panose="020F0502020204030204" pitchFamily="34" charset="0"/>
                <a:ea typeface="DejaVu Sans"/>
                <a:cs typeface="Calibri" panose="020F0502020204030204" pitchFamily="34" charset="0"/>
              </a:rPr>
              <a:t>Back to the exercise</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15" name="TextBox 14">
            <a:extLst>
              <a:ext uri="{FF2B5EF4-FFF2-40B4-BE49-F238E27FC236}">
                <a16:creationId xmlns:a16="http://schemas.microsoft.com/office/drawing/2014/main" id="{1EF303D6-1C86-9E87-212A-6598DD83678A}"/>
              </a:ext>
            </a:extLst>
          </p:cNvPr>
          <p:cNvSpPr txBox="1"/>
          <p:nvPr/>
        </p:nvSpPr>
        <p:spPr>
          <a:xfrm>
            <a:off x="711200" y="1233374"/>
            <a:ext cx="3185487" cy="369332"/>
          </a:xfrm>
          <a:prstGeom prst="rect">
            <a:avLst/>
          </a:prstGeom>
          <a:noFill/>
        </p:spPr>
        <p:txBody>
          <a:bodyPr wrap="none" rtlCol="0">
            <a:spAutoFit/>
          </a:bodyPr>
          <a:lstStyle/>
          <a:p>
            <a:r>
              <a:rPr lang="en-US" dirty="0"/>
              <a:t>What is wrong with this data?</a:t>
            </a:r>
          </a:p>
        </p:txBody>
      </p:sp>
      <p:pic>
        <p:nvPicPr>
          <p:cNvPr id="16" name="Picture 15">
            <a:extLst>
              <a:ext uri="{FF2B5EF4-FFF2-40B4-BE49-F238E27FC236}">
                <a16:creationId xmlns:a16="http://schemas.microsoft.com/office/drawing/2014/main" id="{D817E889-B7B2-47EF-D802-589C9759965B}"/>
              </a:ext>
            </a:extLst>
          </p:cNvPr>
          <p:cNvPicPr>
            <a:picLocks noChangeAspect="1"/>
          </p:cNvPicPr>
          <p:nvPr/>
        </p:nvPicPr>
        <p:blipFill>
          <a:blip r:embed="rId2"/>
          <a:stretch>
            <a:fillRect/>
          </a:stretch>
        </p:blipFill>
        <p:spPr>
          <a:xfrm>
            <a:off x="2209320" y="1925320"/>
            <a:ext cx="7772400" cy="4404360"/>
          </a:xfrm>
          <a:prstGeom prst="rect">
            <a:avLst/>
          </a:prstGeom>
        </p:spPr>
      </p:pic>
    </p:spTree>
    <p:extLst>
      <p:ext uri="{BB962C8B-B14F-4D97-AF65-F5344CB8AC3E}">
        <p14:creationId xmlns:p14="http://schemas.microsoft.com/office/powerpoint/2010/main" val="245292886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B78FC0-1285-0E02-4A98-A474FEA2DF28}"/>
            </a:ext>
          </a:extLst>
        </p:cNvPr>
        <p:cNvGrpSpPr/>
        <p:nvPr/>
      </p:nvGrpSpPr>
      <p:grpSpPr>
        <a:xfrm>
          <a:off x="0" y="0"/>
          <a:ext cx="0" cy="0"/>
          <a:chOff x="0" y="0"/>
          <a:chExt cx="0" cy="0"/>
        </a:xfrm>
      </p:grpSpPr>
      <p:sp>
        <p:nvSpPr>
          <p:cNvPr id="5" name="PlaceHolder 1">
            <a:extLst>
              <a:ext uri="{FF2B5EF4-FFF2-40B4-BE49-F238E27FC236}">
                <a16:creationId xmlns:a16="http://schemas.microsoft.com/office/drawing/2014/main" id="{442472BC-E2C6-E5BC-D4D9-7E627729D2F5}"/>
              </a:ext>
            </a:extLst>
          </p:cNvPr>
          <p:cNvSpPr>
            <a:spLocks noGrp="1"/>
          </p:cNvSpPr>
          <p:nvPr>
            <p:ph type="body"/>
          </p:nvPr>
        </p:nvSpPr>
        <p:spPr>
          <a:xfrm>
            <a:off x="609480" y="1211233"/>
            <a:ext cx="5054601" cy="1532940"/>
          </a:xfrm>
          <a:prstGeom prst="rect">
            <a:avLst/>
          </a:prstGeom>
          <a:noFill/>
          <a:ln w="0">
            <a:noFill/>
          </a:ln>
        </p:spPr>
        <p:txBody>
          <a:bodyPr lIns="90000" tIns="45000" rIns="90000" bIns="45000" anchor="t">
            <a:noAutofit/>
          </a:bodyPr>
          <a:lstStyle/>
          <a:p>
            <a:pPr>
              <a:spcBef>
                <a:spcPts val="1001"/>
              </a:spcBef>
              <a:buClr>
                <a:srgbClr val="000000"/>
              </a:buClr>
              <a:tabLst>
                <a:tab pos="0" algn="l"/>
              </a:tabLst>
            </a:pPr>
            <a:r>
              <a:rPr lang="en-GB" sz="2400" b="0" u="none" strike="noStrike" dirty="0">
                <a:solidFill>
                  <a:srgbClr val="000000"/>
                </a:solidFill>
                <a:effectLst/>
                <a:uFillTx/>
                <a:latin typeface="Calibri" panose="020F0502020204030204" pitchFamily="34" charset="0"/>
                <a:ea typeface="DejaVu Sans"/>
                <a:cs typeface="Calibri" panose="020F0502020204030204" pitchFamily="34" charset="0"/>
              </a:rPr>
              <a:t>Pt2: Work with the </a:t>
            </a:r>
            <a:r>
              <a:rPr lang="en-GB" sz="2400" dirty="0" err="1">
                <a:solidFill>
                  <a:srgbClr val="000000"/>
                </a:solidFill>
                <a:latin typeface="Courier New" panose="02070309020205020404" pitchFamily="49" charset="0"/>
                <a:cs typeface="Courier New" panose="02070309020205020404" pitchFamily="49" charset="0"/>
              </a:rPr>
              <a:t>predimed_smokers.csv</a:t>
            </a:r>
            <a:r>
              <a:rPr lang="en-GB" sz="2400" dirty="0">
                <a:solidFill>
                  <a:srgbClr val="000000"/>
                </a:solidFill>
                <a:latin typeface="Courier New" panose="02070309020205020404" pitchFamily="49" charset="0"/>
                <a:cs typeface="Courier New" panose="02070309020205020404" pitchFamily="49" charset="0"/>
              </a:rPr>
              <a:t> </a:t>
            </a:r>
            <a:br>
              <a:rPr lang="en-GB" sz="2400" dirty="0">
                <a:solidFill>
                  <a:srgbClr val="000000"/>
                </a:solidFill>
                <a:latin typeface="Calibri" panose="020F0502020204030204" pitchFamily="34" charset="0"/>
                <a:cs typeface="Calibri" panose="020F0502020204030204" pitchFamily="34" charset="0"/>
              </a:rPr>
            </a:br>
            <a:r>
              <a:rPr lang="en-GB" sz="2400" b="0" u="none" strike="noStrike" dirty="0">
                <a:solidFill>
                  <a:srgbClr val="000000"/>
                </a:solidFill>
                <a:effectLst/>
                <a:uFillTx/>
                <a:latin typeface="Calibri" panose="020F0502020204030204" pitchFamily="34" charset="0"/>
                <a:ea typeface="DejaVu Sans"/>
                <a:cs typeface="Calibri" panose="020F0502020204030204" pitchFamily="34" charset="0"/>
              </a:rPr>
              <a:t>dataset to answer the question: </a:t>
            </a:r>
          </a:p>
          <a:p>
            <a:pPr>
              <a:spcBef>
                <a:spcPts val="1001"/>
              </a:spcBef>
              <a:buClr>
                <a:srgbClr val="000000"/>
              </a:buClr>
              <a:tabLst>
                <a:tab pos="0" algn="l"/>
              </a:tabLst>
            </a:pPr>
            <a:r>
              <a:rPr lang="en-GB" sz="2400" b="0" u="sng" strike="noStrike" dirty="0">
                <a:solidFill>
                  <a:srgbClr val="000000"/>
                </a:solidFill>
                <a:effectLst/>
                <a:uFillTx/>
                <a:latin typeface="Calibri" panose="020F0502020204030204" pitchFamily="34" charset="0"/>
                <a:ea typeface="DejaVu Sans"/>
                <a:cs typeface="Calibri" panose="020F0502020204030204" pitchFamily="34" charset="0"/>
              </a:rPr>
              <a:t>What is the mean age per diet group?</a:t>
            </a:r>
          </a:p>
        </p:txBody>
      </p:sp>
      <p:grpSp>
        <p:nvGrpSpPr>
          <p:cNvPr id="6" name="Group 5">
            <a:extLst>
              <a:ext uri="{FF2B5EF4-FFF2-40B4-BE49-F238E27FC236}">
                <a16:creationId xmlns:a16="http://schemas.microsoft.com/office/drawing/2014/main" id="{9C1CF716-23B8-7664-D2CB-789CB90A8769}"/>
              </a:ext>
            </a:extLst>
          </p:cNvPr>
          <p:cNvGrpSpPr/>
          <p:nvPr/>
        </p:nvGrpSpPr>
        <p:grpSpPr>
          <a:xfrm>
            <a:off x="6527919" y="1043852"/>
            <a:ext cx="5054601" cy="1927949"/>
            <a:chOff x="5812077" y="489442"/>
            <a:chExt cx="4634631" cy="1537721"/>
          </a:xfrm>
        </p:grpSpPr>
        <p:sp>
          <p:nvSpPr>
            <p:cNvPr id="7" name="Rectangle 3">
              <a:extLst>
                <a:ext uri="{FF2B5EF4-FFF2-40B4-BE49-F238E27FC236}">
                  <a16:creationId xmlns:a16="http://schemas.microsoft.com/office/drawing/2014/main" id="{B55388FA-EA2D-96D6-075A-7846184B5B27}"/>
                </a:ext>
              </a:extLst>
            </p:cNvPr>
            <p:cNvSpPr/>
            <p:nvPr/>
          </p:nvSpPr>
          <p:spPr>
            <a:xfrm>
              <a:off x="5812078" y="489442"/>
              <a:ext cx="4634630" cy="1489669"/>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endParaRPr lang="en-DE" sz="1800" b="0" u="none" strike="noStrike">
                <a:solidFill>
                  <a:srgbClr val="000000"/>
                </a:solidFill>
                <a:effectLst/>
                <a:uFillTx/>
                <a:latin typeface="Courier New"/>
                <a:ea typeface="DejaVu Sans"/>
              </a:endParaRPr>
            </a:p>
          </p:txBody>
        </p:sp>
        <p:sp>
          <p:nvSpPr>
            <p:cNvPr id="8" name="TextBox 79">
              <a:extLst>
                <a:ext uri="{FF2B5EF4-FFF2-40B4-BE49-F238E27FC236}">
                  <a16:creationId xmlns:a16="http://schemas.microsoft.com/office/drawing/2014/main" id="{A87B7FFB-145D-4B23-7840-BA9AAFB52C81}"/>
                </a:ext>
              </a:extLst>
            </p:cNvPr>
            <p:cNvSpPr/>
            <p:nvPr/>
          </p:nvSpPr>
          <p:spPr>
            <a:xfrm>
              <a:off x="5812077" y="636145"/>
              <a:ext cx="4634629" cy="31796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a:lnSpc>
                  <a:spcPct val="100000"/>
                </a:lnSpc>
              </a:pPr>
              <a:r>
                <a:rPr lang="en-DE" sz="2000" b="1" u="none" strike="noStrike" dirty="0">
                  <a:solidFill>
                    <a:srgbClr val="000000"/>
                  </a:solidFill>
                  <a:effectLst/>
                  <a:uFillTx/>
                  <a:latin typeface="Courier New"/>
                  <a:ea typeface="DejaVu Sans"/>
                </a:rPr>
                <a:t>Exercise pt 2: 7 minutes</a:t>
              </a:r>
              <a:endParaRPr lang="en-GB" sz="2000" b="0" u="none" strike="noStrike" dirty="0">
                <a:solidFill>
                  <a:srgbClr val="000000"/>
                </a:solidFill>
                <a:effectLst/>
                <a:uFillTx/>
                <a:latin typeface="Arial"/>
              </a:endParaRPr>
            </a:p>
          </p:txBody>
        </p:sp>
        <p:pic>
          <p:nvPicPr>
            <p:cNvPr id="9" name="Graphic 9">
              <a:extLst>
                <a:ext uri="{FF2B5EF4-FFF2-40B4-BE49-F238E27FC236}">
                  <a16:creationId xmlns:a16="http://schemas.microsoft.com/office/drawing/2014/main" id="{0CAC0EA8-4546-0E59-7EB8-0A23EA765DFB}"/>
                </a:ext>
              </a:extLst>
            </p:cNvPr>
            <p:cNvPicPr/>
            <p:nvPr/>
          </p:nvPicPr>
          <p:blipFill>
            <a:blip r:embed="rId2"/>
            <a:stretch/>
          </p:blipFill>
          <p:spPr>
            <a:xfrm>
              <a:off x="6107863" y="958156"/>
              <a:ext cx="691200" cy="552240"/>
            </a:xfrm>
            <a:prstGeom prst="rect">
              <a:avLst/>
            </a:prstGeom>
            <a:noFill/>
            <a:ln w="0">
              <a:noFill/>
            </a:ln>
          </p:spPr>
        </p:pic>
        <p:sp>
          <p:nvSpPr>
            <p:cNvPr id="10" name="TextBox 80">
              <a:extLst>
                <a:ext uri="{FF2B5EF4-FFF2-40B4-BE49-F238E27FC236}">
                  <a16:creationId xmlns:a16="http://schemas.microsoft.com/office/drawing/2014/main" id="{146CFCF6-A9FA-9782-F430-7CAFB793B4D8}"/>
                </a:ext>
              </a:extLst>
            </p:cNvPr>
            <p:cNvSpPr/>
            <p:nvPr/>
          </p:nvSpPr>
          <p:spPr>
            <a:xfrm>
              <a:off x="7089390" y="1105287"/>
              <a:ext cx="3053387" cy="921876"/>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GB" dirty="0">
                  <a:solidFill>
                    <a:srgbClr val="000000"/>
                  </a:solidFill>
                  <a:latin typeface="Courier New"/>
                  <a:ea typeface="DejaVu Sans"/>
                </a:rPr>
                <a:t>e</a:t>
              </a:r>
              <a:r>
                <a:rPr lang="en-GB" b="0" u="none" strike="noStrike" dirty="0">
                  <a:solidFill>
                    <a:srgbClr val="000000"/>
                  </a:solidFill>
                  <a:effectLst/>
                  <a:uFillTx/>
                  <a:latin typeface="Courier New"/>
                  <a:ea typeface="DejaVu Sans"/>
                </a:rPr>
                <a:t>xercises/tabular_</a:t>
              </a:r>
              <a:r>
                <a:rPr lang="en-US" b="0" u="none" strike="noStrike" dirty="0" err="1">
                  <a:solidFill>
                    <a:srgbClr val="000000"/>
                  </a:solidFill>
                  <a:effectLst/>
                  <a:uFillTx/>
                  <a:latin typeface="Courier New"/>
                  <a:ea typeface="DejaVu Sans"/>
                </a:rPr>
                <a:t>split_apply_combine</a:t>
              </a:r>
              <a:r>
                <a:rPr lang="en-GB" dirty="0">
                  <a:solidFill>
                    <a:srgbClr val="000000"/>
                  </a:solidFill>
                  <a:latin typeface="Courier New"/>
                  <a:ea typeface="DejaVu Sans"/>
                </a:rPr>
                <a:t>/split_apply_combine_part2.ipynb</a:t>
              </a:r>
            </a:p>
          </p:txBody>
        </p:sp>
      </p:grpSp>
      <p:pic>
        <p:nvPicPr>
          <p:cNvPr id="2" name="Picture 1">
            <a:extLst>
              <a:ext uri="{FF2B5EF4-FFF2-40B4-BE49-F238E27FC236}">
                <a16:creationId xmlns:a16="http://schemas.microsoft.com/office/drawing/2014/main" id="{13E97ABF-8305-F40D-55A7-A540F08002AB}"/>
              </a:ext>
            </a:extLst>
          </p:cNvPr>
          <p:cNvPicPr>
            <a:picLocks noChangeAspect="1"/>
          </p:cNvPicPr>
          <p:nvPr/>
        </p:nvPicPr>
        <p:blipFill>
          <a:blip r:embed="rId3"/>
          <a:stretch>
            <a:fillRect/>
          </a:stretch>
        </p:blipFill>
        <p:spPr>
          <a:xfrm>
            <a:off x="3398489" y="3285200"/>
            <a:ext cx="5395022" cy="3057179"/>
          </a:xfrm>
          <a:prstGeom prst="rect">
            <a:avLst/>
          </a:prstGeom>
        </p:spPr>
      </p:pic>
    </p:spTree>
    <p:extLst>
      <p:ext uri="{BB962C8B-B14F-4D97-AF65-F5344CB8AC3E}">
        <p14:creationId xmlns:p14="http://schemas.microsoft.com/office/powerpoint/2010/main" val="75144289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1" name="Rectangle 8"/>
          <p:cNvSpPr/>
          <p:nvPr/>
        </p:nvSpPr>
        <p:spPr>
          <a:xfrm>
            <a:off x="7875660" y="778509"/>
            <a:ext cx="3885120" cy="5406120"/>
          </a:xfrm>
          <a:prstGeom prst="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CH" sz="1800" b="0" u="none" strike="noStrike">
              <a:solidFill>
                <a:schemeClr val="lt1"/>
              </a:solidFill>
              <a:effectLst/>
              <a:uFillTx/>
              <a:latin typeface="Calibri" panose="020F0502020204030204" pitchFamily="34" charset="0"/>
              <a:ea typeface="DejaVu Sans"/>
              <a:cs typeface="Calibri" panose="020F0502020204030204" pitchFamily="34" charset="0"/>
            </a:endParaRPr>
          </a:p>
        </p:txBody>
      </p:sp>
      <p:sp>
        <p:nvSpPr>
          <p:cNvPr id="453" name="PlaceHolder 2"/>
          <p:cNvSpPr>
            <a:spLocks noGrp="1"/>
          </p:cNvSpPr>
          <p:nvPr>
            <p:ph type="body"/>
          </p:nvPr>
        </p:nvSpPr>
        <p:spPr>
          <a:xfrm>
            <a:off x="609480" y="1604520"/>
            <a:ext cx="7001160" cy="3976920"/>
          </a:xfrm>
          <a:prstGeom prst="rect">
            <a:avLst/>
          </a:prstGeom>
          <a:noFill/>
          <a:ln w="0">
            <a:noFill/>
          </a:ln>
        </p:spPr>
        <p:txBody>
          <a:bodyPr lIns="90000" tIns="45000" rIns="90000" bIns="45000" anchor="t">
            <a:normAutofit/>
          </a:bodyPr>
          <a:lstStyle/>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Many analyses require a simple sequence of steps:</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000" b="0" u="none" strike="noStrike">
                <a:solidFill>
                  <a:srgbClr val="000000"/>
                </a:solidFill>
                <a:effectLst/>
                <a:uFillTx/>
                <a:latin typeface="Calibri" panose="020F0502020204030204" pitchFamily="34" charset="0"/>
                <a:ea typeface="DejaVu Sans"/>
                <a:cs typeface="Calibri" panose="020F0502020204030204" pitchFamily="34" charset="0"/>
              </a:rPr>
              <a:t>Filter by individual variables to discard data that is not needed</a:t>
            </a:r>
            <a:endParaRPr lang="en-GB" sz="20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000" b="0" u="none" strike="noStrike">
                <a:solidFill>
                  <a:srgbClr val="000000"/>
                </a:solidFill>
                <a:effectLst/>
                <a:uFillTx/>
                <a:latin typeface="Calibri" panose="020F0502020204030204" pitchFamily="34" charset="0"/>
                <a:ea typeface="DejaVu Sans"/>
                <a:cs typeface="Calibri" panose="020F0502020204030204" pitchFamily="34" charset="0"/>
              </a:rPr>
              <a:t>Group and summarize</a:t>
            </a:r>
            <a:endParaRPr lang="en-GB" sz="20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000" b="0" u="none" strike="noStrike">
                <a:solidFill>
                  <a:srgbClr val="000000"/>
                </a:solidFill>
                <a:effectLst/>
                <a:uFillTx/>
                <a:latin typeface="Calibri" panose="020F0502020204030204" pitchFamily="34" charset="0"/>
                <a:ea typeface="DejaVu Sans"/>
                <a:cs typeface="Calibri" panose="020F0502020204030204" pitchFamily="34" charset="0"/>
              </a:rPr>
              <a:t>Re-arrange (e.g. sort)</a:t>
            </a:r>
            <a:endParaRPr lang="en-GB" sz="20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000" b="0" u="none" strike="noStrike">
                <a:solidFill>
                  <a:srgbClr val="000000"/>
                </a:solidFill>
                <a:effectLst/>
                <a:uFillTx/>
                <a:latin typeface="Calibri" panose="020F0502020204030204" pitchFamily="34" charset="0"/>
                <a:ea typeface="DejaVu Sans"/>
                <a:cs typeface="Calibri" panose="020F0502020204030204" pitchFamily="34" charset="0"/>
              </a:rPr>
              <a:t>Visualize</a:t>
            </a:r>
            <a:endParaRPr lang="en-GB" sz="20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Joining tidy tables is easy! </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One can write generic code that takes tidy data as input. </a:t>
            </a:r>
            <a:br>
              <a:rPr sz="2400" dirty="0">
                <a:latin typeface="Calibri" panose="020F0502020204030204" pitchFamily="34" charset="0"/>
                <a:cs typeface="Calibri" panose="020F0502020204030204" pitchFamily="34" charset="0"/>
              </a:rPr>
            </a:b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For example, </a:t>
            </a:r>
            <a:r>
              <a:rPr lang="en-CH" sz="2400" b="1" u="none" strike="noStrike">
                <a:solidFill>
                  <a:srgbClr val="000000"/>
                </a:solidFill>
                <a:effectLst/>
                <a:uFillTx/>
                <a:latin typeface="Calibri" panose="020F0502020204030204" pitchFamily="34" charset="0"/>
                <a:ea typeface="DejaVu Sans"/>
                <a:cs typeface="Calibri" panose="020F0502020204030204" pitchFamily="34" charset="0"/>
              </a:rPr>
              <a:t>seaborn</a:t>
            </a:r>
            <a:r>
              <a:rPr lang="en-CH" sz="2400" b="0" u="none" strike="noStrike">
                <a:solidFill>
                  <a:srgbClr val="000000"/>
                </a:solidFill>
                <a:effectLst/>
                <a:uFillTx/>
                <a:latin typeface="Calibri" panose="020F0502020204030204" pitchFamily="34" charset="0"/>
                <a:ea typeface="DejaVu Sans"/>
                <a:cs typeface="Calibri" panose="020F0502020204030204" pitchFamily="34" charset="0"/>
              </a:rPr>
              <a:t> relies on tidy data to make complex plot</a:t>
            </a:r>
            <a:r>
              <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rPr>
              <a:t>s</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6" name="PlaceHolder 5"/>
          <p:cNvSpPr>
            <a:spLocks noGrp="1"/>
          </p:cNvSpPr>
          <p:nvPr>
            <p:ph type="sldNum" idx="2"/>
          </p:nvPr>
        </p:nvSpPr>
        <p:spPr/>
        <p:txBody>
          <a:bodyPr/>
          <a:lstStyle/>
          <a:p>
            <a:fld id="{D35AB332-6AEC-41D2-9046-0A10834BBC65}" type="slidenum">
              <a:rPr>
                <a:latin typeface="Calibri" panose="020F0502020204030204" pitchFamily="34" charset="0"/>
                <a:cs typeface="Calibri" panose="020F0502020204030204" pitchFamily="34" charset="0"/>
              </a:rPr>
              <a:t>45</a:t>
            </a:fld>
            <a:endParaRPr>
              <a:latin typeface="Calibri" panose="020F0502020204030204" pitchFamily="34" charset="0"/>
              <a:cs typeface="Calibri" panose="020F0502020204030204" pitchFamily="34" charset="0"/>
            </a:endParaRPr>
          </a:p>
        </p:txBody>
      </p:sp>
      <p:sp>
        <p:nvSpPr>
          <p:cNvPr id="452" name="PlaceHolder 1"/>
          <p:cNvSpPr>
            <a:spLocks noGrp="1"/>
          </p:cNvSpPr>
          <p:nvPr>
            <p:ph type="title"/>
          </p:nvPr>
        </p:nvSpPr>
        <p:spPr>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Why is tidy data good?</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455" name="TextBox 7"/>
          <p:cNvSpPr/>
          <p:nvPr/>
        </p:nvSpPr>
        <p:spPr>
          <a:xfrm>
            <a:off x="8166970" y="1094949"/>
            <a:ext cx="3149570" cy="1752872"/>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sz="1800" b="0" u="none" strike="noStrike" dirty="0" err="1">
                <a:solidFill>
                  <a:srgbClr val="000000"/>
                </a:solidFill>
                <a:effectLst/>
                <a:uFillTx/>
                <a:latin typeface="Courier New" panose="02070309020205020404" pitchFamily="49" charset="0"/>
                <a:ea typeface="DejaVu Sans"/>
                <a:cs typeface="Courier New" panose="02070309020205020404" pitchFamily="49" charset="0"/>
              </a:rPr>
              <a:t>sns</a:t>
            </a:r>
            <a:r>
              <a:rPr lang="en-US" sz="1800" b="1" u="none" strike="noStrike" dirty="0" err="1">
                <a:solidFill>
                  <a:srgbClr val="DBA475"/>
                </a:solidFill>
                <a:effectLst/>
                <a:uFillTx/>
                <a:latin typeface="Courier New" panose="02070309020205020404" pitchFamily="49" charset="0"/>
                <a:ea typeface="DejaVu Sans"/>
                <a:cs typeface="Courier New" panose="02070309020205020404" pitchFamily="49" charset="0"/>
              </a:rPr>
              <a:t>.</a:t>
            </a:r>
            <a:r>
              <a:rPr lang="en-US" sz="1800" b="0" u="none" strike="noStrike" dirty="0" err="1">
                <a:solidFill>
                  <a:srgbClr val="000000"/>
                </a:solidFill>
                <a:effectLst/>
                <a:uFillTx/>
                <a:latin typeface="Courier New" panose="02070309020205020404" pitchFamily="49" charset="0"/>
                <a:ea typeface="DejaVu Sans"/>
                <a:cs typeface="Courier New" panose="02070309020205020404" pitchFamily="49" charset="0"/>
              </a:rPr>
              <a:t>swarmplot</a:t>
            </a:r>
            <a:r>
              <a:rPr lang="en-US" sz="1800" b="1" u="none" strike="noStrike" dirty="0">
                <a:solidFill>
                  <a:srgbClr val="000000"/>
                </a:solidFill>
                <a:effectLst/>
                <a:uFillTx/>
                <a:latin typeface="Courier New" panose="02070309020205020404" pitchFamily="49" charset="0"/>
                <a:ea typeface="DejaVu Sans"/>
                <a:cs typeface="Courier New" panose="02070309020205020404" pitchFamily="49" charset="0"/>
              </a:rPr>
              <a:t>(</a:t>
            </a:r>
            <a:endParaRPr lang="en-GB" sz="1800" b="0" u="none" strike="noStrike" dirty="0">
              <a:solidFill>
                <a:srgbClr val="000000"/>
              </a:solidFill>
              <a:effectLst/>
              <a:uFillTx/>
              <a:latin typeface="Courier New" panose="02070309020205020404" pitchFamily="49" charset="0"/>
              <a:cs typeface="Courier New" panose="02070309020205020404" pitchFamily="49" charset="0"/>
            </a:endParaRPr>
          </a:p>
          <a:p>
            <a:pPr>
              <a:lnSpc>
                <a:spcPct val="100000"/>
              </a:lnSpc>
            </a:pPr>
            <a:r>
              <a:rPr lang="en-US" sz="1800" b="1" u="none" strike="noStrike" dirty="0">
                <a:solidFill>
                  <a:srgbClr val="000000"/>
                </a:solidFill>
                <a:effectLst/>
                <a:uFillTx/>
                <a:latin typeface="Courier New" panose="02070309020205020404" pitchFamily="49" charset="0"/>
                <a:ea typeface="DejaVu Sans"/>
                <a:cs typeface="Courier New" panose="02070309020205020404" pitchFamily="49" charset="0"/>
              </a:rPr>
              <a:t>   </a:t>
            </a:r>
            <a:r>
              <a:rPr lang="en-US" sz="1800" b="0" u="none" strike="noStrike" dirty="0">
                <a:solidFill>
                  <a:srgbClr val="000000"/>
                </a:solidFill>
                <a:effectLst/>
                <a:uFillTx/>
                <a:latin typeface="Courier New" panose="02070309020205020404" pitchFamily="49" charset="0"/>
                <a:ea typeface="DejaVu Sans"/>
                <a:cs typeface="Courier New" panose="02070309020205020404" pitchFamily="49" charset="0"/>
              </a:rPr>
              <a:t>data</a:t>
            </a:r>
            <a:r>
              <a:rPr lang="en-US" sz="1800" b="1" u="none" strike="noStrike" dirty="0">
                <a:solidFill>
                  <a:srgbClr val="DBA475"/>
                </a:solidFill>
                <a:effectLst/>
                <a:uFillTx/>
                <a:latin typeface="Courier New" panose="02070309020205020404" pitchFamily="49" charset="0"/>
                <a:ea typeface="DejaVu Sans"/>
                <a:cs typeface="Courier New" panose="02070309020205020404" pitchFamily="49" charset="0"/>
              </a:rPr>
              <a:t>=</a:t>
            </a:r>
            <a:r>
              <a:rPr lang="en-US" sz="1800" b="0" u="none" strike="noStrike" dirty="0" err="1">
                <a:solidFill>
                  <a:srgbClr val="000000"/>
                </a:solidFill>
                <a:effectLst/>
                <a:uFillTx/>
                <a:latin typeface="Courier New" panose="02070309020205020404" pitchFamily="49" charset="0"/>
                <a:ea typeface="DejaVu Sans"/>
                <a:cs typeface="Courier New" panose="02070309020205020404" pitchFamily="49" charset="0"/>
              </a:rPr>
              <a:t>df</a:t>
            </a:r>
            <a:r>
              <a:rPr lang="en-US" sz="1800" b="1" u="none" strike="noStrike" dirty="0">
                <a:solidFill>
                  <a:srgbClr val="000000"/>
                </a:solidFill>
                <a:effectLst/>
                <a:uFillTx/>
                <a:latin typeface="Courier New" panose="02070309020205020404" pitchFamily="49" charset="0"/>
                <a:ea typeface="DejaVu Sans"/>
                <a:cs typeface="Courier New" panose="02070309020205020404" pitchFamily="49" charset="0"/>
              </a:rPr>
              <a:t>,</a:t>
            </a:r>
            <a:endParaRPr lang="en-GB" sz="1800" b="0" u="none" strike="noStrike" dirty="0">
              <a:solidFill>
                <a:srgbClr val="000000"/>
              </a:solidFill>
              <a:effectLst/>
              <a:uFillTx/>
              <a:latin typeface="Courier New" panose="02070309020205020404" pitchFamily="49" charset="0"/>
              <a:cs typeface="Courier New" panose="02070309020205020404" pitchFamily="49" charset="0"/>
            </a:endParaRPr>
          </a:p>
          <a:p>
            <a:pPr>
              <a:lnSpc>
                <a:spcPct val="100000"/>
              </a:lnSpc>
            </a:pPr>
            <a:r>
              <a:rPr lang="en-US" sz="1800" b="1" u="none" strike="noStrike" dirty="0">
                <a:solidFill>
                  <a:srgbClr val="000000"/>
                </a:solidFill>
                <a:effectLst/>
                <a:uFillTx/>
                <a:latin typeface="Courier New" panose="02070309020205020404" pitchFamily="49" charset="0"/>
                <a:ea typeface="DejaVu Sans"/>
                <a:cs typeface="Courier New" panose="02070309020205020404" pitchFamily="49" charset="0"/>
              </a:rPr>
              <a:t>   </a:t>
            </a:r>
            <a:r>
              <a:rPr lang="en-US" sz="1800" b="0" u="none" strike="noStrike" dirty="0">
                <a:solidFill>
                  <a:srgbClr val="000000"/>
                </a:solidFill>
                <a:effectLst/>
                <a:uFillTx/>
                <a:latin typeface="Courier New" panose="02070309020205020404" pitchFamily="49" charset="0"/>
                <a:ea typeface="DejaVu Sans"/>
                <a:cs typeface="Courier New" panose="02070309020205020404" pitchFamily="49" charset="0"/>
              </a:rPr>
              <a:t>x</a:t>
            </a:r>
            <a:r>
              <a:rPr lang="en-US" sz="1800" b="1" u="none" strike="noStrike" dirty="0">
                <a:solidFill>
                  <a:srgbClr val="DBA475"/>
                </a:solidFill>
                <a:effectLst/>
                <a:uFillTx/>
                <a:latin typeface="Courier New" panose="02070309020205020404" pitchFamily="49" charset="0"/>
                <a:ea typeface="DejaVu Sans"/>
                <a:cs typeface="Courier New" panose="02070309020205020404" pitchFamily="49" charset="0"/>
              </a:rPr>
              <a:t>=</a:t>
            </a:r>
            <a:r>
              <a:rPr lang="en-US" sz="1800" b="0" u="none" strike="noStrike" dirty="0">
                <a:solidFill>
                  <a:srgbClr val="4A6991"/>
                </a:solidFill>
                <a:effectLst/>
                <a:uFillTx/>
                <a:latin typeface="Courier New" panose="02070309020205020404" pitchFamily="49" charset="0"/>
                <a:ea typeface="DejaVu Sans"/>
                <a:cs typeface="Courier New" panose="02070309020205020404" pitchFamily="49" charset="0"/>
              </a:rPr>
              <a:t>"</a:t>
            </a:r>
            <a:r>
              <a:rPr lang="en-US" sz="1800" b="0" u="none" strike="noStrike" dirty="0" err="1">
                <a:solidFill>
                  <a:srgbClr val="4A6991"/>
                </a:solidFill>
                <a:effectLst/>
                <a:uFillTx/>
                <a:latin typeface="Courier New" panose="02070309020205020404" pitchFamily="49" charset="0"/>
                <a:ea typeface="DejaVu Sans"/>
                <a:cs typeface="Courier New" panose="02070309020205020404" pitchFamily="49" charset="0"/>
              </a:rPr>
              <a:t>body_mass_g</a:t>
            </a:r>
            <a:r>
              <a:rPr lang="en-US" sz="1800" b="0" u="none" strike="noStrike" dirty="0">
                <a:solidFill>
                  <a:srgbClr val="4A6991"/>
                </a:solidFill>
                <a:effectLst/>
                <a:uFillTx/>
                <a:latin typeface="Courier New" panose="02070309020205020404" pitchFamily="49" charset="0"/>
                <a:ea typeface="DejaVu Sans"/>
                <a:cs typeface="Courier New" panose="02070309020205020404" pitchFamily="49" charset="0"/>
              </a:rPr>
              <a:t>"</a:t>
            </a:r>
            <a:r>
              <a:rPr lang="en-US" sz="1800" b="1" u="none" strike="noStrike" dirty="0">
                <a:solidFill>
                  <a:srgbClr val="000000"/>
                </a:solidFill>
                <a:effectLst/>
                <a:uFillTx/>
                <a:latin typeface="Courier New" panose="02070309020205020404" pitchFamily="49" charset="0"/>
                <a:ea typeface="DejaVu Sans"/>
                <a:cs typeface="Courier New" panose="02070309020205020404" pitchFamily="49" charset="0"/>
              </a:rPr>
              <a:t>,</a:t>
            </a:r>
            <a:endParaRPr lang="en-GB" sz="1800" b="0" u="none" strike="noStrike" dirty="0">
              <a:solidFill>
                <a:srgbClr val="000000"/>
              </a:solidFill>
              <a:effectLst/>
              <a:uFillTx/>
              <a:latin typeface="Courier New" panose="02070309020205020404" pitchFamily="49" charset="0"/>
              <a:cs typeface="Courier New" panose="02070309020205020404" pitchFamily="49" charset="0"/>
            </a:endParaRPr>
          </a:p>
          <a:p>
            <a:pPr>
              <a:lnSpc>
                <a:spcPct val="100000"/>
              </a:lnSpc>
            </a:pPr>
            <a:r>
              <a:rPr lang="en-US" sz="1800" b="1" u="none" strike="noStrike" dirty="0">
                <a:solidFill>
                  <a:srgbClr val="000000"/>
                </a:solidFill>
                <a:effectLst/>
                <a:uFillTx/>
                <a:latin typeface="Courier New" panose="02070309020205020404" pitchFamily="49" charset="0"/>
                <a:ea typeface="DejaVu Sans"/>
                <a:cs typeface="Courier New" panose="02070309020205020404" pitchFamily="49" charset="0"/>
              </a:rPr>
              <a:t>   </a:t>
            </a:r>
            <a:r>
              <a:rPr lang="en-US" sz="1800" b="0" u="none" strike="noStrike" dirty="0">
                <a:solidFill>
                  <a:srgbClr val="000000"/>
                </a:solidFill>
                <a:effectLst/>
                <a:uFillTx/>
                <a:latin typeface="Courier New" panose="02070309020205020404" pitchFamily="49" charset="0"/>
                <a:ea typeface="DejaVu Sans"/>
                <a:cs typeface="Courier New" panose="02070309020205020404" pitchFamily="49" charset="0"/>
              </a:rPr>
              <a:t>y</a:t>
            </a:r>
            <a:r>
              <a:rPr lang="en-US" sz="1800" b="1" u="none" strike="noStrike" dirty="0">
                <a:solidFill>
                  <a:srgbClr val="DBA475"/>
                </a:solidFill>
                <a:effectLst/>
                <a:uFillTx/>
                <a:latin typeface="Courier New" panose="02070309020205020404" pitchFamily="49" charset="0"/>
                <a:ea typeface="DejaVu Sans"/>
                <a:cs typeface="Courier New" panose="02070309020205020404" pitchFamily="49" charset="0"/>
              </a:rPr>
              <a:t>=</a:t>
            </a:r>
            <a:r>
              <a:rPr lang="en-US" sz="1800" b="0" u="none" strike="noStrike" dirty="0">
                <a:solidFill>
                  <a:srgbClr val="4A6991"/>
                </a:solidFill>
                <a:effectLst/>
                <a:uFillTx/>
                <a:latin typeface="Courier New" panose="02070309020205020404" pitchFamily="49" charset="0"/>
                <a:ea typeface="DejaVu Sans"/>
                <a:cs typeface="Courier New" panose="02070309020205020404" pitchFamily="49" charset="0"/>
              </a:rPr>
              <a:t>"sex"</a:t>
            </a:r>
            <a:r>
              <a:rPr lang="en-US" sz="1800" b="1" u="none" strike="noStrike" dirty="0">
                <a:solidFill>
                  <a:srgbClr val="000000"/>
                </a:solidFill>
                <a:effectLst/>
                <a:uFillTx/>
                <a:latin typeface="Courier New" panose="02070309020205020404" pitchFamily="49" charset="0"/>
                <a:ea typeface="DejaVu Sans"/>
                <a:cs typeface="Courier New" panose="02070309020205020404" pitchFamily="49" charset="0"/>
              </a:rPr>
              <a:t>,</a:t>
            </a:r>
            <a:endParaRPr lang="en-GB" sz="1800" b="0" u="none" strike="noStrike" dirty="0">
              <a:solidFill>
                <a:srgbClr val="000000"/>
              </a:solidFill>
              <a:effectLst/>
              <a:uFillTx/>
              <a:latin typeface="Courier New" panose="02070309020205020404" pitchFamily="49" charset="0"/>
              <a:cs typeface="Courier New" panose="02070309020205020404" pitchFamily="49" charset="0"/>
            </a:endParaRPr>
          </a:p>
          <a:p>
            <a:pPr>
              <a:lnSpc>
                <a:spcPct val="100000"/>
              </a:lnSpc>
            </a:pPr>
            <a:r>
              <a:rPr lang="en-US" sz="1800" b="1" u="none" strike="noStrike" dirty="0">
                <a:solidFill>
                  <a:srgbClr val="000000"/>
                </a:solidFill>
                <a:effectLst/>
                <a:uFillTx/>
                <a:latin typeface="Courier New" panose="02070309020205020404" pitchFamily="49" charset="0"/>
                <a:ea typeface="DejaVu Sans"/>
                <a:cs typeface="Courier New" panose="02070309020205020404" pitchFamily="49" charset="0"/>
              </a:rPr>
              <a:t>   </a:t>
            </a:r>
            <a:r>
              <a:rPr lang="en-US" sz="1800" b="0" u="none" strike="noStrike" dirty="0">
                <a:solidFill>
                  <a:srgbClr val="000000"/>
                </a:solidFill>
                <a:effectLst/>
                <a:uFillTx/>
                <a:latin typeface="Courier New" panose="02070309020205020404" pitchFamily="49" charset="0"/>
                <a:ea typeface="DejaVu Sans"/>
                <a:cs typeface="Courier New" panose="02070309020205020404" pitchFamily="49" charset="0"/>
              </a:rPr>
              <a:t>hue</a:t>
            </a:r>
            <a:r>
              <a:rPr lang="en-US" sz="1800" b="1" u="none" strike="noStrike" dirty="0">
                <a:solidFill>
                  <a:srgbClr val="DBA475"/>
                </a:solidFill>
                <a:effectLst/>
                <a:uFillTx/>
                <a:latin typeface="Courier New" panose="02070309020205020404" pitchFamily="49" charset="0"/>
                <a:ea typeface="DejaVu Sans"/>
                <a:cs typeface="Courier New" panose="02070309020205020404" pitchFamily="49" charset="0"/>
              </a:rPr>
              <a:t>=</a:t>
            </a:r>
            <a:r>
              <a:rPr lang="en-US" sz="1800" b="0" u="none" strike="noStrike" dirty="0">
                <a:solidFill>
                  <a:srgbClr val="4A6991"/>
                </a:solidFill>
                <a:effectLst/>
                <a:uFillTx/>
                <a:latin typeface="Courier New" panose="02070309020205020404" pitchFamily="49" charset="0"/>
                <a:ea typeface="DejaVu Sans"/>
                <a:cs typeface="Courier New" panose="02070309020205020404" pitchFamily="49" charset="0"/>
              </a:rPr>
              <a:t>"species”,</a:t>
            </a:r>
            <a:endParaRPr lang="en-GB" sz="1800" b="0" u="none" strike="noStrike" dirty="0">
              <a:solidFill>
                <a:srgbClr val="000000"/>
              </a:solidFill>
              <a:effectLst/>
              <a:uFillTx/>
              <a:latin typeface="Courier New" panose="02070309020205020404" pitchFamily="49" charset="0"/>
              <a:cs typeface="Courier New" panose="02070309020205020404" pitchFamily="49" charset="0"/>
            </a:endParaRPr>
          </a:p>
          <a:p>
            <a:pPr>
              <a:lnSpc>
                <a:spcPct val="100000"/>
              </a:lnSpc>
            </a:pPr>
            <a:r>
              <a:rPr lang="en-US" sz="1800" b="1" u="none" strike="noStrike" dirty="0">
                <a:solidFill>
                  <a:srgbClr val="000000"/>
                </a:solidFill>
                <a:effectLst/>
                <a:uFillTx/>
                <a:latin typeface="Courier New" panose="02070309020205020404" pitchFamily="49" charset="0"/>
                <a:ea typeface="DejaVu Sans"/>
                <a:cs typeface="Courier New" panose="02070309020205020404" pitchFamily="49" charset="0"/>
              </a:rPr>
              <a:t>)</a:t>
            </a:r>
            <a:endParaRPr lang="en-GB" sz="1800" b="0" u="none" strike="noStrike" dirty="0">
              <a:solidFill>
                <a:srgbClr val="000000"/>
              </a:solidFill>
              <a:effectLst/>
              <a:uFillTx/>
              <a:latin typeface="Courier New" panose="02070309020205020404" pitchFamily="49" charset="0"/>
              <a:cs typeface="Courier New" panose="02070309020205020404" pitchFamily="49" charset="0"/>
            </a:endParaRPr>
          </a:p>
        </p:txBody>
      </p:sp>
      <p:pic>
        <p:nvPicPr>
          <p:cNvPr id="456" name="Picture 2"/>
          <p:cNvPicPr/>
          <p:nvPr/>
        </p:nvPicPr>
        <p:blipFill>
          <a:blip r:embed="rId2"/>
          <a:stretch/>
        </p:blipFill>
        <p:spPr>
          <a:xfrm>
            <a:off x="8005620" y="3165309"/>
            <a:ext cx="3625200" cy="2732760"/>
          </a:xfrm>
          <a:prstGeom prst="rect">
            <a:avLst/>
          </a:prstGeom>
          <a:noFill/>
          <a:ln w="0">
            <a:noFill/>
          </a:ln>
        </p:spPr>
      </p:pic>
      <p:sp>
        <p:nvSpPr>
          <p:cNvPr id="2" name="PlaceHolder 1">
            <a:extLst>
              <a:ext uri="{FF2B5EF4-FFF2-40B4-BE49-F238E27FC236}">
                <a16:creationId xmlns:a16="http://schemas.microsoft.com/office/drawing/2014/main" id="{ECF3C97F-7C66-954F-4241-98DC786B9745}"/>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9" name="PlaceHolder 2">
            <a:extLst>
              <a:ext uri="{FF2B5EF4-FFF2-40B4-BE49-F238E27FC236}">
                <a16:creationId xmlns:a16="http://schemas.microsoft.com/office/drawing/2014/main" id="{F4950482-BD6F-11AE-255C-50BC9411165A}"/>
              </a:ext>
            </a:extLst>
          </p:cNvPr>
          <p:cNvSpPr>
            <a:spLocks noGrp="1"/>
          </p:cNvSpPr>
          <p:nvPr>
            <p:ph type="ftr" idx="1"/>
          </p:nvPr>
        </p:nvSpPr>
        <p:spPr>
          <a:xfrm>
            <a:off x="4038480" y="6356520"/>
            <a:ext cx="4111560" cy="361800"/>
          </a:xfrm>
        </p:spPr>
        <p:txBody>
          <a:bodyPr/>
          <a:lstStyle/>
          <a:p>
            <a:r>
              <a:rPr lang="en-US" dirty="0"/>
              <a:t>Tab, v3.0</a:t>
            </a:r>
            <a:endParaRPr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D953BD-1B17-BD81-D9FE-E42FD3AA5325}"/>
            </a:ext>
          </a:extLst>
        </p:cNvPr>
        <p:cNvGrpSpPr/>
        <p:nvPr/>
      </p:nvGrpSpPr>
      <p:grpSpPr>
        <a:xfrm>
          <a:off x="0" y="0"/>
          <a:ext cx="0" cy="0"/>
          <a:chOff x="0" y="0"/>
          <a:chExt cx="0" cy="0"/>
        </a:xfrm>
      </p:grpSpPr>
      <p:sp>
        <p:nvSpPr>
          <p:cNvPr id="282" name="PlaceHolder 2">
            <a:extLst>
              <a:ext uri="{FF2B5EF4-FFF2-40B4-BE49-F238E27FC236}">
                <a16:creationId xmlns:a16="http://schemas.microsoft.com/office/drawing/2014/main" id="{7338684E-1C7E-6EF7-1B9C-F17350B83CCA}"/>
              </a:ext>
            </a:extLst>
          </p:cNvPr>
          <p:cNvSpPr>
            <a:spLocks noGrp="1"/>
          </p:cNvSpPr>
          <p:nvPr>
            <p:ph type="body"/>
          </p:nvPr>
        </p:nvSpPr>
        <p:spPr>
          <a:xfrm>
            <a:off x="609480" y="1604519"/>
            <a:ext cx="10972080" cy="4238719"/>
          </a:xfrm>
          <a:prstGeom prst="rect">
            <a:avLst/>
          </a:prstGeom>
          <a:noFill/>
          <a:ln w="0">
            <a:noFill/>
          </a:ln>
        </p:spPr>
        <p:txBody>
          <a:bodyPr lIns="90000" tIns="45000" rIns="90000" bIns="45000" anchor="t">
            <a:normAutofit/>
          </a:bodyPr>
          <a:lstStyle/>
          <a:p>
            <a:pPr marL="214920" indent="-21492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Combine information across tables (</a:t>
            </a:r>
            <a:r>
              <a:rPr lang="en-CH" sz="2800" b="1" u="none" strike="noStrike">
                <a:solidFill>
                  <a:srgbClr val="000000"/>
                </a:solidFill>
                <a:effectLst/>
                <a:uFillTx/>
                <a:latin typeface="Calibri"/>
                <a:ea typeface="DejaVu Sans"/>
              </a:rPr>
              <a:t>join, anti-join</a:t>
            </a:r>
            <a:r>
              <a:rPr lang="en-CH" sz="2800" b="0" u="none" strike="noStrike">
                <a:solidFill>
                  <a:srgbClr val="000000"/>
                </a:solidFill>
                <a:effectLst/>
                <a:uFillTx/>
                <a:latin typeface="Calibri"/>
                <a:ea typeface="DejaVu Sans"/>
              </a:rPr>
              <a:t>)</a:t>
            </a:r>
            <a:endParaRPr lang="en-GB" sz="28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a:ea typeface="DejaVu Sans"/>
              </a:rPr>
              <a:t>Join</a:t>
            </a:r>
            <a:r>
              <a:rPr lang="en-CH" sz="2200" b="0" u="none" strike="noStrike">
                <a:solidFill>
                  <a:srgbClr val="000000"/>
                </a:solidFill>
                <a:effectLst/>
                <a:uFillTx/>
                <a:latin typeface="Calibri"/>
                <a:ea typeface="DejaVu Sans"/>
              </a:rPr>
              <a:t>: e.g., combine table with experiments results with table with experiments metadata (date, location, experimenter, free-form notes, …)</a:t>
            </a:r>
            <a:endParaRPr lang="en-GB" sz="22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a:ea typeface="DejaVu Sans"/>
              </a:rPr>
              <a:t>Anti-join</a:t>
            </a:r>
            <a:r>
              <a:rPr lang="en-CH" sz="2200" b="0" u="none" strike="noStrike">
                <a:solidFill>
                  <a:srgbClr val="000000"/>
                </a:solidFill>
                <a:effectLst/>
                <a:uFillTx/>
                <a:latin typeface="Calibri"/>
                <a:ea typeface="DejaVu Sans"/>
              </a:rPr>
              <a:t>: e.g. student compiles list of outliers, exclude them from t</a:t>
            </a:r>
            <a:r>
              <a:rPr lang="en-US" sz="2200" b="0" u="none" strike="noStrike" dirty="0">
                <a:solidFill>
                  <a:srgbClr val="000000"/>
                </a:solidFill>
                <a:effectLst/>
                <a:uFillTx/>
                <a:latin typeface="Calibri"/>
                <a:ea typeface="DejaVu Sans"/>
              </a:rPr>
              <a:t>h</a:t>
            </a:r>
            <a:r>
              <a:rPr lang="en-CH" sz="2200" b="0" u="none" strike="noStrike">
                <a:solidFill>
                  <a:srgbClr val="000000"/>
                </a:solidFill>
                <a:effectLst/>
                <a:uFillTx/>
                <a:latin typeface="Calibri"/>
                <a:ea typeface="DejaVu Sans"/>
              </a:rPr>
              <a:t>e table of experiments to analyze</a:t>
            </a:r>
            <a:endParaRPr lang="en-GB" sz="2200" b="0" u="none" strike="noStrike" dirty="0">
              <a:solidFill>
                <a:srgbClr val="000000"/>
              </a:solidFill>
              <a:effectLst/>
              <a:uFillTx/>
              <a:latin typeface="Arial"/>
            </a:endParaRPr>
          </a:p>
          <a:p>
            <a:pPr marL="434880" lvl="1" indent="0">
              <a:lnSpc>
                <a:spcPct val="90000"/>
              </a:lnSpc>
              <a:spcBef>
                <a:spcPts val="499"/>
              </a:spcBef>
              <a:buClr>
                <a:srgbClr val="000000"/>
              </a:buClr>
              <a:buNone/>
              <a:tabLst>
                <a:tab pos="0" algn="l"/>
              </a:tabLst>
            </a:pPr>
            <a:endParaRPr lang="en-US" sz="2200" b="0" u="none" strike="noStrike" dirty="0">
              <a:solidFill>
                <a:srgbClr val="000000"/>
              </a:solidFill>
              <a:effectLst/>
              <a:uFillTx/>
              <a:latin typeface="Calibri"/>
              <a:ea typeface="DejaVu Sans"/>
            </a:endParaRPr>
          </a:p>
          <a:p>
            <a:pPr marL="649800" lvl="1" indent="-214920">
              <a:lnSpc>
                <a:spcPct val="90000"/>
              </a:lnSpc>
              <a:spcBef>
                <a:spcPts val="499"/>
              </a:spcBef>
              <a:buClr>
                <a:srgbClr val="000000"/>
              </a:buClr>
              <a:buFont typeface="Arial"/>
              <a:buChar char="•"/>
              <a:tabLst>
                <a:tab pos="0" algn="l"/>
              </a:tabLst>
            </a:pPr>
            <a:endParaRPr lang="en-US" sz="2200" b="0" u="none" strike="noStrike" dirty="0">
              <a:solidFill>
                <a:srgbClr val="000000"/>
              </a:solidFill>
              <a:effectLst/>
              <a:uFillTx/>
              <a:latin typeface="Calibri"/>
              <a:ea typeface="DejaVu Sans"/>
            </a:endParaRPr>
          </a:p>
        </p:txBody>
      </p:sp>
      <p:sp>
        <p:nvSpPr>
          <p:cNvPr id="6" name="PlaceHolder 5">
            <a:extLst>
              <a:ext uri="{FF2B5EF4-FFF2-40B4-BE49-F238E27FC236}">
                <a16:creationId xmlns:a16="http://schemas.microsoft.com/office/drawing/2014/main" id="{47F8171B-5F70-6B73-AD8A-3431F8C15906}"/>
              </a:ext>
            </a:extLst>
          </p:cNvPr>
          <p:cNvSpPr>
            <a:spLocks noGrp="1"/>
          </p:cNvSpPr>
          <p:nvPr>
            <p:ph type="sldNum" idx="2"/>
          </p:nvPr>
        </p:nvSpPr>
        <p:spPr/>
        <p:txBody>
          <a:bodyPr/>
          <a:lstStyle/>
          <a:p>
            <a:fld id="{9442D02A-9C44-4620-97D6-D10361F3343D}" type="slidenum">
              <a:rPr/>
              <a:t>46</a:t>
            </a:fld>
            <a:endParaRPr/>
          </a:p>
        </p:txBody>
      </p:sp>
      <p:sp>
        <p:nvSpPr>
          <p:cNvPr id="281" name="PlaceHolder 1">
            <a:extLst>
              <a:ext uri="{FF2B5EF4-FFF2-40B4-BE49-F238E27FC236}">
                <a16:creationId xmlns:a16="http://schemas.microsoft.com/office/drawing/2014/main" id="{5B325BCE-A0BB-2248-C593-CDFC4A805C57}"/>
              </a:ext>
            </a:extLst>
          </p:cNvPr>
          <p:cNvSpPr>
            <a:spLocks noGrp="1"/>
          </p:cNvSpPr>
          <p:nvPr>
            <p:ph type="title"/>
          </p:nvPr>
        </p:nvSpPr>
        <p:spPr>
          <a:prstGeom prst="rect">
            <a:avLst/>
          </a:prstGeom>
          <a:noFill/>
          <a:ln w="0">
            <a:noFill/>
          </a:ln>
        </p:spPr>
        <p:txBody>
          <a:bodyPr lIns="90000" tIns="45000" rIns="90000" bIns="45000" anchor="ctr">
            <a:norm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Common operations on tabular data</a:t>
            </a:r>
            <a:endParaRPr lang="en-GB" sz="4400" b="0" u="none" strike="noStrike" dirty="0">
              <a:solidFill>
                <a:srgbClr val="000000"/>
              </a:solidFill>
              <a:effectLst/>
              <a:uFillTx/>
              <a:latin typeface="Arial"/>
            </a:endParaRPr>
          </a:p>
        </p:txBody>
      </p:sp>
      <p:sp>
        <p:nvSpPr>
          <p:cNvPr id="7" name="PlaceHolder 1">
            <a:extLst>
              <a:ext uri="{FF2B5EF4-FFF2-40B4-BE49-F238E27FC236}">
                <a16:creationId xmlns:a16="http://schemas.microsoft.com/office/drawing/2014/main" id="{96AED949-D418-D148-9249-44A385B09C61}"/>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2" name="PlaceHolder 2">
            <a:extLst>
              <a:ext uri="{FF2B5EF4-FFF2-40B4-BE49-F238E27FC236}">
                <a16:creationId xmlns:a16="http://schemas.microsoft.com/office/drawing/2014/main" id="{5DCC78DF-FDC8-E080-F602-FEB4AB5BC118}"/>
              </a:ext>
            </a:extLst>
          </p:cNvPr>
          <p:cNvSpPr>
            <a:spLocks noGrp="1"/>
          </p:cNvSpPr>
          <p:nvPr>
            <p:ph type="ftr" idx="1"/>
          </p:nvPr>
        </p:nvSpPr>
        <p:spPr>
          <a:xfrm>
            <a:off x="4038480" y="6356520"/>
            <a:ext cx="4111560" cy="361800"/>
          </a:xfrm>
        </p:spPr>
        <p:txBody>
          <a:bodyPr/>
          <a:lstStyle/>
          <a:p>
            <a:r>
              <a:rPr lang="en-US" dirty="0"/>
              <a:t>Tab, v3.0</a:t>
            </a:r>
            <a:endParaRPr dirty="0"/>
          </a:p>
        </p:txBody>
      </p:sp>
    </p:spTree>
    <p:extLst>
      <p:ext uri="{BB962C8B-B14F-4D97-AF65-F5344CB8AC3E}">
        <p14:creationId xmlns:p14="http://schemas.microsoft.com/office/powerpoint/2010/main" val="13497034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D5787-5B98-C2A1-C20F-B1DBD04FEBFF}"/>
            </a:ext>
          </a:extLst>
        </p:cNvPr>
        <p:cNvGrpSpPr/>
        <p:nvPr/>
      </p:nvGrpSpPr>
      <p:grpSpPr>
        <a:xfrm>
          <a:off x="0" y="0"/>
          <a:ext cx="0" cy="0"/>
          <a:chOff x="0" y="0"/>
          <a:chExt cx="0" cy="0"/>
        </a:xfrm>
      </p:grpSpPr>
      <p:sp>
        <p:nvSpPr>
          <p:cNvPr id="282" name="PlaceHolder 2">
            <a:extLst>
              <a:ext uri="{FF2B5EF4-FFF2-40B4-BE49-F238E27FC236}">
                <a16:creationId xmlns:a16="http://schemas.microsoft.com/office/drawing/2014/main" id="{F5D7A35C-9FBF-DA8A-2197-32E517259A93}"/>
              </a:ext>
            </a:extLst>
          </p:cNvPr>
          <p:cNvSpPr>
            <a:spLocks noGrp="1"/>
          </p:cNvSpPr>
          <p:nvPr>
            <p:ph type="body"/>
          </p:nvPr>
        </p:nvSpPr>
        <p:spPr>
          <a:xfrm>
            <a:off x="609480" y="1604519"/>
            <a:ext cx="10972080" cy="4238719"/>
          </a:xfrm>
          <a:prstGeom prst="rect">
            <a:avLst/>
          </a:prstGeom>
          <a:noFill/>
          <a:ln w="0">
            <a:noFill/>
          </a:ln>
        </p:spPr>
        <p:txBody>
          <a:bodyPr lIns="90000" tIns="45000" rIns="90000" bIns="45000" anchor="t">
            <a:normAutofit/>
          </a:bodyPr>
          <a:lstStyle/>
          <a:p>
            <a:pPr marL="214920" indent="-21492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Combine information across tables (</a:t>
            </a:r>
            <a:r>
              <a:rPr lang="en-CH" sz="2800" b="1" u="none" strike="noStrike">
                <a:solidFill>
                  <a:srgbClr val="000000"/>
                </a:solidFill>
                <a:effectLst/>
                <a:uFillTx/>
                <a:latin typeface="Calibri"/>
                <a:ea typeface="DejaVu Sans"/>
              </a:rPr>
              <a:t>join, anti-join</a:t>
            </a:r>
            <a:r>
              <a:rPr lang="en-CH" sz="2800" b="0" u="none" strike="noStrike">
                <a:solidFill>
                  <a:srgbClr val="000000"/>
                </a:solidFill>
                <a:effectLst/>
                <a:uFillTx/>
                <a:latin typeface="Calibri"/>
                <a:ea typeface="DejaVu Sans"/>
              </a:rPr>
              <a:t>)</a:t>
            </a:r>
            <a:endParaRPr lang="en-GB" sz="28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a:ea typeface="DejaVu Sans"/>
              </a:rPr>
              <a:t>Join</a:t>
            </a:r>
            <a:r>
              <a:rPr lang="en-CH" sz="2200" b="0" u="none" strike="noStrike">
                <a:solidFill>
                  <a:srgbClr val="000000"/>
                </a:solidFill>
                <a:effectLst/>
                <a:uFillTx/>
                <a:latin typeface="Calibri"/>
                <a:ea typeface="DejaVu Sans"/>
              </a:rPr>
              <a:t>: e.g., combine table with experiments results with table with experiments metadata (date, location, experimenter, free-form notes, …)</a:t>
            </a:r>
            <a:endParaRPr lang="en-GB" sz="22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a:ea typeface="DejaVu Sans"/>
              </a:rPr>
              <a:t>Anti-join</a:t>
            </a:r>
            <a:r>
              <a:rPr lang="en-CH" sz="2200" b="0" u="none" strike="noStrike">
                <a:solidFill>
                  <a:srgbClr val="000000"/>
                </a:solidFill>
                <a:effectLst/>
                <a:uFillTx/>
                <a:latin typeface="Calibri"/>
                <a:ea typeface="DejaVu Sans"/>
              </a:rPr>
              <a:t>: e.g. student compiles list of outliers, exclude them from t</a:t>
            </a:r>
            <a:r>
              <a:rPr lang="en-US" sz="2200" b="0" u="none" strike="noStrike" dirty="0">
                <a:solidFill>
                  <a:srgbClr val="000000"/>
                </a:solidFill>
                <a:effectLst/>
                <a:uFillTx/>
                <a:latin typeface="Calibri"/>
                <a:ea typeface="DejaVu Sans"/>
              </a:rPr>
              <a:t>h</a:t>
            </a:r>
            <a:r>
              <a:rPr lang="en-CH" sz="2200" b="0" u="none" strike="noStrike">
                <a:solidFill>
                  <a:srgbClr val="000000"/>
                </a:solidFill>
                <a:effectLst/>
                <a:uFillTx/>
                <a:latin typeface="Calibri"/>
                <a:ea typeface="DejaVu Sans"/>
              </a:rPr>
              <a:t>e table of experiments to analyze</a:t>
            </a:r>
            <a:endParaRPr lang="en-GB" sz="2200" b="0" u="none" strike="noStrike" dirty="0">
              <a:solidFill>
                <a:srgbClr val="000000"/>
              </a:solidFill>
              <a:effectLst/>
              <a:uFillTx/>
              <a:latin typeface="Arial"/>
            </a:endParaRPr>
          </a:p>
          <a:p>
            <a:pPr marL="214920" indent="-214920">
              <a:lnSpc>
                <a:spcPct val="90000"/>
              </a:lnSpc>
              <a:spcBef>
                <a:spcPts val="1001"/>
              </a:spcBef>
              <a:buClr>
                <a:srgbClr val="000000"/>
              </a:buClr>
              <a:buFont typeface="Arial"/>
              <a:buChar char="•"/>
              <a:tabLst>
                <a:tab pos="0" algn="l"/>
              </a:tabLst>
            </a:pPr>
            <a:r>
              <a:rPr lang="en-CH" sz="2800" b="0" u="none" strike="noStrike">
                <a:solidFill>
                  <a:srgbClr val="000000"/>
                </a:solidFill>
                <a:effectLst/>
                <a:uFillTx/>
                <a:latin typeface="Calibri"/>
                <a:ea typeface="DejaVu Sans"/>
              </a:rPr>
              <a:t>Summary tables (</a:t>
            </a:r>
            <a:r>
              <a:rPr lang="en-CH" sz="2800" b="1" u="none" strike="noStrike">
                <a:solidFill>
                  <a:srgbClr val="000000"/>
                </a:solidFill>
                <a:effectLst/>
                <a:uFillTx/>
                <a:latin typeface="Calibri"/>
                <a:ea typeface="DejaVu Sans"/>
              </a:rPr>
              <a:t>split-apply-combine</a:t>
            </a:r>
            <a:r>
              <a:rPr lang="en-CH" sz="2800" b="0" u="none" strike="noStrike">
                <a:solidFill>
                  <a:srgbClr val="000000"/>
                </a:solidFill>
                <a:effectLst/>
                <a:uFillTx/>
                <a:latin typeface="Calibri"/>
                <a:ea typeface="DejaVu Sans"/>
              </a:rPr>
              <a:t>)</a:t>
            </a:r>
            <a:endParaRPr lang="en-GB" sz="28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0" u="none" strike="noStrike">
                <a:solidFill>
                  <a:srgbClr val="000000"/>
                </a:solidFill>
                <a:effectLst/>
                <a:uFillTx/>
                <a:latin typeface="Calibri"/>
                <a:ea typeface="DejaVu Sans"/>
              </a:rPr>
              <a:t>E.g., compute average measurement and standard deviation by experimental condition and treatment dosage</a:t>
            </a:r>
          </a:p>
          <a:p>
            <a:pPr marL="434880" lvl="1" indent="0">
              <a:lnSpc>
                <a:spcPct val="90000"/>
              </a:lnSpc>
              <a:spcBef>
                <a:spcPts val="499"/>
              </a:spcBef>
              <a:buClr>
                <a:srgbClr val="000000"/>
              </a:buClr>
              <a:buNone/>
              <a:tabLst>
                <a:tab pos="0" algn="l"/>
              </a:tabLst>
            </a:pPr>
            <a:endParaRPr lang="en-US" sz="2200" b="0" u="none" strike="noStrike" dirty="0">
              <a:solidFill>
                <a:srgbClr val="000000"/>
              </a:solidFill>
              <a:effectLst/>
              <a:uFillTx/>
              <a:latin typeface="Calibri"/>
              <a:ea typeface="DejaVu Sans"/>
            </a:endParaRPr>
          </a:p>
          <a:p>
            <a:pPr marL="649800" lvl="1" indent="-214920">
              <a:lnSpc>
                <a:spcPct val="90000"/>
              </a:lnSpc>
              <a:spcBef>
                <a:spcPts val="499"/>
              </a:spcBef>
              <a:buClr>
                <a:srgbClr val="000000"/>
              </a:buClr>
              <a:buFont typeface="Arial"/>
              <a:buChar char="•"/>
              <a:tabLst>
                <a:tab pos="0" algn="l"/>
              </a:tabLst>
            </a:pPr>
            <a:endParaRPr lang="en-US" sz="2200" b="0" u="none" strike="noStrike" dirty="0">
              <a:solidFill>
                <a:srgbClr val="000000"/>
              </a:solidFill>
              <a:effectLst/>
              <a:uFillTx/>
              <a:latin typeface="Calibri"/>
              <a:ea typeface="DejaVu Sans"/>
            </a:endParaRPr>
          </a:p>
        </p:txBody>
      </p:sp>
      <p:sp>
        <p:nvSpPr>
          <p:cNvPr id="6" name="PlaceHolder 5">
            <a:extLst>
              <a:ext uri="{FF2B5EF4-FFF2-40B4-BE49-F238E27FC236}">
                <a16:creationId xmlns:a16="http://schemas.microsoft.com/office/drawing/2014/main" id="{7BE88C6F-369B-32AA-38B7-ADCAB9F1DC94}"/>
              </a:ext>
            </a:extLst>
          </p:cNvPr>
          <p:cNvSpPr>
            <a:spLocks noGrp="1"/>
          </p:cNvSpPr>
          <p:nvPr>
            <p:ph type="sldNum" idx="2"/>
          </p:nvPr>
        </p:nvSpPr>
        <p:spPr/>
        <p:txBody>
          <a:bodyPr/>
          <a:lstStyle/>
          <a:p>
            <a:fld id="{9442D02A-9C44-4620-97D6-D10361F3343D}" type="slidenum">
              <a:rPr/>
              <a:t>47</a:t>
            </a:fld>
            <a:endParaRPr/>
          </a:p>
        </p:txBody>
      </p:sp>
      <p:sp>
        <p:nvSpPr>
          <p:cNvPr id="281" name="PlaceHolder 1">
            <a:extLst>
              <a:ext uri="{FF2B5EF4-FFF2-40B4-BE49-F238E27FC236}">
                <a16:creationId xmlns:a16="http://schemas.microsoft.com/office/drawing/2014/main" id="{D683D475-F6E6-70E5-3634-780036DCA9C1}"/>
              </a:ext>
            </a:extLst>
          </p:cNvPr>
          <p:cNvSpPr>
            <a:spLocks noGrp="1"/>
          </p:cNvSpPr>
          <p:nvPr>
            <p:ph type="title"/>
          </p:nvPr>
        </p:nvSpPr>
        <p:spPr>
          <a:prstGeom prst="rect">
            <a:avLst/>
          </a:prstGeom>
          <a:noFill/>
          <a:ln w="0">
            <a:noFill/>
          </a:ln>
        </p:spPr>
        <p:txBody>
          <a:bodyPr lIns="90000" tIns="45000" rIns="90000" bIns="45000" anchor="ctr">
            <a:norm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Common operations on tabular data</a:t>
            </a:r>
            <a:endParaRPr lang="en-GB" sz="4400" b="0" u="none" strike="noStrike" dirty="0">
              <a:solidFill>
                <a:srgbClr val="000000"/>
              </a:solidFill>
              <a:effectLst/>
              <a:uFillTx/>
              <a:latin typeface="Arial"/>
            </a:endParaRPr>
          </a:p>
        </p:txBody>
      </p:sp>
      <p:sp>
        <p:nvSpPr>
          <p:cNvPr id="7" name="PlaceHolder 1">
            <a:extLst>
              <a:ext uri="{FF2B5EF4-FFF2-40B4-BE49-F238E27FC236}">
                <a16:creationId xmlns:a16="http://schemas.microsoft.com/office/drawing/2014/main" id="{B158E7E0-BBDC-3C30-EAA1-8BE0F156C2C9}"/>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2" name="PlaceHolder 2">
            <a:extLst>
              <a:ext uri="{FF2B5EF4-FFF2-40B4-BE49-F238E27FC236}">
                <a16:creationId xmlns:a16="http://schemas.microsoft.com/office/drawing/2014/main" id="{B63336A9-995E-D99A-9FD7-7E2291DA56E2}"/>
              </a:ext>
            </a:extLst>
          </p:cNvPr>
          <p:cNvSpPr>
            <a:spLocks noGrp="1"/>
          </p:cNvSpPr>
          <p:nvPr>
            <p:ph type="ftr" idx="1"/>
          </p:nvPr>
        </p:nvSpPr>
        <p:spPr>
          <a:xfrm>
            <a:off x="4038480" y="6356520"/>
            <a:ext cx="4111560" cy="361800"/>
          </a:xfrm>
        </p:spPr>
        <p:txBody>
          <a:bodyPr/>
          <a:lstStyle/>
          <a:p>
            <a:r>
              <a:rPr lang="en-US" dirty="0"/>
              <a:t>Tab, v3.0</a:t>
            </a:r>
            <a:endParaRPr dirty="0"/>
          </a:p>
        </p:txBody>
      </p:sp>
      <p:sp>
        <p:nvSpPr>
          <p:cNvPr id="5" name="Rounded Rectangle 4">
            <a:extLst>
              <a:ext uri="{FF2B5EF4-FFF2-40B4-BE49-F238E27FC236}">
                <a16:creationId xmlns:a16="http://schemas.microsoft.com/office/drawing/2014/main" id="{DABE2FAC-22CC-23BF-D48D-3572F4015338}"/>
              </a:ext>
            </a:extLst>
          </p:cNvPr>
          <p:cNvSpPr/>
          <p:nvPr/>
        </p:nvSpPr>
        <p:spPr>
          <a:xfrm>
            <a:off x="540360" y="1418040"/>
            <a:ext cx="10972080" cy="1793510"/>
          </a:xfrm>
          <a:prstGeom prst="roundRect">
            <a:avLst>
              <a:gd name="adj" fmla="val 16667"/>
            </a:avLst>
          </a:prstGeom>
          <a:noFill/>
          <a:ln w="72000">
            <a:solidFill>
              <a:srgbClr val="008D18"/>
            </a:solidFill>
            <a:round/>
          </a:ln>
        </p:spPr>
        <p:style>
          <a:lnRef idx="0">
            <a:scrgbClr r="0" g="0" b="0"/>
          </a:lnRef>
          <a:fillRef idx="0">
            <a:scrgbClr r="0" g="0" b="0"/>
          </a:fillRef>
          <a:effectRef idx="0">
            <a:scrgbClr r="0" g="0" b="0"/>
          </a:effectRef>
          <a:fontRef idx="minor"/>
        </p:style>
        <p:txBody>
          <a:bodyPr lIns="126000" tIns="81000" rIns="126000" bIns="81000" anchor="ctr">
            <a:noAutofit/>
          </a:bodyPr>
          <a:lstStyle/>
          <a:p>
            <a:endParaRPr lang="en-GB" sz="1800" b="0" u="none" strike="noStrike">
              <a:solidFill>
                <a:srgbClr val="000000"/>
              </a:solidFill>
              <a:effectLst/>
              <a:uFillTx/>
              <a:latin typeface="Arial"/>
              <a:ea typeface="DejaVu Sans"/>
            </a:endParaRPr>
          </a:p>
        </p:txBody>
      </p:sp>
    </p:spTree>
    <p:extLst>
      <p:ext uri="{BB962C8B-B14F-4D97-AF65-F5344CB8AC3E}">
        <p14:creationId xmlns:p14="http://schemas.microsoft.com/office/powerpoint/2010/main" val="92374027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4549E4-3E6C-4DB4-4510-E65A09343653}"/>
            </a:ext>
          </a:extLst>
        </p:cNvPr>
        <p:cNvGrpSpPr/>
        <p:nvPr/>
      </p:nvGrpSpPr>
      <p:grpSpPr>
        <a:xfrm>
          <a:off x="0" y="0"/>
          <a:ext cx="0" cy="0"/>
          <a:chOff x="0" y="0"/>
          <a:chExt cx="0" cy="0"/>
        </a:xfrm>
      </p:grpSpPr>
      <p:sp>
        <p:nvSpPr>
          <p:cNvPr id="282" name="PlaceHolder 2">
            <a:extLst>
              <a:ext uri="{FF2B5EF4-FFF2-40B4-BE49-F238E27FC236}">
                <a16:creationId xmlns:a16="http://schemas.microsoft.com/office/drawing/2014/main" id="{CC372318-6142-C6B6-0D87-1763A0553C9E}"/>
              </a:ext>
            </a:extLst>
          </p:cNvPr>
          <p:cNvSpPr>
            <a:spLocks noGrp="1"/>
          </p:cNvSpPr>
          <p:nvPr>
            <p:ph type="body"/>
          </p:nvPr>
        </p:nvSpPr>
        <p:spPr>
          <a:xfrm>
            <a:off x="609480" y="1604519"/>
            <a:ext cx="10972080" cy="4238719"/>
          </a:xfrm>
          <a:prstGeom prst="rect">
            <a:avLst/>
          </a:prstGeom>
          <a:noFill/>
          <a:ln w="0">
            <a:noFill/>
          </a:ln>
        </p:spPr>
        <p:txBody>
          <a:bodyPr lIns="90000" tIns="45000" rIns="90000" bIns="45000" anchor="t">
            <a:normAutofit/>
          </a:bodyPr>
          <a:lstStyle/>
          <a:p>
            <a:pPr marL="214920" indent="-21492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Combine information across tables (</a:t>
            </a:r>
            <a:r>
              <a:rPr lang="en-CH" sz="2800" b="1" u="none" strike="noStrike">
                <a:solidFill>
                  <a:srgbClr val="000000"/>
                </a:solidFill>
                <a:effectLst/>
                <a:uFillTx/>
                <a:latin typeface="Calibri"/>
                <a:ea typeface="DejaVu Sans"/>
              </a:rPr>
              <a:t>join, anti-join</a:t>
            </a:r>
            <a:r>
              <a:rPr lang="en-CH" sz="2800" b="0" u="none" strike="noStrike">
                <a:solidFill>
                  <a:srgbClr val="000000"/>
                </a:solidFill>
                <a:effectLst/>
                <a:uFillTx/>
                <a:latin typeface="Calibri"/>
                <a:ea typeface="DejaVu Sans"/>
              </a:rPr>
              <a:t>)</a:t>
            </a:r>
            <a:endParaRPr lang="en-GB" sz="28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a:ea typeface="DejaVu Sans"/>
              </a:rPr>
              <a:t>Join</a:t>
            </a:r>
            <a:r>
              <a:rPr lang="en-CH" sz="2200" b="0" u="none" strike="noStrike">
                <a:solidFill>
                  <a:srgbClr val="000000"/>
                </a:solidFill>
                <a:effectLst/>
                <a:uFillTx/>
                <a:latin typeface="Calibri"/>
                <a:ea typeface="DejaVu Sans"/>
              </a:rPr>
              <a:t>: e.g., combine table with experiments results with table with experiments metadata (date, location, experimenter, free-form notes, …)</a:t>
            </a:r>
            <a:endParaRPr lang="en-GB" sz="22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a:ea typeface="DejaVu Sans"/>
              </a:rPr>
              <a:t>Anti-join</a:t>
            </a:r>
            <a:r>
              <a:rPr lang="en-CH" sz="2200" b="0" u="none" strike="noStrike">
                <a:solidFill>
                  <a:srgbClr val="000000"/>
                </a:solidFill>
                <a:effectLst/>
                <a:uFillTx/>
                <a:latin typeface="Calibri"/>
                <a:ea typeface="DejaVu Sans"/>
              </a:rPr>
              <a:t>: e.g. student compiles list of outliers, exclude them from t</a:t>
            </a:r>
            <a:r>
              <a:rPr lang="en-US" sz="2200" b="0" u="none" strike="noStrike" dirty="0">
                <a:solidFill>
                  <a:srgbClr val="000000"/>
                </a:solidFill>
                <a:effectLst/>
                <a:uFillTx/>
                <a:latin typeface="Calibri"/>
                <a:ea typeface="DejaVu Sans"/>
              </a:rPr>
              <a:t>h</a:t>
            </a:r>
            <a:r>
              <a:rPr lang="en-CH" sz="2200" b="0" u="none" strike="noStrike">
                <a:solidFill>
                  <a:srgbClr val="000000"/>
                </a:solidFill>
                <a:effectLst/>
                <a:uFillTx/>
                <a:latin typeface="Calibri"/>
                <a:ea typeface="DejaVu Sans"/>
              </a:rPr>
              <a:t>e table of experiments to analyze</a:t>
            </a:r>
            <a:endParaRPr lang="en-GB" sz="2200" b="0" u="none" strike="noStrike" dirty="0">
              <a:solidFill>
                <a:srgbClr val="000000"/>
              </a:solidFill>
              <a:effectLst/>
              <a:uFillTx/>
              <a:latin typeface="Arial"/>
            </a:endParaRPr>
          </a:p>
          <a:p>
            <a:pPr marL="214920" indent="-214920">
              <a:lnSpc>
                <a:spcPct val="90000"/>
              </a:lnSpc>
              <a:spcBef>
                <a:spcPts val="1001"/>
              </a:spcBef>
              <a:buClr>
                <a:srgbClr val="000000"/>
              </a:buClr>
              <a:buFont typeface="Arial"/>
              <a:buChar char="•"/>
              <a:tabLst>
                <a:tab pos="0" algn="l"/>
              </a:tabLst>
            </a:pPr>
            <a:r>
              <a:rPr lang="en-CH" sz="2800" b="0" u="none" strike="noStrike">
                <a:solidFill>
                  <a:srgbClr val="000000"/>
                </a:solidFill>
                <a:effectLst/>
                <a:uFillTx/>
                <a:latin typeface="Calibri"/>
                <a:ea typeface="DejaVu Sans"/>
              </a:rPr>
              <a:t>Summary tables (</a:t>
            </a:r>
            <a:r>
              <a:rPr lang="en-CH" sz="2800" b="1" u="none" strike="noStrike">
                <a:solidFill>
                  <a:srgbClr val="000000"/>
                </a:solidFill>
                <a:effectLst/>
                <a:uFillTx/>
                <a:latin typeface="Calibri"/>
                <a:ea typeface="DejaVu Sans"/>
              </a:rPr>
              <a:t>split-apply-combine</a:t>
            </a:r>
            <a:r>
              <a:rPr lang="en-CH" sz="2800" b="0" u="none" strike="noStrike">
                <a:solidFill>
                  <a:srgbClr val="000000"/>
                </a:solidFill>
                <a:effectLst/>
                <a:uFillTx/>
                <a:latin typeface="Calibri"/>
                <a:ea typeface="DejaVu Sans"/>
              </a:rPr>
              <a:t>)</a:t>
            </a:r>
            <a:endParaRPr lang="en-GB" sz="28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0" u="none" strike="noStrike">
                <a:solidFill>
                  <a:srgbClr val="000000"/>
                </a:solidFill>
                <a:effectLst/>
                <a:uFillTx/>
                <a:latin typeface="Calibri"/>
                <a:ea typeface="DejaVu Sans"/>
              </a:rPr>
              <a:t>E.g., compute average measurement and standard deviation by experimental condition and treatment dosage</a:t>
            </a:r>
          </a:p>
          <a:p>
            <a:pPr marL="434880" lvl="1" indent="0">
              <a:lnSpc>
                <a:spcPct val="90000"/>
              </a:lnSpc>
              <a:spcBef>
                <a:spcPts val="499"/>
              </a:spcBef>
              <a:buClr>
                <a:srgbClr val="000000"/>
              </a:buClr>
              <a:buNone/>
              <a:tabLst>
                <a:tab pos="0" algn="l"/>
              </a:tabLst>
            </a:pPr>
            <a:endParaRPr lang="en-US" sz="2200" b="0" u="none" strike="noStrike" dirty="0">
              <a:solidFill>
                <a:srgbClr val="000000"/>
              </a:solidFill>
              <a:effectLst/>
              <a:uFillTx/>
              <a:latin typeface="Calibri"/>
              <a:ea typeface="DejaVu Sans"/>
            </a:endParaRPr>
          </a:p>
          <a:p>
            <a:pPr marL="649800" lvl="1" indent="-214920">
              <a:lnSpc>
                <a:spcPct val="90000"/>
              </a:lnSpc>
              <a:spcBef>
                <a:spcPts val="499"/>
              </a:spcBef>
              <a:buClr>
                <a:srgbClr val="000000"/>
              </a:buClr>
              <a:buFont typeface="Arial"/>
              <a:buChar char="•"/>
              <a:tabLst>
                <a:tab pos="0" algn="l"/>
              </a:tabLst>
            </a:pPr>
            <a:endParaRPr lang="en-US" sz="2200" b="0" u="none" strike="noStrike" dirty="0">
              <a:solidFill>
                <a:srgbClr val="000000"/>
              </a:solidFill>
              <a:effectLst/>
              <a:uFillTx/>
              <a:latin typeface="Calibri"/>
              <a:ea typeface="DejaVu Sans"/>
            </a:endParaRPr>
          </a:p>
        </p:txBody>
      </p:sp>
      <p:sp>
        <p:nvSpPr>
          <p:cNvPr id="6" name="PlaceHolder 5">
            <a:extLst>
              <a:ext uri="{FF2B5EF4-FFF2-40B4-BE49-F238E27FC236}">
                <a16:creationId xmlns:a16="http://schemas.microsoft.com/office/drawing/2014/main" id="{F5A4A1AF-56D1-AAAA-BC8B-95D85E6E996B}"/>
              </a:ext>
            </a:extLst>
          </p:cNvPr>
          <p:cNvSpPr>
            <a:spLocks noGrp="1"/>
          </p:cNvSpPr>
          <p:nvPr>
            <p:ph type="sldNum" idx="2"/>
          </p:nvPr>
        </p:nvSpPr>
        <p:spPr/>
        <p:txBody>
          <a:bodyPr/>
          <a:lstStyle/>
          <a:p>
            <a:fld id="{9442D02A-9C44-4620-97D6-D10361F3343D}" type="slidenum">
              <a:rPr/>
              <a:t>48</a:t>
            </a:fld>
            <a:endParaRPr/>
          </a:p>
        </p:txBody>
      </p:sp>
      <p:sp>
        <p:nvSpPr>
          <p:cNvPr id="281" name="PlaceHolder 1">
            <a:extLst>
              <a:ext uri="{FF2B5EF4-FFF2-40B4-BE49-F238E27FC236}">
                <a16:creationId xmlns:a16="http://schemas.microsoft.com/office/drawing/2014/main" id="{0BF64FE3-7196-2A22-A74C-4D1C970B750C}"/>
              </a:ext>
            </a:extLst>
          </p:cNvPr>
          <p:cNvSpPr>
            <a:spLocks noGrp="1"/>
          </p:cNvSpPr>
          <p:nvPr>
            <p:ph type="title"/>
          </p:nvPr>
        </p:nvSpPr>
        <p:spPr>
          <a:prstGeom prst="rect">
            <a:avLst/>
          </a:prstGeom>
          <a:noFill/>
          <a:ln w="0">
            <a:noFill/>
          </a:ln>
        </p:spPr>
        <p:txBody>
          <a:bodyPr lIns="90000" tIns="45000" rIns="90000" bIns="45000" anchor="ctr">
            <a:norm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Common operations on tabular data</a:t>
            </a:r>
            <a:endParaRPr lang="en-GB" sz="4400" b="0" u="none" strike="noStrike" dirty="0">
              <a:solidFill>
                <a:srgbClr val="000000"/>
              </a:solidFill>
              <a:effectLst/>
              <a:uFillTx/>
              <a:latin typeface="Arial"/>
            </a:endParaRPr>
          </a:p>
        </p:txBody>
      </p:sp>
      <p:sp>
        <p:nvSpPr>
          <p:cNvPr id="3" name="Rounded Rectangle 2">
            <a:extLst>
              <a:ext uri="{FF2B5EF4-FFF2-40B4-BE49-F238E27FC236}">
                <a16:creationId xmlns:a16="http://schemas.microsoft.com/office/drawing/2014/main" id="{A18D7F57-3279-7EFA-DCD8-FC390745C832}"/>
              </a:ext>
            </a:extLst>
          </p:cNvPr>
          <p:cNvSpPr/>
          <p:nvPr/>
        </p:nvSpPr>
        <p:spPr>
          <a:xfrm>
            <a:off x="540360" y="3211550"/>
            <a:ext cx="10972080" cy="1144440"/>
          </a:xfrm>
          <a:prstGeom prst="roundRect">
            <a:avLst>
              <a:gd name="adj" fmla="val 16667"/>
            </a:avLst>
          </a:prstGeom>
          <a:noFill/>
          <a:ln w="72000">
            <a:solidFill>
              <a:srgbClr val="008D18"/>
            </a:solidFill>
            <a:round/>
          </a:ln>
        </p:spPr>
        <p:style>
          <a:lnRef idx="0">
            <a:scrgbClr r="0" g="0" b="0"/>
          </a:lnRef>
          <a:fillRef idx="0">
            <a:scrgbClr r="0" g="0" b="0"/>
          </a:fillRef>
          <a:effectRef idx="0">
            <a:scrgbClr r="0" g="0" b="0"/>
          </a:effectRef>
          <a:fontRef idx="minor"/>
        </p:style>
        <p:txBody>
          <a:bodyPr lIns="126000" tIns="81000" rIns="126000" bIns="81000" anchor="ctr">
            <a:noAutofit/>
          </a:bodyPr>
          <a:lstStyle/>
          <a:p>
            <a:pPr>
              <a:lnSpc>
                <a:spcPct val="100000"/>
              </a:lnSpc>
            </a:pPr>
            <a:endParaRPr lang="en-GB" sz="1800" b="0" u="none" strike="noStrike" dirty="0">
              <a:solidFill>
                <a:srgbClr val="000000"/>
              </a:solidFill>
              <a:effectLst/>
              <a:uFillTx/>
              <a:latin typeface="Arial"/>
              <a:ea typeface="DejaVu Sans"/>
            </a:endParaRPr>
          </a:p>
        </p:txBody>
      </p:sp>
      <p:sp>
        <p:nvSpPr>
          <p:cNvPr id="4" name="Rounded Rectangle 3">
            <a:extLst>
              <a:ext uri="{FF2B5EF4-FFF2-40B4-BE49-F238E27FC236}">
                <a16:creationId xmlns:a16="http://schemas.microsoft.com/office/drawing/2014/main" id="{2A664044-1345-5A03-8B23-594D0747089D}"/>
              </a:ext>
            </a:extLst>
          </p:cNvPr>
          <p:cNvSpPr/>
          <p:nvPr/>
        </p:nvSpPr>
        <p:spPr>
          <a:xfrm>
            <a:off x="540360" y="1418040"/>
            <a:ext cx="10972080" cy="1793510"/>
          </a:xfrm>
          <a:prstGeom prst="roundRect">
            <a:avLst>
              <a:gd name="adj" fmla="val 16667"/>
            </a:avLst>
          </a:prstGeom>
          <a:noFill/>
          <a:ln w="72000">
            <a:solidFill>
              <a:srgbClr val="008D18"/>
            </a:solidFill>
            <a:round/>
          </a:ln>
        </p:spPr>
        <p:style>
          <a:lnRef idx="0">
            <a:scrgbClr r="0" g="0" b="0"/>
          </a:lnRef>
          <a:fillRef idx="0">
            <a:scrgbClr r="0" g="0" b="0"/>
          </a:fillRef>
          <a:effectRef idx="0">
            <a:scrgbClr r="0" g="0" b="0"/>
          </a:effectRef>
          <a:fontRef idx="minor"/>
        </p:style>
        <p:txBody>
          <a:bodyPr lIns="126000" tIns="81000" rIns="126000" bIns="81000" anchor="ctr">
            <a:noAutofit/>
          </a:bodyPr>
          <a:lstStyle/>
          <a:p>
            <a:endParaRPr lang="en-GB" sz="1800" b="0" u="none" strike="noStrike">
              <a:solidFill>
                <a:srgbClr val="000000"/>
              </a:solidFill>
              <a:effectLst/>
              <a:uFillTx/>
              <a:latin typeface="Arial"/>
              <a:ea typeface="DejaVu Sans"/>
            </a:endParaRPr>
          </a:p>
        </p:txBody>
      </p:sp>
      <p:sp>
        <p:nvSpPr>
          <p:cNvPr id="7" name="PlaceHolder 1">
            <a:extLst>
              <a:ext uri="{FF2B5EF4-FFF2-40B4-BE49-F238E27FC236}">
                <a16:creationId xmlns:a16="http://schemas.microsoft.com/office/drawing/2014/main" id="{50164993-FC86-71DB-AB71-7CE380B38FCF}"/>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2" name="PlaceHolder 2">
            <a:extLst>
              <a:ext uri="{FF2B5EF4-FFF2-40B4-BE49-F238E27FC236}">
                <a16:creationId xmlns:a16="http://schemas.microsoft.com/office/drawing/2014/main" id="{16546E2B-5427-EA24-4AB1-5E44E5C1A51D}"/>
              </a:ext>
            </a:extLst>
          </p:cNvPr>
          <p:cNvSpPr>
            <a:spLocks noGrp="1"/>
          </p:cNvSpPr>
          <p:nvPr>
            <p:ph type="ftr" idx="1"/>
          </p:nvPr>
        </p:nvSpPr>
        <p:spPr>
          <a:xfrm>
            <a:off x="4038480" y="6356520"/>
            <a:ext cx="4111560" cy="361800"/>
          </a:xfrm>
        </p:spPr>
        <p:txBody>
          <a:bodyPr/>
          <a:lstStyle/>
          <a:p>
            <a:r>
              <a:rPr lang="en-US" dirty="0"/>
              <a:t>Tab, v3.0</a:t>
            </a:r>
            <a:endParaRPr dirty="0"/>
          </a:p>
        </p:txBody>
      </p:sp>
    </p:spTree>
    <p:extLst>
      <p:ext uri="{BB962C8B-B14F-4D97-AF65-F5344CB8AC3E}">
        <p14:creationId xmlns:p14="http://schemas.microsoft.com/office/powerpoint/2010/main" val="3419093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2" name="PlaceHolder 2"/>
          <p:cNvSpPr>
            <a:spLocks noGrp="1"/>
          </p:cNvSpPr>
          <p:nvPr>
            <p:ph type="body"/>
          </p:nvPr>
        </p:nvSpPr>
        <p:spPr>
          <a:xfrm>
            <a:off x="609480" y="1604519"/>
            <a:ext cx="10972080" cy="4238719"/>
          </a:xfrm>
          <a:prstGeom prst="rect">
            <a:avLst/>
          </a:prstGeom>
          <a:noFill/>
          <a:ln w="0">
            <a:noFill/>
          </a:ln>
        </p:spPr>
        <p:txBody>
          <a:bodyPr lIns="90000" tIns="45000" rIns="90000" bIns="45000" anchor="t">
            <a:normAutofit lnSpcReduction="10000"/>
          </a:bodyPr>
          <a:lstStyle/>
          <a:p>
            <a:pPr marL="214920" indent="-214920">
              <a:lnSpc>
                <a:spcPct val="90000"/>
              </a:lnSpc>
              <a:spcBef>
                <a:spcPts val="1001"/>
              </a:spcBef>
              <a:buClr>
                <a:srgbClr val="000000"/>
              </a:buClr>
              <a:buFont typeface="Arial"/>
              <a:buChar char="•"/>
            </a:pPr>
            <a:r>
              <a:rPr lang="en-CH" sz="2800" b="0" u="none" strike="noStrike" dirty="0">
                <a:solidFill>
                  <a:srgbClr val="000000"/>
                </a:solidFill>
                <a:effectLst/>
                <a:uFillTx/>
                <a:latin typeface="Calibri"/>
                <a:ea typeface="DejaVu Sans"/>
              </a:rPr>
              <a:t>Combine information across tables (</a:t>
            </a:r>
            <a:r>
              <a:rPr lang="en-CH" sz="2800" b="1" u="none" strike="noStrike" dirty="0">
                <a:solidFill>
                  <a:srgbClr val="000000"/>
                </a:solidFill>
                <a:effectLst/>
                <a:uFillTx/>
                <a:latin typeface="Calibri"/>
                <a:ea typeface="DejaVu Sans"/>
              </a:rPr>
              <a:t>join, anti-join</a:t>
            </a:r>
            <a:r>
              <a:rPr lang="en-CH" sz="2800" b="0" u="none" strike="noStrike" dirty="0">
                <a:solidFill>
                  <a:srgbClr val="000000"/>
                </a:solidFill>
                <a:effectLst/>
                <a:uFillTx/>
                <a:latin typeface="Calibri"/>
                <a:ea typeface="DejaVu Sans"/>
              </a:rPr>
              <a:t>)</a:t>
            </a:r>
            <a:endParaRPr lang="en-GB" sz="28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1" u="none" strike="noStrike" dirty="0">
                <a:solidFill>
                  <a:srgbClr val="000000"/>
                </a:solidFill>
                <a:effectLst/>
                <a:uFillTx/>
                <a:latin typeface="Calibri"/>
                <a:ea typeface="DejaVu Sans"/>
              </a:rPr>
              <a:t>Join</a:t>
            </a:r>
            <a:r>
              <a:rPr lang="en-CH" sz="2200" b="0" u="none" strike="noStrike" dirty="0">
                <a:solidFill>
                  <a:srgbClr val="000000"/>
                </a:solidFill>
                <a:effectLst/>
                <a:uFillTx/>
                <a:latin typeface="Calibri"/>
                <a:ea typeface="DejaVu Sans"/>
              </a:rPr>
              <a:t>: e.g., combine table with experiments results with table with experiments metadata (date, location, experimenter, free-form notes, …)</a:t>
            </a:r>
            <a:endParaRPr lang="en-GB" sz="22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1" u="none" strike="noStrike" dirty="0">
                <a:solidFill>
                  <a:srgbClr val="000000"/>
                </a:solidFill>
                <a:effectLst/>
                <a:uFillTx/>
                <a:latin typeface="Calibri"/>
                <a:ea typeface="DejaVu Sans"/>
              </a:rPr>
              <a:t>Anti-join</a:t>
            </a:r>
            <a:r>
              <a:rPr lang="en-CH" sz="2200" b="0" u="none" strike="noStrike" dirty="0">
                <a:solidFill>
                  <a:srgbClr val="000000"/>
                </a:solidFill>
                <a:effectLst/>
                <a:uFillTx/>
                <a:latin typeface="Calibri"/>
                <a:ea typeface="DejaVu Sans"/>
              </a:rPr>
              <a:t>: e.g. student compiles list of outliers, exclude them from t</a:t>
            </a:r>
            <a:r>
              <a:rPr lang="en-US" sz="2200" b="0" u="none" strike="noStrike" dirty="0">
                <a:solidFill>
                  <a:srgbClr val="000000"/>
                </a:solidFill>
                <a:effectLst/>
                <a:uFillTx/>
                <a:latin typeface="Calibri"/>
                <a:ea typeface="DejaVu Sans"/>
              </a:rPr>
              <a:t>h</a:t>
            </a:r>
            <a:r>
              <a:rPr lang="en-CH" sz="2200" b="0" u="none" strike="noStrike" dirty="0">
                <a:solidFill>
                  <a:srgbClr val="000000"/>
                </a:solidFill>
                <a:effectLst/>
                <a:uFillTx/>
                <a:latin typeface="Calibri"/>
                <a:ea typeface="DejaVu Sans"/>
              </a:rPr>
              <a:t>e table of experiments to analyze</a:t>
            </a:r>
            <a:endParaRPr lang="en-GB" sz="2200" b="0" u="none" strike="noStrike" dirty="0">
              <a:solidFill>
                <a:srgbClr val="000000"/>
              </a:solidFill>
              <a:effectLst/>
              <a:uFillTx/>
              <a:latin typeface="Arial"/>
            </a:endParaRPr>
          </a:p>
          <a:p>
            <a:pPr marL="214920" indent="-214920">
              <a:lnSpc>
                <a:spcPct val="90000"/>
              </a:lnSpc>
              <a:spcBef>
                <a:spcPts val="1001"/>
              </a:spcBef>
              <a:buClr>
                <a:srgbClr val="000000"/>
              </a:buClr>
              <a:buFont typeface="Arial"/>
              <a:buChar char="•"/>
              <a:tabLst>
                <a:tab pos="0" algn="l"/>
              </a:tabLst>
            </a:pPr>
            <a:r>
              <a:rPr lang="en-CH" sz="2800" b="0" u="none" strike="noStrike" dirty="0">
                <a:solidFill>
                  <a:srgbClr val="000000"/>
                </a:solidFill>
                <a:effectLst/>
                <a:uFillTx/>
                <a:latin typeface="Calibri"/>
                <a:ea typeface="DejaVu Sans"/>
              </a:rPr>
              <a:t>Summary tables (</a:t>
            </a:r>
            <a:r>
              <a:rPr lang="en-CH" sz="2800" b="1" u="none" strike="noStrike" dirty="0">
                <a:solidFill>
                  <a:srgbClr val="000000"/>
                </a:solidFill>
                <a:effectLst/>
                <a:uFillTx/>
                <a:latin typeface="Calibri"/>
                <a:ea typeface="DejaVu Sans"/>
              </a:rPr>
              <a:t>split-apply-combine</a:t>
            </a:r>
            <a:r>
              <a:rPr lang="en-CH" sz="2800" b="0" u="none" strike="noStrike" dirty="0">
                <a:solidFill>
                  <a:srgbClr val="000000"/>
                </a:solidFill>
                <a:effectLst/>
                <a:uFillTx/>
                <a:latin typeface="Calibri"/>
                <a:ea typeface="DejaVu Sans"/>
              </a:rPr>
              <a:t>)</a:t>
            </a:r>
            <a:endParaRPr lang="en-GB" sz="28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0" u="none" strike="noStrike" dirty="0">
                <a:solidFill>
                  <a:srgbClr val="000000"/>
                </a:solidFill>
                <a:effectLst/>
                <a:uFillTx/>
                <a:latin typeface="Calibri"/>
                <a:ea typeface="DejaVu Sans"/>
              </a:rPr>
              <a:t>E.g., compute average measurement and standard deviation by experimental condition and treatment dosage</a:t>
            </a:r>
          </a:p>
          <a:p>
            <a:pPr marL="434880" lvl="1" indent="0">
              <a:lnSpc>
                <a:spcPct val="90000"/>
              </a:lnSpc>
              <a:spcBef>
                <a:spcPts val="499"/>
              </a:spcBef>
              <a:buClr>
                <a:srgbClr val="000000"/>
              </a:buClr>
              <a:buNone/>
              <a:tabLst>
                <a:tab pos="0" algn="l"/>
              </a:tabLst>
            </a:pPr>
            <a:endParaRPr lang="en-US" sz="2200" b="0" u="none" strike="noStrike" dirty="0">
              <a:solidFill>
                <a:srgbClr val="000000"/>
              </a:solidFill>
              <a:effectLst/>
              <a:uFillTx/>
              <a:latin typeface="Calibri"/>
              <a:ea typeface="DejaVu Sans"/>
            </a:endParaRPr>
          </a:p>
          <a:p>
            <a:pPr marL="214920" indent="-214920">
              <a:spcBef>
                <a:spcPts val="1001"/>
              </a:spcBef>
              <a:buClr>
                <a:srgbClr val="000000"/>
              </a:buClr>
              <a:buFont typeface="Arial"/>
              <a:buChar char="•"/>
              <a:tabLst>
                <a:tab pos="0" algn="l"/>
              </a:tabLst>
            </a:pPr>
            <a:r>
              <a:rPr lang="en-CH" sz="2800" b="1" dirty="0">
                <a:solidFill>
                  <a:srgbClr val="000000"/>
                </a:solidFill>
                <a:latin typeface="Calibri"/>
              </a:rPr>
              <a:t>Window functions</a:t>
            </a:r>
            <a:r>
              <a:rPr lang="en-CH" sz="2800" dirty="0">
                <a:solidFill>
                  <a:srgbClr val="000000"/>
                </a:solidFill>
                <a:latin typeface="Calibri"/>
              </a:rPr>
              <a:t> to vectorize complex computations over groups</a:t>
            </a:r>
            <a:endParaRPr lang="en-GB" sz="2800" dirty="0">
              <a:solidFill>
                <a:srgbClr val="000000"/>
              </a:solidFill>
            </a:endParaRPr>
          </a:p>
          <a:p>
            <a:pPr marL="649800" lvl="1" indent="-214920">
              <a:spcBef>
                <a:spcPts val="499"/>
              </a:spcBef>
              <a:buClr>
                <a:srgbClr val="000000"/>
              </a:buClr>
              <a:buFont typeface="Arial"/>
              <a:buChar char="•"/>
              <a:tabLst>
                <a:tab pos="0" algn="l"/>
              </a:tabLst>
            </a:pPr>
            <a:r>
              <a:rPr lang="en-CH" sz="2200" dirty="0">
                <a:solidFill>
                  <a:srgbClr val="000000"/>
                </a:solidFill>
                <a:latin typeface="Calibri"/>
              </a:rPr>
              <a:t>E.g., compute some operation considering more than one row at the time</a:t>
            </a:r>
            <a:endParaRPr lang="en-GB" sz="2200" dirty="0">
              <a:solidFill>
                <a:srgbClr val="000000"/>
              </a:solidFill>
            </a:endParaRPr>
          </a:p>
          <a:p>
            <a:pPr marL="649800" lvl="1" indent="-214920">
              <a:lnSpc>
                <a:spcPct val="90000"/>
              </a:lnSpc>
              <a:spcBef>
                <a:spcPts val="499"/>
              </a:spcBef>
              <a:buClr>
                <a:srgbClr val="000000"/>
              </a:buClr>
              <a:buFont typeface="Arial"/>
              <a:buChar char="•"/>
              <a:tabLst>
                <a:tab pos="0" algn="l"/>
              </a:tabLst>
            </a:pPr>
            <a:endParaRPr lang="en-US" sz="2200" b="0" u="none" strike="noStrike" dirty="0">
              <a:solidFill>
                <a:srgbClr val="000000"/>
              </a:solidFill>
              <a:effectLst/>
              <a:uFillTx/>
              <a:latin typeface="Calibri"/>
              <a:ea typeface="DejaVu Sans"/>
            </a:endParaRPr>
          </a:p>
        </p:txBody>
      </p:sp>
      <p:sp>
        <p:nvSpPr>
          <p:cNvPr id="6" name="PlaceHolder 5"/>
          <p:cNvSpPr>
            <a:spLocks noGrp="1"/>
          </p:cNvSpPr>
          <p:nvPr>
            <p:ph type="sldNum" idx="2"/>
          </p:nvPr>
        </p:nvSpPr>
        <p:spPr/>
        <p:txBody>
          <a:bodyPr/>
          <a:lstStyle/>
          <a:p>
            <a:fld id="{9442D02A-9C44-4620-97D6-D10361F3343D}" type="slidenum">
              <a:rPr/>
              <a:t>49</a:t>
            </a:fld>
            <a:endParaRPr/>
          </a:p>
        </p:txBody>
      </p:sp>
      <p:sp>
        <p:nvSpPr>
          <p:cNvPr id="281" name="PlaceHolder 1"/>
          <p:cNvSpPr>
            <a:spLocks noGrp="1"/>
          </p:cNvSpPr>
          <p:nvPr>
            <p:ph type="title"/>
          </p:nvPr>
        </p:nvSpPr>
        <p:spPr>
          <a:prstGeom prst="rect">
            <a:avLst/>
          </a:prstGeom>
          <a:noFill/>
          <a:ln w="0">
            <a:noFill/>
          </a:ln>
        </p:spPr>
        <p:txBody>
          <a:bodyPr lIns="90000" tIns="45000" rIns="90000" bIns="45000" anchor="ctr">
            <a:norm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Common operations on tabular data</a:t>
            </a:r>
            <a:endParaRPr lang="en-GB" sz="4400" b="0" u="none" strike="noStrike" dirty="0">
              <a:solidFill>
                <a:srgbClr val="000000"/>
              </a:solidFill>
              <a:effectLst/>
              <a:uFillTx/>
              <a:latin typeface="Arial"/>
            </a:endParaRPr>
          </a:p>
        </p:txBody>
      </p:sp>
      <p:sp>
        <p:nvSpPr>
          <p:cNvPr id="3" name="Rounded Rectangle 2">
            <a:extLst>
              <a:ext uri="{FF2B5EF4-FFF2-40B4-BE49-F238E27FC236}">
                <a16:creationId xmlns:a16="http://schemas.microsoft.com/office/drawing/2014/main" id="{93C25E24-31F3-BAF5-3B24-EF32A27113E5}"/>
              </a:ext>
            </a:extLst>
          </p:cNvPr>
          <p:cNvSpPr/>
          <p:nvPr/>
        </p:nvSpPr>
        <p:spPr>
          <a:xfrm>
            <a:off x="540360" y="3211550"/>
            <a:ext cx="10972080" cy="1144440"/>
          </a:xfrm>
          <a:prstGeom prst="roundRect">
            <a:avLst>
              <a:gd name="adj" fmla="val 16667"/>
            </a:avLst>
          </a:prstGeom>
          <a:noFill/>
          <a:ln w="72000">
            <a:solidFill>
              <a:srgbClr val="008D18"/>
            </a:solidFill>
            <a:round/>
          </a:ln>
        </p:spPr>
        <p:style>
          <a:lnRef idx="0">
            <a:scrgbClr r="0" g="0" b="0"/>
          </a:lnRef>
          <a:fillRef idx="0">
            <a:scrgbClr r="0" g="0" b="0"/>
          </a:fillRef>
          <a:effectRef idx="0">
            <a:scrgbClr r="0" g="0" b="0"/>
          </a:effectRef>
          <a:fontRef idx="minor"/>
        </p:style>
        <p:txBody>
          <a:bodyPr lIns="126000" tIns="81000" rIns="126000" bIns="81000" anchor="ctr">
            <a:noAutofit/>
          </a:bodyPr>
          <a:lstStyle/>
          <a:p>
            <a:pPr>
              <a:lnSpc>
                <a:spcPct val="100000"/>
              </a:lnSpc>
            </a:pPr>
            <a:endParaRPr lang="en-GB" sz="1800" b="0" u="none" strike="noStrike" dirty="0">
              <a:solidFill>
                <a:srgbClr val="000000"/>
              </a:solidFill>
              <a:effectLst/>
              <a:uFillTx/>
              <a:latin typeface="Arial"/>
              <a:ea typeface="DejaVu Sans"/>
            </a:endParaRPr>
          </a:p>
        </p:txBody>
      </p:sp>
      <p:sp>
        <p:nvSpPr>
          <p:cNvPr id="4" name="Rounded Rectangle 3">
            <a:extLst>
              <a:ext uri="{FF2B5EF4-FFF2-40B4-BE49-F238E27FC236}">
                <a16:creationId xmlns:a16="http://schemas.microsoft.com/office/drawing/2014/main" id="{EFB5D4F9-BBEF-6652-1626-F1A8720A4775}"/>
              </a:ext>
            </a:extLst>
          </p:cNvPr>
          <p:cNvSpPr/>
          <p:nvPr/>
        </p:nvSpPr>
        <p:spPr>
          <a:xfrm>
            <a:off x="540360" y="1418040"/>
            <a:ext cx="10972080" cy="1793510"/>
          </a:xfrm>
          <a:prstGeom prst="roundRect">
            <a:avLst>
              <a:gd name="adj" fmla="val 16667"/>
            </a:avLst>
          </a:prstGeom>
          <a:noFill/>
          <a:ln w="72000">
            <a:solidFill>
              <a:srgbClr val="008D18"/>
            </a:solidFill>
            <a:round/>
          </a:ln>
        </p:spPr>
        <p:style>
          <a:lnRef idx="0">
            <a:scrgbClr r="0" g="0" b="0"/>
          </a:lnRef>
          <a:fillRef idx="0">
            <a:scrgbClr r="0" g="0" b="0"/>
          </a:fillRef>
          <a:effectRef idx="0">
            <a:scrgbClr r="0" g="0" b="0"/>
          </a:effectRef>
          <a:fontRef idx="minor"/>
        </p:style>
        <p:txBody>
          <a:bodyPr lIns="126000" tIns="81000" rIns="126000" bIns="81000" anchor="ctr">
            <a:noAutofit/>
          </a:bodyPr>
          <a:lstStyle/>
          <a:p>
            <a:endParaRPr lang="en-GB" sz="1800" b="0" u="none" strike="noStrike">
              <a:solidFill>
                <a:srgbClr val="000000"/>
              </a:solidFill>
              <a:effectLst/>
              <a:uFillTx/>
              <a:latin typeface="Arial"/>
              <a:ea typeface="DejaVu Sans"/>
            </a:endParaRPr>
          </a:p>
        </p:txBody>
      </p:sp>
      <p:sp>
        <p:nvSpPr>
          <p:cNvPr id="7" name="PlaceHolder 1">
            <a:extLst>
              <a:ext uri="{FF2B5EF4-FFF2-40B4-BE49-F238E27FC236}">
                <a16:creationId xmlns:a16="http://schemas.microsoft.com/office/drawing/2014/main" id="{EE104FF8-6A79-2078-83B2-40627C803015}"/>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2" name="PlaceHolder 2">
            <a:extLst>
              <a:ext uri="{FF2B5EF4-FFF2-40B4-BE49-F238E27FC236}">
                <a16:creationId xmlns:a16="http://schemas.microsoft.com/office/drawing/2014/main" id="{276B79E9-F0D6-3461-7109-667C11B468A1}"/>
              </a:ext>
            </a:extLst>
          </p:cNvPr>
          <p:cNvSpPr>
            <a:spLocks noGrp="1"/>
          </p:cNvSpPr>
          <p:nvPr>
            <p:ph type="ftr" idx="1"/>
          </p:nvPr>
        </p:nvSpPr>
        <p:spPr>
          <a:xfrm>
            <a:off x="4038480" y="6356520"/>
            <a:ext cx="4111560" cy="361800"/>
          </a:xfrm>
        </p:spPr>
        <p:txBody>
          <a:bodyPr/>
          <a:lstStyle/>
          <a:p>
            <a:r>
              <a:rPr lang="en-US" dirty="0"/>
              <a:t>Tab, v3.0</a:t>
            </a:r>
            <a:endParaRPr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5" name="PlaceHolder 1"/>
          <p:cNvSpPr>
            <a:spLocks noGrp="1"/>
          </p:cNvSpPr>
          <p:nvPr>
            <p:ph type="title"/>
          </p:nvPr>
        </p:nvSpPr>
        <p:spPr>
          <a:prstGeom prst="rect">
            <a:avLst/>
          </a:prstGeom>
          <a:noFill/>
          <a:ln w="0">
            <a:noFill/>
          </a:ln>
        </p:spPr>
        <p:txBody>
          <a:bodyPr lIns="0" tIns="0" rIns="0" bIns="0" anchor="ctr">
            <a:norm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Window functions operations</a:t>
            </a:r>
            <a:endParaRPr lang="en-GB" sz="4400" b="0" u="none" strike="noStrike">
              <a:solidFill>
                <a:srgbClr val="000000"/>
              </a:solidFill>
              <a:effectLst/>
              <a:uFillTx/>
              <a:latin typeface="Arial"/>
            </a:endParaRPr>
          </a:p>
        </p:txBody>
      </p:sp>
      <p:cxnSp>
        <p:nvCxnSpPr>
          <p:cNvPr id="627" name="Straight Arrow Connector 19"/>
          <p:cNvCxnSpPr/>
          <p:nvPr/>
        </p:nvCxnSpPr>
        <p:spPr>
          <a:xfrm flipV="1">
            <a:off x="2829600" y="2564640"/>
            <a:ext cx="411480" cy="672840"/>
          </a:xfrm>
          <a:prstGeom prst="straightConnector1">
            <a:avLst/>
          </a:prstGeom>
          <a:ln w="57150">
            <a:solidFill>
              <a:srgbClr val="C55A11"/>
            </a:solidFill>
            <a:round/>
            <a:tailEnd type="triangle" w="med" len="med"/>
          </a:ln>
        </p:spPr>
      </p:cxnSp>
      <p:cxnSp>
        <p:nvCxnSpPr>
          <p:cNvPr id="628" name="Straight Arrow Connector 20"/>
          <p:cNvCxnSpPr/>
          <p:nvPr/>
        </p:nvCxnSpPr>
        <p:spPr>
          <a:xfrm flipV="1">
            <a:off x="2822760" y="3840480"/>
            <a:ext cx="526680" cy="95040"/>
          </a:xfrm>
          <a:prstGeom prst="straightConnector1">
            <a:avLst/>
          </a:prstGeom>
          <a:ln w="57150">
            <a:solidFill>
              <a:srgbClr val="C55A11"/>
            </a:solidFill>
            <a:round/>
            <a:tailEnd type="triangle" w="med" len="med"/>
          </a:ln>
        </p:spPr>
      </p:cxnSp>
      <p:cxnSp>
        <p:nvCxnSpPr>
          <p:cNvPr id="629" name="Straight Arrow Connector 21"/>
          <p:cNvCxnSpPr/>
          <p:nvPr/>
        </p:nvCxnSpPr>
        <p:spPr>
          <a:xfrm>
            <a:off x="2811600" y="4768920"/>
            <a:ext cx="550080" cy="679320"/>
          </a:xfrm>
          <a:prstGeom prst="straightConnector1">
            <a:avLst/>
          </a:prstGeom>
          <a:ln w="57150">
            <a:solidFill>
              <a:srgbClr val="C55A11"/>
            </a:solidFill>
            <a:round/>
            <a:tailEnd type="triangle" w="med" len="med"/>
          </a:ln>
        </p:spPr>
      </p:cxnSp>
      <p:cxnSp>
        <p:nvCxnSpPr>
          <p:cNvPr id="630" name="Straight Arrow Connector 42"/>
          <p:cNvCxnSpPr/>
          <p:nvPr/>
        </p:nvCxnSpPr>
        <p:spPr>
          <a:xfrm>
            <a:off x="8301240" y="2178720"/>
            <a:ext cx="473760" cy="313560"/>
          </a:xfrm>
          <a:prstGeom prst="straightConnector1">
            <a:avLst/>
          </a:prstGeom>
          <a:ln w="57150">
            <a:solidFill>
              <a:srgbClr val="548235"/>
            </a:solidFill>
            <a:round/>
            <a:tailEnd type="triangle" w="med" len="med"/>
          </a:ln>
        </p:spPr>
      </p:cxnSp>
      <p:cxnSp>
        <p:nvCxnSpPr>
          <p:cNvPr id="631" name="Straight Arrow Connector 44"/>
          <p:cNvCxnSpPr/>
          <p:nvPr/>
        </p:nvCxnSpPr>
        <p:spPr>
          <a:xfrm>
            <a:off x="8301240" y="3955320"/>
            <a:ext cx="460440" cy="198720"/>
          </a:xfrm>
          <a:prstGeom prst="straightConnector1">
            <a:avLst/>
          </a:prstGeom>
          <a:ln w="57150">
            <a:solidFill>
              <a:srgbClr val="548235"/>
            </a:solidFill>
            <a:round/>
            <a:tailEnd type="triangle" w="med" len="med"/>
          </a:ln>
        </p:spPr>
      </p:cxnSp>
      <p:cxnSp>
        <p:nvCxnSpPr>
          <p:cNvPr id="632" name="Straight Arrow Connector 48"/>
          <p:cNvCxnSpPr/>
          <p:nvPr/>
        </p:nvCxnSpPr>
        <p:spPr>
          <a:xfrm flipV="1">
            <a:off x="8301240" y="4747320"/>
            <a:ext cx="460440" cy="695520"/>
          </a:xfrm>
          <a:prstGeom prst="straightConnector1">
            <a:avLst/>
          </a:prstGeom>
          <a:ln w="57150">
            <a:solidFill>
              <a:srgbClr val="548235"/>
            </a:solidFill>
            <a:round/>
            <a:tailEnd type="triangle" w="med" len="med"/>
          </a:ln>
        </p:spPr>
      </p:cxnSp>
      <p:sp>
        <p:nvSpPr>
          <p:cNvPr id="633" name="TextBox 2"/>
          <p:cNvSpPr/>
          <p:nvPr/>
        </p:nvSpPr>
        <p:spPr>
          <a:xfrm>
            <a:off x="623520" y="1041120"/>
            <a:ext cx="113324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chemeClr val="accent6">
                    <a:lumMod val="75000"/>
                  </a:schemeClr>
                </a:solidFill>
                <a:effectLst/>
                <a:uFillTx/>
                <a:latin typeface="Consolas"/>
                <a:ea typeface="DejaVu Sans"/>
              </a:rPr>
              <a:t>df['nr_lefts'] </a:t>
            </a:r>
            <a:r>
              <a:rPr lang="en-CH" sz="1800" b="0" u="none" strike="noStrike">
                <a:solidFill>
                  <a:srgbClr val="000000"/>
                </a:solidFill>
                <a:effectLst/>
                <a:uFillTx/>
                <a:latin typeface="Consolas"/>
                <a:ea typeface="DejaVu Sans"/>
              </a:rPr>
              <a:t>= df</a:t>
            </a:r>
            <a:r>
              <a:rPr lang="en-CH" sz="1800" b="0" u="none" strike="noStrike">
                <a:solidFill>
                  <a:schemeClr val="accent2">
                    <a:lumMod val="75000"/>
                  </a:schemeClr>
                </a:solidFill>
                <a:effectLst/>
                <a:uFillTx/>
                <a:latin typeface="Consolas"/>
                <a:ea typeface="DejaVu Sans"/>
              </a:rPr>
              <a:t>.sort_values('time (ms)').groupby('subject_id')</a:t>
            </a:r>
            <a:r>
              <a:rPr lang="en-CH" sz="1800" b="0" u="none" strike="noStrike">
                <a:solidFill>
                  <a:schemeClr val="accent5">
                    <a:lumMod val="50000"/>
                  </a:schemeClr>
                </a:solidFill>
                <a:effectLst/>
                <a:uFillTx/>
                <a:latin typeface="Consolas"/>
                <a:ea typeface="DejaVu Sans"/>
              </a:rPr>
              <a:t>['is_left'].cumsum()</a:t>
            </a:r>
            <a:endParaRPr lang="en-GB" sz="1800" b="0" u="none" strike="noStrike">
              <a:solidFill>
                <a:srgbClr val="000000"/>
              </a:solidFill>
              <a:effectLst/>
              <a:uFillTx/>
              <a:latin typeface="Arial"/>
            </a:endParaRPr>
          </a:p>
        </p:txBody>
      </p:sp>
      <p:pic>
        <p:nvPicPr>
          <p:cNvPr id="634" name="Picture 10"/>
          <p:cNvPicPr/>
          <p:nvPr/>
        </p:nvPicPr>
        <p:blipFill>
          <a:blip r:embed="rId3"/>
          <a:stretch/>
        </p:blipFill>
        <p:spPr>
          <a:xfrm>
            <a:off x="142920" y="2124720"/>
            <a:ext cx="2606760" cy="3428640"/>
          </a:xfrm>
          <a:prstGeom prst="rect">
            <a:avLst/>
          </a:prstGeom>
          <a:noFill/>
          <a:ln w="0">
            <a:noFill/>
          </a:ln>
        </p:spPr>
      </p:pic>
      <p:pic>
        <p:nvPicPr>
          <p:cNvPr id="635" name="Picture 18"/>
          <p:cNvPicPr/>
          <p:nvPr/>
        </p:nvPicPr>
        <p:blipFill>
          <a:blip r:embed="rId4"/>
          <a:stretch/>
        </p:blipFill>
        <p:spPr>
          <a:xfrm>
            <a:off x="3404520" y="1479960"/>
            <a:ext cx="3016800" cy="4873320"/>
          </a:xfrm>
          <a:prstGeom prst="rect">
            <a:avLst/>
          </a:prstGeom>
          <a:noFill/>
          <a:ln w="0">
            <a:noFill/>
          </a:ln>
        </p:spPr>
      </p:pic>
      <p:pic>
        <p:nvPicPr>
          <p:cNvPr id="636" name="Picture 26"/>
          <p:cNvPicPr/>
          <p:nvPr/>
        </p:nvPicPr>
        <p:blipFill>
          <a:blip r:embed="rId5"/>
          <a:stretch/>
        </p:blipFill>
        <p:spPr>
          <a:xfrm>
            <a:off x="7079040" y="1479960"/>
            <a:ext cx="1090800" cy="4915800"/>
          </a:xfrm>
          <a:prstGeom prst="rect">
            <a:avLst/>
          </a:prstGeom>
          <a:noFill/>
          <a:ln w="0">
            <a:noFill/>
          </a:ln>
        </p:spPr>
      </p:pic>
      <p:sp>
        <p:nvSpPr>
          <p:cNvPr id="637" name="Right Arrow 27"/>
          <p:cNvSpPr/>
          <p:nvPr/>
        </p:nvSpPr>
        <p:spPr>
          <a:xfrm>
            <a:off x="6519240" y="3429000"/>
            <a:ext cx="500760" cy="857520"/>
          </a:xfrm>
          <a:prstGeom prst="rightArrow">
            <a:avLst>
              <a:gd name="adj1" fmla="val 50000"/>
              <a:gd name="adj2" fmla="val 50000"/>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CH" sz="1800" b="0" u="none" strike="noStrike">
              <a:solidFill>
                <a:schemeClr val="lt1"/>
              </a:solidFill>
              <a:effectLst/>
              <a:uFillTx/>
              <a:latin typeface="Calibri"/>
              <a:ea typeface="DejaVu Sans"/>
            </a:endParaRPr>
          </a:p>
        </p:txBody>
      </p:sp>
      <p:pic>
        <p:nvPicPr>
          <p:cNvPr id="638" name="Picture 28"/>
          <p:cNvPicPr/>
          <p:nvPr/>
        </p:nvPicPr>
        <p:blipFill>
          <a:blip r:embed="rId6"/>
          <a:stretch/>
        </p:blipFill>
        <p:spPr>
          <a:xfrm>
            <a:off x="8968680" y="2124720"/>
            <a:ext cx="3100680" cy="3438720"/>
          </a:xfrm>
          <a:prstGeom prst="rect">
            <a:avLst/>
          </a:prstGeom>
          <a:noFill/>
          <a:ln w="0">
            <a:noFill/>
          </a:ln>
        </p:spPr>
      </p:pic>
      <p:sp>
        <p:nvSpPr>
          <p:cNvPr id="2" name="PlaceHolder 1">
            <a:extLst>
              <a:ext uri="{FF2B5EF4-FFF2-40B4-BE49-F238E27FC236}">
                <a16:creationId xmlns:a16="http://schemas.microsoft.com/office/drawing/2014/main" id="{5CBFF3A8-200E-9AFD-446E-9283ED06B2B4}"/>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4" name="PlaceHolder 2">
            <a:extLst>
              <a:ext uri="{FF2B5EF4-FFF2-40B4-BE49-F238E27FC236}">
                <a16:creationId xmlns:a16="http://schemas.microsoft.com/office/drawing/2014/main" id="{E249ED3B-E8DD-48D8-9934-B016CA83BCB5}"/>
              </a:ext>
            </a:extLst>
          </p:cNvPr>
          <p:cNvSpPr>
            <a:spLocks noGrp="1"/>
          </p:cNvSpPr>
          <p:nvPr>
            <p:ph type="ftr" idx="1"/>
          </p:nvPr>
        </p:nvSpPr>
        <p:spPr>
          <a:xfrm>
            <a:off x="4038480" y="6356520"/>
            <a:ext cx="4111560" cy="361800"/>
          </a:xfrm>
        </p:spPr>
        <p:txBody>
          <a:bodyPr/>
          <a:lstStyle/>
          <a:p>
            <a:r>
              <a:rPr lang="en-US" dirty="0"/>
              <a:t>Tab, v3.0</a:t>
            </a:r>
            <a:endParaRPr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D48EED-F1BD-AB3C-5C0B-53A44BE0C2E8}"/>
            </a:ext>
          </a:extLst>
        </p:cNvPr>
        <p:cNvGrpSpPr/>
        <p:nvPr/>
      </p:nvGrpSpPr>
      <p:grpSpPr>
        <a:xfrm>
          <a:off x="0" y="0"/>
          <a:ext cx="0" cy="0"/>
          <a:chOff x="0" y="0"/>
          <a:chExt cx="0" cy="0"/>
        </a:xfrm>
      </p:grpSpPr>
      <p:sp>
        <p:nvSpPr>
          <p:cNvPr id="282" name="PlaceHolder 2">
            <a:extLst>
              <a:ext uri="{FF2B5EF4-FFF2-40B4-BE49-F238E27FC236}">
                <a16:creationId xmlns:a16="http://schemas.microsoft.com/office/drawing/2014/main" id="{9E8625FE-E804-BAD0-06AB-05F254E92FDC}"/>
              </a:ext>
            </a:extLst>
          </p:cNvPr>
          <p:cNvSpPr>
            <a:spLocks noGrp="1"/>
          </p:cNvSpPr>
          <p:nvPr>
            <p:ph type="body"/>
          </p:nvPr>
        </p:nvSpPr>
        <p:spPr>
          <a:xfrm>
            <a:off x="609480" y="1604519"/>
            <a:ext cx="10972080" cy="4238719"/>
          </a:xfrm>
          <a:prstGeom prst="rect">
            <a:avLst/>
          </a:prstGeom>
          <a:noFill/>
          <a:ln w="0">
            <a:noFill/>
          </a:ln>
        </p:spPr>
        <p:txBody>
          <a:bodyPr lIns="90000" tIns="45000" rIns="90000" bIns="45000" anchor="t">
            <a:normAutofit/>
          </a:bodyPr>
          <a:lstStyle/>
          <a:p>
            <a:pPr marL="214920" indent="-21492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Combine information across tables (</a:t>
            </a:r>
            <a:r>
              <a:rPr lang="en-CH" sz="2800" b="1" u="none" strike="noStrike">
                <a:solidFill>
                  <a:srgbClr val="000000"/>
                </a:solidFill>
                <a:effectLst/>
                <a:uFillTx/>
                <a:latin typeface="Calibri"/>
                <a:ea typeface="DejaVu Sans"/>
              </a:rPr>
              <a:t>join, anti-join</a:t>
            </a:r>
            <a:r>
              <a:rPr lang="en-CH" sz="2800" b="0" u="none" strike="noStrike">
                <a:solidFill>
                  <a:srgbClr val="000000"/>
                </a:solidFill>
                <a:effectLst/>
                <a:uFillTx/>
                <a:latin typeface="Calibri"/>
                <a:ea typeface="DejaVu Sans"/>
              </a:rPr>
              <a:t>)</a:t>
            </a:r>
            <a:endParaRPr lang="en-GB" sz="28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a:ea typeface="DejaVu Sans"/>
              </a:rPr>
              <a:t>Join</a:t>
            </a:r>
            <a:r>
              <a:rPr lang="en-CH" sz="2200" b="0" u="none" strike="noStrike">
                <a:solidFill>
                  <a:srgbClr val="000000"/>
                </a:solidFill>
                <a:effectLst/>
                <a:uFillTx/>
                <a:latin typeface="Calibri"/>
                <a:ea typeface="DejaVu Sans"/>
              </a:rPr>
              <a:t>: e.g., combine table with experiments results with table with experiments metadata (date, location, experimenter, free-form notes, …)</a:t>
            </a:r>
            <a:endParaRPr lang="en-GB" sz="22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1" u="none" strike="noStrike">
                <a:solidFill>
                  <a:srgbClr val="000000"/>
                </a:solidFill>
                <a:effectLst/>
                <a:uFillTx/>
                <a:latin typeface="Calibri"/>
                <a:ea typeface="DejaVu Sans"/>
              </a:rPr>
              <a:t>Anti-join</a:t>
            </a:r>
            <a:r>
              <a:rPr lang="en-CH" sz="2200" b="0" u="none" strike="noStrike">
                <a:solidFill>
                  <a:srgbClr val="000000"/>
                </a:solidFill>
                <a:effectLst/>
                <a:uFillTx/>
                <a:latin typeface="Calibri"/>
                <a:ea typeface="DejaVu Sans"/>
              </a:rPr>
              <a:t>: e.g. student compiles list of outliers, exclude them from t</a:t>
            </a:r>
            <a:r>
              <a:rPr lang="en-US" sz="2200" b="0" u="none" strike="noStrike" dirty="0">
                <a:solidFill>
                  <a:srgbClr val="000000"/>
                </a:solidFill>
                <a:effectLst/>
                <a:uFillTx/>
                <a:latin typeface="Calibri"/>
                <a:ea typeface="DejaVu Sans"/>
              </a:rPr>
              <a:t>h</a:t>
            </a:r>
            <a:r>
              <a:rPr lang="en-CH" sz="2200" b="0" u="none" strike="noStrike">
                <a:solidFill>
                  <a:srgbClr val="000000"/>
                </a:solidFill>
                <a:effectLst/>
                <a:uFillTx/>
                <a:latin typeface="Calibri"/>
                <a:ea typeface="DejaVu Sans"/>
              </a:rPr>
              <a:t>e table of experiments to analyze</a:t>
            </a:r>
            <a:endParaRPr lang="en-GB" sz="2200" b="0" u="none" strike="noStrike" dirty="0">
              <a:solidFill>
                <a:srgbClr val="000000"/>
              </a:solidFill>
              <a:effectLst/>
              <a:uFillTx/>
              <a:latin typeface="Arial"/>
            </a:endParaRPr>
          </a:p>
          <a:p>
            <a:pPr marL="214920" indent="-214920">
              <a:lnSpc>
                <a:spcPct val="90000"/>
              </a:lnSpc>
              <a:spcBef>
                <a:spcPts val="1001"/>
              </a:spcBef>
              <a:buClr>
                <a:srgbClr val="000000"/>
              </a:buClr>
              <a:buFont typeface="Arial"/>
              <a:buChar char="•"/>
              <a:tabLst>
                <a:tab pos="0" algn="l"/>
              </a:tabLst>
            </a:pPr>
            <a:r>
              <a:rPr lang="en-CH" sz="2800" b="0" u="none" strike="noStrike">
                <a:solidFill>
                  <a:srgbClr val="000000"/>
                </a:solidFill>
                <a:effectLst/>
                <a:uFillTx/>
                <a:latin typeface="Calibri"/>
                <a:ea typeface="DejaVu Sans"/>
              </a:rPr>
              <a:t>Summary tables (</a:t>
            </a:r>
            <a:r>
              <a:rPr lang="en-CH" sz="2800" b="1" u="none" strike="noStrike">
                <a:solidFill>
                  <a:srgbClr val="000000"/>
                </a:solidFill>
                <a:effectLst/>
                <a:uFillTx/>
                <a:latin typeface="Calibri"/>
                <a:ea typeface="DejaVu Sans"/>
              </a:rPr>
              <a:t>split-apply-combine</a:t>
            </a:r>
            <a:r>
              <a:rPr lang="en-CH" sz="2800" b="0" u="none" strike="noStrike">
                <a:solidFill>
                  <a:srgbClr val="000000"/>
                </a:solidFill>
                <a:effectLst/>
                <a:uFillTx/>
                <a:latin typeface="Calibri"/>
                <a:ea typeface="DejaVu Sans"/>
              </a:rPr>
              <a:t>)</a:t>
            </a:r>
            <a:endParaRPr lang="en-GB" sz="2800" b="0" u="none" strike="noStrike" dirty="0">
              <a:solidFill>
                <a:srgbClr val="000000"/>
              </a:solidFill>
              <a:effectLst/>
              <a:uFillTx/>
              <a:latin typeface="Arial"/>
            </a:endParaRPr>
          </a:p>
          <a:p>
            <a:pPr marL="649800" lvl="1" indent="-214920">
              <a:lnSpc>
                <a:spcPct val="90000"/>
              </a:lnSpc>
              <a:spcBef>
                <a:spcPts val="499"/>
              </a:spcBef>
              <a:buClr>
                <a:srgbClr val="000000"/>
              </a:buClr>
              <a:buFont typeface="Arial"/>
              <a:buChar char="•"/>
              <a:tabLst>
                <a:tab pos="0" algn="l"/>
              </a:tabLst>
            </a:pPr>
            <a:r>
              <a:rPr lang="en-CH" sz="2200" b="0" u="none" strike="noStrike">
                <a:solidFill>
                  <a:srgbClr val="000000"/>
                </a:solidFill>
                <a:effectLst/>
                <a:uFillTx/>
                <a:latin typeface="Calibri"/>
                <a:ea typeface="DejaVu Sans"/>
              </a:rPr>
              <a:t>E.g., compute average measurement and standard deviation by experimental condition and treatment dosage</a:t>
            </a:r>
            <a:endParaRPr lang="en-US" sz="2200" dirty="0">
              <a:solidFill>
                <a:srgbClr val="000000"/>
              </a:solidFill>
              <a:latin typeface="Calibri"/>
              <a:ea typeface="DejaVu Sans"/>
            </a:endParaRPr>
          </a:p>
          <a:p>
            <a:pPr marL="649800" lvl="1" indent="-214920">
              <a:lnSpc>
                <a:spcPct val="90000"/>
              </a:lnSpc>
              <a:spcBef>
                <a:spcPts val="499"/>
              </a:spcBef>
              <a:buClr>
                <a:srgbClr val="000000"/>
              </a:buClr>
              <a:buFont typeface="Arial"/>
              <a:buChar char="•"/>
              <a:tabLst>
                <a:tab pos="0" algn="l"/>
              </a:tabLst>
            </a:pPr>
            <a:endParaRPr lang="en-US" sz="2200" dirty="0">
              <a:solidFill>
                <a:srgbClr val="000000"/>
              </a:solidFill>
              <a:latin typeface="Calibri"/>
              <a:ea typeface="DejaVu Sans"/>
            </a:endParaRPr>
          </a:p>
          <a:p>
            <a:pPr marL="214920" marR="0" lvl="0" indent="-214920" algn="l" defTabSz="914400" rtl="0" eaLnBrk="1" fontAlgn="auto" latinLnBrk="0" hangingPunct="1">
              <a:lnSpc>
                <a:spcPct val="90000"/>
              </a:lnSpc>
              <a:spcBef>
                <a:spcPts val="1001"/>
              </a:spcBef>
              <a:spcAft>
                <a:spcPts val="0"/>
              </a:spcAft>
              <a:buClr>
                <a:srgbClr val="000000"/>
              </a:buClr>
              <a:buSzTx/>
              <a:buFont typeface="Arial"/>
              <a:buChar char="•"/>
              <a:tabLst>
                <a:tab pos="0" algn="l"/>
              </a:tabLst>
              <a:defRPr/>
            </a:pPr>
            <a:r>
              <a:rPr kumimoji="0" lang="en-CH" sz="2800" b="1" i="0" u="none" strike="noStrike" kern="1200" cap="none" spc="0" normalizeH="0" baseline="0" noProof="0">
                <a:ln>
                  <a:noFill/>
                </a:ln>
                <a:solidFill>
                  <a:srgbClr val="000000"/>
                </a:solidFill>
                <a:effectLst/>
                <a:uLnTx/>
                <a:uFillTx/>
                <a:latin typeface="Calibri"/>
              </a:rPr>
              <a:t>Window functions</a:t>
            </a:r>
            <a:r>
              <a:rPr kumimoji="0" lang="en-CH" sz="2800" b="0" i="0" u="none" strike="noStrike" kern="1200" cap="none" spc="0" normalizeH="0" baseline="0" noProof="0">
                <a:ln>
                  <a:noFill/>
                </a:ln>
                <a:solidFill>
                  <a:srgbClr val="000000"/>
                </a:solidFill>
                <a:effectLst/>
                <a:uLnTx/>
                <a:uFillTx/>
                <a:latin typeface="Calibri"/>
              </a:rPr>
              <a:t> to vectorize complex computations over groups</a:t>
            </a:r>
            <a:endParaRPr kumimoji="0" lang="en-GB" sz="2800" b="0" i="0" u="none" strike="noStrike" kern="1200" cap="none" spc="0" normalizeH="0" baseline="0" noProof="0" dirty="0">
              <a:ln>
                <a:noFill/>
              </a:ln>
              <a:solidFill>
                <a:srgbClr val="000000"/>
              </a:solidFill>
              <a:effectLst/>
              <a:uLnTx/>
              <a:uFillTx/>
              <a:latin typeface="Arial"/>
            </a:endParaRPr>
          </a:p>
          <a:p>
            <a:pPr marL="649800" marR="0" lvl="1" indent="-214920" algn="l" defTabSz="914400" rtl="0" eaLnBrk="1" fontAlgn="auto" latinLnBrk="0" hangingPunct="1">
              <a:lnSpc>
                <a:spcPct val="90000"/>
              </a:lnSpc>
              <a:spcBef>
                <a:spcPts val="499"/>
              </a:spcBef>
              <a:spcAft>
                <a:spcPts val="0"/>
              </a:spcAft>
              <a:buClr>
                <a:srgbClr val="000000"/>
              </a:buClr>
              <a:buSzTx/>
              <a:buFont typeface="Arial"/>
              <a:buChar char="•"/>
              <a:tabLst>
                <a:tab pos="0" algn="l"/>
              </a:tabLst>
              <a:defRPr/>
            </a:pPr>
            <a:r>
              <a:rPr kumimoji="0" lang="en-CH" sz="2200" b="0" i="0" u="none" strike="noStrike" kern="1200" cap="none" spc="0" normalizeH="0" baseline="0" noProof="0">
                <a:ln>
                  <a:noFill/>
                </a:ln>
                <a:solidFill>
                  <a:srgbClr val="000000"/>
                </a:solidFill>
                <a:effectLst/>
                <a:uLnTx/>
                <a:uFillTx/>
                <a:latin typeface="Calibri"/>
              </a:rPr>
              <a:t>E.g., compute some operation considering more than one row at the time</a:t>
            </a:r>
            <a:endParaRPr kumimoji="0" lang="en-GB" sz="2200" b="0" i="0" u="none" strike="noStrike" kern="1200" cap="none" spc="0" normalizeH="0" baseline="0" noProof="0" dirty="0">
              <a:ln>
                <a:noFill/>
              </a:ln>
              <a:solidFill>
                <a:srgbClr val="000000"/>
              </a:solidFill>
              <a:effectLst/>
              <a:uLnTx/>
              <a:uFillTx/>
              <a:latin typeface="Arial"/>
            </a:endParaRPr>
          </a:p>
          <a:p>
            <a:pPr marL="649800" lvl="1" indent="-214920">
              <a:lnSpc>
                <a:spcPct val="90000"/>
              </a:lnSpc>
              <a:spcBef>
                <a:spcPts val="499"/>
              </a:spcBef>
              <a:buClr>
                <a:srgbClr val="000000"/>
              </a:buClr>
              <a:buFont typeface="Arial"/>
              <a:buChar char="•"/>
              <a:tabLst>
                <a:tab pos="0" algn="l"/>
              </a:tabLst>
            </a:pPr>
            <a:endParaRPr lang="en-US" sz="2200" dirty="0">
              <a:solidFill>
                <a:srgbClr val="000000"/>
              </a:solidFill>
              <a:latin typeface="Calibri"/>
              <a:ea typeface="DejaVu Sans"/>
            </a:endParaRPr>
          </a:p>
        </p:txBody>
      </p:sp>
      <p:sp>
        <p:nvSpPr>
          <p:cNvPr id="6" name="PlaceHolder 5">
            <a:extLst>
              <a:ext uri="{FF2B5EF4-FFF2-40B4-BE49-F238E27FC236}">
                <a16:creationId xmlns:a16="http://schemas.microsoft.com/office/drawing/2014/main" id="{3D5AD236-9650-E621-8458-A86C06BEF053}"/>
              </a:ext>
            </a:extLst>
          </p:cNvPr>
          <p:cNvSpPr>
            <a:spLocks noGrp="1"/>
          </p:cNvSpPr>
          <p:nvPr>
            <p:ph type="sldNum" idx="2"/>
          </p:nvPr>
        </p:nvSpPr>
        <p:spPr/>
        <p:txBody>
          <a:bodyPr/>
          <a:lstStyle/>
          <a:p>
            <a:fld id="{9442D02A-9C44-4620-97D6-D10361F3343D}" type="slidenum">
              <a:rPr/>
              <a:t>51</a:t>
            </a:fld>
            <a:endParaRPr/>
          </a:p>
        </p:txBody>
      </p:sp>
      <p:sp>
        <p:nvSpPr>
          <p:cNvPr id="281" name="PlaceHolder 1">
            <a:extLst>
              <a:ext uri="{FF2B5EF4-FFF2-40B4-BE49-F238E27FC236}">
                <a16:creationId xmlns:a16="http://schemas.microsoft.com/office/drawing/2014/main" id="{51B2B822-361C-7B92-7840-703951D68742}"/>
              </a:ext>
            </a:extLst>
          </p:cNvPr>
          <p:cNvSpPr>
            <a:spLocks noGrp="1"/>
          </p:cNvSpPr>
          <p:nvPr>
            <p:ph type="title"/>
          </p:nvPr>
        </p:nvSpPr>
        <p:spPr>
          <a:prstGeom prst="rect">
            <a:avLst/>
          </a:prstGeom>
          <a:noFill/>
          <a:ln w="0">
            <a:noFill/>
          </a:ln>
        </p:spPr>
        <p:txBody>
          <a:bodyPr lIns="90000" tIns="45000" rIns="90000" bIns="45000" anchor="ctr">
            <a:norm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Common operations on tabular data</a:t>
            </a:r>
            <a:endParaRPr lang="en-GB" sz="4400" b="0" u="none" strike="noStrike" dirty="0">
              <a:solidFill>
                <a:srgbClr val="000000"/>
              </a:solidFill>
              <a:effectLst/>
              <a:uFillTx/>
              <a:latin typeface="Arial"/>
            </a:endParaRPr>
          </a:p>
        </p:txBody>
      </p:sp>
      <p:sp>
        <p:nvSpPr>
          <p:cNvPr id="3" name="Rounded Rectangle 2">
            <a:extLst>
              <a:ext uri="{FF2B5EF4-FFF2-40B4-BE49-F238E27FC236}">
                <a16:creationId xmlns:a16="http://schemas.microsoft.com/office/drawing/2014/main" id="{D683F995-EE42-E860-FB0C-651E8BB3F920}"/>
              </a:ext>
            </a:extLst>
          </p:cNvPr>
          <p:cNvSpPr/>
          <p:nvPr/>
        </p:nvSpPr>
        <p:spPr>
          <a:xfrm>
            <a:off x="540360" y="3211550"/>
            <a:ext cx="10972080" cy="1144440"/>
          </a:xfrm>
          <a:prstGeom prst="roundRect">
            <a:avLst>
              <a:gd name="adj" fmla="val 16667"/>
            </a:avLst>
          </a:prstGeom>
          <a:noFill/>
          <a:ln w="72000">
            <a:solidFill>
              <a:srgbClr val="008D18"/>
            </a:solidFill>
            <a:round/>
          </a:ln>
        </p:spPr>
        <p:style>
          <a:lnRef idx="0">
            <a:scrgbClr r="0" g="0" b="0"/>
          </a:lnRef>
          <a:fillRef idx="0">
            <a:scrgbClr r="0" g="0" b="0"/>
          </a:fillRef>
          <a:effectRef idx="0">
            <a:scrgbClr r="0" g="0" b="0"/>
          </a:effectRef>
          <a:fontRef idx="minor"/>
        </p:style>
        <p:txBody>
          <a:bodyPr lIns="126000" tIns="81000" rIns="126000" bIns="81000" anchor="ctr">
            <a:noAutofit/>
          </a:bodyPr>
          <a:lstStyle/>
          <a:p>
            <a:pPr>
              <a:lnSpc>
                <a:spcPct val="100000"/>
              </a:lnSpc>
            </a:pPr>
            <a:endParaRPr lang="en-GB" sz="1800" b="0" u="none" strike="noStrike" dirty="0">
              <a:solidFill>
                <a:srgbClr val="000000"/>
              </a:solidFill>
              <a:effectLst/>
              <a:uFillTx/>
              <a:latin typeface="Arial"/>
              <a:ea typeface="DejaVu Sans"/>
            </a:endParaRPr>
          </a:p>
        </p:txBody>
      </p:sp>
      <p:sp>
        <p:nvSpPr>
          <p:cNvPr id="4" name="Rounded Rectangle 3">
            <a:extLst>
              <a:ext uri="{FF2B5EF4-FFF2-40B4-BE49-F238E27FC236}">
                <a16:creationId xmlns:a16="http://schemas.microsoft.com/office/drawing/2014/main" id="{9F458FE6-C3EC-6ACA-4C3A-4582F70B1758}"/>
              </a:ext>
            </a:extLst>
          </p:cNvPr>
          <p:cNvSpPr/>
          <p:nvPr/>
        </p:nvSpPr>
        <p:spPr>
          <a:xfrm>
            <a:off x="540360" y="1418040"/>
            <a:ext cx="10972080" cy="1793510"/>
          </a:xfrm>
          <a:prstGeom prst="roundRect">
            <a:avLst>
              <a:gd name="adj" fmla="val 16667"/>
            </a:avLst>
          </a:prstGeom>
          <a:noFill/>
          <a:ln w="72000">
            <a:solidFill>
              <a:srgbClr val="008D18"/>
            </a:solidFill>
            <a:round/>
          </a:ln>
        </p:spPr>
        <p:style>
          <a:lnRef idx="0">
            <a:scrgbClr r="0" g="0" b="0"/>
          </a:lnRef>
          <a:fillRef idx="0">
            <a:scrgbClr r="0" g="0" b="0"/>
          </a:fillRef>
          <a:effectRef idx="0">
            <a:scrgbClr r="0" g="0" b="0"/>
          </a:effectRef>
          <a:fontRef idx="minor"/>
        </p:style>
        <p:txBody>
          <a:bodyPr lIns="126000" tIns="81000" rIns="126000" bIns="81000" anchor="ctr">
            <a:noAutofit/>
          </a:bodyPr>
          <a:lstStyle/>
          <a:p>
            <a:endParaRPr lang="en-GB" sz="1800" b="0" u="none" strike="noStrike">
              <a:solidFill>
                <a:srgbClr val="000000"/>
              </a:solidFill>
              <a:effectLst/>
              <a:uFillTx/>
              <a:latin typeface="Arial"/>
              <a:ea typeface="DejaVu Sans"/>
            </a:endParaRPr>
          </a:p>
        </p:txBody>
      </p:sp>
      <p:sp>
        <p:nvSpPr>
          <p:cNvPr id="7" name="PlaceHolder 1">
            <a:extLst>
              <a:ext uri="{FF2B5EF4-FFF2-40B4-BE49-F238E27FC236}">
                <a16:creationId xmlns:a16="http://schemas.microsoft.com/office/drawing/2014/main" id="{6545D65C-5C28-005D-7A34-2D0175ED71E5}"/>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2" name="PlaceHolder 2">
            <a:extLst>
              <a:ext uri="{FF2B5EF4-FFF2-40B4-BE49-F238E27FC236}">
                <a16:creationId xmlns:a16="http://schemas.microsoft.com/office/drawing/2014/main" id="{89EF5730-B66B-2C43-E1AC-52D76AFCCC0A}"/>
              </a:ext>
            </a:extLst>
          </p:cNvPr>
          <p:cNvSpPr>
            <a:spLocks noGrp="1"/>
          </p:cNvSpPr>
          <p:nvPr>
            <p:ph type="ftr" idx="1"/>
          </p:nvPr>
        </p:nvSpPr>
        <p:spPr>
          <a:xfrm>
            <a:off x="4038480" y="6356520"/>
            <a:ext cx="4111560" cy="361800"/>
          </a:xfrm>
        </p:spPr>
        <p:txBody>
          <a:bodyPr/>
          <a:lstStyle/>
          <a:p>
            <a:r>
              <a:rPr lang="en-US" dirty="0"/>
              <a:t>Tab, v3.0</a:t>
            </a:r>
            <a:endParaRPr dirty="0"/>
          </a:p>
        </p:txBody>
      </p:sp>
      <p:sp>
        <p:nvSpPr>
          <p:cNvPr id="5" name="Rounded Rectangle 4">
            <a:extLst>
              <a:ext uri="{FF2B5EF4-FFF2-40B4-BE49-F238E27FC236}">
                <a16:creationId xmlns:a16="http://schemas.microsoft.com/office/drawing/2014/main" id="{9CCBA4C6-CE9D-2C7B-DCF2-60B222399BC4}"/>
              </a:ext>
            </a:extLst>
          </p:cNvPr>
          <p:cNvSpPr/>
          <p:nvPr/>
        </p:nvSpPr>
        <p:spPr>
          <a:xfrm>
            <a:off x="540360" y="4629070"/>
            <a:ext cx="10619640" cy="837468"/>
          </a:xfrm>
          <a:prstGeom prst="roundRect">
            <a:avLst>
              <a:gd name="adj" fmla="val 16667"/>
            </a:avLst>
          </a:prstGeom>
          <a:noFill/>
          <a:ln w="72000">
            <a:solidFill>
              <a:srgbClr val="008D18"/>
            </a:solidFill>
            <a:prstDash val="sysDash"/>
            <a:round/>
          </a:ln>
        </p:spPr>
        <p:style>
          <a:lnRef idx="0">
            <a:scrgbClr r="0" g="0" b="0"/>
          </a:lnRef>
          <a:fillRef idx="0">
            <a:scrgbClr r="0" g="0" b="0"/>
          </a:fillRef>
          <a:effectRef idx="0">
            <a:scrgbClr r="0" g="0" b="0"/>
          </a:effectRef>
          <a:fontRef idx="minor"/>
        </p:style>
        <p:txBody>
          <a:bodyPr lIns="126000" tIns="81000" rIns="126000" bIns="81000" anchor="ctr">
            <a:noAutofit/>
          </a:bodyPr>
          <a:lstStyle/>
          <a:p>
            <a:pPr>
              <a:lnSpc>
                <a:spcPct val="100000"/>
              </a:lnSpc>
            </a:pPr>
            <a:endParaRPr lang="en-GB" sz="1800" b="0" u="none" strike="noStrike">
              <a:solidFill>
                <a:srgbClr val="000000"/>
              </a:solidFill>
              <a:effectLst/>
              <a:uFillTx/>
              <a:latin typeface="Arial"/>
              <a:ea typeface="DejaVu Sans"/>
            </a:endParaRPr>
          </a:p>
        </p:txBody>
      </p:sp>
      <p:sp>
        <p:nvSpPr>
          <p:cNvPr id="10" name="TextBox 2">
            <a:extLst>
              <a:ext uri="{FF2B5EF4-FFF2-40B4-BE49-F238E27FC236}">
                <a16:creationId xmlns:a16="http://schemas.microsoft.com/office/drawing/2014/main" id="{B73AD683-FECE-43D7-5E7F-E6F6292C4095}"/>
              </a:ext>
            </a:extLst>
          </p:cNvPr>
          <p:cNvSpPr/>
          <p:nvPr/>
        </p:nvSpPr>
        <p:spPr>
          <a:xfrm>
            <a:off x="1774440" y="2255220"/>
            <a:ext cx="8639640" cy="2763405"/>
          </a:xfrm>
          <a:custGeom>
            <a:avLst/>
            <a:gdLst>
              <a:gd name="textAreaLeft" fmla="*/ 0 w 8639640"/>
              <a:gd name="textAreaRight" fmla="*/ 8643960 w 8639640"/>
              <a:gd name="textAreaTop" fmla="*/ 0 h 3377880"/>
              <a:gd name="textAreaBottom" fmla="*/ 3382200 h 3377880"/>
            </a:gdLst>
            <a:ahLst/>
            <a:cxnLst/>
            <a:rect l="textAreaLeft" t="textAreaTop" r="textAreaRight" b="textAreaBottom"/>
            <a:pathLst>
              <a:path w="5712296" h="2308324" fill="none">
                <a:moveTo>
                  <a:pt x="0" y="0"/>
                </a:moveTo>
                <a:cubicBezTo>
                  <a:pt x="170481" y="12395"/>
                  <a:pt x="474495" y="4923"/>
                  <a:pt x="691823" y="0"/>
                </a:cubicBezTo>
                <a:cubicBezTo>
                  <a:pt x="909151" y="-4923"/>
                  <a:pt x="1025161" y="11703"/>
                  <a:pt x="1155153" y="0"/>
                </a:cubicBezTo>
                <a:cubicBezTo>
                  <a:pt x="1285145" y="-11703"/>
                  <a:pt x="1576417" y="299"/>
                  <a:pt x="1732730" y="0"/>
                </a:cubicBezTo>
                <a:cubicBezTo>
                  <a:pt x="1889043" y="-299"/>
                  <a:pt x="2130093" y="16857"/>
                  <a:pt x="2481675" y="0"/>
                </a:cubicBezTo>
                <a:cubicBezTo>
                  <a:pt x="2833257" y="-16857"/>
                  <a:pt x="2873551" y="17793"/>
                  <a:pt x="3116375" y="0"/>
                </a:cubicBezTo>
                <a:cubicBezTo>
                  <a:pt x="3359199" y="-17793"/>
                  <a:pt x="3543615" y="15531"/>
                  <a:pt x="3808197" y="0"/>
                </a:cubicBezTo>
                <a:cubicBezTo>
                  <a:pt x="4072779" y="-15531"/>
                  <a:pt x="4244086" y="-26212"/>
                  <a:pt x="4385774" y="0"/>
                </a:cubicBezTo>
                <a:cubicBezTo>
                  <a:pt x="4527462" y="26212"/>
                  <a:pt x="4804411" y="-17362"/>
                  <a:pt x="5020473" y="0"/>
                </a:cubicBezTo>
                <a:cubicBezTo>
                  <a:pt x="5236535" y="17362"/>
                  <a:pt x="5483850" y="13915"/>
                  <a:pt x="5712296" y="0"/>
                </a:cubicBezTo>
                <a:cubicBezTo>
                  <a:pt x="5698337" y="227921"/>
                  <a:pt x="5726828" y="309662"/>
                  <a:pt x="5712296" y="530915"/>
                </a:cubicBezTo>
                <a:cubicBezTo>
                  <a:pt x="5697764" y="752169"/>
                  <a:pt x="5697572" y="832379"/>
                  <a:pt x="5712296" y="1038746"/>
                </a:cubicBezTo>
                <a:cubicBezTo>
                  <a:pt x="5727020" y="1245113"/>
                  <a:pt x="5718057" y="1350161"/>
                  <a:pt x="5712296" y="1569660"/>
                </a:cubicBezTo>
                <a:cubicBezTo>
                  <a:pt x="5706535" y="1789159"/>
                  <a:pt x="5715761" y="2034313"/>
                  <a:pt x="5712296" y="2308324"/>
                </a:cubicBezTo>
                <a:cubicBezTo>
                  <a:pt x="5427327" y="2287513"/>
                  <a:pt x="5344141" y="2327301"/>
                  <a:pt x="5077596" y="2308324"/>
                </a:cubicBezTo>
                <a:cubicBezTo>
                  <a:pt x="4811051" y="2289347"/>
                  <a:pt x="4588159" y="2292673"/>
                  <a:pt x="4442897" y="2308324"/>
                </a:cubicBezTo>
                <a:cubicBezTo>
                  <a:pt x="4297635" y="2323975"/>
                  <a:pt x="4142033" y="2304319"/>
                  <a:pt x="3922443" y="2308324"/>
                </a:cubicBezTo>
                <a:cubicBezTo>
                  <a:pt x="3702853" y="2312329"/>
                  <a:pt x="3448460" y="2301342"/>
                  <a:pt x="3287744" y="2308324"/>
                </a:cubicBezTo>
                <a:cubicBezTo>
                  <a:pt x="3127028" y="2315306"/>
                  <a:pt x="2908419" y="2286204"/>
                  <a:pt x="2653044" y="2308324"/>
                </a:cubicBezTo>
                <a:cubicBezTo>
                  <a:pt x="2397669" y="2330444"/>
                  <a:pt x="2181981" y="2338620"/>
                  <a:pt x="2018345" y="2308324"/>
                </a:cubicBezTo>
                <a:cubicBezTo>
                  <a:pt x="1854709" y="2278028"/>
                  <a:pt x="1523819" y="2337051"/>
                  <a:pt x="1383645" y="2308324"/>
                </a:cubicBezTo>
                <a:cubicBezTo>
                  <a:pt x="1243471" y="2279597"/>
                  <a:pt x="1031240" y="2304491"/>
                  <a:pt x="806068" y="2308324"/>
                </a:cubicBezTo>
                <a:cubicBezTo>
                  <a:pt x="580896" y="2312157"/>
                  <a:pt x="347967" y="2325492"/>
                  <a:pt x="0" y="2308324"/>
                </a:cubicBezTo>
                <a:cubicBezTo>
                  <a:pt x="9212" y="2185053"/>
                  <a:pt x="-17414" y="1970670"/>
                  <a:pt x="0" y="1731243"/>
                </a:cubicBezTo>
                <a:cubicBezTo>
                  <a:pt x="17414" y="1491816"/>
                  <a:pt x="-10325" y="1313911"/>
                  <a:pt x="0" y="1131079"/>
                </a:cubicBezTo>
                <a:cubicBezTo>
                  <a:pt x="10325" y="948247"/>
                  <a:pt x="-25330" y="680352"/>
                  <a:pt x="0" y="530915"/>
                </a:cubicBezTo>
                <a:cubicBezTo>
                  <a:pt x="25330" y="381478"/>
                  <a:pt x="12113" y="149989"/>
                  <a:pt x="0" y="0"/>
                </a:cubicBezTo>
                <a:close/>
              </a:path>
              <a:path w="5712296" h="2308324" stroke="0">
                <a:moveTo>
                  <a:pt x="0" y="0"/>
                </a:moveTo>
                <a:cubicBezTo>
                  <a:pt x="117366" y="12157"/>
                  <a:pt x="427981" y="-1654"/>
                  <a:pt x="577577" y="0"/>
                </a:cubicBezTo>
                <a:cubicBezTo>
                  <a:pt x="727173" y="1654"/>
                  <a:pt x="919785" y="-10211"/>
                  <a:pt x="1040907" y="0"/>
                </a:cubicBezTo>
                <a:cubicBezTo>
                  <a:pt x="1162029" y="10211"/>
                  <a:pt x="1577922" y="25650"/>
                  <a:pt x="1789853" y="0"/>
                </a:cubicBezTo>
                <a:cubicBezTo>
                  <a:pt x="2001784" y="-25650"/>
                  <a:pt x="2188209" y="-24222"/>
                  <a:pt x="2367429" y="0"/>
                </a:cubicBezTo>
                <a:cubicBezTo>
                  <a:pt x="2546649" y="24222"/>
                  <a:pt x="2756192" y="-23950"/>
                  <a:pt x="2945006" y="0"/>
                </a:cubicBezTo>
                <a:cubicBezTo>
                  <a:pt x="3133820" y="23950"/>
                  <a:pt x="3433459" y="-33367"/>
                  <a:pt x="3693951" y="0"/>
                </a:cubicBezTo>
                <a:cubicBezTo>
                  <a:pt x="3954443" y="33367"/>
                  <a:pt x="4032117" y="-813"/>
                  <a:pt x="4214405" y="0"/>
                </a:cubicBezTo>
                <a:cubicBezTo>
                  <a:pt x="4396693" y="813"/>
                  <a:pt x="4790380" y="18167"/>
                  <a:pt x="4963351" y="0"/>
                </a:cubicBezTo>
                <a:cubicBezTo>
                  <a:pt x="5136322" y="-18167"/>
                  <a:pt x="5355621" y="-34473"/>
                  <a:pt x="5712296" y="0"/>
                </a:cubicBezTo>
                <a:cubicBezTo>
                  <a:pt x="5703245" y="275623"/>
                  <a:pt x="5730046" y="433797"/>
                  <a:pt x="5712296" y="577081"/>
                </a:cubicBezTo>
                <a:cubicBezTo>
                  <a:pt x="5694546" y="720365"/>
                  <a:pt x="5706106" y="925832"/>
                  <a:pt x="5712296" y="1154162"/>
                </a:cubicBezTo>
                <a:cubicBezTo>
                  <a:pt x="5718486" y="1382492"/>
                  <a:pt x="5707131" y="1562931"/>
                  <a:pt x="5712296" y="1754326"/>
                </a:cubicBezTo>
                <a:cubicBezTo>
                  <a:pt x="5717461" y="1945721"/>
                  <a:pt x="5715860" y="2077979"/>
                  <a:pt x="5712296" y="2308324"/>
                </a:cubicBezTo>
                <a:cubicBezTo>
                  <a:pt x="5577581" y="2308670"/>
                  <a:pt x="5224458" y="2290918"/>
                  <a:pt x="5077596" y="2308324"/>
                </a:cubicBezTo>
                <a:cubicBezTo>
                  <a:pt x="4930734" y="2325730"/>
                  <a:pt x="4790654" y="2322770"/>
                  <a:pt x="4557143" y="2308324"/>
                </a:cubicBezTo>
                <a:cubicBezTo>
                  <a:pt x="4323632" y="2293878"/>
                  <a:pt x="4066460" y="2312216"/>
                  <a:pt x="3922443" y="2308324"/>
                </a:cubicBezTo>
                <a:cubicBezTo>
                  <a:pt x="3778426" y="2304432"/>
                  <a:pt x="3352455" y="2286696"/>
                  <a:pt x="3173498" y="2308324"/>
                </a:cubicBezTo>
                <a:cubicBezTo>
                  <a:pt x="2994541" y="2329952"/>
                  <a:pt x="2709991" y="2308489"/>
                  <a:pt x="2538798" y="2308324"/>
                </a:cubicBezTo>
                <a:cubicBezTo>
                  <a:pt x="2367605" y="2308159"/>
                  <a:pt x="2190477" y="2285762"/>
                  <a:pt x="2075468" y="2308324"/>
                </a:cubicBezTo>
                <a:cubicBezTo>
                  <a:pt x="1960459" y="2330887"/>
                  <a:pt x="1781938" y="2316511"/>
                  <a:pt x="1555014" y="2308324"/>
                </a:cubicBezTo>
                <a:cubicBezTo>
                  <a:pt x="1328090" y="2300137"/>
                  <a:pt x="978738" y="2284534"/>
                  <a:pt x="806068" y="2308324"/>
                </a:cubicBezTo>
                <a:cubicBezTo>
                  <a:pt x="633398" y="2332114"/>
                  <a:pt x="358206" y="2331133"/>
                  <a:pt x="0" y="2308324"/>
                </a:cubicBezTo>
                <a:cubicBezTo>
                  <a:pt x="-23618" y="2154219"/>
                  <a:pt x="18177" y="1906591"/>
                  <a:pt x="0" y="1777409"/>
                </a:cubicBezTo>
                <a:cubicBezTo>
                  <a:pt x="-18177" y="1648228"/>
                  <a:pt x="-9736" y="1356449"/>
                  <a:pt x="0" y="1223412"/>
                </a:cubicBezTo>
                <a:cubicBezTo>
                  <a:pt x="9736" y="1090375"/>
                  <a:pt x="16833" y="862591"/>
                  <a:pt x="0" y="715580"/>
                </a:cubicBezTo>
                <a:cubicBezTo>
                  <a:pt x="-16833" y="568569"/>
                  <a:pt x="13966" y="290526"/>
                  <a:pt x="0" y="0"/>
                </a:cubicBezTo>
                <a:close/>
              </a:path>
            </a:pathLst>
          </a:custGeom>
          <a:solidFill>
            <a:schemeClr val="accent5">
              <a:lumMod val="20000"/>
              <a:lumOff val="80000"/>
            </a:schemeClr>
          </a:solidFill>
          <a:ln w="38100">
            <a:solidFill>
              <a:srgbClr val="000000"/>
            </a:solidFill>
            <a:round/>
          </a:ln>
        </p:spPr>
        <p:style>
          <a:lnRef idx="0">
            <a:scrgbClr r="0" g="0" b="0"/>
          </a:lnRef>
          <a:fillRef idx="0">
            <a:scrgbClr r="0" g="0" b="0"/>
          </a:fillRef>
          <a:effectRef idx="0">
            <a:scrgbClr r="0" g="0" b="0"/>
          </a:effectRef>
          <a:fontRef idx="minor"/>
        </p:style>
        <p:txBody>
          <a:bodyPr lIns="90000" tIns="45000" rIns="90000" bIns="45000" anchor="t" anchorCtr="1">
            <a:spAutoFit/>
          </a:bodyPr>
          <a:lstStyle/>
          <a:p>
            <a:pPr indent="0">
              <a:lnSpc>
                <a:spcPct val="90000"/>
              </a:lnSpc>
              <a:spcBef>
                <a:spcPts val="1417"/>
              </a:spcBef>
              <a:buNone/>
              <a:tabLst>
                <a:tab pos="0" algn="l"/>
              </a:tabLst>
            </a:pPr>
            <a:r>
              <a:rPr lang="en-CH" sz="3600">
                <a:solidFill>
                  <a:srgbClr val="F57A00"/>
                </a:solidFill>
                <a:latin typeface="Calibri" panose="020F0502020204030204" pitchFamily="34" charset="0"/>
                <a:ea typeface="Calibri"/>
                <a:cs typeface="Calibri" panose="020F0502020204030204" pitchFamily="34" charset="0"/>
              </a:rPr>
              <a:t>→ </a:t>
            </a:r>
            <a:r>
              <a:rPr lang="en-CH" sz="3600">
                <a:solidFill>
                  <a:srgbClr val="F57A00"/>
                </a:solidFill>
                <a:latin typeface="Calibri" panose="020F0502020204030204" pitchFamily="34" charset="0"/>
                <a:cs typeface="Calibri" panose="020F0502020204030204" pitchFamily="34" charset="0"/>
              </a:rPr>
              <a:t>Libraries are optimized to operate on tabular data</a:t>
            </a:r>
            <a:endParaRPr lang="en-GB" sz="3600" dirty="0">
              <a:solidFill>
                <a:srgbClr val="F57A00"/>
              </a:solidFill>
              <a:latin typeface="Calibri" panose="020F0502020204030204" pitchFamily="34" charset="0"/>
              <a:cs typeface="Calibri" panose="020F0502020204030204" pitchFamily="34" charset="0"/>
            </a:endParaRPr>
          </a:p>
          <a:p>
            <a:pPr indent="0">
              <a:lnSpc>
                <a:spcPct val="90000"/>
              </a:lnSpc>
              <a:spcBef>
                <a:spcPts val="1417"/>
              </a:spcBef>
              <a:buNone/>
              <a:tabLst>
                <a:tab pos="0" algn="l"/>
              </a:tabLst>
            </a:pPr>
            <a:r>
              <a:rPr lang="en-CH" sz="3600">
                <a:solidFill>
                  <a:srgbClr val="F57A00"/>
                </a:solidFill>
                <a:latin typeface="Calibri" panose="020F0502020204030204" pitchFamily="34" charset="0"/>
                <a:ea typeface="Calibri"/>
                <a:cs typeface="Calibri" panose="020F0502020204030204" pitchFamily="34" charset="0"/>
              </a:rPr>
              <a:t>→ </a:t>
            </a:r>
            <a:r>
              <a:rPr lang="en-US" sz="3600" dirty="0">
                <a:solidFill>
                  <a:srgbClr val="F57A00"/>
                </a:solidFill>
                <a:latin typeface="Calibri" panose="020F0502020204030204" pitchFamily="34" charset="0"/>
                <a:ea typeface="Calibri"/>
                <a:cs typeface="Calibri" panose="020F0502020204030204" pitchFamily="34" charset="0"/>
              </a:rPr>
              <a:t>The goal of t</a:t>
            </a:r>
            <a:r>
              <a:rPr lang="en-CH" sz="3600">
                <a:solidFill>
                  <a:srgbClr val="F57A00"/>
                </a:solidFill>
                <a:latin typeface="Calibri" panose="020F0502020204030204" pitchFamily="34" charset="0"/>
                <a:cs typeface="Calibri" panose="020F0502020204030204" pitchFamily="34" charset="0"/>
              </a:rPr>
              <a:t>oday </a:t>
            </a:r>
            <a:r>
              <a:rPr lang="en-US" sz="3600" dirty="0">
                <a:solidFill>
                  <a:srgbClr val="F57A00"/>
                </a:solidFill>
                <a:latin typeface="Calibri" panose="020F0502020204030204" pitchFamily="34" charset="0"/>
                <a:cs typeface="Calibri" panose="020F0502020204030204" pitchFamily="34" charset="0"/>
              </a:rPr>
              <a:t>was to introduce some of these vectorized operations and </a:t>
            </a:r>
            <a:r>
              <a:rPr lang="en-CH" sz="3600">
                <a:solidFill>
                  <a:srgbClr val="F57A00"/>
                </a:solidFill>
                <a:latin typeface="Calibri" panose="020F0502020204030204" pitchFamily="34" charset="0"/>
                <a:cs typeface="Calibri" panose="020F0502020204030204" pitchFamily="34" charset="0"/>
              </a:rPr>
              <a:t>why it is important to use </a:t>
            </a:r>
            <a:r>
              <a:rPr lang="en-US" sz="3600" dirty="0">
                <a:solidFill>
                  <a:srgbClr val="F57A00"/>
                </a:solidFill>
                <a:latin typeface="Calibri" panose="020F0502020204030204" pitchFamily="34" charset="0"/>
                <a:cs typeface="Calibri" panose="020F0502020204030204" pitchFamily="34" charset="0"/>
              </a:rPr>
              <a:t>them</a:t>
            </a:r>
            <a:endParaRPr lang="en-GB" sz="3600" dirty="0">
              <a:solidFill>
                <a:srgbClr val="F57A00"/>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86350150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8" name="PlaceHolder 2"/>
          <p:cNvSpPr>
            <a:spLocks noGrp="1"/>
          </p:cNvSpPr>
          <p:nvPr>
            <p:ph type="body"/>
          </p:nvPr>
        </p:nvSpPr>
        <p:spPr>
          <a:xfrm>
            <a:off x="609480" y="1418040"/>
            <a:ext cx="10972080" cy="4680785"/>
          </a:xfrm>
          <a:prstGeom prst="rect">
            <a:avLst/>
          </a:prstGeom>
          <a:noFill/>
          <a:ln w="0">
            <a:noFill/>
          </a:ln>
        </p:spPr>
        <p:txBody>
          <a:bodyPr lIns="90000" tIns="45000" rIns="90000" bIns="45000" anchor="t">
            <a:normAutofit/>
          </a:bodyPr>
          <a:lstStyle/>
          <a:p>
            <a:pPr marL="228600" indent="-228600">
              <a:lnSpc>
                <a:spcPct val="90000"/>
              </a:lnSpc>
              <a:spcBef>
                <a:spcPts val="1001"/>
              </a:spcBef>
              <a:buClr>
                <a:srgbClr val="000000"/>
              </a:buClr>
              <a:buFont typeface="Arial"/>
              <a:buChar char="•"/>
            </a:pPr>
            <a:r>
              <a:rPr lang="en-CH" sz="2400" b="0" u="none" strike="noStrike" dirty="0">
                <a:solidFill>
                  <a:srgbClr val="000000"/>
                </a:solidFill>
                <a:effectLst/>
                <a:uFillTx/>
                <a:latin typeface="Calibri" panose="020F0502020204030204" pitchFamily="34" charset="0"/>
                <a:ea typeface="DejaVu Sans"/>
                <a:cs typeface="Calibri" panose="020F0502020204030204" pitchFamily="34" charset="0"/>
              </a:rPr>
              <a:t>There are many different data structures, each specialized in efficiently processing one type of data</a:t>
            </a:r>
            <a:r>
              <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rPr>
              <a:t>.</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400" b="0" u="none" strike="noStrike" dirty="0">
                <a:solidFill>
                  <a:srgbClr val="000000"/>
                </a:solidFill>
                <a:effectLst/>
                <a:uFillTx/>
                <a:latin typeface="Calibri" panose="020F0502020204030204" pitchFamily="34" charset="0"/>
                <a:ea typeface="DejaVu Sans"/>
                <a:cs typeface="Calibri" panose="020F0502020204030204" pitchFamily="34" charset="0"/>
              </a:rPr>
              <a:t>Code performance grows differently with data size: Big-O</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400" b="0" u="none" strike="noStrike" dirty="0">
                <a:solidFill>
                  <a:srgbClr val="000000"/>
                </a:solidFill>
                <a:effectLst/>
                <a:uFillTx/>
                <a:latin typeface="Calibri" panose="020F0502020204030204" pitchFamily="34" charset="0"/>
                <a:ea typeface="DejaVu Sans"/>
                <a:cs typeface="Calibri" panose="020F0502020204030204" pitchFamily="34" charset="0"/>
              </a:rPr>
              <a:t>NumPy array efficiently store data in a C-native memory block, interpreted as an array using some metadata</a:t>
            </a:r>
            <a:r>
              <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rPr>
              <a:t>.</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400" b="0" u="none" strike="noStrike" dirty="0">
                <a:solidFill>
                  <a:srgbClr val="000000"/>
                </a:solidFill>
                <a:effectLst/>
                <a:uFillTx/>
                <a:latin typeface="Calibri" panose="020F0502020204030204" pitchFamily="34" charset="0"/>
                <a:ea typeface="DejaVu Sans"/>
                <a:cs typeface="Calibri" panose="020F0502020204030204" pitchFamily="34" charset="0"/>
              </a:rPr>
              <a:t>NumPy operations that only need to change the metadata do so, creating a view of the same memory block. These operations are O(1)!</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400" b="0" u="none" strike="noStrike" dirty="0">
                <a:solidFill>
                  <a:srgbClr val="000000"/>
                </a:solidFill>
                <a:effectLst/>
                <a:uFillTx/>
                <a:latin typeface="Calibri" panose="020F0502020204030204" pitchFamily="34" charset="0"/>
                <a:ea typeface="DejaVu Sans"/>
                <a:cs typeface="Calibri" panose="020F0502020204030204" pitchFamily="34" charset="0"/>
              </a:rPr>
              <a:t>Tabular data can also be vectorized using joins, anti-joins, split-apply-combine operations, and window functions</a:t>
            </a:r>
            <a:r>
              <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rPr>
              <a:t>.</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400" b="0" u="none" strike="noStrike" dirty="0">
                <a:solidFill>
                  <a:srgbClr val="000000"/>
                </a:solidFill>
                <a:effectLst/>
                <a:uFillTx/>
                <a:latin typeface="Calibri" panose="020F0502020204030204" pitchFamily="34" charset="0"/>
                <a:ea typeface="DejaVu Sans"/>
                <a:cs typeface="Calibri" panose="020F0502020204030204" pitchFamily="34" charset="0"/>
              </a:rPr>
              <a:t>For these operations to be efficient and painless, data should be stored in a tidy data format</a:t>
            </a:r>
            <a:r>
              <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rPr>
              <a:t>.</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6" name="PlaceHolder 5"/>
          <p:cNvSpPr>
            <a:spLocks noGrp="1"/>
          </p:cNvSpPr>
          <p:nvPr>
            <p:ph type="sldNum" idx="2"/>
          </p:nvPr>
        </p:nvSpPr>
        <p:spPr/>
        <p:txBody>
          <a:bodyPr/>
          <a:lstStyle/>
          <a:p>
            <a:fld id="{C80F16BE-5422-4E51-B0B6-DDBD6580356E}" type="slidenum">
              <a:rPr>
                <a:latin typeface="Calibri" panose="020F0502020204030204" pitchFamily="34" charset="0"/>
                <a:cs typeface="Calibri" panose="020F0502020204030204" pitchFamily="34" charset="0"/>
              </a:rPr>
              <a:t>52</a:t>
            </a:fld>
            <a:endParaRPr>
              <a:latin typeface="Calibri" panose="020F0502020204030204" pitchFamily="34" charset="0"/>
              <a:cs typeface="Calibri" panose="020F0502020204030204" pitchFamily="34" charset="0"/>
            </a:endParaRPr>
          </a:p>
        </p:txBody>
      </p:sp>
      <p:sp>
        <p:nvSpPr>
          <p:cNvPr id="457" name="PlaceHolder 1"/>
          <p:cNvSpPr>
            <a:spLocks noGrp="1"/>
          </p:cNvSpPr>
          <p:nvPr>
            <p:ph type="title"/>
          </p:nvPr>
        </p:nvSpPr>
        <p:spPr>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Global summary</a:t>
            </a:r>
            <a:endParaRPr lang="en-GB" sz="4400" b="0" u="none" strike="noStrike">
              <a:solidFill>
                <a:srgbClr val="000000"/>
              </a:solidFill>
              <a:effectLst/>
              <a:uFillTx/>
              <a:latin typeface="Calibri" panose="020F0502020204030204" pitchFamily="34" charset="0"/>
              <a:cs typeface="Calibri" panose="020F0502020204030204" pitchFamily="34" charset="0"/>
            </a:endParaRPr>
          </a:p>
        </p:txBody>
      </p:sp>
      <p:sp>
        <p:nvSpPr>
          <p:cNvPr id="2" name="PlaceHolder 1">
            <a:extLst>
              <a:ext uri="{FF2B5EF4-FFF2-40B4-BE49-F238E27FC236}">
                <a16:creationId xmlns:a16="http://schemas.microsoft.com/office/drawing/2014/main" id="{4D4F15EA-191C-8B26-5699-9525939290DA}"/>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3" name="PlaceHolder 2">
            <a:extLst>
              <a:ext uri="{FF2B5EF4-FFF2-40B4-BE49-F238E27FC236}">
                <a16:creationId xmlns:a16="http://schemas.microsoft.com/office/drawing/2014/main" id="{BB9A82D5-290A-5861-73F2-89D697821393}"/>
              </a:ext>
            </a:extLst>
          </p:cNvPr>
          <p:cNvSpPr>
            <a:spLocks noGrp="1"/>
          </p:cNvSpPr>
          <p:nvPr>
            <p:ph type="ftr" idx="1"/>
          </p:nvPr>
        </p:nvSpPr>
        <p:spPr>
          <a:xfrm>
            <a:off x="4038480" y="6356520"/>
            <a:ext cx="4111560" cy="361800"/>
          </a:xfrm>
        </p:spPr>
        <p:txBody>
          <a:bodyPr/>
          <a:lstStyle/>
          <a:p>
            <a:r>
              <a:rPr lang="en-US" dirty="0"/>
              <a:t>Tab, v3.0</a:t>
            </a:r>
            <a:endParaRPr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6" name="PlaceHolder 2"/>
          <p:cNvSpPr>
            <a:spLocks noGrp="1"/>
          </p:cNvSpPr>
          <p:nvPr>
            <p:ph type="body"/>
          </p:nvPr>
        </p:nvSpPr>
        <p:spPr>
          <a:xfrm>
            <a:off x="742483" y="1425633"/>
            <a:ext cx="10972080" cy="4057331"/>
          </a:xfrm>
          <a:prstGeom prst="rect">
            <a:avLst/>
          </a:prstGeom>
          <a:noFill/>
          <a:ln w="0">
            <a:noFill/>
          </a:ln>
        </p:spPr>
        <p:txBody>
          <a:bodyPr lIns="90000" tIns="45000" rIns="90000" bIns="45000" anchor="t">
            <a:noAutofit/>
          </a:bodyPr>
          <a:lstStyle/>
          <a:p>
            <a:pPr marL="228600" indent="-228600">
              <a:lnSpc>
                <a:spcPct val="90000"/>
              </a:lnSpc>
              <a:spcBef>
                <a:spcPts val="1001"/>
              </a:spcBef>
              <a:buClr>
                <a:srgbClr val="000000"/>
              </a:buClr>
              <a:buFont typeface="Arial"/>
              <a:buChar char="•"/>
            </a:pPr>
            <a:r>
              <a:rPr lang="en-CH" sz="2800" b="0" u="none" strike="noStrike" dirty="0">
                <a:solidFill>
                  <a:srgbClr val="000000"/>
                </a:solidFill>
                <a:effectLst/>
                <a:uFillTx/>
                <a:latin typeface="Calibri" panose="020F0502020204030204" pitchFamily="34" charset="0"/>
                <a:ea typeface="DejaVu Sans"/>
                <a:cs typeface="Calibri" panose="020F0502020204030204" pitchFamily="34" charset="0"/>
              </a:rPr>
              <a:t>Recommendations: </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dirty="0">
                <a:solidFill>
                  <a:srgbClr val="000000"/>
                </a:solidFill>
                <a:effectLst/>
                <a:uFillTx/>
                <a:latin typeface="Calibri" panose="020F0502020204030204" pitchFamily="34" charset="0"/>
                <a:ea typeface="DejaVu Sans"/>
                <a:cs typeface="Calibri" panose="020F0502020204030204" pitchFamily="34" charset="0"/>
              </a:rPr>
              <a:t>NEVER overwite a data file. Treat data files as immutable</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dirty="0">
                <a:solidFill>
                  <a:srgbClr val="000000"/>
                </a:solidFill>
                <a:effectLst/>
                <a:uFillTx/>
                <a:latin typeface="Calibri" panose="020F0502020204030204" pitchFamily="34" charset="0"/>
                <a:ea typeface="DejaVu Sans"/>
                <a:cs typeface="Calibri" panose="020F0502020204030204" pitchFamily="34" charset="0"/>
              </a:rPr>
              <a:t>Use versioning for changes in the data file, and load the latest version for new analyses, old versions to reproduce previous results</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dirty="0">
                <a:solidFill>
                  <a:srgbClr val="000000"/>
                </a:solidFill>
                <a:effectLst/>
                <a:uFillTx/>
                <a:latin typeface="Calibri" panose="020F0502020204030204" pitchFamily="34" charset="0"/>
                <a:ea typeface="DejaVu Sans"/>
                <a:cs typeface="Calibri" panose="020F0502020204030204" pitchFamily="34" charset="0"/>
              </a:rPr>
              <a:t>(pond is a library </a:t>
            </a:r>
            <a:r>
              <a:rPr lang="en-US" sz="2400" dirty="0">
                <a:solidFill>
                  <a:srgbClr val="000000"/>
                </a:solidFill>
                <a:latin typeface="Calibri" panose="020F0502020204030204" pitchFamily="34" charset="0"/>
                <a:ea typeface="DejaVu Sans"/>
                <a:cs typeface="Calibri" panose="020F0502020204030204" pitchFamily="34" charset="0"/>
              </a:rPr>
              <a:t>Pietro is </a:t>
            </a:r>
            <a:r>
              <a:rPr lang="en-CH" sz="2400" b="0" u="none" strike="noStrike" dirty="0">
                <a:solidFill>
                  <a:srgbClr val="000000"/>
                </a:solidFill>
                <a:effectLst/>
                <a:uFillTx/>
                <a:latin typeface="Calibri" panose="020F0502020204030204" pitchFamily="34" charset="0"/>
                <a:ea typeface="DejaVu Sans"/>
                <a:cs typeface="Calibri" panose="020F0502020204030204" pitchFamily="34" charset="0"/>
              </a:rPr>
              <a:t>working on to automatize this process)</a:t>
            </a:r>
            <a:endParaRPr lang="en-US" sz="2400" b="0" u="none" strike="noStrike" dirty="0">
              <a:solidFill>
                <a:srgbClr val="000000"/>
              </a:solidFill>
              <a:effectLst/>
              <a:uFillTx/>
              <a:latin typeface="Calibri" panose="020F0502020204030204" pitchFamily="34" charset="0"/>
              <a:ea typeface="DejaVu Sans"/>
              <a:cs typeface="Calibri" panose="020F0502020204030204" pitchFamily="34" charset="0"/>
            </a:endParaRPr>
          </a:p>
          <a:p>
            <a:pPr marL="457200" lvl="1">
              <a:lnSpc>
                <a:spcPct val="90000"/>
              </a:lnSpc>
              <a:spcBef>
                <a:spcPts val="499"/>
              </a:spcBef>
              <a:buClr>
                <a:srgbClr val="000000"/>
              </a:buClr>
            </a:pP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228600" indent="-228600">
              <a:lnSpc>
                <a:spcPct val="90000"/>
              </a:lnSpc>
              <a:spcBef>
                <a:spcPts val="1001"/>
              </a:spcBef>
              <a:buClr>
                <a:srgbClr val="000000"/>
              </a:buClr>
              <a:buFont typeface="Arial"/>
              <a:buChar char="•"/>
            </a:pPr>
            <a:r>
              <a:rPr lang="en-CH" sz="2800" b="0" u="none" strike="noStrike" dirty="0">
                <a:solidFill>
                  <a:srgbClr val="000000"/>
                </a:solidFill>
                <a:effectLst/>
                <a:uFillTx/>
                <a:latin typeface="Calibri" panose="020F0502020204030204" pitchFamily="34" charset="0"/>
                <a:ea typeface="DejaVu Sans"/>
                <a:cs typeface="Calibri" panose="020F0502020204030204" pitchFamily="34" charset="0"/>
              </a:rPr>
              <a:t>Like in computer code:</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dirty="0">
                <a:solidFill>
                  <a:srgbClr val="000000"/>
                </a:solidFill>
                <a:effectLst/>
                <a:uFillTx/>
                <a:latin typeface="Calibri" panose="020F0502020204030204" pitchFamily="34" charset="0"/>
                <a:ea typeface="DejaVu Sans"/>
                <a:cs typeface="Calibri" panose="020F0502020204030204" pitchFamily="34" charset="0"/>
              </a:rPr>
              <a:t>Adding new columns / rows is generally ok</a:t>
            </a:r>
            <a:r>
              <a:rPr lang="en-US" sz="2400" b="0" u="none" strike="noStrike" dirty="0" err="1">
                <a:solidFill>
                  <a:srgbClr val="000000"/>
                </a:solidFill>
                <a:effectLst/>
                <a:uFillTx/>
                <a:latin typeface="Calibri" panose="020F0502020204030204" pitchFamily="34" charset="0"/>
                <a:ea typeface="DejaVu Sans"/>
                <a:cs typeface="Calibri" panose="020F0502020204030204" pitchFamily="34" charset="0"/>
              </a:rPr>
              <a:t>ey</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a:p>
            <a:pPr marL="685800" lvl="1" indent="-228600">
              <a:lnSpc>
                <a:spcPct val="90000"/>
              </a:lnSpc>
              <a:spcBef>
                <a:spcPts val="499"/>
              </a:spcBef>
              <a:buClr>
                <a:srgbClr val="000000"/>
              </a:buClr>
              <a:buFont typeface="Arial"/>
              <a:buChar char="•"/>
            </a:pPr>
            <a:r>
              <a:rPr lang="en-CH" sz="2400" b="0" u="none" strike="noStrike" dirty="0">
                <a:solidFill>
                  <a:srgbClr val="000000"/>
                </a:solidFill>
                <a:effectLst/>
                <a:uFillTx/>
                <a:latin typeface="Calibri" panose="020F0502020204030204" pitchFamily="34" charset="0"/>
                <a:ea typeface="DejaVu Sans"/>
                <a:cs typeface="Calibri" panose="020F0502020204030204" pitchFamily="34" charset="0"/>
              </a:rPr>
              <a:t>Deleting/changing a column is not! Code will break! Add a new column instead</a:t>
            </a:r>
            <a:endParaRPr lang="en-GB" sz="2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6" name="PlaceHolder 5"/>
          <p:cNvSpPr>
            <a:spLocks noGrp="1"/>
          </p:cNvSpPr>
          <p:nvPr>
            <p:ph type="sldNum" idx="2"/>
          </p:nvPr>
        </p:nvSpPr>
        <p:spPr/>
        <p:txBody>
          <a:bodyPr/>
          <a:lstStyle/>
          <a:p>
            <a:fld id="{4568EEAE-1295-49F4-B8C7-D6F1231F01B9}" type="slidenum">
              <a:rPr>
                <a:latin typeface="Calibri" panose="020F0502020204030204" pitchFamily="34" charset="0"/>
                <a:cs typeface="Calibri" panose="020F0502020204030204" pitchFamily="34" charset="0"/>
              </a:rPr>
              <a:t>53</a:t>
            </a:fld>
            <a:endParaRPr dirty="0">
              <a:latin typeface="Calibri" panose="020F0502020204030204" pitchFamily="34" charset="0"/>
              <a:cs typeface="Calibri" panose="020F0502020204030204" pitchFamily="34" charset="0"/>
            </a:endParaRPr>
          </a:p>
        </p:txBody>
      </p:sp>
      <p:sp>
        <p:nvSpPr>
          <p:cNvPr id="655" name="PlaceHolder 1"/>
          <p:cNvSpPr>
            <a:spLocks noGrp="1"/>
          </p:cNvSpPr>
          <p:nvPr>
            <p:ph type="title"/>
          </p:nvPr>
        </p:nvSpPr>
        <p:spPr>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panose="020F0502020204030204" pitchFamily="34" charset="0"/>
                <a:ea typeface="DejaVu Sans"/>
                <a:cs typeface="Calibri" panose="020F0502020204030204" pitchFamily="34" charset="0"/>
              </a:rPr>
              <a:t>Dealing with changes in the data</a:t>
            </a:r>
            <a:endParaRPr lang="en-GB" sz="44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3" name="PlaceHolder 1">
            <a:extLst>
              <a:ext uri="{FF2B5EF4-FFF2-40B4-BE49-F238E27FC236}">
                <a16:creationId xmlns:a16="http://schemas.microsoft.com/office/drawing/2014/main" id="{13F8F20E-E201-F963-BBAA-22CF57C26CE6}"/>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2" name="PlaceHolder 2">
            <a:extLst>
              <a:ext uri="{FF2B5EF4-FFF2-40B4-BE49-F238E27FC236}">
                <a16:creationId xmlns:a16="http://schemas.microsoft.com/office/drawing/2014/main" id="{CCB2EC2B-8721-C37E-327E-FF8238E70556}"/>
              </a:ext>
            </a:extLst>
          </p:cNvPr>
          <p:cNvSpPr>
            <a:spLocks noGrp="1"/>
          </p:cNvSpPr>
          <p:nvPr>
            <p:ph type="ftr" idx="1"/>
          </p:nvPr>
        </p:nvSpPr>
        <p:spPr>
          <a:xfrm>
            <a:off x="4038480" y="6356520"/>
            <a:ext cx="4111560" cy="361800"/>
          </a:xfrm>
        </p:spPr>
        <p:txBody>
          <a:bodyPr/>
          <a:lstStyle/>
          <a:p>
            <a:r>
              <a:rPr lang="en-US" dirty="0"/>
              <a:t>Tab, v3.0</a:t>
            </a:r>
            <a:endParaRPr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8" name="Picture 35" descr="Image"/>
          <p:cNvPicPr/>
          <p:nvPr/>
        </p:nvPicPr>
        <p:blipFill>
          <a:blip r:embed="rId2"/>
          <a:stretch/>
        </p:blipFill>
        <p:spPr>
          <a:xfrm>
            <a:off x="6672240" y="994320"/>
            <a:ext cx="4865760" cy="4865760"/>
          </a:xfrm>
          <a:prstGeom prst="rect">
            <a:avLst/>
          </a:prstGeom>
          <a:noFill/>
          <a:ln w="0">
            <a:noFill/>
          </a:ln>
        </p:spPr>
      </p:pic>
      <p:sp>
        <p:nvSpPr>
          <p:cNvPr id="466" name="PlaceHolder 1"/>
          <p:cNvSpPr>
            <a:spLocks noGrp="1"/>
          </p:cNvSpPr>
          <p:nvPr>
            <p:ph type="title"/>
          </p:nvPr>
        </p:nvSpPr>
        <p:spPr>
          <a:prstGeom prst="rect">
            <a:avLst/>
          </a:prstGeom>
          <a:noFill/>
          <a:ln w="0">
            <a:noFill/>
          </a:ln>
        </p:spPr>
        <p:txBody>
          <a:bodyPr lIns="0" tIns="0" rIns="0" bIns="0" anchor="ctr">
            <a:normAutofit/>
          </a:bodyPr>
          <a:lstStyle/>
          <a:p>
            <a:pPr indent="0" algn="ctr">
              <a:lnSpc>
                <a:spcPct val="90000"/>
              </a:lnSpc>
              <a:buNone/>
              <a:tabLst>
                <a:tab pos="0" algn="l"/>
              </a:tabLst>
            </a:pPr>
            <a:r>
              <a:rPr lang="en-CH" sz="7200" b="0" u="none" strike="noStrike">
                <a:solidFill>
                  <a:srgbClr val="000000"/>
                </a:solidFill>
                <a:effectLst/>
                <a:uFillTx/>
                <a:latin typeface="Calibri Light"/>
                <a:ea typeface="DejaVu Sans"/>
              </a:rPr>
              <a:t>Thank you!</a:t>
            </a:r>
            <a:endParaRPr lang="en-GB" sz="7200" b="0" u="none" strike="noStrike">
              <a:solidFill>
                <a:srgbClr val="000000"/>
              </a:solidFill>
              <a:effectLst/>
              <a:uFillTx/>
              <a:latin typeface="Arial"/>
            </a:endParaRPr>
          </a:p>
        </p:txBody>
      </p:sp>
      <p:sp>
        <p:nvSpPr>
          <p:cNvPr id="2" name="PlaceHolder 1">
            <a:extLst>
              <a:ext uri="{FF2B5EF4-FFF2-40B4-BE49-F238E27FC236}">
                <a16:creationId xmlns:a16="http://schemas.microsoft.com/office/drawing/2014/main" id="{29A8FE9F-01B2-4EA0-7964-0431157BC0DC}"/>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5" name="PlaceHolder 5">
            <a:extLst>
              <a:ext uri="{FF2B5EF4-FFF2-40B4-BE49-F238E27FC236}">
                <a16:creationId xmlns:a16="http://schemas.microsoft.com/office/drawing/2014/main" id="{033E12F2-EAEB-9D0F-D366-4CA7F70020F5}"/>
              </a:ext>
            </a:extLst>
          </p:cNvPr>
          <p:cNvSpPr>
            <a:spLocks noGrp="1"/>
          </p:cNvSpPr>
          <p:nvPr>
            <p:ph type="sldNum" idx="2"/>
          </p:nvPr>
        </p:nvSpPr>
        <p:spPr>
          <a:xfrm>
            <a:off x="8610480" y="6356520"/>
            <a:ext cx="2739960" cy="361800"/>
          </a:xfrm>
        </p:spPr>
        <p:txBody>
          <a:bodyPr/>
          <a:lstStyle/>
          <a:p>
            <a:fld id="{C80F16BE-5422-4E51-B0B6-DDBD6580356E}" type="slidenum">
              <a:rPr>
                <a:latin typeface="Calibri" panose="020F0502020204030204" pitchFamily="34" charset="0"/>
                <a:cs typeface="Calibri" panose="020F0502020204030204" pitchFamily="34" charset="0"/>
              </a:rPr>
              <a:t>54</a:t>
            </a:fld>
            <a:endParaRPr>
              <a:latin typeface="Calibri" panose="020F0502020204030204" pitchFamily="34" charset="0"/>
              <a:cs typeface="Calibri" panose="020F0502020204030204" pitchFamily="34" charset="0"/>
            </a:endParaRPr>
          </a:p>
        </p:txBody>
      </p:sp>
      <p:sp>
        <p:nvSpPr>
          <p:cNvPr id="6" name="PlaceHolder 2">
            <a:extLst>
              <a:ext uri="{FF2B5EF4-FFF2-40B4-BE49-F238E27FC236}">
                <a16:creationId xmlns:a16="http://schemas.microsoft.com/office/drawing/2014/main" id="{02FF4B52-EF81-4085-0BF8-6E838EC4BD6E}"/>
              </a:ext>
            </a:extLst>
          </p:cNvPr>
          <p:cNvSpPr>
            <a:spLocks noGrp="1"/>
          </p:cNvSpPr>
          <p:nvPr>
            <p:ph type="ftr" idx="1"/>
          </p:nvPr>
        </p:nvSpPr>
        <p:spPr>
          <a:xfrm>
            <a:off x="4038480" y="6356520"/>
            <a:ext cx="4111560" cy="361800"/>
          </a:xfrm>
        </p:spPr>
        <p:txBody>
          <a:bodyPr/>
          <a:lstStyle/>
          <a:p>
            <a:r>
              <a:rPr lang="en-US" dirty="0"/>
              <a:t>Tab, v3.0</a:t>
            </a:r>
            <a:endParaRPr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8D5C631-5C6D-B439-5778-422DB933D8AA}"/>
              </a:ext>
            </a:extLst>
          </p:cNvPr>
          <p:cNvSpPr>
            <a:spLocks noGrp="1"/>
          </p:cNvSpPr>
          <p:nvPr>
            <p:ph type="title"/>
          </p:nvPr>
        </p:nvSpPr>
        <p:spPr/>
        <p:txBody>
          <a:bodyPr/>
          <a:lstStyle/>
          <a:p>
            <a:endParaRPr lang="en-US"/>
          </a:p>
        </p:txBody>
      </p:sp>
      <p:sp>
        <p:nvSpPr>
          <p:cNvPr id="5" name="Text Placeholder 4">
            <a:extLst>
              <a:ext uri="{FF2B5EF4-FFF2-40B4-BE49-F238E27FC236}">
                <a16:creationId xmlns:a16="http://schemas.microsoft.com/office/drawing/2014/main" id="{0FE26974-70BB-2D74-D562-62EBF36D7CE4}"/>
              </a:ext>
            </a:extLst>
          </p:cNvPr>
          <p:cNvSpPr>
            <a:spLocks noGrp="1"/>
          </p:cNvSpPr>
          <p:nvPr>
            <p:ph type="body"/>
          </p:nvPr>
        </p:nvSpPr>
        <p:spPr/>
        <p:txBody>
          <a:bodyPr/>
          <a:lstStyle/>
          <a:p>
            <a:endParaRPr lang="en-US"/>
          </a:p>
        </p:txBody>
      </p:sp>
    </p:spTree>
    <p:extLst>
      <p:ext uri="{BB962C8B-B14F-4D97-AF65-F5344CB8AC3E}">
        <p14:creationId xmlns:p14="http://schemas.microsoft.com/office/powerpoint/2010/main" val="391228870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0" name="PlaceHolder 1"/>
          <p:cNvSpPr>
            <a:spLocks noGrp="1"/>
          </p:cNvSpPr>
          <p:nvPr>
            <p:ph type="title"/>
          </p:nvPr>
        </p:nvSpPr>
        <p:spPr>
          <a:prstGeom prst="rect">
            <a:avLst/>
          </a:prstGeom>
          <a:noFill/>
          <a:ln w="0">
            <a:noFill/>
          </a:ln>
        </p:spPr>
        <p:txBody>
          <a:bodyPr lIns="0" tIns="0" rIns="0" bIns="0" anchor="ctr">
            <a:normAutofit/>
          </a:bodyPr>
          <a:lstStyle/>
          <a:p>
            <a:pPr indent="0" algn="ctr">
              <a:lnSpc>
                <a:spcPct val="90000"/>
              </a:lnSpc>
              <a:buNone/>
              <a:tabLst>
                <a:tab pos="0" algn="l"/>
              </a:tabLst>
            </a:pPr>
            <a:r>
              <a:rPr lang="en-CH" sz="5400" b="0" u="none" strike="noStrike">
                <a:solidFill>
                  <a:srgbClr val="000000"/>
                </a:solidFill>
                <a:effectLst/>
                <a:uFillTx/>
                <a:latin typeface="Calibri Light"/>
                <a:ea typeface="DejaVu Sans"/>
              </a:rPr>
              <a:t>OLD SLIDES FROM HERE ONWARDS</a:t>
            </a:r>
            <a:endParaRPr lang="en-GB" sz="5400" b="0" u="none" strike="noStrike">
              <a:solidFill>
                <a:srgbClr val="000000"/>
              </a:solidFill>
              <a:effectLst/>
              <a:uFillTx/>
              <a:latin typeface="Arial"/>
            </a:endParaRPr>
          </a:p>
        </p:txBody>
      </p:sp>
      <p:sp>
        <p:nvSpPr>
          <p:cNvPr id="4" name="PlaceHolder 3"/>
          <p:cNvSpPr>
            <a:spLocks noGrp="1"/>
          </p:cNvSpPr>
          <p:nvPr>
            <p:ph type="ftr" idx="1"/>
          </p:nvPr>
        </p:nvSpPr>
        <p:spPr>
          <a:prstGeom prst="rect">
            <a:avLst/>
          </a:prstGeom>
        </p:spPr>
        <p:txBody>
          <a:bodyPr/>
          <a:lstStyle/>
          <a:p>
            <a:r>
              <a:t>Data, v1.0</a:t>
            </a:r>
          </a:p>
        </p:txBody>
      </p:sp>
      <p:sp>
        <p:nvSpPr>
          <p:cNvPr id="5" name="PlaceHolder 4"/>
          <p:cNvSpPr>
            <a:spLocks noGrp="1"/>
          </p:cNvSpPr>
          <p:nvPr>
            <p:ph type="sldNum" idx="2"/>
          </p:nvPr>
        </p:nvSpPr>
        <p:spPr>
          <a:prstGeom prst="rect">
            <a:avLst/>
          </a:prstGeom>
        </p:spPr>
        <p:txBody>
          <a:bodyPr/>
          <a:lstStyle/>
          <a:p>
            <a:fld id="{FE33B6AA-F469-459E-B22D-C649D3E2E9EA}" type="slidenum">
              <a:rPr/>
              <a:t>56</a:t>
            </a:fld>
            <a:endParaRPr/>
          </a:p>
        </p:txBody>
      </p:sp>
      <p:sp>
        <p:nvSpPr>
          <p:cNvPr id="471" name="PlaceHolder 2"/>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2" name="Text Placeholder 1">
            <a:extLst>
              <a:ext uri="{FF2B5EF4-FFF2-40B4-BE49-F238E27FC236}">
                <a16:creationId xmlns:a16="http://schemas.microsoft.com/office/drawing/2014/main" id="{2EA2E560-A0D2-0838-1B64-D7143030DB79}"/>
              </a:ext>
            </a:extLst>
          </p:cNvPr>
          <p:cNvSpPr>
            <a:spLocks noGrp="1"/>
          </p:cNvSpPr>
          <p:nvPr>
            <p:ph type="body"/>
          </p:nvPr>
        </p:nvSpPr>
        <p:spPr/>
        <p:txBody>
          <a:bodyPr/>
          <a:lstStyle/>
          <a:p>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74" name="PlaceHolder 1"/>
          <p:cNvSpPr>
            <a:spLocks noGrp="1"/>
          </p:cNvSpPr>
          <p:nvPr>
            <p:ph type="title"/>
          </p:nvPr>
        </p:nvSpPr>
        <p:spPr>
          <a:prstGeom prst="rect">
            <a:avLst/>
          </a:prstGeom>
          <a:noFill/>
          <a:ln w="0">
            <a:noFill/>
          </a:ln>
        </p:spPr>
        <p:txBody>
          <a:bodyPr lIns="0" tIns="0" rIns="0" bIns="0" anchor="ctr">
            <a:noAutofit/>
          </a:bodyPr>
          <a:lstStyle/>
          <a:p>
            <a:pPr indent="0">
              <a:lnSpc>
                <a:spcPct val="90000"/>
              </a:lnSpc>
              <a:buNone/>
              <a:tabLst>
                <a:tab pos="0" algn="l"/>
              </a:tabLst>
            </a:pPr>
            <a:r>
              <a:rPr lang="en-CH" sz="3600" b="0" u="none" strike="noStrike">
                <a:solidFill>
                  <a:srgbClr val="000000"/>
                </a:solidFill>
                <a:effectLst/>
                <a:uFillTx/>
                <a:latin typeface="Calibri" panose="020F0502020204030204" pitchFamily="34" charset="0"/>
                <a:ea typeface="DejaVu Sans"/>
                <a:cs typeface="Calibri" panose="020F0502020204030204" pitchFamily="34" charset="0"/>
              </a:rPr>
              <a:t>Join operations: combining informations from multiple tables</a:t>
            </a:r>
            <a:endParaRPr lang="en-GB" sz="3600" b="0" u="none" strike="noStrike" dirty="0">
              <a:solidFill>
                <a:srgbClr val="000000"/>
              </a:solidFill>
              <a:effectLst/>
              <a:uFillTx/>
              <a:latin typeface="Calibri" panose="020F0502020204030204" pitchFamily="34" charset="0"/>
              <a:cs typeface="Calibri" panose="020F0502020204030204" pitchFamily="34" charset="0"/>
            </a:endParaRPr>
          </a:p>
        </p:txBody>
      </p:sp>
      <p:pic>
        <p:nvPicPr>
          <p:cNvPr id="476" name="Picture 5"/>
          <p:cNvPicPr/>
          <p:nvPr/>
        </p:nvPicPr>
        <p:blipFill>
          <a:blip r:embed="rId2"/>
          <a:srcRect r="47418"/>
          <a:stretch/>
        </p:blipFill>
        <p:spPr>
          <a:xfrm>
            <a:off x="2209680" y="1718950"/>
            <a:ext cx="2944440" cy="2062145"/>
          </a:xfrm>
          <a:prstGeom prst="rect">
            <a:avLst/>
          </a:prstGeom>
          <a:noFill/>
          <a:ln w="0">
            <a:noFill/>
          </a:ln>
        </p:spPr>
      </p:pic>
      <p:pic>
        <p:nvPicPr>
          <p:cNvPr id="477" name="Picture 25"/>
          <p:cNvPicPr/>
          <p:nvPr/>
        </p:nvPicPr>
        <p:blipFill>
          <a:blip r:embed="rId2"/>
          <a:stretch/>
        </p:blipFill>
        <p:spPr>
          <a:xfrm>
            <a:off x="3407400" y="4484944"/>
            <a:ext cx="5373720" cy="1978036"/>
          </a:xfrm>
          <a:prstGeom prst="rect">
            <a:avLst/>
          </a:prstGeom>
          <a:noFill/>
          <a:ln w="0">
            <a:noFill/>
          </a:ln>
        </p:spPr>
      </p:pic>
      <p:sp>
        <p:nvSpPr>
          <p:cNvPr id="478" name="TextBox 3"/>
          <p:cNvSpPr/>
          <p:nvPr/>
        </p:nvSpPr>
        <p:spPr>
          <a:xfrm>
            <a:off x="5627880" y="2295064"/>
            <a:ext cx="932760" cy="91243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a:lnSpc>
                <a:spcPct val="100000"/>
              </a:lnSpc>
            </a:pPr>
            <a:r>
              <a:rPr lang="en-CH" sz="6000" b="0" u="none" strike="noStrike">
                <a:solidFill>
                  <a:srgbClr val="000000"/>
                </a:solidFill>
                <a:effectLst/>
                <a:uFillTx/>
                <a:latin typeface="Calibri"/>
                <a:ea typeface="DejaVu Sans"/>
              </a:rPr>
              <a:t>+</a:t>
            </a:r>
            <a:endParaRPr lang="en-GB" sz="6000" b="0" u="none" strike="noStrike">
              <a:solidFill>
                <a:srgbClr val="000000"/>
              </a:solidFill>
              <a:effectLst/>
              <a:uFillTx/>
              <a:latin typeface="Arial"/>
            </a:endParaRPr>
          </a:p>
        </p:txBody>
      </p:sp>
      <p:sp>
        <p:nvSpPr>
          <p:cNvPr id="479" name="TextBox 4"/>
          <p:cNvSpPr/>
          <p:nvPr/>
        </p:nvSpPr>
        <p:spPr>
          <a:xfrm>
            <a:off x="2135520" y="5018824"/>
            <a:ext cx="932760" cy="91243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a:lnSpc>
                <a:spcPct val="100000"/>
              </a:lnSpc>
            </a:pPr>
            <a:r>
              <a:rPr lang="en-CH" sz="6000" b="0" u="none" strike="noStrike">
                <a:solidFill>
                  <a:srgbClr val="000000"/>
                </a:solidFill>
                <a:effectLst/>
                <a:uFillTx/>
                <a:latin typeface="Calibri"/>
                <a:ea typeface="DejaVu Sans"/>
              </a:rPr>
              <a:t>=</a:t>
            </a:r>
            <a:endParaRPr lang="en-GB" sz="6000" b="0" u="none" strike="noStrike">
              <a:solidFill>
                <a:srgbClr val="000000"/>
              </a:solidFill>
              <a:effectLst/>
              <a:uFillTx/>
              <a:latin typeface="Arial"/>
            </a:endParaRPr>
          </a:p>
        </p:txBody>
      </p:sp>
      <p:pic>
        <p:nvPicPr>
          <p:cNvPr id="480" name="Picture 27"/>
          <p:cNvPicPr/>
          <p:nvPr/>
        </p:nvPicPr>
        <p:blipFill>
          <a:blip r:embed="rId3"/>
          <a:stretch/>
        </p:blipFill>
        <p:spPr>
          <a:xfrm>
            <a:off x="7005240" y="2027224"/>
            <a:ext cx="3333240" cy="1445236"/>
          </a:xfrm>
          <a:prstGeom prst="rect">
            <a:avLst/>
          </a:prstGeom>
          <a:noFill/>
          <a:ln w="0">
            <a:noFill/>
          </a:ln>
        </p:spPr>
      </p:pic>
      <p:sp>
        <p:nvSpPr>
          <p:cNvPr id="2" name="PlaceHolder 1">
            <a:extLst>
              <a:ext uri="{FF2B5EF4-FFF2-40B4-BE49-F238E27FC236}">
                <a16:creationId xmlns:a16="http://schemas.microsoft.com/office/drawing/2014/main" id="{BE3D5881-8732-C11E-B435-936D04673CC4}"/>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4" name="PlaceHolder 2">
            <a:extLst>
              <a:ext uri="{FF2B5EF4-FFF2-40B4-BE49-F238E27FC236}">
                <a16:creationId xmlns:a16="http://schemas.microsoft.com/office/drawing/2014/main" id="{C937BB1F-61DC-E112-364B-C09FF5DAD1E4}"/>
              </a:ext>
            </a:extLst>
          </p:cNvPr>
          <p:cNvSpPr>
            <a:spLocks noGrp="1"/>
          </p:cNvSpPr>
          <p:nvPr>
            <p:ph type="ftr" idx="1"/>
          </p:nvPr>
        </p:nvSpPr>
        <p:spPr>
          <a:xfrm>
            <a:off x="4038480" y="6356520"/>
            <a:ext cx="4111560" cy="361800"/>
          </a:xfrm>
        </p:spPr>
        <p:txBody>
          <a:bodyPr/>
          <a:lstStyle/>
          <a:p>
            <a:r>
              <a:rPr lang="en-US" dirty="0"/>
              <a:t>Tab, v3.0</a:t>
            </a:r>
            <a:endParaRPr dirty="0"/>
          </a:p>
        </p:txBody>
      </p:sp>
      <p:sp>
        <p:nvSpPr>
          <p:cNvPr id="7" name="PlaceHolder 5">
            <a:extLst>
              <a:ext uri="{FF2B5EF4-FFF2-40B4-BE49-F238E27FC236}">
                <a16:creationId xmlns:a16="http://schemas.microsoft.com/office/drawing/2014/main" id="{F4E6E729-77FF-15FC-744B-7BA58B91B730}"/>
              </a:ext>
            </a:extLst>
          </p:cNvPr>
          <p:cNvSpPr>
            <a:spLocks noGrp="1"/>
          </p:cNvSpPr>
          <p:nvPr>
            <p:ph type="sldNum" idx="2"/>
          </p:nvPr>
        </p:nvSpPr>
        <p:spPr>
          <a:xfrm>
            <a:off x="8610480" y="6356520"/>
            <a:ext cx="2739960" cy="361800"/>
          </a:xfrm>
        </p:spPr>
        <p:txBody>
          <a:bodyPr/>
          <a:lstStyle/>
          <a:p>
            <a:fld id="{E2CF6877-FF63-44A7-AB15-0859B560B298}" type="slidenum">
              <a:rPr/>
              <a:t>57</a:t>
            </a:fld>
            <a:endParaRPr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1" name="PlaceHolder 2"/>
          <p:cNvSpPr>
            <a:spLocks noGrp="1"/>
          </p:cNvSpPr>
          <p:nvPr>
            <p:ph type="body"/>
          </p:nvPr>
        </p:nvSpPr>
        <p:spPr>
          <a:prstGeom prst="rect">
            <a:avLst/>
          </a:prstGeom>
          <a:noFill/>
          <a:ln w="0">
            <a:noFill/>
          </a:ln>
        </p:spPr>
        <p:txBody>
          <a:bodyPr lIns="90000" tIns="45000" rIns="90000" bIns="45000" anchor="t">
            <a:noAutofit/>
          </a:bodyPr>
          <a:lstStyle/>
          <a:p>
            <a:pPr marL="228600" indent="0">
              <a:lnSpc>
                <a:spcPct val="90000"/>
              </a:lnSpc>
              <a:spcBef>
                <a:spcPts val="1001"/>
              </a:spcBef>
              <a:buNone/>
              <a:tabLst>
                <a:tab pos="0" algn="l"/>
              </a:tabLst>
            </a:pPr>
            <a:r>
              <a:rPr lang="en-CH" sz="2800" b="0" u="none" strike="noStrike">
                <a:solidFill>
                  <a:srgbClr val="000000"/>
                </a:solidFill>
                <a:effectLst/>
                <a:uFillTx/>
                <a:latin typeface="Calibri"/>
                <a:ea typeface="DejaVu Sans"/>
              </a:rPr>
              <a:t>Pivoting – we know this one</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t>Data, v1.0</a:t>
            </a:r>
          </a:p>
        </p:txBody>
      </p:sp>
      <p:sp>
        <p:nvSpPr>
          <p:cNvPr id="6" name="PlaceHolder 5"/>
          <p:cNvSpPr>
            <a:spLocks noGrp="1"/>
          </p:cNvSpPr>
          <p:nvPr>
            <p:ph type="sldNum" idx="2"/>
          </p:nvPr>
        </p:nvSpPr>
        <p:spPr/>
        <p:txBody>
          <a:bodyPr/>
          <a:lstStyle/>
          <a:p>
            <a:fld id="{82833EB6-854D-4E97-B974-3383025AE555}" type="slidenum">
              <a:rPr/>
              <a:t>58</a:t>
            </a:fld>
            <a:endParaRPr/>
          </a:p>
        </p:txBody>
      </p:sp>
      <p:sp>
        <p:nvSpPr>
          <p:cNvPr id="412" name="PlaceHolder 3"/>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410" name="PlaceHolder 1"/>
          <p:cNvSpPr>
            <a:spLocks noGrp="1"/>
          </p:cNvSpPr>
          <p:nvPr>
            <p:ph type="title"/>
          </p:nvPr>
        </p:nvSpPr>
        <p:spPr>
          <a:prstGeom prst="rect">
            <a:avLst/>
          </a:prstGeom>
          <a:noFill/>
          <a:ln w="0">
            <a:noFill/>
          </a:ln>
        </p:spPr>
        <p:txBody>
          <a:bodyPr lIns="90000" tIns="45000" rIns="90000" bIns="45000" anchor="ctr">
            <a:normAutofit fontScale="92500"/>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The life-changing magic of tidying up data</a:t>
            </a:r>
            <a:endParaRPr lang="en-GB" sz="4400" b="0" u="none" strike="noStrike">
              <a:solidFill>
                <a:srgbClr val="000000"/>
              </a:solidFill>
              <a:effectLst/>
              <a:uFillTx/>
              <a:latin typeface="Arial"/>
            </a:endParaRPr>
          </a:p>
        </p:txBody>
      </p:sp>
      <p:pic>
        <p:nvPicPr>
          <p:cNvPr id="413" name="Picture 6" descr="Image"/>
          <p:cNvPicPr/>
          <p:nvPr/>
        </p:nvPicPr>
        <p:blipFill>
          <a:blip r:embed="rId2"/>
          <a:srcRect l="13464" r="8349"/>
          <a:stretch/>
        </p:blipFill>
        <p:spPr>
          <a:xfrm>
            <a:off x="9264240" y="588240"/>
            <a:ext cx="2718720" cy="3477960"/>
          </a:xfrm>
          <a:prstGeom prst="rect">
            <a:avLst/>
          </a:prstGeom>
          <a:noFill/>
          <a:ln w="0">
            <a:noFill/>
          </a:ln>
        </p:spPr>
      </p:pic>
      <p:sp>
        <p:nvSpPr>
          <p:cNvPr id="414" name="TextBox 7"/>
          <p:cNvSpPr/>
          <p:nvPr/>
        </p:nvSpPr>
        <p:spPr>
          <a:xfrm>
            <a:off x="3180600" y="5094360"/>
            <a:ext cx="6261480" cy="1186920"/>
          </a:xfrm>
          <a:prstGeom prst="rect">
            <a:avLst/>
          </a:prstGeom>
          <a:solidFill>
            <a:schemeClr val="accent6">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800" b="0" u="none" strike="noStrike">
                <a:solidFill>
                  <a:srgbClr val="000000"/>
                </a:solidFill>
                <a:effectLst/>
                <a:uFillTx/>
                <a:latin typeface="Consolas"/>
                <a:ea typeface="DejaVu Sans"/>
              </a:rPr>
              <a:t>df.pivot_table(</a:t>
            </a:r>
            <a:br>
              <a:rPr sz="1800"/>
            </a:br>
            <a:r>
              <a:rPr lang="en-US" sz="1800" b="0" u="none" strike="noStrike">
                <a:solidFill>
                  <a:srgbClr val="000000"/>
                </a:solidFill>
                <a:effectLst/>
                <a:uFillTx/>
                <a:latin typeface="Consolas"/>
                <a:ea typeface="DejaVu Sans"/>
              </a:rPr>
              <a:t>	index=['city', 'date'], columns='type’, </a:t>
            </a:r>
            <a:br>
              <a:rPr sz="1800"/>
            </a:br>
            <a:r>
              <a:rPr lang="en-US" sz="1800" b="0" u="none" strike="noStrike">
                <a:solidFill>
                  <a:srgbClr val="000000"/>
                </a:solidFill>
                <a:effectLst/>
                <a:uFillTx/>
                <a:latin typeface="Consolas"/>
                <a:ea typeface="DejaVu Sans"/>
              </a:rPr>
              <a:t>	values='temperature', aggfunc='max’,</a:t>
            </a:r>
            <a:endParaRPr lang="en-GB" sz="1800" b="0" u="none" strike="noStrike">
              <a:solidFill>
                <a:srgbClr val="000000"/>
              </a:solidFill>
              <a:effectLst/>
              <a:uFillTx/>
              <a:latin typeface="Arial"/>
            </a:endParaRPr>
          </a:p>
          <a:p>
            <a:pPr>
              <a:lnSpc>
                <a:spcPct val="100000"/>
              </a:lnSpc>
            </a:pPr>
            <a:r>
              <a:rPr lang="en-US" sz="1800" b="0" u="none" strike="noStrike">
                <a:solidFill>
                  <a:srgbClr val="000000"/>
                </a:solidFill>
                <a:effectLst/>
                <a:uFillTx/>
                <a:latin typeface="Consolas"/>
                <a:ea typeface="DejaVu Sans"/>
              </a:rPr>
              <a:t>)</a:t>
            </a:r>
            <a:endParaRPr lang="en-GB" sz="1800" b="0" u="none" strike="noStrike">
              <a:solidFill>
                <a:srgbClr val="000000"/>
              </a:solidFill>
              <a:effectLst/>
              <a:uFillTx/>
              <a:latin typeface="Arial"/>
            </a:endParaRPr>
          </a:p>
        </p:txBody>
      </p:sp>
      <p:pic>
        <p:nvPicPr>
          <p:cNvPr id="415" name="Picture 6"/>
          <p:cNvPicPr/>
          <p:nvPr/>
        </p:nvPicPr>
        <p:blipFill>
          <a:blip r:embed="rId3"/>
          <a:stretch/>
        </p:blipFill>
        <p:spPr>
          <a:xfrm>
            <a:off x="882720" y="2480760"/>
            <a:ext cx="2522160" cy="2349360"/>
          </a:xfrm>
          <a:prstGeom prst="rect">
            <a:avLst/>
          </a:prstGeom>
          <a:noFill/>
          <a:ln w="0">
            <a:noFill/>
          </a:ln>
        </p:spPr>
      </p:pic>
      <p:pic>
        <p:nvPicPr>
          <p:cNvPr id="416" name="Picture 10"/>
          <p:cNvPicPr/>
          <p:nvPr/>
        </p:nvPicPr>
        <p:blipFill>
          <a:blip r:embed="rId4"/>
          <a:stretch/>
        </p:blipFill>
        <p:spPr>
          <a:xfrm>
            <a:off x="6022800" y="2629440"/>
            <a:ext cx="2550240" cy="1822320"/>
          </a:xfrm>
          <a:prstGeom prst="rect">
            <a:avLst/>
          </a:prstGeom>
          <a:noFill/>
          <a:ln w="0">
            <a:noFill/>
          </a:ln>
        </p:spPr>
      </p:pic>
      <p:sp>
        <p:nvSpPr>
          <p:cNvPr id="417" name="TextBox 11"/>
          <p:cNvSpPr/>
          <p:nvPr/>
        </p:nvSpPr>
        <p:spPr>
          <a:xfrm>
            <a:off x="3800880" y="2127600"/>
            <a:ext cx="2299320" cy="638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a:ea typeface="DejaVu Sans"/>
              </a:rPr>
              <a:t>The “type” column is storing variable names</a:t>
            </a:r>
            <a:endParaRPr lang="en-GB" sz="1800" b="0" u="none" strike="noStrike">
              <a:solidFill>
                <a:srgbClr val="000000"/>
              </a:solidFill>
              <a:effectLst/>
              <a:uFillTx/>
              <a:latin typeface="Arial"/>
            </a:endParaRPr>
          </a:p>
        </p:txBody>
      </p:sp>
      <p:sp>
        <p:nvSpPr>
          <p:cNvPr id="418" name="Right Arrow 13"/>
          <p:cNvSpPr/>
          <p:nvPr/>
        </p:nvSpPr>
        <p:spPr>
          <a:xfrm>
            <a:off x="3945960" y="3754800"/>
            <a:ext cx="1766160" cy="428760"/>
          </a:xfrm>
          <a:prstGeom prst="rightArrow">
            <a:avLst>
              <a:gd name="adj1" fmla="val 50000"/>
              <a:gd name="adj2" fmla="val 50000"/>
            </a:avLst>
          </a:prstGeom>
          <a:solidFill>
            <a:srgbClr val="4472C4"/>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CH" sz="1800" b="0" u="none" strike="noStrike">
              <a:solidFill>
                <a:schemeClr val="lt1"/>
              </a:solidFill>
              <a:effectLst/>
              <a:uFillTx/>
              <a:latin typeface="Calibri"/>
              <a:ea typeface="DejaVu Sans"/>
            </a:endParaRPr>
          </a:p>
        </p:txBody>
      </p:sp>
      <p:sp>
        <p:nvSpPr>
          <p:cNvPr id="419" name="TextBox 14"/>
          <p:cNvSpPr/>
          <p:nvPr/>
        </p:nvSpPr>
        <p:spPr>
          <a:xfrm>
            <a:off x="3963600" y="3465000"/>
            <a:ext cx="166320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pivot</a:t>
            </a:r>
            <a:endParaRPr lang="en-GB" sz="1800" b="0" u="none" strike="noStrike">
              <a:solidFill>
                <a:srgbClr val="000000"/>
              </a:solidFill>
              <a:effectLst/>
              <a:uFillTx/>
              <a:latin typeface="Arial"/>
            </a:endParaRPr>
          </a:p>
        </p:txBody>
      </p:sp>
      <p:sp>
        <p:nvSpPr>
          <p:cNvPr id="420" name="TextBox 8"/>
          <p:cNvSpPr/>
          <p:nvPr/>
        </p:nvSpPr>
        <p:spPr>
          <a:xfrm>
            <a:off x="6018120" y="2161800"/>
            <a:ext cx="926640" cy="699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Google Sans"/>
                <a:ea typeface="DejaVu Sans"/>
              </a:rPr>
              <a:t>😱 </a:t>
            </a:r>
            <a:endParaRPr lang="en-GB" sz="4000" b="0" u="none" strike="noStrike">
              <a:solidFill>
                <a:srgbClr val="000000"/>
              </a:solidFill>
              <a:effectLst/>
              <a:uFillTx/>
              <a:latin typeface="Arial"/>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09A6156-AF0C-B4D7-4812-89D39152BB66}"/>
            </a:ext>
          </a:extLst>
        </p:cNvPr>
        <p:cNvGrpSpPr/>
        <p:nvPr/>
      </p:nvGrpSpPr>
      <p:grpSpPr>
        <a:xfrm>
          <a:off x="0" y="0"/>
          <a:ext cx="0" cy="0"/>
          <a:chOff x="0" y="0"/>
          <a:chExt cx="0" cy="0"/>
        </a:xfrm>
      </p:grpSpPr>
      <p:sp>
        <p:nvSpPr>
          <p:cNvPr id="6" name="PlaceHolder 5">
            <a:extLst>
              <a:ext uri="{FF2B5EF4-FFF2-40B4-BE49-F238E27FC236}">
                <a16:creationId xmlns:a16="http://schemas.microsoft.com/office/drawing/2014/main" id="{FB449E0C-0A73-2C7D-753D-F53D0A977E79}"/>
              </a:ext>
            </a:extLst>
          </p:cNvPr>
          <p:cNvSpPr>
            <a:spLocks noGrp="1"/>
          </p:cNvSpPr>
          <p:nvPr>
            <p:ph type="sldNum" idx="2"/>
          </p:nvPr>
        </p:nvSpPr>
        <p:spPr/>
        <p:txBody>
          <a:bodyPr/>
          <a:lstStyle/>
          <a:p>
            <a:fld id="{84715A79-DF31-4BA5-9F2D-21B8064E297F}" type="slidenum">
              <a:rPr/>
              <a:t>59</a:t>
            </a:fld>
            <a:endParaRPr/>
          </a:p>
        </p:txBody>
      </p:sp>
      <p:sp>
        <p:nvSpPr>
          <p:cNvPr id="33" name="TextBox 7">
            <a:extLst>
              <a:ext uri="{FF2B5EF4-FFF2-40B4-BE49-F238E27FC236}">
                <a16:creationId xmlns:a16="http://schemas.microsoft.com/office/drawing/2014/main" id="{F3B7894D-C2A4-23F9-BE80-181661E7B9D5}"/>
              </a:ext>
            </a:extLst>
          </p:cNvPr>
          <p:cNvSpPr/>
          <p:nvPr/>
        </p:nvSpPr>
        <p:spPr>
          <a:xfrm>
            <a:off x="2691360" y="2018618"/>
            <a:ext cx="8888040" cy="46021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2400" b="0" u="none" strike="noStrike">
                <a:solidFill>
                  <a:srgbClr val="000000"/>
                </a:solidFill>
                <a:effectLst/>
                <a:uFillTx/>
                <a:latin typeface="Consolas"/>
                <a:ea typeface="DejaVu Sans"/>
              </a:rPr>
              <a:t>df</a:t>
            </a:r>
            <a:r>
              <a:rPr lang="en-CH" sz="2400" b="0" u="none" strike="noStrike">
                <a:solidFill>
                  <a:schemeClr val="accent2">
                    <a:lumMod val="75000"/>
                  </a:schemeClr>
                </a:solidFill>
                <a:effectLst/>
                <a:uFillTx/>
                <a:latin typeface="Consolas"/>
                <a:ea typeface="DejaVu Sans"/>
              </a:rPr>
              <a:t>.</a:t>
            </a:r>
            <a:r>
              <a:rPr lang="en-US" sz="2400" dirty="0">
                <a:solidFill>
                  <a:schemeClr val="accent2">
                    <a:lumMod val="75000"/>
                  </a:schemeClr>
                </a:solidFill>
                <a:latin typeface="Consolas"/>
                <a:ea typeface="DejaVu Sans"/>
              </a:rPr>
              <a:t>merge</a:t>
            </a:r>
            <a:r>
              <a:rPr lang="en-US" sz="2400" b="0" u="none" strike="noStrike" dirty="0">
                <a:solidFill>
                  <a:schemeClr val="accent1">
                    <a:lumMod val="75000"/>
                  </a:schemeClr>
                </a:solidFill>
                <a:effectLst/>
                <a:uFillTx/>
                <a:latin typeface="Consolas"/>
                <a:ea typeface="DejaVu Sans"/>
              </a:rPr>
              <a:t>(</a:t>
            </a:r>
            <a:r>
              <a:rPr lang="en-US" sz="2400" b="0" u="none" strike="noStrike" dirty="0" err="1">
                <a:solidFill>
                  <a:schemeClr val="accent1">
                    <a:lumMod val="75000"/>
                  </a:schemeClr>
                </a:solidFill>
                <a:effectLst/>
                <a:uFillTx/>
                <a:latin typeface="Consolas"/>
                <a:ea typeface="DejaVu Sans"/>
              </a:rPr>
              <a:t>df_info</a:t>
            </a:r>
            <a:r>
              <a:rPr lang="en-US" sz="2400" b="0" u="none" strike="noStrike" dirty="0">
                <a:solidFill>
                  <a:schemeClr val="accent1">
                    <a:lumMod val="75000"/>
                  </a:schemeClr>
                </a:solidFill>
                <a:effectLst/>
                <a:uFillTx/>
                <a:latin typeface="Consolas"/>
                <a:ea typeface="DejaVu Sans"/>
              </a:rPr>
              <a:t>, on=[‘location-id</a:t>
            </a:r>
            <a:r>
              <a:rPr lang="en-CH" sz="2400" b="0" u="none" strike="noStrike">
                <a:solidFill>
                  <a:schemeClr val="accent1">
                    <a:lumMod val="75000"/>
                  </a:schemeClr>
                </a:solidFill>
                <a:effectLst/>
                <a:uFillTx/>
                <a:latin typeface="Consolas"/>
                <a:ea typeface="DejaVu Sans"/>
              </a:rPr>
              <a:t>’]</a:t>
            </a:r>
            <a:r>
              <a:rPr lang="en-US" sz="2400" b="0" u="none" strike="noStrike" dirty="0">
                <a:solidFill>
                  <a:schemeClr val="accent1">
                    <a:lumMod val="75000"/>
                  </a:schemeClr>
                </a:solidFill>
                <a:effectLst/>
                <a:uFillTx/>
                <a:latin typeface="Consolas"/>
                <a:ea typeface="DejaVu Sans"/>
              </a:rPr>
              <a:t>)</a:t>
            </a:r>
            <a:endParaRPr lang="en-GB" sz="2400" b="0" u="none" strike="noStrike" dirty="0">
              <a:solidFill>
                <a:srgbClr val="000000"/>
              </a:solidFill>
              <a:effectLst/>
              <a:uFillTx/>
              <a:latin typeface="Arial"/>
            </a:endParaRPr>
          </a:p>
        </p:txBody>
      </p:sp>
      <p:sp>
        <p:nvSpPr>
          <p:cNvPr id="34" name="TextBox 1">
            <a:extLst>
              <a:ext uri="{FF2B5EF4-FFF2-40B4-BE49-F238E27FC236}">
                <a16:creationId xmlns:a16="http://schemas.microsoft.com/office/drawing/2014/main" id="{1240DC40-960D-9F6E-0911-46496C86D25B}"/>
              </a:ext>
            </a:extLst>
          </p:cNvPr>
          <p:cNvSpPr/>
          <p:nvPr/>
        </p:nvSpPr>
        <p:spPr>
          <a:xfrm>
            <a:off x="2722320" y="2934098"/>
            <a:ext cx="8888040" cy="46021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2400" b="0" u="none" strike="noStrike">
                <a:solidFill>
                  <a:srgbClr val="000000"/>
                </a:solidFill>
                <a:effectLst/>
                <a:uFillTx/>
                <a:latin typeface="Consolas"/>
                <a:ea typeface="DejaVu Sans"/>
              </a:rPr>
              <a:t>df</a:t>
            </a:r>
            <a:r>
              <a:rPr lang="en-CH" sz="2400" b="0" u="none" strike="noStrike">
                <a:solidFill>
                  <a:schemeClr val="accent2">
                    <a:lumMod val="75000"/>
                  </a:schemeClr>
                </a:solidFill>
                <a:effectLst/>
                <a:uFillTx/>
                <a:latin typeface="Consolas"/>
                <a:ea typeface="DejaVu Sans"/>
              </a:rPr>
              <a:t>.</a:t>
            </a:r>
            <a:r>
              <a:rPr lang="en-US" sz="2400" b="0" u="none" strike="noStrike" dirty="0">
                <a:solidFill>
                  <a:schemeClr val="accent2">
                    <a:lumMod val="75000"/>
                  </a:schemeClr>
                </a:solidFill>
                <a:effectLst/>
                <a:uFillTx/>
                <a:latin typeface="Consolas"/>
                <a:ea typeface="DejaVu Sans"/>
              </a:rPr>
              <a:t>merge</a:t>
            </a:r>
            <a:r>
              <a:rPr lang="en-US" sz="2400" b="0" u="none" strike="noStrike" dirty="0">
                <a:solidFill>
                  <a:schemeClr val="accent1">
                    <a:lumMod val="75000"/>
                  </a:schemeClr>
                </a:solidFill>
                <a:effectLst/>
                <a:uFillTx/>
                <a:latin typeface="Consolas"/>
                <a:ea typeface="DejaVu Sans"/>
              </a:rPr>
              <a:t>(</a:t>
            </a:r>
            <a:r>
              <a:rPr lang="en-US" sz="2400" b="0" u="none" strike="noStrike" dirty="0" err="1">
                <a:solidFill>
                  <a:schemeClr val="accent1">
                    <a:lumMod val="75000"/>
                  </a:schemeClr>
                </a:solidFill>
                <a:effectLst/>
                <a:uFillTx/>
                <a:latin typeface="Consolas"/>
                <a:ea typeface="DejaVu Sans"/>
              </a:rPr>
              <a:t>df_info</a:t>
            </a:r>
            <a:r>
              <a:rPr lang="en-US" sz="2400" b="0" u="none" strike="noStrike" dirty="0">
                <a:solidFill>
                  <a:schemeClr val="accent1">
                    <a:lumMod val="75000"/>
                  </a:schemeClr>
                </a:solidFill>
                <a:effectLst/>
                <a:uFillTx/>
                <a:latin typeface="Consolas"/>
                <a:ea typeface="DejaVu Sans"/>
              </a:rPr>
              <a:t>, on = [‘location-id’])</a:t>
            </a:r>
          </a:p>
        </p:txBody>
      </p:sp>
      <p:sp>
        <p:nvSpPr>
          <p:cNvPr id="35" name="TextBox 2">
            <a:extLst>
              <a:ext uri="{FF2B5EF4-FFF2-40B4-BE49-F238E27FC236}">
                <a16:creationId xmlns:a16="http://schemas.microsoft.com/office/drawing/2014/main" id="{4999E92C-81CF-135E-208E-8B68DF22D3C6}"/>
              </a:ext>
            </a:extLst>
          </p:cNvPr>
          <p:cNvSpPr/>
          <p:nvPr/>
        </p:nvSpPr>
        <p:spPr>
          <a:xfrm>
            <a:off x="853200" y="1988018"/>
            <a:ext cx="141516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2800" b="1" u="none" strike="noStrike">
                <a:solidFill>
                  <a:srgbClr val="000000"/>
                </a:solidFill>
                <a:effectLst/>
                <a:uFillTx/>
                <a:latin typeface="Calibri" panose="020F0502020204030204" pitchFamily="34" charset="0"/>
                <a:ea typeface="DejaVu Sans"/>
                <a:cs typeface="Calibri" panose="020F0502020204030204" pitchFamily="34" charset="0"/>
              </a:rPr>
              <a:t>Pandas</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36" name="TextBox 8">
            <a:extLst>
              <a:ext uri="{FF2B5EF4-FFF2-40B4-BE49-F238E27FC236}">
                <a16:creationId xmlns:a16="http://schemas.microsoft.com/office/drawing/2014/main" id="{ADAE94F9-4ACE-8C5A-3CA4-DE0BFDB09A31}"/>
              </a:ext>
            </a:extLst>
          </p:cNvPr>
          <p:cNvSpPr/>
          <p:nvPr/>
        </p:nvSpPr>
        <p:spPr>
          <a:xfrm>
            <a:off x="853200" y="2906378"/>
            <a:ext cx="185976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2800" b="1" u="none" strike="noStrike">
                <a:solidFill>
                  <a:srgbClr val="000000"/>
                </a:solidFill>
                <a:effectLst/>
                <a:uFillTx/>
                <a:latin typeface="Calibri" panose="020F0502020204030204" pitchFamily="34" charset="0"/>
                <a:ea typeface="DejaVu Sans"/>
                <a:cs typeface="Calibri" panose="020F0502020204030204" pitchFamily="34" charset="0"/>
              </a:rPr>
              <a:t>dask</a:t>
            </a:r>
            <a:endParaRPr lang="en-GB" sz="2800" b="0" u="none" strike="noStrike" dirty="0">
              <a:solidFill>
                <a:srgbClr val="000000"/>
              </a:solidFill>
              <a:effectLst/>
              <a:uFillTx/>
              <a:latin typeface="Calibri" panose="020F0502020204030204" pitchFamily="34" charset="0"/>
              <a:cs typeface="Calibri" panose="020F0502020204030204" pitchFamily="34" charset="0"/>
            </a:endParaRPr>
          </a:p>
        </p:txBody>
      </p:sp>
      <p:sp>
        <p:nvSpPr>
          <p:cNvPr id="37" name="TextBox 9">
            <a:extLst>
              <a:ext uri="{FF2B5EF4-FFF2-40B4-BE49-F238E27FC236}">
                <a16:creationId xmlns:a16="http://schemas.microsoft.com/office/drawing/2014/main" id="{BCE15753-43E4-DC05-A244-6FCA15E54CE4}"/>
              </a:ext>
            </a:extLst>
          </p:cNvPr>
          <p:cNvSpPr/>
          <p:nvPr/>
        </p:nvSpPr>
        <p:spPr>
          <a:xfrm>
            <a:off x="2722320" y="3853538"/>
            <a:ext cx="8888040" cy="46021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2400" b="0" u="none" strike="noStrike">
                <a:solidFill>
                  <a:srgbClr val="000000"/>
                </a:solidFill>
                <a:effectLst/>
                <a:uFillTx/>
                <a:latin typeface="Consolas"/>
                <a:ea typeface="DejaVu Sans"/>
              </a:rPr>
              <a:t>df</a:t>
            </a:r>
            <a:r>
              <a:rPr lang="en-CH" sz="2400" b="0" u="none" strike="noStrike">
                <a:solidFill>
                  <a:schemeClr val="accent2">
                    <a:lumMod val="75000"/>
                  </a:schemeClr>
                </a:solidFill>
                <a:effectLst/>
                <a:uFillTx/>
                <a:latin typeface="Consolas"/>
                <a:ea typeface="DejaVu Sans"/>
              </a:rPr>
              <a:t>.</a:t>
            </a:r>
            <a:r>
              <a:rPr lang="en-US" sz="2400" b="0" u="none" strike="noStrike" dirty="0">
                <a:solidFill>
                  <a:schemeClr val="accent2">
                    <a:lumMod val="75000"/>
                  </a:schemeClr>
                </a:solidFill>
                <a:effectLst/>
                <a:uFillTx/>
                <a:latin typeface="Consolas"/>
                <a:ea typeface="DejaVu Sans"/>
              </a:rPr>
              <a:t>join</a:t>
            </a:r>
            <a:r>
              <a:rPr lang="en-US" sz="2400" b="0" u="none" strike="noStrike" dirty="0">
                <a:solidFill>
                  <a:schemeClr val="accent1">
                    <a:lumMod val="75000"/>
                  </a:schemeClr>
                </a:solidFill>
                <a:effectLst/>
                <a:uFillTx/>
                <a:latin typeface="Consolas"/>
                <a:ea typeface="DejaVu Sans"/>
              </a:rPr>
              <a:t>(</a:t>
            </a:r>
            <a:r>
              <a:rPr lang="en-US" sz="2400" dirty="0" err="1">
                <a:solidFill>
                  <a:schemeClr val="accent1">
                    <a:lumMod val="75000"/>
                  </a:schemeClr>
                </a:solidFill>
                <a:latin typeface="Consolas"/>
              </a:rPr>
              <a:t>df_info</a:t>
            </a:r>
            <a:r>
              <a:rPr lang="en-US" sz="2400" dirty="0">
                <a:solidFill>
                  <a:schemeClr val="accent1">
                    <a:lumMod val="75000"/>
                  </a:schemeClr>
                </a:solidFill>
                <a:latin typeface="Consolas"/>
              </a:rPr>
              <a:t>, on = [‘location-id’])</a:t>
            </a:r>
            <a:endParaRPr lang="en-GB" sz="2400" b="0" u="none" strike="noStrike" dirty="0">
              <a:solidFill>
                <a:srgbClr val="000000"/>
              </a:solidFill>
              <a:effectLst/>
              <a:uFillTx/>
              <a:latin typeface="Arial"/>
            </a:endParaRPr>
          </a:p>
        </p:txBody>
      </p:sp>
      <p:sp>
        <p:nvSpPr>
          <p:cNvPr id="38" name="TextBox 10">
            <a:extLst>
              <a:ext uri="{FF2B5EF4-FFF2-40B4-BE49-F238E27FC236}">
                <a16:creationId xmlns:a16="http://schemas.microsoft.com/office/drawing/2014/main" id="{C9375001-4062-9BFD-797C-6A5AD6679BC9}"/>
              </a:ext>
            </a:extLst>
          </p:cNvPr>
          <p:cNvSpPr/>
          <p:nvPr/>
        </p:nvSpPr>
        <p:spPr>
          <a:xfrm>
            <a:off x="853200" y="3825098"/>
            <a:ext cx="185976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2800" b="1" u="none" strike="noStrike">
                <a:solidFill>
                  <a:srgbClr val="000000"/>
                </a:solidFill>
                <a:effectLst/>
                <a:uFillTx/>
                <a:latin typeface="Calibri" panose="020F0502020204030204" pitchFamily="34" charset="0"/>
                <a:ea typeface="DejaVu Sans"/>
                <a:cs typeface="Calibri" panose="020F0502020204030204" pitchFamily="34" charset="0"/>
              </a:rPr>
              <a:t>PySpark</a:t>
            </a:r>
            <a:endParaRPr lang="en-GB" sz="2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39" name="TextBox 28">
            <a:extLst>
              <a:ext uri="{FF2B5EF4-FFF2-40B4-BE49-F238E27FC236}">
                <a16:creationId xmlns:a16="http://schemas.microsoft.com/office/drawing/2014/main" id="{2BABCF58-3BF8-5BEE-E025-504F70497546}"/>
              </a:ext>
            </a:extLst>
          </p:cNvPr>
          <p:cNvSpPr/>
          <p:nvPr/>
        </p:nvSpPr>
        <p:spPr>
          <a:xfrm>
            <a:off x="853200" y="4743458"/>
            <a:ext cx="185976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2800" b="1" u="none" strike="noStrike">
                <a:solidFill>
                  <a:srgbClr val="000000"/>
                </a:solidFill>
                <a:effectLst/>
                <a:uFillTx/>
                <a:latin typeface="Calibri" panose="020F0502020204030204" pitchFamily="34" charset="0"/>
                <a:ea typeface="DejaVu Sans"/>
                <a:cs typeface="Calibri" panose="020F0502020204030204" pitchFamily="34" charset="0"/>
              </a:rPr>
              <a:t>SQL</a:t>
            </a:r>
            <a:endParaRPr lang="en-GB" sz="2800" b="0" u="none" strike="noStrike">
              <a:solidFill>
                <a:srgbClr val="000000"/>
              </a:solidFill>
              <a:effectLst/>
              <a:uFillTx/>
              <a:latin typeface="Calibri" panose="020F0502020204030204" pitchFamily="34" charset="0"/>
              <a:cs typeface="Calibri" panose="020F0502020204030204" pitchFamily="34" charset="0"/>
            </a:endParaRPr>
          </a:p>
        </p:txBody>
      </p:sp>
      <p:sp>
        <p:nvSpPr>
          <p:cNvPr id="40" name="TextBox 24">
            <a:extLst>
              <a:ext uri="{FF2B5EF4-FFF2-40B4-BE49-F238E27FC236}">
                <a16:creationId xmlns:a16="http://schemas.microsoft.com/office/drawing/2014/main" id="{F0810BAC-67FE-5C9E-4A4E-084FD71806C2}"/>
              </a:ext>
            </a:extLst>
          </p:cNvPr>
          <p:cNvSpPr/>
          <p:nvPr/>
        </p:nvSpPr>
        <p:spPr>
          <a:xfrm>
            <a:off x="2722320" y="4803938"/>
            <a:ext cx="8888040" cy="156820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2400" b="0" u="none" strike="noStrike" dirty="0">
                <a:solidFill>
                  <a:srgbClr val="000000"/>
                </a:solidFill>
                <a:effectLst/>
                <a:uFillTx/>
                <a:latin typeface="Consolas"/>
                <a:ea typeface="DejaVu Sans"/>
              </a:rPr>
              <a:t>SELECT </a:t>
            </a:r>
            <a:r>
              <a:rPr lang="en-US" sz="2400" dirty="0">
                <a:solidFill>
                  <a:srgbClr val="000000"/>
                </a:solidFill>
                <a:latin typeface="Consolas"/>
                <a:ea typeface="DejaVu Sans"/>
              </a:rPr>
              <a:t>*</a:t>
            </a:r>
            <a:r>
              <a:rPr lang="en-US" sz="2400" b="0" u="none" strike="noStrike" dirty="0">
                <a:solidFill>
                  <a:srgbClr val="000000"/>
                </a:solidFill>
                <a:effectLst/>
                <a:uFillTx/>
                <a:latin typeface="Consolas"/>
                <a:ea typeface="DejaVu Sans"/>
              </a:rPr>
              <a:t> </a:t>
            </a:r>
            <a:endParaRPr lang="en-GB" sz="2400" b="0" u="none" strike="noStrike" dirty="0">
              <a:solidFill>
                <a:srgbClr val="000000"/>
              </a:solidFill>
              <a:effectLst/>
              <a:uFillTx/>
              <a:latin typeface="Arial"/>
            </a:endParaRPr>
          </a:p>
          <a:p>
            <a:pPr>
              <a:lnSpc>
                <a:spcPct val="100000"/>
              </a:lnSpc>
            </a:pPr>
            <a:r>
              <a:rPr lang="en-US" sz="2400" b="0" u="none" strike="noStrike" dirty="0">
                <a:solidFill>
                  <a:srgbClr val="000000"/>
                </a:solidFill>
                <a:effectLst/>
                <a:uFillTx/>
                <a:latin typeface="Consolas"/>
                <a:ea typeface="DejaVu Sans"/>
              </a:rPr>
              <a:t>FROM </a:t>
            </a:r>
            <a:r>
              <a:rPr lang="en-US" sz="2400" b="0" u="none" strike="noStrike" dirty="0" err="1">
                <a:solidFill>
                  <a:srgbClr val="000000"/>
                </a:solidFill>
                <a:effectLst/>
                <a:uFillTx/>
                <a:latin typeface="Consolas"/>
                <a:ea typeface="DejaVu Sans"/>
              </a:rPr>
              <a:t>df</a:t>
            </a:r>
            <a:r>
              <a:rPr lang="en-US" sz="2400" b="0" u="none" strike="noStrike" dirty="0">
                <a:solidFill>
                  <a:srgbClr val="000000"/>
                </a:solidFill>
                <a:effectLst/>
                <a:uFillTx/>
                <a:latin typeface="Consolas"/>
                <a:ea typeface="DejaVu Sans"/>
              </a:rPr>
              <a:t> </a:t>
            </a:r>
            <a:endParaRPr lang="en-GB" sz="2400" b="0" u="none" strike="noStrike" dirty="0">
              <a:solidFill>
                <a:srgbClr val="000000"/>
              </a:solidFill>
              <a:effectLst/>
              <a:uFillTx/>
              <a:latin typeface="Arial"/>
            </a:endParaRPr>
          </a:p>
          <a:p>
            <a:pPr>
              <a:lnSpc>
                <a:spcPct val="100000"/>
              </a:lnSpc>
            </a:pPr>
            <a:r>
              <a:rPr lang="en-US" sz="2400" b="0" u="none" strike="noStrike" dirty="0">
                <a:solidFill>
                  <a:schemeClr val="accent2">
                    <a:lumMod val="75000"/>
                  </a:schemeClr>
                </a:solidFill>
                <a:effectLst/>
                <a:uFillTx/>
                <a:latin typeface="Consolas"/>
                <a:ea typeface="DejaVu Sans"/>
              </a:rPr>
              <a:t>INNER JOIN </a:t>
            </a:r>
            <a:r>
              <a:rPr lang="en-US" sz="2400" b="0" u="none" strike="noStrike" dirty="0" err="1">
                <a:solidFill>
                  <a:schemeClr val="accent2">
                    <a:lumMod val="75000"/>
                  </a:schemeClr>
                </a:solidFill>
                <a:effectLst/>
                <a:uFillTx/>
                <a:latin typeface="Consolas"/>
                <a:ea typeface="DejaVu Sans"/>
              </a:rPr>
              <a:t>df_info</a:t>
            </a:r>
            <a:endParaRPr lang="en-US" sz="2400" b="0" u="none" strike="noStrike" dirty="0">
              <a:solidFill>
                <a:schemeClr val="accent2">
                  <a:lumMod val="75000"/>
                </a:schemeClr>
              </a:solidFill>
              <a:effectLst/>
              <a:uFillTx/>
              <a:latin typeface="Consolas"/>
              <a:ea typeface="DejaVu Sans"/>
            </a:endParaRPr>
          </a:p>
          <a:p>
            <a:pPr>
              <a:lnSpc>
                <a:spcPct val="100000"/>
              </a:lnSpc>
            </a:pPr>
            <a:r>
              <a:rPr lang="en-US" sz="2400" b="0" u="none" strike="noStrike" dirty="0">
                <a:solidFill>
                  <a:schemeClr val="accent2">
                    <a:lumMod val="75000"/>
                  </a:schemeClr>
                </a:solidFill>
                <a:effectLst/>
                <a:uFillTx/>
                <a:latin typeface="Consolas"/>
                <a:ea typeface="DejaVu Sans"/>
              </a:rPr>
              <a:t>USING (</a:t>
            </a:r>
            <a:r>
              <a:rPr lang="en-US" sz="2400" b="0" u="none" strike="noStrike" dirty="0" err="1">
                <a:solidFill>
                  <a:schemeClr val="accent2">
                    <a:lumMod val="75000"/>
                  </a:schemeClr>
                </a:solidFill>
                <a:effectLst/>
                <a:uFillTx/>
                <a:latin typeface="Consolas"/>
                <a:ea typeface="DejaVu Sans"/>
              </a:rPr>
              <a:t>location_id</a:t>
            </a:r>
            <a:r>
              <a:rPr lang="en-US" sz="2400" b="0" u="none" strike="noStrike" dirty="0">
                <a:solidFill>
                  <a:schemeClr val="accent2">
                    <a:lumMod val="75000"/>
                  </a:schemeClr>
                </a:solidFill>
                <a:effectLst/>
                <a:uFillTx/>
                <a:latin typeface="Consolas"/>
                <a:ea typeface="DejaVu Sans"/>
              </a:rPr>
              <a:t>)</a:t>
            </a:r>
            <a:r>
              <a:rPr lang="en-US" sz="2400" b="0" u="none" strike="noStrike" dirty="0">
                <a:solidFill>
                  <a:srgbClr val="000000"/>
                </a:solidFill>
                <a:effectLst/>
                <a:uFillTx/>
                <a:latin typeface="Consolas"/>
                <a:ea typeface="DejaVu Sans"/>
              </a:rPr>
              <a:t>;</a:t>
            </a:r>
            <a:endParaRPr lang="en-GB" sz="2400" b="0" u="none" strike="noStrike" dirty="0">
              <a:solidFill>
                <a:srgbClr val="000000"/>
              </a:solidFill>
              <a:effectLst/>
              <a:uFillTx/>
              <a:latin typeface="Arial"/>
            </a:endParaRPr>
          </a:p>
        </p:txBody>
      </p:sp>
      <p:sp>
        <p:nvSpPr>
          <p:cNvPr id="41" name="PlaceHolder 1">
            <a:extLst>
              <a:ext uri="{FF2B5EF4-FFF2-40B4-BE49-F238E27FC236}">
                <a16:creationId xmlns:a16="http://schemas.microsoft.com/office/drawing/2014/main" id="{E1F89BD6-759E-447B-BD60-E0286425A30B}"/>
              </a:ext>
            </a:extLst>
          </p:cNvPr>
          <p:cNvSpPr txBox="1">
            <a:spLocks/>
          </p:cNvSpPr>
          <p:nvPr/>
        </p:nvSpPr>
        <p:spPr>
          <a:xfrm>
            <a:off x="372900" y="485843"/>
            <a:ext cx="11446200" cy="1108440"/>
          </a:xfrm>
          <a:prstGeom prst="rect">
            <a:avLst/>
          </a:prstGeom>
          <a:noFill/>
          <a:ln w="0">
            <a:noFill/>
          </a:ln>
        </p:spPr>
        <p:txBody>
          <a:bodyPr lIns="0" tIns="0" rIns="0" bIns="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tabLst>
                <a:tab pos="0" algn="l"/>
              </a:tabLst>
            </a:pPr>
            <a:r>
              <a:rPr lang="en-CH">
                <a:solidFill>
                  <a:srgbClr val="000000"/>
                </a:solidFill>
                <a:latin typeface="Calibri Light"/>
                <a:ea typeface="DejaVu Sans"/>
              </a:rPr>
              <a:t>Tabular data ideas and operations</a:t>
            </a:r>
            <a:r>
              <a:rPr lang="en-US" dirty="0">
                <a:solidFill>
                  <a:srgbClr val="000000"/>
                </a:solidFill>
                <a:latin typeface="Calibri Light"/>
                <a:ea typeface="DejaVu Sans"/>
              </a:rPr>
              <a:t> – </a:t>
            </a:r>
            <a:r>
              <a:rPr lang="en-CH">
                <a:solidFill>
                  <a:srgbClr val="000000"/>
                </a:solidFill>
                <a:latin typeface="Calibri Light"/>
                <a:ea typeface="DejaVu Sans"/>
              </a:rPr>
              <a:t>universal for all tabular data tools</a:t>
            </a:r>
            <a:endParaRPr lang="en-GB" dirty="0">
              <a:solidFill>
                <a:srgbClr val="000000"/>
              </a:solidFill>
              <a:latin typeface="Arial"/>
            </a:endParaRPr>
          </a:p>
        </p:txBody>
      </p:sp>
      <p:sp>
        <p:nvSpPr>
          <p:cNvPr id="42" name="PlaceHolder 1">
            <a:extLst>
              <a:ext uri="{FF2B5EF4-FFF2-40B4-BE49-F238E27FC236}">
                <a16:creationId xmlns:a16="http://schemas.microsoft.com/office/drawing/2014/main" id="{F59BA0B8-F01A-DF18-C0B2-54C6086F712B}"/>
              </a:ext>
            </a:extLst>
          </p:cNvPr>
          <p:cNvSpPr txBox="1">
            <a:spLocks/>
          </p:cNvSpPr>
          <p:nvPr/>
        </p:nvSpPr>
        <p:spPr>
          <a:xfrm>
            <a:off x="838080" y="6356520"/>
            <a:ext cx="2739960" cy="361800"/>
          </a:xfrm>
          <a:prstGeom prst="rect">
            <a:avLst/>
          </a:prstGeom>
          <a:noFill/>
          <a:ln w="0">
            <a:noFill/>
          </a:ln>
        </p:spPr>
        <p:txBody>
          <a:bodyPr lIns="90000" tIns="45000" rIns="90000" bIns="45000" anchor="ctr">
            <a:noAutofit/>
          </a:bodyPr>
          <a:lstStyle>
            <a:defPPr>
              <a:defRPr lang="en-DE"/>
            </a:defPPr>
            <a:lvl1pPr marL="0" indent="0" algn="l" defTabSz="914400" rtl="0" eaLnBrk="1" latinLnBrk="0" hangingPunct="1">
              <a:lnSpc>
                <a:spcPct val="100000"/>
              </a:lnSpc>
              <a:buNone/>
              <a:tabLst>
                <a:tab pos="0" algn="l"/>
              </a:tabLst>
              <a:defRPr lang="de-CH" sz="1200" b="0" u="none" strike="noStrike" kern="1200">
                <a:solidFill>
                  <a:srgbClr val="8B8B8B"/>
                </a:solidFill>
                <a:effectLst/>
                <a:uFillTx/>
                <a:latin typeface="Calibri"/>
                <a:ea typeface="DejaVu Sans"/>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a:t>ASPP LatAm, July 2026</a:t>
            </a:r>
            <a:endParaRPr lang="en-GB" dirty="0"/>
          </a:p>
        </p:txBody>
      </p:sp>
      <p:sp>
        <p:nvSpPr>
          <p:cNvPr id="44" name="PlaceHolder 2">
            <a:extLst>
              <a:ext uri="{FF2B5EF4-FFF2-40B4-BE49-F238E27FC236}">
                <a16:creationId xmlns:a16="http://schemas.microsoft.com/office/drawing/2014/main" id="{F6DE5AAA-A661-D734-B33B-98216F90BC1D}"/>
              </a:ext>
            </a:extLst>
          </p:cNvPr>
          <p:cNvSpPr>
            <a:spLocks noGrp="1"/>
          </p:cNvSpPr>
          <p:nvPr>
            <p:ph type="ftr" idx="1"/>
          </p:nvPr>
        </p:nvSpPr>
        <p:spPr>
          <a:xfrm>
            <a:off x="4038480" y="6356520"/>
            <a:ext cx="4111560" cy="361800"/>
          </a:xfrm>
        </p:spPr>
        <p:txBody>
          <a:bodyPr/>
          <a:lstStyle/>
          <a:p>
            <a:r>
              <a:rPr lang="en-US" dirty="0"/>
              <a:t>Tab, v3.0</a:t>
            </a:r>
            <a:endParaRPr dirty="0"/>
          </a:p>
        </p:txBody>
      </p:sp>
    </p:spTree>
    <p:extLst>
      <p:ext uri="{BB962C8B-B14F-4D97-AF65-F5344CB8AC3E}">
        <p14:creationId xmlns:p14="http://schemas.microsoft.com/office/powerpoint/2010/main" val="378591000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21" name="Picture 4" descr="Image"/>
          <p:cNvPicPr/>
          <p:nvPr/>
        </p:nvPicPr>
        <p:blipFill>
          <a:blip r:embed="rId2"/>
          <a:srcRect l="16022" r="5951"/>
          <a:stretch/>
        </p:blipFill>
        <p:spPr>
          <a:xfrm>
            <a:off x="9262800" y="581040"/>
            <a:ext cx="2718720" cy="3485160"/>
          </a:xfrm>
          <a:prstGeom prst="rect">
            <a:avLst/>
          </a:prstGeom>
          <a:noFill/>
          <a:ln w="0">
            <a:noFill/>
          </a:ln>
        </p:spPr>
      </p:pic>
      <p:sp>
        <p:nvSpPr>
          <p:cNvPr id="423" name="PlaceHolder 2"/>
          <p:cNvSpPr>
            <a:spLocks noGrp="1"/>
          </p:cNvSpPr>
          <p:nvPr>
            <p:ph type="body"/>
          </p:nvPr>
        </p:nvSpPr>
        <p:spPr>
          <a:prstGeom prst="rect">
            <a:avLst/>
          </a:prstGeom>
          <a:noFill/>
          <a:ln w="0">
            <a:noFill/>
          </a:ln>
        </p:spPr>
        <p:txBody>
          <a:bodyPr lIns="90000" tIns="45000" rIns="90000" bIns="45000" anchor="t">
            <a:noAutofit/>
          </a:bodyPr>
          <a:lstStyle/>
          <a:p>
            <a:pPr marL="228600" indent="0">
              <a:lnSpc>
                <a:spcPct val="90000"/>
              </a:lnSpc>
              <a:spcBef>
                <a:spcPts val="1001"/>
              </a:spcBef>
              <a:buNone/>
              <a:tabLst>
                <a:tab pos="0" algn="l"/>
              </a:tabLst>
            </a:pPr>
            <a:r>
              <a:rPr lang="en-CH" sz="2800" b="0" u="none" strike="noStrike">
                <a:solidFill>
                  <a:srgbClr val="000000"/>
                </a:solidFill>
                <a:effectLst/>
                <a:uFillTx/>
                <a:latin typeface="Calibri"/>
                <a:ea typeface="DejaVu Sans"/>
              </a:rPr>
              <a:t>Melting – it’s kind of the opposite of pivoting</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t>Data, v1.0</a:t>
            </a:r>
          </a:p>
        </p:txBody>
      </p:sp>
      <p:sp>
        <p:nvSpPr>
          <p:cNvPr id="6" name="PlaceHolder 5"/>
          <p:cNvSpPr>
            <a:spLocks noGrp="1"/>
          </p:cNvSpPr>
          <p:nvPr>
            <p:ph type="sldNum" idx="2"/>
          </p:nvPr>
        </p:nvSpPr>
        <p:spPr/>
        <p:txBody>
          <a:bodyPr/>
          <a:lstStyle/>
          <a:p>
            <a:fld id="{E012E134-52C4-4845-9D53-EFC04751F633}" type="slidenum">
              <a:rPr/>
              <a:t>60</a:t>
            </a:fld>
            <a:endParaRPr/>
          </a:p>
        </p:txBody>
      </p:sp>
      <p:sp>
        <p:nvSpPr>
          <p:cNvPr id="424" name="PlaceHolder 3"/>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422" name="PlaceHolder 1"/>
          <p:cNvSpPr>
            <a:spLocks noGrp="1"/>
          </p:cNvSpPr>
          <p:nvPr>
            <p:ph type="title"/>
          </p:nvPr>
        </p:nvSpPr>
        <p:spPr>
          <a:prstGeom prst="rect">
            <a:avLst/>
          </a:prstGeom>
          <a:noFill/>
          <a:ln w="0">
            <a:noFill/>
          </a:ln>
        </p:spPr>
        <p:txBody>
          <a:bodyPr lIns="90000" tIns="45000" rIns="90000" bIns="45000" anchor="ctr">
            <a:normAutofit fontScale="92500"/>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The life-changing magic of tidying up data</a:t>
            </a:r>
            <a:endParaRPr lang="en-GB" sz="4400" b="0" u="none" strike="noStrike">
              <a:solidFill>
                <a:srgbClr val="000000"/>
              </a:solidFill>
              <a:effectLst/>
              <a:uFillTx/>
              <a:latin typeface="Arial"/>
            </a:endParaRPr>
          </a:p>
        </p:txBody>
      </p:sp>
      <p:pic>
        <p:nvPicPr>
          <p:cNvPr id="425" name="Picture 8"/>
          <p:cNvPicPr/>
          <p:nvPr/>
        </p:nvPicPr>
        <p:blipFill>
          <a:blip r:embed="rId3"/>
          <a:stretch/>
        </p:blipFill>
        <p:spPr>
          <a:xfrm>
            <a:off x="1503000" y="2860200"/>
            <a:ext cx="2074320" cy="1683000"/>
          </a:xfrm>
          <a:prstGeom prst="rect">
            <a:avLst/>
          </a:prstGeom>
          <a:noFill/>
          <a:ln w="0">
            <a:noFill/>
          </a:ln>
        </p:spPr>
      </p:pic>
      <p:pic>
        <p:nvPicPr>
          <p:cNvPr id="426" name="Picture 9"/>
          <p:cNvPicPr/>
          <p:nvPr/>
        </p:nvPicPr>
        <p:blipFill>
          <a:blip r:embed="rId4"/>
          <a:stretch/>
        </p:blipFill>
        <p:spPr>
          <a:xfrm>
            <a:off x="5969880" y="2067120"/>
            <a:ext cx="2867400" cy="2987640"/>
          </a:xfrm>
          <a:prstGeom prst="rect">
            <a:avLst/>
          </a:prstGeom>
          <a:noFill/>
          <a:ln w="0">
            <a:noFill/>
          </a:ln>
        </p:spPr>
      </p:pic>
      <p:sp>
        <p:nvSpPr>
          <p:cNvPr id="427" name="TextBox 7"/>
          <p:cNvSpPr/>
          <p:nvPr/>
        </p:nvSpPr>
        <p:spPr>
          <a:xfrm>
            <a:off x="1379520" y="5172480"/>
            <a:ext cx="9429840" cy="363960"/>
          </a:xfrm>
          <a:prstGeom prst="rect">
            <a:avLst/>
          </a:prstGeom>
          <a:solidFill>
            <a:schemeClr val="accent6">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onsolas"/>
                <a:ea typeface="DejaVu Sans"/>
              </a:rPr>
              <a:t>pd.melt(data, id_vars=['subject', 'date'], value_name='response_time')</a:t>
            </a:r>
            <a:endParaRPr lang="en-GB" sz="1800" b="0" u="none" strike="noStrike">
              <a:solidFill>
                <a:srgbClr val="000000"/>
              </a:solidFill>
              <a:effectLst/>
              <a:uFillTx/>
              <a:latin typeface="Arial"/>
            </a:endParaRPr>
          </a:p>
        </p:txBody>
      </p:sp>
      <p:sp>
        <p:nvSpPr>
          <p:cNvPr id="428" name="TextBox 10"/>
          <p:cNvSpPr/>
          <p:nvPr/>
        </p:nvSpPr>
        <p:spPr>
          <a:xfrm>
            <a:off x="857160" y="1937160"/>
            <a:ext cx="2135880" cy="912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a:ea typeface="DejaVu Sans"/>
              </a:rPr>
              <a:t>The treatment values are stored as a column name</a:t>
            </a:r>
            <a:endParaRPr lang="en-GB" sz="1800" b="0" u="none" strike="noStrike">
              <a:solidFill>
                <a:srgbClr val="000000"/>
              </a:solidFill>
              <a:effectLst/>
              <a:uFillTx/>
              <a:latin typeface="Arial"/>
            </a:endParaRPr>
          </a:p>
        </p:txBody>
      </p:sp>
      <p:sp>
        <p:nvSpPr>
          <p:cNvPr id="429" name="TextBox 11"/>
          <p:cNvSpPr/>
          <p:nvPr/>
        </p:nvSpPr>
        <p:spPr>
          <a:xfrm>
            <a:off x="3024360" y="2192760"/>
            <a:ext cx="713880" cy="515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CH" sz="2800" b="0" u="none" strike="noStrike">
                <a:solidFill>
                  <a:srgbClr val="1F1F1F"/>
                </a:solidFill>
                <a:effectLst/>
                <a:highlight>
                  <a:srgbClr val="FFFFFF"/>
                </a:highlight>
                <a:uFillTx/>
                <a:latin typeface="Google Sans"/>
                <a:ea typeface="DejaVu Sans"/>
              </a:rPr>
              <a:t>😱 </a:t>
            </a:r>
            <a:endParaRPr lang="en-GB" sz="2800" b="0" u="none" strike="noStrike">
              <a:solidFill>
                <a:srgbClr val="000000"/>
              </a:solidFill>
              <a:effectLst/>
              <a:uFillTx/>
              <a:latin typeface="Arial"/>
            </a:endParaRPr>
          </a:p>
        </p:txBody>
      </p:sp>
      <p:sp>
        <p:nvSpPr>
          <p:cNvPr id="430" name="Right Arrow 12"/>
          <p:cNvSpPr/>
          <p:nvPr/>
        </p:nvSpPr>
        <p:spPr>
          <a:xfrm>
            <a:off x="3945960" y="3487320"/>
            <a:ext cx="1766160" cy="428760"/>
          </a:xfrm>
          <a:prstGeom prst="rightArrow">
            <a:avLst>
              <a:gd name="adj1" fmla="val 50000"/>
              <a:gd name="adj2" fmla="val 50000"/>
            </a:avLst>
          </a:prstGeom>
          <a:solidFill>
            <a:srgbClr val="4472C4"/>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CH" sz="1800" b="0" u="none" strike="noStrike">
              <a:solidFill>
                <a:schemeClr val="lt1"/>
              </a:solidFill>
              <a:effectLst/>
              <a:uFillTx/>
              <a:latin typeface="Calibri"/>
              <a:ea typeface="DejaVu Sans"/>
            </a:endParaRPr>
          </a:p>
        </p:txBody>
      </p:sp>
      <p:sp>
        <p:nvSpPr>
          <p:cNvPr id="431" name="TextBox 13"/>
          <p:cNvSpPr/>
          <p:nvPr/>
        </p:nvSpPr>
        <p:spPr>
          <a:xfrm>
            <a:off x="3963600" y="3197520"/>
            <a:ext cx="166320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melt</a:t>
            </a:r>
            <a:endParaRPr lang="en-GB" sz="1800" b="0" u="none" strike="noStrike">
              <a:solidFill>
                <a:srgbClr val="000000"/>
              </a:solidFill>
              <a:effectLst/>
              <a:uFillTx/>
              <a:latin typeface="Arial"/>
            </a:endParaRPr>
          </a:p>
        </p:txBody>
      </p:sp>
      <p:sp>
        <p:nvSpPr>
          <p:cNvPr id="432" name="TextBox 6"/>
          <p:cNvSpPr/>
          <p:nvPr/>
        </p:nvSpPr>
        <p:spPr>
          <a:xfrm>
            <a:off x="1379520" y="5628240"/>
            <a:ext cx="9612360" cy="638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a:ea typeface="DejaVu Sans"/>
              </a:rPr>
              <a:t>Split the columns in (A) “id_vars” and (B) non-”id_vars”. The column names in (B) are used as new values in a new column “variable”. The values in columns (B) go into a new column, “response_time”.</a:t>
            </a:r>
            <a:endParaRPr lang="en-GB" sz="1800" b="0" u="none" strike="noStrike">
              <a:solidFill>
                <a:srgbClr val="000000"/>
              </a:solidFill>
              <a:effectLst/>
              <a:uFillTx/>
              <a:latin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33" name="Picture 2" descr="Image"/>
          <p:cNvPicPr/>
          <p:nvPr/>
        </p:nvPicPr>
        <p:blipFill>
          <a:blip r:embed="rId2"/>
          <a:srcRect l="2154" r="23761" b="5248"/>
          <a:stretch/>
        </p:blipFill>
        <p:spPr>
          <a:xfrm>
            <a:off x="9264240" y="588240"/>
            <a:ext cx="2718720" cy="3477960"/>
          </a:xfrm>
          <a:prstGeom prst="rect">
            <a:avLst/>
          </a:prstGeom>
          <a:noFill/>
          <a:ln w="0">
            <a:noFill/>
          </a:ln>
        </p:spPr>
      </p:pic>
      <p:sp>
        <p:nvSpPr>
          <p:cNvPr id="435" name="PlaceHolder 2"/>
          <p:cNvSpPr>
            <a:spLocks noGrp="1"/>
          </p:cNvSpPr>
          <p:nvPr>
            <p:ph type="body"/>
          </p:nvPr>
        </p:nvSpPr>
        <p:spPr>
          <a:prstGeom prst="rect">
            <a:avLst/>
          </a:prstGeom>
          <a:noFill/>
          <a:ln w="0">
            <a:noFill/>
          </a:ln>
        </p:spPr>
        <p:txBody>
          <a:bodyPr lIns="90000" tIns="45000" rIns="90000" bIns="45000" anchor="t">
            <a:noAutofit/>
          </a:bodyPr>
          <a:lstStyle/>
          <a:p>
            <a:pPr marL="228600" indent="0">
              <a:lnSpc>
                <a:spcPct val="90000"/>
              </a:lnSpc>
              <a:spcBef>
                <a:spcPts val="1001"/>
              </a:spcBef>
              <a:buNone/>
              <a:tabLst>
                <a:tab pos="0" algn="l"/>
              </a:tabLst>
            </a:pPr>
            <a:r>
              <a:rPr lang="en-CH" sz="2400" b="0" u="none" strike="noStrike">
                <a:solidFill>
                  <a:srgbClr val="000000"/>
                </a:solidFill>
                <a:effectLst/>
                <a:uFillTx/>
                <a:latin typeface="Consolas"/>
                <a:ea typeface="DejaVu Sans"/>
              </a:rPr>
              <a:t>pd.concat </a:t>
            </a:r>
            <a:r>
              <a:rPr lang="en-CH" sz="2800" b="0" u="none" strike="noStrike">
                <a:solidFill>
                  <a:srgbClr val="000000"/>
                </a:solidFill>
                <a:effectLst/>
                <a:uFillTx/>
                <a:latin typeface="Calibri"/>
                <a:ea typeface="DejaVu Sans"/>
              </a:rPr>
              <a:t>– add together tables with the same variables (columns)</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t>Data, v1.0</a:t>
            </a:r>
          </a:p>
        </p:txBody>
      </p:sp>
      <p:sp>
        <p:nvSpPr>
          <p:cNvPr id="6" name="PlaceHolder 5"/>
          <p:cNvSpPr>
            <a:spLocks noGrp="1"/>
          </p:cNvSpPr>
          <p:nvPr>
            <p:ph type="sldNum" idx="2"/>
          </p:nvPr>
        </p:nvSpPr>
        <p:spPr/>
        <p:txBody>
          <a:bodyPr/>
          <a:lstStyle/>
          <a:p>
            <a:fld id="{2838F357-F9B8-4D39-8983-1DE7C9D12F69}" type="slidenum">
              <a:rPr/>
              <a:t>61</a:t>
            </a:fld>
            <a:endParaRPr/>
          </a:p>
        </p:txBody>
      </p:sp>
      <p:sp>
        <p:nvSpPr>
          <p:cNvPr id="436" name="PlaceHolder 3"/>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434" name="PlaceHolder 1"/>
          <p:cNvSpPr>
            <a:spLocks noGrp="1"/>
          </p:cNvSpPr>
          <p:nvPr>
            <p:ph type="title"/>
          </p:nvPr>
        </p:nvSpPr>
        <p:spPr>
          <a:prstGeom prst="rect">
            <a:avLst/>
          </a:prstGeom>
          <a:noFill/>
          <a:ln w="0">
            <a:noFill/>
          </a:ln>
        </p:spPr>
        <p:txBody>
          <a:bodyPr lIns="90000" tIns="45000" rIns="90000" bIns="45000" anchor="ctr">
            <a:normAutofit fontScale="92500"/>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The life-changing magic of tidying up data</a:t>
            </a:r>
            <a:endParaRPr lang="en-GB" sz="4400" b="0" u="none" strike="noStrike">
              <a:solidFill>
                <a:srgbClr val="000000"/>
              </a:solidFill>
              <a:effectLst/>
              <a:uFillTx/>
              <a:latin typeface="Arial"/>
            </a:endParaRPr>
          </a:p>
        </p:txBody>
      </p:sp>
      <p:sp>
        <p:nvSpPr>
          <p:cNvPr id="437" name="TextBox 6"/>
          <p:cNvSpPr/>
          <p:nvPr/>
        </p:nvSpPr>
        <p:spPr>
          <a:xfrm>
            <a:off x="789120" y="2541600"/>
            <a:ext cx="1725120" cy="912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a:ea typeface="DejaVu Sans"/>
              </a:rPr>
              <a:t>Some variables are stored in the file names</a:t>
            </a:r>
            <a:endParaRPr lang="en-GB" sz="1800" b="0" u="none" strike="noStrike">
              <a:solidFill>
                <a:srgbClr val="000000"/>
              </a:solidFill>
              <a:effectLst/>
              <a:uFillTx/>
              <a:latin typeface="Arial"/>
            </a:endParaRPr>
          </a:p>
        </p:txBody>
      </p:sp>
      <p:sp>
        <p:nvSpPr>
          <p:cNvPr id="438" name="TextBox 14"/>
          <p:cNvSpPr/>
          <p:nvPr/>
        </p:nvSpPr>
        <p:spPr>
          <a:xfrm>
            <a:off x="2552400" y="2775960"/>
            <a:ext cx="713880" cy="515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CH" sz="2800" b="0" u="none" strike="noStrike">
                <a:solidFill>
                  <a:srgbClr val="1F1F1F"/>
                </a:solidFill>
                <a:effectLst/>
                <a:highlight>
                  <a:srgbClr val="FFFFFF"/>
                </a:highlight>
                <a:uFillTx/>
                <a:latin typeface="Google Sans"/>
                <a:ea typeface="DejaVu Sans"/>
              </a:rPr>
              <a:t>😱 </a:t>
            </a:r>
            <a:endParaRPr lang="en-GB" sz="2800" b="0" u="none" strike="noStrike">
              <a:solidFill>
                <a:srgbClr val="000000"/>
              </a:solidFill>
              <a:effectLst/>
              <a:uFillTx/>
              <a:latin typeface="Arial"/>
            </a:endParaRPr>
          </a:p>
        </p:txBody>
      </p:sp>
      <p:sp>
        <p:nvSpPr>
          <p:cNvPr id="439" name="TextBox 15"/>
          <p:cNvSpPr/>
          <p:nvPr/>
        </p:nvSpPr>
        <p:spPr>
          <a:xfrm>
            <a:off x="838080" y="3530880"/>
            <a:ext cx="2687400" cy="1062360"/>
          </a:xfrm>
          <a:prstGeom prst="rect">
            <a:avLst/>
          </a:prstGeom>
          <a:solidFill>
            <a:schemeClr val="bg1">
              <a:lumMod val="95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600" b="0" u="none" strike="noStrike">
                <a:solidFill>
                  <a:srgbClr val="000000"/>
                </a:solidFill>
                <a:effectLst/>
                <a:uFillTx/>
                <a:latin typeface="Consolas"/>
                <a:ea typeface="DejaVu Sans"/>
              </a:rPr>
              <a:t>2024-01_prices_DE.csv</a:t>
            </a:r>
            <a:br>
              <a:rPr sz="1600"/>
            </a:br>
            <a:r>
              <a:rPr lang="en-US" sz="1600" b="0" u="none" strike="noStrike">
                <a:solidFill>
                  <a:srgbClr val="000000"/>
                </a:solidFill>
                <a:effectLst/>
                <a:uFillTx/>
                <a:latin typeface="Consolas"/>
                <a:ea typeface="DejaVu Sans"/>
              </a:rPr>
              <a:t>2024-01_prices_FR.csv</a:t>
            </a:r>
            <a:br>
              <a:rPr sz="1600"/>
            </a:br>
            <a:r>
              <a:rPr lang="en-US" sz="1600" b="0" u="none" strike="noStrike">
                <a:solidFill>
                  <a:srgbClr val="000000"/>
                </a:solidFill>
                <a:effectLst/>
                <a:uFillTx/>
                <a:latin typeface="Consolas"/>
                <a:ea typeface="DejaVu Sans"/>
              </a:rPr>
              <a:t>2024-02_prices_DE.csv</a:t>
            </a:r>
            <a:br>
              <a:rPr sz="1600"/>
            </a:br>
            <a:r>
              <a:rPr lang="en-US" sz="1600" b="0" u="none" strike="noStrike">
                <a:solidFill>
                  <a:srgbClr val="000000"/>
                </a:solidFill>
                <a:effectLst/>
                <a:uFillTx/>
                <a:latin typeface="Consolas"/>
                <a:ea typeface="DejaVu Sans"/>
              </a:rPr>
              <a:t>2024-02_prices_FR.csv</a:t>
            </a:r>
            <a:endParaRPr lang="en-GB" sz="1600" b="0" u="none" strike="noStrike">
              <a:solidFill>
                <a:srgbClr val="000000"/>
              </a:solidFill>
              <a:effectLst/>
              <a:uFillTx/>
              <a:latin typeface="Arial"/>
            </a:endParaRPr>
          </a:p>
        </p:txBody>
      </p:sp>
      <p:sp>
        <p:nvSpPr>
          <p:cNvPr id="440" name="TextBox 16"/>
          <p:cNvSpPr/>
          <p:nvPr/>
        </p:nvSpPr>
        <p:spPr>
          <a:xfrm>
            <a:off x="4367880" y="2602080"/>
            <a:ext cx="6389280" cy="3495960"/>
          </a:xfrm>
          <a:prstGeom prst="rect">
            <a:avLst/>
          </a:prstGeom>
          <a:solidFill>
            <a:srgbClr val="E2F0D9">
              <a:alpha val="71000"/>
            </a:srgb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600" b="0" u="none" strike="noStrike">
                <a:solidFill>
                  <a:srgbClr val="000000"/>
                </a:solidFill>
                <a:effectLst/>
                <a:uFillTx/>
                <a:latin typeface="Consolas"/>
                <a:ea typeface="DejaVu Sans"/>
              </a:rPr>
              <a:t>tables = []</a:t>
            </a:r>
            <a:endParaRPr lang="en-GB"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Consolas"/>
                <a:ea typeface="DejaVu Sans"/>
              </a:rPr>
              <a:t>for filename in filenames:   </a:t>
            </a:r>
            <a:endParaRPr lang="en-GB"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Consolas"/>
                <a:ea typeface="DejaVu Sans"/>
              </a:rPr>
              <a:t>    # Parse filename</a:t>
            </a:r>
            <a:endParaRPr lang="en-GB"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Consolas"/>
                <a:ea typeface="DejaVu Sans"/>
              </a:rPr>
              <a:t>    year_month, _, country = filename[:-4].split('_')</a:t>
            </a:r>
            <a:endParaRPr lang="en-GB"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Consolas"/>
                <a:ea typeface="DejaVu Sans"/>
              </a:rPr>
              <a:t>    # Read table and add columns for the variables</a:t>
            </a:r>
            <a:endParaRPr lang="en-GB"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Consolas"/>
                <a:ea typeface="DejaVu Sans"/>
              </a:rPr>
              <a:t>    df = pd.read_csv(filename)</a:t>
            </a:r>
            <a:endParaRPr lang="en-GB"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Consolas"/>
                <a:ea typeface="DejaVu Sans"/>
              </a:rPr>
              <a:t>    </a:t>
            </a:r>
            <a:r>
              <a:rPr lang="en-US" sz="1600" b="1" u="none" strike="noStrike">
                <a:solidFill>
                  <a:srgbClr val="000000"/>
                </a:solidFill>
                <a:effectLst/>
                <a:uFillTx/>
                <a:latin typeface="Consolas"/>
                <a:ea typeface="DejaVu Sans"/>
              </a:rPr>
              <a:t># Add the variables that were in the filename</a:t>
            </a:r>
            <a:endParaRPr lang="en-GB" sz="1600" b="0" u="none" strike="noStrike">
              <a:solidFill>
                <a:srgbClr val="000000"/>
              </a:solidFill>
              <a:effectLst/>
              <a:uFillTx/>
              <a:latin typeface="Arial"/>
            </a:endParaRPr>
          </a:p>
          <a:p>
            <a:pPr>
              <a:lnSpc>
                <a:spcPct val="100000"/>
              </a:lnSpc>
            </a:pPr>
            <a:r>
              <a:rPr lang="en-US" sz="1600" b="1" u="none" strike="noStrike">
                <a:solidFill>
                  <a:srgbClr val="000000"/>
                </a:solidFill>
                <a:effectLst/>
                <a:uFillTx/>
                <a:latin typeface="Consolas"/>
                <a:ea typeface="DejaVu Sans"/>
              </a:rPr>
              <a:t>    df['year_month'] = year_month</a:t>
            </a:r>
            <a:endParaRPr lang="en-GB" sz="1600" b="0" u="none" strike="noStrike">
              <a:solidFill>
                <a:srgbClr val="000000"/>
              </a:solidFill>
              <a:effectLst/>
              <a:uFillTx/>
              <a:latin typeface="Arial"/>
            </a:endParaRPr>
          </a:p>
          <a:p>
            <a:pPr>
              <a:lnSpc>
                <a:spcPct val="100000"/>
              </a:lnSpc>
            </a:pPr>
            <a:r>
              <a:rPr lang="en-US" sz="1600" b="1" u="none" strike="noStrike">
                <a:solidFill>
                  <a:srgbClr val="000000"/>
                </a:solidFill>
                <a:effectLst/>
                <a:uFillTx/>
                <a:latin typeface="Consolas"/>
                <a:ea typeface="DejaVu Sans"/>
              </a:rPr>
              <a:t>    df['country’] = country</a:t>
            </a:r>
            <a:endParaRPr lang="en-GB"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Consolas"/>
                <a:ea typeface="DejaVu Sans"/>
              </a:rPr>
              <a:t>    # Store table</a:t>
            </a:r>
            <a:endParaRPr lang="en-GB"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Consolas"/>
                <a:ea typeface="DejaVu Sans"/>
              </a:rPr>
              <a:t>    tables.append(df)</a:t>
            </a:r>
            <a:endParaRPr lang="en-GB" sz="1600" b="0" u="none" strike="noStrike">
              <a:solidFill>
                <a:srgbClr val="000000"/>
              </a:solidFill>
              <a:effectLst/>
              <a:uFillTx/>
              <a:latin typeface="Arial"/>
            </a:endParaRPr>
          </a:p>
          <a:p>
            <a:pPr>
              <a:lnSpc>
                <a:spcPct val="100000"/>
              </a:lnSpc>
            </a:pPr>
            <a:endParaRPr lang="en-GB"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Consolas"/>
                <a:ea typeface="DejaVu Sans"/>
              </a:rPr>
              <a:t># Create complete table</a:t>
            </a:r>
            <a:endParaRPr lang="en-GB"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Consolas"/>
                <a:ea typeface="DejaVu Sans"/>
              </a:rPr>
              <a:t>tidy_df = </a:t>
            </a:r>
            <a:r>
              <a:rPr lang="en-US" sz="1600" b="1" u="none" strike="noStrike">
                <a:solidFill>
                  <a:srgbClr val="000000"/>
                </a:solidFill>
                <a:effectLst/>
                <a:uFillTx/>
                <a:latin typeface="Consolas"/>
                <a:ea typeface="DejaVu Sans"/>
              </a:rPr>
              <a:t>pd.concat(tables)</a:t>
            </a:r>
            <a:r>
              <a:rPr lang="en-CH" sz="1600" b="1" u="none" strike="noStrike">
                <a:solidFill>
                  <a:srgbClr val="000000"/>
                </a:solidFill>
                <a:effectLst/>
                <a:uFillTx/>
                <a:latin typeface="Consolas"/>
                <a:ea typeface="DejaVu Sans"/>
              </a:rPr>
              <a:t>    </a:t>
            </a:r>
            <a:endParaRPr lang="en-GB" sz="1600" b="0" u="none" strike="noStrike">
              <a:solidFill>
                <a:srgbClr val="000000"/>
              </a:solidFill>
              <a:effectLst/>
              <a:uFillTx/>
              <a:latin typeface="Arial"/>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1" name="Rectangle 2"/>
          <p:cNvSpPr/>
          <p:nvPr/>
        </p:nvSpPr>
        <p:spPr>
          <a:xfrm>
            <a:off x="7428240" y="205920"/>
            <a:ext cx="4535640" cy="987120"/>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DE" sz="1800" b="0" u="none" strike="noStrike">
              <a:solidFill>
                <a:srgbClr val="000000"/>
              </a:solidFill>
              <a:effectLst/>
              <a:uFillTx/>
              <a:latin typeface="Courier New"/>
              <a:ea typeface="DejaVu Sans"/>
            </a:endParaRPr>
          </a:p>
        </p:txBody>
      </p:sp>
      <p:sp>
        <p:nvSpPr>
          <p:cNvPr id="443" name="PlaceHolder 2"/>
          <p:cNvSpPr>
            <a:spLocks noGrp="1"/>
          </p:cNvSpPr>
          <p:nvPr>
            <p:ph type="body"/>
          </p:nvPr>
        </p:nvSpPr>
        <p:spPr>
          <a:prstGeom prst="rect">
            <a:avLst/>
          </a:prstGeom>
          <a:noFill/>
          <a:ln w="0">
            <a:noFill/>
          </a:ln>
        </p:spPr>
        <p:txBody>
          <a:bodyPr lIns="90000" tIns="45000" rIns="90000" bIns="45000" anchor="t">
            <a:noAutofit/>
          </a:bodyPr>
          <a:lstStyle/>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Tidy up the data set in the tuberculosis exercise</a:t>
            </a:r>
            <a:br>
              <a:rPr sz="2800"/>
            </a:br>
            <a:r>
              <a:rPr lang="en-CH" sz="2800" b="0" u="none" strike="noStrike">
                <a:solidFill>
                  <a:srgbClr val="000000"/>
                </a:solidFill>
                <a:effectLst/>
                <a:uFillTx/>
                <a:latin typeface="Calibri"/>
                <a:ea typeface="DejaVu Sans"/>
              </a:rPr>
              <a:t>and compute the summary stats</a:t>
            </a: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pPr>
            <a:r>
              <a:rPr lang="en-US" sz="2800" b="0" u="none" strike="noStrike">
                <a:solidFill>
                  <a:srgbClr val="000000"/>
                </a:solidFill>
                <a:effectLst/>
                <a:uFillTx/>
                <a:latin typeface="Calibri"/>
                <a:ea typeface="DejaVu Sans"/>
              </a:rPr>
              <a:t>Submit a PR on</a:t>
            </a:r>
            <a:br>
              <a:rPr sz="2800"/>
            </a:br>
            <a:r>
              <a:rPr lang="en-US" sz="2800" b="0" u="none" strike="noStrike">
                <a:solidFill>
                  <a:srgbClr val="000000"/>
                </a:solidFill>
                <a:effectLst/>
                <a:uFillTx/>
                <a:latin typeface="Consolas"/>
                <a:ea typeface="DejaVu Sans"/>
              </a:rPr>
              <a:t>git.aspp.school/ASPP/</a:t>
            </a:r>
            <a:br>
              <a:rPr sz="2800"/>
            </a:br>
            <a:r>
              <a:rPr lang="en-US" sz="2800" b="0" u="none" strike="noStrike">
                <a:solidFill>
                  <a:srgbClr val="000000"/>
                </a:solidFill>
                <a:effectLst/>
                <a:uFillTx/>
                <a:latin typeface="Consolas"/>
                <a:ea typeface="DejaVu Sans"/>
              </a:rPr>
              <a:t>2025-plovdiv-data</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t>Data, v1.0</a:t>
            </a:r>
          </a:p>
        </p:txBody>
      </p:sp>
      <p:sp>
        <p:nvSpPr>
          <p:cNvPr id="6" name="PlaceHolder 5"/>
          <p:cNvSpPr>
            <a:spLocks noGrp="1"/>
          </p:cNvSpPr>
          <p:nvPr>
            <p:ph type="sldNum" idx="2"/>
          </p:nvPr>
        </p:nvSpPr>
        <p:spPr/>
        <p:txBody>
          <a:bodyPr/>
          <a:lstStyle/>
          <a:p>
            <a:fld id="{D57AF0BC-EE76-46B7-BC5A-5C39E2ACACE8}" type="slidenum">
              <a:rPr/>
              <a:t>62</a:t>
            </a:fld>
            <a:endParaRPr/>
          </a:p>
        </p:txBody>
      </p:sp>
      <p:sp>
        <p:nvSpPr>
          <p:cNvPr id="444" name="PlaceHolder 3"/>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442" name="PlaceHolder 1"/>
          <p:cNvSpPr>
            <a:spLocks noGrp="1"/>
          </p:cNvSpPr>
          <p:nvPr>
            <p:ph type="title"/>
          </p:nvPr>
        </p:nvSpPr>
        <p:spPr>
          <a:prstGeom prst="rect">
            <a:avLst/>
          </a:prstGeom>
          <a:noFill/>
          <a:ln w="0">
            <a:noFill/>
          </a:ln>
        </p:spPr>
        <p:txBody>
          <a:bodyPr lIns="90000" tIns="45000" rIns="90000" bIns="45000" anchor="ctr">
            <a:norm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Hands-on</a:t>
            </a:r>
            <a:endParaRPr lang="en-GB" sz="4400" b="0" u="none" strike="noStrike">
              <a:solidFill>
                <a:srgbClr val="000000"/>
              </a:solidFill>
              <a:effectLst/>
              <a:uFillTx/>
              <a:latin typeface="Arial"/>
            </a:endParaRPr>
          </a:p>
        </p:txBody>
      </p:sp>
      <p:sp>
        <p:nvSpPr>
          <p:cNvPr id="445" name="TextBox 9"/>
          <p:cNvSpPr/>
          <p:nvPr/>
        </p:nvSpPr>
        <p:spPr>
          <a:xfrm>
            <a:off x="7930800" y="22464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Exercise</a:t>
            </a:r>
            <a:endParaRPr lang="en-GB" sz="1800" b="0" u="none" strike="noStrike">
              <a:solidFill>
                <a:srgbClr val="000000"/>
              </a:solidFill>
              <a:effectLst/>
              <a:uFillTx/>
              <a:latin typeface="Arial"/>
            </a:endParaRPr>
          </a:p>
        </p:txBody>
      </p:sp>
      <p:pic>
        <p:nvPicPr>
          <p:cNvPr id="446" name="Graphic 10"/>
          <p:cNvPicPr/>
          <p:nvPr/>
        </p:nvPicPr>
        <p:blipFill>
          <a:blip r:embed="rId2"/>
          <a:stretch/>
        </p:blipFill>
        <p:spPr>
          <a:xfrm>
            <a:off x="7474680" y="273960"/>
            <a:ext cx="691200" cy="552240"/>
          </a:xfrm>
          <a:prstGeom prst="rect">
            <a:avLst/>
          </a:prstGeom>
          <a:noFill/>
          <a:ln w="0">
            <a:noFill/>
          </a:ln>
        </p:spPr>
      </p:pic>
      <p:pic>
        <p:nvPicPr>
          <p:cNvPr id="447" name="Picture 1"/>
          <p:cNvPicPr/>
          <p:nvPr/>
        </p:nvPicPr>
        <p:blipFill>
          <a:blip r:embed="rId3"/>
          <a:stretch/>
        </p:blipFill>
        <p:spPr>
          <a:xfrm>
            <a:off x="7506000" y="3141000"/>
            <a:ext cx="2986920" cy="2905920"/>
          </a:xfrm>
          <a:prstGeom prst="rect">
            <a:avLst/>
          </a:prstGeom>
          <a:noFill/>
          <a:ln w="0">
            <a:noFill/>
          </a:ln>
        </p:spPr>
      </p:pic>
      <p:sp>
        <p:nvSpPr>
          <p:cNvPr id="448" name="TextBox 11"/>
          <p:cNvSpPr/>
          <p:nvPr/>
        </p:nvSpPr>
        <p:spPr>
          <a:xfrm>
            <a:off x="7527960" y="2102760"/>
            <a:ext cx="1913760" cy="912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a:ea typeface="DejaVu Sans"/>
              </a:rPr>
              <a:t>Multiple variables are stored in one column</a:t>
            </a:r>
            <a:endParaRPr lang="en-GB" sz="1800" b="0" u="none" strike="noStrike">
              <a:solidFill>
                <a:srgbClr val="000000"/>
              </a:solidFill>
              <a:effectLst/>
              <a:uFillTx/>
              <a:latin typeface="Arial"/>
            </a:endParaRPr>
          </a:p>
        </p:txBody>
      </p:sp>
      <p:sp>
        <p:nvSpPr>
          <p:cNvPr id="449" name="TextBox 8"/>
          <p:cNvSpPr/>
          <p:nvPr/>
        </p:nvSpPr>
        <p:spPr>
          <a:xfrm>
            <a:off x="8301960" y="542880"/>
            <a:ext cx="3479400" cy="302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400" b="0" u="none" strike="noStrike">
                <a:solidFill>
                  <a:srgbClr val="000000"/>
                </a:solidFill>
                <a:effectLst/>
                <a:uFillTx/>
                <a:latin typeface="Courier New"/>
                <a:ea typeface="DejaVu Sans"/>
              </a:rPr>
              <a:t>exercises/tabular_tidy_data</a:t>
            </a:r>
            <a:endParaRPr lang="en-GB" sz="1400" b="0" u="none" strike="noStrike">
              <a:solidFill>
                <a:srgbClr val="000000"/>
              </a:solidFill>
              <a:effectLst/>
              <a:uFillTx/>
              <a:latin typeface="Arial"/>
            </a:endParaRPr>
          </a:p>
        </p:txBody>
      </p:sp>
      <p:sp>
        <p:nvSpPr>
          <p:cNvPr id="450" name="TextBox 7"/>
          <p:cNvSpPr/>
          <p:nvPr/>
        </p:nvSpPr>
        <p:spPr>
          <a:xfrm>
            <a:off x="9595080" y="2243880"/>
            <a:ext cx="926640" cy="699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4000" b="0" u="none" strike="noStrike">
                <a:solidFill>
                  <a:srgbClr val="1F1F1F"/>
                </a:solidFill>
                <a:effectLst/>
                <a:highlight>
                  <a:srgbClr val="FFFFFF"/>
                </a:highlight>
                <a:uFillTx/>
                <a:latin typeface="Google Sans"/>
                <a:ea typeface="DejaVu Sans"/>
              </a:rPr>
              <a:t>😱 </a:t>
            </a:r>
            <a:endParaRPr lang="en-GB" sz="4000" b="0" u="none" strike="noStrike">
              <a:solidFill>
                <a:srgbClr val="000000"/>
              </a:solidFill>
              <a:effectLst/>
              <a:uFillTx/>
              <a:latin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1" name="PlaceHolder 2"/>
          <p:cNvSpPr>
            <a:spLocks noGrp="1"/>
          </p:cNvSpPr>
          <p:nvPr>
            <p:ph type="body"/>
          </p:nvPr>
        </p:nvSpPr>
        <p:spPr>
          <a:prstGeom prst="rect">
            <a:avLst/>
          </a:prstGeom>
          <a:noFill/>
          <a:ln w="0">
            <a:noFill/>
          </a:ln>
        </p:spPr>
        <p:txBody>
          <a:bodyPr lIns="90000" tIns="45000" rIns="90000" bIns="45000" anchor="t">
            <a:normAutofit fontScale="40000" lnSpcReduction="20000"/>
          </a:bodyPr>
          <a:lstStyle/>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a:ea typeface="DejaVu Sans"/>
              </a:rPr>
              <a:t>Other data structures: graphs, trees, priority queues, …</a:t>
            </a:r>
            <a:endParaRPr lang="en-GB" sz="24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a:ea typeface="DejaVu Sans"/>
              </a:rPr>
              <a:t>Options for working with large data on disk / remotely (instead of in-memory)</a:t>
            </a:r>
            <a:endParaRPr lang="en-GB" sz="24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a:ea typeface="DejaVu Sans"/>
              </a:rPr>
              <a:t>Best practices in data handling: versioning, lineage, sharing</a:t>
            </a:r>
            <a:endParaRPr lang="en-GB" sz="24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a:ea typeface="DejaVu Sans"/>
              </a:rPr>
              <a:t>Organizing a complex data set in multiple tables</a:t>
            </a:r>
            <a:endParaRPr lang="en-GB" sz="24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pPr>
            <a:r>
              <a:rPr lang="en-CH" sz="2400" b="0" u="none" strike="noStrike">
                <a:solidFill>
                  <a:srgbClr val="000000"/>
                </a:solidFill>
                <a:effectLst/>
                <a:uFillTx/>
                <a:latin typeface="Calibri"/>
                <a:ea typeface="DejaVu Sans"/>
              </a:rPr>
              <a:t>… and a lot more!</a:t>
            </a:r>
            <a:endParaRPr lang="en-GB" sz="24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t>Data, v1.0</a:t>
            </a:r>
          </a:p>
        </p:txBody>
      </p:sp>
      <p:sp>
        <p:nvSpPr>
          <p:cNvPr id="6" name="PlaceHolder 5"/>
          <p:cNvSpPr>
            <a:spLocks noGrp="1"/>
          </p:cNvSpPr>
          <p:nvPr>
            <p:ph type="sldNum" idx="2"/>
          </p:nvPr>
        </p:nvSpPr>
        <p:spPr/>
        <p:txBody>
          <a:bodyPr/>
          <a:lstStyle/>
          <a:p>
            <a:fld id="{97F6AC99-E27B-4FB0-85C2-CF7C34E4DC4D}" type="slidenum">
              <a:t>63</a:t>
            </a:fld>
            <a:endParaRPr/>
          </a:p>
        </p:txBody>
      </p:sp>
      <p:sp>
        <p:nvSpPr>
          <p:cNvPr id="462" name="PlaceHolder 3"/>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460" name="PlaceHolder 1"/>
          <p:cNvSpPr>
            <a:spLocks noGrp="1"/>
          </p:cNvSpPr>
          <p:nvPr>
            <p:ph type="title"/>
          </p:nvPr>
        </p:nvSpPr>
        <p:spPr>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What we didn’t talk about</a:t>
            </a:r>
            <a:endParaRPr lang="en-GB" sz="4400" b="0" u="none" strike="noStrike">
              <a:solidFill>
                <a:srgbClr val="000000"/>
              </a:solidFill>
              <a:effectLst/>
              <a:uFillTx/>
              <a:latin typeface="Arial"/>
            </a:endParaRPr>
          </a:p>
        </p:txBody>
      </p:sp>
      <p:pic>
        <p:nvPicPr>
          <p:cNvPr id="463" name="Picture 32" descr="The Data Warehouse Toolkit"/>
          <p:cNvPicPr/>
          <p:nvPr/>
        </p:nvPicPr>
        <p:blipFill>
          <a:blip r:embed="rId2"/>
          <a:stretch/>
        </p:blipFill>
        <p:spPr>
          <a:xfrm>
            <a:off x="9776160" y="3605400"/>
            <a:ext cx="1938600" cy="2444760"/>
          </a:xfrm>
          <a:prstGeom prst="rect">
            <a:avLst/>
          </a:prstGeom>
          <a:noFill/>
          <a:ln w="0">
            <a:noFill/>
          </a:ln>
        </p:spPr>
      </p:pic>
      <p:pic>
        <p:nvPicPr>
          <p:cNvPr id="464" name="Picture 33"/>
          <p:cNvPicPr/>
          <p:nvPr/>
        </p:nvPicPr>
        <p:blipFill>
          <a:blip r:embed="rId3"/>
          <a:stretch/>
        </p:blipFill>
        <p:spPr>
          <a:xfrm>
            <a:off x="473760" y="3863160"/>
            <a:ext cx="4026960" cy="2166480"/>
          </a:xfrm>
          <a:prstGeom prst="rect">
            <a:avLst/>
          </a:prstGeom>
          <a:noFill/>
          <a:ln w="0">
            <a:solidFill>
              <a:srgbClr val="000000"/>
            </a:solidFill>
          </a:ln>
        </p:spPr>
      </p:pic>
      <p:pic>
        <p:nvPicPr>
          <p:cNvPr id="465" name="Picture 34"/>
          <p:cNvPicPr/>
          <p:nvPr/>
        </p:nvPicPr>
        <p:blipFill>
          <a:blip r:embed="rId4"/>
          <a:stretch/>
        </p:blipFill>
        <p:spPr>
          <a:xfrm>
            <a:off x="4816800" y="3867480"/>
            <a:ext cx="4505760" cy="2183040"/>
          </a:xfrm>
          <a:prstGeom prst="rect">
            <a:avLst/>
          </a:prstGeom>
          <a:noFill/>
          <a:ln w="0">
            <a:solidFill>
              <a:srgbClr val="000000"/>
            </a:solidFill>
          </a:ln>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2" name="PlaceHolder 1"/>
          <p:cNvSpPr>
            <a:spLocks noGrp="1"/>
          </p:cNvSpPr>
          <p:nvPr>
            <p:ph type="title"/>
          </p:nvPr>
        </p:nvSpPr>
        <p:spPr>
          <a:prstGeom prst="rect">
            <a:avLst/>
          </a:prstGeom>
          <a:noFill/>
          <a:ln w="0">
            <a:noFill/>
          </a:ln>
        </p:spPr>
        <p:txBody>
          <a:bodyPr lIns="0" tIns="0" rIns="0" bIns="0" anchor="ctr">
            <a:normAutofit/>
          </a:bodyPr>
          <a:lstStyle/>
          <a:p>
            <a:pPr indent="0" algn="ctr">
              <a:lnSpc>
                <a:spcPct val="90000"/>
              </a:lnSpc>
              <a:buNone/>
              <a:tabLst>
                <a:tab pos="0" algn="l"/>
              </a:tabLst>
            </a:pPr>
            <a:r>
              <a:rPr lang="en-CH" sz="5400" b="0" u="none" strike="noStrike">
                <a:solidFill>
                  <a:srgbClr val="000000"/>
                </a:solidFill>
                <a:effectLst/>
                <a:uFillTx/>
                <a:latin typeface="Calibri Light"/>
                <a:ea typeface="DejaVu Sans"/>
              </a:rPr>
              <a:t>Joins</a:t>
            </a:r>
            <a:endParaRPr lang="en-GB" sz="5400" b="0" u="none" strike="noStrike">
              <a:solidFill>
                <a:srgbClr val="000000"/>
              </a:solidFill>
              <a:effectLst/>
              <a:uFillTx/>
              <a:latin typeface="Arial"/>
            </a:endParaRPr>
          </a:p>
        </p:txBody>
      </p:sp>
      <p:sp>
        <p:nvSpPr>
          <p:cNvPr id="4" name="PlaceHolder 3"/>
          <p:cNvSpPr>
            <a:spLocks noGrp="1"/>
          </p:cNvSpPr>
          <p:nvPr>
            <p:ph type="ftr" idx="1"/>
          </p:nvPr>
        </p:nvSpPr>
        <p:spPr>
          <a:prstGeom prst="rect">
            <a:avLst/>
          </a:prstGeom>
        </p:spPr>
        <p:txBody>
          <a:bodyPr/>
          <a:lstStyle/>
          <a:p>
            <a:r>
              <a:t>Data, v1.0</a:t>
            </a:r>
          </a:p>
        </p:txBody>
      </p:sp>
      <p:sp>
        <p:nvSpPr>
          <p:cNvPr id="5" name="PlaceHolder 4"/>
          <p:cNvSpPr>
            <a:spLocks noGrp="1"/>
          </p:cNvSpPr>
          <p:nvPr>
            <p:ph type="sldNum" idx="2"/>
          </p:nvPr>
        </p:nvSpPr>
        <p:spPr>
          <a:prstGeom prst="rect">
            <a:avLst/>
          </a:prstGeom>
        </p:spPr>
        <p:txBody>
          <a:bodyPr/>
          <a:lstStyle/>
          <a:p>
            <a:fld id="{2FD0A5AE-35C2-4BC5-86CB-B44ACE1BB078}" type="slidenum">
              <a:t>64</a:t>
            </a:fld>
            <a:endParaRPr/>
          </a:p>
        </p:txBody>
      </p:sp>
      <p:sp>
        <p:nvSpPr>
          <p:cNvPr id="473" name="PlaceHolder 2"/>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2" name="Text Placeholder 1">
            <a:extLst>
              <a:ext uri="{FF2B5EF4-FFF2-40B4-BE49-F238E27FC236}">
                <a16:creationId xmlns:a16="http://schemas.microsoft.com/office/drawing/2014/main" id="{87CE5AE4-0C92-4E27-866E-4AE33ECC9959}"/>
              </a:ext>
            </a:extLst>
          </p:cNvPr>
          <p:cNvSpPr>
            <a:spLocks noGrp="1"/>
          </p:cNvSpPr>
          <p:nvPr>
            <p:ph type="body"/>
          </p:nvPr>
        </p:nvSpPr>
        <p:spPr/>
        <p:txBody>
          <a:bodyPr/>
          <a:lstStyle/>
          <a:p>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 name="PlaceHolder 1"/>
          <p:cNvSpPr>
            <a:spLocks noGrp="1"/>
          </p:cNvSpPr>
          <p:nvPr>
            <p:ph type="title"/>
          </p:nvPr>
        </p:nvSpPr>
        <p:spPr>
          <a:prstGeom prst="rect">
            <a:avLst/>
          </a:prstGeom>
          <a:noFill/>
          <a:ln w="0">
            <a:noFill/>
          </a:ln>
        </p:spPr>
        <p:txBody>
          <a:bodyPr lIns="0" tIns="0" rIns="0" bIns="0" anchor="ctr">
            <a:no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Join operations</a:t>
            </a:r>
            <a:endParaRPr lang="en-GB" sz="4400" b="0" u="none" strike="noStrike">
              <a:solidFill>
                <a:srgbClr val="000000"/>
              </a:solidFill>
              <a:effectLst/>
              <a:uFillTx/>
              <a:latin typeface="Arial"/>
            </a:endParaRPr>
          </a:p>
        </p:txBody>
      </p:sp>
      <p:sp>
        <p:nvSpPr>
          <p:cNvPr id="4" name="PlaceHolder 3"/>
          <p:cNvSpPr>
            <a:spLocks noGrp="1"/>
          </p:cNvSpPr>
          <p:nvPr>
            <p:ph type="ftr" idx="1"/>
          </p:nvPr>
        </p:nvSpPr>
        <p:spPr>
          <a:prstGeom prst="rect">
            <a:avLst/>
          </a:prstGeom>
        </p:spPr>
        <p:txBody>
          <a:bodyPr/>
          <a:lstStyle/>
          <a:p>
            <a:r>
              <a:t>Data, v1.0</a:t>
            </a:r>
          </a:p>
        </p:txBody>
      </p:sp>
      <p:sp>
        <p:nvSpPr>
          <p:cNvPr id="5" name="PlaceHolder 4"/>
          <p:cNvSpPr>
            <a:spLocks noGrp="1"/>
          </p:cNvSpPr>
          <p:nvPr>
            <p:ph type="sldNum" idx="2"/>
          </p:nvPr>
        </p:nvSpPr>
        <p:spPr>
          <a:prstGeom prst="rect">
            <a:avLst/>
          </a:prstGeom>
        </p:spPr>
        <p:txBody>
          <a:bodyPr/>
          <a:lstStyle/>
          <a:p>
            <a:fld id="{B73BCEBE-2ACC-4426-8776-3A3157382EA3}" type="slidenum">
              <a:rPr/>
              <a:t>65</a:t>
            </a:fld>
            <a:endParaRPr/>
          </a:p>
        </p:txBody>
      </p:sp>
      <p:sp>
        <p:nvSpPr>
          <p:cNvPr id="482" name="PlaceHolder 2"/>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483" name="Rectangle 4"/>
          <p:cNvSpPr/>
          <p:nvPr/>
        </p:nvSpPr>
        <p:spPr>
          <a:xfrm>
            <a:off x="7430400" y="206640"/>
            <a:ext cx="4535640" cy="987120"/>
          </a:xfrm>
          <a:prstGeom prst="rect">
            <a:avLst/>
          </a:prstGeom>
          <a:solidFill>
            <a:schemeClr val="accent1">
              <a:lumMod val="20000"/>
              <a:lumOff val="8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DE" sz="1800" b="0" u="none" strike="noStrike">
              <a:solidFill>
                <a:srgbClr val="000000"/>
              </a:solidFill>
              <a:effectLst/>
              <a:uFillTx/>
              <a:latin typeface="Courier New"/>
              <a:ea typeface="DejaVu Sans"/>
            </a:endParaRPr>
          </a:p>
        </p:txBody>
      </p:sp>
      <p:pic>
        <p:nvPicPr>
          <p:cNvPr id="484" name="Graphic 6"/>
          <p:cNvPicPr/>
          <p:nvPr/>
        </p:nvPicPr>
        <p:blipFill>
          <a:blip r:embed="rId2"/>
          <a:stretch/>
        </p:blipFill>
        <p:spPr>
          <a:xfrm>
            <a:off x="7511040" y="232200"/>
            <a:ext cx="707040" cy="627840"/>
          </a:xfrm>
          <a:prstGeom prst="rect">
            <a:avLst/>
          </a:prstGeom>
          <a:noFill/>
          <a:ln w="0">
            <a:noFill/>
          </a:ln>
        </p:spPr>
      </p:pic>
      <p:sp>
        <p:nvSpPr>
          <p:cNvPr id="485" name="TextBox 62"/>
          <p:cNvSpPr/>
          <p:nvPr/>
        </p:nvSpPr>
        <p:spPr>
          <a:xfrm>
            <a:off x="8163720" y="22536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Live Coding</a:t>
            </a:r>
            <a:endParaRPr lang="en-GB" sz="1800" b="0" u="none" strike="noStrike">
              <a:solidFill>
                <a:srgbClr val="000000"/>
              </a:solidFill>
              <a:effectLst/>
              <a:uFillTx/>
              <a:latin typeface="Arial"/>
            </a:endParaRPr>
          </a:p>
        </p:txBody>
      </p:sp>
      <p:sp>
        <p:nvSpPr>
          <p:cNvPr id="486" name="TextBox 63"/>
          <p:cNvSpPr/>
          <p:nvPr/>
        </p:nvSpPr>
        <p:spPr>
          <a:xfrm>
            <a:off x="8301960" y="542880"/>
            <a:ext cx="347940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400" b="0" u="none" strike="noStrike">
                <a:solidFill>
                  <a:srgbClr val="000000"/>
                </a:solidFill>
                <a:effectLst/>
                <a:uFillTx/>
                <a:latin typeface="Courier New"/>
                <a:ea typeface="DejaVu Sans"/>
              </a:rPr>
              <a:t>n</a:t>
            </a:r>
            <a:r>
              <a:rPr lang="en-DE" sz="1400" b="0" u="none" strike="noStrike">
                <a:solidFill>
                  <a:srgbClr val="000000"/>
                </a:solidFill>
                <a:effectLst/>
                <a:uFillTx/>
                <a:latin typeface="Courier New"/>
                <a:ea typeface="DejaVu Sans"/>
              </a:rPr>
              <a:t>otebooks/</a:t>
            </a:r>
            <a:r>
              <a:rPr lang="en-US" sz="1400" b="0" u="none" strike="noStrike">
                <a:solidFill>
                  <a:srgbClr val="000000"/>
                </a:solidFill>
                <a:effectLst/>
                <a:uFillTx/>
                <a:latin typeface="Courier New"/>
                <a:ea typeface="DejaVu Sans"/>
              </a:rPr>
              <a:t>tabular_data/</a:t>
            </a:r>
            <a:endParaRPr lang="en-GB"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urier New"/>
                <a:ea typeface="DejaVu Sans"/>
              </a:rPr>
              <a:t>020_join_operations.ipynb</a:t>
            </a:r>
            <a:endParaRPr lang="en-GB" sz="1400" b="0" u="none" strike="noStrike">
              <a:solidFill>
                <a:srgbClr val="000000"/>
              </a:solidFill>
              <a:effectLst/>
              <a:uFillTx/>
              <a:latin typeface="Arial"/>
            </a:endParaRPr>
          </a:p>
        </p:txBody>
      </p:sp>
      <p:sp>
        <p:nvSpPr>
          <p:cNvPr id="2" name="Text Placeholder 1">
            <a:extLst>
              <a:ext uri="{FF2B5EF4-FFF2-40B4-BE49-F238E27FC236}">
                <a16:creationId xmlns:a16="http://schemas.microsoft.com/office/drawing/2014/main" id="{48C65B44-1664-AA97-218F-D2E0F7635868}"/>
              </a:ext>
            </a:extLst>
          </p:cNvPr>
          <p:cNvSpPr>
            <a:spLocks noGrp="1"/>
          </p:cNvSpPr>
          <p:nvPr>
            <p:ph type="body"/>
          </p:nvPr>
        </p:nvSpPr>
        <p:spPr/>
        <p:txBody>
          <a:bodyPr/>
          <a:lstStyle/>
          <a:p>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8" name="PlaceHolder 2"/>
          <p:cNvSpPr>
            <a:spLocks noGrp="1"/>
          </p:cNvSpPr>
          <p:nvPr>
            <p:ph type="body"/>
          </p:nvPr>
        </p:nvSpPr>
        <p:spPr>
          <a:prstGeom prst="rect">
            <a:avLst/>
          </a:prstGeom>
          <a:noFill/>
          <a:ln w="0">
            <a:noFill/>
          </a:ln>
        </p:spPr>
        <p:txBody>
          <a:bodyPr lIns="90000" tIns="45000" rIns="90000" bIns="45000" anchor="t">
            <a:noAutofit/>
          </a:bodyPr>
          <a:lstStyle/>
          <a:p>
            <a:pPr marL="228600" indent="0">
              <a:lnSpc>
                <a:spcPct val="90000"/>
              </a:lnSpc>
              <a:spcBef>
                <a:spcPts val="1001"/>
              </a:spcBef>
              <a:buNone/>
              <a:tabLst>
                <a:tab pos="0" algn="l"/>
              </a:tabLst>
            </a:pPr>
            <a:r>
              <a:rPr lang="en-CH" sz="2400" b="0" u="none" strike="noStrike">
                <a:solidFill>
                  <a:srgbClr val="000000"/>
                </a:solidFill>
                <a:effectLst/>
                <a:uFillTx/>
                <a:latin typeface="Calibri"/>
                <a:ea typeface="DejaVu Sans"/>
              </a:rPr>
              <a:t>Join operations can be used to combine two tables using the values of one or m</a:t>
            </a:r>
            <a:r>
              <a:rPr lang="en-US" sz="2400" b="0" u="none" strike="noStrike">
                <a:solidFill>
                  <a:srgbClr val="000000"/>
                </a:solidFill>
                <a:effectLst/>
                <a:uFillTx/>
                <a:latin typeface="Calibri"/>
                <a:ea typeface="DejaVu Sans"/>
              </a:rPr>
              <a:t>ore columns</a:t>
            </a:r>
            <a:endParaRPr lang="en-GB" sz="24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US" sz="2400" b="0" u="none" strike="noStrike">
                <a:solidFill>
                  <a:srgbClr val="000000"/>
                </a:solidFill>
                <a:effectLst/>
                <a:uFillTx/>
                <a:latin typeface="Calibri"/>
                <a:ea typeface="DejaVu Sans"/>
              </a:rPr>
              <a:t>Different types of join:</a:t>
            </a:r>
            <a:endParaRPr lang="en-GB" sz="2400" b="0" u="none" strike="noStrike">
              <a:solidFill>
                <a:srgbClr val="000000"/>
              </a:solidFill>
              <a:effectLst/>
              <a:uFillTx/>
              <a:latin typeface="Arial"/>
            </a:endParaRPr>
          </a:p>
          <a:p>
            <a:pPr marL="685800" lvl="1" indent="-228600">
              <a:lnSpc>
                <a:spcPct val="90000"/>
              </a:lnSpc>
              <a:spcBef>
                <a:spcPts val="499"/>
              </a:spcBef>
              <a:buClr>
                <a:srgbClr val="000000"/>
              </a:buClr>
              <a:buFont typeface="Arial"/>
              <a:buChar char="•"/>
              <a:tabLst>
                <a:tab pos="0" algn="l"/>
              </a:tabLst>
            </a:pPr>
            <a:r>
              <a:rPr lang="en-US" sz="2400" b="0" u="none" strike="noStrike">
                <a:solidFill>
                  <a:srgbClr val="000000"/>
                </a:solidFill>
                <a:effectLst/>
                <a:uFillTx/>
                <a:latin typeface="Calibri"/>
                <a:ea typeface="DejaVu Sans"/>
              </a:rPr>
              <a:t>left/right: keep all the column values that are present in the first/second table</a:t>
            </a:r>
            <a:endParaRPr lang="en-GB" sz="2400" b="0" u="none" strike="noStrike">
              <a:solidFill>
                <a:srgbClr val="000000"/>
              </a:solidFill>
              <a:effectLst/>
              <a:uFillTx/>
              <a:latin typeface="Arial"/>
            </a:endParaRPr>
          </a:p>
          <a:p>
            <a:pPr marL="685800" lvl="1" indent="-228600">
              <a:lnSpc>
                <a:spcPct val="90000"/>
              </a:lnSpc>
              <a:spcBef>
                <a:spcPts val="499"/>
              </a:spcBef>
              <a:buClr>
                <a:srgbClr val="000000"/>
              </a:buClr>
              <a:buFont typeface="Arial"/>
              <a:buChar char="•"/>
              <a:tabLst>
                <a:tab pos="0" algn="l"/>
              </a:tabLst>
            </a:pPr>
            <a:r>
              <a:rPr lang="en-US" sz="2400" b="0" u="none" strike="noStrike">
                <a:solidFill>
                  <a:srgbClr val="000000"/>
                </a:solidFill>
                <a:effectLst/>
                <a:uFillTx/>
                <a:latin typeface="Calibri"/>
                <a:ea typeface="DejaVu Sans"/>
              </a:rPr>
              <a:t>inner: keep the column values common to both tables (intersection)</a:t>
            </a:r>
            <a:endParaRPr lang="en-GB" sz="2400" b="0" u="none" strike="noStrike">
              <a:solidFill>
                <a:srgbClr val="000000"/>
              </a:solidFill>
              <a:effectLst/>
              <a:uFillTx/>
              <a:latin typeface="Arial"/>
            </a:endParaRPr>
          </a:p>
          <a:p>
            <a:pPr marL="685800" lvl="1" indent="-228600">
              <a:lnSpc>
                <a:spcPct val="90000"/>
              </a:lnSpc>
              <a:spcBef>
                <a:spcPts val="499"/>
              </a:spcBef>
              <a:buClr>
                <a:srgbClr val="000000"/>
              </a:buClr>
              <a:buFont typeface="Arial"/>
              <a:buChar char="•"/>
              <a:tabLst>
                <a:tab pos="0" algn="l"/>
              </a:tabLst>
            </a:pPr>
            <a:r>
              <a:rPr lang="en-US" sz="2400" b="0" u="none" strike="noStrike">
                <a:solidFill>
                  <a:srgbClr val="000000"/>
                </a:solidFill>
                <a:effectLst/>
                <a:uFillTx/>
                <a:latin typeface="Calibri"/>
                <a:ea typeface="DejaVu Sans"/>
              </a:rPr>
              <a:t>outer: keep all the column values of both tables</a:t>
            </a:r>
            <a:endParaRPr lang="en-GB" sz="24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CH" sz="2400" b="0" u="none" strike="noStrike">
                <a:solidFill>
                  <a:srgbClr val="000000"/>
                </a:solidFill>
                <a:effectLst/>
                <a:uFillTx/>
                <a:latin typeface="Calibri"/>
                <a:ea typeface="DejaVu Sans"/>
              </a:rPr>
              <a:t>Anti-joins can be used to exclude the values that are present in one, but not the other table (filtering based on arbitrary criteria)</a:t>
            </a:r>
            <a:endParaRPr lang="en-GB" sz="24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t>Data, v1.0</a:t>
            </a:r>
          </a:p>
        </p:txBody>
      </p:sp>
      <p:sp>
        <p:nvSpPr>
          <p:cNvPr id="6" name="PlaceHolder 5"/>
          <p:cNvSpPr>
            <a:spLocks noGrp="1"/>
          </p:cNvSpPr>
          <p:nvPr>
            <p:ph type="sldNum" idx="2"/>
          </p:nvPr>
        </p:nvSpPr>
        <p:spPr/>
        <p:txBody>
          <a:bodyPr/>
          <a:lstStyle/>
          <a:p>
            <a:fld id="{461DF40B-9E7C-478A-A521-75E47C8A09DF}" type="slidenum">
              <a:t>66</a:t>
            </a:fld>
            <a:endParaRPr/>
          </a:p>
        </p:txBody>
      </p:sp>
      <p:sp>
        <p:nvSpPr>
          <p:cNvPr id="489" name="PlaceHolder 3"/>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487" name="PlaceHolder 1"/>
          <p:cNvSpPr>
            <a:spLocks noGrp="1"/>
          </p:cNvSpPr>
          <p:nvPr>
            <p:ph type="title"/>
          </p:nvPr>
        </p:nvSpPr>
        <p:spPr>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Join operations – Main points</a:t>
            </a:r>
            <a:endParaRPr lang="en-GB" sz="4400" b="0" u="none" strike="noStrike">
              <a:solidFill>
                <a:srgbClr val="000000"/>
              </a:solidFill>
              <a:effectLst/>
              <a:uFillTx/>
              <a:latin typeface="Arial"/>
            </a:endParaRPr>
          </a:p>
        </p:txBody>
      </p:sp>
      <p:sp>
        <p:nvSpPr>
          <p:cNvPr id="490" name="Rectangle 11"/>
          <p:cNvSpPr/>
          <p:nvPr/>
        </p:nvSpPr>
        <p:spPr>
          <a:xfrm>
            <a:off x="7430400" y="206640"/>
            <a:ext cx="4535640" cy="987120"/>
          </a:xfrm>
          <a:prstGeom prst="rect">
            <a:avLst/>
          </a:prstGeom>
          <a:solidFill>
            <a:schemeClr val="accent1">
              <a:lumMod val="20000"/>
              <a:lumOff val="8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DE" sz="1800" b="0" u="none" strike="noStrike">
              <a:solidFill>
                <a:srgbClr val="000000"/>
              </a:solidFill>
              <a:effectLst/>
              <a:uFillTx/>
              <a:latin typeface="Courier New"/>
              <a:ea typeface="DejaVu Sans"/>
            </a:endParaRPr>
          </a:p>
        </p:txBody>
      </p:sp>
      <p:pic>
        <p:nvPicPr>
          <p:cNvPr id="491" name="Graphic 1"/>
          <p:cNvPicPr/>
          <p:nvPr/>
        </p:nvPicPr>
        <p:blipFill>
          <a:blip r:embed="rId2"/>
          <a:stretch/>
        </p:blipFill>
        <p:spPr>
          <a:xfrm>
            <a:off x="7511040" y="232200"/>
            <a:ext cx="707040" cy="627840"/>
          </a:xfrm>
          <a:prstGeom prst="rect">
            <a:avLst/>
          </a:prstGeom>
          <a:noFill/>
          <a:ln w="0">
            <a:noFill/>
          </a:ln>
        </p:spPr>
      </p:pic>
      <p:sp>
        <p:nvSpPr>
          <p:cNvPr id="492" name="TextBox 64"/>
          <p:cNvSpPr/>
          <p:nvPr/>
        </p:nvSpPr>
        <p:spPr>
          <a:xfrm>
            <a:off x="8163720" y="22536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Live Coding</a:t>
            </a:r>
            <a:endParaRPr lang="en-GB" sz="1800" b="0" u="none" strike="noStrike">
              <a:solidFill>
                <a:srgbClr val="000000"/>
              </a:solidFill>
              <a:effectLst/>
              <a:uFillTx/>
              <a:latin typeface="Arial"/>
            </a:endParaRPr>
          </a:p>
        </p:txBody>
      </p:sp>
      <p:sp>
        <p:nvSpPr>
          <p:cNvPr id="493" name="TextBox 65"/>
          <p:cNvSpPr/>
          <p:nvPr/>
        </p:nvSpPr>
        <p:spPr>
          <a:xfrm>
            <a:off x="8301960" y="542880"/>
            <a:ext cx="347940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400" b="0" u="none" strike="noStrike">
                <a:solidFill>
                  <a:srgbClr val="000000"/>
                </a:solidFill>
                <a:effectLst/>
                <a:uFillTx/>
                <a:latin typeface="Courier New"/>
                <a:ea typeface="DejaVu Sans"/>
              </a:rPr>
              <a:t>n</a:t>
            </a:r>
            <a:r>
              <a:rPr lang="en-DE" sz="1400" b="0" u="none" strike="noStrike">
                <a:solidFill>
                  <a:srgbClr val="000000"/>
                </a:solidFill>
                <a:effectLst/>
                <a:uFillTx/>
                <a:latin typeface="Courier New"/>
                <a:ea typeface="DejaVu Sans"/>
              </a:rPr>
              <a:t>otebooks/</a:t>
            </a:r>
            <a:r>
              <a:rPr lang="en-US" sz="1400" b="0" u="none" strike="noStrike">
                <a:solidFill>
                  <a:srgbClr val="000000"/>
                </a:solidFill>
                <a:effectLst/>
                <a:uFillTx/>
                <a:latin typeface="Courier New"/>
                <a:ea typeface="DejaVu Sans"/>
              </a:rPr>
              <a:t>tabular_data/</a:t>
            </a:r>
            <a:endParaRPr lang="en-GB"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urier New"/>
                <a:ea typeface="DejaVu Sans"/>
              </a:rPr>
              <a:t>020_join_operations.ipynb</a:t>
            </a:r>
            <a:endParaRPr lang="en-GB" sz="1400" b="0" u="none" strike="noStrike">
              <a:solidFill>
                <a:srgbClr val="000000"/>
              </a:solidFill>
              <a:effectLst/>
              <a:uFillTx/>
              <a:latin typeface="Arial"/>
            </a:endParaRPr>
          </a:p>
        </p:txBody>
      </p:sp>
      <p:pic>
        <p:nvPicPr>
          <p:cNvPr id="494" name="Picture 493"/>
          <p:cNvPicPr/>
          <p:nvPr/>
        </p:nvPicPr>
        <p:blipFill>
          <a:blip r:embed="rId3"/>
          <a:stretch/>
        </p:blipFill>
        <p:spPr>
          <a:xfrm>
            <a:off x="6660000" y="1807920"/>
            <a:ext cx="5218560" cy="3230640"/>
          </a:xfrm>
          <a:prstGeom prst="rect">
            <a:avLst/>
          </a:prstGeom>
          <a:noFill/>
          <a:ln w="0">
            <a:noFill/>
          </a:ln>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6" name="PlaceHolder 2"/>
          <p:cNvSpPr>
            <a:spLocks noGrp="1"/>
          </p:cNvSpPr>
          <p:nvPr>
            <p:ph type="body"/>
          </p:nvPr>
        </p:nvSpPr>
        <p:spPr>
          <a:prstGeom prst="rect">
            <a:avLst/>
          </a:prstGeom>
          <a:noFill/>
          <a:ln w="0">
            <a:noFill/>
          </a:ln>
        </p:spPr>
        <p:txBody>
          <a:bodyPr lIns="90000" tIns="45000" rIns="90000" bIns="45000" anchor="t">
            <a:noAutofit/>
          </a:bodyPr>
          <a:lstStyle/>
          <a:p>
            <a:pPr marL="228600" indent="-228600">
              <a:lnSpc>
                <a:spcPct val="90000"/>
              </a:lnSpc>
              <a:spcBef>
                <a:spcPts val="1001"/>
              </a:spcBef>
              <a:buClr>
                <a:srgbClr val="000000"/>
              </a:buClr>
              <a:buFont typeface="Arial"/>
              <a:buChar char="•"/>
            </a:pPr>
            <a:r>
              <a:rPr lang="en-US" sz="2400" b="0" u="none" strike="noStrike">
                <a:solidFill>
                  <a:srgbClr val="000000"/>
                </a:solidFill>
                <a:effectLst/>
                <a:uFillTx/>
                <a:latin typeface="Calibri"/>
                <a:ea typeface="DejaVu Sans"/>
              </a:rPr>
              <a:t>Research question: Does Mediterranean diet help prevent cardiovascular diseases, such as heart attacks and strokes?</a:t>
            </a:r>
            <a:endParaRPr lang="en-GB" sz="24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t>Data, v1.0</a:t>
            </a:r>
          </a:p>
        </p:txBody>
      </p:sp>
      <p:sp>
        <p:nvSpPr>
          <p:cNvPr id="6" name="PlaceHolder 5"/>
          <p:cNvSpPr>
            <a:spLocks noGrp="1"/>
          </p:cNvSpPr>
          <p:nvPr>
            <p:ph type="sldNum" idx="2"/>
          </p:nvPr>
        </p:nvSpPr>
        <p:spPr/>
        <p:txBody>
          <a:bodyPr/>
          <a:lstStyle/>
          <a:p>
            <a:fld id="{763EB320-B046-4868-8D4E-7153EBC44CED}" type="slidenum">
              <a:t>67</a:t>
            </a:fld>
            <a:endParaRPr/>
          </a:p>
        </p:txBody>
      </p:sp>
      <p:sp>
        <p:nvSpPr>
          <p:cNvPr id="497" name="PlaceHolder 3"/>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495" name="PlaceHolder 1"/>
          <p:cNvSpPr>
            <a:spLocks noGrp="1"/>
          </p:cNvSpPr>
          <p:nvPr>
            <p:ph type="title"/>
          </p:nvPr>
        </p:nvSpPr>
        <p:spPr>
          <a:prstGeom prst="rect">
            <a:avLst/>
          </a:prstGeom>
          <a:noFill/>
          <a:ln w="0">
            <a:noFill/>
          </a:ln>
        </p:spPr>
        <p:txBody>
          <a:bodyPr lIns="90000" tIns="45000" rIns="90000" bIns="45000" anchor="ctr">
            <a:noAutofit/>
          </a:bodyPr>
          <a:lstStyle/>
          <a:p>
            <a:pPr indent="0">
              <a:lnSpc>
                <a:spcPct val="90000"/>
              </a:lnSpc>
              <a:buNone/>
              <a:tabLst>
                <a:tab pos="0" algn="l"/>
              </a:tabLst>
            </a:pPr>
            <a:r>
              <a:rPr lang="en-US" sz="4400" b="0" u="none" strike="noStrike">
                <a:solidFill>
                  <a:srgbClr val="000000"/>
                </a:solidFill>
                <a:effectLst/>
                <a:uFillTx/>
                <a:latin typeface="Calibri Light"/>
                <a:ea typeface="DejaVu Sans"/>
              </a:rPr>
              <a:t>Example of tabular data: “Predimed” study</a:t>
            </a:r>
            <a:endParaRPr lang="en-GB" sz="4400" b="0" u="none" strike="noStrike">
              <a:solidFill>
                <a:srgbClr val="000000"/>
              </a:solidFill>
              <a:effectLst/>
              <a:uFillTx/>
              <a:latin typeface="Arial"/>
            </a:endParaRPr>
          </a:p>
        </p:txBody>
      </p:sp>
      <p:sp>
        <p:nvSpPr>
          <p:cNvPr id="498" name="Content Placeholder 3"/>
          <p:cNvSpPr/>
          <p:nvPr/>
        </p:nvSpPr>
        <p:spPr>
          <a:xfrm>
            <a:off x="838080" y="2160000"/>
            <a:ext cx="6179040" cy="3068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marL="228600" indent="-228600">
              <a:lnSpc>
                <a:spcPct val="90000"/>
              </a:lnSpc>
              <a:spcBef>
                <a:spcPts val="1001"/>
              </a:spcBef>
              <a:buClr>
                <a:srgbClr val="000000"/>
              </a:buClr>
              <a:buFont typeface="Arial"/>
              <a:buChar char="•"/>
            </a:pPr>
            <a:r>
              <a:rPr lang="en-US" sz="2400" b="0" u="none" strike="noStrike">
                <a:solidFill>
                  <a:srgbClr val="000000"/>
                </a:solidFill>
                <a:effectLst/>
                <a:uFillTx/>
                <a:latin typeface="Calibri"/>
                <a:ea typeface="DejaVu Sans"/>
              </a:rPr>
              <a:t>Longitudinal study following &gt; 7000 Spanish participants</a:t>
            </a:r>
            <a:endParaRPr lang="en-GB" sz="24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pPr>
            <a:r>
              <a:rPr lang="en-US" sz="2400" b="0" u="none" strike="noStrike">
                <a:solidFill>
                  <a:srgbClr val="000000"/>
                </a:solidFill>
                <a:effectLst/>
                <a:uFillTx/>
                <a:latin typeface="Calibri"/>
                <a:ea typeface="DejaVu Sans"/>
              </a:rPr>
              <a:t>Three different diets:</a:t>
            </a:r>
            <a:endParaRPr lang="en-GB" sz="2400" b="0" u="none" strike="noStrike">
              <a:solidFill>
                <a:srgbClr val="000000"/>
              </a:solidFill>
              <a:effectLst/>
              <a:uFillTx/>
              <a:latin typeface="Arial"/>
            </a:endParaRPr>
          </a:p>
          <a:p>
            <a:pPr marL="432000" lvl="1" indent="-216000">
              <a:lnSpc>
                <a:spcPct val="90000"/>
              </a:lnSpc>
              <a:spcBef>
                <a:spcPts val="1001"/>
              </a:spcBef>
              <a:buClr>
                <a:srgbClr val="000000"/>
              </a:buClr>
              <a:buSzPct val="45000"/>
              <a:buFont typeface="Wingdings" charset="2"/>
              <a:buChar char=""/>
            </a:pPr>
            <a:r>
              <a:rPr lang="en-US" sz="2400" b="0" u="none" strike="noStrike">
                <a:solidFill>
                  <a:srgbClr val="000000"/>
                </a:solidFill>
                <a:effectLst/>
                <a:uFillTx/>
                <a:latin typeface="Calibri"/>
                <a:ea typeface="DejaVu Sans"/>
              </a:rPr>
              <a:t>Mediterranean diet + extra virgin olive oil</a:t>
            </a:r>
            <a:endParaRPr lang="en-GB" sz="2400" b="0" u="none" strike="noStrike">
              <a:solidFill>
                <a:srgbClr val="000000"/>
              </a:solidFill>
              <a:effectLst/>
              <a:uFillTx/>
              <a:latin typeface="Arial"/>
            </a:endParaRPr>
          </a:p>
          <a:p>
            <a:pPr marL="432000" lvl="1" indent="-216000">
              <a:lnSpc>
                <a:spcPct val="90000"/>
              </a:lnSpc>
              <a:spcBef>
                <a:spcPts val="1001"/>
              </a:spcBef>
              <a:buClr>
                <a:srgbClr val="000000"/>
              </a:buClr>
              <a:buSzPct val="45000"/>
              <a:buFont typeface="Wingdings" charset="2"/>
              <a:buChar char=""/>
            </a:pPr>
            <a:r>
              <a:rPr lang="en-US" sz="2400" b="0" u="none" strike="noStrike">
                <a:solidFill>
                  <a:srgbClr val="000000"/>
                </a:solidFill>
                <a:effectLst/>
                <a:uFillTx/>
                <a:latin typeface="Calibri"/>
                <a:ea typeface="DejaVu Sans"/>
              </a:rPr>
              <a:t>Mediterranean diet + nuts</a:t>
            </a:r>
            <a:endParaRPr lang="en-GB" sz="2400" b="0" u="none" strike="noStrike">
              <a:solidFill>
                <a:srgbClr val="000000"/>
              </a:solidFill>
              <a:effectLst/>
              <a:uFillTx/>
              <a:latin typeface="Arial"/>
            </a:endParaRPr>
          </a:p>
          <a:p>
            <a:pPr marL="432000" lvl="1" indent="-216000">
              <a:lnSpc>
                <a:spcPct val="90000"/>
              </a:lnSpc>
              <a:spcBef>
                <a:spcPts val="1001"/>
              </a:spcBef>
              <a:buClr>
                <a:srgbClr val="000000"/>
              </a:buClr>
              <a:buSzPct val="45000"/>
              <a:buFont typeface="Wingdings" charset="2"/>
              <a:buChar char=""/>
            </a:pPr>
            <a:r>
              <a:rPr lang="en-US" sz="2400" b="0" u="none" strike="noStrike">
                <a:solidFill>
                  <a:srgbClr val="000000"/>
                </a:solidFill>
                <a:effectLst/>
                <a:uFillTx/>
                <a:latin typeface="Calibri"/>
                <a:ea typeface="DejaVu Sans"/>
              </a:rPr>
              <a:t>Control diet (low fat food items)</a:t>
            </a:r>
            <a:br>
              <a:rPr sz="2400"/>
            </a:br>
            <a:r>
              <a:rPr lang="en-US" sz="2400" b="0" u="none" strike="noStrike">
                <a:solidFill>
                  <a:srgbClr val="000000"/>
                </a:solidFill>
                <a:effectLst/>
                <a:uFillTx/>
                <a:latin typeface="Calibri"/>
                <a:ea typeface="DejaVu Sans"/>
              </a:rPr>
              <a:t> </a:t>
            </a:r>
            <a:endParaRPr lang="en-GB" sz="2400" b="0" u="none" strike="noStrike">
              <a:solidFill>
                <a:srgbClr val="000000"/>
              </a:solidFill>
              <a:effectLst/>
              <a:uFillTx/>
              <a:latin typeface="Arial"/>
            </a:endParaRPr>
          </a:p>
        </p:txBody>
      </p:sp>
      <p:pic>
        <p:nvPicPr>
          <p:cNvPr id="499" name="Picture 29"/>
          <p:cNvPicPr/>
          <p:nvPr/>
        </p:nvPicPr>
        <p:blipFill>
          <a:blip r:embed="rId2"/>
          <a:stretch/>
        </p:blipFill>
        <p:spPr>
          <a:xfrm>
            <a:off x="7307280" y="1807200"/>
            <a:ext cx="4917960" cy="3409920"/>
          </a:xfrm>
          <a:prstGeom prst="rect">
            <a:avLst/>
          </a:prstGeom>
          <a:noFill/>
          <a:ln w="0">
            <a:noFill/>
          </a:ln>
        </p:spPr>
      </p:pic>
      <p:sp>
        <p:nvSpPr>
          <p:cNvPr id="500" name="Content Placeholder 4"/>
          <p:cNvSpPr/>
          <p:nvPr/>
        </p:nvSpPr>
        <p:spPr>
          <a:xfrm>
            <a:off x="4992120" y="5852160"/>
            <a:ext cx="7197120" cy="444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marL="228600" indent="-228600">
              <a:lnSpc>
                <a:spcPct val="90000"/>
              </a:lnSpc>
              <a:spcBef>
                <a:spcPts val="1001"/>
              </a:spcBef>
              <a:buClr>
                <a:srgbClr val="000000"/>
              </a:buClr>
              <a:buFont typeface="Arial"/>
              <a:buChar char="•"/>
            </a:pPr>
            <a:r>
              <a:rPr lang="en-US" sz="2400" b="0" u="sng" strike="noStrike">
                <a:solidFill>
                  <a:srgbClr val="0563C1"/>
                </a:solidFill>
                <a:effectLst/>
                <a:uFillTx/>
                <a:latin typeface="Calibri"/>
                <a:ea typeface="DejaVu Sans"/>
                <a:hlinkClick r:id="rId3"/>
              </a:rPr>
              <a:t>Estruch et al. (2018). New England Journal of Medicine</a:t>
            </a:r>
            <a:endParaRPr lang="en-GB" sz="2400" b="0" u="none" strike="noStrike">
              <a:solidFill>
                <a:srgbClr val="000000"/>
              </a:solidFill>
              <a:effectLst/>
              <a:uFillTx/>
              <a:latin typeface="Arial"/>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 name="PlaceHolder 1"/>
          <p:cNvSpPr>
            <a:spLocks noGrp="1"/>
          </p:cNvSpPr>
          <p:nvPr>
            <p:ph type="title"/>
          </p:nvPr>
        </p:nvSpPr>
        <p:spPr>
          <a:prstGeom prst="rect">
            <a:avLst/>
          </a:prstGeom>
          <a:noFill/>
          <a:ln w="0">
            <a:noFill/>
          </a:ln>
        </p:spPr>
        <p:txBody>
          <a:bodyPr lIns="90000" tIns="45000" rIns="90000" bIns="45000" anchor="ctr">
            <a:noAutofit/>
          </a:bodyPr>
          <a:lstStyle/>
          <a:p>
            <a:pPr indent="0">
              <a:lnSpc>
                <a:spcPct val="90000"/>
              </a:lnSpc>
              <a:buNone/>
              <a:tabLst>
                <a:tab pos="0" algn="l"/>
              </a:tabLst>
            </a:pPr>
            <a:r>
              <a:rPr lang="en-US" sz="4400" b="0" u="none" strike="noStrike">
                <a:solidFill>
                  <a:srgbClr val="000000"/>
                </a:solidFill>
                <a:effectLst/>
                <a:uFillTx/>
                <a:latin typeface="Calibri Light"/>
                <a:ea typeface="DejaVu Sans"/>
              </a:rPr>
              <a:t>Example of tabular data: “Predimed” study</a:t>
            </a:r>
            <a:endParaRPr lang="en-GB" sz="4400" b="0" u="none" strike="noStrike">
              <a:solidFill>
                <a:srgbClr val="000000"/>
              </a:solidFill>
              <a:effectLst/>
              <a:uFillTx/>
              <a:latin typeface="Arial"/>
            </a:endParaRPr>
          </a:p>
        </p:txBody>
      </p:sp>
      <p:sp>
        <p:nvSpPr>
          <p:cNvPr id="4" name="PlaceHolder 3"/>
          <p:cNvSpPr>
            <a:spLocks noGrp="1"/>
          </p:cNvSpPr>
          <p:nvPr>
            <p:ph type="ftr" idx="1"/>
          </p:nvPr>
        </p:nvSpPr>
        <p:spPr/>
        <p:txBody>
          <a:bodyPr/>
          <a:lstStyle/>
          <a:p>
            <a:r>
              <a:t>Data, v1.0</a:t>
            </a:r>
          </a:p>
        </p:txBody>
      </p:sp>
      <p:sp>
        <p:nvSpPr>
          <p:cNvPr id="5" name="PlaceHolder 4"/>
          <p:cNvSpPr>
            <a:spLocks noGrp="1"/>
          </p:cNvSpPr>
          <p:nvPr>
            <p:ph type="sldNum" idx="2"/>
          </p:nvPr>
        </p:nvSpPr>
        <p:spPr/>
        <p:txBody>
          <a:bodyPr/>
          <a:lstStyle/>
          <a:p>
            <a:fld id="{6EFA0F9C-DCD6-4073-B311-9D0972ED540D}" type="slidenum">
              <a:t>68</a:t>
            </a:fld>
            <a:endParaRPr/>
          </a:p>
        </p:txBody>
      </p:sp>
      <p:sp>
        <p:nvSpPr>
          <p:cNvPr id="502" name="PlaceHolder 2"/>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503" name="Content Placeholder 1"/>
          <p:cNvSpPr/>
          <p:nvPr/>
        </p:nvSpPr>
        <p:spPr>
          <a:xfrm>
            <a:off x="4992120" y="5852160"/>
            <a:ext cx="7197120" cy="444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a:lnSpc>
                <a:spcPct val="90000"/>
              </a:lnSpc>
              <a:spcBef>
                <a:spcPts val="1001"/>
              </a:spcBef>
            </a:pPr>
            <a:r>
              <a:rPr lang="en-US" sz="2400" b="0" u="sng" strike="noStrike">
                <a:solidFill>
                  <a:srgbClr val="0563C1"/>
                </a:solidFill>
                <a:effectLst/>
                <a:uFillTx/>
                <a:latin typeface="Calibri"/>
                <a:ea typeface="DejaVu Sans"/>
                <a:hlinkClick r:id="rId2"/>
              </a:rPr>
              <a:t>Estruch et al. (2018). New England Journal of Medicine</a:t>
            </a:r>
            <a:endParaRPr lang="en-GB" sz="2400" b="0" u="none" strike="noStrike">
              <a:solidFill>
                <a:srgbClr val="000000"/>
              </a:solidFill>
              <a:effectLst/>
              <a:uFillTx/>
              <a:latin typeface="Arial"/>
            </a:endParaRPr>
          </a:p>
        </p:txBody>
      </p:sp>
      <p:pic>
        <p:nvPicPr>
          <p:cNvPr id="504" name="Picture 30"/>
          <p:cNvPicPr/>
          <p:nvPr/>
        </p:nvPicPr>
        <p:blipFill>
          <a:blip r:embed="rId3"/>
          <a:stretch/>
        </p:blipFill>
        <p:spPr>
          <a:xfrm>
            <a:off x="720000" y="1409760"/>
            <a:ext cx="10693800" cy="2187720"/>
          </a:xfrm>
          <a:prstGeom prst="rect">
            <a:avLst/>
          </a:prstGeom>
          <a:noFill/>
          <a:ln w="0">
            <a:noFill/>
          </a:ln>
        </p:spPr>
      </p:pic>
      <p:pic>
        <p:nvPicPr>
          <p:cNvPr id="505" name="Picture 31"/>
          <p:cNvPicPr/>
          <p:nvPr/>
        </p:nvPicPr>
        <p:blipFill>
          <a:blip r:embed="rId4"/>
          <a:stretch/>
        </p:blipFill>
        <p:spPr>
          <a:xfrm>
            <a:off x="1080000" y="3881880"/>
            <a:ext cx="3521520" cy="2235600"/>
          </a:xfrm>
          <a:prstGeom prst="rect">
            <a:avLst/>
          </a:prstGeom>
          <a:noFill/>
          <a:ln w="0">
            <a:noFill/>
          </a:ln>
        </p:spPr>
      </p:pic>
      <p:sp>
        <p:nvSpPr>
          <p:cNvPr id="2" name="Text Placeholder 1">
            <a:extLst>
              <a:ext uri="{FF2B5EF4-FFF2-40B4-BE49-F238E27FC236}">
                <a16:creationId xmlns:a16="http://schemas.microsoft.com/office/drawing/2014/main" id="{4DE90EAC-026F-D08B-34F0-BC754F8941A5}"/>
              </a:ext>
            </a:extLst>
          </p:cNvPr>
          <p:cNvSpPr>
            <a:spLocks noGrp="1"/>
          </p:cNvSpPr>
          <p:nvPr>
            <p:ph type="body"/>
          </p:nvPr>
        </p:nvSpPr>
        <p:spPr/>
        <p:txBody>
          <a:bodyPr/>
          <a:lstStyle/>
          <a:p>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6" name="Rectangle 12"/>
          <p:cNvSpPr/>
          <p:nvPr/>
        </p:nvSpPr>
        <p:spPr>
          <a:xfrm>
            <a:off x="7428240" y="205920"/>
            <a:ext cx="4535640" cy="987120"/>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DE" sz="1800" b="0" u="none" strike="noStrike">
              <a:solidFill>
                <a:srgbClr val="000000"/>
              </a:solidFill>
              <a:effectLst/>
              <a:uFillTx/>
              <a:latin typeface="Courier New"/>
              <a:ea typeface="DejaVu Sans"/>
            </a:endParaRPr>
          </a:p>
        </p:txBody>
      </p:sp>
      <p:sp>
        <p:nvSpPr>
          <p:cNvPr id="507" name="PlaceHolder 1"/>
          <p:cNvSpPr>
            <a:spLocks noGrp="1"/>
          </p:cNvSpPr>
          <p:nvPr>
            <p:ph type="body"/>
          </p:nvPr>
        </p:nvSpPr>
        <p:spPr>
          <a:prstGeom prst="rect">
            <a:avLst/>
          </a:prstGeom>
          <a:noFill/>
          <a:ln w="0">
            <a:noFill/>
          </a:ln>
        </p:spPr>
        <p:txBody>
          <a:bodyPr lIns="90000" tIns="45000" rIns="90000" bIns="45000" anchor="t">
            <a:noAutofit/>
          </a:bodyPr>
          <a:lstStyle/>
          <a:p>
            <a:pPr marL="228600" indent="-228600">
              <a:lnSpc>
                <a:spcPct val="90000"/>
              </a:lnSpc>
              <a:spcBef>
                <a:spcPts val="1001"/>
              </a:spcBef>
              <a:buClr>
                <a:srgbClr val="000000"/>
              </a:buClr>
              <a:buFont typeface="Arial"/>
              <a:buChar char="•"/>
            </a:pPr>
            <a:r>
              <a:rPr lang="en-US" sz="2800" b="0" u="none" strike="noStrike">
                <a:solidFill>
                  <a:srgbClr val="000000"/>
                </a:solidFill>
                <a:effectLst/>
                <a:uFillTx/>
                <a:latin typeface="Calibri"/>
                <a:ea typeface="DejaVu Sans"/>
              </a:rPr>
              <a:t>Use joins to add the experimental information to the data</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r>
              <a:rPr lang="en-US" sz="2800" b="0" u="none" strike="noStrike">
                <a:solidFill>
                  <a:srgbClr val="000000"/>
                </a:solidFill>
                <a:effectLst/>
                <a:uFillTx/>
                <a:latin typeface="Calibri"/>
                <a:ea typeface="DejaVu Sans"/>
              </a:rPr>
              <a:t>(who followed which diet)</a:t>
            </a: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US" sz="2800" b="0" u="none" strike="noStrike">
                <a:solidFill>
                  <a:srgbClr val="000000"/>
                </a:solidFill>
                <a:effectLst/>
                <a:uFillTx/>
                <a:latin typeface="Calibri"/>
                <a:ea typeface="DejaVu Sans"/>
              </a:rPr>
              <a:t>Use anti-joins to correct for attrition </a:t>
            </a:r>
            <a:br>
              <a:rPr sz="2800"/>
            </a:br>
            <a:r>
              <a:rPr lang="en-US" sz="2800" b="0" u="none" strike="noStrike">
                <a:solidFill>
                  <a:srgbClr val="000000"/>
                </a:solidFill>
                <a:effectLst/>
                <a:uFillTx/>
                <a:latin typeface="Calibri"/>
                <a:ea typeface="DejaVu Sans"/>
              </a:rPr>
              <a:t>(people who self-reported not following the diet)</a:t>
            </a: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US" sz="2800" b="0" u="none" strike="noStrike">
                <a:solidFill>
                  <a:srgbClr val="000000"/>
                </a:solidFill>
                <a:effectLst/>
                <a:uFillTx/>
                <a:latin typeface="Calibri"/>
                <a:ea typeface="DejaVu Sans"/>
              </a:rPr>
              <a:t>Submit a PR on</a:t>
            </a:r>
            <a:br>
              <a:rPr sz="2800"/>
            </a:br>
            <a:r>
              <a:rPr lang="en-US" sz="2800" b="0" u="none" strike="noStrike">
                <a:solidFill>
                  <a:srgbClr val="000000"/>
                </a:solidFill>
                <a:effectLst/>
                <a:uFillTx/>
                <a:latin typeface="Consolas"/>
                <a:ea typeface="DejaVu Sans"/>
              </a:rPr>
              <a:t>git.aspp.school/ASPP/2025-plovdiv-data</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t>Data, v1.0</a:t>
            </a:r>
          </a:p>
        </p:txBody>
      </p:sp>
      <p:sp>
        <p:nvSpPr>
          <p:cNvPr id="6" name="PlaceHolder 5"/>
          <p:cNvSpPr>
            <a:spLocks noGrp="1"/>
          </p:cNvSpPr>
          <p:nvPr>
            <p:ph type="sldNum" idx="2"/>
          </p:nvPr>
        </p:nvSpPr>
        <p:spPr/>
        <p:txBody>
          <a:bodyPr/>
          <a:lstStyle/>
          <a:p>
            <a:fld id="{5F95792B-DAC5-4D5D-9092-7D6F95C0B89E}" type="slidenum">
              <a:t>69</a:t>
            </a:fld>
            <a:endParaRPr/>
          </a:p>
        </p:txBody>
      </p:sp>
      <p:sp>
        <p:nvSpPr>
          <p:cNvPr id="508" name="PlaceHolder 2"/>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512" name="PlaceHolder 3"/>
          <p:cNvSpPr>
            <a:spLocks noGrp="1"/>
          </p:cNvSpPr>
          <p:nvPr>
            <p:ph type="title"/>
          </p:nvPr>
        </p:nvSpPr>
        <p:spPr>
          <a:prstGeom prst="rect">
            <a:avLst/>
          </a:prstGeom>
          <a:noFill/>
          <a:ln w="0">
            <a:noFill/>
          </a:ln>
        </p:spPr>
        <p:txBody>
          <a:bodyPr lIns="90000" tIns="45000" rIns="90000" bIns="45000" anchor="ctr">
            <a:normAutofit fontScale="90000"/>
          </a:bodyPr>
          <a:lstStyle/>
          <a:p>
            <a:pPr indent="0">
              <a:lnSpc>
                <a:spcPct val="90000"/>
              </a:lnSpc>
              <a:buNone/>
              <a:tabLst>
                <a:tab pos="0" algn="l"/>
              </a:tabLst>
            </a:pPr>
            <a:r>
              <a:rPr lang="en-US" sz="4400" b="1" u="none" strike="noStrike">
                <a:solidFill>
                  <a:srgbClr val="000000"/>
                </a:solidFill>
                <a:effectLst/>
                <a:uFillTx/>
                <a:latin typeface="Calibri Light"/>
                <a:ea typeface="DejaVu Sans"/>
              </a:rPr>
              <a:t>Hands-on</a:t>
            </a:r>
            <a:br>
              <a:rPr sz="4400"/>
            </a:br>
            <a:endParaRPr lang="en-GB" sz="4400" b="0" u="none" strike="noStrike">
              <a:solidFill>
                <a:srgbClr val="000000"/>
              </a:solidFill>
              <a:effectLst/>
              <a:uFillTx/>
              <a:latin typeface="Arial"/>
            </a:endParaRPr>
          </a:p>
        </p:txBody>
      </p:sp>
      <p:sp>
        <p:nvSpPr>
          <p:cNvPr id="509" name="TextBox 66"/>
          <p:cNvSpPr/>
          <p:nvPr/>
        </p:nvSpPr>
        <p:spPr>
          <a:xfrm>
            <a:off x="7930800" y="22464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Exercise</a:t>
            </a:r>
            <a:endParaRPr lang="en-GB" sz="1800" b="0" u="none" strike="noStrike">
              <a:solidFill>
                <a:srgbClr val="000000"/>
              </a:solidFill>
              <a:effectLst/>
              <a:uFillTx/>
              <a:latin typeface="Arial"/>
            </a:endParaRPr>
          </a:p>
        </p:txBody>
      </p:sp>
      <p:pic>
        <p:nvPicPr>
          <p:cNvPr id="510" name="Graphic 7"/>
          <p:cNvPicPr/>
          <p:nvPr/>
        </p:nvPicPr>
        <p:blipFill>
          <a:blip r:embed="rId2"/>
          <a:stretch/>
        </p:blipFill>
        <p:spPr>
          <a:xfrm>
            <a:off x="7474680" y="273960"/>
            <a:ext cx="691200" cy="552240"/>
          </a:xfrm>
          <a:prstGeom prst="rect">
            <a:avLst/>
          </a:prstGeom>
          <a:noFill/>
          <a:ln w="0">
            <a:noFill/>
          </a:ln>
        </p:spPr>
      </p:pic>
      <p:sp>
        <p:nvSpPr>
          <p:cNvPr id="511" name="TextBox 67"/>
          <p:cNvSpPr/>
          <p:nvPr/>
        </p:nvSpPr>
        <p:spPr>
          <a:xfrm>
            <a:off x="8301960" y="542880"/>
            <a:ext cx="3479400" cy="303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GB" sz="1400" b="0" u="none" strike="noStrike">
                <a:solidFill>
                  <a:srgbClr val="000000"/>
                </a:solidFill>
                <a:effectLst/>
                <a:uFillTx/>
                <a:latin typeface="Courier New"/>
                <a:ea typeface="DejaVu Sans"/>
              </a:rPr>
              <a:t>exercises/tabular_join</a:t>
            </a:r>
            <a:endParaRPr lang="en-GB" sz="1400" b="0" u="none" strike="noStrike">
              <a:solidFill>
                <a:srgbClr val="000000"/>
              </a:solidFill>
              <a:effectLst/>
              <a:uFillTx/>
              <a:latin typeface="Arial"/>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3" name="PlaceHolder 1"/>
          <p:cNvSpPr>
            <a:spLocks noGrp="1"/>
          </p:cNvSpPr>
          <p:nvPr>
            <p:ph type="title"/>
          </p:nvPr>
        </p:nvSpPr>
        <p:spPr>
          <a:prstGeom prst="rect">
            <a:avLst/>
          </a:prstGeom>
          <a:noFill/>
          <a:ln w="0">
            <a:noFill/>
          </a:ln>
        </p:spPr>
        <p:txBody>
          <a:bodyPr lIns="0" tIns="0" rIns="0" bIns="0" anchor="ctr">
            <a:normAutofit/>
          </a:bodyPr>
          <a:lstStyle/>
          <a:p>
            <a:pPr indent="0" algn="ctr">
              <a:lnSpc>
                <a:spcPct val="90000"/>
              </a:lnSpc>
              <a:buNone/>
              <a:tabLst>
                <a:tab pos="0" algn="l"/>
              </a:tabLst>
            </a:pPr>
            <a:r>
              <a:rPr lang="en-CH" sz="5400" b="0" u="none" strike="noStrike">
                <a:solidFill>
                  <a:srgbClr val="000000"/>
                </a:solidFill>
                <a:effectLst/>
                <a:uFillTx/>
                <a:latin typeface="Calibri Light"/>
                <a:ea typeface="DejaVu Sans"/>
              </a:rPr>
              <a:t>Split-apply-combine</a:t>
            </a:r>
            <a:endParaRPr lang="en-GB" sz="5400" b="0" u="none" strike="noStrike">
              <a:solidFill>
                <a:srgbClr val="000000"/>
              </a:solidFill>
              <a:effectLst/>
              <a:uFillTx/>
              <a:latin typeface="Arial"/>
            </a:endParaRPr>
          </a:p>
        </p:txBody>
      </p:sp>
      <p:sp>
        <p:nvSpPr>
          <p:cNvPr id="4" name="PlaceHolder 3"/>
          <p:cNvSpPr>
            <a:spLocks noGrp="1"/>
          </p:cNvSpPr>
          <p:nvPr>
            <p:ph type="ftr" idx="1"/>
          </p:nvPr>
        </p:nvSpPr>
        <p:spPr>
          <a:prstGeom prst="rect">
            <a:avLst/>
          </a:prstGeom>
        </p:spPr>
        <p:txBody>
          <a:bodyPr/>
          <a:lstStyle/>
          <a:p>
            <a:r>
              <a:t>Data, v1.0</a:t>
            </a:r>
          </a:p>
        </p:txBody>
      </p:sp>
      <p:sp>
        <p:nvSpPr>
          <p:cNvPr id="5" name="PlaceHolder 4"/>
          <p:cNvSpPr>
            <a:spLocks noGrp="1"/>
          </p:cNvSpPr>
          <p:nvPr>
            <p:ph type="sldNum" idx="2"/>
          </p:nvPr>
        </p:nvSpPr>
        <p:spPr>
          <a:prstGeom prst="rect">
            <a:avLst/>
          </a:prstGeom>
        </p:spPr>
        <p:txBody>
          <a:bodyPr/>
          <a:lstStyle/>
          <a:p>
            <a:fld id="{B4C6FD7B-A54C-4E77-81CE-6B35D36EA4A0}" type="slidenum">
              <a:t>70</a:t>
            </a:fld>
            <a:endParaRPr/>
          </a:p>
        </p:txBody>
      </p:sp>
      <p:sp>
        <p:nvSpPr>
          <p:cNvPr id="514" name="PlaceHolder 2"/>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2" name="Text Placeholder 1">
            <a:extLst>
              <a:ext uri="{FF2B5EF4-FFF2-40B4-BE49-F238E27FC236}">
                <a16:creationId xmlns:a16="http://schemas.microsoft.com/office/drawing/2014/main" id="{9C3EE87F-1908-2B11-A384-A6495BA2EC01}"/>
              </a:ext>
            </a:extLst>
          </p:cNvPr>
          <p:cNvSpPr>
            <a:spLocks noGrp="1"/>
          </p:cNvSpPr>
          <p:nvPr>
            <p:ph type="body"/>
          </p:nvPr>
        </p:nvSpPr>
        <p:spPr/>
        <p:txBody>
          <a:bodyPr/>
          <a:lstStyle/>
          <a:p>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5" name="PlaceHolder 1"/>
          <p:cNvSpPr>
            <a:spLocks noGrp="1"/>
          </p:cNvSpPr>
          <p:nvPr>
            <p:ph type="title"/>
          </p:nvPr>
        </p:nvSpPr>
        <p:spPr>
          <a:prstGeom prst="rect">
            <a:avLst/>
          </a:prstGeom>
          <a:noFill/>
          <a:ln w="0">
            <a:noFill/>
          </a:ln>
        </p:spPr>
        <p:txBody>
          <a:bodyPr lIns="0" tIns="0" rIns="0" bIns="0" anchor="ctr">
            <a:norm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The basic structure of most numerical analyses</a:t>
            </a:r>
            <a:endParaRPr lang="en-GB" sz="4400" b="0" u="none" strike="noStrike">
              <a:solidFill>
                <a:srgbClr val="000000"/>
              </a:solidFill>
              <a:effectLst/>
              <a:uFillTx/>
              <a:latin typeface="Arial"/>
            </a:endParaRPr>
          </a:p>
        </p:txBody>
      </p:sp>
      <p:sp>
        <p:nvSpPr>
          <p:cNvPr id="4" name="PlaceHolder 3"/>
          <p:cNvSpPr>
            <a:spLocks noGrp="1"/>
          </p:cNvSpPr>
          <p:nvPr>
            <p:ph type="ftr" idx="1"/>
          </p:nvPr>
        </p:nvSpPr>
        <p:spPr>
          <a:prstGeom prst="rect">
            <a:avLst/>
          </a:prstGeom>
        </p:spPr>
        <p:txBody>
          <a:bodyPr/>
          <a:lstStyle/>
          <a:p>
            <a:r>
              <a:t>Data, v1.0</a:t>
            </a:r>
          </a:p>
        </p:txBody>
      </p:sp>
      <p:sp>
        <p:nvSpPr>
          <p:cNvPr id="5" name="PlaceHolder 4"/>
          <p:cNvSpPr>
            <a:spLocks noGrp="1"/>
          </p:cNvSpPr>
          <p:nvPr>
            <p:ph type="sldNum" idx="2"/>
          </p:nvPr>
        </p:nvSpPr>
        <p:spPr>
          <a:prstGeom prst="rect">
            <a:avLst/>
          </a:prstGeom>
        </p:spPr>
        <p:txBody>
          <a:bodyPr/>
          <a:lstStyle/>
          <a:p>
            <a:fld id="{471ED929-9DE4-407A-8692-9E46F64FE790}" type="slidenum">
              <a:t>71</a:t>
            </a:fld>
            <a:endParaRPr/>
          </a:p>
        </p:txBody>
      </p:sp>
      <p:sp>
        <p:nvSpPr>
          <p:cNvPr id="516" name="PlaceHolder 2"/>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pic>
        <p:nvPicPr>
          <p:cNvPr id="517" name="Picture 13"/>
          <p:cNvPicPr/>
          <p:nvPr/>
        </p:nvPicPr>
        <p:blipFill>
          <a:blip r:embed="rId2"/>
          <a:stretch/>
        </p:blipFill>
        <p:spPr>
          <a:xfrm>
            <a:off x="3935880" y="2162520"/>
            <a:ext cx="2883600" cy="4555800"/>
          </a:xfrm>
          <a:prstGeom prst="rect">
            <a:avLst/>
          </a:prstGeom>
          <a:noFill/>
          <a:ln w="0">
            <a:noFill/>
          </a:ln>
        </p:spPr>
      </p:pic>
      <p:pic>
        <p:nvPicPr>
          <p:cNvPr id="518" name="Picture 15"/>
          <p:cNvPicPr/>
          <p:nvPr/>
        </p:nvPicPr>
        <p:blipFill>
          <a:blip r:embed="rId3"/>
          <a:stretch/>
        </p:blipFill>
        <p:spPr>
          <a:xfrm>
            <a:off x="7584840" y="2500560"/>
            <a:ext cx="1473840" cy="3626280"/>
          </a:xfrm>
          <a:prstGeom prst="rect">
            <a:avLst/>
          </a:prstGeom>
          <a:noFill/>
          <a:ln w="0">
            <a:noFill/>
          </a:ln>
        </p:spPr>
      </p:pic>
      <p:pic>
        <p:nvPicPr>
          <p:cNvPr id="519" name="Picture 16"/>
          <p:cNvPicPr/>
          <p:nvPr/>
        </p:nvPicPr>
        <p:blipFill>
          <a:blip r:embed="rId4"/>
          <a:stretch/>
        </p:blipFill>
        <p:spPr>
          <a:xfrm>
            <a:off x="9859680" y="2999880"/>
            <a:ext cx="1809000" cy="1952280"/>
          </a:xfrm>
          <a:prstGeom prst="rect">
            <a:avLst/>
          </a:prstGeom>
          <a:noFill/>
          <a:ln w="0">
            <a:noFill/>
          </a:ln>
        </p:spPr>
      </p:pic>
      <p:pic>
        <p:nvPicPr>
          <p:cNvPr id="520" name="Picture 17"/>
          <p:cNvPicPr/>
          <p:nvPr/>
        </p:nvPicPr>
        <p:blipFill>
          <a:blip r:embed="rId5"/>
          <a:stretch/>
        </p:blipFill>
        <p:spPr>
          <a:xfrm>
            <a:off x="460080" y="2783880"/>
            <a:ext cx="2661120" cy="2585880"/>
          </a:xfrm>
          <a:prstGeom prst="rect">
            <a:avLst/>
          </a:prstGeom>
          <a:noFill/>
          <a:ln w="0">
            <a:noFill/>
          </a:ln>
        </p:spPr>
      </p:pic>
      <p:sp>
        <p:nvSpPr>
          <p:cNvPr id="521" name="TextBox 29"/>
          <p:cNvSpPr/>
          <p:nvPr/>
        </p:nvSpPr>
        <p:spPr>
          <a:xfrm>
            <a:off x="2617920" y="1321920"/>
            <a:ext cx="1869120" cy="638280"/>
          </a:xfrm>
          <a:prstGeom prst="rect">
            <a:avLst/>
          </a:prstGeom>
          <a:solidFill>
            <a:schemeClr val="accent2">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split</a:t>
            </a:r>
            <a:endParaRPr lang="en-GB" sz="3600" b="0" u="none" strike="noStrike">
              <a:solidFill>
                <a:srgbClr val="000000"/>
              </a:solidFill>
              <a:effectLst/>
              <a:uFillTx/>
              <a:latin typeface="Arial"/>
            </a:endParaRPr>
          </a:p>
        </p:txBody>
      </p:sp>
      <p:sp>
        <p:nvSpPr>
          <p:cNvPr id="522" name="TextBox 30"/>
          <p:cNvSpPr/>
          <p:nvPr/>
        </p:nvSpPr>
        <p:spPr>
          <a:xfrm>
            <a:off x="6311880" y="1321920"/>
            <a:ext cx="1869120" cy="638280"/>
          </a:xfrm>
          <a:prstGeom prst="rect">
            <a:avLst/>
          </a:prstGeom>
          <a:solidFill>
            <a:schemeClr val="accent5">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apply</a:t>
            </a:r>
            <a:endParaRPr lang="en-GB" sz="3600" b="0" u="none" strike="noStrike">
              <a:solidFill>
                <a:srgbClr val="000000"/>
              </a:solidFill>
              <a:effectLst/>
              <a:uFillTx/>
              <a:latin typeface="Arial"/>
            </a:endParaRPr>
          </a:p>
        </p:txBody>
      </p:sp>
      <p:sp>
        <p:nvSpPr>
          <p:cNvPr id="523" name="TextBox 31"/>
          <p:cNvSpPr/>
          <p:nvPr/>
        </p:nvSpPr>
        <p:spPr>
          <a:xfrm>
            <a:off x="9783360" y="1321920"/>
            <a:ext cx="1869120" cy="638280"/>
          </a:xfrm>
          <a:prstGeom prst="rect">
            <a:avLst/>
          </a:prstGeom>
          <a:solidFill>
            <a:schemeClr val="accent6">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combine</a:t>
            </a:r>
            <a:endParaRPr lang="en-GB" sz="3600" b="0" u="none" strike="noStrike">
              <a:solidFill>
                <a:srgbClr val="000000"/>
              </a:solidFill>
              <a:effectLst/>
              <a:uFillTx/>
              <a:latin typeface="Arial"/>
            </a:endParaRPr>
          </a:p>
        </p:txBody>
      </p:sp>
      <p:cxnSp>
        <p:nvCxnSpPr>
          <p:cNvPr id="524" name="Straight Arrow Connector 11"/>
          <p:cNvCxnSpPr/>
          <p:nvPr/>
        </p:nvCxnSpPr>
        <p:spPr>
          <a:xfrm flipV="1">
            <a:off x="3287520" y="2783520"/>
            <a:ext cx="651240" cy="745560"/>
          </a:xfrm>
          <a:prstGeom prst="straightConnector1">
            <a:avLst/>
          </a:prstGeom>
          <a:ln w="57150">
            <a:solidFill>
              <a:srgbClr val="C55A11"/>
            </a:solidFill>
            <a:round/>
            <a:tailEnd type="triangle" w="med" len="med"/>
          </a:ln>
        </p:spPr>
      </p:cxnSp>
      <p:cxnSp>
        <p:nvCxnSpPr>
          <p:cNvPr id="525" name="Straight Arrow Connector 13"/>
          <p:cNvCxnSpPr/>
          <p:nvPr/>
        </p:nvCxnSpPr>
        <p:spPr>
          <a:xfrm flipV="1">
            <a:off x="3281400" y="3784320"/>
            <a:ext cx="651240" cy="115560"/>
          </a:xfrm>
          <a:prstGeom prst="straightConnector1">
            <a:avLst/>
          </a:prstGeom>
          <a:ln w="57150">
            <a:solidFill>
              <a:srgbClr val="C55A11"/>
            </a:solidFill>
            <a:round/>
            <a:tailEnd type="triangle" w="med" len="med"/>
          </a:ln>
        </p:spPr>
      </p:cxnSp>
      <p:cxnSp>
        <p:nvCxnSpPr>
          <p:cNvPr id="526" name="Straight Arrow Connector 15"/>
          <p:cNvCxnSpPr/>
          <p:nvPr/>
        </p:nvCxnSpPr>
        <p:spPr>
          <a:xfrm>
            <a:off x="3281760" y="4326480"/>
            <a:ext cx="640440" cy="399240"/>
          </a:xfrm>
          <a:prstGeom prst="straightConnector1">
            <a:avLst/>
          </a:prstGeom>
          <a:ln w="57150">
            <a:solidFill>
              <a:srgbClr val="C55A11"/>
            </a:solidFill>
            <a:round/>
            <a:tailEnd type="triangle" w="med" len="med"/>
          </a:ln>
        </p:spPr>
      </p:cxnSp>
      <p:cxnSp>
        <p:nvCxnSpPr>
          <p:cNvPr id="527" name="Straight Arrow Connector 17"/>
          <p:cNvCxnSpPr/>
          <p:nvPr/>
        </p:nvCxnSpPr>
        <p:spPr>
          <a:xfrm>
            <a:off x="3291840" y="5254200"/>
            <a:ext cx="640800" cy="1190160"/>
          </a:xfrm>
          <a:prstGeom prst="straightConnector1">
            <a:avLst/>
          </a:prstGeom>
          <a:ln w="57150">
            <a:solidFill>
              <a:srgbClr val="C55A11"/>
            </a:solidFill>
            <a:round/>
            <a:tailEnd type="triangle" w="med" len="med"/>
          </a:ln>
        </p:spPr>
      </p:cxnSp>
      <p:cxnSp>
        <p:nvCxnSpPr>
          <p:cNvPr id="528" name="Straight Arrow Connector 22"/>
          <p:cNvCxnSpPr/>
          <p:nvPr/>
        </p:nvCxnSpPr>
        <p:spPr>
          <a:xfrm>
            <a:off x="3281400" y="4874760"/>
            <a:ext cx="651240" cy="757080"/>
          </a:xfrm>
          <a:prstGeom prst="straightConnector1">
            <a:avLst/>
          </a:prstGeom>
          <a:ln w="57150">
            <a:solidFill>
              <a:srgbClr val="C55A11"/>
            </a:solidFill>
            <a:round/>
            <a:tailEnd type="triangle" w="med" len="med"/>
          </a:ln>
        </p:spPr>
      </p:cxnSp>
      <p:sp>
        <p:nvSpPr>
          <p:cNvPr id="529" name="TextBox 32"/>
          <p:cNvSpPr/>
          <p:nvPr/>
        </p:nvSpPr>
        <p:spPr>
          <a:xfrm>
            <a:off x="3228840" y="273456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A1</a:t>
            </a:r>
            <a:endParaRPr lang="en-GB" sz="1800" b="0" u="none" strike="noStrike">
              <a:solidFill>
                <a:srgbClr val="000000"/>
              </a:solidFill>
              <a:effectLst/>
              <a:uFillTx/>
              <a:latin typeface="Arial"/>
            </a:endParaRPr>
          </a:p>
        </p:txBody>
      </p:sp>
      <p:sp>
        <p:nvSpPr>
          <p:cNvPr id="530" name="TextBox 33"/>
          <p:cNvSpPr/>
          <p:nvPr/>
        </p:nvSpPr>
        <p:spPr>
          <a:xfrm>
            <a:off x="3223800" y="351648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A2</a:t>
            </a:r>
            <a:endParaRPr lang="en-GB" sz="1800" b="0" u="none" strike="noStrike">
              <a:solidFill>
                <a:srgbClr val="000000"/>
              </a:solidFill>
              <a:effectLst/>
              <a:uFillTx/>
              <a:latin typeface="Arial"/>
            </a:endParaRPr>
          </a:p>
        </p:txBody>
      </p:sp>
      <p:sp>
        <p:nvSpPr>
          <p:cNvPr id="531" name="TextBox 34"/>
          <p:cNvSpPr/>
          <p:nvPr/>
        </p:nvSpPr>
        <p:spPr>
          <a:xfrm>
            <a:off x="3223800" y="402048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B1</a:t>
            </a:r>
            <a:endParaRPr lang="en-GB" sz="1800" b="0" u="none" strike="noStrike">
              <a:solidFill>
                <a:srgbClr val="000000"/>
              </a:solidFill>
              <a:effectLst/>
              <a:uFillTx/>
              <a:latin typeface="Arial"/>
            </a:endParaRPr>
          </a:p>
        </p:txBody>
      </p:sp>
      <p:sp>
        <p:nvSpPr>
          <p:cNvPr id="532" name="TextBox 35"/>
          <p:cNvSpPr/>
          <p:nvPr/>
        </p:nvSpPr>
        <p:spPr>
          <a:xfrm>
            <a:off x="3233520" y="475452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B2</a:t>
            </a:r>
            <a:endParaRPr lang="en-GB" sz="1800" b="0" u="none" strike="noStrike">
              <a:solidFill>
                <a:srgbClr val="000000"/>
              </a:solidFill>
              <a:effectLst/>
              <a:uFillTx/>
              <a:latin typeface="Arial"/>
            </a:endParaRPr>
          </a:p>
        </p:txBody>
      </p:sp>
      <p:sp>
        <p:nvSpPr>
          <p:cNvPr id="533" name="TextBox 36"/>
          <p:cNvSpPr/>
          <p:nvPr/>
        </p:nvSpPr>
        <p:spPr>
          <a:xfrm>
            <a:off x="3233520" y="524448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C2</a:t>
            </a:r>
            <a:endParaRPr lang="en-GB" sz="1800" b="0" u="none" strike="noStrike">
              <a:solidFill>
                <a:srgbClr val="000000"/>
              </a:solidFill>
              <a:effectLst/>
              <a:uFillTx/>
              <a:latin typeface="Arial"/>
            </a:endParaRPr>
          </a:p>
        </p:txBody>
      </p:sp>
      <p:sp>
        <p:nvSpPr>
          <p:cNvPr id="534" name="Right Arrow 2"/>
          <p:cNvSpPr/>
          <p:nvPr/>
        </p:nvSpPr>
        <p:spPr>
          <a:xfrm>
            <a:off x="6996240" y="4089240"/>
            <a:ext cx="500760" cy="857520"/>
          </a:xfrm>
          <a:prstGeom prst="rightArrow">
            <a:avLst>
              <a:gd name="adj1" fmla="val 50000"/>
              <a:gd name="adj2" fmla="val 50000"/>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CH" sz="1800" b="0" u="none" strike="noStrike">
              <a:solidFill>
                <a:schemeClr val="lt1"/>
              </a:solidFill>
              <a:effectLst/>
              <a:uFillTx/>
              <a:latin typeface="Calibri"/>
              <a:ea typeface="DejaVu Sans"/>
            </a:endParaRPr>
          </a:p>
        </p:txBody>
      </p:sp>
      <p:sp>
        <p:nvSpPr>
          <p:cNvPr id="535" name="TextBox 37"/>
          <p:cNvSpPr/>
          <p:nvPr/>
        </p:nvSpPr>
        <p:spPr>
          <a:xfrm>
            <a:off x="6837120" y="3702960"/>
            <a:ext cx="77940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1" u="none" strike="noStrike">
                <a:solidFill>
                  <a:srgbClr val="000000"/>
                </a:solidFill>
                <a:effectLst/>
                <a:uFillTx/>
                <a:latin typeface="Calibri"/>
                <a:ea typeface="DejaVu Sans"/>
              </a:rPr>
              <a:t>mean</a:t>
            </a:r>
            <a:endParaRPr lang="en-GB" sz="1800" b="0" u="none" strike="noStrike">
              <a:solidFill>
                <a:srgbClr val="000000"/>
              </a:solidFill>
              <a:effectLst/>
              <a:uFillTx/>
              <a:latin typeface="Arial"/>
            </a:endParaRPr>
          </a:p>
        </p:txBody>
      </p:sp>
      <p:cxnSp>
        <p:nvCxnSpPr>
          <p:cNvPr id="536" name="Straight Arrow Connector 23"/>
          <p:cNvCxnSpPr/>
          <p:nvPr/>
        </p:nvCxnSpPr>
        <p:spPr>
          <a:xfrm>
            <a:off x="9076320" y="2923920"/>
            <a:ext cx="710280" cy="595800"/>
          </a:xfrm>
          <a:prstGeom prst="straightConnector1">
            <a:avLst/>
          </a:prstGeom>
          <a:ln w="57150">
            <a:solidFill>
              <a:srgbClr val="548235"/>
            </a:solidFill>
            <a:round/>
            <a:tailEnd type="triangle" w="med" len="med"/>
          </a:ln>
        </p:spPr>
      </p:cxnSp>
      <p:cxnSp>
        <p:nvCxnSpPr>
          <p:cNvPr id="537" name="Straight Arrow Connector 24"/>
          <p:cNvCxnSpPr/>
          <p:nvPr/>
        </p:nvCxnSpPr>
        <p:spPr>
          <a:xfrm>
            <a:off x="9076320" y="3645000"/>
            <a:ext cx="710280" cy="198720"/>
          </a:xfrm>
          <a:prstGeom prst="straightConnector1">
            <a:avLst/>
          </a:prstGeom>
          <a:ln w="57150">
            <a:solidFill>
              <a:srgbClr val="548235"/>
            </a:solidFill>
            <a:round/>
            <a:tailEnd type="triangle" w="med" len="med"/>
          </a:ln>
        </p:spPr>
      </p:cxnSp>
      <p:cxnSp>
        <p:nvCxnSpPr>
          <p:cNvPr id="538" name="Straight Arrow Connector 25"/>
          <p:cNvCxnSpPr/>
          <p:nvPr/>
        </p:nvCxnSpPr>
        <p:spPr>
          <a:xfrm flipV="1">
            <a:off x="9065520" y="4205160"/>
            <a:ext cx="721080" cy="219960"/>
          </a:xfrm>
          <a:prstGeom prst="straightConnector1">
            <a:avLst/>
          </a:prstGeom>
          <a:ln w="57150">
            <a:solidFill>
              <a:srgbClr val="548235"/>
            </a:solidFill>
            <a:round/>
            <a:tailEnd type="triangle" w="med" len="med"/>
          </a:ln>
        </p:spPr>
      </p:cxnSp>
      <p:cxnSp>
        <p:nvCxnSpPr>
          <p:cNvPr id="539" name="Straight Arrow Connector 26"/>
          <p:cNvCxnSpPr/>
          <p:nvPr/>
        </p:nvCxnSpPr>
        <p:spPr>
          <a:xfrm flipV="1">
            <a:off x="9076320" y="4421880"/>
            <a:ext cx="710280" cy="710640"/>
          </a:xfrm>
          <a:prstGeom prst="straightConnector1">
            <a:avLst/>
          </a:prstGeom>
          <a:ln w="57150">
            <a:solidFill>
              <a:srgbClr val="548235"/>
            </a:solidFill>
            <a:round/>
            <a:tailEnd type="triangle" w="med" len="med"/>
          </a:ln>
        </p:spPr>
      </p:cxnSp>
      <p:cxnSp>
        <p:nvCxnSpPr>
          <p:cNvPr id="540" name="Straight Arrow Connector 27"/>
          <p:cNvCxnSpPr/>
          <p:nvPr/>
        </p:nvCxnSpPr>
        <p:spPr>
          <a:xfrm flipV="1">
            <a:off x="9076320" y="4775400"/>
            <a:ext cx="710280" cy="1166400"/>
          </a:xfrm>
          <a:prstGeom prst="straightConnector1">
            <a:avLst/>
          </a:prstGeom>
          <a:ln w="57150">
            <a:solidFill>
              <a:srgbClr val="548235"/>
            </a:solidFill>
            <a:round/>
            <a:tailEnd type="triangle" w="med" len="med"/>
          </a:ln>
        </p:spPr>
      </p:cxnSp>
      <p:sp>
        <p:nvSpPr>
          <p:cNvPr id="2" name="Text Placeholder 1">
            <a:extLst>
              <a:ext uri="{FF2B5EF4-FFF2-40B4-BE49-F238E27FC236}">
                <a16:creationId xmlns:a16="http://schemas.microsoft.com/office/drawing/2014/main" id="{813047D6-E8A6-EDB7-9564-5EDEAD4FAA4F}"/>
              </a:ext>
            </a:extLst>
          </p:cNvPr>
          <p:cNvSpPr>
            <a:spLocks noGrp="1"/>
          </p:cNvSpPr>
          <p:nvPr>
            <p:ph type="body"/>
          </p:nvPr>
        </p:nvSpPr>
        <p:spPr/>
        <p:txBody>
          <a:bodyPr/>
          <a:lstStyle/>
          <a:p>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1" name="PlaceHolder 1"/>
          <p:cNvSpPr>
            <a:spLocks noGrp="1"/>
          </p:cNvSpPr>
          <p:nvPr>
            <p:ph type="title"/>
          </p:nvPr>
        </p:nvSpPr>
        <p:spPr>
          <a:prstGeom prst="rect">
            <a:avLst/>
          </a:prstGeom>
          <a:noFill/>
          <a:ln w="0">
            <a:noFill/>
          </a:ln>
        </p:spPr>
        <p:txBody>
          <a:bodyPr lIns="0" tIns="0" rIns="0" bIns="0" anchor="ctr">
            <a:normAutofit fontScale="90000"/>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Split-apply-combine </a:t>
            </a:r>
            <a:br>
              <a:rPr sz="4400"/>
            </a:br>
            <a:r>
              <a:rPr lang="en-CH" sz="4400" b="0" u="none" strike="noStrike">
                <a:solidFill>
                  <a:srgbClr val="000000"/>
                </a:solidFill>
                <a:effectLst/>
                <a:uFillTx/>
                <a:latin typeface="Calibri Light"/>
                <a:ea typeface="DejaVu Sans"/>
              </a:rPr>
              <a:t>operations</a:t>
            </a:r>
            <a:endParaRPr lang="en-GB" sz="4400" b="0" u="none" strike="noStrike">
              <a:solidFill>
                <a:srgbClr val="000000"/>
              </a:solidFill>
              <a:effectLst/>
              <a:uFillTx/>
              <a:latin typeface="Arial"/>
            </a:endParaRPr>
          </a:p>
        </p:txBody>
      </p:sp>
      <p:sp>
        <p:nvSpPr>
          <p:cNvPr id="4" name="PlaceHolder 3"/>
          <p:cNvSpPr>
            <a:spLocks noGrp="1"/>
          </p:cNvSpPr>
          <p:nvPr>
            <p:ph type="ftr" idx="1"/>
          </p:nvPr>
        </p:nvSpPr>
        <p:spPr>
          <a:prstGeom prst="rect">
            <a:avLst/>
          </a:prstGeom>
        </p:spPr>
        <p:txBody>
          <a:bodyPr/>
          <a:lstStyle/>
          <a:p>
            <a:r>
              <a:t>Data, v1.0</a:t>
            </a:r>
          </a:p>
        </p:txBody>
      </p:sp>
      <p:sp>
        <p:nvSpPr>
          <p:cNvPr id="5" name="PlaceHolder 4"/>
          <p:cNvSpPr>
            <a:spLocks noGrp="1"/>
          </p:cNvSpPr>
          <p:nvPr>
            <p:ph type="sldNum" idx="2"/>
          </p:nvPr>
        </p:nvSpPr>
        <p:spPr>
          <a:prstGeom prst="rect">
            <a:avLst/>
          </a:prstGeom>
        </p:spPr>
        <p:txBody>
          <a:bodyPr/>
          <a:lstStyle/>
          <a:p>
            <a:fld id="{69A4973D-B3EE-4B82-BD5C-70013BD71CAD}" type="slidenum">
              <a:t>72</a:t>
            </a:fld>
            <a:endParaRPr/>
          </a:p>
        </p:txBody>
      </p:sp>
      <p:sp>
        <p:nvSpPr>
          <p:cNvPr id="542" name="PlaceHolder 2"/>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543" name="Rectangle 5"/>
          <p:cNvSpPr/>
          <p:nvPr/>
        </p:nvSpPr>
        <p:spPr>
          <a:xfrm>
            <a:off x="7430400" y="206640"/>
            <a:ext cx="4535640" cy="987120"/>
          </a:xfrm>
          <a:prstGeom prst="rect">
            <a:avLst/>
          </a:prstGeom>
          <a:solidFill>
            <a:schemeClr val="accent1">
              <a:lumMod val="20000"/>
              <a:lumOff val="8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DE" sz="1800" b="0" u="none" strike="noStrike">
              <a:solidFill>
                <a:srgbClr val="000000"/>
              </a:solidFill>
              <a:effectLst/>
              <a:uFillTx/>
              <a:latin typeface="Courier New"/>
              <a:ea typeface="DejaVu Sans"/>
            </a:endParaRPr>
          </a:p>
        </p:txBody>
      </p:sp>
      <p:pic>
        <p:nvPicPr>
          <p:cNvPr id="544" name="Graphic 2"/>
          <p:cNvPicPr/>
          <p:nvPr/>
        </p:nvPicPr>
        <p:blipFill>
          <a:blip r:embed="rId2"/>
          <a:stretch/>
        </p:blipFill>
        <p:spPr>
          <a:xfrm>
            <a:off x="7511040" y="232200"/>
            <a:ext cx="707040" cy="627840"/>
          </a:xfrm>
          <a:prstGeom prst="rect">
            <a:avLst/>
          </a:prstGeom>
          <a:noFill/>
          <a:ln w="0">
            <a:noFill/>
          </a:ln>
        </p:spPr>
      </p:pic>
      <p:sp>
        <p:nvSpPr>
          <p:cNvPr id="545" name="TextBox 38"/>
          <p:cNvSpPr/>
          <p:nvPr/>
        </p:nvSpPr>
        <p:spPr>
          <a:xfrm>
            <a:off x="8163720" y="22536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Live Coding</a:t>
            </a:r>
            <a:endParaRPr lang="en-GB" sz="1800" b="0" u="none" strike="noStrike">
              <a:solidFill>
                <a:srgbClr val="000000"/>
              </a:solidFill>
              <a:effectLst/>
              <a:uFillTx/>
              <a:latin typeface="Arial"/>
            </a:endParaRPr>
          </a:p>
        </p:txBody>
      </p:sp>
      <p:sp>
        <p:nvSpPr>
          <p:cNvPr id="546" name="TextBox 39"/>
          <p:cNvSpPr/>
          <p:nvPr/>
        </p:nvSpPr>
        <p:spPr>
          <a:xfrm>
            <a:off x="8301960" y="542880"/>
            <a:ext cx="347940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400" b="0" u="none" strike="noStrike">
                <a:solidFill>
                  <a:srgbClr val="000000"/>
                </a:solidFill>
                <a:effectLst/>
                <a:uFillTx/>
                <a:latin typeface="Courier New"/>
                <a:ea typeface="DejaVu Sans"/>
              </a:rPr>
              <a:t>n</a:t>
            </a:r>
            <a:r>
              <a:rPr lang="en-DE" sz="1400" b="0" u="none" strike="noStrike">
                <a:solidFill>
                  <a:srgbClr val="000000"/>
                </a:solidFill>
                <a:effectLst/>
                <a:uFillTx/>
                <a:latin typeface="Courier New"/>
                <a:ea typeface="DejaVu Sans"/>
              </a:rPr>
              <a:t>otebooks/</a:t>
            </a:r>
            <a:r>
              <a:rPr lang="en-US" sz="1400" b="0" u="none" strike="noStrike">
                <a:solidFill>
                  <a:srgbClr val="000000"/>
                </a:solidFill>
                <a:effectLst/>
                <a:uFillTx/>
                <a:latin typeface="Courier New"/>
                <a:ea typeface="DejaVu Sans"/>
              </a:rPr>
              <a:t>030_tabular_data/</a:t>
            </a:r>
            <a:endParaRPr lang="en-GB"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urier New"/>
                <a:ea typeface="DejaVu Sans"/>
              </a:rPr>
              <a:t>030_split-apply-combine.ipynb</a:t>
            </a:r>
            <a:endParaRPr lang="en-GB" sz="1400" b="0" u="none" strike="noStrike">
              <a:solidFill>
                <a:srgbClr val="000000"/>
              </a:solidFill>
              <a:effectLst/>
              <a:uFillTx/>
              <a:latin typeface="Arial"/>
            </a:endParaRPr>
          </a:p>
        </p:txBody>
      </p:sp>
      <p:sp>
        <p:nvSpPr>
          <p:cNvPr id="2" name="Text Placeholder 1">
            <a:extLst>
              <a:ext uri="{FF2B5EF4-FFF2-40B4-BE49-F238E27FC236}">
                <a16:creationId xmlns:a16="http://schemas.microsoft.com/office/drawing/2014/main" id="{17AFD065-1CBF-7917-B3E1-02D6DA268441}"/>
              </a:ext>
            </a:extLst>
          </p:cNvPr>
          <p:cNvSpPr>
            <a:spLocks noGrp="1"/>
          </p:cNvSpPr>
          <p:nvPr>
            <p:ph type="body"/>
          </p:nvPr>
        </p:nvSpPr>
        <p:spPr/>
        <p:txBody>
          <a:bodyPr/>
          <a:lstStyle/>
          <a:p>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8" name="PlaceHolder 2"/>
          <p:cNvSpPr>
            <a:spLocks noGrp="1"/>
          </p:cNvSpPr>
          <p:nvPr>
            <p:ph type="body"/>
          </p:nvPr>
        </p:nvSpPr>
        <p:spPr>
          <a:prstGeom prst="rect">
            <a:avLst/>
          </a:prstGeom>
          <a:noFill/>
          <a:ln w="0">
            <a:noFill/>
          </a:ln>
        </p:spPr>
        <p:txBody>
          <a:bodyPr lIns="90000" tIns="45000" rIns="90000" bIns="45000" anchor="t">
            <a:normAutofit fontScale="55000" lnSpcReduction="20000"/>
          </a:bodyPr>
          <a:lstStyle/>
          <a:p>
            <a:pPr marL="228600" indent="0">
              <a:lnSpc>
                <a:spcPct val="90000"/>
              </a:lnSpc>
              <a:spcBef>
                <a:spcPts val="1001"/>
              </a:spcBef>
              <a:buNone/>
              <a:tabLst>
                <a:tab pos="0" algn="l"/>
              </a:tabLst>
            </a:pPr>
            <a:r>
              <a:rPr lang="en-CH" sz="2800" b="0" u="none" strike="noStrike">
                <a:solidFill>
                  <a:srgbClr val="000000"/>
                </a:solidFill>
                <a:effectLst/>
                <a:uFillTx/>
                <a:latin typeface="Calibri"/>
                <a:ea typeface="DejaVu Sans"/>
              </a:rPr>
              <a:t>Main points:</a:t>
            </a: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US" sz="2800" b="0" u="none" strike="noStrike">
                <a:solidFill>
                  <a:srgbClr val="000000"/>
                </a:solidFill>
                <a:effectLst/>
                <a:uFillTx/>
                <a:latin typeface="Calibri"/>
                <a:ea typeface="DejaVu Sans"/>
              </a:rPr>
              <a:t>Tabular data tools have a way to vectorize the standard</a:t>
            </a:r>
            <a:br>
              <a:rPr sz="2800"/>
            </a:br>
            <a:r>
              <a:rPr lang="en-US" sz="2800" b="0" u="none" strike="noStrike">
                <a:solidFill>
                  <a:srgbClr val="000000"/>
                </a:solidFill>
                <a:effectLst/>
                <a:uFillTx/>
                <a:latin typeface="Calibri"/>
                <a:ea typeface="DejaVu Sans"/>
              </a:rPr>
              <a:t>split-apply-combine operations, using a “group-by” command</a:t>
            </a: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US" sz="2800" b="0" u="none" strike="noStrike">
                <a:solidFill>
                  <a:srgbClr val="000000"/>
                </a:solidFill>
                <a:effectLst/>
                <a:uFillTx/>
                <a:latin typeface="Calibri"/>
                <a:ea typeface="DejaVu Sans"/>
              </a:rPr>
              <a:t>In addition, Pandas has got a “pivot-table” command that can be used to simplify the creation of more complex summary tables</a:t>
            </a:r>
            <a:endParaRPr lang="en-GB" sz="28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t>Data, v1.0</a:t>
            </a:r>
          </a:p>
        </p:txBody>
      </p:sp>
      <p:sp>
        <p:nvSpPr>
          <p:cNvPr id="6" name="PlaceHolder 5"/>
          <p:cNvSpPr>
            <a:spLocks noGrp="1"/>
          </p:cNvSpPr>
          <p:nvPr>
            <p:ph type="sldNum" idx="2"/>
          </p:nvPr>
        </p:nvSpPr>
        <p:spPr/>
        <p:txBody>
          <a:bodyPr/>
          <a:lstStyle/>
          <a:p>
            <a:fld id="{FAD7AAEA-BAAE-4F24-945A-2D970BCAAB3F}" type="slidenum">
              <a:t>73</a:t>
            </a:fld>
            <a:endParaRPr/>
          </a:p>
        </p:txBody>
      </p:sp>
      <p:sp>
        <p:nvSpPr>
          <p:cNvPr id="549" name="PlaceHolder 3"/>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547" name="PlaceHolder 1"/>
          <p:cNvSpPr>
            <a:spLocks noGrp="1"/>
          </p:cNvSpPr>
          <p:nvPr>
            <p:ph type="title"/>
          </p:nvPr>
        </p:nvSpPr>
        <p:spPr>
          <a:prstGeom prst="rect">
            <a:avLst/>
          </a:prstGeom>
          <a:noFill/>
          <a:ln w="0">
            <a:noFill/>
          </a:ln>
        </p:spPr>
        <p:txBody>
          <a:bodyPr lIns="90000" tIns="45000" rIns="90000" bIns="45000" anchor="ctr">
            <a:normAutofit fontScale="90000"/>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Split-apply-combine </a:t>
            </a:r>
            <a:br>
              <a:rPr sz="4400"/>
            </a:br>
            <a:r>
              <a:rPr lang="en-CH" sz="4400" b="0" u="none" strike="noStrike">
                <a:solidFill>
                  <a:srgbClr val="000000"/>
                </a:solidFill>
                <a:effectLst/>
                <a:uFillTx/>
                <a:latin typeface="Calibri Light"/>
                <a:ea typeface="DejaVu Sans"/>
              </a:rPr>
              <a:t>operations</a:t>
            </a:r>
            <a:endParaRPr lang="en-GB" sz="4400" b="0" u="none" strike="noStrike">
              <a:solidFill>
                <a:srgbClr val="000000"/>
              </a:solidFill>
              <a:effectLst/>
              <a:uFillTx/>
              <a:latin typeface="Arial"/>
            </a:endParaRPr>
          </a:p>
        </p:txBody>
      </p:sp>
      <p:sp>
        <p:nvSpPr>
          <p:cNvPr id="550" name="Rectangle 6"/>
          <p:cNvSpPr/>
          <p:nvPr/>
        </p:nvSpPr>
        <p:spPr>
          <a:xfrm>
            <a:off x="7430400" y="206640"/>
            <a:ext cx="4535640" cy="987120"/>
          </a:xfrm>
          <a:prstGeom prst="rect">
            <a:avLst/>
          </a:prstGeom>
          <a:solidFill>
            <a:schemeClr val="accent1">
              <a:lumMod val="20000"/>
              <a:lumOff val="8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DE" sz="1800" b="0" u="none" strike="noStrike">
              <a:solidFill>
                <a:srgbClr val="000000"/>
              </a:solidFill>
              <a:effectLst/>
              <a:uFillTx/>
              <a:latin typeface="Courier New"/>
              <a:ea typeface="DejaVu Sans"/>
            </a:endParaRPr>
          </a:p>
        </p:txBody>
      </p:sp>
      <p:pic>
        <p:nvPicPr>
          <p:cNvPr id="551" name="Graphic 3"/>
          <p:cNvPicPr/>
          <p:nvPr/>
        </p:nvPicPr>
        <p:blipFill>
          <a:blip r:embed="rId2"/>
          <a:stretch/>
        </p:blipFill>
        <p:spPr>
          <a:xfrm>
            <a:off x="7511040" y="232200"/>
            <a:ext cx="707040" cy="627840"/>
          </a:xfrm>
          <a:prstGeom prst="rect">
            <a:avLst/>
          </a:prstGeom>
          <a:noFill/>
          <a:ln w="0">
            <a:noFill/>
          </a:ln>
        </p:spPr>
      </p:pic>
      <p:sp>
        <p:nvSpPr>
          <p:cNvPr id="552" name="TextBox 40"/>
          <p:cNvSpPr/>
          <p:nvPr/>
        </p:nvSpPr>
        <p:spPr>
          <a:xfrm>
            <a:off x="8163720" y="22536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Live Coding</a:t>
            </a:r>
            <a:endParaRPr lang="en-GB" sz="1800" b="0" u="none" strike="noStrike">
              <a:solidFill>
                <a:srgbClr val="000000"/>
              </a:solidFill>
              <a:effectLst/>
              <a:uFillTx/>
              <a:latin typeface="Arial"/>
            </a:endParaRPr>
          </a:p>
        </p:txBody>
      </p:sp>
      <p:sp>
        <p:nvSpPr>
          <p:cNvPr id="553" name="TextBox 41"/>
          <p:cNvSpPr/>
          <p:nvPr/>
        </p:nvSpPr>
        <p:spPr>
          <a:xfrm>
            <a:off x="8301960" y="542880"/>
            <a:ext cx="347940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400" b="0" u="none" strike="noStrike">
                <a:solidFill>
                  <a:srgbClr val="000000"/>
                </a:solidFill>
                <a:effectLst/>
                <a:uFillTx/>
                <a:latin typeface="Courier New"/>
                <a:ea typeface="DejaVu Sans"/>
              </a:rPr>
              <a:t>n</a:t>
            </a:r>
            <a:r>
              <a:rPr lang="en-DE" sz="1400" b="0" u="none" strike="noStrike">
                <a:solidFill>
                  <a:srgbClr val="000000"/>
                </a:solidFill>
                <a:effectLst/>
                <a:uFillTx/>
                <a:latin typeface="Courier New"/>
                <a:ea typeface="DejaVu Sans"/>
              </a:rPr>
              <a:t>otebooks/</a:t>
            </a:r>
            <a:r>
              <a:rPr lang="en-US" sz="1400" b="0" u="none" strike="noStrike">
                <a:solidFill>
                  <a:srgbClr val="000000"/>
                </a:solidFill>
                <a:effectLst/>
                <a:uFillTx/>
                <a:latin typeface="Courier New"/>
                <a:ea typeface="DejaVu Sans"/>
              </a:rPr>
              <a:t>030_tabular_data/</a:t>
            </a:r>
            <a:endParaRPr lang="en-GB"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urier New"/>
                <a:ea typeface="DejaVu Sans"/>
              </a:rPr>
              <a:t>030_split-apply-combine.ipynb</a:t>
            </a:r>
            <a:endParaRPr lang="en-GB" sz="1400" b="0" u="none" strike="noStrike">
              <a:solidFill>
                <a:srgbClr val="000000"/>
              </a:solidFill>
              <a:effectLst/>
              <a:uFillTx/>
              <a:latin typeface="Arial"/>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378C0E-2D67-85E3-A04D-CAB7064B2237}"/>
              </a:ext>
            </a:extLst>
          </p:cNvPr>
          <p:cNvSpPr>
            <a:spLocks noGrp="1"/>
          </p:cNvSpPr>
          <p:nvPr>
            <p:ph type="title"/>
          </p:nvPr>
        </p:nvSpPr>
        <p:spPr/>
        <p:txBody>
          <a:bodyPr/>
          <a:lstStyle/>
          <a:p>
            <a:endParaRPr lang="en-US"/>
          </a:p>
        </p:txBody>
      </p:sp>
      <p:sp>
        <p:nvSpPr>
          <p:cNvPr id="3" name="PlaceHolder 2"/>
          <p:cNvSpPr>
            <a:spLocks noGrp="1"/>
          </p:cNvSpPr>
          <p:nvPr>
            <p:ph type="ftr" idx="1"/>
          </p:nvPr>
        </p:nvSpPr>
        <p:spPr>
          <a:prstGeom prst="rect">
            <a:avLst/>
          </a:prstGeom>
        </p:spPr>
        <p:txBody>
          <a:bodyPr/>
          <a:lstStyle/>
          <a:p>
            <a:r>
              <a:t>Data, v1.0</a:t>
            </a:r>
          </a:p>
        </p:txBody>
      </p:sp>
      <p:sp>
        <p:nvSpPr>
          <p:cNvPr id="4" name="PlaceHolder 3"/>
          <p:cNvSpPr>
            <a:spLocks noGrp="1"/>
          </p:cNvSpPr>
          <p:nvPr>
            <p:ph type="sldNum" idx="2"/>
          </p:nvPr>
        </p:nvSpPr>
        <p:spPr>
          <a:prstGeom prst="rect">
            <a:avLst/>
          </a:prstGeom>
        </p:spPr>
        <p:txBody>
          <a:bodyPr/>
          <a:lstStyle/>
          <a:p>
            <a:fld id="{BBE9525C-BF74-4B67-8DB3-DC160B7E5EA8}" type="slidenum">
              <a:t>74</a:t>
            </a:fld>
            <a:endParaRPr/>
          </a:p>
        </p:txBody>
      </p:sp>
      <p:sp>
        <p:nvSpPr>
          <p:cNvPr id="554" name="PlaceHolder 1"/>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pic>
        <p:nvPicPr>
          <p:cNvPr id="555" name="Picture 3"/>
          <p:cNvPicPr/>
          <p:nvPr/>
        </p:nvPicPr>
        <p:blipFill>
          <a:blip r:embed="rId2"/>
          <a:stretch/>
        </p:blipFill>
        <p:spPr>
          <a:xfrm>
            <a:off x="3935880" y="2162520"/>
            <a:ext cx="2883600" cy="4555800"/>
          </a:xfrm>
          <a:prstGeom prst="rect">
            <a:avLst/>
          </a:prstGeom>
          <a:noFill/>
          <a:ln w="0">
            <a:noFill/>
          </a:ln>
        </p:spPr>
      </p:pic>
      <p:pic>
        <p:nvPicPr>
          <p:cNvPr id="556" name="Picture 19"/>
          <p:cNvPicPr/>
          <p:nvPr/>
        </p:nvPicPr>
        <p:blipFill>
          <a:blip r:embed="rId3"/>
          <a:stretch/>
        </p:blipFill>
        <p:spPr>
          <a:xfrm>
            <a:off x="7584840" y="2500560"/>
            <a:ext cx="1473840" cy="3626280"/>
          </a:xfrm>
          <a:prstGeom prst="rect">
            <a:avLst/>
          </a:prstGeom>
          <a:noFill/>
          <a:ln w="0">
            <a:noFill/>
          </a:ln>
        </p:spPr>
      </p:pic>
      <p:pic>
        <p:nvPicPr>
          <p:cNvPr id="557" name="Picture 20"/>
          <p:cNvPicPr/>
          <p:nvPr/>
        </p:nvPicPr>
        <p:blipFill>
          <a:blip r:embed="rId4"/>
          <a:stretch/>
        </p:blipFill>
        <p:spPr>
          <a:xfrm>
            <a:off x="9859680" y="2999880"/>
            <a:ext cx="1809000" cy="1952280"/>
          </a:xfrm>
          <a:prstGeom prst="rect">
            <a:avLst/>
          </a:prstGeom>
          <a:noFill/>
          <a:ln w="0">
            <a:noFill/>
          </a:ln>
        </p:spPr>
      </p:pic>
      <p:pic>
        <p:nvPicPr>
          <p:cNvPr id="558" name="Picture 21"/>
          <p:cNvPicPr/>
          <p:nvPr/>
        </p:nvPicPr>
        <p:blipFill>
          <a:blip r:embed="rId5"/>
          <a:stretch/>
        </p:blipFill>
        <p:spPr>
          <a:xfrm>
            <a:off x="460080" y="2783880"/>
            <a:ext cx="2661120" cy="2585880"/>
          </a:xfrm>
          <a:prstGeom prst="rect">
            <a:avLst/>
          </a:prstGeom>
          <a:noFill/>
          <a:ln w="0">
            <a:noFill/>
          </a:ln>
        </p:spPr>
      </p:pic>
      <p:sp>
        <p:nvSpPr>
          <p:cNvPr id="559" name="TextBox 42"/>
          <p:cNvSpPr/>
          <p:nvPr/>
        </p:nvSpPr>
        <p:spPr>
          <a:xfrm>
            <a:off x="2617920" y="1321920"/>
            <a:ext cx="1869120" cy="638280"/>
          </a:xfrm>
          <a:prstGeom prst="rect">
            <a:avLst/>
          </a:prstGeom>
          <a:solidFill>
            <a:schemeClr val="accent2">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split</a:t>
            </a:r>
            <a:endParaRPr lang="en-GB" sz="3600" b="0" u="none" strike="noStrike">
              <a:solidFill>
                <a:srgbClr val="000000"/>
              </a:solidFill>
              <a:effectLst/>
              <a:uFillTx/>
              <a:latin typeface="Arial"/>
            </a:endParaRPr>
          </a:p>
        </p:txBody>
      </p:sp>
      <p:sp>
        <p:nvSpPr>
          <p:cNvPr id="560" name="TextBox 43"/>
          <p:cNvSpPr/>
          <p:nvPr/>
        </p:nvSpPr>
        <p:spPr>
          <a:xfrm>
            <a:off x="6311880" y="1321920"/>
            <a:ext cx="1869120" cy="638280"/>
          </a:xfrm>
          <a:prstGeom prst="rect">
            <a:avLst/>
          </a:prstGeom>
          <a:solidFill>
            <a:schemeClr val="accent5">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apply</a:t>
            </a:r>
            <a:endParaRPr lang="en-GB" sz="3600" b="0" u="none" strike="noStrike">
              <a:solidFill>
                <a:srgbClr val="000000"/>
              </a:solidFill>
              <a:effectLst/>
              <a:uFillTx/>
              <a:latin typeface="Arial"/>
            </a:endParaRPr>
          </a:p>
        </p:txBody>
      </p:sp>
      <p:sp>
        <p:nvSpPr>
          <p:cNvPr id="561" name="TextBox 44"/>
          <p:cNvSpPr/>
          <p:nvPr/>
        </p:nvSpPr>
        <p:spPr>
          <a:xfrm>
            <a:off x="9783360" y="1321920"/>
            <a:ext cx="1869120" cy="638280"/>
          </a:xfrm>
          <a:prstGeom prst="rect">
            <a:avLst/>
          </a:prstGeom>
          <a:solidFill>
            <a:schemeClr val="accent6">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combine</a:t>
            </a:r>
            <a:endParaRPr lang="en-GB" sz="3600" b="0" u="none" strike="noStrike">
              <a:solidFill>
                <a:srgbClr val="000000"/>
              </a:solidFill>
              <a:effectLst/>
              <a:uFillTx/>
              <a:latin typeface="Arial"/>
            </a:endParaRPr>
          </a:p>
        </p:txBody>
      </p:sp>
      <p:cxnSp>
        <p:nvCxnSpPr>
          <p:cNvPr id="562" name="Straight Arrow Connector 1"/>
          <p:cNvCxnSpPr/>
          <p:nvPr/>
        </p:nvCxnSpPr>
        <p:spPr>
          <a:xfrm flipV="1">
            <a:off x="3287520" y="2783520"/>
            <a:ext cx="651240" cy="745560"/>
          </a:xfrm>
          <a:prstGeom prst="straightConnector1">
            <a:avLst/>
          </a:prstGeom>
          <a:ln w="57150">
            <a:solidFill>
              <a:srgbClr val="C55A11"/>
            </a:solidFill>
            <a:round/>
            <a:tailEnd type="triangle" w="med" len="med"/>
          </a:ln>
        </p:spPr>
      </p:cxnSp>
      <p:cxnSp>
        <p:nvCxnSpPr>
          <p:cNvPr id="563" name="Straight Arrow Connector 2"/>
          <p:cNvCxnSpPr/>
          <p:nvPr/>
        </p:nvCxnSpPr>
        <p:spPr>
          <a:xfrm flipV="1">
            <a:off x="3281400" y="3784320"/>
            <a:ext cx="651240" cy="115560"/>
          </a:xfrm>
          <a:prstGeom prst="straightConnector1">
            <a:avLst/>
          </a:prstGeom>
          <a:ln w="57150">
            <a:solidFill>
              <a:srgbClr val="C55A11"/>
            </a:solidFill>
            <a:round/>
            <a:tailEnd type="triangle" w="med" len="med"/>
          </a:ln>
        </p:spPr>
      </p:cxnSp>
      <p:cxnSp>
        <p:nvCxnSpPr>
          <p:cNvPr id="564" name="Straight Arrow Connector 3"/>
          <p:cNvCxnSpPr/>
          <p:nvPr/>
        </p:nvCxnSpPr>
        <p:spPr>
          <a:xfrm>
            <a:off x="3281760" y="4326480"/>
            <a:ext cx="640440" cy="399240"/>
          </a:xfrm>
          <a:prstGeom prst="straightConnector1">
            <a:avLst/>
          </a:prstGeom>
          <a:ln w="57150">
            <a:solidFill>
              <a:srgbClr val="C55A11"/>
            </a:solidFill>
            <a:round/>
            <a:tailEnd type="triangle" w="med" len="med"/>
          </a:ln>
        </p:spPr>
      </p:cxnSp>
      <p:cxnSp>
        <p:nvCxnSpPr>
          <p:cNvPr id="565" name="Straight Arrow Connector 4"/>
          <p:cNvCxnSpPr/>
          <p:nvPr/>
        </p:nvCxnSpPr>
        <p:spPr>
          <a:xfrm>
            <a:off x="3291840" y="5254200"/>
            <a:ext cx="640800" cy="1190160"/>
          </a:xfrm>
          <a:prstGeom prst="straightConnector1">
            <a:avLst/>
          </a:prstGeom>
          <a:ln w="57150">
            <a:solidFill>
              <a:srgbClr val="C55A11"/>
            </a:solidFill>
            <a:round/>
            <a:tailEnd type="triangle" w="med" len="med"/>
          </a:ln>
        </p:spPr>
      </p:cxnSp>
      <p:cxnSp>
        <p:nvCxnSpPr>
          <p:cNvPr id="566" name="Straight Arrow Connector 5"/>
          <p:cNvCxnSpPr/>
          <p:nvPr/>
        </p:nvCxnSpPr>
        <p:spPr>
          <a:xfrm>
            <a:off x="3281400" y="4874760"/>
            <a:ext cx="651240" cy="757080"/>
          </a:xfrm>
          <a:prstGeom prst="straightConnector1">
            <a:avLst/>
          </a:prstGeom>
          <a:ln w="57150">
            <a:solidFill>
              <a:srgbClr val="C55A11"/>
            </a:solidFill>
            <a:round/>
            <a:tailEnd type="triangle" w="med" len="med"/>
          </a:ln>
        </p:spPr>
      </p:cxnSp>
      <p:sp>
        <p:nvSpPr>
          <p:cNvPr id="567" name="TextBox 45"/>
          <p:cNvSpPr/>
          <p:nvPr/>
        </p:nvSpPr>
        <p:spPr>
          <a:xfrm>
            <a:off x="3228840" y="273456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A1</a:t>
            </a:r>
            <a:endParaRPr lang="en-GB" sz="1800" b="0" u="none" strike="noStrike">
              <a:solidFill>
                <a:srgbClr val="000000"/>
              </a:solidFill>
              <a:effectLst/>
              <a:uFillTx/>
              <a:latin typeface="Arial"/>
            </a:endParaRPr>
          </a:p>
        </p:txBody>
      </p:sp>
      <p:sp>
        <p:nvSpPr>
          <p:cNvPr id="568" name="TextBox 46"/>
          <p:cNvSpPr/>
          <p:nvPr/>
        </p:nvSpPr>
        <p:spPr>
          <a:xfrm>
            <a:off x="3223800" y="351648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A2</a:t>
            </a:r>
            <a:endParaRPr lang="en-GB" sz="1800" b="0" u="none" strike="noStrike">
              <a:solidFill>
                <a:srgbClr val="000000"/>
              </a:solidFill>
              <a:effectLst/>
              <a:uFillTx/>
              <a:latin typeface="Arial"/>
            </a:endParaRPr>
          </a:p>
        </p:txBody>
      </p:sp>
      <p:sp>
        <p:nvSpPr>
          <p:cNvPr id="569" name="TextBox 47"/>
          <p:cNvSpPr/>
          <p:nvPr/>
        </p:nvSpPr>
        <p:spPr>
          <a:xfrm>
            <a:off x="3223800" y="402048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B1</a:t>
            </a:r>
            <a:endParaRPr lang="en-GB" sz="1800" b="0" u="none" strike="noStrike">
              <a:solidFill>
                <a:srgbClr val="000000"/>
              </a:solidFill>
              <a:effectLst/>
              <a:uFillTx/>
              <a:latin typeface="Arial"/>
            </a:endParaRPr>
          </a:p>
        </p:txBody>
      </p:sp>
      <p:sp>
        <p:nvSpPr>
          <p:cNvPr id="570" name="TextBox 48"/>
          <p:cNvSpPr/>
          <p:nvPr/>
        </p:nvSpPr>
        <p:spPr>
          <a:xfrm>
            <a:off x="3233520" y="475452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B2</a:t>
            </a:r>
            <a:endParaRPr lang="en-GB" sz="1800" b="0" u="none" strike="noStrike">
              <a:solidFill>
                <a:srgbClr val="000000"/>
              </a:solidFill>
              <a:effectLst/>
              <a:uFillTx/>
              <a:latin typeface="Arial"/>
            </a:endParaRPr>
          </a:p>
        </p:txBody>
      </p:sp>
      <p:sp>
        <p:nvSpPr>
          <p:cNvPr id="571" name="TextBox 49"/>
          <p:cNvSpPr/>
          <p:nvPr/>
        </p:nvSpPr>
        <p:spPr>
          <a:xfrm>
            <a:off x="3233520" y="5244480"/>
            <a:ext cx="644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0" u="none" strike="noStrike">
                <a:solidFill>
                  <a:srgbClr val="000000"/>
                </a:solidFill>
                <a:effectLst/>
                <a:uFillTx/>
                <a:latin typeface="Calibri"/>
                <a:ea typeface="DejaVu Sans"/>
              </a:rPr>
              <a:t>C2</a:t>
            </a:r>
            <a:endParaRPr lang="en-GB" sz="1800" b="0" u="none" strike="noStrike">
              <a:solidFill>
                <a:srgbClr val="000000"/>
              </a:solidFill>
              <a:effectLst/>
              <a:uFillTx/>
              <a:latin typeface="Arial"/>
            </a:endParaRPr>
          </a:p>
        </p:txBody>
      </p:sp>
      <p:sp>
        <p:nvSpPr>
          <p:cNvPr id="572" name="Right Arrow 1"/>
          <p:cNvSpPr/>
          <p:nvPr/>
        </p:nvSpPr>
        <p:spPr>
          <a:xfrm>
            <a:off x="6996240" y="4089240"/>
            <a:ext cx="500760" cy="857520"/>
          </a:xfrm>
          <a:prstGeom prst="rightArrow">
            <a:avLst>
              <a:gd name="adj1" fmla="val 50000"/>
              <a:gd name="adj2" fmla="val 50000"/>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CH" sz="1800" b="0" u="none" strike="noStrike">
              <a:solidFill>
                <a:schemeClr val="lt1"/>
              </a:solidFill>
              <a:effectLst/>
              <a:uFillTx/>
              <a:latin typeface="Calibri"/>
              <a:ea typeface="DejaVu Sans"/>
            </a:endParaRPr>
          </a:p>
        </p:txBody>
      </p:sp>
      <p:sp>
        <p:nvSpPr>
          <p:cNvPr id="573" name="TextBox 50"/>
          <p:cNvSpPr/>
          <p:nvPr/>
        </p:nvSpPr>
        <p:spPr>
          <a:xfrm>
            <a:off x="6837120" y="3702960"/>
            <a:ext cx="77940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1800" b="1" u="none" strike="noStrike">
                <a:solidFill>
                  <a:srgbClr val="000000"/>
                </a:solidFill>
                <a:effectLst/>
                <a:uFillTx/>
                <a:latin typeface="Calibri"/>
                <a:ea typeface="DejaVu Sans"/>
              </a:rPr>
              <a:t>mean</a:t>
            </a:r>
            <a:endParaRPr lang="en-GB" sz="1800" b="0" u="none" strike="noStrike">
              <a:solidFill>
                <a:srgbClr val="000000"/>
              </a:solidFill>
              <a:effectLst/>
              <a:uFillTx/>
              <a:latin typeface="Arial"/>
            </a:endParaRPr>
          </a:p>
        </p:txBody>
      </p:sp>
      <p:cxnSp>
        <p:nvCxnSpPr>
          <p:cNvPr id="574" name="Straight Arrow Connector 6"/>
          <p:cNvCxnSpPr/>
          <p:nvPr/>
        </p:nvCxnSpPr>
        <p:spPr>
          <a:xfrm>
            <a:off x="9076320" y="2923920"/>
            <a:ext cx="710280" cy="595800"/>
          </a:xfrm>
          <a:prstGeom prst="straightConnector1">
            <a:avLst/>
          </a:prstGeom>
          <a:ln w="57150">
            <a:solidFill>
              <a:srgbClr val="548235"/>
            </a:solidFill>
            <a:round/>
            <a:tailEnd type="triangle" w="med" len="med"/>
          </a:ln>
        </p:spPr>
      </p:cxnSp>
      <p:cxnSp>
        <p:nvCxnSpPr>
          <p:cNvPr id="575" name="Straight Arrow Connector 7"/>
          <p:cNvCxnSpPr/>
          <p:nvPr/>
        </p:nvCxnSpPr>
        <p:spPr>
          <a:xfrm>
            <a:off x="9076320" y="3645000"/>
            <a:ext cx="710280" cy="198720"/>
          </a:xfrm>
          <a:prstGeom prst="straightConnector1">
            <a:avLst/>
          </a:prstGeom>
          <a:ln w="57150">
            <a:solidFill>
              <a:srgbClr val="548235"/>
            </a:solidFill>
            <a:round/>
            <a:tailEnd type="triangle" w="med" len="med"/>
          </a:ln>
        </p:spPr>
      </p:cxnSp>
      <p:cxnSp>
        <p:nvCxnSpPr>
          <p:cNvPr id="576" name="Straight Arrow Connector 8"/>
          <p:cNvCxnSpPr/>
          <p:nvPr/>
        </p:nvCxnSpPr>
        <p:spPr>
          <a:xfrm flipV="1">
            <a:off x="9065520" y="4205160"/>
            <a:ext cx="721080" cy="219960"/>
          </a:xfrm>
          <a:prstGeom prst="straightConnector1">
            <a:avLst/>
          </a:prstGeom>
          <a:ln w="57150">
            <a:solidFill>
              <a:srgbClr val="548235"/>
            </a:solidFill>
            <a:round/>
            <a:tailEnd type="triangle" w="med" len="med"/>
          </a:ln>
        </p:spPr>
      </p:cxnSp>
      <p:cxnSp>
        <p:nvCxnSpPr>
          <p:cNvPr id="577" name="Straight Arrow Connector 9"/>
          <p:cNvCxnSpPr/>
          <p:nvPr/>
        </p:nvCxnSpPr>
        <p:spPr>
          <a:xfrm flipV="1">
            <a:off x="9076320" y="4421880"/>
            <a:ext cx="710280" cy="710640"/>
          </a:xfrm>
          <a:prstGeom prst="straightConnector1">
            <a:avLst/>
          </a:prstGeom>
          <a:ln w="57150">
            <a:solidFill>
              <a:srgbClr val="548235"/>
            </a:solidFill>
            <a:round/>
            <a:tailEnd type="triangle" w="med" len="med"/>
          </a:ln>
        </p:spPr>
      </p:cxnSp>
      <p:cxnSp>
        <p:nvCxnSpPr>
          <p:cNvPr id="578" name="Straight Arrow Connector 28"/>
          <p:cNvCxnSpPr/>
          <p:nvPr/>
        </p:nvCxnSpPr>
        <p:spPr>
          <a:xfrm flipV="1">
            <a:off x="9076320" y="4775400"/>
            <a:ext cx="710280" cy="1166400"/>
          </a:xfrm>
          <a:prstGeom prst="straightConnector1">
            <a:avLst/>
          </a:prstGeom>
          <a:ln w="57150">
            <a:solidFill>
              <a:srgbClr val="548235"/>
            </a:solidFill>
            <a:round/>
            <a:tailEnd type="triangle" w="med" len="med"/>
          </a:ln>
        </p:spPr>
      </p:cxnSp>
      <p:sp>
        <p:nvSpPr>
          <p:cNvPr id="579" name="TextBox 51"/>
          <p:cNvSpPr/>
          <p:nvPr/>
        </p:nvSpPr>
        <p:spPr>
          <a:xfrm>
            <a:off x="515520" y="293760"/>
            <a:ext cx="1115784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2800" b="0" u="none" strike="noStrike">
                <a:solidFill>
                  <a:srgbClr val="000000"/>
                </a:solidFill>
                <a:effectLst/>
                <a:uFillTx/>
                <a:latin typeface="Consolas"/>
                <a:ea typeface="DejaVu Sans"/>
              </a:rPr>
              <a:t>df</a:t>
            </a:r>
            <a:r>
              <a:rPr lang="en-CH" sz="2800" b="0" u="none" strike="noStrike">
                <a:solidFill>
                  <a:schemeClr val="accent2">
                    <a:lumMod val="75000"/>
                  </a:schemeClr>
                </a:solidFill>
                <a:effectLst/>
                <a:uFillTx/>
                <a:latin typeface="Consolas"/>
                <a:ea typeface="DejaVu Sans"/>
              </a:rPr>
              <a:t>.groupby(‘condition_id’)</a:t>
            </a:r>
            <a:r>
              <a:rPr lang="en-CH" sz="2800" b="0" u="none" strike="noStrike">
                <a:solidFill>
                  <a:schemeClr val="accent1">
                    <a:lumMod val="75000"/>
                  </a:schemeClr>
                </a:solidFill>
                <a:effectLst/>
                <a:uFillTx/>
                <a:latin typeface="Consolas"/>
                <a:ea typeface="DejaVu Sans"/>
              </a:rPr>
              <a:t>[‘response_time’].mean()</a:t>
            </a:r>
            <a:endParaRPr lang="en-GB" sz="2800" b="0" u="none" strike="noStrike">
              <a:solidFill>
                <a:srgbClr val="000000"/>
              </a:solidFill>
              <a:effectLst/>
              <a:uFillTx/>
              <a:latin typeface="Arial"/>
            </a:endParaRPr>
          </a:p>
        </p:txBody>
      </p:sp>
      <p:sp>
        <p:nvSpPr>
          <p:cNvPr id="5" name="Text Placeholder 4">
            <a:extLst>
              <a:ext uri="{FF2B5EF4-FFF2-40B4-BE49-F238E27FC236}">
                <a16:creationId xmlns:a16="http://schemas.microsoft.com/office/drawing/2014/main" id="{BFB8BC02-5403-5680-E03E-F056B648718E}"/>
              </a:ext>
            </a:extLst>
          </p:cNvPr>
          <p:cNvSpPr>
            <a:spLocks noGrp="1"/>
          </p:cNvSpPr>
          <p:nvPr>
            <p:ph type="body"/>
          </p:nvPr>
        </p:nvSpPr>
        <p:spPr/>
        <p:txBody>
          <a:bodyPr/>
          <a:lstStyle/>
          <a:p>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59647C-E4DB-9717-A215-32123B43E146}"/>
              </a:ext>
            </a:extLst>
          </p:cNvPr>
          <p:cNvSpPr>
            <a:spLocks noGrp="1"/>
          </p:cNvSpPr>
          <p:nvPr>
            <p:ph type="title"/>
          </p:nvPr>
        </p:nvSpPr>
        <p:spPr/>
        <p:txBody>
          <a:bodyPr/>
          <a:lstStyle/>
          <a:p>
            <a:endParaRPr lang="en-US"/>
          </a:p>
        </p:txBody>
      </p:sp>
      <p:sp>
        <p:nvSpPr>
          <p:cNvPr id="3" name="PlaceHolder 2"/>
          <p:cNvSpPr>
            <a:spLocks noGrp="1"/>
          </p:cNvSpPr>
          <p:nvPr>
            <p:ph type="ftr" idx="1"/>
          </p:nvPr>
        </p:nvSpPr>
        <p:spPr>
          <a:prstGeom prst="rect">
            <a:avLst/>
          </a:prstGeom>
        </p:spPr>
        <p:txBody>
          <a:bodyPr/>
          <a:lstStyle/>
          <a:p>
            <a:r>
              <a:t>Data, v1.0</a:t>
            </a:r>
          </a:p>
        </p:txBody>
      </p:sp>
      <p:sp>
        <p:nvSpPr>
          <p:cNvPr id="4" name="PlaceHolder 3"/>
          <p:cNvSpPr>
            <a:spLocks noGrp="1"/>
          </p:cNvSpPr>
          <p:nvPr>
            <p:ph type="sldNum" idx="2"/>
          </p:nvPr>
        </p:nvSpPr>
        <p:spPr>
          <a:prstGeom prst="rect">
            <a:avLst/>
          </a:prstGeom>
        </p:spPr>
        <p:txBody>
          <a:bodyPr/>
          <a:lstStyle/>
          <a:p>
            <a:fld id="{CBBC72AC-E0F5-45E0-8F39-A02E4D850350}" type="slidenum">
              <a:t>75</a:t>
            </a:fld>
            <a:endParaRPr/>
          </a:p>
        </p:txBody>
      </p:sp>
      <p:sp>
        <p:nvSpPr>
          <p:cNvPr id="580" name="PlaceHolder 1"/>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pic>
        <p:nvPicPr>
          <p:cNvPr id="581" name="Picture 22"/>
          <p:cNvPicPr/>
          <p:nvPr/>
        </p:nvPicPr>
        <p:blipFill>
          <a:blip r:embed="rId2"/>
          <a:stretch/>
        </p:blipFill>
        <p:spPr>
          <a:xfrm>
            <a:off x="1775520" y="2645640"/>
            <a:ext cx="3396240" cy="3300480"/>
          </a:xfrm>
          <a:prstGeom prst="rect">
            <a:avLst/>
          </a:prstGeom>
          <a:noFill/>
          <a:ln w="0">
            <a:noFill/>
          </a:ln>
        </p:spPr>
      </p:pic>
      <p:sp>
        <p:nvSpPr>
          <p:cNvPr id="582" name="TextBox 52"/>
          <p:cNvSpPr/>
          <p:nvPr/>
        </p:nvSpPr>
        <p:spPr>
          <a:xfrm>
            <a:off x="9984600" y="476640"/>
            <a:ext cx="1869120" cy="638280"/>
          </a:xfrm>
          <a:prstGeom prst="rect">
            <a:avLst/>
          </a:prstGeom>
          <a:solidFill>
            <a:schemeClr val="accent2">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split</a:t>
            </a:r>
            <a:endParaRPr lang="en-GB" sz="3600" b="0" u="none" strike="noStrike">
              <a:solidFill>
                <a:srgbClr val="000000"/>
              </a:solidFill>
              <a:effectLst/>
              <a:uFillTx/>
              <a:latin typeface="Arial"/>
            </a:endParaRPr>
          </a:p>
        </p:txBody>
      </p:sp>
      <p:sp>
        <p:nvSpPr>
          <p:cNvPr id="583" name="TextBox 53"/>
          <p:cNvSpPr/>
          <p:nvPr/>
        </p:nvSpPr>
        <p:spPr>
          <a:xfrm>
            <a:off x="9984600" y="1214280"/>
            <a:ext cx="1869120" cy="638280"/>
          </a:xfrm>
          <a:prstGeom prst="rect">
            <a:avLst/>
          </a:prstGeom>
          <a:solidFill>
            <a:schemeClr val="accent5">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apply</a:t>
            </a:r>
            <a:endParaRPr lang="en-GB" sz="3600" b="0" u="none" strike="noStrike">
              <a:solidFill>
                <a:srgbClr val="000000"/>
              </a:solidFill>
              <a:effectLst/>
              <a:uFillTx/>
              <a:latin typeface="Arial"/>
            </a:endParaRPr>
          </a:p>
        </p:txBody>
      </p:sp>
      <p:sp>
        <p:nvSpPr>
          <p:cNvPr id="584" name="TextBox 54"/>
          <p:cNvSpPr/>
          <p:nvPr/>
        </p:nvSpPr>
        <p:spPr>
          <a:xfrm>
            <a:off x="9987480" y="2017440"/>
            <a:ext cx="1869120" cy="638280"/>
          </a:xfrm>
          <a:prstGeom prst="rect">
            <a:avLst/>
          </a:prstGeom>
          <a:solidFill>
            <a:schemeClr val="accent6">
              <a:lumMod val="20000"/>
              <a:lumOff val="8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CH" sz="3600" b="0" u="none" strike="noStrike">
                <a:solidFill>
                  <a:srgbClr val="000000"/>
                </a:solidFill>
                <a:effectLst/>
                <a:uFillTx/>
                <a:latin typeface="Calibri"/>
                <a:ea typeface="DejaVu Sans"/>
              </a:rPr>
              <a:t>combine</a:t>
            </a:r>
            <a:endParaRPr lang="en-GB" sz="3600" b="0" u="none" strike="noStrike">
              <a:solidFill>
                <a:srgbClr val="000000"/>
              </a:solidFill>
              <a:effectLst/>
              <a:uFillTx/>
              <a:latin typeface="Arial"/>
            </a:endParaRPr>
          </a:p>
        </p:txBody>
      </p:sp>
      <p:sp>
        <p:nvSpPr>
          <p:cNvPr id="585" name="TextBox 55"/>
          <p:cNvSpPr/>
          <p:nvPr/>
        </p:nvSpPr>
        <p:spPr>
          <a:xfrm>
            <a:off x="515520" y="325800"/>
            <a:ext cx="11157840" cy="1797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2800" b="0" u="none" strike="noStrike">
                <a:solidFill>
                  <a:srgbClr val="000000"/>
                </a:solidFill>
                <a:effectLst/>
                <a:uFillTx/>
                <a:latin typeface="Consolas"/>
                <a:ea typeface="DejaVu Sans"/>
              </a:rPr>
              <a:t>data.pivot_table(</a:t>
            </a:r>
            <a:br>
              <a:rPr sz="2800"/>
            </a:br>
            <a:r>
              <a:rPr lang="en-US" sz="2800" b="0" u="none" strike="noStrike">
                <a:solidFill>
                  <a:srgbClr val="000000"/>
                </a:solidFill>
                <a:effectLst/>
                <a:uFillTx/>
                <a:latin typeface="Consolas"/>
                <a:ea typeface="DejaVu Sans"/>
              </a:rPr>
              <a:t>	</a:t>
            </a:r>
            <a:r>
              <a:rPr lang="en-US" sz="2800" b="0" u="none" strike="noStrike">
                <a:solidFill>
                  <a:schemeClr val="accent2">
                    <a:lumMod val="75000"/>
                  </a:schemeClr>
                </a:solidFill>
                <a:effectLst/>
                <a:uFillTx/>
                <a:latin typeface="Consolas"/>
                <a:ea typeface="DejaVu Sans"/>
              </a:rPr>
              <a:t>index='condition_id', columns='response'</a:t>
            </a:r>
            <a:r>
              <a:rPr lang="en-US" sz="2800" b="0" u="none" strike="noStrike">
                <a:solidFill>
                  <a:srgbClr val="000000"/>
                </a:solidFill>
                <a:effectLst/>
                <a:uFillTx/>
                <a:latin typeface="Consolas"/>
                <a:ea typeface="DejaVu Sans"/>
              </a:rPr>
              <a:t>, 	</a:t>
            </a:r>
            <a:r>
              <a:rPr lang="en-US" sz="2800" b="0" u="none" strike="noStrike">
                <a:solidFill>
                  <a:schemeClr val="accent1">
                    <a:lumMod val="75000"/>
                  </a:schemeClr>
                </a:solidFill>
                <a:effectLst/>
                <a:uFillTx/>
                <a:latin typeface="Consolas"/>
                <a:ea typeface="DejaVu Sans"/>
              </a:rPr>
              <a:t>values='response_time', aggfunc='mean',</a:t>
            </a:r>
            <a:endParaRPr lang="en-GB" sz="2800" b="0" u="none" strike="noStrike">
              <a:solidFill>
                <a:srgbClr val="000000"/>
              </a:solidFill>
              <a:effectLst/>
              <a:uFillTx/>
              <a:latin typeface="Arial"/>
            </a:endParaRPr>
          </a:p>
          <a:p>
            <a:pPr>
              <a:lnSpc>
                <a:spcPct val="100000"/>
              </a:lnSpc>
            </a:pPr>
            <a:r>
              <a:rPr lang="en-US" sz="2800" b="0" u="none" strike="noStrike">
                <a:solidFill>
                  <a:srgbClr val="000000"/>
                </a:solidFill>
                <a:effectLst/>
                <a:uFillTx/>
                <a:latin typeface="Consolas"/>
                <a:ea typeface="DejaVu Sans"/>
              </a:rPr>
              <a:t>)</a:t>
            </a:r>
            <a:endParaRPr lang="en-GB" sz="2800" b="0" u="none" strike="noStrike">
              <a:solidFill>
                <a:srgbClr val="000000"/>
              </a:solidFill>
              <a:effectLst/>
              <a:uFillTx/>
              <a:latin typeface="Arial"/>
            </a:endParaRPr>
          </a:p>
        </p:txBody>
      </p:sp>
      <p:pic>
        <p:nvPicPr>
          <p:cNvPr id="586" name="Picture 23"/>
          <p:cNvPicPr/>
          <p:nvPr/>
        </p:nvPicPr>
        <p:blipFill>
          <a:blip r:embed="rId3"/>
          <a:stretch/>
        </p:blipFill>
        <p:spPr>
          <a:xfrm>
            <a:off x="6966000" y="3065400"/>
            <a:ext cx="2371680" cy="2460600"/>
          </a:xfrm>
          <a:prstGeom prst="rect">
            <a:avLst/>
          </a:prstGeom>
          <a:noFill/>
          <a:ln w="0">
            <a:noFill/>
          </a:ln>
        </p:spPr>
      </p:pic>
      <p:sp>
        <p:nvSpPr>
          <p:cNvPr id="587" name="Right Arrow 4"/>
          <p:cNvSpPr/>
          <p:nvPr/>
        </p:nvSpPr>
        <p:spPr>
          <a:xfrm>
            <a:off x="5818320" y="3867120"/>
            <a:ext cx="500760" cy="857520"/>
          </a:xfrm>
          <a:prstGeom prst="rightArrow">
            <a:avLst>
              <a:gd name="adj1" fmla="val 50000"/>
              <a:gd name="adj2" fmla="val 50000"/>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CH" sz="1800" b="0" u="none" strike="noStrike">
              <a:solidFill>
                <a:schemeClr val="lt1"/>
              </a:solidFill>
              <a:effectLst/>
              <a:uFillTx/>
              <a:latin typeface="Calibri"/>
              <a:ea typeface="DejaVu Sans"/>
            </a:endParaRPr>
          </a:p>
        </p:txBody>
      </p:sp>
      <p:sp>
        <p:nvSpPr>
          <p:cNvPr id="5" name="Text Placeholder 4">
            <a:extLst>
              <a:ext uri="{FF2B5EF4-FFF2-40B4-BE49-F238E27FC236}">
                <a16:creationId xmlns:a16="http://schemas.microsoft.com/office/drawing/2014/main" id="{3AE9BED7-2DC3-C8E9-02A1-1E8EF4039FDA}"/>
              </a:ext>
            </a:extLst>
          </p:cNvPr>
          <p:cNvSpPr>
            <a:spLocks noGrp="1"/>
          </p:cNvSpPr>
          <p:nvPr>
            <p:ph type="body"/>
          </p:nvPr>
        </p:nvSpPr>
        <p:spPr/>
        <p:txBody>
          <a:bodyPr/>
          <a:lstStyle/>
          <a:p>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8" name="Rectangle 9"/>
          <p:cNvSpPr/>
          <p:nvPr/>
        </p:nvSpPr>
        <p:spPr>
          <a:xfrm>
            <a:off x="7428240" y="205920"/>
            <a:ext cx="4535640" cy="987120"/>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DE" sz="1800" b="0" u="none" strike="noStrike">
              <a:solidFill>
                <a:srgbClr val="000000"/>
              </a:solidFill>
              <a:effectLst/>
              <a:uFillTx/>
              <a:latin typeface="Courier New"/>
              <a:ea typeface="DejaVu Sans"/>
            </a:endParaRPr>
          </a:p>
        </p:txBody>
      </p:sp>
      <p:sp>
        <p:nvSpPr>
          <p:cNvPr id="589" name="PlaceHolder 1"/>
          <p:cNvSpPr>
            <a:spLocks noGrp="1"/>
          </p:cNvSpPr>
          <p:nvPr>
            <p:ph type="body"/>
          </p:nvPr>
        </p:nvSpPr>
        <p:spPr>
          <a:prstGeom prst="rect">
            <a:avLst/>
          </a:prstGeom>
          <a:noFill/>
          <a:ln w="0">
            <a:noFill/>
          </a:ln>
        </p:spPr>
        <p:txBody>
          <a:bodyPr lIns="90000" tIns="45000" rIns="90000" bIns="45000" anchor="t">
            <a:noAutofit/>
          </a:bodyPr>
          <a:lstStyle/>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US" sz="2800" b="0" u="none" strike="noStrike">
                <a:solidFill>
                  <a:srgbClr val="000000"/>
                </a:solidFill>
                <a:effectLst/>
                <a:uFillTx/>
                <a:latin typeface="Calibri"/>
                <a:ea typeface="DejaVu Sans"/>
              </a:rPr>
              <a:t>Compute summary statistics to answer the question:</a:t>
            </a:r>
            <a:br>
              <a:rPr sz="2800"/>
            </a:br>
            <a:r>
              <a:rPr lang="en-US" sz="2800" b="0" u="none" strike="noStrike">
                <a:solidFill>
                  <a:srgbClr val="000000"/>
                </a:solidFill>
                <a:effectLst/>
                <a:uFillTx/>
                <a:latin typeface="Calibri"/>
                <a:ea typeface="DejaVu Sans"/>
              </a:rPr>
              <a:t>Did the Mediterranean diet help prevent cardiovascular events?</a:t>
            </a: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US" sz="2800" b="0" u="none" strike="noStrike">
                <a:solidFill>
                  <a:srgbClr val="000000"/>
                </a:solidFill>
                <a:effectLst/>
                <a:uFillTx/>
                <a:latin typeface="Calibri"/>
                <a:ea typeface="DejaVu Sans"/>
              </a:rPr>
              <a:t>Submit a PR on</a:t>
            </a:r>
            <a:br>
              <a:rPr sz="2800"/>
            </a:br>
            <a:r>
              <a:rPr lang="en-US" sz="2800" b="0" u="none" strike="noStrike">
                <a:solidFill>
                  <a:srgbClr val="000000"/>
                </a:solidFill>
                <a:effectLst/>
                <a:uFillTx/>
                <a:latin typeface="Consolas"/>
                <a:ea typeface="DejaVu Sans"/>
              </a:rPr>
              <a:t>git.aspp.school/ASPP/2025-plovdiv-data</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t>Data, v1.0</a:t>
            </a:r>
          </a:p>
        </p:txBody>
      </p:sp>
      <p:sp>
        <p:nvSpPr>
          <p:cNvPr id="6" name="PlaceHolder 5"/>
          <p:cNvSpPr>
            <a:spLocks noGrp="1"/>
          </p:cNvSpPr>
          <p:nvPr>
            <p:ph type="sldNum" idx="2"/>
          </p:nvPr>
        </p:nvSpPr>
        <p:spPr/>
        <p:txBody>
          <a:bodyPr/>
          <a:lstStyle/>
          <a:p>
            <a:fld id="{EF5659D7-98B2-42FA-9664-B9D0DCA2DF94}" type="slidenum">
              <a:t>76</a:t>
            </a:fld>
            <a:endParaRPr/>
          </a:p>
        </p:txBody>
      </p:sp>
      <p:sp>
        <p:nvSpPr>
          <p:cNvPr id="590" name="PlaceHolder 2"/>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594" name="PlaceHolder 3"/>
          <p:cNvSpPr>
            <a:spLocks noGrp="1"/>
          </p:cNvSpPr>
          <p:nvPr>
            <p:ph type="title"/>
          </p:nvPr>
        </p:nvSpPr>
        <p:spPr>
          <a:prstGeom prst="rect">
            <a:avLst/>
          </a:prstGeom>
          <a:noFill/>
          <a:ln w="0">
            <a:noFill/>
          </a:ln>
        </p:spPr>
        <p:txBody>
          <a:bodyPr lIns="90000" tIns="45000" rIns="90000" bIns="45000" anchor="ctr">
            <a:normAutofit fontScale="90000"/>
          </a:bodyPr>
          <a:lstStyle/>
          <a:p>
            <a:pPr indent="0">
              <a:lnSpc>
                <a:spcPct val="90000"/>
              </a:lnSpc>
              <a:buNone/>
              <a:tabLst>
                <a:tab pos="0" algn="l"/>
              </a:tabLst>
            </a:pPr>
            <a:r>
              <a:rPr lang="en-US" sz="4400" b="1" u="none" strike="noStrike">
                <a:solidFill>
                  <a:srgbClr val="000000"/>
                </a:solidFill>
                <a:effectLst/>
                <a:uFillTx/>
                <a:latin typeface="Calibri Light"/>
                <a:ea typeface="DejaVu Sans"/>
              </a:rPr>
              <a:t>Hands-on</a:t>
            </a:r>
            <a:br>
              <a:rPr sz="4400"/>
            </a:br>
            <a:endParaRPr lang="en-GB" sz="4400" b="0" u="none" strike="noStrike">
              <a:solidFill>
                <a:srgbClr val="000000"/>
              </a:solidFill>
              <a:effectLst/>
              <a:uFillTx/>
              <a:latin typeface="Arial"/>
            </a:endParaRPr>
          </a:p>
        </p:txBody>
      </p:sp>
      <p:sp>
        <p:nvSpPr>
          <p:cNvPr id="591" name="TextBox 56"/>
          <p:cNvSpPr/>
          <p:nvPr/>
        </p:nvSpPr>
        <p:spPr>
          <a:xfrm>
            <a:off x="7930800" y="22464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Exercise</a:t>
            </a:r>
            <a:endParaRPr lang="en-GB" sz="1800" b="0" u="none" strike="noStrike">
              <a:solidFill>
                <a:srgbClr val="000000"/>
              </a:solidFill>
              <a:effectLst/>
              <a:uFillTx/>
              <a:latin typeface="Arial"/>
            </a:endParaRPr>
          </a:p>
        </p:txBody>
      </p:sp>
      <p:pic>
        <p:nvPicPr>
          <p:cNvPr id="592" name="Graphic 4"/>
          <p:cNvPicPr/>
          <p:nvPr/>
        </p:nvPicPr>
        <p:blipFill>
          <a:blip r:embed="rId2"/>
          <a:stretch/>
        </p:blipFill>
        <p:spPr>
          <a:xfrm>
            <a:off x="7474680" y="273960"/>
            <a:ext cx="691200" cy="552240"/>
          </a:xfrm>
          <a:prstGeom prst="rect">
            <a:avLst/>
          </a:prstGeom>
          <a:noFill/>
          <a:ln w="0">
            <a:noFill/>
          </a:ln>
        </p:spPr>
      </p:pic>
      <p:sp>
        <p:nvSpPr>
          <p:cNvPr id="593" name="TextBox 57"/>
          <p:cNvSpPr/>
          <p:nvPr/>
        </p:nvSpPr>
        <p:spPr>
          <a:xfrm>
            <a:off x="8301960" y="542880"/>
            <a:ext cx="347940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400" b="0" u="none" strike="noStrike">
                <a:solidFill>
                  <a:srgbClr val="000000"/>
                </a:solidFill>
                <a:effectLst/>
                <a:uFillTx/>
                <a:latin typeface="Courier New"/>
                <a:ea typeface="DejaVu Sans"/>
              </a:rPr>
              <a:t>exercises/</a:t>
            </a:r>
            <a:br>
              <a:rPr sz="1400"/>
            </a:br>
            <a:r>
              <a:rPr lang="en-GB" sz="1400" b="0" u="none" strike="noStrike">
                <a:solidFill>
                  <a:srgbClr val="000000"/>
                </a:solidFill>
                <a:effectLst/>
                <a:uFillTx/>
                <a:latin typeface="Courier New"/>
                <a:ea typeface="DejaVu Sans"/>
              </a:rPr>
              <a:t>tabular_split_apply_combine</a:t>
            </a:r>
            <a:endParaRPr lang="en-GB" sz="1400" b="0" u="none" strike="noStrike">
              <a:solidFill>
                <a:srgbClr val="000000"/>
              </a:solidFill>
              <a:effectLst/>
              <a:uFillTx/>
              <a:latin typeface="Arial"/>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5" name="Rectangle 10"/>
          <p:cNvSpPr/>
          <p:nvPr/>
        </p:nvSpPr>
        <p:spPr>
          <a:xfrm>
            <a:off x="7428240" y="205920"/>
            <a:ext cx="4535640" cy="987120"/>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DE" sz="1800" b="0" u="none" strike="noStrike">
              <a:solidFill>
                <a:srgbClr val="000000"/>
              </a:solidFill>
              <a:effectLst/>
              <a:uFillTx/>
              <a:latin typeface="Courier New"/>
              <a:ea typeface="DejaVu Sans"/>
            </a:endParaRPr>
          </a:p>
        </p:txBody>
      </p:sp>
      <p:sp>
        <p:nvSpPr>
          <p:cNvPr id="596" name="PlaceHolder 1"/>
          <p:cNvSpPr>
            <a:spLocks noGrp="1"/>
          </p:cNvSpPr>
          <p:nvPr>
            <p:ph type="body"/>
          </p:nvPr>
        </p:nvSpPr>
        <p:spPr>
          <a:prstGeom prst="rect">
            <a:avLst/>
          </a:prstGeom>
          <a:noFill/>
          <a:ln w="0">
            <a:noFill/>
          </a:ln>
        </p:spPr>
        <p:txBody>
          <a:bodyPr lIns="90000" tIns="45000" rIns="90000" bIns="45000" anchor="t">
            <a:noAutofit/>
          </a:bodyPr>
          <a:lstStyle/>
          <a:p>
            <a:pPr marL="228600" indent="-228600">
              <a:lnSpc>
                <a:spcPct val="90000"/>
              </a:lnSpc>
              <a:spcBef>
                <a:spcPts val="1001"/>
              </a:spcBef>
              <a:buClr>
                <a:srgbClr val="000000"/>
              </a:buClr>
              <a:buFont typeface="Arial"/>
              <a:buChar char="•"/>
            </a:pPr>
            <a:r>
              <a:rPr lang="en-US" sz="2800" b="0" u="none" strike="noStrike">
                <a:solidFill>
                  <a:srgbClr val="000000"/>
                </a:solidFill>
                <a:effectLst/>
                <a:uFillTx/>
                <a:latin typeface="Calibri"/>
                <a:ea typeface="DejaVu Sans"/>
              </a:rPr>
              <a:t>Compute some summary tables for the WHO tuberculosis data</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t>Data, v1.0</a:t>
            </a:r>
          </a:p>
        </p:txBody>
      </p:sp>
      <p:sp>
        <p:nvSpPr>
          <p:cNvPr id="6" name="PlaceHolder 5"/>
          <p:cNvSpPr>
            <a:spLocks noGrp="1"/>
          </p:cNvSpPr>
          <p:nvPr>
            <p:ph type="sldNum" idx="2"/>
          </p:nvPr>
        </p:nvSpPr>
        <p:spPr/>
        <p:txBody>
          <a:bodyPr/>
          <a:lstStyle/>
          <a:p>
            <a:fld id="{EC4C5E3B-E7D9-437F-A0C8-6024D9D4F3FD}" type="slidenum">
              <a:t>77</a:t>
            </a:fld>
            <a:endParaRPr/>
          </a:p>
        </p:txBody>
      </p:sp>
      <p:sp>
        <p:nvSpPr>
          <p:cNvPr id="597" name="PlaceHolder 2"/>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601" name="PlaceHolder 3"/>
          <p:cNvSpPr>
            <a:spLocks noGrp="1"/>
          </p:cNvSpPr>
          <p:nvPr>
            <p:ph type="title"/>
          </p:nvPr>
        </p:nvSpPr>
        <p:spPr>
          <a:prstGeom prst="rect">
            <a:avLst/>
          </a:prstGeom>
          <a:noFill/>
          <a:ln w="0">
            <a:noFill/>
          </a:ln>
        </p:spPr>
        <p:txBody>
          <a:bodyPr lIns="90000" tIns="45000" rIns="90000" bIns="45000" anchor="ctr">
            <a:normAutofit fontScale="90000"/>
          </a:bodyPr>
          <a:lstStyle/>
          <a:p>
            <a:pPr indent="0">
              <a:lnSpc>
                <a:spcPct val="90000"/>
              </a:lnSpc>
              <a:buNone/>
              <a:tabLst>
                <a:tab pos="0" algn="l"/>
              </a:tabLst>
            </a:pPr>
            <a:r>
              <a:rPr lang="en-US" sz="4400" b="1" u="none" strike="noStrike">
                <a:solidFill>
                  <a:srgbClr val="000000"/>
                </a:solidFill>
                <a:effectLst/>
                <a:uFillTx/>
                <a:latin typeface="Calibri Light"/>
                <a:ea typeface="DejaVu Sans"/>
              </a:rPr>
              <a:t>Hands-on</a:t>
            </a:r>
            <a:br>
              <a:rPr sz="4400"/>
            </a:br>
            <a:endParaRPr lang="en-GB" sz="4400" b="0" u="none" strike="noStrike">
              <a:solidFill>
                <a:srgbClr val="000000"/>
              </a:solidFill>
              <a:effectLst/>
              <a:uFillTx/>
              <a:latin typeface="Arial"/>
            </a:endParaRPr>
          </a:p>
        </p:txBody>
      </p:sp>
      <p:sp>
        <p:nvSpPr>
          <p:cNvPr id="598" name="TextBox 58"/>
          <p:cNvSpPr/>
          <p:nvPr/>
        </p:nvSpPr>
        <p:spPr>
          <a:xfrm>
            <a:off x="7930800" y="22464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Exercise</a:t>
            </a:r>
            <a:endParaRPr lang="en-GB" sz="1800" b="0" u="none" strike="noStrike">
              <a:solidFill>
                <a:srgbClr val="000000"/>
              </a:solidFill>
              <a:effectLst/>
              <a:uFillTx/>
              <a:latin typeface="Arial"/>
            </a:endParaRPr>
          </a:p>
        </p:txBody>
      </p:sp>
      <p:pic>
        <p:nvPicPr>
          <p:cNvPr id="599" name="Graphic 5"/>
          <p:cNvPicPr/>
          <p:nvPr/>
        </p:nvPicPr>
        <p:blipFill>
          <a:blip r:embed="rId2"/>
          <a:stretch/>
        </p:blipFill>
        <p:spPr>
          <a:xfrm>
            <a:off x="7474680" y="273960"/>
            <a:ext cx="691200" cy="552240"/>
          </a:xfrm>
          <a:prstGeom prst="rect">
            <a:avLst/>
          </a:prstGeom>
          <a:noFill/>
          <a:ln w="0">
            <a:noFill/>
          </a:ln>
        </p:spPr>
      </p:pic>
      <p:sp>
        <p:nvSpPr>
          <p:cNvPr id="600" name="TextBox 59"/>
          <p:cNvSpPr/>
          <p:nvPr/>
        </p:nvSpPr>
        <p:spPr>
          <a:xfrm>
            <a:off x="8301960" y="542880"/>
            <a:ext cx="3479400" cy="303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400" b="0" u="none" strike="noStrike">
                <a:solidFill>
                  <a:srgbClr val="000000"/>
                </a:solidFill>
                <a:effectLst/>
                <a:uFillTx/>
                <a:latin typeface="Courier New"/>
                <a:ea typeface="DejaVu Sans"/>
              </a:rPr>
              <a:t>exercises/tabular_tuberculosis</a:t>
            </a:r>
            <a:endParaRPr lang="en-GB" sz="1400" b="0" u="none" strike="noStrike">
              <a:solidFill>
                <a:srgbClr val="000000"/>
              </a:solidFill>
              <a:effectLst/>
              <a:uFillTx/>
              <a:latin typeface="Arial"/>
            </a:endParaRPr>
          </a:p>
        </p:txBody>
      </p:sp>
      <p:pic>
        <p:nvPicPr>
          <p:cNvPr id="602" name="Picture 24"/>
          <p:cNvPicPr/>
          <p:nvPr/>
        </p:nvPicPr>
        <p:blipFill>
          <a:blip r:embed="rId3"/>
          <a:stretch/>
        </p:blipFill>
        <p:spPr>
          <a:xfrm>
            <a:off x="1559520" y="2781000"/>
            <a:ext cx="8913240" cy="2877120"/>
          </a:xfrm>
          <a:prstGeom prst="rect">
            <a:avLst/>
          </a:prstGeom>
          <a:noFill/>
          <a:ln w="0">
            <a:noFill/>
          </a:ln>
        </p:spPr>
      </p:pic>
      <p:sp>
        <p:nvSpPr>
          <p:cNvPr id="603" name="TextBox 60"/>
          <p:cNvSpPr/>
          <p:nvPr/>
        </p:nvSpPr>
        <p:spPr>
          <a:xfrm>
            <a:off x="4223880" y="2137320"/>
            <a:ext cx="7887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a:ea typeface="DejaVu Sans"/>
              </a:rPr>
              <a:t>Males</a:t>
            </a:r>
            <a:endParaRPr lang="en-GB" sz="1800" b="0" u="none" strike="noStrike">
              <a:solidFill>
                <a:srgbClr val="000000"/>
              </a:solidFill>
              <a:effectLst/>
              <a:uFillTx/>
              <a:latin typeface="Arial"/>
            </a:endParaRPr>
          </a:p>
        </p:txBody>
      </p:sp>
      <p:sp>
        <p:nvSpPr>
          <p:cNvPr id="604" name="TextBox 61"/>
          <p:cNvSpPr/>
          <p:nvPr/>
        </p:nvSpPr>
        <p:spPr>
          <a:xfrm>
            <a:off x="5026320" y="2137320"/>
            <a:ext cx="15134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CH" sz="1800" b="0" u="none" strike="noStrike">
                <a:solidFill>
                  <a:srgbClr val="000000"/>
                </a:solidFill>
                <a:effectLst/>
                <a:uFillTx/>
                <a:latin typeface="Calibri"/>
                <a:ea typeface="DejaVu Sans"/>
              </a:rPr>
              <a:t>15-24 years</a:t>
            </a:r>
            <a:endParaRPr lang="en-GB" sz="1800" b="0" u="none" strike="noStrike">
              <a:solidFill>
                <a:srgbClr val="000000"/>
              </a:solidFill>
              <a:effectLst/>
              <a:uFillTx/>
              <a:latin typeface="Arial"/>
            </a:endParaRPr>
          </a:p>
        </p:txBody>
      </p:sp>
      <p:cxnSp>
        <p:nvCxnSpPr>
          <p:cNvPr id="605" name="Straight Arrow Connector 29"/>
          <p:cNvCxnSpPr>
            <a:stCxn id="603" idx="2"/>
          </p:cNvCxnSpPr>
          <p:nvPr/>
        </p:nvCxnSpPr>
        <p:spPr>
          <a:xfrm>
            <a:off x="4618080" y="2501280"/>
            <a:ext cx="256680" cy="354600"/>
          </a:xfrm>
          <a:prstGeom prst="straightConnector1">
            <a:avLst/>
          </a:prstGeom>
          <a:ln w="38100">
            <a:solidFill>
              <a:srgbClr val="000000"/>
            </a:solidFill>
            <a:round/>
            <a:tailEnd type="triangle" w="med" len="med"/>
          </a:ln>
        </p:spPr>
      </p:cxnSp>
      <p:cxnSp>
        <p:nvCxnSpPr>
          <p:cNvPr id="606" name="Straight Arrow Connector 30"/>
          <p:cNvCxnSpPr/>
          <p:nvPr/>
        </p:nvCxnSpPr>
        <p:spPr>
          <a:xfrm flipH="1">
            <a:off x="5159880" y="2423160"/>
            <a:ext cx="242280" cy="432720"/>
          </a:xfrm>
          <a:prstGeom prst="straightConnector1">
            <a:avLst/>
          </a:prstGeom>
          <a:ln w="38100">
            <a:solidFill>
              <a:srgbClr val="000000"/>
            </a:solidFill>
            <a:round/>
            <a:tailEnd type="triangle" w="med" len="med"/>
          </a:ln>
        </p:spPr>
      </p:cxn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7" name="PlaceHolder 1"/>
          <p:cNvSpPr>
            <a:spLocks noGrp="1"/>
          </p:cNvSpPr>
          <p:nvPr>
            <p:ph type="title"/>
          </p:nvPr>
        </p:nvSpPr>
        <p:spPr>
          <a:prstGeom prst="rect">
            <a:avLst/>
          </a:prstGeom>
          <a:noFill/>
          <a:ln w="0">
            <a:noFill/>
          </a:ln>
        </p:spPr>
        <p:txBody>
          <a:bodyPr lIns="0" tIns="0" rIns="0" bIns="0" anchor="ctr">
            <a:normAutofit/>
          </a:bodyPr>
          <a:lstStyle/>
          <a:p>
            <a:pPr indent="0" algn="ctr">
              <a:lnSpc>
                <a:spcPct val="90000"/>
              </a:lnSpc>
              <a:buNone/>
              <a:tabLst>
                <a:tab pos="0" algn="l"/>
              </a:tabLst>
            </a:pPr>
            <a:r>
              <a:rPr lang="en-CH" sz="5400" b="0" u="none" strike="noStrike">
                <a:solidFill>
                  <a:srgbClr val="000000"/>
                </a:solidFill>
                <a:effectLst/>
                <a:uFillTx/>
                <a:latin typeface="Calibri Light"/>
                <a:ea typeface="DejaVu Sans"/>
              </a:rPr>
              <a:t>Window functions</a:t>
            </a:r>
            <a:endParaRPr lang="en-GB" sz="5400" b="0" u="none" strike="noStrike">
              <a:solidFill>
                <a:srgbClr val="000000"/>
              </a:solidFill>
              <a:effectLst/>
              <a:uFillTx/>
              <a:latin typeface="Arial"/>
            </a:endParaRPr>
          </a:p>
        </p:txBody>
      </p:sp>
      <p:sp>
        <p:nvSpPr>
          <p:cNvPr id="4" name="PlaceHolder 3"/>
          <p:cNvSpPr>
            <a:spLocks noGrp="1"/>
          </p:cNvSpPr>
          <p:nvPr>
            <p:ph type="ftr" idx="1"/>
          </p:nvPr>
        </p:nvSpPr>
        <p:spPr>
          <a:prstGeom prst="rect">
            <a:avLst/>
          </a:prstGeom>
        </p:spPr>
        <p:txBody>
          <a:bodyPr/>
          <a:lstStyle/>
          <a:p>
            <a:r>
              <a:t>Data, v1.0</a:t>
            </a:r>
          </a:p>
        </p:txBody>
      </p:sp>
      <p:sp>
        <p:nvSpPr>
          <p:cNvPr id="5" name="PlaceHolder 4"/>
          <p:cNvSpPr>
            <a:spLocks noGrp="1"/>
          </p:cNvSpPr>
          <p:nvPr>
            <p:ph type="sldNum" idx="2"/>
          </p:nvPr>
        </p:nvSpPr>
        <p:spPr>
          <a:prstGeom prst="rect">
            <a:avLst/>
          </a:prstGeom>
        </p:spPr>
        <p:txBody>
          <a:bodyPr/>
          <a:lstStyle/>
          <a:p>
            <a:fld id="{02C36C7C-1A51-4250-9AFA-00C6E45343E8}" type="slidenum">
              <a:t>78</a:t>
            </a:fld>
            <a:endParaRPr/>
          </a:p>
        </p:txBody>
      </p:sp>
      <p:sp>
        <p:nvSpPr>
          <p:cNvPr id="608" name="PlaceHolder 2"/>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2" name="Text Placeholder 1">
            <a:extLst>
              <a:ext uri="{FF2B5EF4-FFF2-40B4-BE49-F238E27FC236}">
                <a16:creationId xmlns:a16="http://schemas.microsoft.com/office/drawing/2014/main" id="{E6A6A07E-8B5C-27DD-7040-E6BE3FBFC214}"/>
              </a:ext>
            </a:extLst>
          </p:cNvPr>
          <p:cNvSpPr>
            <a:spLocks noGrp="1"/>
          </p:cNvSpPr>
          <p:nvPr>
            <p:ph type="body"/>
          </p:nvPr>
        </p:nvSpPr>
        <p:spPr/>
        <p:txBody>
          <a:bodyPr/>
          <a:lstStyle/>
          <a:p>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0" name="PlaceHolder 2"/>
          <p:cNvSpPr>
            <a:spLocks noGrp="1"/>
          </p:cNvSpPr>
          <p:nvPr>
            <p:ph type="body"/>
          </p:nvPr>
        </p:nvSpPr>
        <p:spPr>
          <a:prstGeom prst="rect">
            <a:avLst/>
          </a:prstGeom>
          <a:noFill/>
          <a:ln w="0">
            <a:noFill/>
          </a:ln>
        </p:spPr>
        <p:txBody>
          <a:bodyPr lIns="90000" tIns="45000" rIns="90000" bIns="45000" anchor="t">
            <a:noAutofit/>
          </a:bodyPr>
          <a:lstStyle/>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“Window functions” are a kind of split-apply-combine operation, but instead of aggregating the data in a group and returning one value per group, they return one value per row</a:t>
            </a: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Examples: ranking all entries in a group; computing the distance between timestamps per group; number the rows by group in chronological order</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tabLst>
                <a:tab pos="0" algn="l"/>
              </a:tabLst>
            </a:pPr>
            <a:r>
              <a:rPr lang="en-CH" sz="2800" b="0" u="none" strike="noStrike">
                <a:solidFill>
                  <a:srgbClr val="000000"/>
                </a:solidFill>
                <a:effectLst/>
                <a:uFillTx/>
                <a:latin typeface="Calibri"/>
                <a:ea typeface="DejaVu Sans"/>
              </a:rPr>
              <a:t>In Pandas, most of these operations can be performed with a combination of sorting and grouping-by</a:t>
            </a:r>
            <a:endParaRPr lang="en-GB" sz="28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t>Data, v1.0</a:t>
            </a:r>
          </a:p>
        </p:txBody>
      </p:sp>
      <p:sp>
        <p:nvSpPr>
          <p:cNvPr id="6" name="PlaceHolder 5"/>
          <p:cNvSpPr>
            <a:spLocks noGrp="1"/>
          </p:cNvSpPr>
          <p:nvPr>
            <p:ph type="sldNum" idx="2"/>
          </p:nvPr>
        </p:nvSpPr>
        <p:spPr/>
        <p:txBody>
          <a:bodyPr/>
          <a:lstStyle/>
          <a:p>
            <a:fld id="{2DE68AB7-D323-4CC5-9B9E-1A50D561F7EF}" type="slidenum">
              <a:t>79</a:t>
            </a:fld>
            <a:endParaRPr/>
          </a:p>
        </p:txBody>
      </p:sp>
      <p:sp>
        <p:nvSpPr>
          <p:cNvPr id="611" name="PlaceHolder 3"/>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609" name="PlaceHolder 1"/>
          <p:cNvSpPr>
            <a:spLocks noGrp="1"/>
          </p:cNvSpPr>
          <p:nvPr>
            <p:ph type="title"/>
          </p:nvPr>
        </p:nvSpPr>
        <p:spPr>
          <a:prstGeom prst="rect">
            <a:avLst/>
          </a:prstGeom>
          <a:noFill/>
          <a:ln w="0">
            <a:noFill/>
          </a:ln>
        </p:spPr>
        <p:txBody>
          <a:bodyPr lIns="90000" tIns="45000" rIns="90000" bIns="45000" anchor="ctr">
            <a:normAutofit fontScale="92500"/>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Window functions: grouped row-by-row operations</a:t>
            </a:r>
            <a:endParaRPr lang="en-GB" sz="4400" b="0" u="none" strike="noStrike">
              <a:solidFill>
                <a:srgbClr val="000000"/>
              </a:solidFill>
              <a:effectLst/>
              <a:uFillTx/>
              <a:latin typeface="Arial"/>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2" name="PlaceHolder 1"/>
          <p:cNvSpPr>
            <a:spLocks noGrp="1"/>
          </p:cNvSpPr>
          <p:nvPr>
            <p:ph type="title"/>
          </p:nvPr>
        </p:nvSpPr>
        <p:spPr>
          <a:prstGeom prst="rect">
            <a:avLst/>
          </a:prstGeom>
          <a:noFill/>
          <a:ln w="0">
            <a:noFill/>
          </a:ln>
        </p:spPr>
        <p:txBody>
          <a:bodyPr lIns="0" tIns="0" rIns="0" bIns="0" anchor="ctr">
            <a:no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Window functions</a:t>
            </a:r>
            <a:endParaRPr lang="en-GB" sz="4400" b="0" u="none" strike="noStrike">
              <a:solidFill>
                <a:srgbClr val="000000"/>
              </a:solidFill>
              <a:effectLst/>
              <a:uFillTx/>
              <a:latin typeface="Arial"/>
            </a:endParaRPr>
          </a:p>
        </p:txBody>
      </p:sp>
      <p:sp>
        <p:nvSpPr>
          <p:cNvPr id="4" name="PlaceHolder 3"/>
          <p:cNvSpPr>
            <a:spLocks noGrp="1"/>
          </p:cNvSpPr>
          <p:nvPr>
            <p:ph type="ftr" idx="1"/>
          </p:nvPr>
        </p:nvSpPr>
        <p:spPr>
          <a:prstGeom prst="rect">
            <a:avLst/>
          </a:prstGeom>
        </p:spPr>
        <p:txBody>
          <a:bodyPr/>
          <a:lstStyle/>
          <a:p>
            <a:r>
              <a:t>Data, v1.0</a:t>
            </a:r>
          </a:p>
        </p:txBody>
      </p:sp>
      <p:sp>
        <p:nvSpPr>
          <p:cNvPr id="5" name="PlaceHolder 4"/>
          <p:cNvSpPr>
            <a:spLocks noGrp="1"/>
          </p:cNvSpPr>
          <p:nvPr>
            <p:ph type="sldNum" idx="2"/>
          </p:nvPr>
        </p:nvSpPr>
        <p:spPr>
          <a:prstGeom prst="rect">
            <a:avLst/>
          </a:prstGeom>
        </p:spPr>
        <p:txBody>
          <a:bodyPr/>
          <a:lstStyle/>
          <a:p>
            <a:fld id="{3373A216-7700-49CE-A829-3E0D42E21051}" type="slidenum">
              <a:t>80</a:t>
            </a:fld>
            <a:endParaRPr/>
          </a:p>
        </p:txBody>
      </p:sp>
      <p:sp>
        <p:nvSpPr>
          <p:cNvPr id="613" name="PlaceHolder 2"/>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614" name="Rectangle 7"/>
          <p:cNvSpPr/>
          <p:nvPr/>
        </p:nvSpPr>
        <p:spPr>
          <a:xfrm>
            <a:off x="7430400" y="206640"/>
            <a:ext cx="4535640" cy="987120"/>
          </a:xfrm>
          <a:prstGeom prst="rect">
            <a:avLst/>
          </a:prstGeom>
          <a:solidFill>
            <a:schemeClr val="accent1">
              <a:lumMod val="20000"/>
              <a:lumOff val="8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DE" sz="1800" b="0" u="none" strike="noStrike">
              <a:solidFill>
                <a:srgbClr val="000000"/>
              </a:solidFill>
              <a:effectLst/>
              <a:uFillTx/>
              <a:latin typeface="Courier New"/>
              <a:ea typeface="DejaVu Sans"/>
            </a:endParaRPr>
          </a:p>
        </p:txBody>
      </p:sp>
      <p:pic>
        <p:nvPicPr>
          <p:cNvPr id="615" name="Graphic 8"/>
          <p:cNvPicPr/>
          <p:nvPr/>
        </p:nvPicPr>
        <p:blipFill>
          <a:blip r:embed="rId2"/>
          <a:stretch/>
        </p:blipFill>
        <p:spPr>
          <a:xfrm>
            <a:off x="7511040" y="232200"/>
            <a:ext cx="707040" cy="627840"/>
          </a:xfrm>
          <a:prstGeom prst="rect">
            <a:avLst/>
          </a:prstGeom>
          <a:noFill/>
          <a:ln w="0">
            <a:noFill/>
          </a:ln>
        </p:spPr>
      </p:pic>
      <p:sp>
        <p:nvSpPr>
          <p:cNvPr id="616" name="TextBox 9"/>
          <p:cNvSpPr/>
          <p:nvPr/>
        </p:nvSpPr>
        <p:spPr>
          <a:xfrm>
            <a:off x="8163720" y="22536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Live Coding</a:t>
            </a:r>
            <a:endParaRPr lang="en-GB" sz="1800" b="0" u="none" strike="noStrike">
              <a:solidFill>
                <a:srgbClr val="000000"/>
              </a:solidFill>
              <a:effectLst/>
              <a:uFillTx/>
              <a:latin typeface="Arial"/>
            </a:endParaRPr>
          </a:p>
        </p:txBody>
      </p:sp>
      <p:sp>
        <p:nvSpPr>
          <p:cNvPr id="617" name="TextBox 10"/>
          <p:cNvSpPr/>
          <p:nvPr/>
        </p:nvSpPr>
        <p:spPr>
          <a:xfrm>
            <a:off x="8301960" y="542880"/>
            <a:ext cx="347940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400" b="0" u="none" strike="noStrike">
                <a:solidFill>
                  <a:srgbClr val="000000"/>
                </a:solidFill>
                <a:effectLst/>
                <a:uFillTx/>
                <a:latin typeface="Courier New"/>
                <a:ea typeface="DejaVu Sans"/>
              </a:rPr>
              <a:t>n</a:t>
            </a:r>
            <a:r>
              <a:rPr lang="en-DE" sz="1400" b="0" u="none" strike="noStrike">
                <a:solidFill>
                  <a:srgbClr val="000000"/>
                </a:solidFill>
                <a:effectLst/>
                <a:uFillTx/>
                <a:latin typeface="Courier New"/>
                <a:ea typeface="DejaVu Sans"/>
              </a:rPr>
              <a:t>otebooks/</a:t>
            </a:r>
            <a:r>
              <a:rPr lang="en-US" sz="1400" b="0" u="none" strike="noStrike">
                <a:solidFill>
                  <a:srgbClr val="000000"/>
                </a:solidFill>
                <a:effectLst/>
                <a:uFillTx/>
                <a:latin typeface="Courier New"/>
                <a:ea typeface="DejaVu Sans"/>
              </a:rPr>
              <a:t>tabular_data/</a:t>
            </a:r>
            <a:endParaRPr lang="en-GB"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urier New"/>
                <a:ea typeface="DejaVu Sans"/>
              </a:rPr>
              <a:t>040_window_functions.ipynb</a:t>
            </a:r>
            <a:endParaRPr lang="en-GB" sz="1400" b="0" u="none" strike="noStrike">
              <a:solidFill>
                <a:srgbClr val="000000"/>
              </a:solidFill>
              <a:effectLst/>
              <a:uFillTx/>
              <a:latin typeface="Arial"/>
            </a:endParaRPr>
          </a:p>
        </p:txBody>
      </p:sp>
      <p:sp>
        <p:nvSpPr>
          <p:cNvPr id="2" name="Text Placeholder 1">
            <a:extLst>
              <a:ext uri="{FF2B5EF4-FFF2-40B4-BE49-F238E27FC236}">
                <a16:creationId xmlns:a16="http://schemas.microsoft.com/office/drawing/2014/main" id="{E04DD725-9A11-1136-2C17-2DF506AD17CD}"/>
              </a:ext>
            </a:extLst>
          </p:cNvPr>
          <p:cNvSpPr>
            <a:spLocks noGrp="1"/>
          </p:cNvSpPr>
          <p:nvPr>
            <p:ph type="body"/>
          </p:nvPr>
        </p:nvSpPr>
        <p:spPr/>
        <p:txBody>
          <a:bodyPr/>
          <a:lstStyle/>
          <a:p>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9" name="PlaceHolder 2"/>
          <p:cNvSpPr>
            <a:spLocks noGrp="1"/>
          </p:cNvSpPr>
          <p:nvPr>
            <p:ph type="body"/>
          </p:nvPr>
        </p:nvSpPr>
        <p:spPr>
          <a:prstGeom prst="rect">
            <a:avLst/>
          </a:prstGeom>
          <a:noFill/>
          <a:ln w="0">
            <a:noFill/>
          </a:ln>
        </p:spPr>
        <p:txBody>
          <a:bodyPr lIns="90000" tIns="45000" rIns="90000" bIns="45000" anchor="t">
            <a:noAutofit/>
          </a:bodyPr>
          <a:lstStyle/>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Main points:</a:t>
            </a:r>
            <a:endParaRPr lang="en-GB" sz="2800" b="0" u="none" strike="noStrike" dirty="0">
              <a:solidFill>
                <a:srgbClr val="000000"/>
              </a:solidFill>
              <a:effectLst/>
              <a:uFillTx/>
              <a:latin typeface="Arial"/>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a:ea typeface="DejaVu Sans"/>
              </a:rPr>
              <a:t>Window functions perform row-by-row operations on grouped data</a:t>
            </a:r>
            <a:endParaRPr lang="en-GB" sz="2400" b="0" u="none" strike="noStrike" dirty="0">
              <a:solidFill>
                <a:srgbClr val="000000"/>
              </a:solidFill>
              <a:effectLst/>
              <a:uFillTx/>
              <a:latin typeface="Arial"/>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a:ea typeface="DejaVu Sans"/>
              </a:rPr>
              <a:t>They are an advanced way of avoiding for loops with tabular data</a:t>
            </a:r>
            <a:endParaRPr lang="en-GB" sz="2400" b="0" u="none" strike="noStrike" dirty="0">
              <a:solidFill>
                <a:srgbClr val="000000"/>
              </a:solidFill>
              <a:effectLst/>
              <a:uFillTx/>
              <a:latin typeface="Arial"/>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a:ea typeface="DejaVu Sans"/>
              </a:rPr>
              <a:t>In Pandas, they can be achieved with a combo of sorting and grouping-by</a:t>
            </a:r>
            <a:endParaRPr lang="en-GB" sz="2400" b="0" u="none" strike="noStrike" dirty="0">
              <a:solidFill>
                <a:srgbClr val="000000"/>
              </a:solidFill>
              <a:effectLst/>
              <a:uFillTx/>
              <a:latin typeface="Arial"/>
            </a:endParaRPr>
          </a:p>
        </p:txBody>
      </p:sp>
      <p:sp>
        <p:nvSpPr>
          <p:cNvPr id="5" name="PlaceHolder 4"/>
          <p:cNvSpPr>
            <a:spLocks noGrp="1"/>
          </p:cNvSpPr>
          <p:nvPr>
            <p:ph type="ftr" idx="1"/>
          </p:nvPr>
        </p:nvSpPr>
        <p:spPr/>
        <p:txBody>
          <a:bodyPr/>
          <a:lstStyle/>
          <a:p>
            <a:r>
              <a:t>Data, v1.0</a:t>
            </a:r>
          </a:p>
        </p:txBody>
      </p:sp>
      <p:sp>
        <p:nvSpPr>
          <p:cNvPr id="6" name="PlaceHolder 5"/>
          <p:cNvSpPr>
            <a:spLocks noGrp="1"/>
          </p:cNvSpPr>
          <p:nvPr>
            <p:ph type="sldNum" idx="2"/>
          </p:nvPr>
        </p:nvSpPr>
        <p:spPr/>
        <p:txBody>
          <a:bodyPr/>
          <a:lstStyle/>
          <a:p>
            <a:fld id="{5F0B488F-8E2C-4ADD-A73B-F81F6E8E1011}" type="slidenum">
              <a:rPr/>
              <a:t>81</a:t>
            </a:fld>
            <a:endParaRPr/>
          </a:p>
        </p:txBody>
      </p:sp>
      <p:sp>
        <p:nvSpPr>
          <p:cNvPr id="620" name="PlaceHolder 3"/>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618" name="PlaceHolder 1"/>
          <p:cNvSpPr>
            <a:spLocks noGrp="1"/>
          </p:cNvSpPr>
          <p:nvPr>
            <p:ph type="title"/>
          </p:nvPr>
        </p:nvSpPr>
        <p:spPr>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Window functions</a:t>
            </a:r>
            <a:endParaRPr lang="en-GB" sz="4400" b="0" u="none" strike="noStrike">
              <a:solidFill>
                <a:srgbClr val="000000"/>
              </a:solidFill>
              <a:effectLst/>
              <a:uFillTx/>
              <a:latin typeface="Arial"/>
            </a:endParaRPr>
          </a:p>
        </p:txBody>
      </p:sp>
      <p:sp>
        <p:nvSpPr>
          <p:cNvPr id="621" name="Rectangle 7"/>
          <p:cNvSpPr/>
          <p:nvPr/>
        </p:nvSpPr>
        <p:spPr>
          <a:xfrm>
            <a:off x="7430400" y="206640"/>
            <a:ext cx="4535640" cy="987120"/>
          </a:xfrm>
          <a:prstGeom prst="rect">
            <a:avLst/>
          </a:prstGeom>
          <a:solidFill>
            <a:schemeClr val="accent1">
              <a:lumMod val="20000"/>
              <a:lumOff val="8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DE" sz="1800" b="0" u="none" strike="noStrike">
              <a:solidFill>
                <a:srgbClr val="000000"/>
              </a:solidFill>
              <a:effectLst/>
              <a:uFillTx/>
              <a:latin typeface="Courier New"/>
              <a:ea typeface="DejaVu Sans"/>
            </a:endParaRPr>
          </a:p>
        </p:txBody>
      </p:sp>
      <p:pic>
        <p:nvPicPr>
          <p:cNvPr id="622" name="Graphic 8"/>
          <p:cNvPicPr/>
          <p:nvPr/>
        </p:nvPicPr>
        <p:blipFill>
          <a:blip r:embed="rId2"/>
          <a:stretch/>
        </p:blipFill>
        <p:spPr>
          <a:xfrm>
            <a:off x="7511040" y="232200"/>
            <a:ext cx="707040" cy="627840"/>
          </a:xfrm>
          <a:prstGeom prst="rect">
            <a:avLst/>
          </a:prstGeom>
          <a:noFill/>
          <a:ln w="0">
            <a:noFill/>
          </a:ln>
        </p:spPr>
      </p:pic>
      <p:sp>
        <p:nvSpPr>
          <p:cNvPr id="623" name="TextBox 9"/>
          <p:cNvSpPr/>
          <p:nvPr/>
        </p:nvSpPr>
        <p:spPr>
          <a:xfrm>
            <a:off x="8163720" y="22536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Live Coding</a:t>
            </a:r>
            <a:endParaRPr lang="en-GB" sz="1800" b="0" u="none" strike="noStrike">
              <a:solidFill>
                <a:srgbClr val="000000"/>
              </a:solidFill>
              <a:effectLst/>
              <a:uFillTx/>
              <a:latin typeface="Arial"/>
            </a:endParaRPr>
          </a:p>
        </p:txBody>
      </p:sp>
      <p:sp>
        <p:nvSpPr>
          <p:cNvPr id="624" name="TextBox 10"/>
          <p:cNvSpPr/>
          <p:nvPr/>
        </p:nvSpPr>
        <p:spPr>
          <a:xfrm>
            <a:off x="8301960" y="542880"/>
            <a:ext cx="347940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400" b="0" u="none" strike="noStrike">
                <a:solidFill>
                  <a:srgbClr val="000000"/>
                </a:solidFill>
                <a:effectLst/>
                <a:uFillTx/>
                <a:latin typeface="Courier New"/>
                <a:ea typeface="DejaVu Sans"/>
              </a:rPr>
              <a:t>n</a:t>
            </a:r>
            <a:r>
              <a:rPr lang="en-DE" sz="1400" b="0" u="none" strike="noStrike">
                <a:solidFill>
                  <a:srgbClr val="000000"/>
                </a:solidFill>
                <a:effectLst/>
                <a:uFillTx/>
                <a:latin typeface="Courier New"/>
                <a:ea typeface="DejaVu Sans"/>
              </a:rPr>
              <a:t>otebooks/</a:t>
            </a:r>
            <a:r>
              <a:rPr lang="en-US" sz="1400" b="0" u="none" strike="noStrike">
                <a:solidFill>
                  <a:srgbClr val="000000"/>
                </a:solidFill>
                <a:effectLst/>
                <a:uFillTx/>
                <a:latin typeface="Courier New"/>
                <a:ea typeface="DejaVu Sans"/>
              </a:rPr>
              <a:t>tabular_data/</a:t>
            </a:r>
            <a:endParaRPr lang="en-GB"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urier New"/>
                <a:ea typeface="DejaVu Sans"/>
              </a:rPr>
              <a:t>040_window_functions.ipynb</a:t>
            </a:r>
            <a:endParaRPr lang="en-GB" sz="1400" b="0" u="none" strike="noStrike">
              <a:solidFill>
                <a:srgbClr val="000000"/>
              </a:solidFill>
              <a:effectLst/>
              <a:uFillTx/>
              <a:latin typeface="Arial"/>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9" name="Rectangle 2"/>
          <p:cNvSpPr/>
          <p:nvPr/>
        </p:nvSpPr>
        <p:spPr>
          <a:xfrm>
            <a:off x="7428240" y="205920"/>
            <a:ext cx="4535640" cy="987120"/>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DE" sz="1800" b="0" u="none" strike="noStrike">
              <a:solidFill>
                <a:srgbClr val="000000"/>
              </a:solidFill>
              <a:effectLst/>
              <a:uFillTx/>
              <a:latin typeface="Courier New"/>
              <a:ea typeface="DejaVu Sans"/>
            </a:endParaRPr>
          </a:p>
        </p:txBody>
      </p:sp>
      <p:sp>
        <p:nvSpPr>
          <p:cNvPr id="641" name="PlaceHolder 2"/>
          <p:cNvSpPr>
            <a:spLocks noGrp="1"/>
          </p:cNvSpPr>
          <p:nvPr>
            <p:ph type="body"/>
          </p:nvPr>
        </p:nvSpPr>
        <p:spPr>
          <a:prstGeom prst="rect">
            <a:avLst/>
          </a:prstGeom>
          <a:noFill/>
          <a:ln w="0">
            <a:noFill/>
          </a:ln>
        </p:spPr>
        <p:txBody>
          <a:bodyPr lIns="90000" tIns="45000" rIns="90000" bIns="45000" anchor="t">
            <a:noAutofit/>
          </a:bodyPr>
          <a:lstStyle/>
          <a:p>
            <a:pPr marL="228600" indent="-228600">
              <a:lnSpc>
                <a:spcPct val="90000"/>
              </a:lnSpc>
              <a:spcBef>
                <a:spcPts val="1001"/>
              </a:spcBef>
              <a:buClr>
                <a:srgbClr val="000000"/>
              </a:buClr>
              <a:buFont typeface="Arial"/>
              <a:buChar char="•"/>
            </a:pPr>
            <a:r>
              <a:rPr lang="en-US" sz="2800" b="0" u="none" strike="noStrike">
                <a:solidFill>
                  <a:srgbClr val="000000"/>
                </a:solidFill>
                <a:effectLst/>
                <a:uFillTx/>
                <a:latin typeface="Calibri"/>
                <a:ea typeface="DejaVu Sans"/>
              </a:rPr>
              <a:t>Compute the cumulative number of cases across time, per diet group</a:t>
            </a: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pPr>
            <a:r>
              <a:rPr lang="en-US" sz="2800" b="0" u="none" strike="noStrike">
                <a:solidFill>
                  <a:srgbClr val="000000"/>
                </a:solidFill>
                <a:effectLst/>
                <a:uFillTx/>
                <a:latin typeface="Calibri"/>
                <a:ea typeface="DejaVu Sans"/>
              </a:rPr>
              <a:t>Submit a PR on</a:t>
            </a:r>
            <a:br>
              <a:rPr sz="2800"/>
            </a:br>
            <a:r>
              <a:rPr lang="en-US" sz="2800" b="0" u="none" strike="noStrike">
                <a:solidFill>
                  <a:srgbClr val="000000"/>
                </a:solidFill>
                <a:effectLst/>
                <a:uFillTx/>
                <a:latin typeface="Consolas"/>
                <a:ea typeface="DejaVu Sans"/>
              </a:rPr>
              <a:t>git.aspp.school/ASPP/2025-plovdiv-data</a:t>
            </a:r>
            <a:br>
              <a:rPr sz="2800"/>
            </a:br>
            <a:r>
              <a:rPr lang="en-US" sz="2800" b="0" u="none" strike="noStrike">
                <a:solidFill>
                  <a:srgbClr val="000000"/>
                </a:solidFill>
                <a:effectLst/>
                <a:uFillTx/>
                <a:latin typeface="Consolas"/>
                <a:ea typeface="DejaVu Sans"/>
              </a:rPr>
              <a:t> </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t>Data, v1.0</a:t>
            </a:r>
          </a:p>
        </p:txBody>
      </p:sp>
      <p:sp>
        <p:nvSpPr>
          <p:cNvPr id="6" name="PlaceHolder 5"/>
          <p:cNvSpPr>
            <a:spLocks noGrp="1"/>
          </p:cNvSpPr>
          <p:nvPr>
            <p:ph type="sldNum" idx="2"/>
          </p:nvPr>
        </p:nvSpPr>
        <p:spPr/>
        <p:txBody>
          <a:bodyPr/>
          <a:lstStyle/>
          <a:p>
            <a:fld id="{9727DE11-B0FA-4074-9A7A-D2C6E8495C84}" type="slidenum">
              <a:rPr/>
              <a:t>82</a:t>
            </a:fld>
            <a:endParaRPr/>
          </a:p>
        </p:txBody>
      </p:sp>
      <p:sp>
        <p:nvSpPr>
          <p:cNvPr id="642" name="PlaceHolder 3"/>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September 2025, CC BY-SA 4.0</a:t>
            </a:r>
            <a:endParaRPr lang="en-GB" sz="1200" b="0" u="none" strike="noStrike">
              <a:solidFill>
                <a:srgbClr val="000000"/>
              </a:solidFill>
              <a:effectLst/>
              <a:uFillTx/>
              <a:latin typeface="Times New Roman"/>
            </a:endParaRPr>
          </a:p>
        </p:txBody>
      </p:sp>
      <p:sp>
        <p:nvSpPr>
          <p:cNvPr id="640" name="PlaceHolder 1"/>
          <p:cNvSpPr>
            <a:spLocks noGrp="1"/>
          </p:cNvSpPr>
          <p:nvPr>
            <p:ph type="title"/>
          </p:nvPr>
        </p:nvSpPr>
        <p:spPr>
          <a:prstGeom prst="rect">
            <a:avLst/>
          </a:prstGeom>
          <a:noFill/>
          <a:ln w="0">
            <a:noFill/>
          </a:ln>
        </p:spPr>
        <p:txBody>
          <a:bodyPr lIns="90000" tIns="45000" rIns="90000" bIns="45000" anchor="ctr">
            <a:norm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Hands-on</a:t>
            </a:r>
            <a:endParaRPr lang="en-GB" sz="4400" b="0" u="none" strike="noStrike">
              <a:solidFill>
                <a:srgbClr val="000000"/>
              </a:solidFill>
              <a:effectLst/>
              <a:uFillTx/>
              <a:latin typeface="Arial"/>
            </a:endParaRPr>
          </a:p>
        </p:txBody>
      </p:sp>
      <p:sp>
        <p:nvSpPr>
          <p:cNvPr id="643" name="TextBox 9"/>
          <p:cNvSpPr/>
          <p:nvPr/>
        </p:nvSpPr>
        <p:spPr>
          <a:xfrm>
            <a:off x="7930800" y="224640"/>
            <a:ext cx="177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pPr>
            <a:r>
              <a:rPr lang="en-DE" sz="1800" b="1" u="none" strike="noStrike">
                <a:solidFill>
                  <a:srgbClr val="000000"/>
                </a:solidFill>
                <a:effectLst/>
                <a:uFillTx/>
                <a:latin typeface="Courier New"/>
                <a:ea typeface="DejaVu Sans"/>
              </a:rPr>
              <a:t>Exercise</a:t>
            </a:r>
            <a:endParaRPr lang="en-GB" sz="1800" b="0" u="none" strike="noStrike">
              <a:solidFill>
                <a:srgbClr val="000000"/>
              </a:solidFill>
              <a:effectLst/>
              <a:uFillTx/>
              <a:latin typeface="Arial"/>
            </a:endParaRPr>
          </a:p>
        </p:txBody>
      </p:sp>
      <p:pic>
        <p:nvPicPr>
          <p:cNvPr id="644" name="Graphic 10"/>
          <p:cNvPicPr/>
          <p:nvPr/>
        </p:nvPicPr>
        <p:blipFill>
          <a:blip r:embed="rId2"/>
          <a:stretch/>
        </p:blipFill>
        <p:spPr>
          <a:xfrm>
            <a:off x="7474680" y="273960"/>
            <a:ext cx="691200" cy="552240"/>
          </a:xfrm>
          <a:prstGeom prst="rect">
            <a:avLst/>
          </a:prstGeom>
          <a:noFill/>
          <a:ln w="0">
            <a:noFill/>
          </a:ln>
        </p:spPr>
      </p:pic>
      <p:sp>
        <p:nvSpPr>
          <p:cNvPr id="645" name="TextBox 8"/>
          <p:cNvSpPr/>
          <p:nvPr/>
        </p:nvSpPr>
        <p:spPr>
          <a:xfrm>
            <a:off x="8301960" y="542880"/>
            <a:ext cx="3479400" cy="516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GB" sz="1400" b="0" u="none" strike="noStrike">
                <a:solidFill>
                  <a:srgbClr val="000000"/>
                </a:solidFill>
                <a:effectLst/>
                <a:uFillTx/>
                <a:latin typeface="Courier New"/>
                <a:ea typeface="DejaVu Sans"/>
              </a:rPr>
              <a:t>exercises/</a:t>
            </a:r>
            <a:endParaRPr lang="en-GB" sz="1400" b="0" u="none" strike="noStrike">
              <a:solidFill>
                <a:srgbClr val="000000"/>
              </a:solidFill>
              <a:effectLst/>
              <a:uFillTx/>
              <a:latin typeface="Arial"/>
            </a:endParaRPr>
          </a:p>
          <a:p>
            <a:pPr>
              <a:lnSpc>
                <a:spcPct val="100000"/>
              </a:lnSpc>
            </a:pPr>
            <a:r>
              <a:rPr lang="en-GB" sz="1400" b="0" u="none" strike="noStrike">
                <a:solidFill>
                  <a:srgbClr val="000000"/>
                </a:solidFill>
                <a:effectLst/>
                <a:uFillTx/>
                <a:latin typeface="Courier New"/>
                <a:ea typeface="DejaVu Sans"/>
              </a:rPr>
              <a:t>tabular_window_functions</a:t>
            </a:r>
            <a:endParaRPr lang="en-GB" sz="1400" b="0" u="none" strike="noStrike">
              <a:solidFill>
                <a:srgbClr val="000000"/>
              </a:solidFill>
              <a:effectLst/>
              <a:uFillTx/>
              <a:latin typeface="Arial"/>
            </a:endParaRPr>
          </a:p>
        </p:txBody>
      </p:sp>
      <p:pic>
        <p:nvPicPr>
          <p:cNvPr id="646" name="Picture 645"/>
          <p:cNvPicPr/>
          <p:nvPr/>
        </p:nvPicPr>
        <p:blipFill>
          <a:blip r:embed="rId3"/>
          <a:stretch/>
        </p:blipFill>
        <p:spPr>
          <a:xfrm>
            <a:off x="3696840" y="2955960"/>
            <a:ext cx="5121360" cy="3882240"/>
          </a:xfrm>
          <a:prstGeom prst="rect">
            <a:avLst/>
          </a:prstGeom>
          <a:noFill/>
          <a:ln w="0">
            <a:noFill/>
          </a:ln>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48" name="PlaceHolder 2"/>
          <p:cNvSpPr>
            <a:spLocks noGrp="1"/>
          </p:cNvSpPr>
          <p:nvPr>
            <p:ph type="body"/>
          </p:nvPr>
        </p:nvSpPr>
        <p:spPr>
          <a:prstGeom prst="rect">
            <a:avLst/>
          </a:prstGeom>
          <a:noFill/>
          <a:ln w="0">
            <a:noFill/>
          </a:ln>
        </p:spPr>
        <p:txBody>
          <a:bodyPr lIns="90000" tIns="45000" rIns="90000" bIns="45000" anchor="t">
            <a:noAutofit/>
          </a:bodyPr>
          <a:lstStyle/>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Data organization concepts:</a:t>
            </a:r>
            <a:endParaRPr lang="en-GB" sz="2800" b="0" u="none" strike="noStrike">
              <a:solidFill>
                <a:srgbClr val="000000"/>
              </a:solidFill>
              <a:effectLst/>
              <a:uFillTx/>
              <a:latin typeface="Arial"/>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a:ea typeface="DejaVu Sans"/>
              </a:rPr>
              <a:t>tidy data</a:t>
            </a:r>
            <a:endParaRPr lang="en-GB" sz="2400" b="0" u="none" strike="noStrike">
              <a:solidFill>
                <a:srgbClr val="000000"/>
              </a:solidFill>
              <a:effectLst/>
              <a:uFillTx/>
              <a:latin typeface="Arial"/>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a:ea typeface="DejaVu Sans"/>
              </a:rPr>
              <a:t>normalized data (star organization)</a:t>
            </a:r>
            <a:endParaRPr lang="en-GB" sz="2400" b="0" u="none" strike="noStrike">
              <a:solidFill>
                <a:srgbClr val="000000"/>
              </a:solidFill>
              <a:effectLst/>
              <a:uFillTx/>
              <a:latin typeface="Arial"/>
            </a:endParaRPr>
          </a:p>
          <a:p>
            <a:pPr marL="685800" lvl="1" indent="-228600">
              <a:lnSpc>
                <a:spcPct val="90000"/>
              </a:lnSpc>
              <a:spcBef>
                <a:spcPts val="499"/>
              </a:spcBef>
              <a:buClr>
                <a:srgbClr val="000000"/>
              </a:buClr>
              <a:buFont typeface="Arial"/>
              <a:buChar char="•"/>
            </a:pPr>
            <a:r>
              <a:rPr lang="en-CH" sz="2400" b="0" u="none" strike="noStrike">
                <a:solidFill>
                  <a:srgbClr val="000000"/>
                </a:solidFill>
                <a:effectLst/>
                <a:uFillTx/>
                <a:latin typeface="Calibri"/>
                <a:ea typeface="DejaVu Sans"/>
              </a:rPr>
              <a:t>data science friendly data (denormalized)</a:t>
            </a:r>
            <a:endParaRPr lang="en-GB" sz="24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t>Data, v1.0</a:t>
            </a:r>
          </a:p>
        </p:txBody>
      </p:sp>
      <p:sp>
        <p:nvSpPr>
          <p:cNvPr id="6" name="PlaceHolder 5"/>
          <p:cNvSpPr>
            <a:spLocks noGrp="1"/>
          </p:cNvSpPr>
          <p:nvPr>
            <p:ph type="sldNum" idx="2"/>
          </p:nvPr>
        </p:nvSpPr>
        <p:spPr/>
        <p:txBody>
          <a:bodyPr/>
          <a:lstStyle/>
          <a:p>
            <a:fld id="{9C8D83F7-A788-4463-8DE3-22D026A0CAF8}" type="slidenum">
              <a:rPr/>
              <a:t>83</a:t>
            </a:fld>
            <a:endParaRPr/>
          </a:p>
        </p:txBody>
      </p:sp>
      <p:sp>
        <p:nvSpPr>
          <p:cNvPr id="649" name="PlaceHolder 3"/>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July 2024, CC BY-SA 4.0</a:t>
            </a:r>
            <a:endParaRPr lang="en-GB" sz="1200" b="0" u="none" strike="noStrike">
              <a:solidFill>
                <a:srgbClr val="000000"/>
              </a:solidFill>
              <a:effectLst/>
              <a:uFillTx/>
              <a:latin typeface="Times New Roman"/>
            </a:endParaRPr>
          </a:p>
        </p:txBody>
      </p:sp>
      <p:sp>
        <p:nvSpPr>
          <p:cNvPr id="647" name="PlaceHolder 1"/>
          <p:cNvSpPr>
            <a:spLocks noGrp="1"/>
          </p:cNvSpPr>
          <p:nvPr>
            <p:ph type="title"/>
          </p:nvPr>
        </p:nvSpPr>
        <p:spPr>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Data organization</a:t>
            </a:r>
            <a:endParaRPr lang="en-GB" sz="4400" b="0" u="none" strike="noStrike">
              <a:solidFill>
                <a:srgbClr val="000000"/>
              </a:solidFill>
              <a:effectLst/>
              <a:uFillTx/>
              <a:latin typeface="Arial"/>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51" name="PlaceHolder 2"/>
          <p:cNvSpPr>
            <a:spLocks noGrp="1"/>
          </p:cNvSpPr>
          <p:nvPr>
            <p:ph type="body"/>
          </p:nvPr>
        </p:nvSpPr>
        <p:spPr>
          <a:prstGeom prst="rect">
            <a:avLst/>
          </a:prstGeom>
          <a:noFill/>
          <a:ln w="0">
            <a:noFill/>
          </a:ln>
        </p:spPr>
        <p:txBody>
          <a:bodyPr lIns="90000" tIns="45000" rIns="90000" bIns="45000" anchor="t">
            <a:noAutofit/>
          </a:bodyPr>
          <a:lstStyle/>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Dimension vs fact tables</a:t>
            </a:r>
            <a:endParaRPr lang="en-GB" sz="2800" b="0" u="none" strike="noStrike">
              <a:solidFill>
                <a:srgbClr val="000000"/>
              </a:solidFill>
              <a:effectLst/>
              <a:uFillTx/>
              <a:latin typeface="Arial"/>
            </a:endParaRPr>
          </a:p>
          <a:p>
            <a:pPr marL="228600" indent="-228600">
              <a:lnSpc>
                <a:spcPct val="90000"/>
              </a:lnSpc>
              <a:spcBef>
                <a:spcPts val="1001"/>
              </a:spcBef>
              <a:buClr>
                <a:srgbClr val="000000"/>
              </a:buClr>
              <a:buFont typeface="Arial"/>
              <a:buChar char="•"/>
            </a:pPr>
            <a:r>
              <a:rPr lang="en-CH" sz="2800" b="0" u="none" strike="noStrike">
                <a:solidFill>
                  <a:srgbClr val="000000"/>
                </a:solidFill>
                <a:effectLst/>
                <a:uFillTx/>
                <a:latin typeface="Calibri"/>
                <a:ea typeface="DejaVu Sans"/>
              </a:rPr>
              <a:t>De-normalization (but for data analys flat tables are more convienent)</a:t>
            </a:r>
            <a:endParaRPr lang="en-GB" sz="2800" b="0" u="none" strike="noStrike">
              <a:solidFill>
                <a:srgbClr val="000000"/>
              </a:solidFill>
              <a:effectLst/>
              <a:uFillTx/>
              <a:latin typeface="Arial"/>
            </a:endParaRPr>
          </a:p>
          <a:p>
            <a:pPr marL="228600" indent="0">
              <a:lnSpc>
                <a:spcPct val="90000"/>
              </a:lnSpc>
              <a:spcBef>
                <a:spcPts val="1001"/>
              </a:spcBef>
              <a:buNone/>
              <a:tabLst>
                <a:tab pos="0" algn="l"/>
              </a:tabLst>
            </a:pPr>
            <a:endParaRPr lang="en-GB" sz="2800" b="0" u="none" strike="noStrike">
              <a:solidFill>
                <a:srgbClr val="000000"/>
              </a:solidFill>
              <a:effectLst/>
              <a:uFillTx/>
              <a:latin typeface="Arial"/>
            </a:endParaRPr>
          </a:p>
        </p:txBody>
      </p:sp>
      <p:sp>
        <p:nvSpPr>
          <p:cNvPr id="5" name="PlaceHolder 4"/>
          <p:cNvSpPr>
            <a:spLocks noGrp="1"/>
          </p:cNvSpPr>
          <p:nvPr>
            <p:ph type="ftr" idx="1"/>
          </p:nvPr>
        </p:nvSpPr>
        <p:spPr/>
        <p:txBody>
          <a:bodyPr/>
          <a:lstStyle/>
          <a:p>
            <a:r>
              <a:t>Data, v1.0</a:t>
            </a:r>
          </a:p>
        </p:txBody>
      </p:sp>
      <p:sp>
        <p:nvSpPr>
          <p:cNvPr id="6" name="PlaceHolder 5"/>
          <p:cNvSpPr>
            <a:spLocks noGrp="1"/>
          </p:cNvSpPr>
          <p:nvPr>
            <p:ph type="sldNum" idx="2"/>
          </p:nvPr>
        </p:nvSpPr>
        <p:spPr/>
        <p:txBody>
          <a:bodyPr/>
          <a:lstStyle/>
          <a:p>
            <a:fld id="{60D7AC66-538B-4F53-8420-5FEC4C4FAE15}" type="slidenum">
              <a:rPr/>
              <a:t>84</a:t>
            </a:fld>
            <a:endParaRPr/>
          </a:p>
        </p:txBody>
      </p:sp>
      <p:sp>
        <p:nvSpPr>
          <p:cNvPr id="652" name="PlaceHolder 3"/>
          <p:cNvSpPr>
            <a:spLocks noGrp="1"/>
          </p:cNvSpPr>
          <p:nvPr>
            <p:ph type="dt" idx="3"/>
          </p:nvPr>
        </p:nvSpPr>
        <p:spPr>
          <a:prstGeom prst="rect">
            <a:avLst/>
          </a:prstGeom>
          <a:noFill/>
          <a:ln w="0">
            <a:noFill/>
          </a:ln>
        </p:spPr>
        <p:txBody>
          <a:bodyPr lIns="90000" tIns="45000" rIns="90000" bIns="45000" anchor="ctr">
            <a:noAutofit/>
          </a:bodyPr>
          <a:lstStyle>
            <a:lvl1pPr indent="0">
              <a:lnSpc>
                <a:spcPct val="100000"/>
              </a:lnSpc>
              <a:buNone/>
              <a:tabLst>
                <a:tab pos="0" algn="l"/>
              </a:tabLst>
              <a:defRPr lang="de-CH" sz="1200" b="0" u="none" strike="noStrike">
                <a:solidFill>
                  <a:srgbClr val="8B8B8B"/>
                </a:solidFill>
                <a:effectLst/>
                <a:uFillTx/>
                <a:latin typeface="Calibri"/>
                <a:ea typeface="DejaVu Sans"/>
              </a:defRPr>
            </a:lvl1pPr>
          </a:lstStyle>
          <a:p>
            <a:pPr indent="0">
              <a:lnSpc>
                <a:spcPct val="100000"/>
              </a:lnSpc>
              <a:buNone/>
              <a:tabLst>
                <a:tab pos="0" algn="l"/>
              </a:tabLst>
            </a:pPr>
            <a:r>
              <a:rPr lang="de-CH" sz="1200" b="0" u="none" strike="noStrike">
                <a:solidFill>
                  <a:srgbClr val="8B8B8B"/>
                </a:solidFill>
                <a:effectLst/>
                <a:uFillTx/>
                <a:latin typeface="Calibri"/>
                <a:ea typeface="DejaVu Sans"/>
              </a:rPr>
              <a:t>July 2024, CC BY-SA 4.0</a:t>
            </a:r>
            <a:endParaRPr lang="en-GB" sz="1200" b="0" u="none" strike="noStrike">
              <a:solidFill>
                <a:srgbClr val="000000"/>
              </a:solidFill>
              <a:effectLst/>
              <a:uFillTx/>
              <a:latin typeface="Times New Roman"/>
            </a:endParaRPr>
          </a:p>
        </p:txBody>
      </p:sp>
      <p:sp>
        <p:nvSpPr>
          <p:cNvPr id="650" name="PlaceHolder 1"/>
          <p:cNvSpPr>
            <a:spLocks noGrp="1"/>
          </p:cNvSpPr>
          <p:nvPr>
            <p:ph type="title"/>
          </p:nvPr>
        </p:nvSpPr>
        <p:spPr>
          <a:prstGeom prst="rect">
            <a:avLst/>
          </a:prstGeom>
          <a:noFill/>
          <a:ln w="0">
            <a:noFill/>
          </a:ln>
        </p:spPr>
        <p:txBody>
          <a:bodyPr lIns="90000" tIns="45000" rIns="90000" bIns="45000" anchor="ctr">
            <a:noAutofit/>
          </a:bodyPr>
          <a:lstStyle/>
          <a:p>
            <a:pPr indent="0">
              <a:lnSpc>
                <a:spcPct val="90000"/>
              </a:lnSpc>
              <a:buNone/>
              <a:tabLst>
                <a:tab pos="0" algn="l"/>
              </a:tabLst>
            </a:pPr>
            <a:r>
              <a:rPr lang="en-CH" sz="4400" b="0" u="none" strike="noStrike">
                <a:solidFill>
                  <a:srgbClr val="000000"/>
                </a:solidFill>
                <a:effectLst/>
                <a:uFillTx/>
                <a:latin typeface="Calibri Light"/>
                <a:ea typeface="DejaVu Sans"/>
              </a:rPr>
              <a:t>Organizing multiple tables</a:t>
            </a:r>
            <a:endParaRPr lang="en-GB" sz="4400" b="0" u="none" strike="noStrike">
              <a:solidFill>
                <a:srgbClr val="000000"/>
              </a:solidFill>
              <a:effectLst/>
              <a:uFillTx/>
              <a:latin typeface="Arial"/>
            </a:endParaRPr>
          </a:p>
        </p:txBody>
      </p:sp>
      <p:pic>
        <p:nvPicPr>
          <p:cNvPr id="653" name="Picture 2" descr="The Data Warehouse Toolkit"/>
          <p:cNvPicPr/>
          <p:nvPr/>
        </p:nvPicPr>
        <p:blipFill>
          <a:blip r:embed="rId2"/>
          <a:stretch/>
        </p:blipFill>
        <p:spPr>
          <a:xfrm>
            <a:off x="8040240" y="3162600"/>
            <a:ext cx="2085120" cy="2629080"/>
          </a:xfrm>
          <a:prstGeom prst="rect">
            <a:avLst/>
          </a:prstGeom>
          <a:noFill/>
          <a:ln w="0">
            <a:noFill/>
          </a:ln>
        </p:spPr>
      </p:pic>
      <p:pic>
        <p:nvPicPr>
          <p:cNvPr id="654" name="Picture 6"/>
          <p:cNvPicPr/>
          <p:nvPr/>
        </p:nvPicPr>
        <p:blipFill>
          <a:blip r:embed="rId3"/>
          <a:stretch/>
        </p:blipFill>
        <p:spPr>
          <a:xfrm>
            <a:off x="551520" y="2951640"/>
            <a:ext cx="5611320" cy="3050640"/>
          </a:xfrm>
          <a:prstGeom prst="rect">
            <a:avLst/>
          </a:prstGeom>
          <a:noFill/>
          <a:ln w="0">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6350" cap="flat" cmpd="sng" algn="ctr">
          <a:prstDash val="solid"/>
          <a:miter/>
        </a:ln>
        <a:ln w="12700" cap="flat" cmpd="sng" algn="ctr">
          <a:prstDash val="solid"/>
          <a:miter/>
        </a:ln>
        <a:ln w="1905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143374</TotalTime>
  <Words>5050</Words>
  <Application>Microsoft Macintosh PowerPoint</Application>
  <PresentationFormat>Widescreen</PresentationFormat>
  <Paragraphs>918</Paragraphs>
  <Slides>84</Slides>
  <Notes>17</Notes>
  <HiddenSlides>4</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84</vt:i4>
      </vt:variant>
    </vt:vector>
  </HeadingPairs>
  <TitlesOfParts>
    <vt:vector size="96" baseType="lpstr">
      <vt:lpstr>Arial</vt:lpstr>
      <vt:lpstr>Baskerville</vt:lpstr>
      <vt:lpstr>Calibri</vt:lpstr>
      <vt:lpstr>Calibri Light</vt:lpstr>
      <vt:lpstr>Consolas</vt:lpstr>
      <vt:lpstr>Courier New</vt:lpstr>
      <vt:lpstr>Google Sans</vt:lpstr>
      <vt:lpstr>SegoeUI</vt:lpstr>
      <vt:lpstr>Symbol</vt:lpstr>
      <vt:lpstr>Times New Roman</vt:lpstr>
      <vt:lpstr>Wingdings</vt:lpstr>
      <vt:lpstr>Office Theme</vt:lpstr>
      <vt:lpstr>PowerPoint Presentation</vt:lpstr>
      <vt:lpstr>Spreadsheets and databases rule the world!</vt:lpstr>
      <vt:lpstr>What is tabular data?</vt:lpstr>
      <vt:lpstr>What is tabular data?</vt:lpstr>
      <vt:lpstr>What is tabular data?</vt:lpstr>
      <vt:lpstr>What is tabular data?</vt:lpstr>
      <vt:lpstr>PowerPoint Presentation</vt:lpstr>
      <vt:lpstr>PowerPoint Presentation</vt:lpstr>
      <vt:lpstr>Why pandas?</vt:lpstr>
      <vt:lpstr>Hands-on</vt:lpstr>
      <vt:lpstr>Hands-on</vt:lpstr>
      <vt:lpstr>Tabular data join and performance</vt:lpstr>
      <vt:lpstr>Solution</vt:lpstr>
      <vt:lpstr>Solution</vt:lpstr>
      <vt:lpstr>Solution</vt:lpstr>
      <vt:lpstr>Solution O(N*M)</vt:lpstr>
      <vt:lpstr>Solution sort</vt:lpstr>
      <vt:lpstr>PowerPoint Presentation</vt:lpstr>
      <vt:lpstr>PowerPoint Presentation</vt:lpstr>
      <vt:lpstr>PowerPoint Presentation</vt:lpstr>
      <vt:lpstr>Solution join operation</vt:lpstr>
      <vt:lpstr>Solution join operation</vt:lpstr>
      <vt:lpstr>Solution join operation</vt:lpstr>
      <vt:lpstr>Common operations on tabular data</vt:lpstr>
      <vt:lpstr>Common operations on tabular data</vt:lpstr>
      <vt:lpstr>The basic structure of most numerical analyses</vt:lpstr>
      <vt:lpstr>PowerPoint Presentation</vt:lpstr>
      <vt:lpstr>Split-apply-combine </vt:lpstr>
      <vt:lpstr>PowerPoint Presentation</vt:lpstr>
      <vt:lpstr>Hands-on</vt:lpstr>
      <vt:lpstr>Split-apply-combine operations and performance</vt:lpstr>
      <vt:lpstr>PowerPoint Presentation</vt:lpstr>
      <vt:lpstr>Hands-on</vt:lpstr>
      <vt:lpstr>Messy data</vt:lpstr>
      <vt:lpstr>Messy data</vt:lpstr>
      <vt:lpstr>Messy data</vt:lpstr>
      <vt:lpstr>Messy data</vt:lpstr>
      <vt:lpstr>Messy data</vt:lpstr>
      <vt:lpstr>Tidy Data</vt:lpstr>
      <vt:lpstr>Tidy data</vt:lpstr>
      <vt:lpstr>Hands on: Same data, different organization Which one is best for data analysis?</vt:lpstr>
      <vt:lpstr>Hands on: Same data, different organization Which one is best for data analysis?</vt:lpstr>
      <vt:lpstr>Back to the exercise</vt:lpstr>
      <vt:lpstr>PowerPoint Presentation</vt:lpstr>
      <vt:lpstr>Why is tidy data good?</vt:lpstr>
      <vt:lpstr>Common operations on tabular data</vt:lpstr>
      <vt:lpstr>Common operations on tabular data</vt:lpstr>
      <vt:lpstr>Common operations on tabular data</vt:lpstr>
      <vt:lpstr>Common operations on tabular data</vt:lpstr>
      <vt:lpstr>Window functions operations</vt:lpstr>
      <vt:lpstr>Common operations on tabular data</vt:lpstr>
      <vt:lpstr>Global summary</vt:lpstr>
      <vt:lpstr>Dealing with changes in the data</vt:lpstr>
      <vt:lpstr>Thank you!</vt:lpstr>
      <vt:lpstr>PowerPoint Presentation</vt:lpstr>
      <vt:lpstr>OLD SLIDES FROM HERE ONWARDS</vt:lpstr>
      <vt:lpstr>Join operations: combining informations from multiple tables</vt:lpstr>
      <vt:lpstr>The life-changing magic of tidying up data</vt:lpstr>
      <vt:lpstr>PowerPoint Presentation</vt:lpstr>
      <vt:lpstr>The life-changing magic of tidying up data</vt:lpstr>
      <vt:lpstr>The life-changing magic of tidying up data</vt:lpstr>
      <vt:lpstr>Hands-on</vt:lpstr>
      <vt:lpstr>What we didn’t talk about</vt:lpstr>
      <vt:lpstr>Joins</vt:lpstr>
      <vt:lpstr>Join operations</vt:lpstr>
      <vt:lpstr>Join operations – Main points</vt:lpstr>
      <vt:lpstr>Example of tabular data: “Predimed” study</vt:lpstr>
      <vt:lpstr>Example of tabular data: “Predimed” study</vt:lpstr>
      <vt:lpstr>Hands-on </vt:lpstr>
      <vt:lpstr>Split-apply-combine</vt:lpstr>
      <vt:lpstr>The basic structure of most numerical analyses</vt:lpstr>
      <vt:lpstr>Split-apply-combine  operations</vt:lpstr>
      <vt:lpstr>Split-apply-combine  operations</vt:lpstr>
      <vt:lpstr>PowerPoint Presentation</vt:lpstr>
      <vt:lpstr>PowerPoint Presentation</vt:lpstr>
      <vt:lpstr>Hands-on </vt:lpstr>
      <vt:lpstr>Hands-on </vt:lpstr>
      <vt:lpstr>Window functions</vt:lpstr>
      <vt:lpstr>Window functions: grouped row-by-row operations</vt:lpstr>
      <vt:lpstr>Window functions</vt:lpstr>
      <vt:lpstr>Window functions</vt:lpstr>
      <vt:lpstr>Hands-on</vt:lpstr>
      <vt:lpstr>Data organization</vt:lpstr>
      <vt:lpstr>Organizing multiple tables</vt:lpstr>
    </vt:vector>
  </TitlesOfParts>
  <Company>University of Pennsylvania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Pietro Berkes</dc:creator>
  <dc:description/>
  <cp:lastModifiedBy>Pietro Berkes</cp:lastModifiedBy>
  <cp:revision>1959</cp:revision>
  <cp:lastPrinted>2026-06-30T23:36:35Z</cp:lastPrinted>
  <dcterms:created xsi:type="dcterms:W3CDTF">2010-10-01T16:09:12Z</dcterms:created>
  <dcterms:modified xsi:type="dcterms:W3CDTF">2026-07-29T21:59:11Z</dcterms:modified>
  <dc:language>en-GB</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HiddenSlides">
    <vt:i4>2</vt:i4>
  </property>
  <property fmtid="{D5CDD505-2E9C-101B-9397-08002B2CF9AE}" pid="3" name="Notes">
    <vt:i4>1</vt:i4>
  </property>
  <property fmtid="{D5CDD505-2E9C-101B-9397-08002B2CF9AE}" pid="4" name="PresentationFormat">
    <vt:lpwstr>Widescreen</vt:lpwstr>
  </property>
  <property fmtid="{D5CDD505-2E9C-101B-9397-08002B2CF9AE}" pid="5" name="Slides">
    <vt:i4>50</vt:i4>
  </property>
</Properties>
</file>