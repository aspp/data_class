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25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25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37.xml" ContentType="application/vnd.openxmlformats-officedocument.theme+xml"/>
  <Override PartName="/ppt/slideLayouts/slideLayout22.xml" ContentType="application/vnd.openxmlformats-officedocument.presentationml.slideLayout+xml"/>
  <Override PartName="/ppt/slideLayouts/_rels/slideLayout1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3.xml.rels" ContentType="application/vnd.openxmlformats-package.relationships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29.png" ContentType="image/png"/>
  <Override PartName="/ppt/media/image28.png" ContentType="image/png"/>
  <Override PartName="/ppt/media/image27.png" ContentType="image/png"/>
  <Override PartName="/ppt/media/image26.png" ContentType="image/png"/>
  <Override PartName="/ppt/media/image25.png" ContentType="image/png"/>
  <Override PartName="/ppt/media/image24.png" ContentType="image/png"/>
  <Override PartName="/ppt/media/image22.png" ContentType="image/png"/>
  <Override PartName="/ppt/media/image23.jpeg" ContentType="image/jpeg"/>
  <Override PartName="/ppt/media/image10.png" ContentType="image/png"/>
  <Override PartName="/ppt/media/image21.png" ContentType="image/png"/>
  <Override PartName="/ppt/media/image19.png" ContentType="image/png"/>
  <Override PartName="/ppt/media/image12.png" ContentType="image/png"/>
  <Override PartName="/ppt/media/image3.png" ContentType="image/png"/>
  <Override PartName="/ppt/media/image35.png" ContentType="image/png"/>
  <Override PartName="/ppt/media/image18.png" ContentType="image/png"/>
  <Override PartName="/ppt/media/image9.png" ContentType="image/png"/>
  <Override PartName="/ppt/media/image20.png" ContentType="image/png"/>
  <Override PartName="/ppt/media/image13.png" ContentType="image/png"/>
  <Override PartName="/ppt/media/image36.png" ContentType="image/png"/>
  <Override PartName="/ppt/media/image4.png" ContentType="image/png"/>
  <Override PartName="/ppt/media/image30.png" ContentType="image/png"/>
  <Override PartName="/ppt/media/image31.jpeg" ContentType="image/jpeg"/>
  <Override PartName="/ppt/media/image32.png" ContentType="image/png"/>
  <Override PartName="/ppt/media/image40.png" ContentType="image/png"/>
  <Override PartName="/ppt/media/image8.png" ContentType="image/png"/>
  <Override PartName="/ppt/media/image17.png" ContentType="image/png"/>
  <Override PartName="/ppt/media/image11.png" ContentType="image/png"/>
  <Override PartName="/ppt/media/image2.png" ContentType="image/png"/>
  <Override PartName="/ppt/media/image34.png" ContentType="image/png"/>
  <Override PartName="/ppt/media/image39.png" ContentType="image/png"/>
  <Override PartName="/ppt/media/image7.png" ContentType="image/png"/>
  <Override PartName="/ppt/media/image16.png" ContentType="image/png"/>
  <Override PartName="/ppt/media/image33.png" ContentType="image/png"/>
  <Override PartName="/ppt/media/image1.png" ContentType="image/png"/>
  <Override PartName="/ppt/media/image38.png" ContentType="image/png"/>
  <Override PartName="/ppt/media/image6.png" ContentType="image/png"/>
  <Override PartName="/ppt/media/image15.png" ContentType="image/png"/>
  <Override PartName="/ppt/media/image37.png" ContentType="image/png"/>
  <Override PartName="/ppt/media/image5.png" ContentType="image/png"/>
  <Override PartName="/ppt/media/image14.png" ContentType="image/png"/>
  <Override PartName="/ppt/comments/comment16.xml" ContentType="application/vnd.openxmlformats-officedocument.presentationml.comments+xml"/>
  <Override PartName="/ppt/comments/comment17.xml" ContentType="application/vnd.openxmlformats-officedocument.presentationml.comments+xml"/>
  <Override PartName="/ppt/comments/comment18.xml" ContentType="application/vnd.openxmlformats-officedocument.presentationml.comments+xml"/>
  <Override PartName="/ppt/comments/comment30.xml" ContentType="application/vnd.openxmlformats-officedocument.presentationml.comments+xml"/>
  <Override PartName="/ppt/slides/_rels/slide54.xml.rels" ContentType="application/vnd.openxmlformats-package.relationships+xml"/>
  <Override PartName="/ppt/slides/_rels/slide6.xml.rels" ContentType="application/vnd.openxmlformats-package.relationships+xml"/>
  <Override PartName="/ppt/slides/_rels/slide23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15.xml.rels" ContentType="application/vnd.openxmlformats-package.relationships+xml"/>
  <Override PartName="/ppt/slides/_rels/slide27.xml.rels" ContentType="application/vnd.openxmlformats-package.relationships+xml"/>
  <Override PartName="/ppt/slides/_rels/slide16.xml.rels" ContentType="application/vnd.openxmlformats-package.relationships+xml"/>
  <Override PartName="/ppt/slides/_rels/slide55.xml.rels" ContentType="application/vnd.openxmlformats-package.relationships+xml"/>
  <Override PartName="/ppt/slides/_rels/slide1.xml.rels" ContentType="application/vnd.openxmlformats-package.relationships+xml"/>
  <Override PartName="/ppt/slides/_rels/slide29.xml.rels" ContentType="application/vnd.openxmlformats-package.relationships+xml"/>
  <Override PartName="/ppt/slides/_rels/slide28.xml.rels" ContentType="application/vnd.openxmlformats-package.relationships+xml"/>
  <Override PartName="/ppt/slides/_rels/slide2.xml.rels" ContentType="application/vnd.openxmlformats-package.relationships+xml"/>
  <Override PartName="/ppt/slides/_rels/slide56.xml.rels" ContentType="application/vnd.openxmlformats-package.relationships+xml"/>
  <Override PartName="/ppt/slides/_rels/slide10.xml.rels" ContentType="application/vnd.openxmlformats-package.relationships+xml"/>
  <Override PartName="/ppt/slides/_rels/slide47.xml.rels" ContentType="application/vnd.openxmlformats-package.relationships+xml"/>
  <Override PartName="/ppt/slides/_rels/slide14.xml.rels" ContentType="application/vnd.openxmlformats-package.relationships+xml"/>
  <Override PartName="/ppt/slides/_rels/slide49.xml.rels" ContentType="application/vnd.openxmlformats-package.relationships+xml"/>
  <Override PartName="/ppt/slides/_rels/slide12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8.xml.rels" ContentType="application/vnd.openxmlformats-package.relationships+xml"/>
  <Override PartName="/ppt/slides/_rels/slide57.xml.rels" ContentType="application/vnd.openxmlformats-package.relationships+xml"/>
  <Override PartName="/ppt/slides/_rels/slide3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60.xml.rels" ContentType="application/vnd.openxmlformats-package.relationships+xml"/>
  <Override PartName="/ppt/slides/_rels/slide48.xml.rels" ContentType="application/vnd.openxmlformats-package.relationships+xml"/>
  <Override PartName="/ppt/slides/_rels/slide11.xml.rels" ContentType="application/vnd.openxmlformats-package.relationships+xml"/>
  <Override PartName="/ppt/slides/_rels/slide17.xml.rels" ContentType="application/vnd.openxmlformats-package.relationships+xml"/>
  <Override PartName="/ppt/slides/_rels/slide7.xml.rels" ContentType="application/vnd.openxmlformats-package.relationships+xml"/>
  <Override PartName="/ppt/slides/_rels/slide24.xml.rels" ContentType="application/vnd.openxmlformats-package.relationships+xml"/>
  <Override PartName="/ppt/slides/_rels/slide46.xml.rels" ContentType="application/vnd.openxmlformats-package.relationships+xml"/>
  <Override PartName="/ppt/slides/_rels/slide8.xml.rels" ContentType="application/vnd.openxmlformats-package.relationships+xml"/>
  <Override PartName="/ppt/slides/_rels/slide25.xml.rels" ContentType="application/vnd.openxmlformats-package.relationships+xml"/>
  <Override PartName="/ppt/slides/_rels/slide19.xml.rels" ContentType="application/vnd.openxmlformats-package.relationships+xml"/>
  <Override PartName="/ppt/slides/_rels/slide5.xml.rels" ContentType="application/vnd.openxmlformats-package.relationships+xml"/>
  <Override PartName="/ppt/slides/_rels/slide22.xml.rels" ContentType="application/vnd.openxmlformats-package.relationships+xml"/>
  <Override PartName="/ppt/slides/_rels/slide59.xml.rels" ContentType="application/vnd.openxmlformats-package.relationships+xml"/>
  <Override PartName="/ppt/slides/_rels/slide13.xml.rels" ContentType="application/vnd.openxmlformats-package.relationships+xml"/>
  <Override PartName="/ppt/slides/_rels/slide30.xml.rels" ContentType="application/vnd.openxmlformats-package.relationships+xml"/>
  <Override PartName="/ppt/slides/_rels/slide31.xml.rels" ContentType="application/vnd.openxmlformats-package.relationships+xml"/>
  <Override PartName="/ppt/slides/_rels/slide32.xml.rels" ContentType="application/vnd.openxmlformats-package.relationships+xml"/>
  <Override PartName="/ppt/slides/_rels/slide33.xml.rels" ContentType="application/vnd.openxmlformats-package.relationships+xml"/>
  <Override PartName="/ppt/slides/_rels/slide34.xml.rels" ContentType="application/vnd.openxmlformats-package.relationships+xml"/>
  <Override PartName="/ppt/slides/_rels/slide35.xml.rels" ContentType="application/vnd.openxmlformats-package.relationships+xml"/>
  <Override PartName="/ppt/slides/_rels/slide36.xml.rels" ContentType="application/vnd.openxmlformats-package.relationships+xml"/>
  <Override PartName="/ppt/slides/_rels/slide37.xml.rels" ContentType="application/vnd.openxmlformats-package.relationships+xml"/>
  <Override PartName="/ppt/slides/_rels/slide38.xml.rels" ContentType="application/vnd.openxmlformats-package.relationships+xml"/>
  <Override PartName="/ppt/slides/_rels/slide39.xml.rels" ContentType="application/vnd.openxmlformats-package.relationships+xml"/>
  <Override PartName="/ppt/slides/_rels/slide40.xml.rels" ContentType="application/vnd.openxmlformats-package.relationships+xml"/>
  <Override PartName="/ppt/slides/_rels/slide41.xml.rels" ContentType="application/vnd.openxmlformats-package.relationships+xml"/>
  <Override PartName="/ppt/slides/_rels/slide42.xml.rels" ContentType="application/vnd.openxmlformats-package.relationships+xml"/>
  <Override PartName="/ppt/slides/_rels/slide43.xml.rels" ContentType="application/vnd.openxmlformats-package.relationships+xml"/>
  <Override PartName="/ppt/slides/_rels/slide44.xml.rels" ContentType="application/vnd.openxmlformats-package.relationships+xml"/>
  <Override PartName="/ppt/slides/_rels/slide45.xml.rels" ContentType="application/vnd.openxmlformats-package.relationships+xml"/>
  <Override PartName="/ppt/slides/_rels/slide50.xml.rels" ContentType="application/vnd.openxmlformats-package.relationships+xml"/>
  <Override PartName="/ppt/slides/_rels/slide51.xml.rels" ContentType="application/vnd.openxmlformats-package.relationships+xml"/>
  <Override PartName="/ppt/slides/_rels/slide52.xml.rels" ContentType="application/vnd.openxmlformats-package.relationships+xml"/>
  <Override PartName="/ppt/slides/_rels/slide53.xml.rels" ContentType="application/vnd.openxmlformats-package.relationships+xml"/>
  <Override PartName="/ppt/slides/slide56.xml" ContentType="application/vnd.openxmlformats-officedocument.presentationml.slide+xml"/>
  <Override PartName="/ppt/slides/slide21.xml" ContentType="application/vnd.openxmlformats-officedocument.presentationml.slide+xml"/>
  <Override PartName="/ppt/slides/slide58.xml" ContentType="application/vnd.openxmlformats-officedocument.presentationml.slide+xml"/>
  <Override PartName="/ppt/slides/slide4.xml" ContentType="application/vnd.openxmlformats-officedocument.presentationml.slide+xml"/>
  <Override PartName="/ppt/slides/slide12.xml" ContentType="application/vnd.openxmlformats-officedocument.presentationml.slide+xml"/>
  <Override PartName="/ppt/slides/slide49.xml" ContentType="application/vnd.openxmlformats-officedocument.presentationml.slide+xml"/>
  <Override PartName="/ppt/slides/slide18.xml" ContentType="application/vnd.openxmlformats-officedocument.presentationml.slide+xml"/>
  <Override PartName="/ppt/slides/slide60.xml" ContentType="application/vnd.openxmlformats-officedocument.presentationml.slide+xml"/>
  <Override PartName="/ppt/slides/slide20.xml" ContentType="application/vnd.openxmlformats-officedocument.presentationml.slide+xml"/>
  <Override PartName="/ppt/slides/slide57.xml" ContentType="application/vnd.openxmlformats-officedocument.presentationml.slide+xml"/>
  <Override PartName="/ppt/slides/slide48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7.xml" ContentType="application/vnd.openxmlformats-officedocument.presentationml.slide+xml"/>
  <Override PartName="/ppt/slides/slide47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27.xml" ContentType="application/vnd.openxmlformats-officedocument.presentationml.slide+xml"/>
  <Override PartName="/ppt/slides/slide1.xml" ContentType="application/vnd.openxmlformats-officedocument.presentationml.slide+xml"/>
  <Override PartName="/ppt/slides/slide46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59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Slides/_rels/notesSlide5.xml.rels" ContentType="application/vnd.openxmlformats-package.relationships+xml"/>
  <Override PartName="/ppt/notesSlides/notesSlide5.xml" ContentType="application/vnd.openxmlformats-officedocument.presentationml.notesSlide+xml"/>
  <Override PartName="/ppt/commentAuthors.xml" ContentType="application/vnd.openxmlformats-officedocument.presentationml.commentAuthor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</p:sldIdLst>
  <p:sldSz cx="12192000" cy="6858000"/>
  <p:notesSz cx="7559675" cy="10691813"/>
</p:presentation>
</file>

<file path=ppt/commentAuthors.xml><?xml version="1.0" encoding="utf-8"?>
<p:cmAuthorLst xmlns:p="http://schemas.openxmlformats.org/presentationml/2006/main">
  <p:cmAuthor id="0" name="Guillermo Aguilar" initials="GA" lastIdx="4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slideMaster" Target="slideMasters/slideMaster25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Relationship Id="rId63" Type="http://schemas.openxmlformats.org/officeDocument/2006/relationships/slide" Target="slides/slide58.xml"/><Relationship Id="rId64" Type="http://schemas.openxmlformats.org/officeDocument/2006/relationships/slide" Target="slides/slide59.xml"/><Relationship Id="rId65" Type="http://schemas.openxmlformats.org/officeDocument/2006/relationships/slide" Target="slides/slide60.xml"/><Relationship Id="rId66" Type="http://schemas.openxmlformats.org/officeDocument/2006/relationships/presProps" Target="presProps.xml"/><Relationship Id="rId67" Type="http://schemas.openxmlformats.org/officeDocument/2006/relationships/commentAuthors" Target="commentAuthors.xml"/>
</Relationships>
</file>

<file path=ppt/comments/comment16.xml><?xml version="1.0" encoding="utf-8"?>
<p:cmLst xmlns:p="http://schemas.openxmlformats.org/presentationml/2006/main">
  <p:cm authorId="0" dt="2026-06-30T23:24:36.000000000" idx="1">
    <p:pos x="0" y="0"/>
    <p:text>Complete this slide with pseudocode or screenshot
</p:text>
  </p:cm>
</p:cmLst>
</file>

<file path=ppt/comments/comment17.xml><?xml version="1.0" encoding="utf-8"?>
<p:cmLst xmlns:p="http://schemas.openxmlformats.org/presentationml/2006/main">
  <p:cm authorId="0" dt="2026-07-01T00:03:17.000000000" idx="2">
    <p:pos x="0" y="0"/>
    <p:text>Idea of exercise:
Notebook contains already two implementations, one vectorize and the other using for-loops, for a fixed input size N
The instruction indicate that they need to convert to functions that take N as argument,
And run it with increasing N, collecting the runtime on each.
Here they also need to decide on how to store this type of data, for this exercise → discuss with your partner what is the best way to store this simulation data (numpy array? Dataframe? A simple list?) Does it mattter for this case?
In the final part they are prompted to generate some kind of visualization, with N on the x-axis and runtime on the y, for both implementations in color. I think most students wont have issues with this, basic matplotlib knowledge suffices
They should conclude: which one is faster?
Optional: why?  Deduce the O notation on both cases. (similar to first exercise).
Give hints on how pandas does group by and mean().
</p:text>
  </p:cm>
</p:cmLst>
</file>

<file path=ppt/comments/comment18.xml><?xml version="1.0" encoding="utf-8"?>
<p:cmLst xmlns:p="http://schemas.openxmlformats.org/presentationml/2006/main">
  <p:cm authorId="0" dt="2026-06-30T23:27:22.000000000" idx="3">
    <p:pos x="27" y="1"/>
    <p:text>Complete this slide 
</p:text>
  </p:cm>
</p:cmLst>
</file>

<file path=ppt/comments/comment30.xml><?xml version="1.0" encoding="utf-8"?>
<p:cmLst xmlns:p="http://schemas.openxmlformats.org/presentationml/2006/main">
  <p:cm authorId="0" dt="2026-06-30T23:19:54.000000000" idx="4">
    <p:pos x="0" y="0"/>
    <p:text>If we use this exercise, it needs introduction. This is the slide from previous version where this exercise has been already introduced before.
</p:text>
  </p:cm>
</p:cmLst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7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GB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b="0" lang="en-GB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8" name="PlaceHolder 4"/>
          <p:cNvSpPr>
            <a:spLocks noGrp="1"/>
          </p:cNvSpPr>
          <p:nvPr>
            <p:ph type="dt" idx="109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9" name="PlaceHolder 5"/>
          <p:cNvSpPr>
            <a:spLocks noGrp="1"/>
          </p:cNvSpPr>
          <p:nvPr>
            <p:ph type="ftr" idx="110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0" name="PlaceHolder 6"/>
          <p:cNvSpPr>
            <a:spLocks noGrp="1"/>
          </p:cNvSpPr>
          <p:nvPr>
            <p:ph type="sldNum" idx="111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C66C5275-9A47-4C3F-9BFD-4A9AA993448F}" type="slidenum"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5120" cy="4006800"/>
          </a:xfrm>
          <a:prstGeom prst="rect">
            <a:avLst/>
          </a:prstGeom>
          <a:ln w="0">
            <a:noFill/>
          </a:ln>
        </p:spPr>
      </p:sp>
      <p:sp>
        <p:nvSpPr>
          <p:cNvPr id="65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5480" cy="4808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Message: concepts are not specific to pandas but general. 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Not go into detail but mention that other languages or frameworks use similar concepts (e.g. SQL)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08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19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6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BC09E39-B862-4C19-9310-9BCC76051429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&lt;number&gt;</a:t>
            </a:fld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7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08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19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3D722F7-E42B-4C04-BD2F-A31A894CAA25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&lt;number&gt;</a:t>
            </a:fld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119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7"/>
          <p:cNvSpPr>
            <a:spLocks noGrp="1"/>
          </p:cNvSpPr>
          <p:nvPr>
            <p:ph type="sldNum" idx="8"/>
          </p:nvPr>
        </p:nvSpPr>
        <p:spPr>
          <a:xfrm>
            <a:off x="86104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34E1C5E-6314-4A1B-8F81-F0AAC276CF48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&lt;number&gt;</a:t>
            </a:fld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8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268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268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268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268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268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268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8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119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9"/>
          <p:cNvSpPr>
            <a:spLocks noGrp="1"/>
          </p:cNvSpPr>
          <p:nvPr>
            <p:ph type="sldNum" idx="11"/>
          </p:nvPr>
        </p:nvSpPr>
        <p:spPr>
          <a:xfrm>
            <a:off x="86104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EC7A544-B920-4C0B-BE3F-FDBCA59BEEB5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&lt;number&gt;</a:t>
            </a:fld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10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ftr" idx="13"/>
          </p:nvPr>
        </p:nvSpPr>
        <p:spPr>
          <a:xfrm>
            <a:off x="4038480" y="6356520"/>
            <a:ext cx="41119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sldNum" idx="14"/>
          </p:nvPr>
        </p:nvSpPr>
        <p:spPr>
          <a:xfrm>
            <a:off x="86104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C6F57D9-B9FA-488F-924B-AAC1619E1B03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&lt;number&gt;</a:t>
            </a:fld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GB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119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sldNum" idx="17"/>
          </p:nvPr>
        </p:nvSpPr>
        <p:spPr>
          <a:xfrm>
            <a:off x="86104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4D19C35-4CDD-4CE8-8CEE-DF38A1D5B054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&lt;number&gt;</a:t>
            </a:fld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19"/>
          </p:nvPr>
        </p:nvSpPr>
        <p:spPr>
          <a:xfrm>
            <a:off x="4038480" y="6356520"/>
            <a:ext cx="41119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0"/>
          </p:nvPr>
        </p:nvSpPr>
        <p:spPr>
          <a:xfrm>
            <a:off x="86104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CC2ECAA-35D8-4713-AD64-65C9CA322815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&lt;number&gt;</a:t>
            </a:fld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dt" idx="21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ftr" idx="22"/>
          </p:nvPr>
        </p:nvSpPr>
        <p:spPr>
          <a:xfrm>
            <a:off x="4038480" y="6356520"/>
            <a:ext cx="41119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sldNum" idx="23"/>
          </p:nvPr>
        </p:nvSpPr>
        <p:spPr>
          <a:xfrm>
            <a:off x="86104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E8FBD95-7749-459D-A0FF-577BDB36C949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&lt;number&gt;</a:t>
            </a:fld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6"/>
          <p:cNvSpPr>
            <a:spLocks noGrp="1"/>
          </p:cNvSpPr>
          <p:nvPr>
            <p:ph type="dt" idx="24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ftr" idx="25"/>
          </p:nvPr>
        </p:nvSpPr>
        <p:spPr>
          <a:xfrm>
            <a:off x="4038480" y="6356520"/>
            <a:ext cx="41119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sldNum" idx="26"/>
          </p:nvPr>
        </p:nvSpPr>
        <p:spPr>
          <a:xfrm>
            <a:off x="86104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9E7CE3F-3403-42A2-B150-FFB4D5FA171F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&lt;number&gt;</a:t>
            </a:fld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dt" idx="27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mediaAndTx" preserve="1">
  <p:cSld name="Centere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ftr" idx="28"/>
          </p:nvPr>
        </p:nvSpPr>
        <p:spPr>
          <a:xfrm>
            <a:off x="4038480" y="6356520"/>
            <a:ext cx="41119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sldNum" idx="29"/>
          </p:nvPr>
        </p:nvSpPr>
        <p:spPr>
          <a:xfrm>
            <a:off x="86104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999C8CF-AFC6-4434-B40C-1EDAE1448E91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&lt;number&gt;</a:t>
            </a:fld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dt" idx="30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5"/>
          <p:cNvSpPr>
            <a:spLocks noGrp="1"/>
          </p:cNvSpPr>
          <p:nvPr>
            <p:ph type="ftr" idx="31"/>
          </p:nvPr>
        </p:nvSpPr>
        <p:spPr>
          <a:xfrm>
            <a:off x="4038480" y="6356520"/>
            <a:ext cx="41119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6"/>
          <p:cNvSpPr>
            <a:spLocks noGrp="1"/>
          </p:cNvSpPr>
          <p:nvPr>
            <p:ph type="sldNum" idx="32"/>
          </p:nvPr>
        </p:nvSpPr>
        <p:spPr>
          <a:xfrm>
            <a:off x="86104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8447864-C629-4460-AA09-B044EFF4869F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&lt;number&gt;</a:t>
            </a:fld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7"/>
          <p:cNvSpPr>
            <a:spLocks noGrp="1"/>
          </p:cNvSpPr>
          <p:nvPr>
            <p:ph type="dt" idx="33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5"/>
          <p:cNvSpPr>
            <a:spLocks noGrp="1"/>
          </p:cNvSpPr>
          <p:nvPr>
            <p:ph type="ftr" idx="34"/>
          </p:nvPr>
        </p:nvSpPr>
        <p:spPr>
          <a:xfrm>
            <a:off x="4038480" y="6356520"/>
            <a:ext cx="41119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6"/>
          <p:cNvSpPr>
            <a:spLocks noGrp="1"/>
          </p:cNvSpPr>
          <p:nvPr>
            <p:ph type="sldNum" idx="35"/>
          </p:nvPr>
        </p:nvSpPr>
        <p:spPr>
          <a:xfrm>
            <a:off x="86104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646AE23-25BF-4300-B713-75FC076E76A8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&lt;number&gt;</a:t>
            </a:fld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" name="PlaceHolder 7"/>
          <p:cNvSpPr>
            <a:spLocks noGrp="1"/>
          </p:cNvSpPr>
          <p:nvPr>
            <p:ph type="dt" idx="36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08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5"/>
          <p:cNvSpPr>
            <a:spLocks noGrp="1"/>
          </p:cNvSpPr>
          <p:nvPr>
            <p:ph type="ftr" idx="37"/>
          </p:nvPr>
        </p:nvSpPr>
        <p:spPr>
          <a:xfrm>
            <a:off x="4038480" y="6356520"/>
            <a:ext cx="41119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PlaceHolder 6"/>
          <p:cNvSpPr>
            <a:spLocks noGrp="1"/>
          </p:cNvSpPr>
          <p:nvPr>
            <p:ph type="sldNum" idx="38"/>
          </p:nvPr>
        </p:nvSpPr>
        <p:spPr>
          <a:xfrm>
            <a:off x="86104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3B3B842-770E-4577-AEA8-815957DAA007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&lt;number&gt;</a:t>
            </a:fld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PlaceHolder 7"/>
          <p:cNvSpPr>
            <a:spLocks noGrp="1"/>
          </p:cNvSpPr>
          <p:nvPr>
            <p:ph type="dt" idx="39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Default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08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4"/>
          <p:cNvSpPr>
            <a:spLocks noGrp="1"/>
          </p:cNvSpPr>
          <p:nvPr>
            <p:ph type="ftr" idx="40"/>
          </p:nvPr>
        </p:nvSpPr>
        <p:spPr>
          <a:xfrm>
            <a:off x="4038480" y="6356520"/>
            <a:ext cx="41119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PlaceHolder 5"/>
          <p:cNvSpPr>
            <a:spLocks noGrp="1"/>
          </p:cNvSpPr>
          <p:nvPr>
            <p:ph type="sldNum" idx="41"/>
          </p:nvPr>
        </p:nvSpPr>
        <p:spPr>
          <a:xfrm>
            <a:off x="86104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763C04A-B425-46EC-A342-8C0074E8FDE3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&lt;number&gt;</a:t>
            </a:fld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PlaceHolder 6"/>
          <p:cNvSpPr>
            <a:spLocks noGrp="1"/>
          </p:cNvSpPr>
          <p:nvPr>
            <p:ph type="dt" idx="42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6"/>
          <p:cNvSpPr>
            <a:spLocks noGrp="1"/>
          </p:cNvSpPr>
          <p:nvPr>
            <p:ph type="ftr" idx="43"/>
          </p:nvPr>
        </p:nvSpPr>
        <p:spPr>
          <a:xfrm>
            <a:off x="4038480" y="6356520"/>
            <a:ext cx="41119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PlaceHolder 7"/>
          <p:cNvSpPr>
            <a:spLocks noGrp="1"/>
          </p:cNvSpPr>
          <p:nvPr>
            <p:ph type="sldNum" idx="44"/>
          </p:nvPr>
        </p:nvSpPr>
        <p:spPr>
          <a:xfrm>
            <a:off x="86104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3AE6373-BD77-424E-A070-E88A178DBDCC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&lt;number&gt;</a:t>
            </a:fld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PlaceHolder 8"/>
          <p:cNvSpPr>
            <a:spLocks noGrp="1"/>
          </p:cNvSpPr>
          <p:nvPr>
            <p:ph type="dt" idx="45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268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268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268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268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268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268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PlaceHolder 8"/>
          <p:cNvSpPr>
            <a:spLocks noGrp="1"/>
          </p:cNvSpPr>
          <p:nvPr>
            <p:ph type="ftr" idx="46"/>
          </p:nvPr>
        </p:nvSpPr>
        <p:spPr>
          <a:xfrm>
            <a:off x="4038480" y="6356520"/>
            <a:ext cx="41119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PlaceHolder 9"/>
          <p:cNvSpPr>
            <a:spLocks noGrp="1"/>
          </p:cNvSpPr>
          <p:nvPr>
            <p:ph type="sldNum" idx="47"/>
          </p:nvPr>
        </p:nvSpPr>
        <p:spPr>
          <a:xfrm>
            <a:off x="86104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C314227-D2D8-4E00-B3CB-2B9C0815310F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&lt;number&gt;</a:t>
            </a:fld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PlaceHolder 10"/>
          <p:cNvSpPr>
            <a:spLocks noGrp="1"/>
          </p:cNvSpPr>
          <p:nvPr>
            <p:ph type="dt" idx="48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ftr" idx="49"/>
          </p:nvPr>
        </p:nvSpPr>
        <p:spPr>
          <a:xfrm>
            <a:off x="4038480" y="6356520"/>
            <a:ext cx="41119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PlaceHolder 2"/>
          <p:cNvSpPr>
            <a:spLocks noGrp="1"/>
          </p:cNvSpPr>
          <p:nvPr>
            <p:ph type="sldNum" idx="50"/>
          </p:nvPr>
        </p:nvSpPr>
        <p:spPr>
          <a:xfrm>
            <a:off x="86104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A90CDC2-C00C-40EC-B053-70FAAB404C5B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&lt;number&gt;</a:t>
            </a:fld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PlaceHolder 3"/>
          <p:cNvSpPr>
            <a:spLocks noGrp="1"/>
          </p:cNvSpPr>
          <p:nvPr>
            <p:ph type="dt" idx="51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GB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19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110EF87-1686-4613-A367-F976D435991D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&lt;number&gt;</a:t>
            </a:fld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" name="PlaceHolder 4"/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PlaceHolder 3"/>
          <p:cNvSpPr>
            <a:spLocks noGrp="1"/>
          </p:cNvSpPr>
          <p:nvPr>
            <p:ph type="ftr" idx="55"/>
          </p:nvPr>
        </p:nvSpPr>
        <p:spPr>
          <a:xfrm>
            <a:off x="4038480" y="6356520"/>
            <a:ext cx="41119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PlaceHolder 4"/>
          <p:cNvSpPr>
            <a:spLocks noGrp="1"/>
          </p:cNvSpPr>
          <p:nvPr>
            <p:ph type="sldNum" idx="56"/>
          </p:nvPr>
        </p:nvSpPr>
        <p:spPr>
          <a:xfrm>
            <a:off x="86104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4E46D60-9AED-463C-A22E-40F1A180B4AD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&lt;number&gt;</a:t>
            </a:fld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" name="PlaceHolder 5"/>
          <p:cNvSpPr>
            <a:spLocks noGrp="1"/>
          </p:cNvSpPr>
          <p:nvPr>
            <p:ph type="dt" idx="57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PlaceHolder 4"/>
          <p:cNvSpPr>
            <a:spLocks noGrp="1"/>
          </p:cNvSpPr>
          <p:nvPr>
            <p:ph type="ftr" idx="58"/>
          </p:nvPr>
        </p:nvSpPr>
        <p:spPr>
          <a:xfrm>
            <a:off x="4038480" y="6356520"/>
            <a:ext cx="41119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" name="PlaceHolder 5"/>
          <p:cNvSpPr>
            <a:spLocks noGrp="1"/>
          </p:cNvSpPr>
          <p:nvPr>
            <p:ph type="sldNum" idx="59"/>
          </p:nvPr>
        </p:nvSpPr>
        <p:spPr>
          <a:xfrm>
            <a:off x="86104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9B66735-2421-48DF-9E6E-7257042B0A9A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&lt;number&gt;</a:t>
            </a:fld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" name="PlaceHolder 6"/>
          <p:cNvSpPr>
            <a:spLocks noGrp="1"/>
          </p:cNvSpPr>
          <p:nvPr>
            <p:ph type="dt" idx="60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ftr" idx="61"/>
          </p:nvPr>
        </p:nvSpPr>
        <p:spPr>
          <a:xfrm>
            <a:off x="4038480" y="6356520"/>
            <a:ext cx="41119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sldNum" idx="62"/>
          </p:nvPr>
        </p:nvSpPr>
        <p:spPr>
          <a:xfrm>
            <a:off x="86104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0B4EA09-6A67-44AA-A9FA-CEB83EC316B7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&lt;number&gt;</a:t>
            </a:fld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" name="PlaceHolder 4"/>
          <p:cNvSpPr>
            <a:spLocks noGrp="1"/>
          </p:cNvSpPr>
          <p:nvPr>
            <p:ph type="dt" idx="63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mediaAndTx" preserve="1">
  <p:cSld name="Default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ftr" idx="64"/>
          </p:nvPr>
        </p:nvSpPr>
        <p:spPr>
          <a:xfrm>
            <a:off x="4038480" y="6356520"/>
            <a:ext cx="41119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 type="sldNum" idx="65"/>
          </p:nvPr>
        </p:nvSpPr>
        <p:spPr>
          <a:xfrm>
            <a:off x="86104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48983DC-11F2-45A1-8971-81348B2C2E07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&lt;number&gt;</a:t>
            </a:fld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" name="PlaceHolder 3"/>
          <p:cNvSpPr>
            <a:spLocks noGrp="1"/>
          </p:cNvSpPr>
          <p:nvPr>
            <p:ph type="dt" idx="66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Default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PlaceHolder 5"/>
          <p:cNvSpPr>
            <a:spLocks noGrp="1"/>
          </p:cNvSpPr>
          <p:nvPr>
            <p:ph type="ftr" idx="67"/>
          </p:nvPr>
        </p:nvSpPr>
        <p:spPr>
          <a:xfrm>
            <a:off x="4038480" y="6356520"/>
            <a:ext cx="41119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" name="PlaceHolder 6"/>
          <p:cNvSpPr>
            <a:spLocks noGrp="1"/>
          </p:cNvSpPr>
          <p:nvPr>
            <p:ph type="sldNum" idx="68"/>
          </p:nvPr>
        </p:nvSpPr>
        <p:spPr>
          <a:xfrm>
            <a:off x="86104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4526919-CCE8-4E5E-9929-16E941F3633C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&lt;number&gt;</a:t>
            </a:fld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" name="PlaceHolder 7"/>
          <p:cNvSpPr>
            <a:spLocks noGrp="1"/>
          </p:cNvSpPr>
          <p:nvPr>
            <p:ph type="dt" idx="69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Default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PlaceHolder 5"/>
          <p:cNvSpPr>
            <a:spLocks noGrp="1"/>
          </p:cNvSpPr>
          <p:nvPr>
            <p:ph type="ftr" idx="70"/>
          </p:nvPr>
        </p:nvSpPr>
        <p:spPr>
          <a:xfrm>
            <a:off x="4038480" y="6356520"/>
            <a:ext cx="41119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" name="PlaceHolder 6"/>
          <p:cNvSpPr>
            <a:spLocks noGrp="1"/>
          </p:cNvSpPr>
          <p:nvPr>
            <p:ph type="sldNum" idx="71"/>
          </p:nvPr>
        </p:nvSpPr>
        <p:spPr>
          <a:xfrm>
            <a:off x="86104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041CB46-CA94-4F8D-A4C1-1E4420DCD4F2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&lt;number&gt;</a:t>
            </a:fld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" name="PlaceHolder 7"/>
          <p:cNvSpPr>
            <a:spLocks noGrp="1"/>
          </p:cNvSpPr>
          <p:nvPr>
            <p:ph type="dt" idx="72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Default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08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PlaceHolder 5"/>
          <p:cNvSpPr>
            <a:spLocks noGrp="1"/>
          </p:cNvSpPr>
          <p:nvPr>
            <p:ph type="ftr" idx="73"/>
          </p:nvPr>
        </p:nvSpPr>
        <p:spPr>
          <a:xfrm>
            <a:off x="4038480" y="6356520"/>
            <a:ext cx="41119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" name="PlaceHolder 6"/>
          <p:cNvSpPr>
            <a:spLocks noGrp="1"/>
          </p:cNvSpPr>
          <p:nvPr>
            <p:ph type="sldNum" idx="74"/>
          </p:nvPr>
        </p:nvSpPr>
        <p:spPr>
          <a:xfrm>
            <a:off x="86104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60CA568-F864-41CB-BA85-86118CA4FB37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&lt;number&gt;</a:t>
            </a:fld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" name="PlaceHolder 7"/>
          <p:cNvSpPr>
            <a:spLocks noGrp="1"/>
          </p:cNvSpPr>
          <p:nvPr>
            <p:ph type="dt" idx="75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Default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08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PlaceHolder 4"/>
          <p:cNvSpPr>
            <a:spLocks noGrp="1"/>
          </p:cNvSpPr>
          <p:nvPr>
            <p:ph type="ftr" idx="76"/>
          </p:nvPr>
        </p:nvSpPr>
        <p:spPr>
          <a:xfrm>
            <a:off x="4038480" y="6356520"/>
            <a:ext cx="41119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" name="PlaceHolder 5"/>
          <p:cNvSpPr>
            <a:spLocks noGrp="1"/>
          </p:cNvSpPr>
          <p:nvPr>
            <p:ph type="sldNum" idx="77"/>
          </p:nvPr>
        </p:nvSpPr>
        <p:spPr>
          <a:xfrm>
            <a:off x="86104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FBA2976-8376-4FEA-B4A3-7B0EEE26F896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&lt;number&gt;</a:t>
            </a:fld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" name="PlaceHolder 6"/>
          <p:cNvSpPr>
            <a:spLocks noGrp="1"/>
          </p:cNvSpPr>
          <p:nvPr>
            <p:ph type="dt" idx="78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PlaceHolder 6"/>
          <p:cNvSpPr>
            <a:spLocks noGrp="1"/>
          </p:cNvSpPr>
          <p:nvPr>
            <p:ph type="ftr" idx="79"/>
          </p:nvPr>
        </p:nvSpPr>
        <p:spPr>
          <a:xfrm>
            <a:off x="4038480" y="6356520"/>
            <a:ext cx="41119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" name="PlaceHolder 7"/>
          <p:cNvSpPr>
            <a:spLocks noGrp="1"/>
          </p:cNvSpPr>
          <p:nvPr>
            <p:ph type="sldNum" idx="80"/>
          </p:nvPr>
        </p:nvSpPr>
        <p:spPr>
          <a:xfrm>
            <a:off x="86104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53582AF-AF5B-4E3E-8F54-F74177229F05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&lt;number&gt;</a:t>
            </a:fld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" name="PlaceHolder 8"/>
          <p:cNvSpPr>
            <a:spLocks noGrp="1"/>
          </p:cNvSpPr>
          <p:nvPr>
            <p:ph type="dt" idx="81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268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268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268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268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268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268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PlaceHolder 8"/>
          <p:cNvSpPr>
            <a:spLocks noGrp="1"/>
          </p:cNvSpPr>
          <p:nvPr>
            <p:ph type="ftr" idx="82"/>
          </p:nvPr>
        </p:nvSpPr>
        <p:spPr>
          <a:xfrm>
            <a:off x="4038480" y="6356520"/>
            <a:ext cx="41119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" name="PlaceHolder 9"/>
          <p:cNvSpPr>
            <a:spLocks noGrp="1"/>
          </p:cNvSpPr>
          <p:nvPr>
            <p:ph type="sldNum" idx="83"/>
          </p:nvPr>
        </p:nvSpPr>
        <p:spPr>
          <a:xfrm>
            <a:off x="86104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6D09E9C-65ED-411C-A271-4F288B3CF67C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&lt;number&gt;</a:t>
            </a:fld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" name="PlaceHolder 10"/>
          <p:cNvSpPr>
            <a:spLocks noGrp="1"/>
          </p:cNvSpPr>
          <p:nvPr>
            <p:ph type="dt" idx="84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ftr" idx="85"/>
          </p:nvPr>
        </p:nvSpPr>
        <p:spPr>
          <a:xfrm>
            <a:off x="4038480" y="6356520"/>
            <a:ext cx="41119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 type="sldNum" idx="86"/>
          </p:nvPr>
        </p:nvSpPr>
        <p:spPr>
          <a:xfrm>
            <a:off x="86104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56E5264-2AA4-491F-84C5-D1DAF24AB43A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&lt;number&gt;</a:t>
            </a:fld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 type="dt" idx="87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 type="ftr" idx="88"/>
          </p:nvPr>
        </p:nvSpPr>
        <p:spPr>
          <a:xfrm>
            <a:off x="4038480" y="6356520"/>
            <a:ext cx="41119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 type="sldNum" idx="89"/>
          </p:nvPr>
        </p:nvSpPr>
        <p:spPr>
          <a:xfrm>
            <a:off x="86104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B6047F6-D31E-47B4-AABE-8634594304AD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&lt;number&gt;</a:t>
            </a:fld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 type="dt" idx="90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 type="ftr" idx="91"/>
          </p:nvPr>
        </p:nvSpPr>
        <p:spPr>
          <a:xfrm>
            <a:off x="4038480" y="6356520"/>
            <a:ext cx="41119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5" name="PlaceHolder 4"/>
          <p:cNvSpPr>
            <a:spLocks noGrp="1"/>
          </p:cNvSpPr>
          <p:nvPr>
            <p:ph type="sldNum" idx="92"/>
          </p:nvPr>
        </p:nvSpPr>
        <p:spPr>
          <a:xfrm>
            <a:off x="86104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EA4FFFD-7D9C-496A-82BA-57254F45F63F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&lt;number&gt;</a:t>
            </a:fld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" name="PlaceHolder 5"/>
          <p:cNvSpPr>
            <a:spLocks noGrp="1"/>
          </p:cNvSpPr>
          <p:nvPr>
            <p:ph type="dt" idx="93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PlaceHolder 4"/>
          <p:cNvSpPr>
            <a:spLocks noGrp="1"/>
          </p:cNvSpPr>
          <p:nvPr>
            <p:ph type="ftr" idx="94"/>
          </p:nvPr>
        </p:nvSpPr>
        <p:spPr>
          <a:xfrm>
            <a:off x="4038480" y="6356520"/>
            <a:ext cx="41119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" name="PlaceHolder 5"/>
          <p:cNvSpPr>
            <a:spLocks noGrp="1"/>
          </p:cNvSpPr>
          <p:nvPr>
            <p:ph type="sldNum" idx="95"/>
          </p:nvPr>
        </p:nvSpPr>
        <p:spPr>
          <a:xfrm>
            <a:off x="86104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EE55D80-50ED-42F1-AC2D-90269CA27801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&lt;number&gt;</a:t>
            </a:fld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" name="PlaceHolder 6"/>
          <p:cNvSpPr>
            <a:spLocks noGrp="1"/>
          </p:cNvSpPr>
          <p:nvPr>
            <p:ph type="dt" idx="96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 type="ftr" idx="97"/>
          </p:nvPr>
        </p:nvSpPr>
        <p:spPr>
          <a:xfrm>
            <a:off x="4038480" y="6356520"/>
            <a:ext cx="41119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 type="sldNum" idx="98"/>
          </p:nvPr>
        </p:nvSpPr>
        <p:spPr>
          <a:xfrm>
            <a:off x="86104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B24E740-5443-4AFC-8EA3-65B100D90D72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&lt;number&gt;</a:t>
            </a:fld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" name="PlaceHolder 4"/>
          <p:cNvSpPr>
            <a:spLocks noGrp="1"/>
          </p:cNvSpPr>
          <p:nvPr>
            <p:ph type="dt" idx="99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mediaAndTx" preserve="1">
  <p:cSld name="Default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ftr" idx="100"/>
          </p:nvPr>
        </p:nvSpPr>
        <p:spPr>
          <a:xfrm>
            <a:off x="4038480" y="6356520"/>
            <a:ext cx="41119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 type="sldNum" idx="101"/>
          </p:nvPr>
        </p:nvSpPr>
        <p:spPr>
          <a:xfrm>
            <a:off x="86104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A5A9788-17D5-47D7-9665-0B7E034DAF45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&lt;number&gt;</a:t>
            </a:fld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 type="dt" idx="102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Default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PlaceHolder 5"/>
          <p:cNvSpPr>
            <a:spLocks noGrp="1"/>
          </p:cNvSpPr>
          <p:nvPr>
            <p:ph type="ftr" idx="103"/>
          </p:nvPr>
        </p:nvSpPr>
        <p:spPr>
          <a:xfrm>
            <a:off x="4038480" y="6356520"/>
            <a:ext cx="41119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6" name="PlaceHolder 6"/>
          <p:cNvSpPr>
            <a:spLocks noGrp="1"/>
          </p:cNvSpPr>
          <p:nvPr>
            <p:ph type="sldNum" idx="104"/>
          </p:nvPr>
        </p:nvSpPr>
        <p:spPr>
          <a:xfrm>
            <a:off x="86104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586B825-64E8-461F-BEEC-DCF7A3EE063F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&lt;number&gt;</a:t>
            </a:fld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7" name="PlaceHolder 7"/>
          <p:cNvSpPr>
            <a:spLocks noGrp="1"/>
          </p:cNvSpPr>
          <p:nvPr>
            <p:ph type="dt" idx="105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Default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3920" cy="18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PlaceHolder 5"/>
          <p:cNvSpPr>
            <a:spLocks noGrp="1"/>
          </p:cNvSpPr>
          <p:nvPr>
            <p:ph type="ftr" idx="106"/>
          </p:nvPr>
        </p:nvSpPr>
        <p:spPr>
          <a:xfrm>
            <a:off x="4038480" y="6356520"/>
            <a:ext cx="41119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3" name="PlaceHolder 6"/>
          <p:cNvSpPr>
            <a:spLocks noGrp="1"/>
          </p:cNvSpPr>
          <p:nvPr>
            <p:ph type="sldNum" idx="107"/>
          </p:nvPr>
        </p:nvSpPr>
        <p:spPr>
          <a:xfrm>
            <a:off x="86104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1DD9144-CF72-4ACC-B1BE-8F2F707AD5FF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&lt;number&gt;</a:t>
            </a:fld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4" name="PlaceHolder 7"/>
          <p:cNvSpPr>
            <a:spLocks noGrp="1"/>
          </p:cNvSpPr>
          <p:nvPr>
            <p:ph type="dt" idx="108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3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slideLayout" Target="../slideLayouts/slideLayout33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slideLayout" Target="../slideLayouts/slideLayout3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3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comments" Target="../comments/comment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7.xml"/><Relationship Id="rId3" Type="http://schemas.openxmlformats.org/officeDocument/2006/relationships/comments" Target="../comments/comment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comments" Target="../comments/comment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3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slideLayout" Target="../slideLayouts/slideLayout33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slideLayout" Target="../slideLayouts/slideLayout33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12.png"/><Relationship Id="rId3" Type="http://schemas.openxmlformats.org/officeDocument/2006/relationships/slideLayout" Target="../slideLayouts/slideLayout33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3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33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slideLayout" Target="../slideLayouts/slideLayout33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5.png"/><Relationship Id="rId3" Type="http://schemas.openxmlformats.org/officeDocument/2006/relationships/image" Target="../media/image18.png"/><Relationship Id="rId4" Type="http://schemas.openxmlformats.org/officeDocument/2006/relationships/slideLayout" Target="../slideLayouts/slideLayout1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14.png"/><Relationship Id="rId3" Type="http://schemas.openxmlformats.org/officeDocument/2006/relationships/image" Target="../media/image20.png"/><Relationship Id="rId4" Type="http://schemas.openxmlformats.org/officeDocument/2006/relationships/slideLayout" Target="../slideLayouts/slideLayout17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17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16.png"/><Relationship Id="rId3" Type="http://schemas.openxmlformats.org/officeDocument/2006/relationships/slideLayout" Target="../slideLayouts/slideLayout17.xml"/><Relationship Id="rId4" Type="http://schemas.openxmlformats.org/officeDocument/2006/relationships/comments" Target="../comments/comment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17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23.jpeg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slideLayout" Target="../slideLayouts/slideLayout17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slideLayout" Target="../slideLayouts/slideLayout33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3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3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slideLayout" Target="../slideLayouts/slideLayout33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slideLayout" Target="../slideLayouts/slideLayout33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image" Target="../media/image30.png"/><Relationship Id="rId3" Type="http://schemas.openxmlformats.org/officeDocument/2006/relationships/slideLayout" Target="../slideLayouts/slideLayout17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31.jpeg"/><Relationship Id="rId2" Type="http://schemas.openxmlformats.org/officeDocument/2006/relationships/hyperlink" Target="https://www.nejm.org/doi/full/10.1056/NEJMoa1800389" TargetMode="External"/><Relationship Id="rId3" Type="http://schemas.openxmlformats.org/officeDocument/2006/relationships/slideLayout" Target="../slideLayouts/slideLayout17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hyperlink" Target="https://www.nejm.org/doi/full/10.1056/NEJMoa1800389" TargetMode="Externa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slideLayout" Target="../slideLayouts/slideLayout17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7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3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slideLayout" Target="../slideLayouts/slideLayout33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slideLayout" Target="../slideLayouts/slideLayout33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slideLayout" Target="../slideLayouts/slideLayout1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slideLayout" Target="../slideLayouts/slideLayout33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33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7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34.png"/><Relationship Id="rId3" Type="http://schemas.openxmlformats.org/officeDocument/2006/relationships/slideLayout" Target="../slideLayouts/slideLayout17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3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slideLayout" Target="../slideLayouts/slideLayout33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slideLayout" Target="../slideLayouts/slideLayout17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slideLayout" Target="../slideLayouts/slideLayout33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39.png"/><Relationship Id="rId3" Type="http://schemas.openxmlformats.org/officeDocument/2006/relationships/slideLayout" Target="../slideLayouts/slideLayout17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image" Target="../media/image23.jpeg"/><Relationship Id="rId2" Type="http://schemas.openxmlformats.org/officeDocument/2006/relationships/image" Target="../media/image40.png"/><Relationship Id="rId3" Type="http://schemas.openxmlformats.org/officeDocument/2006/relationships/slideLayout" Target="../slideLayouts/slideLayout17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PlaceHolder 1"/>
          <p:cNvSpPr>
            <a:spLocks noGrp="1"/>
          </p:cNvSpPr>
          <p:nvPr>
            <p:ph type="dt" idx="112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22" name="Picture 42" descr="Image"/>
          <p:cNvPicPr/>
          <p:nvPr/>
        </p:nvPicPr>
        <p:blipFill>
          <a:blip r:embed="rId1"/>
          <a:srcRect l="0" t="13533" r="0" b="10643"/>
          <a:stretch/>
        </p:blipFill>
        <p:spPr>
          <a:xfrm>
            <a:off x="1112400" y="2121120"/>
            <a:ext cx="9964440" cy="423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3" name="Title 1"/>
          <p:cNvSpPr/>
          <p:nvPr/>
        </p:nvSpPr>
        <p:spPr>
          <a:xfrm>
            <a:off x="263520" y="360000"/>
            <a:ext cx="11928600" cy="148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90000"/>
              </a:lnSpc>
            </a:pPr>
            <a:r>
              <a:rPr b="0" lang="en-US" sz="80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Tabular data </a:t>
            </a:r>
            <a:endParaRPr b="0" lang="en-GB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b="0" lang="en-US" sz="42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A particular type of data structure</a:t>
            </a:r>
            <a:endParaRPr b="0" lang="en-GB" sz="4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AB98CA4-F65E-4088-BEF0-EE94977A434D}" type="slidenum">
              <a:t>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560" cy="90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What is tabular data?</a:t>
            </a:r>
            <a:endParaRPr b="0" lang="en-GB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PlaceHolder 2"/>
          <p:cNvSpPr>
            <a:spLocks noGrp="1"/>
          </p:cNvSpPr>
          <p:nvPr>
            <p:ph type="dt" idx="113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26" name="Table 6"/>
          <p:cNvGraphicFramePr/>
          <p:nvPr/>
        </p:nvGraphicFramePr>
        <p:xfrm>
          <a:off x="1841400" y="2421000"/>
          <a:ext cx="8528040" cy="1434240"/>
        </p:xfrm>
        <a:graphic>
          <a:graphicData uri="http://schemas.openxmlformats.org/drawingml/2006/table">
            <a:tbl>
              <a:tblPr/>
              <a:tblGrid>
                <a:gridCol w="1705680"/>
                <a:gridCol w="1705680"/>
                <a:gridCol w="1705680"/>
                <a:gridCol w="1705680"/>
                <a:gridCol w="1705680"/>
              </a:tblGrid>
              <a:tr h="1249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Date (index)</a:t>
                      </a:r>
                      <a:endParaRPr b="0" lang="en-GB" sz="18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Wind speed</a:t>
                      </a:r>
                      <a:endParaRPr b="0" lang="en-GB" sz="18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Wind direction</a:t>
                      </a:r>
                      <a:endParaRPr b="0" lang="en-GB" sz="18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Rain fall (mm)</a:t>
                      </a:r>
                      <a:endParaRPr b="0" lang="en-GB" sz="18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Hours of sun</a:t>
                      </a:r>
                      <a:endParaRPr b="0" lang="en-GB" sz="18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7.3.2024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7.1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N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0.0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10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8.3.2024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0.3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NW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2.1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2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9.3.2024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1.1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SE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0.3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5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27" name="Table 2"/>
          <p:cNvGraphicFramePr/>
          <p:nvPr/>
        </p:nvGraphicFramePr>
        <p:xfrm>
          <a:off x="1833480" y="4343400"/>
          <a:ext cx="8528040" cy="1664280"/>
        </p:xfrm>
        <a:graphic>
          <a:graphicData uri="http://schemas.openxmlformats.org/drawingml/2006/table">
            <a:tbl>
              <a:tblPr/>
              <a:tblGrid>
                <a:gridCol w="1705680"/>
                <a:gridCol w="1705680"/>
                <a:gridCol w="1705680"/>
                <a:gridCol w="1705680"/>
                <a:gridCol w="1705680"/>
              </a:tblGrid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Subject ID (index)</a:t>
                      </a:r>
                      <a:endParaRPr b="0" lang="en-GB" sz="18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Condition ID</a:t>
                      </a:r>
                      <a:endParaRPr b="0" lang="en-GB" sz="18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Presentation nr</a:t>
                      </a:r>
                      <a:endParaRPr b="0" lang="en-GB" sz="18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Response time (ms)</a:t>
                      </a:r>
                      <a:endParaRPr b="0" lang="en-GB" sz="18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Response</a:t>
                      </a:r>
                      <a:endParaRPr b="0" lang="en-GB" sz="18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VM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732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2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28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LEFT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VM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732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3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41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RIGHT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PB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665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1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73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LEFT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</a:tr>
            </a:tbl>
          </a:graphicData>
        </a:graphic>
      </p:graphicFrame>
      <p:sp>
        <p:nvSpPr>
          <p:cNvPr id="228" name="TextBox 7"/>
          <p:cNvSpPr/>
          <p:nvPr/>
        </p:nvSpPr>
        <p:spPr>
          <a:xfrm>
            <a:off x="5519880" y="762120"/>
            <a:ext cx="3741480" cy="912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Unlike arrays, each column can represent another type of value, with different data types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29" name="Straight Arrow Connector 10"/>
          <p:cNvCxnSpPr/>
          <p:nvPr/>
        </p:nvCxnSpPr>
        <p:spPr>
          <a:xfrm flipH="1">
            <a:off x="5015880" y="1937880"/>
            <a:ext cx="506880" cy="383400"/>
          </a:xfrm>
          <a:prstGeom prst="straightConnector1">
            <a:avLst/>
          </a:prstGeom>
          <a:ln w="3810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230" name="Straight Arrow Connector 12"/>
          <p:cNvCxnSpPr/>
          <p:nvPr/>
        </p:nvCxnSpPr>
        <p:spPr>
          <a:xfrm flipH="1">
            <a:off x="6167880" y="1829520"/>
            <a:ext cx="146880" cy="491760"/>
          </a:xfrm>
          <a:prstGeom prst="straightConnector1">
            <a:avLst/>
          </a:prstGeom>
          <a:ln w="3810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231" name="Straight Arrow Connector 14"/>
          <p:cNvCxnSpPr/>
          <p:nvPr/>
        </p:nvCxnSpPr>
        <p:spPr>
          <a:xfrm>
            <a:off x="7679880" y="1849320"/>
            <a:ext cx="74880" cy="471960"/>
          </a:xfrm>
          <a:prstGeom prst="straightConnector1">
            <a:avLst/>
          </a:prstGeom>
          <a:ln w="3810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232" name="Straight Arrow Connector 16"/>
          <p:cNvCxnSpPr/>
          <p:nvPr/>
        </p:nvCxnSpPr>
        <p:spPr>
          <a:xfrm>
            <a:off x="9120240" y="1851480"/>
            <a:ext cx="251280" cy="469800"/>
          </a:xfrm>
          <a:prstGeom prst="straightConnector1">
            <a:avLst/>
          </a:prstGeom>
          <a:ln w="3810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233" name="Straight Arrow Connector 18"/>
          <p:cNvCxnSpPr/>
          <p:nvPr/>
        </p:nvCxnSpPr>
        <p:spPr>
          <a:xfrm flipH="1">
            <a:off x="2877840" y="1487880"/>
            <a:ext cx="2140920" cy="833400"/>
          </a:xfrm>
          <a:prstGeom prst="straightConnector1">
            <a:avLst/>
          </a:prstGeom>
          <a:ln w="3810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B0B022D3-BCD0-443B-8B1A-DAF1E33B005D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560" cy="90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What is tabular data?</a:t>
            </a:r>
            <a:endParaRPr b="0" lang="en-GB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 type="dt" idx="114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36" name="Table 6"/>
          <p:cNvGraphicFramePr/>
          <p:nvPr/>
        </p:nvGraphicFramePr>
        <p:xfrm>
          <a:off x="1841400" y="2421000"/>
          <a:ext cx="8528040" cy="1434240"/>
        </p:xfrm>
        <a:graphic>
          <a:graphicData uri="http://schemas.openxmlformats.org/drawingml/2006/table">
            <a:tbl>
              <a:tblPr/>
              <a:tblGrid>
                <a:gridCol w="1705680"/>
                <a:gridCol w="1705680"/>
                <a:gridCol w="1705680"/>
                <a:gridCol w="1705680"/>
                <a:gridCol w="1705680"/>
              </a:tblGrid>
              <a:tr h="1249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Date (index)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Wind speed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Wind direction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Rain fall (mm)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Hours of sun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7.3.2024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7.1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N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0.0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10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8.3.2024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0.3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NW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2.1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2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9.3.2024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1.1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SE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0.3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5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7" name="Table 2"/>
          <p:cNvGraphicFramePr/>
          <p:nvPr/>
        </p:nvGraphicFramePr>
        <p:xfrm>
          <a:off x="1833480" y="4343400"/>
          <a:ext cx="8528040" cy="1664280"/>
        </p:xfrm>
        <a:graphic>
          <a:graphicData uri="http://schemas.openxmlformats.org/drawingml/2006/table">
            <a:tbl>
              <a:tblPr/>
              <a:tblGrid>
                <a:gridCol w="1705680"/>
                <a:gridCol w="1705680"/>
                <a:gridCol w="1705680"/>
                <a:gridCol w="1705680"/>
                <a:gridCol w="1705680"/>
              </a:tblGrid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Subject ID (index)</a:t>
                      </a:r>
                      <a:endParaRPr b="0" lang="en-GB" sz="18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Condition ID</a:t>
                      </a:r>
                      <a:endParaRPr b="0" lang="en-GB" sz="18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Presentation nr</a:t>
                      </a:r>
                      <a:endParaRPr b="0" lang="en-GB" sz="18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Response time (ms)</a:t>
                      </a:r>
                      <a:endParaRPr b="0" lang="en-GB" sz="18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Response</a:t>
                      </a:r>
                      <a:endParaRPr b="0" lang="en-GB" sz="18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VM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732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2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28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LEFT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VM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732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3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41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RIGHT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PB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665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1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73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LEFT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</a:tr>
            </a:tbl>
          </a:graphicData>
        </a:graphic>
      </p:graphicFrame>
      <p:sp>
        <p:nvSpPr>
          <p:cNvPr id="238" name="TextBox 7"/>
          <p:cNvSpPr/>
          <p:nvPr/>
        </p:nvSpPr>
        <p:spPr>
          <a:xfrm>
            <a:off x="695520" y="998280"/>
            <a:ext cx="2733480" cy="1186920"/>
          </a:xfrm>
          <a:prstGeom prst="rect">
            <a:avLst/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Column and rows have meaningful labels (indices) that are attached to the data for each operation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7464469F-2565-4170-A793-F857B8900968}" type="slidenum">
              <a:t>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560" cy="900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Spreadsheets and databases rule the world!</a:t>
            </a:r>
            <a:endParaRPr b="0" lang="en-GB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PlaceHolder 2"/>
          <p:cNvSpPr>
            <a:spLocks noGrp="1"/>
          </p:cNvSpPr>
          <p:nvPr>
            <p:ph type="dt" idx="115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1" name="TextBox 8"/>
          <p:cNvSpPr/>
          <p:nvPr/>
        </p:nvSpPr>
        <p:spPr>
          <a:xfrm>
            <a:off x="7248240" y="6250320"/>
            <a:ext cx="4560120" cy="42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1100" strike="noStrike" u="none">
                <a:solidFill>
                  <a:srgbClr val="a6a6a6"/>
                </a:solidFill>
                <a:effectLst/>
                <a:uFillTx/>
                <a:latin typeface="Calibri"/>
                <a:ea typeface="DejaVu Sans"/>
              </a:rPr>
              <a:t>https://techcommunity.microsoft.com/t5/excel-blog/guinness-world-records-the-largest-collection-of-spreadsheet/ba-p/216592</a:t>
            </a:r>
            <a:endParaRPr b="0" lang="en-GB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42" name="Group 11"/>
          <p:cNvGrpSpPr/>
          <p:nvPr/>
        </p:nvGrpSpPr>
        <p:grpSpPr>
          <a:xfrm>
            <a:off x="2446200" y="1184040"/>
            <a:ext cx="7296480" cy="4979520"/>
            <a:chOff x="2446200" y="1184040"/>
            <a:chExt cx="7296480" cy="4979520"/>
          </a:xfrm>
        </p:grpSpPr>
        <p:pic>
          <p:nvPicPr>
            <p:cNvPr id="243" name="Picture 6" descr=""/>
            <p:cNvPicPr/>
            <p:nvPr/>
          </p:nvPicPr>
          <p:blipFill>
            <a:blip r:embed="rId1"/>
            <a:stretch/>
          </p:blipFill>
          <p:spPr>
            <a:xfrm>
              <a:off x="2452680" y="1184040"/>
              <a:ext cx="7093440" cy="49795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44" name="TextBox 7"/>
            <p:cNvSpPr/>
            <p:nvPr/>
          </p:nvSpPr>
          <p:spPr>
            <a:xfrm>
              <a:off x="2446200" y="5589000"/>
              <a:ext cx="7296480" cy="515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</a:pPr>
              <a:r>
                <a:rPr b="1" i="1" lang="en-CH" sz="1400" strike="noStrike" u="none">
                  <a:solidFill>
                    <a:srgbClr val="ffffff"/>
                  </a:solidFill>
                  <a:effectLst/>
                  <a:uFillTx/>
                  <a:latin typeface="Calibri"/>
                  <a:ea typeface="DejaVu Sans"/>
                </a:rPr>
                <a:t>Ariel </a:t>
              </a:r>
              <a:r>
                <a:rPr b="1" i="1" lang="en-US" sz="1400" strike="noStrike" u="none">
                  <a:solidFill>
                    <a:srgbClr val="ffffff"/>
                  </a:solidFill>
                  <a:effectLst/>
                  <a:uFillTx/>
                  <a:latin typeface="SegoeUI"/>
                  <a:ea typeface="DejaVu Sans"/>
                </a:rPr>
                <a:t>Fischman holds the Guinness World Record for owning the most spreadsheet software (over 500!)</a:t>
              </a:r>
              <a:endParaRPr b="0" lang="en-GB" sz="1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p>
            <a:fld id="{D58D0EDD-B6B2-4896-A8E6-74D4ED49E0B5}" type="slidenum">
              <a:t>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560" cy="90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1f2328"/>
                </a:solidFill>
                <a:effectLst/>
                <a:uFillTx/>
                <a:latin typeface="Calibri Light"/>
                <a:ea typeface="DejaVu Sans"/>
              </a:rPr>
              <a:t>Many tools to handle tabular data</a:t>
            </a:r>
            <a:endParaRPr b="0" lang="en-GB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PlaceHolder 2"/>
          <p:cNvSpPr>
            <a:spLocks noGrp="1"/>
          </p:cNvSpPr>
          <p:nvPr>
            <p:ph/>
          </p:nvPr>
        </p:nvSpPr>
        <p:spPr>
          <a:xfrm>
            <a:off x="838080" y="1124640"/>
            <a:ext cx="10861920" cy="4995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92500" lnSpcReduction="9999"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Python tools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pandas: in-memory tabular data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dask: on-disk tabular data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SQL databases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Optimized for retrieving rows (tree data structure for index)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Transactional: groups of operations are either all executed, or none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Columnar DBs, Spark, Hadoop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Optimized for operations on columns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Ideal for data science tasks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Operations can be automatically distributed over multiple machines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r>
              <a:rPr b="0" lang="en-CH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Today we will focus on </a:t>
            </a:r>
            <a:r>
              <a:rPr b="1" lang="en-CH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pandas</a:t>
            </a:r>
            <a:r>
              <a:rPr b="0" lang="en-CH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one of these tools. But type of operations are general and apply to all of them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PlaceHolder 3"/>
          <p:cNvSpPr>
            <a:spLocks noGrp="1"/>
          </p:cNvSpPr>
          <p:nvPr>
            <p:ph type="dt" idx="116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BE96480D-9472-4AE8-9853-5ED53940A7F3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TextBox 7"/>
          <p:cNvSpPr/>
          <p:nvPr/>
        </p:nvSpPr>
        <p:spPr>
          <a:xfrm>
            <a:off x="2691360" y="1730520"/>
            <a:ext cx="88884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24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df</a:t>
            </a:r>
            <a:r>
              <a:rPr b="0" lang="en-CH" sz="2400" strike="noStrike" u="non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.groupby(‘condition_id’)</a:t>
            </a:r>
            <a:r>
              <a:rPr b="0" lang="en-CH" sz="2400" strike="noStrike" u="non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[‘response_time’].mean()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Box 1"/>
          <p:cNvSpPr/>
          <p:nvPr/>
        </p:nvSpPr>
        <p:spPr>
          <a:xfrm>
            <a:off x="2722320" y="2646000"/>
            <a:ext cx="88884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24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df</a:t>
            </a:r>
            <a:r>
              <a:rPr b="0" lang="en-CH" sz="2400" strike="noStrike" u="non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.groupby(‘condition_id’)</a:t>
            </a:r>
            <a:r>
              <a:rPr b="0" lang="en-CH" sz="2400" strike="noStrike" u="non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[‘response_time’].mean()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Box 2"/>
          <p:cNvSpPr/>
          <p:nvPr/>
        </p:nvSpPr>
        <p:spPr>
          <a:xfrm>
            <a:off x="853200" y="1699920"/>
            <a:ext cx="141552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CH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Pandas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Box 8"/>
          <p:cNvSpPr/>
          <p:nvPr/>
        </p:nvSpPr>
        <p:spPr>
          <a:xfrm>
            <a:off x="853200" y="2618280"/>
            <a:ext cx="186012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CH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dask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Box 9"/>
          <p:cNvSpPr/>
          <p:nvPr/>
        </p:nvSpPr>
        <p:spPr>
          <a:xfrm>
            <a:off x="2722320" y="3565440"/>
            <a:ext cx="88884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24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df</a:t>
            </a:r>
            <a:r>
              <a:rPr b="0" lang="en-CH" sz="2400" strike="noStrike" u="non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.groupby(‘condition_id’)</a:t>
            </a:r>
            <a:r>
              <a:rPr b="0" lang="en-CH" sz="2400" strike="noStrike" u="non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.avg(‘response_time’)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Box 10"/>
          <p:cNvSpPr/>
          <p:nvPr/>
        </p:nvSpPr>
        <p:spPr>
          <a:xfrm>
            <a:off x="853200" y="3537000"/>
            <a:ext cx="186012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CH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PySpark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Box 28"/>
          <p:cNvSpPr/>
          <p:nvPr/>
        </p:nvSpPr>
        <p:spPr>
          <a:xfrm>
            <a:off x="853200" y="4455360"/>
            <a:ext cx="186012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CH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SQL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560" cy="1108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 lnSpcReduction="9999"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Tabular data ideas and operations are universal for all tabular data tools</a:t>
            </a:r>
            <a:endParaRPr b="0" lang="en-GB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PlaceHolder 2"/>
          <p:cNvSpPr>
            <a:spLocks noGrp="1"/>
          </p:cNvSpPr>
          <p:nvPr>
            <p:ph type="dt" idx="117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7" name="TextBox 24"/>
          <p:cNvSpPr/>
          <p:nvPr/>
        </p:nvSpPr>
        <p:spPr>
          <a:xfrm>
            <a:off x="2722320" y="4515840"/>
            <a:ext cx="888840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SELECT condition_id, 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400" strike="noStrike" u="non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       AVG(response_time) AS avg_response_time 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FROM df 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400" strike="noStrike" u="non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GROUP BY condition_id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;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p>
            <a:fld id="{2BDCCDDE-3FAD-48CC-870D-1A7847BD00BB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TextBox 5"/>
          <p:cNvSpPr/>
          <p:nvPr/>
        </p:nvSpPr>
        <p:spPr>
          <a:xfrm>
            <a:off x="2691360" y="1730520"/>
            <a:ext cx="88884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24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df</a:t>
            </a:r>
            <a:r>
              <a:rPr b="0" lang="en-CH" sz="2400" strike="noStrike" u="non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.groupby(‘condition_id’)</a:t>
            </a:r>
            <a:r>
              <a:rPr b="0" lang="en-CH" sz="2400" strike="noStrike" u="non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[‘response_time’].mean()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Box 19"/>
          <p:cNvSpPr/>
          <p:nvPr/>
        </p:nvSpPr>
        <p:spPr>
          <a:xfrm>
            <a:off x="2722320" y="2646000"/>
            <a:ext cx="88884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24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df</a:t>
            </a:r>
            <a:r>
              <a:rPr b="0" lang="en-CH" sz="2400" strike="noStrike" u="non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.groupby(‘condition_id’)</a:t>
            </a:r>
            <a:r>
              <a:rPr b="0" lang="en-CH" sz="2400" strike="noStrike" u="non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[‘response_time’].mean()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Box 21"/>
          <p:cNvSpPr/>
          <p:nvPr/>
        </p:nvSpPr>
        <p:spPr>
          <a:xfrm>
            <a:off x="853200" y="1699920"/>
            <a:ext cx="141552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CH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Pandas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Box 22"/>
          <p:cNvSpPr/>
          <p:nvPr/>
        </p:nvSpPr>
        <p:spPr>
          <a:xfrm>
            <a:off x="853200" y="2618280"/>
            <a:ext cx="186012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CH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dask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Box 23"/>
          <p:cNvSpPr/>
          <p:nvPr/>
        </p:nvSpPr>
        <p:spPr>
          <a:xfrm>
            <a:off x="2722320" y="3565440"/>
            <a:ext cx="88884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24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df</a:t>
            </a:r>
            <a:r>
              <a:rPr b="0" lang="en-CH" sz="2400" strike="noStrike" u="non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.groupby(‘condition_id’)</a:t>
            </a:r>
            <a:r>
              <a:rPr b="0" lang="en-CH" sz="2400" strike="noStrike" u="non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.avg(‘response_time’)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Box 25"/>
          <p:cNvSpPr/>
          <p:nvPr/>
        </p:nvSpPr>
        <p:spPr>
          <a:xfrm>
            <a:off x="853200" y="3537000"/>
            <a:ext cx="186012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CH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PySpark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Box 26"/>
          <p:cNvSpPr/>
          <p:nvPr/>
        </p:nvSpPr>
        <p:spPr>
          <a:xfrm>
            <a:off x="853200" y="4455360"/>
            <a:ext cx="186012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CH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SQL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560" cy="1108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 lnSpcReduction="9999"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Tabular data ideas and operations are universal for all tabular data tools</a:t>
            </a:r>
            <a:endParaRPr b="0" lang="en-GB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PlaceHolder 2"/>
          <p:cNvSpPr>
            <a:spLocks noGrp="1"/>
          </p:cNvSpPr>
          <p:nvPr>
            <p:ph type="dt" idx="118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7" name="TextBox 27"/>
          <p:cNvSpPr/>
          <p:nvPr/>
        </p:nvSpPr>
        <p:spPr>
          <a:xfrm>
            <a:off x="2722320" y="4515840"/>
            <a:ext cx="888840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SELECT condition_id, 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400" strike="noStrike" u="non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       AVG(response_time) AS avg_response_time 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FROM df 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400" strike="noStrike" u="non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GROUP BY condition_id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;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Box 78"/>
          <p:cNvSpPr/>
          <p:nvPr/>
        </p:nvSpPr>
        <p:spPr>
          <a:xfrm>
            <a:off x="1620000" y="1830960"/>
            <a:ext cx="9180000" cy="3378240"/>
          </a:xfrm>
          <a:custGeom>
            <a:avLst/>
            <a:gdLst>
              <a:gd name="textAreaLeft" fmla="*/ 0 w 9180000"/>
              <a:gd name="textAreaRight" fmla="*/ 9184320 w 9180000"/>
              <a:gd name="textAreaTop" fmla="*/ 0 h 3378240"/>
              <a:gd name="textAreaBottom" fmla="*/ 3382200 h 3378240"/>
            </a:gdLst>
            <a:ahLst/>
            <a:cxnLst/>
            <a:rect l="textAreaLeft" t="textAreaTop" r="textAreaRight" b="textAreaBottom"/>
            <a:pathLst>
              <a:path fill="none" w="5712296" h="2308324">
                <a:moveTo>
                  <a:pt x="0" y="0"/>
                </a:moveTo>
                <a:cubicBezTo>
                  <a:pt x="170481" y="12395"/>
                  <a:pt x="474495" y="4923"/>
                  <a:pt x="691823" y="0"/>
                </a:cubicBezTo>
                <a:cubicBezTo>
                  <a:pt x="909151" y="-4923"/>
                  <a:pt x="1025161" y="11703"/>
                  <a:pt x="1155153" y="0"/>
                </a:cubicBezTo>
                <a:cubicBezTo>
                  <a:pt x="1285145" y="-11703"/>
                  <a:pt x="1576417" y="299"/>
                  <a:pt x="1732730" y="0"/>
                </a:cubicBezTo>
                <a:cubicBezTo>
                  <a:pt x="1889043" y="-299"/>
                  <a:pt x="2130093" y="16857"/>
                  <a:pt x="2481675" y="0"/>
                </a:cubicBezTo>
                <a:cubicBezTo>
                  <a:pt x="2833257" y="-16857"/>
                  <a:pt x="2873551" y="17793"/>
                  <a:pt x="3116375" y="0"/>
                </a:cubicBezTo>
                <a:cubicBezTo>
                  <a:pt x="3359199" y="-17793"/>
                  <a:pt x="3543615" y="15531"/>
                  <a:pt x="3808197" y="0"/>
                </a:cubicBezTo>
                <a:cubicBezTo>
                  <a:pt x="4072779" y="-15531"/>
                  <a:pt x="4244086" y="-26212"/>
                  <a:pt x="4385774" y="0"/>
                </a:cubicBezTo>
                <a:cubicBezTo>
                  <a:pt x="4527462" y="26212"/>
                  <a:pt x="4804411" y="-17362"/>
                  <a:pt x="5020473" y="0"/>
                </a:cubicBezTo>
                <a:cubicBezTo>
                  <a:pt x="5236535" y="17362"/>
                  <a:pt x="5483850" y="13915"/>
                  <a:pt x="5712296" y="0"/>
                </a:cubicBezTo>
                <a:cubicBezTo>
                  <a:pt x="5698337" y="227921"/>
                  <a:pt x="5726828" y="309662"/>
                  <a:pt x="5712296" y="530915"/>
                </a:cubicBezTo>
                <a:cubicBezTo>
                  <a:pt x="5697764" y="752169"/>
                  <a:pt x="5697572" y="832379"/>
                  <a:pt x="5712296" y="1038746"/>
                </a:cubicBezTo>
                <a:cubicBezTo>
                  <a:pt x="5727020" y="1245113"/>
                  <a:pt x="5718057" y="1350161"/>
                  <a:pt x="5712296" y="1569660"/>
                </a:cubicBezTo>
                <a:cubicBezTo>
                  <a:pt x="5706535" y="1789159"/>
                  <a:pt x="5715761" y="2034313"/>
                  <a:pt x="5712296" y="2308324"/>
                </a:cubicBezTo>
                <a:cubicBezTo>
                  <a:pt x="5427327" y="2287513"/>
                  <a:pt x="5344141" y="2327301"/>
                  <a:pt x="5077596" y="2308324"/>
                </a:cubicBezTo>
                <a:cubicBezTo>
                  <a:pt x="4811051" y="2289347"/>
                  <a:pt x="4588159" y="2292673"/>
                  <a:pt x="4442897" y="2308324"/>
                </a:cubicBezTo>
                <a:cubicBezTo>
                  <a:pt x="4297635" y="2323975"/>
                  <a:pt x="4142033" y="2304319"/>
                  <a:pt x="3922443" y="2308324"/>
                </a:cubicBezTo>
                <a:cubicBezTo>
                  <a:pt x="3702853" y="2312329"/>
                  <a:pt x="3448460" y="2301342"/>
                  <a:pt x="3287744" y="2308324"/>
                </a:cubicBezTo>
                <a:cubicBezTo>
                  <a:pt x="3127028" y="2315306"/>
                  <a:pt x="2908419" y="2286204"/>
                  <a:pt x="2653044" y="2308324"/>
                </a:cubicBezTo>
                <a:cubicBezTo>
                  <a:pt x="2397669" y="2330444"/>
                  <a:pt x="2181981" y="2338620"/>
                  <a:pt x="2018345" y="2308324"/>
                </a:cubicBezTo>
                <a:cubicBezTo>
                  <a:pt x="1854709" y="2278028"/>
                  <a:pt x="1523819" y="2337051"/>
                  <a:pt x="1383645" y="2308324"/>
                </a:cubicBezTo>
                <a:cubicBezTo>
                  <a:pt x="1243471" y="2279597"/>
                  <a:pt x="1031240" y="2304491"/>
                  <a:pt x="806068" y="2308324"/>
                </a:cubicBezTo>
                <a:cubicBezTo>
                  <a:pt x="580896" y="2312157"/>
                  <a:pt x="347967" y="2325492"/>
                  <a:pt x="0" y="2308324"/>
                </a:cubicBezTo>
                <a:cubicBezTo>
                  <a:pt x="9212" y="2185053"/>
                  <a:pt x="-17414" y="1970670"/>
                  <a:pt x="0" y="1731243"/>
                </a:cubicBezTo>
                <a:cubicBezTo>
                  <a:pt x="17414" y="1491816"/>
                  <a:pt x="-10325" y="1313911"/>
                  <a:pt x="0" y="1131079"/>
                </a:cubicBezTo>
                <a:cubicBezTo>
                  <a:pt x="10325" y="948247"/>
                  <a:pt x="-25330" y="680352"/>
                  <a:pt x="0" y="530915"/>
                </a:cubicBezTo>
                <a:cubicBezTo>
                  <a:pt x="25330" y="381478"/>
                  <a:pt x="12113" y="149989"/>
                  <a:pt x="0" y="0"/>
                </a:cubicBezTo>
                <a:close/>
              </a:path>
              <a:path stroke="0" w="5712296" h="2308324">
                <a:moveTo>
                  <a:pt x="0" y="0"/>
                </a:moveTo>
                <a:cubicBezTo>
                  <a:pt x="117366" y="12157"/>
                  <a:pt x="427981" y="-1654"/>
                  <a:pt x="577577" y="0"/>
                </a:cubicBezTo>
                <a:cubicBezTo>
                  <a:pt x="727173" y="1654"/>
                  <a:pt x="919785" y="-10211"/>
                  <a:pt x="1040907" y="0"/>
                </a:cubicBezTo>
                <a:cubicBezTo>
                  <a:pt x="1162029" y="10211"/>
                  <a:pt x="1577922" y="25650"/>
                  <a:pt x="1789853" y="0"/>
                </a:cubicBezTo>
                <a:cubicBezTo>
                  <a:pt x="2001784" y="-25650"/>
                  <a:pt x="2188209" y="-24222"/>
                  <a:pt x="2367429" y="0"/>
                </a:cubicBezTo>
                <a:cubicBezTo>
                  <a:pt x="2546649" y="24222"/>
                  <a:pt x="2756192" y="-23950"/>
                  <a:pt x="2945006" y="0"/>
                </a:cubicBezTo>
                <a:cubicBezTo>
                  <a:pt x="3133820" y="23950"/>
                  <a:pt x="3433459" y="-33367"/>
                  <a:pt x="3693951" y="0"/>
                </a:cubicBezTo>
                <a:cubicBezTo>
                  <a:pt x="3954443" y="33367"/>
                  <a:pt x="4032117" y="-813"/>
                  <a:pt x="4214405" y="0"/>
                </a:cubicBezTo>
                <a:cubicBezTo>
                  <a:pt x="4396693" y="813"/>
                  <a:pt x="4790380" y="18167"/>
                  <a:pt x="4963351" y="0"/>
                </a:cubicBezTo>
                <a:cubicBezTo>
                  <a:pt x="5136322" y="-18167"/>
                  <a:pt x="5355621" y="-34473"/>
                  <a:pt x="5712296" y="0"/>
                </a:cubicBezTo>
                <a:cubicBezTo>
                  <a:pt x="5703245" y="275623"/>
                  <a:pt x="5730046" y="433797"/>
                  <a:pt x="5712296" y="577081"/>
                </a:cubicBezTo>
                <a:cubicBezTo>
                  <a:pt x="5694546" y="720365"/>
                  <a:pt x="5706106" y="925832"/>
                  <a:pt x="5712296" y="1154162"/>
                </a:cubicBezTo>
                <a:cubicBezTo>
                  <a:pt x="5718486" y="1382492"/>
                  <a:pt x="5707131" y="1562931"/>
                  <a:pt x="5712296" y="1754326"/>
                </a:cubicBezTo>
                <a:cubicBezTo>
                  <a:pt x="5717461" y="1945721"/>
                  <a:pt x="5715860" y="2077979"/>
                  <a:pt x="5712296" y="2308324"/>
                </a:cubicBezTo>
                <a:cubicBezTo>
                  <a:pt x="5577581" y="2308670"/>
                  <a:pt x="5224458" y="2290918"/>
                  <a:pt x="5077596" y="2308324"/>
                </a:cubicBezTo>
                <a:cubicBezTo>
                  <a:pt x="4930734" y="2325730"/>
                  <a:pt x="4790654" y="2322770"/>
                  <a:pt x="4557143" y="2308324"/>
                </a:cubicBezTo>
                <a:cubicBezTo>
                  <a:pt x="4323632" y="2293878"/>
                  <a:pt x="4066460" y="2312216"/>
                  <a:pt x="3922443" y="2308324"/>
                </a:cubicBezTo>
                <a:cubicBezTo>
                  <a:pt x="3778426" y="2304432"/>
                  <a:pt x="3352455" y="2286696"/>
                  <a:pt x="3173498" y="2308324"/>
                </a:cubicBezTo>
                <a:cubicBezTo>
                  <a:pt x="2994541" y="2329952"/>
                  <a:pt x="2709991" y="2308489"/>
                  <a:pt x="2538798" y="2308324"/>
                </a:cubicBezTo>
                <a:cubicBezTo>
                  <a:pt x="2367605" y="2308159"/>
                  <a:pt x="2190477" y="2285762"/>
                  <a:pt x="2075468" y="2308324"/>
                </a:cubicBezTo>
                <a:cubicBezTo>
                  <a:pt x="1960459" y="2330887"/>
                  <a:pt x="1781938" y="2316511"/>
                  <a:pt x="1555014" y="2308324"/>
                </a:cubicBezTo>
                <a:cubicBezTo>
                  <a:pt x="1328090" y="2300137"/>
                  <a:pt x="978738" y="2284534"/>
                  <a:pt x="806068" y="2308324"/>
                </a:cubicBezTo>
                <a:cubicBezTo>
                  <a:pt x="633398" y="2332114"/>
                  <a:pt x="358206" y="2331133"/>
                  <a:pt x="0" y="2308324"/>
                </a:cubicBezTo>
                <a:cubicBezTo>
                  <a:pt x="-23618" y="2154219"/>
                  <a:pt x="18177" y="1906591"/>
                  <a:pt x="0" y="1777409"/>
                </a:cubicBezTo>
                <a:cubicBezTo>
                  <a:pt x="-18177" y="1648228"/>
                  <a:pt x="-9736" y="1356449"/>
                  <a:pt x="0" y="1223412"/>
                </a:cubicBezTo>
                <a:cubicBezTo>
                  <a:pt x="9736" y="1090375"/>
                  <a:pt x="16833" y="862591"/>
                  <a:pt x="0" y="715580"/>
                </a:cubicBezTo>
                <a:cubicBezTo>
                  <a:pt x="-16833" y="568569"/>
                  <a:pt x="13966" y="290526"/>
                  <a:pt x="0" y="0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 w="381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endParaRPr b="0" lang="en-GB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CH" sz="36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Today we will see an example in </a:t>
            </a:r>
            <a:r>
              <a:rPr b="0" i="1" lang="en-CH" sz="36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pandas</a:t>
            </a:r>
            <a:r>
              <a:rPr b="0" lang="en-CH" sz="36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</a:t>
            </a:r>
            <a:endParaRPr b="0" lang="en-GB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CH" sz="36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but the reasoning we will see are general </a:t>
            </a:r>
            <a:endParaRPr b="0" lang="en-GB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CH" sz="36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and apply to all of them</a:t>
            </a:r>
            <a:endParaRPr b="0" lang="en-GB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GB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GB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p>
            <a:fld id="{68DA40AB-5C05-4B84-A90A-F1A0C661080C}" type="slidenum">
              <a:t>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title"/>
          </p:nvPr>
        </p:nvSpPr>
        <p:spPr>
          <a:xfrm>
            <a:off x="838080" y="2401200"/>
            <a:ext cx="10512720" cy="205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54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TABULAR DATA OPERATIONS</a:t>
            </a:r>
            <a:endParaRPr b="0" lang="en-GB" sz="5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PlaceHolder 2"/>
          <p:cNvSpPr>
            <a:spLocks noGrp="1"/>
          </p:cNvSpPr>
          <p:nvPr>
            <p:ph type="dt" idx="119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p>
            <a:fld id="{D4DA4801-718C-410D-9C35-02C0DF590868}" type="slidenum">
              <a:t>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560" cy="90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Common operations on tabular data</a:t>
            </a:r>
            <a:endParaRPr b="0" lang="en-GB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PlaceHolder 2"/>
          <p:cNvSpPr>
            <a:spLocks noGrp="1"/>
          </p:cNvSpPr>
          <p:nvPr>
            <p:ph/>
          </p:nvPr>
        </p:nvSpPr>
        <p:spPr>
          <a:xfrm>
            <a:off x="720000" y="1260000"/>
            <a:ext cx="10512720" cy="504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lnSpcReduction="9999"/>
          </a:bodyPr>
          <a:p>
            <a:pPr marL="214920" indent="-21492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Combine information across tables (</a:t>
            </a:r>
            <a:r>
              <a:rPr b="1" lang="en-CH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join, anti-join</a:t>
            </a:r>
            <a:r>
              <a:rPr b="0" lang="en-CH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)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49800" indent="-21492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en-CH" sz="22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Join</a:t>
            </a:r>
            <a:r>
              <a:rPr b="0" lang="en-CH" sz="22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: e.g., combine table with experiments results with table with experiments metadata (date, location, experimenter, free-form notes, …)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49800" indent="-21492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en-CH" sz="22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Anti-join</a:t>
            </a:r>
            <a:r>
              <a:rPr b="0" lang="en-CH" sz="22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: e.g. student compiles list of outliers, exclude them from t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h</a:t>
            </a:r>
            <a:r>
              <a:rPr b="0" lang="en-CH" sz="22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e table of experiments to analyze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4920" indent="-21492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CH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Summary tables (</a:t>
            </a:r>
            <a:r>
              <a:rPr b="1" lang="en-CH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split-apply-combine</a:t>
            </a:r>
            <a:r>
              <a:rPr b="0" lang="en-CH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)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49800" indent="-21492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CH" sz="22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E.g., compute average measurement and standard deviation by experimental condition and treatment dosage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4920" indent="-21492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en-CH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Window functions</a:t>
            </a:r>
            <a:r>
              <a:rPr b="0" lang="en-CH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 to vectorize complex computations over groups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49800" indent="-21492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CH" sz="22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E.g., compute some operation considering more than one row at the time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CH" sz="2800" strike="noStrike" u="none">
                <a:solidFill>
                  <a:srgbClr val="ff0000"/>
                </a:solidFill>
                <a:effectLst/>
                <a:uFillTx/>
                <a:latin typeface="Calibri"/>
                <a:ea typeface="Calibri"/>
              </a:rPr>
              <a:t>→ </a:t>
            </a:r>
            <a:r>
              <a:rPr b="0" lang="en-CH" sz="2800" strike="noStrike" u="non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Libraries are optimized to operate on tabular data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CH" sz="28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→ </a:t>
            </a:r>
            <a:r>
              <a:rPr b="0" lang="en-CH" sz="280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Today we will focus on one of these operations and understand why it is important to use vectorized operations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PlaceHolder 3"/>
          <p:cNvSpPr>
            <a:spLocks noGrp="1"/>
          </p:cNvSpPr>
          <p:nvPr>
            <p:ph type="dt" idx="120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710A306C-8A37-4084-8696-BDD96585D01B}" type="slidenum">
              <a:t>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560" cy="90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Common operations on tabular data</a:t>
            </a:r>
            <a:endParaRPr b="0" lang="en-GB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PlaceHolder 2"/>
          <p:cNvSpPr>
            <a:spLocks noGrp="1"/>
          </p:cNvSpPr>
          <p:nvPr>
            <p:ph/>
          </p:nvPr>
        </p:nvSpPr>
        <p:spPr>
          <a:xfrm>
            <a:off x="720000" y="1260000"/>
            <a:ext cx="10512720" cy="504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lnSpcReduction="9999"/>
          </a:bodyPr>
          <a:p>
            <a:pPr marL="214920" indent="-21492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Combine information across tables (</a:t>
            </a:r>
            <a:r>
              <a:rPr b="1" lang="en-CH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join, anti-join</a:t>
            </a:r>
            <a:r>
              <a:rPr b="0" lang="en-CH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)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49800" indent="-21492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en-CH" sz="22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Join</a:t>
            </a:r>
            <a:r>
              <a:rPr b="0" lang="en-CH" sz="22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: e.g., combine table with experiments results with table with experiments metadata (date, location, experimenter, free-form notes, …)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49800" indent="-21492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en-CH" sz="22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Anti-join</a:t>
            </a:r>
            <a:r>
              <a:rPr b="0" lang="en-CH" sz="22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: e.g. student compiles list of outliers, exclude them from t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h</a:t>
            </a:r>
            <a:r>
              <a:rPr b="0" lang="en-CH" sz="22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e table of experiments to analyze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4920" indent="-21492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CH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Summary tables (</a:t>
            </a:r>
            <a:r>
              <a:rPr b="1" lang="en-CH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split-apply-combine</a:t>
            </a:r>
            <a:r>
              <a:rPr b="0" lang="en-CH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)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49800" indent="-21492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CH" sz="22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E.g., compute average measurement and standard deviation by experimental condition and treatment dosage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4920" indent="-21492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en-CH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Window functions</a:t>
            </a:r>
            <a:r>
              <a:rPr b="0" lang="en-CH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 to vectorize complex computations over groups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49800" indent="-21492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CH" sz="22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E.g., compute some operation considering more than one row at the time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CH" sz="2800" strike="noStrike" u="none">
                <a:solidFill>
                  <a:srgbClr val="ff0000"/>
                </a:solidFill>
                <a:effectLst/>
                <a:uFillTx/>
                <a:latin typeface="Calibri"/>
                <a:ea typeface="Calibri"/>
              </a:rPr>
              <a:t>→ </a:t>
            </a:r>
            <a:r>
              <a:rPr b="0" lang="en-CH" sz="2800" strike="noStrike" u="non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Libraries are optimized to operate on tabular data.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CH" sz="2800" strike="noStrike" u="none">
                <a:solidFill>
                  <a:srgbClr val="ff0000"/>
                </a:solidFill>
                <a:effectLst/>
                <a:uFillTx/>
                <a:latin typeface="Calibri"/>
                <a:ea typeface="Calibri"/>
              </a:rPr>
              <a:t>→ </a:t>
            </a:r>
            <a:r>
              <a:rPr b="0" lang="en-CH" sz="2800" strike="noStrike" u="non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Today we will focus on one of these operations and understand why it is important to use vectorized operations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PlaceHolder 3"/>
          <p:cNvSpPr>
            <a:spLocks noGrp="1"/>
          </p:cNvSpPr>
          <p:nvPr>
            <p:ph type="dt" idx="121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7" name=""/>
          <p:cNvSpPr/>
          <p:nvPr/>
        </p:nvSpPr>
        <p:spPr>
          <a:xfrm>
            <a:off x="540360" y="2880360"/>
            <a:ext cx="10620000" cy="1080000"/>
          </a:xfrm>
          <a:prstGeom prst="roundRect">
            <a:avLst>
              <a:gd name="adj" fmla="val 16667"/>
            </a:avLst>
          </a:prstGeom>
          <a:noFill/>
          <a:ln w="72000">
            <a:solidFill>
              <a:srgbClr val="f10d0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26000" rIns="126000" tIns="81000" bIns="81000" anchor="ctr">
            <a:noAutofit/>
          </a:bodyPr>
          <a:p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525C9D13-EA34-4C2F-9B56-90FD419DC152}" type="slidenum">
              <a:t>10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/>
          <p:cNvSpPr>
            <a:spLocks noGrp="1"/>
          </p:cNvSpPr>
          <p:nvPr>
            <p:ph type="title"/>
          </p:nvPr>
        </p:nvSpPr>
        <p:spPr>
          <a:xfrm>
            <a:off x="838080" y="2709000"/>
            <a:ext cx="10512720" cy="900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54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Split-apply-combine</a:t>
            </a:r>
            <a:endParaRPr b="0" lang="en-GB" sz="5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PlaceHolder 2"/>
          <p:cNvSpPr>
            <a:spLocks noGrp="1"/>
          </p:cNvSpPr>
          <p:nvPr>
            <p:ph type="dt" idx="122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p>
            <a:fld id="{EFD337FD-6790-430C-A879-5B6A1C9195B8}" type="slidenum">
              <a:t>11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560" cy="900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The basic structure of most numerical analyses</a:t>
            </a:r>
            <a:endParaRPr b="0" lang="en-GB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PlaceHolder 2"/>
          <p:cNvSpPr>
            <a:spLocks noGrp="1"/>
          </p:cNvSpPr>
          <p:nvPr>
            <p:ph type="dt" idx="123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82" name="Picture 36" descr=""/>
          <p:cNvPicPr/>
          <p:nvPr/>
        </p:nvPicPr>
        <p:blipFill>
          <a:blip r:embed="rId1"/>
          <a:stretch/>
        </p:blipFill>
        <p:spPr>
          <a:xfrm>
            <a:off x="3935880" y="2162520"/>
            <a:ext cx="2883960" cy="4556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3" name="Picture 37" descr=""/>
          <p:cNvPicPr/>
          <p:nvPr/>
        </p:nvPicPr>
        <p:blipFill>
          <a:blip r:embed="rId2"/>
          <a:stretch/>
        </p:blipFill>
        <p:spPr>
          <a:xfrm>
            <a:off x="7584840" y="2500560"/>
            <a:ext cx="1474200" cy="3626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4" name="Picture 38" descr=""/>
          <p:cNvPicPr/>
          <p:nvPr/>
        </p:nvPicPr>
        <p:blipFill>
          <a:blip r:embed="rId3"/>
          <a:stretch/>
        </p:blipFill>
        <p:spPr>
          <a:xfrm>
            <a:off x="9859680" y="2999880"/>
            <a:ext cx="1809360" cy="1952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5" name="Picture 39" descr=""/>
          <p:cNvPicPr/>
          <p:nvPr/>
        </p:nvPicPr>
        <p:blipFill>
          <a:blip r:embed="rId4"/>
          <a:stretch/>
        </p:blipFill>
        <p:spPr>
          <a:xfrm>
            <a:off x="460080" y="2783880"/>
            <a:ext cx="2661480" cy="2586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6" name="TextBox 68"/>
          <p:cNvSpPr/>
          <p:nvPr/>
        </p:nvSpPr>
        <p:spPr>
          <a:xfrm>
            <a:off x="2617920" y="1321920"/>
            <a:ext cx="1869480" cy="63828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36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split</a:t>
            </a:r>
            <a:endParaRPr b="0" lang="en-GB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Box 69"/>
          <p:cNvSpPr/>
          <p:nvPr/>
        </p:nvSpPr>
        <p:spPr>
          <a:xfrm>
            <a:off x="6311880" y="1321920"/>
            <a:ext cx="1869480" cy="63828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36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apply</a:t>
            </a:r>
            <a:endParaRPr b="0" lang="en-GB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Box 70"/>
          <p:cNvSpPr/>
          <p:nvPr/>
        </p:nvSpPr>
        <p:spPr>
          <a:xfrm>
            <a:off x="9783360" y="1321920"/>
            <a:ext cx="1869480" cy="63828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36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combin</a:t>
            </a:r>
            <a:r>
              <a:rPr b="0" lang="en-CH" sz="36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e</a:t>
            </a:r>
            <a:endParaRPr b="0" lang="en-GB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89" name="Straight Arrow Connector 31"/>
          <p:cNvCxnSpPr/>
          <p:nvPr/>
        </p:nvCxnSpPr>
        <p:spPr>
          <a:xfrm flipV="1">
            <a:off x="3287520" y="2783520"/>
            <a:ext cx="650880" cy="74520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len="med" type="triangle" w="med"/>
          </a:ln>
        </p:spPr>
      </p:cxnSp>
      <p:cxnSp>
        <p:nvCxnSpPr>
          <p:cNvPr id="290" name="Straight Arrow Connector 32"/>
          <p:cNvCxnSpPr/>
          <p:nvPr/>
        </p:nvCxnSpPr>
        <p:spPr>
          <a:xfrm flipV="1">
            <a:off x="3281400" y="3784320"/>
            <a:ext cx="650880" cy="11520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len="med" type="triangle" w="med"/>
          </a:ln>
        </p:spPr>
      </p:cxnSp>
      <p:cxnSp>
        <p:nvCxnSpPr>
          <p:cNvPr id="291" name="Straight Arrow Connector 33"/>
          <p:cNvCxnSpPr/>
          <p:nvPr/>
        </p:nvCxnSpPr>
        <p:spPr>
          <a:xfrm>
            <a:off x="3281760" y="4326480"/>
            <a:ext cx="640080" cy="39888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len="med" type="triangle" w="med"/>
          </a:ln>
        </p:spPr>
      </p:cxnSp>
      <p:cxnSp>
        <p:nvCxnSpPr>
          <p:cNvPr id="292" name="Straight Arrow Connector 34"/>
          <p:cNvCxnSpPr/>
          <p:nvPr/>
        </p:nvCxnSpPr>
        <p:spPr>
          <a:xfrm>
            <a:off x="3291840" y="5254200"/>
            <a:ext cx="640440" cy="118980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len="med" type="triangle" w="med"/>
          </a:ln>
        </p:spPr>
      </p:cxnSp>
      <p:cxnSp>
        <p:nvCxnSpPr>
          <p:cNvPr id="293" name="Straight Arrow Connector 35"/>
          <p:cNvCxnSpPr/>
          <p:nvPr/>
        </p:nvCxnSpPr>
        <p:spPr>
          <a:xfrm>
            <a:off x="3281400" y="4874760"/>
            <a:ext cx="650880" cy="75672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len="med" type="triangle" w="med"/>
          </a:ln>
        </p:spPr>
      </p:cxnSp>
      <p:sp>
        <p:nvSpPr>
          <p:cNvPr id="294" name="TextBox 71"/>
          <p:cNvSpPr/>
          <p:nvPr/>
        </p:nvSpPr>
        <p:spPr>
          <a:xfrm>
            <a:off x="3228840" y="2734560"/>
            <a:ext cx="645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A1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Box 72"/>
          <p:cNvSpPr/>
          <p:nvPr/>
        </p:nvSpPr>
        <p:spPr>
          <a:xfrm>
            <a:off x="3223800" y="3516480"/>
            <a:ext cx="645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A2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Box 73"/>
          <p:cNvSpPr/>
          <p:nvPr/>
        </p:nvSpPr>
        <p:spPr>
          <a:xfrm>
            <a:off x="3223800" y="4020480"/>
            <a:ext cx="645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B1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Box 74"/>
          <p:cNvSpPr/>
          <p:nvPr/>
        </p:nvSpPr>
        <p:spPr>
          <a:xfrm>
            <a:off x="3233520" y="4754520"/>
            <a:ext cx="645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B2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Box 75"/>
          <p:cNvSpPr/>
          <p:nvPr/>
        </p:nvSpPr>
        <p:spPr>
          <a:xfrm>
            <a:off x="3233520" y="5244480"/>
            <a:ext cx="645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C2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Right Arrow 3"/>
          <p:cNvSpPr/>
          <p:nvPr/>
        </p:nvSpPr>
        <p:spPr>
          <a:xfrm>
            <a:off x="6996240" y="4089240"/>
            <a:ext cx="501120" cy="85788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CH" sz="1800" strike="noStrike" u="non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300" name="TextBox 76"/>
          <p:cNvSpPr/>
          <p:nvPr/>
        </p:nvSpPr>
        <p:spPr>
          <a:xfrm>
            <a:off x="6837120" y="3702960"/>
            <a:ext cx="779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CH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mean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01" name="Straight Arrow Connector 36"/>
          <p:cNvCxnSpPr/>
          <p:nvPr/>
        </p:nvCxnSpPr>
        <p:spPr>
          <a:xfrm>
            <a:off x="9076320" y="2923920"/>
            <a:ext cx="709920" cy="59544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len="med" type="triangle" w="med"/>
          </a:ln>
        </p:spPr>
      </p:cxnSp>
      <p:cxnSp>
        <p:nvCxnSpPr>
          <p:cNvPr id="302" name="Straight Arrow Connector 37"/>
          <p:cNvCxnSpPr/>
          <p:nvPr/>
        </p:nvCxnSpPr>
        <p:spPr>
          <a:xfrm>
            <a:off x="9076320" y="3645000"/>
            <a:ext cx="709920" cy="19836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len="med" type="triangle" w="med"/>
          </a:ln>
        </p:spPr>
      </p:cxnSp>
      <p:cxnSp>
        <p:nvCxnSpPr>
          <p:cNvPr id="303" name="Straight Arrow Connector 38"/>
          <p:cNvCxnSpPr/>
          <p:nvPr/>
        </p:nvCxnSpPr>
        <p:spPr>
          <a:xfrm flipV="1">
            <a:off x="9065520" y="4205160"/>
            <a:ext cx="720720" cy="21960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len="med" type="triangle" w="med"/>
          </a:ln>
        </p:spPr>
      </p:cxnSp>
      <p:cxnSp>
        <p:nvCxnSpPr>
          <p:cNvPr id="304" name="Straight Arrow Connector 39"/>
          <p:cNvCxnSpPr/>
          <p:nvPr/>
        </p:nvCxnSpPr>
        <p:spPr>
          <a:xfrm flipV="1">
            <a:off x="9076320" y="4421880"/>
            <a:ext cx="709920" cy="71028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len="med" type="triangle" w="med"/>
          </a:ln>
        </p:spPr>
      </p:cxnSp>
      <p:cxnSp>
        <p:nvCxnSpPr>
          <p:cNvPr id="305" name="Straight Arrow Connector 40"/>
          <p:cNvCxnSpPr/>
          <p:nvPr/>
        </p:nvCxnSpPr>
        <p:spPr>
          <a:xfrm flipV="1">
            <a:off x="9076320" y="4775400"/>
            <a:ext cx="709920" cy="116604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len="med" type="triangle" w="med"/>
          </a:ln>
        </p:spPr>
      </p:cxnSp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p>
            <a:fld id="{03DBEA00-38A4-43A2-98D1-DE4623B08555}" type="slidenum">
              <a:t>12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 type="dt" idx="124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07" name="Picture 40" descr=""/>
          <p:cNvPicPr/>
          <p:nvPr/>
        </p:nvPicPr>
        <p:blipFill>
          <a:blip r:embed="rId1"/>
          <a:stretch/>
        </p:blipFill>
        <p:spPr>
          <a:xfrm>
            <a:off x="3935880" y="2162520"/>
            <a:ext cx="2883960" cy="4556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8" name="Picture 41" descr=""/>
          <p:cNvPicPr/>
          <p:nvPr/>
        </p:nvPicPr>
        <p:blipFill>
          <a:blip r:embed="rId2"/>
          <a:stretch/>
        </p:blipFill>
        <p:spPr>
          <a:xfrm>
            <a:off x="7584840" y="2500560"/>
            <a:ext cx="1474200" cy="3626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9" name="Picture 43" descr=""/>
          <p:cNvPicPr/>
          <p:nvPr/>
        </p:nvPicPr>
        <p:blipFill>
          <a:blip r:embed="rId3"/>
          <a:stretch/>
        </p:blipFill>
        <p:spPr>
          <a:xfrm>
            <a:off x="9859680" y="2999880"/>
            <a:ext cx="1809360" cy="1952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10" name="Picture 44" descr=""/>
          <p:cNvPicPr/>
          <p:nvPr/>
        </p:nvPicPr>
        <p:blipFill>
          <a:blip r:embed="rId4"/>
          <a:stretch/>
        </p:blipFill>
        <p:spPr>
          <a:xfrm>
            <a:off x="460080" y="2783880"/>
            <a:ext cx="2661480" cy="2586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1" name="TextBox 81"/>
          <p:cNvSpPr/>
          <p:nvPr/>
        </p:nvSpPr>
        <p:spPr>
          <a:xfrm>
            <a:off x="2617920" y="1321920"/>
            <a:ext cx="1869480" cy="63828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36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split</a:t>
            </a:r>
            <a:endParaRPr b="0" lang="en-GB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Box 82"/>
          <p:cNvSpPr/>
          <p:nvPr/>
        </p:nvSpPr>
        <p:spPr>
          <a:xfrm>
            <a:off x="6311880" y="1321920"/>
            <a:ext cx="1869480" cy="63828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36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apply</a:t>
            </a:r>
            <a:endParaRPr b="0" lang="en-GB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Box 83"/>
          <p:cNvSpPr/>
          <p:nvPr/>
        </p:nvSpPr>
        <p:spPr>
          <a:xfrm>
            <a:off x="9783360" y="1321920"/>
            <a:ext cx="1869480" cy="63828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36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combine</a:t>
            </a:r>
            <a:endParaRPr b="0" lang="en-GB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14" name="Straight Arrow Connector 41"/>
          <p:cNvCxnSpPr/>
          <p:nvPr/>
        </p:nvCxnSpPr>
        <p:spPr>
          <a:xfrm flipV="1">
            <a:off x="3287520" y="2783520"/>
            <a:ext cx="650880" cy="74520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len="med" type="triangle" w="med"/>
          </a:ln>
        </p:spPr>
      </p:cxnSp>
      <p:cxnSp>
        <p:nvCxnSpPr>
          <p:cNvPr id="315" name="Straight Arrow Connector 43"/>
          <p:cNvCxnSpPr/>
          <p:nvPr/>
        </p:nvCxnSpPr>
        <p:spPr>
          <a:xfrm flipV="1">
            <a:off x="3281400" y="3784320"/>
            <a:ext cx="650880" cy="11520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len="med" type="triangle" w="med"/>
          </a:ln>
        </p:spPr>
      </p:cxnSp>
      <p:cxnSp>
        <p:nvCxnSpPr>
          <p:cNvPr id="316" name="Straight Arrow Connector 45"/>
          <p:cNvCxnSpPr/>
          <p:nvPr/>
        </p:nvCxnSpPr>
        <p:spPr>
          <a:xfrm>
            <a:off x="3281760" y="4326480"/>
            <a:ext cx="640080" cy="39888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len="med" type="triangle" w="med"/>
          </a:ln>
        </p:spPr>
      </p:cxnSp>
      <p:cxnSp>
        <p:nvCxnSpPr>
          <p:cNvPr id="317" name="Straight Arrow Connector 46"/>
          <p:cNvCxnSpPr/>
          <p:nvPr/>
        </p:nvCxnSpPr>
        <p:spPr>
          <a:xfrm>
            <a:off x="3291840" y="5254200"/>
            <a:ext cx="640440" cy="118980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len="med" type="triangle" w="med"/>
          </a:ln>
        </p:spPr>
      </p:cxnSp>
      <p:cxnSp>
        <p:nvCxnSpPr>
          <p:cNvPr id="318" name="Straight Arrow Connector 47"/>
          <p:cNvCxnSpPr/>
          <p:nvPr/>
        </p:nvCxnSpPr>
        <p:spPr>
          <a:xfrm>
            <a:off x="3281400" y="4874760"/>
            <a:ext cx="650880" cy="75672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len="med" type="triangle" w="med"/>
          </a:ln>
        </p:spPr>
      </p:cxnSp>
      <p:sp>
        <p:nvSpPr>
          <p:cNvPr id="319" name="TextBox 84"/>
          <p:cNvSpPr/>
          <p:nvPr/>
        </p:nvSpPr>
        <p:spPr>
          <a:xfrm>
            <a:off x="3228840" y="2734560"/>
            <a:ext cx="645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A1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Box 85"/>
          <p:cNvSpPr/>
          <p:nvPr/>
        </p:nvSpPr>
        <p:spPr>
          <a:xfrm>
            <a:off x="3223800" y="3516480"/>
            <a:ext cx="645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A2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Box 86"/>
          <p:cNvSpPr/>
          <p:nvPr/>
        </p:nvSpPr>
        <p:spPr>
          <a:xfrm>
            <a:off x="3223800" y="4020480"/>
            <a:ext cx="645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B1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Box 87"/>
          <p:cNvSpPr/>
          <p:nvPr/>
        </p:nvSpPr>
        <p:spPr>
          <a:xfrm>
            <a:off x="3233520" y="4754520"/>
            <a:ext cx="645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B2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Box 88"/>
          <p:cNvSpPr/>
          <p:nvPr/>
        </p:nvSpPr>
        <p:spPr>
          <a:xfrm>
            <a:off x="3233520" y="5244480"/>
            <a:ext cx="645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C2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Right Arrow 5"/>
          <p:cNvSpPr/>
          <p:nvPr/>
        </p:nvSpPr>
        <p:spPr>
          <a:xfrm>
            <a:off x="6996240" y="4089240"/>
            <a:ext cx="501120" cy="85788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CH" sz="1800" strike="noStrike" u="non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325" name="TextBox 89"/>
          <p:cNvSpPr/>
          <p:nvPr/>
        </p:nvSpPr>
        <p:spPr>
          <a:xfrm>
            <a:off x="6837120" y="3702960"/>
            <a:ext cx="779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CH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mean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26" name="Straight Arrow Connector 49"/>
          <p:cNvCxnSpPr/>
          <p:nvPr/>
        </p:nvCxnSpPr>
        <p:spPr>
          <a:xfrm>
            <a:off x="9076320" y="2923920"/>
            <a:ext cx="709920" cy="59544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len="med" type="triangle" w="med"/>
          </a:ln>
        </p:spPr>
      </p:cxnSp>
      <p:cxnSp>
        <p:nvCxnSpPr>
          <p:cNvPr id="327" name="Straight Arrow Connector 50"/>
          <p:cNvCxnSpPr/>
          <p:nvPr/>
        </p:nvCxnSpPr>
        <p:spPr>
          <a:xfrm>
            <a:off x="9076320" y="3645000"/>
            <a:ext cx="709920" cy="19836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len="med" type="triangle" w="med"/>
          </a:ln>
        </p:spPr>
      </p:cxnSp>
      <p:cxnSp>
        <p:nvCxnSpPr>
          <p:cNvPr id="328" name="Straight Arrow Connector 51"/>
          <p:cNvCxnSpPr/>
          <p:nvPr/>
        </p:nvCxnSpPr>
        <p:spPr>
          <a:xfrm flipV="1">
            <a:off x="9065520" y="4205160"/>
            <a:ext cx="720720" cy="21960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len="med" type="triangle" w="med"/>
          </a:ln>
        </p:spPr>
      </p:cxnSp>
      <p:cxnSp>
        <p:nvCxnSpPr>
          <p:cNvPr id="329" name="Straight Arrow Connector 52"/>
          <p:cNvCxnSpPr/>
          <p:nvPr/>
        </p:nvCxnSpPr>
        <p:spPr>
          <a:xfrm flipV="1">
            <a:off x="9076320" y="4421880"/>
            <a:ext cx="709920" cy="71028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len="med" type="triangle" w="med"/>
          </a:ln>
        </p:spPr>
      </p:cxnSp>
      <p:cxnSp>
        <p:nvCxnSpPr>
          <p:cNvPr id="330" name="Straight Arrow Connector 53"/>
          <p:cNvCxnSpPr/>
          <p:nvPr/>
        </p:nvCxnSpPr>
        <p:spPr>
          <a:xfrm flipV="1">
            <a:off x="9076320" y="4775400"/>
            <a:ext cx="709920" cy="116604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len="med" type="triangle" w="med"/>
          </a:ln>
        </p:spPr>
      </p:cxnSp>
      <p:sp>
        <p:nvSpPr>
          <p:cNvPr id="331" name="TextBox 90"/>
          <p:cNvSpPr/>
          <p:nvPr/>
        </p:nvSpPr>
        <p:spPr>
          <a:xfrm>
            <a:off x="515520" y="293760"/>
            <a:ext cx="1115820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2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df</a:t>
            </a:r>
            <a:r>
              <a:rPr b="0" lang="en-CH" sz="2800" strike="noStrike" u="non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.groupby(‘condition_id’)</a:t>
            </a:r>
            <a:r>
              <a:rPr b="0" lang="en-CH" sz="2800" strike="noStrike" u="non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[‘response_time’].mean()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3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74"/>
          </p:nvPr>
        </p:nvSpPr>
        <p:spPr/>
        <p:txBody>
          <a:bodyPr/>
          <a:p>
            <a:fld id="{5A1DD8D5-BB8C-4516-8973-3F9D4F5C8C7A}" type="slidenum">
              <a:t>13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560" cy="90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Split-apply-combine </a:t>
            </a:r>
            <a:endParaRPr b="0" lang="en-GB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2720" cy="4833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Tabular data tools have a way to vectorize the standard</a:t>
            </a:r>
            <a:br>
              <a:rPr sz="2800"/>
            </a:b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split-apply-combine operations, using a “group-by” command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 addition, Pandas has got a “pivot-table” command that can be used to </a:t>
            </a: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simplify the creation of more complex summary tables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PlaceHolder 3"/>
          <p:cNvSpPr>
            <a:spLocks noGrp="1"/>
          </p:cNvSpPr>
          <p:nvPr>
            <p:ph type="dt" idx="125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7117FB18-347F-4E7A-BF80-32C09630C3FE}" type="slidenum">
              <a:t>14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PlaceHolder 1"/>
          <p:cNvSpPr>
            <a:spLocks noGrp="1"/>
          </p:cNvSpPr>
          <p:nvPr>
            <p:ph type="dt" idx="126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36" name="Picture 45" descr=""/>
          <p:cNvPicPr/>
          <p:nvPr/>
        </p:nvPicPr>
        <p:blipFill>
          <a:blip r:embed="rId1"/>
          <a:stretch/>
        </p:blipFill>
        <p:spPr>
          <a:xfrm>
            <a:off x="1775520" y="2645640"/>
            <a:ext cx="3396600" cy="3300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7" name="TextBox 91"/>
          <p:cNvSpPr/>
          <p:nvPr/>
        </p:nvSpPr>
        <p:spPr>
          <a:xfrm>
            <a:off x="9984600" y="476640"/>
            <a:ext cx="1869480" cy="63828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36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split</a:t>
            </a:r>
            <a:endParaRPr b="0" lang="en-GB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Box 92"/>
          <p:cNvSpPr/>
          <p:nvPr/>
        </p:nvSpPr>
        <p:spPr>
          <a:xfrm>
            <a:off x="9984600" y="1214280"/>
            <a:ext cx="1869480" cy="63828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36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apply</a:t>
            </a:r>
            <a:endParaRPr b="0" lang="en-GB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Box 93"/>
          <p:cNvSpPr/>
          <p:nvPr/>
        </p:nvSpPr>
        <p:spPr>
          <a:xfrm>
            <a:off x="9987480" y="2017440"/>
            <a:ext cx="1869480" cy="63828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36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combine</a:t>
            </a:r>
            <a:endParaRPr b="0" lang="en-GB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Box 94"/>
          <p:cNvSpPr/>
          <p:nvPr/>
        </p:nvSpPr>
        <p:spPr>
          <a:xfrm>
            <a:off x="515520" y="325800"/>
            <a:ext cx="11158200" cy="179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data.pi</a:t>
            </a: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vot_tab</a:t>
            </a: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le(</a:t>
            </a:r>
            <a:br>
              <a:rPr sz="2800"/>
            </a:b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	</a:t>
            </a:r>
            <a:r>
              <a:rPr b="0" lang="en-US" sz="2800" strike="noStrike" u="non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index='</a:t>
            </a:r>
            <a:r>
              <a:rPr b="0" lang="en-US" sz="2800" strike="noStrike" u="non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conditi</a:t>
            </a:r>
            <a:r>
              <a:rPr b="0" lang="en-US" sz="2800" strike="noStrike" u="non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on_id', </a:t>
            </a:r>
            <a:r>
              <a:rPr b="0" lang="en-US" sz="2800" strike="noStrike" u="non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columns</a:t>
            </a:r>
            <a:r>
              <a:rPr b="0" lang="en-US" sz="2800" strike="noStrike" u="non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='respo</a:t>
            </a:r>
            <a:r>
              <a:rPr b="0" lang="en-US" sz="2800" strike="noStrike" u="non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nse'</a:t>
            </a: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, </a:t>
            </a: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	</a:t>
            </a:r>
            <a:r>
              <a:rPr b="0" lang="en-US" sz="2800" strike="noStrike" u="non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values=</a:t>
            </a:r>
            <a:r>
              <a:rPr b="0" lang="en-US" sz="2800" strike="noStrike" u="non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'respon</a:t>
            </a:r>
            <a:r>
              <a:rPr b="0" lang="en-US" sz="2800" strike="noStrike" u="non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se_time</a:t>
            </a:r>
            <a:r>
              <a:rPr b="0" lang="en-US" sz="2800" strike="noStrike" u="non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', </a:t>
            </a:r>
            <a:r>
              <a:rPr b="0" lang="en-US" sz="2800" strike="noStrike" u="non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aggfunc</a:t>
            </a:r>
            <a:r>
              <a:rPr b="0" lang="en-US" sz="2800" strike="noStrike" u="non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='mean'</a:t>
            </a:r>
            <a:r>
              <a:rPr b="0" lang="en-US" sz="2800" strike="noStrike" u="non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,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)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1" name="Picture 46" descr=""/>
          <p:cNvPicPr/>
          <p:nvPr/>
        </p:nvPicPr>
        <p:blipFill>
          <a:blip r:embed="rId2"/>
          <a:stretch/>
        </p:blipFill>
        <p:spPr>
          <a:xfrm>
            <a:off x="6966000" y="3065400"/>
            <a:ext cx="2372040" cy="2460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2" name="Right Arrow 6"/>
          <p:cNvSpPr/>
          <p:nvPr/>
        </p:nvSpPr>
        <p:spPr>
          <a:xfrm>
            <a:off x="5818320" y="3867120"/>
            <a:ext cx="501120" cy="85788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CH" sz="1800" strike="noStrike" u="non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3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74"/>
          </p:nvPr>
        </p:nvSpPr>
        <p:spPr/>
        <p:txBody>
          <a:bodyPr/>
          <a:p>
            <a:fld id="{C7613DEE-1733-47A9-89C1-342FC3AEE128}" type="slidenum">
              <a:t>15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560" cy="90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Split-apply-combine: why this way?</a:t>
            </a:r>
            <a:endParaRPr b="0" lang="en-GB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PlaceHolder 2"/>
          <p:cNvSpPr>
            <a:spLocks noGrp="1"/>
          </p:cNvSpPr>
          <p:nvPr>
            <p:ph/>
          </p:nvPr>
        </p:nvSpPr>
        <p:spPr>
          <a:xfrm>
            <a:off x="720000" y="1502640"/>
            <a:ext cx="10512720" cy="4833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lnSpcReduction="9999"/>
          </a:bodyPr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trike="noStrike" u="non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GB" sz="28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You may think that this syntax is cumbersome and obscure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Maybe it would be better to do it like this: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(here screenshot of code showing separating by group and then iteration over rows in a for loop, with variables that sum cumulatively and finally divides by the number of observations… typical of code written in C.)</a:t>
            </a:r>
            <a:br>
              <a:rPr sz="2800"/>
            </a:br>
            <a:br>
              <a:rPr sz="2800"/>
            </a:br>
            <a:br>
              <a:rPr sz="2800"/>
            </a:b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 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Is there any difference? 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45" name="PlaceHolder 3"/>
          <p:cNvSpPr>
            <a:spLocks noGrp="1"/>
          </p:cNvSpPr>
          <p:nvPr>
            <p:ph type="dt" idx="127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6" name="TextBox 77"/>
          <p:cNvSpPr/>
          <p:nvPr/>
        </p:nvSpPr>
        <p:spPr>
          <a:xfrm>
            <a:off x="515520" y="1085760"/>
            <a:ext cx="1115820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2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df</a:t>
            </a:r>
            <a:r>
              <a:rPr b="0" lang="en-CH" sz="2800" strike="noStrike" u="non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.grou</a:t>
            </a:r>
            <a:r>
              <a:rPr b="0" lang="en-CH" sz="2800" strike="noStrike" u="non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pby(‘co</a:t>
            </a:r>
            <a:r>
              <a:rPr b="0" lang="en-CH" sz="2800" strike="noStrike" u="non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ndition</a:t>
            </a:r>
            <a:r>
              <a:rPr b="0" lang="en-CH" sz="2800" strike="noStrike" u="non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_id’)</a:t>
            </a:r>
            <a:r>
              <a:rPr b="0" lang="en-CH" sz="2800" strike="noStrike" u="non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[‘respo</a:t>
            </a:r>
            <a:r>
              <a:rPr b="0" lang="en-CH" sz="2800" strike="noStrike" u="non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nse_tim</a:t>
            </a:r>
            <a:r>
              <a:rPr b="0" lang="en-CH" sz="2800" strike="noStrike" u="non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e’].mea</a:t>
            </a:r>
            <a:r>
              <a:rPr b="0" lang="en-CH" sz="2800" strike="noStrike" u="non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n()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0AF83F74-B3AE-4F81-9E12-BDA1E19D3599}" type="slidenum">
              <a:t>16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Rectangle 3"/>
          <p:cNvSpPr/>
          <p:nvPr/>
        </p:nvSpPr>
        <p:spPr>
          <a:xfrm>
            <a:off x="7428240" y="205920"/>
            <a:ext cx="4536000" cy="98748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DE" sz="1800" strike="noStrike" u="none">
              <a:solidFill>
                <a:srgbClr val="000000"/>
              </a:solidFill>
              <a:effectLst/>
              <a:uFillTx/>
              <a:latin typeface="Courier New"/>
              <a:ea typeface="DejaVu Sans"/>
            </a:endParaRPr>
          </a:p>
        </p:txBody>
      </p:sp>
      <p:sp>
        <p:nvSpPr>
          <p:cNvPr id="348" name="PlaceHolder 1"/>
          <p:cNvSpPr>
            <a:spLocks noGrp="1"/>
          </p:cNvSpPr>
          <p:nvPr>
            <p:ph/>
          </p:nvPr>
        </p:nvSpPr>
        <p:spPr>
          <a:xfrm>
            <a:off x="838080" y="1340640"/>
            <a:ext cx="10512720" cy="4833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Explore which implementation is faster: </a:t>
            </a:r>
            <a:br>
              <a:rPr sz="2800"/>
            </a:b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split-apply-combine or for-loop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Vary the size of the input data (in log space?)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Generate some statistics or a plot that helps you visualize which implementation is faster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Submit a PR on</a:t>
            </a:r>
            <a:br>
              <a:rPr sz="2800"/>
            </a:b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git.aspp.school/ASPP/...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PlaceHolder 2"/>
          <p:cNvSpPr>
            <a:spLocks noGrp="1"/>
          </p:cNvSpPr>
          <p:nvPr>
            <p:ph type="dt" idx="128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0" name="TextBox 79"/>
          <p:cNvSpPr/>
          <p:nvPr/>
        </p:nvSpPr>
        <p:spPr>
          <a:xfrm>
            <a:off x="7930800" y="224640"/>
            <a:ext cx="1776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DE" sz="1800" strike="noStrike" u="non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Exercise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1" name="Graphic 9" descr=""/>
          <p:cNvPicPr/>
          <p:nvPr/>
        </p:nvPicPr>
        <p:blipFill>
          <a:blip r:embed="rId1"/>
          <a:stretch/>
        </p:blipFill>
        <p:spPr>
          <a:xfrm>
            <a:off x="7474680" y="273960"/>
            <a:ext cx="691560" cy="552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2" name="TextBox 80"/>
          <p:cNvSpPr/>
          <p:nvPr/>
        </p:nvSpPr>
        <p:spPr>
          <a:xfrm>
            <a:off x="8301960" y="542880"/>
            <a:ext cx="347976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exercises/</a:t>
            </a: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….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PlaceHolder 3"/>
          <p:cNvSpPr>
            <a:spLocks noGrp="1"/>
          </p:cNvSpPr>
          <p:nvPr>
            <p:ph type="title"/>
          </p:nvPr>
        </p:nvSpPr>
        <p:spPr>
          <a:xfrm>
            <a:off x="346680" y="365040"/>
            <a:ext cx="6895800" cy="950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 fontScale="70000" lnSpcReduction="19999"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44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Hands-on</a:t>
            </a:r>
            <a:br>
              <a:rPr sz="4400"/>
            </a:br>
            <a:endParaRPr b="0" lang="en-GB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02BFDA91-D473-44FD-B030-8193A1181DD3}" type="slidenum">
              <a:t>17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560" cy="90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Runtime split-apply-combine vs. for-loop</a:t>
            </a:r>
            <a:endParaRPr b="0" lang="en-GB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PlaceHolder 2"/>
          <p:cNvSpPr>
            <a:spLocks noGrp="1"/>
          </p:cNvSpPr>
          <p:nvPr>
            <p:ph/>
          </p:nvPr>
        </p:nvSpPr>
        <p:spPr>
          <a:xfrm>
            <a:off x="540000" y="1286640"/>
            <a:ext cx="10512720" cy="4833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(show here graph with runtime as a function of increasing N, for both types of implementations (in colors). Similar to the graphs of the first part of this data lecture)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trike="noStrike" u="non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Derive performance in O notation  for both examples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trike="noStrike" u="non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Conclusion: 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Don’t do for-loops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If you’re doing for-loops, you’re doing it wrong.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trike="noStrike" u="non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56" name="PlaceHolder 3"/>
          <p:cNvSpPr>
            <a:spLocks noGrp="1"/>
          </p:cNvSpPr>
          <p:nvPr>
            <p:ph type="dt" idx="129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E48172F0-B426-47FA-A5FE-70649E5FAD8C}" type="slidenum">
              <a:t>18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002551B2-1402-4508-8E3D-5DEBBC5A830F}" type="slidenum">
              <a:t>19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/>
          </p:cNvSpPr>
          <p:nvPr>
            <p:ph type="title"/>
          </p:nvPr>
        </p:nvSpPr>
        <p:spPr>
          <a:xfrm>
            <a:off x="838080" y="2709000"/>
            <a:ext cx="10512720" cy="900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54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Tidy Data</a:t>
            </a:r>
            <a:endParaRPr b="0" lang="en-GB" sz="5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PlaceHolder 2"/>
          <p:cNvSpPr>
            <a:spLocks noGrp="1"/>
          </p:cNvSpPr>
          <p:nvPr>
            <p:ph type="dt" idx="130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p>
            <a:fld id="{E30B61DC-D49F-4FEC-9D9F-9574F808D646}" type="slidenum">
              <a:t>20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560" cy="900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 fontScale="92500" lnSpcReduction="19999"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Same data, different organization</a:t>
            </a:r>
            <a:br>
              <a:rPr sz="4400"/>
            </a:br>
            <a:r>
              <a:rPr b="0" lang="en-CH" sz="44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Which one is best for data analysis?</a:t>
            </a:r>
            <a:endParaRPr b="0" lang="en-GB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PlaceHolder 2"/>
          <p:cNvSpPr>
            <a:spLocks noGrp="1"/>
          </p:cNvSpPr>
          <p:nvPr>
            <p:ph type="dt" idx="131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61" name="Picture 6" descr=""/>
          <p:cNvPicPr/>
          <p:nvPr/>
        </p:nvPicPr>
        <p:blipFill>
          <a:blip r:embed="rId1"/>
          <a:stretch/>
        </p:blipFill>
        <p:spPr>
          <a:xfrm>
            <a:off x="6527880" y="3078000"/>
            <a:ext cx="4366080" cy="1508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2" name="Picture 7" descr=""/>
          <p:cNvPicPr/>
          <p:nvPr/>
        </p:nvPicPr>
        <p:blipFill>
          <a:blip r:embed="rId2"/>
          <a:stretch/>
        </p:blipFill>
        <p:spPr>
          <a:xfrm>
            <a:off x="551520" y="2119320"/>
            <a:ext cx="5382000" cy="1254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3" name="Picture 8" descr=""/>
          <p:cNvPicPr/>
          <p:nvPr/>
        </p:nvPicPr>
        <p:blipFill>
          <a:blip r:embed="rId3"/>
          <a:stretch/>
        </p:blipFill>
        <p:spPr>
          <a:xfrm>
            <a:off x="2927520" y="3944160"/>
            <a:ext cx="2918160" cy="2270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p>
            <a:fld id="{0BFAC1E5-2228-4C04-8861-4A8F4C7B2E68}" type="slidenum">
              <a:t>21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560" cy="900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 fontScale="92500" lnSpcReduction="19999"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Same data, different organization</a:t>
            </a:r>
            <a:br>
              <a:rPr sz="4400"/>
            </a:br>
            <a:r>
              <a:rPr b="0" lang="en-CH" sz="44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Which one is best for data analysis?</a:t>
            </a:r>
            <a:endParaRPr b="0" lang="en-GB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PlaceHolder 2"/>
          <p:cNvSpPr>
            <a:spLocks noGrp="1"/>
          </p:cNvSpPr>
          <p:nvPr>
            <p:ph type="dt" idx="132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66" name="Picture 6" descr=""/>
          <p:cNvPicPr/>
          <p:nvPr/>
        </p:nvPicPr>
        <p:blipFill>
          <a:blip r:embed="rId1"/>
          <a:stretch/>
        </p:blipFill>
        <p:spPr>
          <a:xfrm>
            <a:off x="6527880" y="3078000"/>
            <a:ext cx="4366080" cy="1508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7" name="Picture 7" descr=""/>
          <p:cNvPicPr/>
          <p:nvPr/>
        </p:nvPicPr>
        <p:blipFill>
          <a:blip r:embed="rId2"/>
          <a:stretch/>
        </p:blipFill>
        <p:spPr>
          <a:xfrm>
            <a:off x="551520" y="2119320"/>
            <a:ext cx="5382000" cy="1254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8" name="Picture 8" descr=""/>
          <p:cNvPicPr/>
          <p:nvPr/>
        </p:nvPicPr>
        <p:blipFill>
          <a:blip r:embed="rId3"/>
          <a:stretch/>
        </p:blipFill>
        <p:spPr>
          <a:xfrm>
            <a:off x="2927520" y="3944160"/>
            <a:ext cx="2918160" cy="2270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9" name="TextBox 2"/>
          <p:cNvSpPr/>
          <p:nvPr/>
        </p:nvSpPr>
        <p:spPr>
          <a:xfrm>
            <a:off x="1620000" y="1772640"/>
            <a:ext cx="8640000" cy="3378240"/>
          </a:xfrm>
          <a:custGeom>
            <a:avLst/>
            <a:gdLst>
              <a:gd name="textAreaLeft" fmla="*/ 0 w 8640000"/>
              <a:gd name="textAreaRight" fmla="*/ 8643960 w 8640000"/>
              <a:gd name="textAreaTop" fmla="*/ 0 h 3378240"/>
              <a:gd name="textAreaBottom" fmla="*/ 3382200 h 3378240"/>
            </a:gdLst>
            <a:ahLst/>
            <a:cxnLst/>
            <a:rect l="textAreaLeft" t="textAreaTop" r="textAreaRight" b="textAreaBottom"/>
            <a:pathLst>
              <a:path fill="none" w="5712296" h="2308324">
                <a:moveTo>
                  <a:pt x="0" y="0"/>
                </a:moveTo>
                <a:cubicBezTo>
                  <a:pt x="170481" y="12395"/>
                  <a:pt x="474495" y="4923"/>
                  <a:pt x="691823" y="0"/>
                </a:cubicBezTo>
                <a:cubicBezTo>
                  <a:pt x="909151" y="-4923"/>
                  <a:pt x="1025161" y="11703"/>
                  <a:pt x="1155153" y="0"/>
                </a:cubicBezTo>
                <a:cubicBezTo>
                  <a:pt x="1285145" y="-11703"/>
                  <a:pt x="1576417" y="299"/>
                  <a:pt x="1732730" y="0"/>
                </a:cubicBezTo>
                <a:cubicBezTo>
                  <a:pt x="1889043" y="-299"/>
                  <a:pt x="2130093" y="16857"/>
                  <a:pt x="2481675" y="0"/>
                </a:cubicBezTo>
                <a:cubicBezTo>
                  <a:pt x="2833257" y="-16857"/>
                  <a:pt x="2873551" y="17793"/>
                  <a:pt x="3116375" y="0"/>
                </a:cubicBezTo>
                <a:cubicBezTo>
                  <a:pt x="3359199" y="-17793"/>
                  <a:pt x="3543615" y="15531"/>
                  <a:pt x="3808197" y="0"/>
                </a:cubicBezTo>
                <a:cubicBezTo>
                  <a:pt x="4072779" y="-15531"/>
                  <a:pt x="4244086" y="-26212"/>
                  <a:pt x="4385774" y="0"/>
                </a:cubicBezTo>
                <a:cubicBezTo>
                  <a:pt x="4527462" y="26212"/>
                  <a:pt x="4804411" y="-17362"/>
                  <a:pt x="5020473" y="0"/>
                </a:cubicBezTo>
                <a:cubicBezTo>
                  <a:pt x="5236535" y="17362"/>
                  <a:pt x="5483850" y="13915"/>
                  <a:pt x="5712296" y="0"/>
                </a:cubicBezTo>
                <a:cubicBezTo>
                  <a:pt x="5698337" y="227921"/>
                  <a:pt x="5726828" y="309662"/>
                  <a:pt x="5712296" y="530915"/>
                </a:cubicBezTo>
                <a:cubicBezTo>
                  <a:pt x="5697764" y="752169"/>
                  <a:pt x="5697572" y="832379"/>
                  <a:pt x="5712296" y="1038746"/>
                </a:cubicBezTo>
                <a:cubicBezTo>
                  <a:pt x="5727020" y="1245113"/>
                  <a:pt x="5718057" y="1350161"/>
                  <a:pt x="5712296" y="1569660"/>
                </a:cubicBezTo>
                <a:cubicBezTo>
                  <a:pt x="5706535" y="1789159"/>
                  <a:pt x="5715761" y="2034313"/>
                  <a:pt x="5712296" y="2308324"/>
                </a:cubicBezTo>
                <a:cubicBezTo>
                  <a:pt x="5427327" y="2287513"/>
                  <a:pt x="5344141" y="2327301"/>
                  <a:pt x="5077596" y="2308324"/>
                </a:cubicBezTo>
                <a:cubicBezTo>
                  <a:pt x="4811051" y="2289347"/>
                  <a:pt x="4588159" y="2292673"/>
                  <a:pt x="4442897" y="2308324"/>
                </a:cubicBezTo>
                <a:cubicBezTo>
                  <a:pt x="4297635" y="2323975"/>
                  <a:pt x="4142033" y="2304319"/>
                  <a:pt x="3922443" y="2308324"/>
                </a:cubicBezTo>
                <a:cubicBezTo>
                  <a:pt x="3702853" y="2312329"/>
                  <a:pt x="3448460" y="2301342"/>
                  <a:pt x="3287744" y="2308324"/>
                </a:cubicBezTo>
                <a:cubicBezTo>
                  <a:pt x="3127028" y="2315306"/>
                  <a:pt x="2908419" y="2286204"/>
                  <a:pt x="2653044" y="2308324"/>
                </a:cubicBezTo>
                <a:cubicBezTo>
                  <a:pt x="2397669" y="2330444"/>
                  <a:pt x="2181981" y="2338620"/>
                  <a:pt x="2018345" y="2308324"/>
                </a:cubicBezTo>
                <a:cubicBezTo>
                  <a:pt x="1854709" y="2278028"/>
                  <a:pt x="1523819" y="2337051"/>
                  <a:pt x="1383645" y="2308324"/>
                </a:cubicBezTo>
                <a:cubicBezTo>
                  <a:pt x="1243471" y="2279597"/>
                  <a:pt x="1031240" y="2304491"/>
                  <a:pt x="806068" y="2308324"/>
                </a:cubicBezTo>
                <a:cubicBezTo>
                  <a:pt x="580896" y="2312157"/>
                  <a:pt x="347967" y="2325492"/>
                  <a:pt x="0" y="2308324"/>
                </a:cubicBezTo>
                <a:cubicBezTo>
                  <a:pt x="9212" y="2185053"/>
                  <a:pt x="-17414" y="1970670"/>
                  <a:pt x="0" y="1731243"/>
                </a:cubicBezTo>
                <a:cubicBezTo>
                  <a:pt x="17414" y="1491816"/>
                  <a:pt x="-10325" y="1313911"/>
                  <a:pt x="0" y="1131079"/>
                </a:cubicBezTo>
                <a:cubicBezTo>
                  <a:pt x="10325" y="948247"/>
                  <a:pt x="-25330" y="680352"/>
                  <a:pt x="0" y="530915"/>
                </a:cubicBezTo>
                <a:cubicBezTo>
                  <a:pt x="25330" y="381478"/>
                  <a:pt x="12113" y="149989"/>
                  <a:pt x="0" y="0"/>
                </a:cubicBezTo>
                <a:close/>
              </a:path>
              <a:path stroke="0" w="5712296" h="2308324">
                <a:moveTo>
                  <a:pt x="0" y="0"/>
                </a:moveTo>
                <a:cubicBezTo>
                  <a:pt x="117366" y="12157"/>
                  <a:pt x="427981" y="-1654"/>
                  <a:pt x="577577" y="0"/>
                </a:cubicBezTo>
                <a:cubicBezTo>
                  <a:pt x="727173" y="1654"/>
                  <a:pt x="919785" y="-10211"/>
                  <a:pt x="1040907" y="0"/>
                </a:cubicBezTo>
                <a:cubicBezTo>
                  <a:pt x="1162029" y="10211"/>
                  <a:pt x="1577922" y="25650"/>
                  <a:pt x="1789853" y="0"/>
                </a:cubicBezTo>
                <a:cubicBezTo>
                  <a:pt x="2001784" y="-25650"/>
                  <a:pt x="2188209" y="-24222"/>
                  <a:pt x="2367429" y="0"/>
                </a:cubicBezTo>
                <a:cubicBezTo>
                  <a:pt x="2546649" y="24222"/>
                  <a:pt x="2756192" y="-23950"/>
                  <a:pt x="2945006" y="0"/>
                </a:cubicBezTo>
                <a:cubicBezTo>
                  <a:pt x="3133820" y="23950"/>
                  <a:pt x="3433459" y="-33367"/>
                  <a:pt x="3693951" y="0"/>
                </a:cubicBezTo>
                <a:cubicBezTo>
                  <a:pt x="3954443" y="33367"/>
                  <a:pt x="4032117" y="-813"/>
                  <a:pt x="4214405" y="0"/>
                </a:cubicBezTo>
                <a:cubicBezTo>
                  <a:pt x="4396693" y="813"/>
                  <a:pt x="4790380" y="18167"/>
                  <a:pt x="4963351" y="0"/>
                </a:cubicBezTo>
                <a:cubicBezTo>
                  <a:pt x="5136322" y="-18167"/>
                  <a:pt x="5355621" y="-34473"/>
                  <a:pt x="5712296" y="0"/>
                </a:cubicBezTo>
                <a:cubicBezTo>
                  <a:pt x="5703245" y="275623"/>
                  <a:pt x="5730046" y="433797"/>
                  <a:pt x="5712296" y="577081"/>
                </a:cubicBezTo>
                <a:cubicBezTo>
                  <a:pt x="5694546" y="720365"/>
                  <a:pt x="5706106" y="925832"/>
                  <a:pt x="5712296" y="1154162"/>
                </a:cubicBezTo>
                <a:cubicBezTo>
                  <a:pt x="5718486" y="1382492"/>
                  <a:pt x="5707131" y="1562931"/>
                  <a:pt x="5712296" y="1754326"/>
                </a:cubicBezTo>
                <a:cubicBezTo>
                  <a:pt x="5717461" y="1945721"/>
                  <a:pt x="5715860" y="2077979"/>
                  <a:pt x="5712296" y="2308324"/>
                </a:cubicBezTo>
                <a:cubicBezTo>
                  <a:pt x="5577581" y="2308670"/>
                  <a:pt x="5224458" y="2290918"/>
                  <a:pt x="5077596" y="2308324"/>
                </a:cubicBezTo>
                <a:cubicBezTo>
                  <a:pt x="4930734" y="2325730"/>
                  <a:pt x="4790654" y="2322770"/>
                  <a:pt x="4557143" y="2308324"/>
                </a:cubicBezTo>
                <a:cubicBezTo>
                  <a:pt x="4323632" y="2293878"/>
                  <a:pt x="4066460" y="2312216"/>
                  <a:pt x="3922443" y="2308324"/>
                </a:cubicBezTo>
                <a:cubicBezTo>
                  <a:pt x="3778426" y="2304432"/>
                  <a:pt x="3352455" y="2286696"/>
                  <a:pt x="3173498" y="2308324"/>
                </a:cubicBezTo>
                <a:cubicBezTo>
                  <a:pt x="2994541" y="2329952"/>
                  <a:pt x="2709991" y="2308489"/>
                  <a:pt x="2538798" y="2308324"/>
                </a:cubicBezTo>
                <a:cubicBezTo>
                  <a:pt x="2367605" y="2308159"/>
                  <a:pt x="2190477" y="2285762"/>
                  <a:pt x="2075468" y="2308324"/>
                </a:cubicBezTo>
                <a:cubicBezTo>
                  <a:pt x="1960459" y="2330887"/>
                  <a:pt x="1781938" y="2316511"/>
                  <a:pt x="1555014" y="2308324"/>
                </a:cubicBezTo>
                <a:cubicBezTo>
                  <a:pt x="1328090" y="2300137"/>
                  <a:pt x="978738" y="2284534"/>
                  <a:pt x="806068" y="2308324"/>
                </a:cubicBezTo>
                <a:cubicBezTo>
                  <a:pt x="633398" y="2332114"/>
                  <a:pt x="358206" y="2331133"/>
                  <a:pt x="0" y="2308324"/>
                </a:cubicBezTo>
                <a:cubicBezTo>
                  <a:pt x="-23618" y="2154219"/>
                  <a:pt x="18177" y="1906591"/>
                  <a:pt x="0" y="1777409"/>
                </a:cubicBezTo>
                <a:cubicBezTo>
                  <a:pt x="-18177" y="1648228"/>
                  <a:pt x="-9736" y="1356449"/>
                  <a:pt x="0" y="1223412"/>
                </a:cubicBezTo>
                <a:cubicBezTo>
                  <a:pt x="9736" y="1090375"/>
                  <a:pt x="16833" y="862591"/>
                  <a:pt x="0" y="715580"/>
                </a:cubicBezTo>
                <a:cubicBezTo>
                  <a:pt x="-16833" y="568569"/>
                  <a:pt x="13966" y="290526"/>
                  <a:pt x="0" y="0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 w="381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CH" sz="36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What do we want?</a:t>
            </a:r>
            <a:endParaRPr b="0" lang="en-GB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GB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1" lang="en-CH" sz="36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We want data to be in a natural format, such that we can make use of the optimizations already built in the library</a:t>
            </a:r>
            <a:endParaRPr b="0" lang="en-GB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1" lang="en-CH" sz="36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(as we have already seen)</a:t>
            </a:r>
            <a:endParaRPr b="0" lang="en-GB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p>
            <a:fld id="{3C356D3E-36E3-4F2C-9452-AE010EB204E8}" type="slidenum">
              <a:t>22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560" cy="900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Tidy data</a:t>
            </a:r>
            <a:endParaRPr b="0" lang="en-GB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PlaceHolder 2"/>
          <p:cNvSpPr>
            <a:spLocks noGrp="1"/>
          </p:cNvSpPr>
          <p:nvPr>
            <p:ph type="dt" idx="133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72" name="Table 8"/>
          <p:cNvGraphicFramePr/>
          <p:nvPr/>
        </p:nvGraphicFramePr>
        <p:xfrm>
          <a:off x="2905200" y="2988000"/>
          <a:ext cx="6119640" cy="1664280"/>
        </p:xfrm>
        <a:graphic>
          <a:graphicData uri="http://schemas.openxmlformats.org/drawingml/2006/table">
            <a:tbl>
              <a:tblPr/>
              <a:tblGrid>
                <a:gridCol w="1224000"/>
                <a:gridCol w="1368000"/>
                <a:gridCol w="864000"/>
                <a:gridCol w="1152000"/>
                <a:gridCol w="1512000"/>
              </a:tblGrid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Subject ID </a:t>
                      </a:r>
                      <a:endParaRPr b="0" lang="en-GB" sz="18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Condition ID</a:t>
                      </a:r>
                      <a:endParaRPr b="0" lang="en-GB" sz="18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Trial nr</a:t>
                      </a:r>
                      <a:endParaRPr b="0" lang="en-GB" sz="18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Response time (ms)</a:t>
                      </a:r>
                      <a:endParaRPr b="0" lang="en-GB" sz="18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Response</a:t>
                      </a:r>
                      <a:endParaRPr b="0" lang="en-GB" sz="18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6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VM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732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2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28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LEFT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VM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732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3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41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RIGHT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PB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665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1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73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LEFT</a:t>
                      </a:r>
                      <a:endParaRPr b="0" lang="en-GB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373" name="TextBox 10"/>
          <p:cNvSpPr/>
          <p:nvPr/>
        </p:nvSpPr>
        <p:spPr>
          <a:xfrm>
            <a:off x="2764080" y="2329560"/>
            <a:ext cx="640008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CH" sz="2800" strike="noStrike" u="none">
                <a:solidFill>
                  <a:schemeClr val="accent6"/>
                </a:solidFill>
                <a:effectLst/>
                <a:uFillTx/>
                <a:latin typeface="Calibri"/>
                <a:ea typeface="DejaVu Sans"/>
              </a:rPr>
              <a:t>Variables (or features, attributes)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TextBox 11"/>
          <p:cNvSpPr/>
          <p:nvPr/>
        </p:nvSpPr>
        <p:spPr>
          <a:xfrm rot="16200000">
            <a:off x="708480" y="3471480"/>
            <a:ext cx="2372400" cy="9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CH" sz="2800" strike="noStrike" u="none">
                <a:solidFill>
                  <a:schemeClr val="accent5"/>
                </a:solidFill>
                <a:effectLst/>
                <a:uFillTx/>
                <a:latin typeface="Calibri"/>
                <a:ea typeface="DejaVu Sans"/>
              </a:rPr>
              <a:t>Observations (or samples)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Box 12"/>
          <p:cNvSpPr/>
          <p:nvPr/>
        </p:nvSpPr>
        <p:spPr>
          <a:xfrm>
            <a:off x="4223880" y="311400"/>
            <a:ext cx="6549840" cy="1916280"/>
          </a:xfrm>
          <a:custGeom>
            <a:avLst/>
            <a:gdLst>
              <a:gd name="textAreaLeft" fmla="*/ 0 w 6549840"/>
              <a:gd name="textAreaRight" fmla="*/ 6552720 w 6549840"/>
              <a:gd name="textAreaTop" fmla="*/ 0 h 1916280"/>
              <a:gd name="textAreaBottom" fmla="*/ 1919160 h 1916280"/>
            </a:gdLst>
            <a:ahLst/>
            <a:cxnLst/>
            <a:rect l="textAreaLeft" t="textAreaTop" r="textAreaRight" b="textAreaBottom"/>
            <a:pathLst>
              <a:path fill="none" w="6552728" h="1569660">
                <a:moveTo>
                  <a:pt x="0" y="0"/>
                </a:moveTo>
                <a:cubicBezTo>
                  <a:pt x="166419" y="-423"/>
                  <a:pt x="359212" y="-15014"/>
                  <a:pt x="524218" y="0"/>
                </a:cubicBezTo>
                <a:cubicBezTo>
                  <a:pt x="689224" y="15014"/>
                  <a:pt x="788676" y="-4207"/>
                  <a:pt x="1048436" y="0"/>
                </a:cubicBezTo>
                <a:cubicBezTo>
                  <a:pt x="1308196" y="4207"/>
                  <a:pt x="1291664" y="14801"/>
                  <a:pt x="1507127" y="0"/>
                </a:cubicBezTo>
                <a:cubicBezTo>
                  <a:pt x="1722590" y="-14801"/>
                  <a:pt x="1966041" y="7224"/>
                  <a:pt x="2293455" y="0"/>
                </a:cubicBezTo>
                <a:cubicBezTo>
                  <a:pt x="2620869" y="-7224"/>
                  <a:pt x="2527916" y="10517"/>
                  <a:pt x="2752146" y="0"/>
                </a:cubicBezTo>
                <a:cubicBezTo>
                  <a:pt x="2976376" y="-10517"/>
                  <a:pt x="3162926" y="28823"/>
                  <a:pt x="3472946" y="0"/>
                </a:cubicBezTo>
                <a:cubicBezTo>
                  <a:pt x="3782966" y="-28823"/>
                  <a:pt x="3740348" y="15487"/>
                  <a:pt x="3931637" y="0"/>
                </a:cubicBezTo>
                <a:cubicBezTo>
                  <a:pt x="4122926" y="-15487"/>
                  <a:pt x="4292237" y="-19151"/>
                  <a:pt x="4652437" y="0"/>
                </a:cubicBezTo>
                <a:cubicBezTo>
                  <a:pt x="5012637" y="19151"/>
                  <a:pt x="5176641" y="-9385"/>
                  <a:pt x="5307710" y="0"/>
                </a:cubicBezTo>
                <a:cubicBezTo>
                  <a:pt x="5438779" y="9385"/>
                  <a:pt x="5635367" y="24036"/>
                  <a:pt x="5831928" y="0"/>
                </a:cubicBezTo>
                <a:cubicBezTo>
                  <a:pt x="6028489" y="-24036"/>
                  <a:pt x="6315045" y="-1572"/>
                  <a:pt x="6552728" y="0"/>
                </a:cubicBezTo>
                <a:cubicBezTo>
                  <a:pt x="6578896" y="167135"/>
                  <a:pt x="6545030" y="433517"/>
                  <a:pt x="6552728" y="554613"/>
                </a:cubicBezTo>
                <a:cubicBezTo>
                  <a:pt x="6560426" y="675709"/>
                  <a:pt x="6558548" y="796698"/>
                  <a:pt x="6552728" y="1030743"/>
                </a:cubicBezTo>
                <a:cubicBezTo>
                  <a:pt x="6546909" y="1264788"/>
                  <a:pt x="6548253" y="1346613"/>
                  <a:pt x="6552728" y="1569660"/>
                </a:cubicBezTo>
                <a:cubicBezTo>
                  <a:pt x="6306048" y="1578089"/>
                  <a:pt x="6257480" y="1588739"/>
                  <a:pt x="6028510" y="1569660"/>
                </a:cubicBezTo>
                <a:cubicBezTo>
                  <a:pt x="5799540" y="1550581"/>
                  <a:pt x="5750000" y="1549130"/>
                  <a:pt x="5569819" y="1569660"/>
                </a:cubicBezTo>
                <a:cubicBezTo>
                  <a:pt x="5389638" y="1590190"/>
                  <a:pt x="5109329" y="1543701"/>
                  <a:pt x="4849019" y="1569660"/>
                </a:cubicBezTo>
                <a:cubicBezTo>
                  <a:pt x="4588709" y="1595619"/>
                  <a:pt x="4435227" y="1569163"/>
                  <a:pt x="4259273" y="1569660"/>
                </a:cubicBezTo>
                <a:cubicBezTo>
                  <a:pt x="4083319" y="1570157"/>
                  <a:pt x="3776601" y="1572099"/>
                  <a:pt x="3538473" y="1569660"/>
                </a:cubicBezTo>
                <a:cubicBezTo>
                  <a:pt x="3300345" y="1567221"/>
                  <a:pt x="3220535" y="1563996"/>
                  <a:pt x="3014255" y="1569660"/>
                </a:cubicBezTo>
                <a:cubicBezTo>
                  <a:pt x="2807975" y="1575324"/>
                  <a:pt x="2680474" y="1586876"/>
                  <a:pt x="2555564" y="1569660"/>
                </a:cubicBezTo>
                <a:cubicBezTo>
                  <a:pt x="2430654" y="1552444"/>
                  <a:pt x="1981924" y="1555011"/>
                  <a:pt x="1834764" y="1569660"/>
                </a:cubicBezTo>
                <a:cubicBezTo>
                  <a:pt x="1687604" y="1584309"/>
                  <a:pt x="1504110" y="1589358"/>
                  <a:pt x="1179491" y="1569660"/>
                </a:cubicBezTo>
                <a:cubicBezTo>
                  <a:pt x="854872" y="1549962"/>
                  <a:pt x="497714" y="1555029"/>
                  <a:pt x="0" y="1569660"/>
                </a:cubicBezTo>
                <a:cubicBezTo>
                  <a:pt x="-16176" y="1418876"/>
                  <a:pt x="23450" y="1211321"/>
                  <a:pt x="0" y="1046440"/>
                </a:cubicBezTo>
                <a:cubicBezTo>
                  <a:pt x="-23450" y="881559"/>
                  <a:pt x="-10584" y="681472"/>
                  <a:pt x="0" y="523220"/>
                </a:cubicBezTo>
                <a:cubicBezTo>
                  <a:pt x="10584" y="364968"/>
                  <a:pt x="8015" y="138700"/>
                  <a:pt x="0" y="0"/>
                </a:cubicBezTo>
                <a:close/>
              </a:path>
              <a:path stroke="0" w="6552728" h="1569660">
                <a:moveTo>
                  <a:pt x="0" y="0"/>
                </a:moveTo>
                <a:cubicBezTo>
                  <a:pt x="237273" y="21323"/>
                  <a:pt x="373062" y="16468"/>
                  <a:pt x="655273" y="0"/>
                </a:cubicBezTo>
                <a:cubicBezTo>
                  <a:pt x="937484" y="-16468"/>
                  <a:pt x="1225304" y="39289"/>
                  <a:pt x="1441600" y="0"/>
                </a:cubicBezTo>
                <a:cubicBezTo>
                  <a:pt x="1657896" y="-39289"/>
                  <a:pt x="1832535" y="-1542"/>
                  <a:pt x="2162400" y="0"/>
                </a:cubicBezTo>
                <a:cubicBezTo>
                  <a:pt x="2492265" y="1542"/>
                  <a:pt x="2728296" y="17429"/>
                  <a:pt x="2883200" y="0"/>
                </a:cubicBezTo>
                <a:cubicBezTo>
                  <a:pt x="3038104" y="-17429"/>
                  <a:pt x="3204829" y="7231"/>
                  <a:pt x="3472946" y="0"/>
                </a:cubicBezTo>
                <a:cubicBezTo>
                  <a:pt x="3741063" y="-7231"/>
                  <a:pt x="3807774" y="-16854"/>
                  <a:pt x="4062691" y="0"/>
                </a:cubicBezTo>
                <a:cubicBezTo>
                  <a:pt x="4317608" y="16854"/>
                  <a:pt x="4387418" y="-764"/>
                  <a:pt x="4521382" y="0"/>
                </a:cubicBezTo>
                <a:cubicBezTo>
                  <a:pt x="4655346" y="764"/>
                  <a:pt x="5016904" y="5362"/>
                  <a:pt x="5242182" y="0"/>
                </a:cubicBezTo>
                <a:cubicBezTo>
                  <a:pt x="5467460" y="-5362"/>
                  <a:pt x="5478829" y="3331"/>
                  <a:pt x="5700873" y="0"/>
                </a:cubicBezTo>
                <a:cubicBezTo>
                  <a:pt x="5922917" y="-3331"/>
                  <a:pt x="6214951" y="-10856"/>
                  <a:pt x="6552728" y="0"/>
                </a:cubicBezTo>
                <a:cubicBezTo>
                  <a:pt x="6548587" y="175294"/>
                  <a:pt x="6536344" y="339906"/>
                  <a:pt x="6552728" y="554613"/>
                </a:cubicBezTo>
                <a:cubicBezTo>
                  <a:pt x="6569112" y="769320"/>
                  <a:pt x="6539640" y="886963"/>
                  <a:pt x="6552728" y="1093530"/>
                </a:cubicBezTo>
                <a:cubicBezTo>
                  <a:pt x="6565816" y="1300097"/>
                  <a:pt x="6544049" y="1466238"/>
                  <a:pt x="6552728" y="1569660"/>
                </a:cubicBezTo>
                <a:cubicBezTo>
                  <a:pt x="6206451" y="1573109"/>
                  <a:pt x="6114152" y="1560077"/>
                  <a:pt x="5766401" y="1569660"/>
                </a:cubicBezTo>
                <a:cubicBezTo>
                  <a:pt x="5418650" y="1579243"/>
                  <a:pt x="5424681" y="1583451"/>
                  <a:pt x="5176655" y="1569660"/>
                </a:cubicBezTo>
                <a:cubicBezTo>
                  <a:pt x="4928629" y="1555869"/>
                  <a:pt x="4667278" y="1597241"/>
                  <a:pt x="4521382" y="1569660"/>
                </a:cubicBezTo>
                <a:cubicBezTo>
                  <a:pt x="4375486" y="1542079"/>
                  <a:pt x="4101707" y="1581799"/>
                  <a:pt x="3931637" y="1569660"/>
                </a:cubicBezTo>
                <a:cubicBezTo>
                  <a:pt x="3761568" y="1557521"/>
                  <a:pt x="3579898" y="1585538"/>
                  <a:pt x="3472946" y="1569660"/>
                </a:cubicBezTo>
                <a:cubicBezTo>
                  <a:pt x="3365994" y="1553782"/>
                  <a:pt x="3009255" y="1569223"/>
                  <a:pt x="2817673" y="1569660"/>
                </a:cubicBezTo>
                <a:cubicBezTo>
                  <a:pt x="2626091" y="1570097"/>
                  <a:pt x="2440158" y="1559255"/>
                  <a:pt x="2227928" y="1569660"/>
                </a:cubicBezTo>
                <a:cubicBezTo>
                  <a:pt x="2015699" y="1580065"/>
                  <a:pt x="1923066" y="1581389"/>
                  <a:pt x="1703709" y="1569660"/>
                </a:cubicBezTo>
                <a:cubicBezTo>
                  <a:pt x="1484352" y="1557931"/>
                  <a:pt x="1166821" y="1567437"/>
                  <a:pt x="982909" y="1569660"/>
                </a:cubicBezTo>
                <a:cubicBezTo>
                  <a:pt x="798997" y="1571883"/>
                  <a:pt x="248179" y="1599336"/>
                  <a:pt x="0" y="1569660"/>
                </a:cubicBezTo>
                <a:cubicBezTo>
                  <a:pt x="-3033" y="1415200"/>
                  <a:pt x="21133" y="1186207"/>
                  <a:pt x="0" y="1062137"/>
                </a:cubicBezTo>
                <a:cubicBezTo>
                  <a:pt x="-21133" y="938067"/>
                  <a:pt x="11829" y="822262"/>
                  <a:pt x="0" y="586006"/>
                </a:cubicBezTo>
                <a:cubicBezTo>
                  <a:pt x="-11829" y="349750"/>
                  <a:pt x="16853" y="271378"/>
                  <a:pt x="0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381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CMR10"/>
                <a:ea typeface="DejaVu Sans"/>
              </a:rPr>
              <a:t>In tidy data: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CMR10"/>
                <a:ea typeface="DejaVu Sans"/>
              </a:rPr>
              <a:t>1. Each variable forms a column</a:t>
            </a:r>
            <a:br>
              <a:rPr sz="2400"/>
            </a:b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CMR10"/>
                <a:ea typeface="DejaVu Sans"/>
              </a:rPr>
              <a:t>2. Each observation forms a row</a:t>
            </a:r>
            <a:br>
              <a:rPr sz="2400"/>
            </a:b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CMR10"/>
                <a:ea typeface="DejaVu Sans"/>
              </a:rPr>
              <a:t>3. Each type of observational unit forms a table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Box 13"/>
          <p:cNvSpPr/>
          <p:nvPr/>
        </p:nvSpPr>
        <p:spPr>
          <a:xfrm>
            <a:off x="1050120" y="5146560"/>
            <a:ext cx="293508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CH" sz="1800" strike="noStrike" u="none">
                <a:solidFill>
                  <a:schemeClr val="accent5">
                    <a:lumMod val="75000"/>
                  </a:schemeClr>
                </a:solidFill>
                <a:effectLst/>
                <a:uFillTx/>
                <a:latin typeface="Calibri"/>
                <a:ea typeface="DejaVu Sans"/>
              </a:rPr>
              <a:t>Observations</a:t>
            </a:r>
            <a:r>
              <a:rPr b="0" lang="en-CH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 increase when new units (dates, subjects, …) are measured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Box 9"/>
          <p:cNvSpPr/>
          <p:nvPr/>
        </p:nvSpPr>
        <p:spPr>
          <a:xfrm>
            <a:off x="9388800" y="2387880"/>
            <a:ext cx="23932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CH" sz="1800" strike="noStrike" u="none">
                <a:solidFill>
                  <a:schemeClr val="accent6"/>
                </a:solidFill>
                <a:effectLst/>
                <a:uFillTx/>
                <a:latin typeface="Calibri"/>
                <a:ea typeface="DejaVu Sans"/>
              </a:rPr>
              <a:t>Variables</a:t>
            </a:r>
            <a:r>
              <a:rPr b="0" lang="en-CH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 increase when new types of measurements are introduced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p>
            <a:fld id="{E56F01C9-79A4-4A2E-8FBE-7C4D387B6F2B}" type="slidenum">
              <a:t>23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560" cy="900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Hands-on</a:t>
            </a:r>
            <a:endParaRPr b="0" lang="en-GB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PlaceHolder 2"/>
          <p:cNvSpPr>
            <a:spLocks noGrp="1"/>
          </p:cNvSpPr>
          <p:nvPr>
            <p:ph type="dt" idx="134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0" name="TextBox 13"/>
          <p:cNvSpPr/>
          <p:nvPr/>
        </p:nvSpPr>
        <p:spPr>
          <a:xfrm>
            <a:off x="386280" y="850680"/>
            <a:ext cx="597384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Identify variables, observations, and values. What would a tidy version look like?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Rectangle 1"/>
          <p:cNvSpPr/>
          <p:nvPr/>
        </p:nvSpPr>
        <p:spPr>
          <a:xfrm>
            <a:off x="11052360" y="205920"/>
            <a:ext cx="825120" cy="69984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DE" sz="1800" strike="noStrike" u="none">
              <a:solidFill>
                <a:srgbClr val="000000"/>
              </a:solidFill>
              <a:effectLst/>
              <a:uFillTx/>
              <a:latin typeface="Courier New"/>
              <a:ea typeface="DejaVu Sans"/>
            </a:endParaRPr>
          </a:p>
        </p:txBody>
      </p:sp>
      <p:pic>
        <p:nvPicPr>
          <p:cNvPr id="382" name="Graphic 11" descr=""/>
          <p:cNvPicPr/>
          <p:nvPr/>
        </p:nvPicPr>
        <p:blipFill>
          <a:blip r:embed="rId1"/>
          <a:stretch/>
        </p:blipFill>
        <p:spPr>
          <a:xfrm>
            <a:off x="11119320" y="279720"/>
            <a:ext cx="691560" cy="552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3" name="Picture 12" descr=""/>
          <p:cNvPicPr/>
          <p:nvPr/>
        </p:nvPicPr>
        <p:blipFill>
          <a:blip r:embed="rId2"/>
          <a:stretch/>
        </p:blipFill>
        <p:spPr>
          <a:xfrm>
            <a:off x="318600" y="2106360"/>
            <a:ext cx="7769520" cy="3672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p>
            <a:fld id="{FC37C0C9-764A-4EB2-B4D3-E39E62FD4D0F}" type="slidenum">
              <a:t>24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560" cy="900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Hands-on</a:t>
            </a:r>
            <a:endParaRPr b="0" lang="en-GB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PlaceHolder 2"/>
          <p:cNvSpPr>
            <a:spLocks noGrp="1"/>
          </p:cNvSpPr>
          <p:nvPr>
            <p:ph type="dt" idx="135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86" name="Picture 7" descr=""/>
          <p:cNvPicPr/>
          <p:nvPr/>
        </p:nvPicPr>
        <p:blipFill>
          <a:blip r:embed="rId1"/>
          <a:stretch/>
        </p:blipFill>
        <p:spPr>
          <a:xfrm>
            <a:off x="318600" y="2106360"/>
            <a:ext cx="7769520" cy="3672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7" name="TextBox 13"/>
          <p:cNvSpPr/>
          <p:nvPr/>
        </p:nvSpPr>
        <p:spPr>
          <a:xfrm>
            <a:off x="386280" y="850680"/>
            <a:ext cx="597384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Identify variables, observations, and values. What would a tidy version look like?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8" name="Picture 14" descr=""/>
          <p:cNvPicPr/>
          <p:nvPr/>
        </p:nvPicPr>
        <p:blipFill>
          <a:blip r:embed="rId2"/>
          <a:stretch/>
        </p:blipFill>
        <p:spPr>
          <a:xfrm>
            <a:off x="8256240" y="2106360"/>
            <a:ext cx="3474000" cy="3264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9" name="Rectangle 1"/>
          <p:cNvSpPr/>
          <p:nvPr/>
        </p:nvSpPr>
        <p:spPr>
          <a:xfrm>
            <a:off x="11052360" y="205920"/>
            <a:ext cx="825120" cy="69984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DE" sz="1800" strike="noStrike" u="none">
              <a:solidFill>
                <a:srgbClr val="000000"/>
              </a:solidFill>
              <a:effectLst/>
              <a:uFillTx/>
              <a:latin typeface="Courier New"/>
              <a:ea typeface="DejaVu Sans"/>
            </a:endParaRPr>
          </a:p>
        </p:txBody>
      </p:sp>
      <p:pic>
        <p:nvPicPr>
          <p:cNvPr id="390" name="Graphic 11" descr=""/>
          <p:cNvPicPr/>
          <p:nvPr/>
        </p:nvPicPr>
        <p:blipFill>
          <a:blip r:embed="rId3"/>
          <a:stretch/>
        </p:blipFill>
        <p:spPr>
          <a:xfrm>
            <a:off x="11119320" y="279720"/>
            <a:ext cx="691560" cy="552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p>
            <a:fld id="{D5BFD2F0-4225-43B8-AEBF-066FDF437F23}" type="slidenum">
              <a:t>25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560" cy="900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Messy data</a:t>
            </a:r>
            <a:endParaRPr b="0" lang="en-GB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PlaceHolder 2"/>
          <p:cNvSpPr>
            <a:spLocks noGrp="1"/>
          </p:cNvSpPr>
          <p:nvPr>
            <p:ph type="dt" idx="136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3" name="TextBox 6"/>
          <p:cNvSpPr/>
          <p:nvPr/>
        </p:nvSpPr>
        <p:spPr>
          <a:xfrm>
            <a:off x="6879600" y="244080"/>
            <a:ext cx="4893840" cy="1552680"/>
          </a:xfrm>
          <a:prstGeom prst="rect">
            <a:avLst/>
          </a:prstGeom>
          <a:solidFill>
            <a:srgbClr val="f20000">
              <a:alpha val="9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i="1" lang="en-US" sz="2400" strike="noStrike" u="none">
                <a:solidFill>
                  <a:srgbClr val="000000"/>
                </a:solidFill>
                <a:effectLst/>
                <a:uFillTx/>
                <a:latin typeface="Baskerville"/>
                <a:ea typeface="Baskerville"/>
              </a:rPr>
              <a:t>“Tidy datasets are all alike but every messy dataset is messy in its own way” </a:t>
            </a:r>
            <a:br>
              <a:rPr sz="2400"/>
            </a:br>
            <a:r>
              <a:rPr b="0" i="1" lang="en-US" sz="2400" strike="noStrike" u="none">
                <a:solidFill>
                  <a:srgbClr val="000000"/>
                </a:solidFill>
                <a:effectLst/>
                <a:uFillTx/>
                <a:latin typeface="Baskerville"/>
                <a:ea typeface="Baskerville"/>
              </a:rPr>
              <a:t>– Hadley Wickham</a:t>
            </a:r>
            <a:endParaRPr b="0" lang="en-GB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94" name="Picture 8" descr=""/>
          <p:cNvPicPr/>
          <p:nvPr/>
        </p:nvPicPr>
        <p:blipFill>
          <a:blip r:embed="rId1"/>
          <a:stretch/>
        </p:blipFill>
        <p:spPr>
          <a:xfrm>
            <a:off x="3647880" y="4149000"/>
            <a:ext cx="2074680" cy="1683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5" name="TextBox 9"/>
          <p:cNvSpPr/>
          <p:nvPr/>
        </p:nvSpPr>
        <p:spPr>
          <a:xfrm>
            <a:off x="3594600" y="2889360"/>
            <a:ext cx="172548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Column headers are values, not variable names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TextBox 10"/>
          <p:cNvSpPr/>
          <p:nvPr/>
        </p:nvSpPr>
        <p:spPr>
          <a:xfrm>
            <a:off x="5254200" y="3182400"/>
            <a:ext cx="92700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4000" strike="noStrike" u="none">
                <a:solidFill>
                  <a:srgbClr val="1f1f1f"/>
                </a:solidFill>
                <a:effectLst/>
                <a:highlight>
                  <a:srgbClr val="ffffff"/>
                </a:highlight>
                <a:uFillTx/>
                <a:latin typeface="Google Sans"/>
                <a:ea typeface="DejaVu Sans"/>
              </a:rPr>
              <a:t>😱 </a:t>
            </a:r>
            <a:endParaRPr b="0" lang="en-GB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7" name="Picture 11" descr=""/>
          <p:cNvPicPr/>
          <p:nvPr/>
        </p:nvPicPr>
        <p:blipFill>
          <a:blip r:embed="rId2"/>
          <a:stretch/>
        </p:blipFill>
        <p:spPr>
          <a:xfrm>
            <a:off x="565200" y="2919600"/>
            <a:ext cx="2522520" cy="2349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8" name="TextBox 12"/>
          <p:cNvSpPr/>
          <p:nvPr/>
        </p:nvSpPr>
        <p:spPr>
          <a:xfrm>
            <a:off x="542880" y="1756440"/>
            <a:ext cx="195012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Variables are stored in both rows and columns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Box 13"/>
          <p:cNvSpPr/>
          <p:nvPr/>
        </p:nvSpPr>
        <p:spPr>
          <a:xfrm>
            <a:off x="2376720" y="2012040"/>
            <a:ext cx="92700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4000" strike="noStrike" u="none">
                <a:solidFill>
                  <a:srgbClr val="1f1f1f"/>
                </a:solidFill>
                <a:effectLst/>
                <a:highlight>
                  <a:srgbClr val="ffffff"/>
                </a:highlight>
                <a:uFillTx/>
                <a:latin typeface="Google Sans"/>
                <a:ea typeface="DejaVu Sans"/>
              </a:rPr>
              <a:t>😱 </a:t>
            </a:r>
            <a:endParaRPr b="0" lang="en-GB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0" name="Picture 14" descr=""/>
          <p:cNvPicPr/>
          <p:nvPr/>
        </p:nvPicPr>
        <p:blipFill>
          <a:blip r:embed="rId3"/>
          <a:stretch/>
        </p:blipFill>
        <p:spPr>
          <a:xfrm>
            <a:off x="9230040" y="3901320"/>
            <a:ext cx="2231280" cy="217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1" name="TextBox 15"/>
          <p:cNvSpPr/>
          <p:nvPr/>
        </p:nvSpPr>
        <p:spPr>
          <a:xfrm>
            <a:off x="9227880" y="2710440"/>
            <a:ext cx="190548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Multiple variables are stored in one column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Box 16"/>
          <p:cNvSpPr/>
          <p:nvPr/>
        </p:nvSpPr>
        <p:spPr>
          <a:xfrm>
            <a:off x="11044800" y="2879280"/>
            <a:ext cx="92700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4000" strike="noStrike" u="none">
                <a:solidFill>
                  <a:srgbClr val="1f1f1f"/>
                </a:solidFill>
                <a:effectLst/>
                <a:highlight>
                  <a:srgbClr val="ffffff"/>
                </a:highlight>
                <a:uFillTx/>
                <a:latin typeface="Google Sans"/>
                <a:ea typeface="DejaVu Sans"/>
              </a:rPr>
              <a:t>😱 </a:t>
            </a:r>
            <a:endParaRPr b="0" lang="en-GB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Box 17"/>
          <p:cNvSpPr/>
          <p:nvPr/>
        </p:nvSpPr>
        <p:spPr>
          <a:xfrm>
            <a:off x="6187320" y="1749600"/>
            <a:ext cx="172548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Some variables are stored in the file names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Box 18"/>
          <p:cNvSpPr/>
          <p:nvPr/>
        </p:nvSpPr>
        <p:spPr>
          <a:xfrm>
            <a:off x="7915320" y="1884240"/>
            <a:ext cx="92700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4000" strike="noStrike" u="none">
                <a:solidFill>
                  <a:srgbClr val="1f1f1f"/>
                </a:solidFill>
                <a:effectLst/>
                <a:highlight>
                  <a:srgbClr val="ffffff"/>
                </a:highlight>
                <a:uFillTx/>
                <a:latin typeface="Google Sans"/>
                <a:ea typeface="DejaVu Sans"/>
              </a:rPr>
              <a:t>😱 </a:t>
            </a:r>
            <a:endParaRPr b="0" lang="en-GB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Box 20"/>
          <p:cNvSpPr/>
          <p:nvPr/>
        </p:nvSpPr>
        <p:spPr>
          <a:xfrm>
            <a:off x="6187320" y="2890440"/>
            <a:ext cx="2687760" cy="1062720"/>
          </a:xfrm>
          <a:prstGeom prst="rect">
            <a:avLst/>
          </a:prstGeom>
          <a:solidFill>
            <a:schemeClr val="bg1">
              <a:lumMod val="95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2024-01_prices_DE.csv</a:t>
            </a:r>
            <a:br>
              <a:rPr sz="1600"/>
            </a:b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2024-01_prices_FR.csv</a:t>
            </a:r>
            <a:br>
              <a:rPr sz="1600"/>
            </a:b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2024-02_prices_DE.csv</a:t>
            </a:r>
            <a:br>
              <a:rPr sz="1600"/>
            </a:b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2024-02_prices_FR.csv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p>
            <a:fld id="{87C5FCDA-FD0B-4441-B5D6-CB74D9686A46}" type="slidenum">
              <a:t>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PlaceHolder 1"/>
          <p:cNvSpPr>
            <a:spLocks noGrp="1"/>
          </p:cNvSpPr>
          <p:nvPr>
            <p:ph type="title"/>
          </p:nvPr>
        </p:nvSpPr>
        <p:spPr>
          <a:xfrm>
            <a:off x="335520" y="347400"/>
            <a:ext cx="9142200" cy="90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 fontScale="92500" lnSpcReduction="9999"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The life-changing magic of tidying up data</a:t>
            </a:r>
            <a:endParaRPr b="0" lang="en-GB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2720" cy="4833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CH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Pivoting – we know this one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PlaceHolder 3"/>
          <p:cNvSpPr>
            <a:spLocks noGrp="1"/>
          </p:cNvSpPr>
          <p:nvPr>
            <p:ph type="dt" idx="137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09" name="Picture 6" descr="Image"/>
          <p:cNvPicPr/>
          <p:nvPr/>
        </p:nvPicPr>
        <p:blipFill>
          <a:blip r:embed="rId1"/>
          <a:srcRect l="13464" t="0" r="8349" b="0"/>
          <a:stretch/>
        </p:blipFill>
        <p:spPr>
          <a:xfrm>
            <a:off x="9264240" y="588240"/>
            <a:ext cx="2719080" cy="3478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0" name="TextBox 7"/>
          <p:cNvSpPr/>
          <p:nvPr/>
        </p:nvSpPr>
        <p:spPr>
          <a:xfrm>
            <a:off x="3180600" y="5094360"/>
            <a:ext cx="6261840" cy="11869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df.pivot_table(</a:t>
            </a:r>
            <a:br>
              <a:rPr sz="1800"/>
            </a:b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	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index=['city', 'date'], columns='type’, </a:t>
            </a:r>
            <a:br>
              <a:rPr sz="1800"/>
            </a:b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	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values='temperature', aggfunc='max’,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1" name="Picture 6" descr=""/>
          <p:cNvPicPr/>
          <p:nvPr/>
        </p:nvPicPr>
        <p:blipFill>
          <a:blip r:embed="rId2"/>
          <a:stretch/>
        </p:blipFill>
        <p:spPr>
          <a:xfrm>
            <a:off x="882720" y="2480760"/>
            <a:ext cx="2522520" cy="2349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2" name="Picture 10" descr=""/>
          <p:cNvPicPr/>
          <p:nvPr/>
        </p:nvPicPr>
        <p:blipFill>
          <a:blip r:embed="rId3"/>
          <a:stretch/>
        </p:blipFill>
        <p:spPr>
          <a:xfrm>
            <a:off x="6022800" y="2629440"/>
            <a:ext cx="2550600" cy="1822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3" name="TextBox 11"/>
          <p:cNvSpPr/>
          <p:nvPr/>
        </p:nvSpPr>
        <p:spPr>
          <a:xfrm>
            <a:off x="3800880" y="2127600"/>
            <a:ext cx="22996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 “type” column is storing variable names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Right Arrow 13"/>
          <p:cNvSpPr/>
          <p:nvPr/>
        </p:nvSpPr>
        <p:spPr>
          <a:xfrm>
            <a:off x="3945960" y="3754800"/>
            <a:ext cx="1766520" cy="4291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CH" sz="1800" strike="noStrike" u="non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415" name="TextBox 14"/>
          <p:cNvSpPr/>
          <p:nvPr/>
        </p:nvSpPr>
        <p:spPr>
          <a:xfrm>
            <a:off x="3963600" y="3465000"/>
            <a:ext cx="1663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pivot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Box 8"/>
          <p:cNvSpPr/>
          <p:nvPr/>
        </p:nvSpPr>
        <p:spPr>
          <a:xfrm>
            <a:off x="6018120" y="2161800"/>
            <a:ext cx="92700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4000" strike="noStrike" u="none">
                <a:solidFill>
                  <a:srgbClr val="1f1f1f"/>
                </a:solidFill>
                <a:effectLst/>
                <a:highlight>
                  <a:srgbClr val="ffffff"/>
                </a:highlight>
                <a:uFillTx/>
                <a:latin typeface="Google Sans"/>
                <a:ea typeface="DejaVu Sans"/>
              </a:rPr>
              <a:t>😱 </a:t>
            </a:r>
            <a:endParaRPr b="0" lang="en-GB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3136D8CB-2AE3-480E-A283-B2EE6D2179DA}" type="slidenum">
              <a:t>27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7" name="Picture 4" descr="Image"/>
          <p:cNvPicPr/>
          <p:nvPr/>
        </p:nvPicPr>
        <p:blipFill>
          <a:blip r:embed="rId1"/>
          <a:srcRect l="16022" t="0" r="5951" b="0"/>
          <a:stretch/>
        </p:blipFill>
        <p:spPr>
          <a:xfrm>
            <a:off x="9262800" y="581040"/>
            <a:ext cx="2719080" cy="3485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8" name="PlaceHolder 1"/>
          <p:cNvSpPr>
            <a:spLocks noGrp="1"/>
          </p:cNvSpPr>
          <p:nvPr>
            <p:ph type="title"/>
          </p:nvPr>
        </p:nvSpPr>
        <p:spPr>
          <a:xfrm>
            <a:off x="335520" y="347400"/>
            <a:ext cx="9142200" cy="90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 fontScale="92500" lnSpcReduction="9999"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The life-changing magic of tidying up data</a:t>
            </a:r>
            <a:endParaRPr b="0" lang="en-GB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2720" cy="4833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CH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Melting – it’s kind of the opposite of pivoting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PlaceHolder 3"/>
          <p:cNvSpPr>
            <a:spLocks noGrp="1"/>
          </p:cNvSpPr>
          <p:nvPr>
            <p:ph type="dt" idx="138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21" name="Picture 8" descr=""/>
          <p:cNvPicPr/>
          <p:nvPr/>
        </p:nvPicPr>
        <p:blipFill>
          <a:blip r:embed="rId2"/>
          <a:stretch/>
        </p:blipFill>
        <p:spPr>
          <a:xfrm>
            <a:off x="1503000" y="2860200"/>
            <a:ext cx="2074680" cy="1683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22" name="Picture 9" descr=""/>
          <p:cNvPicPr/>
          <p:nvPr/>
        </p:nvPicPr>
        <p:blipFill>
          <a:blip r:embed="rId3"/>
          <a:stretch/>
        </p:blipFill>
        <p:spPr>
          <a:xfrm>
            <a:off x="5969880" y="2067120"/>
            <a:ext cx="2867760" cy="2988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3" name="TextBox 7"/>
          <p:cNvSpPr/>
          <p:nvPr/>
        </p:nvSpPr>
        <p:spPr>
          <a:xfrm>
            <a:off x="1379520" y="5172480"/>
            <a:ext cx="9430200" cy="3639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pd.melt(data, id_vars=['subject', 'date'], value_name='response_time')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Box 10"/>
          <p:cNvSpPr/>
          <p:nvPr/>
        </p:nvSpPr>
        <p:spPr>
          <a:xfrm>
            <a:off x="857160" y="1937160"/>
            <a:ext cx="213624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 treatment values are stored as a column name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Box 11"/>
          <p:cNvSpPr/>
          <p:nvPr/>
        </p:nvSpPr>
        <p:spPr>
          <a:xfrm>
            <a:off x="3024360" y="2192760"/>
            <a:ext cx="71424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2800" strike="noStrike" u="none">
                <a:solidFill>
                  <a:srgbClr val="1f1f1f"/>
                </a:solidFill>
                <a:effectLst/>
                <a:highlight>
                  <a:srgbClr val="ffffff"/>
                </a:highlight>
                <a:uFillTx/>
                <a:latin typeface="Google Sans"/>
                <a:ea typeface="DejaVu Sans"/>
              </a:rPr>
              <a:t>😱 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Right Arrow 12"/>
          <p:cNvSpPr/>
          <p:nvPr/>
        </p:nvSpPr>
        <p:spPr>
          <a:xfrm>
            <a:off x="3945960" y="3487320"/>
            <a:ext cx="1766520" cy="4291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CH" sz="1800" strike="noStrike" u="non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427" name="TextBox 13"/>
          <p:cNvSpPr/>
          <p:nvPr/>
        </p:nvSpPr>
        <p:spPr>
          <a:xfrm>
            <a:off x="3963600" y="3197520"/>
            <a:ext cx="1663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melt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TextBox 6"/>
          <p:cNvSpPr/>
          <p:nvPr/>
        </p:nvSpPr>
        <p:spPr>
          <a:xfrm>
            <a:off x="1379520" y="5628240"/>
            <a:ext cx="96127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Split the columns in (A) “id_vars” and (B) non-”id_vars”. The column names in (B) are used as new values in a new column “variable”. The values in columns (B) go into a new column, “response_time”.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C3EAF186-7220-4F95-9777-31F66C118163}" type="slidenum">
              <a:t>28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9" name="Picture 2" descr="Image"/>
          <p:cNvPicPr/>
          <p:nvPr/>
        </p:nvPicPr>
        <p:blipFill>
          <a:blip r:embed="rId1"/>
          <a:srcRect l="2154" t="0" r="23761" b="5248"/>
          <a:stretch/>
        </p:blipFill>
        <p:spPr>
          <a:xfrm>
            <a:off x="9264240" y="588240"/>
            <a:ext cx="2719080" cy="3478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0" name="PlaceHolder 1"/>
          <p:cNvSpPr>
            <a:spLocks noGrp="1"/>
          </p:cNvSpPr>
          <p:nvPr>
            <p:ph type="title"/>
          </p:nvPr>
        </p:nvSpPr>
        <p:spPr>
          <a:xfrm>
            <a:off x="335520" y="347400"/>
            <a:ext cx="9142200" cy="90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 fontScale="92500" lnSpcReduction="9999"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The life-changing magic of tidying up data</a:t>
            </a:r>
            <a:endParaRPr b="0" lang="en-GB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8135280" cy="4833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CH" sz="24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pd.concat </a:t>
            </a:r>
            <a:r>
              <a:rPr b="0" lang="en-CH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– add together tables with the same variables (columns)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PlaceHolder 3"/>
          <p:cNvSpPr>
            <a:spLocks noGrp="1"/>
          </p:cNvSpPr>
          <p:nvPr>
            <p:ph type="dt" idx="139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3" name="TextBox 6"/>
          <p:cNvSpPr/>
          <p:nvPr/>
        </p:nvSpPr>
        <p:spPr>
          <a:xfrm>
            <a:off x="789120" y="2541600"/>
            <a:ext cx="172548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Some variables are stored in the file names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TextBox 14"/>
          <p:cNvSpPr/>
          <p:nvPr/>
        </p:nvSpPr>
        <p:spPr>
          <a:xfrm>
            <a:off x="2552400" y="2775960"/>
            <a:ext cx="71424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2800" strike="noStrike" u="none">
                <a:solidFill>
                  <a:srgbClr val="1f1f1f"/>
                </a:solidFill>
                <a:effectLst/>
                <a:highlight>
                  <a:srgbClr val="ffffff"/>
                </a:highlight>
                <a:uFillTx/>
                <a:latin typeface="Google Sans"/>
                <a:ea typeface="DejaVu Sans"/>
              </a:rPr>
              <a:t>😱 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Box 15"/>
          <p:cNvSpPr/>
          <p:nvPr/>
        </p:nvSpPr>
        <p:spPr>
          <a:xfrm>
            <a:off x="838080" y="3530880"/>
            <a:ext cx="2687760" cy="1062720"/>
          </a:xfrm>
          <a:prstGeom prst="rect">
            <a:avLst/>
          </a:prstGeom>
          <a:solidFill>
            <a:schemeClr val="bg1">
              <a:lumMod val="95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2024-01_prices_DE.csv</a:t>
            </a:r>
            <a:br>
              <a:rPr sz="1600"/>
            </a:b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2024-01_prices_FR.csv</a:t>
            </a:r>
            <a:br>
              <a:rPr sz="1600"/>
            </a:b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2024-02_prices_DE.csv</a:t>
            </a:r>
            <a:br>
              <a:rPr sz="1600"/>
            </a:b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2024-02_prices_FR.csv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TextBox 16"/>
          <p:cNvSpPr/>
          <p:nvPr/>
        </p:nvSpPr>
        <p:spPr>
          <a:xfrm>
            <a:off x="4367880" y="2602080"/>
            <a:ext cx="6389640" cy="3496320"/>
          </a:xfrm>
          <a:prstGeom prst="rect">
            <a:avLst/>
          </a:prstGeom>
          <a:solidFill>
            <a:srgbClr val="e2f0d9">
              <a:alpha val="71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tables = []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for filename in filenames:   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    # Parse filename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    year_month, _, country = filename[:-4].split('_')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    # Read table and add columns for the variables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    df = pd.read_csv(filename)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    </a:t>
            </a:r>
            <a:r>
              <a:rPr b="1" lang="en-US" sz="16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# Add the variables that were in the filename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    df['year_month'] = year_month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    df['country’] = country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    # Store table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    tables.append(df)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# Create complete table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tidy_df = </a:t>
            </a:r>
            <a:r>
              <a:rPr b="1" lang="en-US" sz="16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pd.concat(tables)</a:t>
            </a:r>
            <a:r>
              <a:rPr b="1" lang="en-CH" sz="16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    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E76933F4-B4D0-4432-9193-BEE81659DDFA}" type="slidenum">
              <a:t>29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Rectangle 2"/>
          <p:cNvSpPr/>
          <p:nvPr/>
        </p:nvSpPr>
        <p:spPr>
          <a:xfrm>
            <a:off x="7428240" y="205920"/>
            <a:ext cx="4536000" cy="98748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DE" sz="1800" strike="noStrike" u="none">
              <a:solidFill>
                <a:srgbClr val="000000"/>
              </a:solidFill>
              <a:effectLst/>
              <a:uFillTx/>
              <a:latin typeface="Courier New"/>
              <a:ea typeface="DejaVu Sans"/>
            </a:endParaRPr>
          </a:p>
        </p:txBody>
      </p:sp>
      <p:sp>
        <p:nvSpPr>
          <p:cNvPr id="438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560" cy="90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Hands-on</a:t>
            </a:r>
            <a:endParaRPr b="0" lang="en-GB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2720" cy="4833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Tidy up the data set in the tuberculosis exercise</a:t>
            </a:r>
            <a:br>
              <a:rPr sz="2800"/>
            </a:br>
            <a:r>
              <a:rPr b="0" lang="en-CH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and compute the summary stats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Submit a PR on</a:t>
            </a:r>
            <a:br>
              <a:rPr sz="2800"/>
            </a:b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git.aspp.school/ASPP/</a:t>
            </a:r>
            <a:br>
              <a:rPr sz="2800"/>
            </a:b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2025-plovdiv-data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PlaceHolder 3"/>
          <p:cNvSpPr>
            <a:spLocks noGrp="1"/>
          </p:cNvSpPr>
          <p:nvPr>
            <p:ph type="dt" idx="140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1" name="TextBox 9"/>
          <p:cNvSpPr/>
          <p:nvPr/>
        </p:nvSpPr>
        <p:spPr>
          <a:xfrm>
            <a:off x="7930800" y="224640"/>
            <a:ext cx="1776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DE" sz="1800" strike="noStrike" u="non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Exercise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2" name="Graphic 10" descr=""/>
          <p:cNvPicPr/>
          <p:nvPr/>
        </p:nvPicPr>
        <p:blipFill>
          <a:blip r:embed="rId1"/>
          <a:stretch/>
        </p:blipFill>
        <p:spPr>
          <a:xfrm>
            <a:off x="7474680" y="273960"/>
            <a:ext cx="691560" cy="552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43" name="Picture 1" descr=""/>
          <p:cNvPicPr/>
          <p:nvPr/>
        </p:nvPicPr>
        <p:blipFill>
          <a:blip r:embed="rId2"/>
          <a:stretch/>
        </p:blipFill>
        <p:spPr>
          <a:xfrm>
            <a:off x="7506000" y="3141000"/>
            <a:ext cx="2987280" cy="2906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4" name="TextBox 11"/>
          <p:cNvSpPr/>
          <p:nvPr/>
        </p:nvSpPr>
        <p:spPr>
          <a:xfrm>
            <a:off x="7527960" y="2102760"/>
            <a:ext cx="191412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Multiple variables are stored in one column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TextBox 8"/>
          <p:cNvSpPr/>
          <p:nvPr/>
        </p:nvSpPr>
        <p:spPr>
          <a:xfrm>
            <a:off x="8301960" y="542880"/>
            <a:ext cx="3479760" cy="30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exercises/tabular_tidy_data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TextBox 7"/>
          <p:cNvSpPr/>
          <p:nvPr/>
        </p:nvSpPr>
        <p:spPr>
          <a:xfrm>
            <a:off x="9595080" y="2243880"/>
            <a:ext cx="92700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4000" strike="noStrike" u="none">
                <a:solidFill>
                  <a:srgbClr val="1f1f1f"/>
                </a:solidFill>
                <a:effectLst/>
                <a:highlight>
                  <a:srgbClr val="ffffff"/>
                </a:highlight>
                <a:uFillTx/>
                <a:latin typeface="Google Sans"/>
                <a:ea typeface="DejaVu Sans"/>
              </a:rPr>
              <a:t>😱 </a:t>
            </a:r>
            <a:endParaRPr b="0" lang="en-GB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FED32182-343F-4410-B72C-2D67A4AC5B0E}" type="slidenum">
              <a:t>30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Rectangle 8"/>
          <p:cNvSpPr/>
          <p:nvPr/>
        </p:nvSpPr>
        <p:spPr>
          <a:xfrm>
            <a:off x="7838280" y="1054080"/>
            <a:ext cx="3885480" cy="540648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CH" sz="1800" strike="noStrike" u="non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448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560" cy="90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Why is tidy data good?</a:t>
            </a:r>
            <a:endParaRPr b="0" lang="en-GB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6262920" cy="4833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Many analyses require a simple sequence of steps: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0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Filter by individual variables to discard data that is not needed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0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Group and summarize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0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Re-arrange (e.g. sort)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0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Visualize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Joining tidy tables is easy! 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One can write generic code that takes tidy data as input. </a:t>
            </a:r>
            <a:br>
              <a:rPr sz="2400"/>
            </a:br>
            <a:r>
              <a:rPr b="0" lang="en-CH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For example, </a:t>
            </a:r>
            <a:r>
              <a:rPr b="1" lang="en-CH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seaborn</a:t>
            </a:r>
            <a:r>
              <a:rPr b="0" lang="en-CH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 relies on tidy data to make complex plots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PlaceHolder 3"/>
          <p:cNvSpPr>
            <a:spLocks noGrp="1"/>
          </p:cNvSpPr>
          <p:nvPr>
            <p:ph type="dt" idx="141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1" name="TextBox 7"/>
          <p:cNvSpPr/>
          <p:nvPr/>
        </p:nvSpPr>
        <p:spPr>
          <a:xfrm>
            <a:off x="8449560" y="1370520"/>
            <a:ext cx="2662560" cy="173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sns</a:t>
            </a:r>
            <a:r>
              <a:rPr b="1" lang="en-US" sz="1800" strike="noStrike" u="none">
                <a:solidFill>
                  <a:srgbClr val="dba475"/>
                </a:solidFill>
                <a:effectLst/>
                <a:uFillTx/>
                <a:latin typeface="Consolas"/>
                <a:ea typeface="DejaVu Sans"/>
              </a:rPr>
              <a:t>.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swarmplot</a:t>
            </a: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(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  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data</a:t>
            </a:r>
            <a:r>
              <a:rPr b="1" lang="en-US" sz="1800" strike="noStrike" u="none">
                <a:solidFill>
                  <a:srgbClr val="dba475"/>
                </a:solidFill>
                <a:effectLst/>
                <a:uFillTx/>
                <a:latin typeface="Consolas"/>
                <a:ea typeface="DejaVu Sans"/>
              </a:rPr>
              <a:t>=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df</a:t>
            </a: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,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  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r>
              <a:rPr b="1" lang="en-US" sz="1800" strike="noStrike" u="none">
                <a:solidFill>
                  <a:srgbClr val="dba475"/>
                </a:solidFill>
                <a:effectLst/>
                <a:uFillTx/>
                <a:latin typeface="Consolas"/>
                <a:ea typeface="DejaVu Sans"/>
              </a:rPr>
              <a:t>=</a:t>
            </a:r>
            <a:r>
              <a:rPr b="0" lang="en-US" sz="1800" strike="noStrike" u="none">
                <a:solidFill>
                  <a:srgbClr val="4a6991"/>
                </a:solidFill>
                <a:effectLst/>
                <a:uFillTx/>
                <a:latin typeface="Consolas"/>
                <a:ea typeface="DejaVu Sans"/>
              </a:rPr>
              <a:t>"body_mass_g"</a:t>
            </a: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,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  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y</a:t>
            </a:r>
            <a:r>
              <a:rPr b="1" lang="en-US" sz="1800" strike="noStrike" u="none">
                <a:solidFill>
                  <a:srgbClr val="dba475"/>
                </a:solidFill>
                <a:effectLst/>
                <a:uFillTx/>
                <a:latin typeface="Consolas"/>
                <a:ea typeface="DejaVu Sans"/>
              </a:rPr>
              <a:t>=</a:t>
            </a:r>
            <a:r>
              <a:rPr b="0" lang="en-US" sz="1800" strike="noStrike" u="none">
                <a:solidFill>
                  <a:srgbClr val="4a6991"/>
                </a:solidFill>
                <a:effectLst/>
                <a:uFillTx/>
                <a:latin typeface="Consolas"/>
                <a:ea typeface="DejaVu Sans"/>
              </a:rPr>
              <a:t>"sex"</a:t>
            </a: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,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  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hue</a:t>
            </a:r>
            <a:r>
              <a:rPr b="1" lang="en-US" sz="1800" strike="noStrike" u="none">
                <a:solidFill>
                  <a:srgbClr val="dba475"/>
                </a:solidFill>
                <a:effectLst/>
                <a:uFillTx/>
                <a:latin typeface="Consolas"/>
                <a:ea typeface="DejaVu Sans"/>
              </a:rPr>
              <a:t>=</a:t>
            </a:r>
            <a:r>
              <a:rPr b="0" lang="en-US" sz="1800" strike="noStrike" u="none">
                <a:solidFill>
                  <a:srgbClr val="4a6991"/>
                </a:solidFill>
                <a:effectLst/>
                <a:uFillTx/>
                <a:latin typeface="Consolas"/>
                <a:ea typeface="DejaVu Sans"/>
              </a:rPr>
              <a:t>"species”,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2" name="Picture 2" descr=""/>
          <p:cNvPicPr/>
          <p:nvPr/>
        </p:nvPicPr>
        <p:blipFill>
          <a:blip r:embed="rId1"/>
          <a:stretch/>
        </p:blipFill>
        <p:spPr>
          <a:xfrm>
            <a:off x="7968240" y="3440880"/>
            <a:ext cx="3625560" cy="2733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B4D047CA-39B0-4F85-8E68-81CF02725E51}" type="slidenum">
              <a:t>31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560" cy="90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Global summary</a:t>
            </a:r>
            <a:endParaRPr b="0" lang="en-GB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2720" cy="4833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There are many different data structures, each specialized in efficiently </a:t>
            </a:r>
            <a:r>
              <a:rPr b="0" lang="en-CH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processing one type of data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Code performance grows differently with data size: Big-O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array efficiently store data in a C-native memory block, interpreted as an </a:t>
            </a:r>
            <a:r>
              <a:rPr b="0" lang="en-CH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array using some metadata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operations that only need to change the metadata do so, creating a view </a:t>
            </a:r>
            <a:r>
              <a:rPr b="0" lang="en-CH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of the same memory block. These operations are O(1)!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Tabular data can also be vectorized using joins, anti-joins, split-apply-combine </a:t>
            </a:r>
            <a:r>
              <a:rPr b="0" lang="en-CH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operations, and window functions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For these operations to be efficient and painless, data should be stored in a tidy </a:t>
            </a:r>
            <a:r>
              <a:rPr b="0" lang="en-CH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data format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PlaceHolder 3"/>
          <p:cNvSpPr>
            <a:spLocks noGrp="1"/>
          </p:cNvSpPr>
          <p:nvPr>
            <p:ph type="dt" idx="142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A241D7D8-F656-4522-B733-652AB12E59E3}" type="slidenum">
              <a:t>32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560" cy="90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What we didn’t talk about</a:t>
            </a:r>
            <a:endParaRPr b="0" lang="en-GB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2720" cy="4833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Other data structures: graphs, trees, priority queues, …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Options for working with large data on disk / remotely (instead of in-memory)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Best practices in data handling: versioning, lineage, sharing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Organizing a complex data set in multiple tables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… and a lot more!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PlaceHolder 3"/>
          <p:cNvSpPr>
            <a:spLocks noGrp="1"/>
          </p:cNvSpPr>
          <p:nvPr>
            <p:ph type="dt" idx="143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59" name="Picture 32" descr="The Data Warehouse Toolkit"/>
          <p:cNvPicPr/>
          <p:nvPr/>
        </p:nvPicPr>
        <p:blipFill>
          <a:blip r:embed="rId1"/>
          <a:stretch/>
        </p:blipFill>
        <p:spPr>
          <a:xfrm>
            <a:off x="9776160" y="3605400"/>
            <a:ext cx="1938960" cy="2445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60" name="Picture 33" descr=""/>
          <p:cNvPicPr/>
          <p:nvPr/>
        </p:nvPicPr>
        <p:blipFill>
          <a:blip r:embed="rId2"/>
          <a:stretch/>
        </p:blipFill>
        <p:spPr>
          <a:xfrm>
            <a:off x="473760" y="3863160"/>
            <a:ext cx="4027320" cy="2166840"/>
          </a:xfrm>
          <a:prstGeom prst="rect">
            <a:avLst/>
          </a:prstGeom>
          <a:noFill/>
          <a:ln w="0">
            <a:solidFill>
              <a:srgbClr val="000000"/>
            </a:solidFill>
          </a:ln>
        </p:spPr>
      </p:pic>
      <p:pic>
        <p:nvPicPr>
          <p:cNvPr id="461" name="Picture 34" descr=""/>
          <p:cNvPicPr/>
          <p:nvPr/>
        </p:nvPicPr>
        <p:blipFill>
          <a:blip r:embed="rId3"/>
          <a:stretch/>
        </p:blipFill>
        <p:spPr>
          <a:xfrm>
            <a:off x="4816800" y="3867480"/>
            <a:ext cx="4506120" cy="2183400"/>
          </a:xfrm>
          <a:prstGeom prst="rect">
            <a:avLst/>
          </a:prstGeom>
          <a:noFill/>
          <a:ln w="0">
            <a:solidFill>
              <a:srgbClr val="000000"/>
            </a:solidFill>
          </a:ln>
        </p:spPr>
      </p:pic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5932665E-4D43-4186-AA34-336FF171B4D1}" type="slidenum">
              <a:t>33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PlaceHolder 1"/>
          <p:cNvSpPr>
            <a:spLocks noGrp="1"/>
          </p:cNvSpPr>
          <p:nvPr>
            <p:ph type="title"/>
          </p:nvPr>
        </p:nvSpPr>
        <p:spPr>
          <a:xfrm>
            <a:off x="407520" y="2493000"/>
            <a:ext cx="5254920" cy="186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72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Thank you!</a:t>
            </a:r>
            <a:endParaRPr b="0" lang="en-GB" sz="7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PlaceHolder 2"/>
          <p:cNvSpPr>
            <a:spLocks noGrp="1"/>
          </p:cNvSpPr>
          <p:nvPr>
            <p:ph type="dt" idx="144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64" name="Picture 35" descr="Image"/>
          <p:cNvPicPr/>
          <p:nvPr/>
        </p:nvPicPr>
        <p:blipFill>
          <a:blip r:embed="rId1"/>
          <a:stretch/>
        </p:blipFill>
        <p:spPr>
          <a:xfrm>
            <a:off x="6672240" y="994320"/>
            <a:ext cx="4866120" cy="4866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p>
            <a:fld id="{8B6E08FE-A145-4A79-9532-CB5F08430564}" type="slidenum">
              <a:t>34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PlaceHolder 1"/>
          <p:cNvSpPr>
            <a:spLocks noGrp="1"/>
          </p:cNvSpPr>
          <p:nvPr>
            <p:ph type="dt" idx="145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July 2024, CC BY-SA 4.0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BCAE05A-60EC-4539-8DBB-0E6C7FD45AF7}" type="slidenum">
              <a:t>35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PlaceHolder 1"/>
          <p:cNvSpPr>
            <a:spLocks noGrp="1"/>
          </p:cNvSpPr>
          <p:nvPr>
            <p:ph type="title"/>
          </p:nvPr>
        </p:nvSpPr>
        <p:spPr>
          <a:xfrm>
            <a:off x="838080" y="2709000"/>
            <a:ext cx="10512720" cy="900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54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OLD SLIDES FROM HERE ONWARDS</a:t>
            </a:r>
            <a:endParaRPr b="0" lang="en-GB" sz="5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PlaceHolder 2"/>
          <p:cNvSpPr>
            <a:spLocks noGrp="1"/>
          </p:cNvSpPr>
          <p:nvPr>
            <p:ph type="dt" idx="146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p>
            <a:fld id="{1142DE5D-4266-49A3-96B6-EAC37B725E25}" type="slidenum">
              <a:t>36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PlaceHolder 1"/>
          <p:cNvSpPr>
            <a:spLocks noGrp="1"/>
          </p:cNvSpPr>
          <p:nvPr>
            <p:ph type="title"/>
          </p:nvPr>
        </p:nvSpPr>
        <p:spPr>
          <a:xfrm>
            <a:off x="838080" y="2709000"/>
            <a:ext cx="10512720" cy="900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54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Joins</a:t>
            </a:r>
            <a:endParaRPr b="0" lang="en-GB" sz="5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PlaceHolder 2"/>
          <p:cNvSpPr>
            <a:spLocks noGrp="1"/>
          </p:cNvSpPr>
          <p:nvPr>
            <p:ph type="dt" idx="147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p>
            <a:fld id="{AA605274-BDD5-4896-AC3C-CB25F35BA019}" type="slidenum">
              <a:t>37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560" cy="900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 fontScale="92500" lnSpcReduction="19999"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Join operations: combining informations from multiple tables</a:t>
            </a:r>
            <a:endParaRPr b="0" lang="en-GB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PlaceHolder 2"/>
          <p:cNvSpPr>
            <a:spLocks noGrp="1"/>
          </p:cNvSpPr>
          <p:nvPr>
            <p:ph type="dt" idx="148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72" name="Picture 5" descr=""/>
          <p:cNvPicPr/>
          <p:nvPr/>
        </p:nvPicPr>
        <p:blipFill>
          <a:blip r:embed="rId1"/>
          <a:srcRect l="0" t="0" r="47418" b="0"/>
          <a:stretch/>
        </p:blipFill>
        <p:spPr>
          <a:xfrm>
            <a:off x="2209680" y="1277640"/>
            <a:ext cx="2944800" cy="2268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73" name="Picture 25" descr=""/>
          <p:cNvPicPr/>
          <p:nvPr/>
        </p:nvPicPr>
        <p:blipFill>
          <a:blip r:embed="rId2"/>
          <a:stretch/>
        </p:blipFill>
        <p:spPr>
          <a:xfrm>
            <a:off x="3407400" y="4047840"/>
            <a:ext cx="5374080" cy="2176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4" name="TextBox 3"/>
          <p:cNvSpPr/>
          <p:nvPr/>
        </p:nvSpPr>
        <p:spPr>
          <a:xfrm>
            <a:off x="5627880" y="1911240"/>
            <a:ext cx="933120" cy="100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</a:pPr>
            <a:r>
              <a:rPr b="0" lang="en-CH" sz="60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+</a:t>
            </a:r>
            <a:endParaRPr b="0" lang="en-GB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TextBox 4"/>
          <p:cNvSpPr/>
          <p:nvPr/>
        </p:nvSpPr>
        <p:spPr>
          <a:xfrm>
            <a:off x="2135520" y="4635000"/>
            <a:ext cx="933120" cy="100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</a:pPr>
            <a:r>
              <a:rPr b="0" lang="en-CH" sz="60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=</a:t>
            </a:r>
            <a:endParaRPr b="0" lang="en-GB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6" name="Picture 27" descr=""/>
          <p:cNvPicPr/>
          <p:nvPr/>
        </p:nvPicPr>
        <p:blipFill>
          <a:blip r:embed="rId3"/>
          <a:stretch/>
        </p:blipFill>
        <p:spPr>
          <a:xfrm>
            <a:off x="7005240" y="1616760"/>
            <a:ext cx="3333600" cy="159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p>
            <a:fld id="{EBFAE839-5F7C-40B6-B381-2E21B0F51137}" type="slidenum">
              <a:t>38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560" cy="900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Join operations</a:t>
            </a:r>
            <a:endParaRPr b="0" lang="en-GB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PlaceHolder 2"/>
          <p:cNvSpPr>
            <a:spLocks noGrp="1"/>
          </p:cNvSpPr>
          <p:nvPr>
            <p:ph type="dt" idx="149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9" name="Rectangle 4"/>
          <p:cNvSpPr/>
          <p:nvPr/>
        </p:nvSpPr>
        <p:spPr>
          <a:xfrm>
            <a:off x="7430400" y="206640"/>
            <a:ext cx="4536000" cy="9874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DE" sz="1800" strike="noStrike" u="none">
              <a:solidFill>
                <a:srgbClr val="000000"/>
              </a:solidFill>
              <a:effectLst/>
              <a:uFillTx/>
              <a:latin typeface="Courier New"/>
              <a:ea typeface="DejaVu Sans"/>
            </a:endParaRPr>
          </a:p>
        </p:txBody>
      </p:sp>
      <p:pic>
        <p:nvPicPr>
          <p:cNvPr id="480" name="Graphic 6" descr=""/>
          <p:cNvPicPr/>
          <p:nvPr/>
        </p:nvPicPr>
        <p:blipFill>
          <a:blip r:embed="rId1"/>
          <a:stretch/>
        </p:blipFill>
        <p:spPr>
          <a:xfrm>
            <a:off x="7511040" y="232200"/>
            <a:ext cx="707400" cy="62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1" name="TextBox 62"/>
          <p:cNvSpPr/>
          <p:nvPr/>
        </p:nvSpPr>
        <p:spPr>
          <a:xfrm>
            <a:off x="8163720" y="225360"/>
            <a:ext cx="1776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DE" sz="1800" strike="noStrike" u="non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Live Coding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TextBox 63"/>
          <p:cNvSpPr/>
          <p:nvPr/>
        </p:nvSpPr>
        <p:spPr>
          <a:xfrm>
            <a:off x="8301960" y="542880"/>
            <a:ext cx="347976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n</a:t>
            </a:r>
            <a:r>
              <a:rPr b="0" lang="en-DE" sz="1400" strike="noStrike" u="non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otebooks/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tabular_data/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020_join_operations.ipynb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p>
            <a:fld id="{F0364DE4-1BF0-4B92-9A29-05B63D5CE754}" type="slidenum">
              <a:t>39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560" cy="90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Join operations – Main points</a:t>
            </a:r>
            <a:endParaRPr b="0" lang="en-GB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PlaceHolder 2"/>
          <p:cNvSpPr>
            <a:spLocks noGrp="1"/>
          </p:cNvSpPr>
          <p:nvPr>
            <p:ph/>
          </p:nvPr>
        </p:nvSpPr>
        <p:spPr>
          <a:xfrm>
            <a:off x="360000" y="1152000"/>
            <a:ext cx="6298920" cy="4833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CH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Join operations can be used to combine two tables using the values of one or m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ore columns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Different types of join: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left/right: keep all the column values that are present in the first/second table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inner: keep the column values common to both tables (intersection)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outer: keep all the column values of both tables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CH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Anti-joins can be used to exclude the values that are present in one, but not the other table (filtering based on arbitrary criteria)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PlaceHolder 3"/>
          <p:cNvSpPr>
            <a:spLocks noGrp="1"/>
          </p:cNvSpPr>
          <p:nvPr>
            <p:ph type="dt" idx="150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6" name="Rectangle 11"/>
          <p:cNvSpPr/>
          <p:nvPr/>
        </p:nvSpPr>
        <p:spPr>
          <a:xfrm>
            <a:off x="7430400" y="206640"/>
            <a:ext cx="4536000" cy="9874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DE" sz="1800" strike="noStrike" u="none">
              <a:solidFill>
                <a:srgbClr val="000000"/>
              </a:solidFill>
              <a:effectLst/>
              <a:uFillTx/>
              <a:latin typeface="Courier New"/>
              <a:ea typeface="DejaVu Sans"/>
            </a:endParaRPr>
          </a:p>
        </p:txBody>
      </p:sp>
      <p:pic>
        <p:nvPicPr>
          <p:cNvPr id="487" name="Graphic 1" descr=""/>
          <p:cNvPicPr/>
          <p:nvPr/>
        </p:nvPicPr>
        <p:blipFill>
          <a:blip r:embed="rId1"/>
          <a:stretch/>
        </p:blipFill>
        <p:spPr>
          <a:xfrm>
            <a:off x="7511040" y="232200"/>
            <a:ext cx="707400" cy="62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8" name="TextBox 64"/>
          <p:cNvSpPr/>
          <p:nvPr/>
        </p:nvSpPr>
        <p:spPr>
          <a:xfrm>
            <a:off x="8163720" y="225360"/>
            <a:ext cx="1776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DE" sz="1800" strike="noStrike" u="non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Live Coding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9" name="TextBox 65"/>
          <p:cNvSpPr/>
          <p:nvPr/>
        </p:nvSpPr>
        <p:spPr>
          <a:xfrm>
            <a:off x="8301960" y="542880"/>
            <a:ext cx="347976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n</a:t>
            </a:r>
            <a:r>
              <a:rPr b="0" lang="en-DE" sz="1400" strike="noStrike" u="non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otebooks/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tabular_data/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020_join_operations.ipynb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90" name="" descr=""/>
          <p:cNvPicPr/>
          <p:nvPr/>
        </p:nvPicPr>
        <p:blipFill>
          <a:blip r:embed="rId2"/>
          <a:stretch/>
        </p:blipFill>
        <p:spPr>
          <a:xfrm>
            <a:off x="6660000" y="1807920"/>
            <a:ext cx="5218920" cy="3231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3807494F-2873-482B-AF58-B13E5FF17763}" type="slidenum">
              <a:t>40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560" cy="90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Example of tabular data: “Predimed” study</a:t>
            </a:r>
            <a:endParaRPr b="0" lang="en-GB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PlaceHolder 2"/>
          <p:cNvSpPr>
            <a:spLocks noGrp="1"/>
          </p:cNvSpPr>
          <p:nvPr>
            <p:ph/>
          </p:nvPr>
        </p:nvSpPr>
        <p:spPr>
          <a:xfrm>
            <a:off x="838080" y="1124640"/>
            <a:ext cx="10512720" cy="852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Research question: Does Mediterranean diet help prevent cardiovascular diseases, such as heart attacks and strokes?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PlaceHolder 3"/>
          <p:cNvSpPr>
            <a:spLocks noGrp="1"/>
          </p:cNvSpPr>
          <p:nvPr>
            <p:ph type="dt" idx="151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4" name="Content Placeholder 3"/>
          <p:cNvSpPr/>
          <p:nvPr/>
        </p:nvSpPr>
        <p:spPr>
          <a:xfrm>
            <a:off x="838080" y="2160000"/>
            <a:ext cx="6179400" cy="30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Longitudinal study following &gt; 7000 Spanish participants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Three different diets: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Mediterranean diet + extra virgin olive oil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Mediterranean diet + nuts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Control diet (low fat food items)</a:t>
            </a:r>
            <a:br>
              <a:rPr sz="2400"/>
            </a:b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 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95" name="Picture 29" descr=""/>
          <p:cNvPicPr/>
          <p:nvPr/>
        </p:nvPicPr>
        <p:blipFill>
          <a:blip r:embed="rId1"/>
          <a:stretch/>
        </p:blipFill>
        <p:spPr>
          <a:xfrm>
            <a:off x="7307280" y="1807200"/>
            <a:ext cx="4918320" cy="3410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6" name="Content Placeholder 4"/>
          <p:cNvSpPr/>
          <p:nvPr/>
        </p:nvSpPr>
        <p:spPr>
          <a:xfrm>
            <a:off x="4992120" y="5852160"/>
            <a:ext cx="7197480" cy="44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sng">
                <a:solidFill>
                  <a:srgbClr val="0563c1"/>
                </a:solidFill>
                <a:effectLst/>
                <a:uFillTx/>
                <a:latin typeface="Calibri"/>
                <a:ea typeface="DejaVu Sans"/>
                <a:hlinkClick r:id="rId2"/>
              </a:rPr>
              <a:t>Estruch et al. (2018). New England Journal of Medicine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0C9E5C86-201A-4FC0-AAB6-6D752E50C647}" type="slidenum">
              <a:t>41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560" cy="90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Example of tabular data: “Predimed” study</a:t>
            </a:r>
            <a:endParaRPr b="0" lang="en-GB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8" name="PlaceHolder 2"/>
          <p:cNvSpPr>
            <a:spLocks noGrp="1"/>
          </p:cNvSpPr>
          <p:nvPr>
            <p:ph type="dt" idx="152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9" name="Content Placeholder 1"/>
          <p:cNvSpPr/>
          <p:nvPr/>
        </p:nvSpPr>
        <p:spPr>
          <a:xfrm>
            <a:off x="4992120" y="5852160"/>
            <a:ext cx="7197480" cy="44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90000"/>
              </a:lnSpc>
              <a:spcBef>
                <a:spcPts val="1001"/>
              </a:spcBef>
            </a:pPr>
            <a:r>
              <a:rPr b="0" lang="en-US" sz="2400" strike="noStrike" u="sng">
                <a:solidFill>
                  <a:srgbClr val="0563c1"/>
                </a:solidFill>
                <a:effectLst/>
                <a:uFillTx/>
                <a:latin typeface="Calibri"/>
                <a:ea typeface="DejaVu Sans"/>
                <a:hlinkClick r:id="rId1"/>
              </a:rPr>
              <a:t>Estruch et al. (2018). New England Journal of Medicine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0" name="Picture 30" descr=""/>
          <p:cNvPicPr/>
          <p:nvPr/>
        </p:nvPicPr>
        <p:blipFill>
          <a:blip r:embed="rId2"/>
          <a:stretch/>
        </p:blipFill>
        <p:spPr>
          <a:xfrm>
            <a:off x="720000" y="1409760"/>
            <a:ext cx="10694160" cy="2188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1" name="Picture 31" descr=""/>
          <p:cNvPicPr/>
          <p:nvPr/>
        </p:nvPicPr>
        <p:blipFill>
          <a:blip r:embed="rId3"/>
          <a:stretch/>
        </p:blipFill>
        <p:spPr>
          <a:xfrm>
            <a:off x="1080000" y="3881880"/>
            <a:ext cx="3521880" cy="2235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64E639D0-1FEB-4370-9D5B-06E36CC4B542}" type="slidenum">
              <a:t>42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Rectangle 12"/>
          <p:cNvSpPr/>
          <p:nvPr/>
        </p:nvSpPr>
        <p:spPr>
          <a:xfrm>
            <a:off x="7428240" y="205920"/>
            <a:ext cx="4536000" cy="98748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DE" sz="1800" strike="noStrike" u="none">
              <a:solidFill>
                <a:srgbClr val="000000"/>
              </a:solidFill>
              <a:effectLst/>
              <a:uFillTx/>
              <a:latin typeface="Courier New"/>
              <a:ea typeface="DejaVu Sans"/>
            </a:endParaRPr>
          </a:p>
        </p:txBody>
      </p:sp>
      <p:sp>
        <p:nvSpPr>
          <p:cNvPr id="503" name="PlaceHolder 1"/>
          <p:cNvSpPr>
            <a:spLocks noGrp="1"/>
          </p:cNvSpPr>
          <p:nvPr>
            <p:ph/>
          </p:nvPr>
        </p:nvSpPr>
        <p:spPr>
          <a:xfrm>
            <a:off x="838080" y="1496160"/>
            <a:ext cx="10512720" cy="4677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Use joins to add the experimental information to the data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(who followed which diet)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Use anti-joins to correct for attrition </a:t>
            </a:r>
            <a:br>
              <a:rPr sz="2800"/>
            </a:b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(people who self-reported not following the diet)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Submit a PR on</a:t>
            </a:r>
            <a:br>
              <a:rPr sz="2800"/>
            </a:b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git.aspp.school/ASPP/2025-plovdiv-data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PlaceHolder 2"/>
          <p:cNvSpPr>
            <a:spLocks noGrp="1"/>
          </p:cNvSpPr>
          <p:nvPr>
            <p:ph type="dt" idx="153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5" name="TextBox 66"/>
          <p:cNvSpPr/>
          <p:nvPr/>
        </p:nvSpPr>
        <p:spPr>
          <a:xfrm>
            <a:off x="7930800" y="224640"/>
            <a:ext cx="1776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DE" sz="1800" strike="noStrike" u="non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Exercise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6" name="Graphic 7" descr=""/>
          <p:cNvPicPr/>
          <p:nvPr/>
        </p:nvPicPr>
        <p:blipFill>
          <a:blip r:embed="rId1"/>
          <a:stretch/>
        </p:blipFill>
        <p:spPr>
          <a:xfrm>
            <a:off x="7474680" y="273960"/>
            <a:ext cx="691560" cy="552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7" name="TextBox 67"/>
          <p:cNvSpPr/>
          <p:nvPr/>
        </p:nvSpPr>
        <p:spPr>
          <a:xfrm>
            <a:off x="8301960" y="542880"/>
            <a:ext cx="34797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exercises/tabular_join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8" name="PlaceHolder 3"/>
          <p:cNvSpPr>
            <a:spLocks noGrp="1"/>
          </p:cNvSpPr>
          <p:nvPr>
            <p:ph type="title"/>
          </p:nvPr>
        </p:nvSpPr>
        <p:spPr>
          <a:xfrm>
            <a:off x="346680" y="365040"/>
            <a:ext cx="5962320" cy="950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 fontScale="70000" lnSpcReduction="19999"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44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Hands-on</a:t>
            </a:r>
            <a:br>
              <a:rPr sz="4400"/>
            </a:br>
            <a:endParaRPr b="0" lang="en-GB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2C04BFEC-F204-45C1-AD32-A49800C696C1}" type="slidenum">
              <a:t>43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PlaceHolder 1"/>
          <p:cNvSpPr>
            <a:spLocks noGrp="1"/>
          </p:cNvSpPr>
          <p:nvPr>
            <p:ph type="title"/>
          </p:nvPr>
        </p:nvSpPr>
        <p:spPr>
          <a:xfrm>
            <a:off x="838080" y="2709000"/>
            <a:ext cx="10512720" cy="900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54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Split-apply-combine</a:t>
            </a:r>
            <a:endParaRPr b="0" lang="en-GB" sz="5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PlaceHolder 2"/>
          <p:cNvSpPr>
            <a:spLocks noGrp="1"/>
          </p:cNvSpPr>
          <p:nvPr>
            <p:ph type="dt" idx="154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p>
            <a:fld id="{DBB60F22-2174-464A-8770-FE7F28226CC4}" type="slidenum">
              <a:t>44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560" cy="900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The basic structure of most numerical analyses</a:t>
            </a:r>
            <a:endParaRPr b="0" lang="en-GB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PlaceHolder 2"/>
          <p:cNvSpPr>
            <a:spLocks noGrp="1"/>
          </p:cNvSpPr>
          <p:nvPr>
            <p:ph type="dt" idx="155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13" name="Picture 13" descr=""/>
          <p:cNvPicPr/>
          <p:nvPr/>
        </p:nvPicPr>
        <p:blipFill>
          <a:blip r:embed="rId1"/>
          <a:stretch/>
        </p:blipFill>
        <p:spPr>
          <a:xfrm>
            <a:off x="3935880" y="2162520"/>
            <a:ext cx="2883960" cy="4556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14" name="Picture 15" descr=""/>
          <p:cNvPicPr/>
          <p:nvPr/>
        </p:nvPicPr>
        <p:blipFill>
          <a:blip r:embed="rId2"/>
          <a:stretch/>
        </p:blipFill>
        <p:spPr>
          <a:xfrm>
            <a:off x="7584840" y="2500560"/>
            <a:ext cx="1474200" cy="3626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15" name="Picture 16" descr=""/>
          <p:cNvPicPr/>
          <p:nvPr/>
        </p:nvPicPr>
        <p:blipFill>
          <a:blip r:embed="rId3"/>
          <a:stretch/>
        </p:blipFill>
        <p:spPr>
          <a:xfrm>
            <a:off x="9859680" y="2999880"/>
            <a:ext cx="1809360" cy="1952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16" name="Picture 17" descr=""/>
          <p:cNvPicPr/>
          <p:nvPr/>
        </p:nvPicPr>
        <p:blipFill>
          <a:blip r:embed="rId4"/>
          <a:stretch/>
        </p:blipFill>
        <p:spPr>
          <a:xfrm>
            <a:off x="460080" y="2783880"/>
            <a:ext cx="2661480" cy="2586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7" name="TextBox 29"/>
          <p:cNvSpPr/>
          <p:nvPr/>
        </p:nvSpPr>
        <p:spPr>
          <a:xfrm>
            <a:off x="2617920" y="1321920"/>
            <a:ext cx="1869480" cy="63828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36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split</a:t>
            </a:r>
            <a:endParaRPr b="0" lang="en-GB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Box 30"/>
          <p:cNvSpPr/>
          <p:nvPr/>
        </p:nvSpPr>
        <p:spPr>
          <a:xfrm>
            <a:off x="6311880" y="1321920"/>
            <a:ext cx="1869480" cy="63828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36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apply</a:t>
            </a:r>
            <a:endParaRPr b="0" lang="en-GB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TextBox 31"/>
          <p:cNvSpPr/>
          <p:nvPr/>
        </p:nvSpPr>
        <p:spPr>
          <a:xfrm>
            <a:off x="9783360" y="1321920"/>
            <a:ext cx="1869480" cy="63828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36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combine</a:t>
            </a:r>
            <a:endParaRPr b="0" lang="en-GB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20" name="Straight Arrow Connector 11"/>
          <p:cNvCxnSpPr/>
          <p:nvPr/>
        </p:nvCxnSpPr>
        <p:spPr>
          <a:xfrm flipV="1">
            <a:off x="3287520" y="2783520"/>
            <a:ext cx="650880" cy="74520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len="med" type="triangle" w="med"/>
          </a:ln>
        </p:spPr>
      </p:cxnSp>
      <p:cxnSp>
        <p:nvCxnSpPr>
          <p:cNvPr id="521" name="Straight Arrow Connector 13"/>
          <p:cNvCxnSpPr/>
          <p:nvPr/>
        </p:nvCxnSpPr>
        <p:spPr>
          <a:xfrm flipV="1">
            <a:off x="3281400" y="3784320"/>
            <a:ext cx="650880" cy="11520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len="med" type="triangle" w="med"/>
          </a:ln>
        </p:spPr>
      </p:cxnSp>
      <p:cxnSp>
        <p:nvCxnSpPr>
          <p:cNvPr id="522" name="Straight Arrow Connector 15"/>
          <p:cNvCxnSpPr/>
          <p:nvPr/>
        </p:nvCxnSpPr>
        <p:spPr>
          <a:xfrm>
            <a:off x="3281760" y="4326480"/>
            <a:ext cx="640080" cy="39888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len="med" type="triangle" w="med"/>
          </a:ln>
        </p:spPr>
      </p:cxnSp>
      <p:cxnSp>
        <p:nvCxnSpPr>
          <p:cNvPr id="523" name="Straight Arrow Connector 17"/>
          <p:cNvCxnSpPr/>
          <p:nvPr/>
        </p:nvCxnSpPr>
        <p:spPr>
          <a:xfrm>
            <a:off x="3291840" y="5254200"/>
            <a:ext cx="640440" cy="118980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len="med" type="triangle" w="med"/>
          </a:ln>
        </p:spPr>
      </p:cxnSp>
      <p:cxnSp>
        <p:nvCxnSpPr>
          <p:cNvPr id="524" name="Straight Arrow Connector 22"/>
          <p:cNvCxnSpPr/>
          <p:nvPr/>
        </p:nvCxnSpPr>
        <p:spPr>
          <a:xfrm>
            <a:off x="3281400" y="4874760"/>
            <a:ext cx="650880" cy="75672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len="med" type="triangle" w="med"/>
          </a:ln>
        </p:spPr>
      </p:cxnSp>
      <p:sp>
        <p:nvSpPr>
          <p:cNvPr id="525" name="TextBox 32"/>
          <p:cNvSpPr/>
          <p:nvPr/>
        </p:nvSpPr>
        <p:spPr>
          <a:xfrm>
            <a:off x="3228840" y="2734560"/>
            <a:ext cx="645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A1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6" name="TextBox 33"/>
          <p:cNvSpPr/>
          <p:nvPr/>
        </p:nvSpPr>
        <p:spPr>
          <a:xfrm>
            <a:off x="3223800" y="3516480"/>
            <a:ext cx="645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A2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Box 34"/>
          <p:cNvSpPr/>
          <p:nvPr/>
        </p:nvSpPr>
        <p:spPr>
          <a:xfrm>
            <a:off x="3223800" y="4020480"/>
            <a:ext cx="645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B1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Box 35"/>
          <p:cNvSpPr/>
          <p:nvPr/>
        </p:nvSpPr>
        <p:spPr>
          <a:xfrm>
            <a:off x="3233520" y="4754520"/>
            <a:ext cx="645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B2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TextBox 36"/>
          <p:cNvSpPr/>
          <p:nvPr/>
        </p:nvSpPr>
        <p:spPr>
          <a:xfrm>
            <a:off x="3233520" y="5244480"/>
            <a:ext cx="645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C2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Right Arrow 2"/>
          <p:cNvSpPr/>
          <p:nvPr/>
        </p:nvSpPr>
        <p:spPr>
          <a:xfrm>
            <a:off x="6996240" y="4089240"/>
            <a:ext cx="501120" cy="85788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CH" sz="1800" strike="noStrike" u="non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531" name="TextBox 37"/>
          <p:cNvSpPr/>
          <p:nvPr/>
        </p:nvSpPr>
        <p:spPr>
          <a:xfrm>
            <a:off x="6837120" y="3702960"/>
            <a:ext cx="779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CH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mean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32" name="Straight Arrow Connector 23"/>
          <p:cNvCxnSpPr/>
          <p:nvPr/>
        </p:nvCxnSpPr>
        <p:spPr>
          <a:xfrm>
            <a:off x="9076320" y="2923920"/>
            <a:ext cx="709920" cy="59544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len="med" type="triangle" w="med"/>
          </a:ln>
        </p:spPr>
      </p:cxnSp>
      <p:cxnSp>
        <p:nvCxnSpPr>
          <p:cNvPr id="533" name="Straight Arrow Connector 24"/>
          <p:cNvCxnSpPr/>
          <p:nvPr/>
        </p:nvCxnSpPr>
        <p:spPr>
          <a:xfrm>
            <a:off x="9076320" y="3645000"/>
            <a:ext cx="709920" cy="19836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len="med" type="triangle" w="med"/>
          </a:ln>
        </p:spPr>
      </p:cxnSp>
      <p:cxnSp>
        <p:nvCxnSpPr>
          <p:cNvPr id="534" name="Straight Arrow Connector 25"/>
          <p:cNvCxnSpPr/>
          <p:nvPr/>
        </p:nvCxnSpPr>
        <p:spPr>
          <a:xfrm flipV="1">
            <a:off x="9065520" y="4205160"/>
            <a:ext cx="720720" cy="21960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len="med" type="triangle" w="med"/>
          </a:ln>
        </p:spPr>
      </p:cxnSp>
      <p:cxnSp>
        <p:nvCxnSpPr>
          <p:cNvPr id="535" name="Straight Arrow Connector 26"/>
          <p:cNvCxnSpPr/>
          <p:nvPr/>
        </p:nvCxnSpPr>
        <p:spPr>
          <a:xfrm flipV="1">
            <a:off x="9076320" y="4421880"/>
            <a:ext cx="709920" cy="71028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len="med" type="triangle" w="med"/>
          </a:ln>
        </p:spPr>
      </p:cxnSp>
      <p:cxnSp>
        <p:nvCxnSpPr>
          <p:cNvPr id="536" name="Straight Arrow Connector 27"/>
          <p:cNvCxnSpPr/>
          <p:nvPr/>
        </p:nvCxnSpPr>
        <p:spPr>
          <a:xfrm flipV="1">
            <a:off x="9076320" y="4775400"/>
            <a:ext cx="709920" cy="116604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len="med" type="triangle" w="med"/>
          </a:ln>
        </p:spPr>
      </p:cxnSp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p>
            <a:fld id="{D16FBA39-670F-4CCA-B827-9B6E9FF324BD}" type="slidenum">
              <a:t>45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560" cy="900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 fontScale="92500" lnSpcReduction="19999"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Split-apply-combine </a:t>
            </a:r>
            <a:br>
              <a:rPr sz="4400"/>
            </a:br>
            <a:r>
              <a:rPr b="0" lang="en-CH" sz="44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operations</a:t>
            </a:r>
            <a:endParaRPr b="0" lang="en-GB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8" name="PlaceHolder 2"/>
          <p:cNvSpPr>
            <a:spLocks noGrp="1"/>
          </p:cNvSpPr>
          <p:nvPr>
            <p:ph type="dt" idx="156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9" name="Rectangle 5"/>
          <p:cNvSpPr/>
          <p:nvPr/>
        </p:nvSpPr>
        <p:spPr>
          <a:xfrm>
            <a:off x="7430400" y="206640"/>
            <a:ext cx="4536000" cy="9874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DE" sz="1800" strike="noStrike" u="none">
              <a:solidFill>
                <a:srgbClr val="000000"/>
              </a:solidFill>
              <a:effectLst/>
              <a:uFillTx/>
              <a:latin typeface="Courier New"/>
              <a:ea typeface="DejaVu Sans"/>
            </a:endParaRPr>
          </a:p>
        </p:txBody>
      </p:sp>
      <p:pic>
        <p:nvPicPr>
          <p:cNvPr id="540" name="Graphic 2" descr=""/>
          <p:cNvPicPr/>
          <p:nvPr/>
        </p:nvPicPr>
        <p:blipFill>
          <a:blip r:embed="rId1"/>
          <a:stretch/>
        </p:blipFill>
        <p:spPr>
          <a:xfrm>
            <a:off x="7511040" y="232200"/>
            <a:ext cx="707400" cy="62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1" name="TextBox 38"/>
          <p:cNvSpPr/>
          <p:nvPr/>
        </p:nvSpPr>
        <p:spPr>
          <a:xfrm>
            <a:off x="8163720" y="225360"/>
            <a:ext cx="1776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DE" sz="1800" strike="noStrike" u="non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Live Coding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2" name="TextBox 39"/>
          <p:cNvSpPr/>
          <p:nvPr/>
        </p:nvSpPr>
        <p:spPr>
          <a:xfrm>
            <a:off x="8301960" y="542880"/>
            <a:ext cx="347976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n</a:t>
            </a:r>
            <a:r>
              <a:rPr b="0" lang="en-DE" sz="1400" strike="noStrike" u="non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otebooks/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030_tabular_data/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030_split-apply-combine.ipynb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p>
            <a:fld id="{7D96F6B8-4620-49A9-95D2-D12D4D1028A0}" type="slidenum">
              <a:t>46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560" cy="90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 fontScale="77500" lnSpcReduction="19999"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Split-apply-combine </a:t>
            </a:r>
            <a:br>
              <a:rPr sz="4400"/>
            </a:br>
            <a:r>
              <a:rPr b="0" lang="en-CH" sz="44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operations</a:t>
            </a:r>
            <a:endParaRPr b="0" lang="en-GB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4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2720" cy="4833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CH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Main points: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Tabular data tools have a way to vectorize the standard</a:t>
            </a:r>
            <a:br>
              <a:rPr sz="2800"/>
            </a:b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split-apply-combine operations, using a “group-by” command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 addition, Pandas has got a “pivot-table” command that can be used to simplify the creation of more complex summary tables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PlaceHolder 3"/>
          <p:cNvSpPr>
            <a:spLocks noGrp="1"/>
          </p:cNvSpPr>
          <p:nvPr>
            <p:ph type="dt" idx="157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6" name="Rectangle 6"/>
          <p:cNvSpPr/>
          <p:nvPr/>
        </p:nvSpPr>
        <p:spPr>
          <a:xfrm>
            <a:off x="7430400" y="206640"/>
            <a:ext cx="4536000" cy="9874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DE" sz="1800" strike="noStrike" u="none">
              <a:solidFill>
                <a:srgbClr val="000000"/>
              </a:solidFill>
              <a:effectLst/>
              <a:uFillTx/>
              <a:latin typeface="Courier New"/>
              <a:ea typeface="DejaVu Sans"/>
            </a:endParaRPr>
          </a:p>
        </p:txBody>
      </p:sp>
      <p:pic>
        <p:nvPicPr>
          <p:cNvPr id="547" name="Graphic 3" descr=""/>
          <p:cNvPicPr/>
          <p:nvPr/>
        </p:nvPicPr>
        <p:blipFill>
          <a:blip r:embed="rId1"/>
          <a:stretch/>
        </p:blipFill>
        <p:spPr>
          <a:xfrm>
            <a:off x="7511040" y="232200"/>
            <a:ext cx="707400" cy="62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8" name="TextBox 40"/>
          <p:cNvSpPr/>
          <p:nvPr/>
        </p:nvSpPr>
        <p:spPr>
          <a:xfrm>
            <a:off x="8163720" y="225360"/>
            <a:ext cx="1776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DE" sz="1800" strike="noStrike" u="non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Live Coding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9" name="TextBox 41"/>
          <p:cNvSpPr/>
          <p:nvPr/>
        </p:nvSpPr>
        <p:spPr>
          <a:xfrm>
            <a:off x="8301960" y="542880"/>
            <a:ext cx="347976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n</a:t>
            </a:r>
            <a:r>
              <a:rPr b="0" lang="en-DE" sz="1400" strike="noStrike" u="non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otebooks/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030_tabular_data/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030_split-apply-combine.ipynb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2EC60D6C-3E2C-4175-B228-15E47D61D1A4}" type="slidenum">
              <a:t>47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PlaceHolder 1"/>
          <p:cNvSpPr>
            <a:spLocks noGrp="1"/>
          </p:cNvSpPr>
          <p:nvPr>
            <p:ph type="dt" idx="158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51" name="Picture 3" descr=""/>
          <p:cNvPicPr/>
          <p:nvPr/>
        </p:nvPicPr>
        <p:blipFill>
          <a:blip r:embed="rId1"/>
          <a:stretch/>
        </p:blipFill>
        <p:spPr>
          <a:xfrm>
            <a:off x="3935880" y="2162520"/>
            <a:ext cx="2883960" cy="4556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2" name="Picture 19" descr=""/>
          <p:cNvPicPr/>
          <p:nvPr/>
        </p:nvPicPr>
        <p:blipFill>
          <a:blip r:embed="rId2"/>
          <a:stretch/>
        </p:blipFill>
        <p:spPr>
          <a:xfrm>
            <a:off x="7584840" y="2500560"/>
            <a:ext cx="1474200" cy="3626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3" name="Picture 20" descr=""/>
          <p:cNvPicPr/>
          <p:nvPr/>
        </p:nvPicPr>
        <p:blipFill>
          <a:blip r:embed="rId3"/>
          <a:stretch/>
        </p:blipFill>
        <p:spPr>
          <a:xfrm>
            <a:off x="9859680" y="2999880"/>
            <a:ext cx="1809360" cy="1952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4" name="Picture 21" descr=""/>
          <p:cNvPicPr/>
          <p:nvPr/>
        </p:nvPicPr>
        <p:blipFill>
          <a:blip r:embed="rId4"/>
          <a:stretch/>
        </p:blipFill>
        <p:spPr>
          <a:xfrm>
            <a:off x="460080" y="2783880"/>
            <a:ext cx="2661480" cy="2586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5" name="TextBox 42"/>
          <p:cNvSpPr/>
          <p:nvPr/>
        </p:nvSpPr>
        <p:spPr>
          <a:xfrm>
            <a:off x="2617920" y="1321920"/>
            <a:ext cx="1869480" cy="63828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36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split</a:t>
            </a:r>
            <a:endParaRPr b="0" lang="en-GB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6" name="TextBox 43"/>
          <p:cNvSpPr/>
          <p:nvPr/>
        </p:nvSpPr>
        <p:spPr>
          <a:xfrm>
            <a:off x="6311880" y="1321920"/>
            <a:ext cx="1869480" cy="63828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36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apply</a:t>
            </a:r>
            <a:endParaRPr b="0" lang="en-GB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7" name="TextBox 44"/>
          <p:cNvSpPr/>
          <p:nvPr/>
        </p:nvSpPr>
        <p:spPr>
          <a:xfrm>
            <a:off x="9783360" y="1321920"/>
            <a:ext cx="1869480" cy="63828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36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combine</a:t>
            </a:r>
            <a:endParaRPr b="0" lang="en-GB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58" name="Straight Arrow Connector 1"/>
          <p:cNvCxnSpPr/>
          <p:nvPr/>
        </p:nvCxnSpPr>
        <p:spPr>
          <a:xfrm flipV="1">
            <a:off x="3287520" y="2783520"/>
            <a:ext cx="650880" cy="74520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len="med" type="triangle" w="med"/>
          </a:ln>
        </p:spPr>
      </p:cxnSp>
      <p:cxnSp>
        <p:nvCxnSpPr>
          <p:cNvPr id="559" name="Straight Arrow Connector 2"/>
          <p:cNvCxnSpPr/>
          <p:nvPr/>
        </p:nvCxnSpPr>
        <p:spPr>
          <a:xfrm flipV="1">
            <a:off x="3281400" y="3784320"/>
            <a:ext cx="650880" cy="11520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len="med" type="triangle" w="med"/>
          </a:ln>
        </p:spPr>
      </p:cxnSp>
      <p:cxnSp>
        <p:nvCxnSpPr>
          <p:cNvPr id="560" name="Straight Arrow Connector 3"/>
          <p:cNvCxnSpPr/>
          <p:nvPr/>
        </p:nvCxnSpPr>
        <p:spPr>
          <a:xfrm>
            <a:off x="3281760" y="4326480"/>
            <a:ext cx="640080" cy="39888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len="med" type="triangle" w="med"/>
          </a:ln>
        </p:spPr>
      </p:cxnSp>
      <p:cxnSp>
        <p:nvCxnSpPr>
          <p:cNvPr id="561" name="Straight Arrow Connector 4"/>
          <p:cNvCxnSpPr/>
          <p:nvPr/>
        </p:nvCxnSpPr>
        <p:spPr>
          <a:xfrm>
            <a:off x="3291840" y="5254200"/>
            <a:ext cx="640440" cy="118980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len="med" type="triangle" w="med"/>
          </a:ln>
        </p:spPr>
      </p:cxnSp>
      <p:cxnSp>
        <p:nvCxnSpPr>
          <p:cNvPr id="562" name="Straight Arrow Connector 5"/>
          <p:cNvCxnSpPr/>
          <p:nvPr/>
        </p:nvCxnSpPr>
        <p:spPr>
          <a:xfrm>
            <a:off x="3281400" y="4874760"/>
            <a:ext cx="650880" cy="75672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len="med" type="triangle" w="med"/>
          </a:ln>
        </p:spPr>
      </p:cxnSp>
      <p:sp>
        <p:nvSpPr>
          <p:cNvPr id="563" name="TextBox 45"/>
          <p:cNvSpPr/>
          <p:nvPr/>
        </p:nvSpPr>
        <p:spPr>
          <a:xfrm>
            <a:off x="3228840" y="2734560"/>
            <a:ext cx="645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A1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4" name="TextBox 46"/>
          <p:cNvSpPr/>
          <p:nvPr/>
        </p:nvSpPr>
        <p:spPr>
          <a:xfrm>
            <a:off x="3223800" y="3516480"/>
            <a:ext cx="645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A2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5" name="TextBox 47"/>
          <p:cNvSpPr/>
          <p:nvPr/>
        </p:nvSpPr>
        <p:spPr>
          <a:xfrm>
            <a:off x="3223800" y="4020480"/>
            <a:ext cx="645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B1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6" name="TextBox 48"/>
          <p:cNvSpPr/>
          <p:nvPr/>
        </p:nvSpPr>
        <p:spPr>
          <a:xfrm>
            <a:off x="3233520" y="4754520"/>
            <a:ext cx="645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B2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7" name="TextBox 49"/>
          <p:cNvSpPr/>
          <p:nvPr/>
        </p:nvSpPr>
        <p:spPr>
          <a:xfrm>
            <a:off x="3233520" y="5244480"/>
            <a:ext cx="645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C2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Right Arrow 1"/>
          <p:cNvSpPr/>
          <p:nvPr/>
        </p:nvSpPr>
        <p:spPr>
          <a:xfrm>
            <a:off x="6996240" y="4089240"/>
            <a:ext cx="501120" cy="85788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CH" sz="1800" strike="noStrike" u="non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569" name="TextBox 50"/>
          <p:cNvSpPr/>
          <p:nvPr/>
        </p:nvSpPr>
        <p:spPr>
          <a:xfrm>
            <a:off x="6837120" y="3702960"/>
            <a:ext cx="779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CH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mean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70" name="Straight Arrow Connector 6"/>
          <p:cNvCxnSpPr/>
          <p:nvPr/>
        </p:nvCxnSpPr>
        <p:spPr>
          <a:xfrm>
            <a:off x="9076320" y="2923920"/>
            <a:ext cx="709920" cy="59544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len="med" type="triangle" w="med"/>
          </a:ln>
        </p:spPr>
      </p:cxnSp>
      <p:cxnSp>
        <p:nvCxnSpPr>
          <p:cNvPr id="571" name="Straight Arrow Connector 7"/>
          <p:cNvCxnSpPr/>
          <p:nvPr/>
        </p:nvCxnSpPr>
        <p:spPr>
          <a:xfrm>
            <a:off x="9076320" y="3645000"/>
            <a:ext cx="709920" cy="19836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len="med" type="triangle" w="med"/>
          </a:ln>
        </p:spPr>
      </p:cxnSp>
      <p:cxnSp>
        <p:nvCxnSpPr>
          <p:cNvPr id="572" name="Straight Arrow Connector 8"/>
          <p:cNvCxnSpPr/>
          <p:nvPr/>
        </p:nvCxnSpPr>
        <p:spPr>
          <a:xfrm flipV="1">
            <a:off x="9065520" y="4205160"/>
            <a:ext cx="720720" cy="21960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len="med" type="triangle" w="med"/>
          </a:ln>
        </p:spPr>
      </p:cxnSp>
      <p:cxnSp>
        <p:nvCxnSpPr>
          <p:cNvPr id="573" name="Straight Arrow Connector 9"/>
          <p:cNvCxnSpPr/>
          <p:nvPr/>
        </p:nvCxnSpPr>
        <p:spPr>
          <a:xfrm flipV="1">
            <a:off x="9076320" y="4421880"/>
            <a:ext cx="709920" cy="71028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len="med" type="triangle" w="med"/>
          </a:ln>
        </p:spPr>
      </p:cxnSp>
      <p:cxnSp>
        <p:nvCxnSpPr>
          <p:cNvPr id="574" name="Straight Arrow Connector 28"/>
          <p:cNvCxnSpPr/>
          <p:nvPr/>
        </p:nvCxnSpPr>
        <p:spPr>
          <a:xfrm flipV="1">
            <a:off x="9076320" y="4775400"/>
            <a:ext cx="709920" cy="116604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len="med" type="triangle" w="med"/>
          </a:ln>
        </p:spPr>
      </p:cxnSp>
      <p:sp>
        <p:nvSpPr>
          <p:cNvPr id="575" name="TextBox 51"/>
          <p:cNvSpPr/>
          <p:nvPr/>
        </p:nvSpPr>
        <p:spPr>
          <a:xfrm>
            <a:off x="515520" y="293760"/>
            <a:ext cx="1115820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2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df</a:t>
            </a:r>
            <a:r>
              <a:rPr b="0" lang="en-CH" sz="2800" strike="noStrike" u="non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.groupby(‘condition_id’)</a:t>
            </a:r>
            <a:r>
              <a:rPr b="0" lang="en-CH" sz="2800" strike="noStrike" u="non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[‘response_time’].mean()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3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74"/>
          </p:nvPr>
        </p:nvSpPr>
        <p:spPr/>
        <p:txBody>
          <a:bodyPr/>
          <a:p>
            <a:fld id="{07B2B0CA-378F-4A89-99C8-FB693B46DAAD}" type="slidenum">
              <a:t>48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PlaceHolder 1"/>
          <p:cNvSpPr>
            <a:spLocks noGrp="1"/>
          </p:cNvSpPr>
          <p:nvPr>
            <p:ph type="dt" idx="159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77" name="Picture 22" descr=""/>
          <p:cNvPicPr/>
          <p:nvPr/>
        </p:nvPicPr>
        <p:blipFill>
          <a:blip r:embed="rId1"/>
          <a:stretch/>
        </p:blipFill>
        <p:spPr>
          <a:xfrm>
            <a:off x="1775520" y="2645640"/>
            <a:ext cx="3396600" cy="3300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8" name="TextBox 52"/>
          <p:cNvSpPr/>
          <p:nvPr/>
        </p:nvSpPr>
        <p:spPr>
          <a:xfrm>
            <a:off x="9984600" y="476640"/>
            <a:ext cx="1869480" cy="63828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36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split</a:t>
            </a:r>
            <a:endParaRPr b="0" lang="en-GB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TextBox 53"/>
          <p:cNvSpPr/>
          <p:nvPr/>
        </p:nvSpPr>
        <p:spPr>
          <a:xfrm>
            <a:off x="9984600" y="1214280"/>
            <a:ext cx="1869480" cy="63828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36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apply</a:t>
            </a:r>
            <a:endParaRPr b="0" lang="en-GB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0" name="TextBox 54"/>
          <p:cNvSpPr/>
          <p:nvPr/>
        </p:nvSpPr>
        <p:spPr>
          <a:xfrm>
            <a:off x="9987480" y="2017440"/>
            <a:ext cx="1869480" cy="63828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36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combine</a:t>
            </a:r>
            <a:endParaRPr b="0" lang="en-GB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1" name="TextBox 55"/>
          <p:cNvSpPr/>
          <p:nvPr/>
        </p:nvSpPr>
        <p:spPr>
          <a:xfrm>
            <a:off x="515520" y="325800"/>
            <a:ext cx="11158200" cy="179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data.pivot_table(</a:t>
            </a:r>
            <a:br>
              <a:rPr sz="2800"/>
            </a:b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	</a:t>
            </a:r>
            <a:r>
              <a:rPr b="0" lang="en-US" sz="2800" strike="noStrike" u="non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index='condition_id', columns='response'</a:t>
            </a: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, </a:t>
            </a: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	</a:t>
            </a:r>
            <a:r>
              <a:rPr b="0" lang="en-US" sz="2800" strike="noStrike" u="non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values='response_time', aggfunc='mean',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)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2" name="Picture 23" descr=""/>
          <p:cNvPicPr/>
          <p:nvPr/>
        </p:nvPicPr>
        <p:blipFill>
          <a:blip r:embed="rId2"/>
          <a:stretch/>
        </p:blipFill>
        <p:spPr>
          <a:xfrm>
            <a:off x="6966000" y="3065400"/>
            <a:ext cx="2372040" cy="2460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3" name="Right Arrow 4"/>
          <p:cNvSpPr/>
          <p:nvPr/>
        </p:nvSpPr>
        <p:spPr>
          <a:xfrm>
            <a:off x="5818320" y="3867120"/>
            <a:ext cx="501120" cy="85788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CH" sz="1800" strike="noStrike" u="non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3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74"/>
          </p:nvPr>
        </p:nvSpPr>
        <p:spPr/>
        <p:txBody>
          <a:bodyPr/>
          <a:p>
            <a:fld id="{043627BA-2051-466B-B956-B2D4DF5310A4}" type="slidenum">
              <a:t>49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Rectangle 9"/>
          <p:cNvSpPr/>
          <p:nvPr/>
        </p:nvSpPr>
        <p:spPr>
          <a:xfrm>
            <a:off x="7428240" y="205920"/>
            <a:ext cx="4536000" cy="98748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DE" sz="1800" strike="noStrike" u="none">
              <a:solidFill>
                <a:srgbClr val="000000"/>
              </a:solidFill>
              <a:effectLst/>
              <a:uFillTx/>
              <a:latin typeface="Courier New"/>
              <a:ea typeface="DejaVu Sans"/>
            </a:endParaRPr>
          </a:p>
        </p:txBody>
      </p:sp>
      <p:sp>
        <p:nvSpPr>
          <p:cNvPr id="585" name="PlaceHolder 1"/>
          <p:cNvSpPr>
            <a:spLocks noGrp="1"/>
          </p:cNvSpPr>
          <p:nvPr>
            <p:ph/>
          </p:nvPr>
        </p:nvSpPr>
        <p:spPr>
          <a:xfrm>
            <a:off x="838080" y="1340640"/>
            <a:ext cx="10512720" cy="4833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Compute summary statistics to answer the question:</a:t>
            </a:r>
            <a:br>
              <a:rPr sz="2800"/>
            </a:b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Did the Mediterranean diet help prevent cardiovascular events?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Submit a PR on</a:t>
            </a:r>
            <a:br>
              <a:rPr sz="2800"/>
            </a:b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git.aspp.school/ASPP/2025-plovdiv-data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PlaceHolder 2"/>
          <p:cNvSpPr>
            <a:spLocks noGrp="1"/>
          </p:cNvSpPr>
          <p:nvPr>
            <p:ph type="dt" idx="160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7" name="TextBox 56"/>
          <p:cNvSpPr/>
          <p:nvPr/>
        </p:nvSpPr>
        <p:spPr>
          <a:xfrm>
            <a:off x="7930800" y="224640"/>
            <a:ext cx="1776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DE" sz="1800" strike="noStrike" u="non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Exercise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8" name="Graphic 4" descr=""/>
          <p:cNvPicPr/>
          <p:nvPr/>
        </p:nvPicPr>
        <p:blipFill>
          <a:blip r:embed="rId1"/>
          <a:stretch/>
        </p:blipFill>
        <p:spPr>
          <a:xfrm>
            <a:off x="7474680" y="273960"/>
            <a:ext cx="691560" cy="552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9" name="TextBox 57"/>
          <p:cNvSpPr/>
          <p:nvPr/>
        </p:nvSpPr>
        <p:spPr>
          <a:xfrm>
            <a:off x="8301960" y="542880"/>
            <a:ext cx="347976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exercises/</a:t>
            </a:r>
            <a:br>
              <a:rPr sz="1400"/>
            </a:b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tabular_split_apply_combine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0" name="PlaceHolder 3"/>
          <p:cNvSpPr>
            <a:spLocks noGrp="1"/>
          </p:cNvSpPr>
          <p:nvPr>
            <p:ph type="title"/>
          </p:nvPr>
        </p:nvSpPr>
        <p:spPr>
          <a:xfrm>
            <a:off x="346680" y="365040"/>
            <a:ext cx="6895800" cy="950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 fontScale="70000" lnSpcReduction="19999"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44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Hands-on</a:t>
            </a:r>
            <a:br>
              <a:rPr sz="4400"/>
            </a:br>
            <a:endParaRPr b="0" lang="en-GB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62B7ADB5-4BEB-41C6-A9C9-F3331DEA6F31}" type="slidenum">
              <a:t>50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Rectangle 10"/>
          <p:cNvSpPr/>
          <p:nvPr/>
        </p:nvSpPr>
        <p:spPr>
          <a:xfrm>
            <a:off x="7428240" y="205920"/>
            <a:ext cx="4536000" cy="98748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DE" sz="1800" strike="noStrike" u="none">
              <a:solidFill>
                <a:srgbClr val="000000"/>
              </a:solidFill>
              <a:effectLst/>
              <a:uFillTx/>
              <a:latin typeface="Courier New"/>
              <a:ea typeface="DejaVu Sans"/>
            </a:endParaRPr>
          </a:p>
        </p:txBody>
      </p:sp>
      <p:sp>
        <p:nvSpPr>
          <p:cNvPr id="592" name="PlaceHolder 1"/>
          <p:cNvSpPr>
            <a:spLocks noGrp="1"/>
          </p:cNvSpPr>
          <p:nvPr>
            <p:ph/>
          </p:nvPr>
        </p:nvSpPr>
        <p:spPr>
          <a:xfrm>
            <a:off x="838080" y="1340640"/>
            <a:ext cx="10512720" cy="4833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Compute some summary tables for the WHO tuberculosis data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3" name="PlaceHolder 2"/>
          <p:cNvSpPr>
            <a:spLocks noGrp="1"/>
          </p:cNvSpPr>
          <p:nvPr>
            <p:ph type="dt" idx="161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4" name="TextBox 58"/>
          <p:cNvSpPr/>
          <p:nvPr/>
        </p:nvSpPr>
        <p:spPr>
          <a:xfrm>
            <a:off x="7930800" y="224640"/>
            <a:ext cx="1776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DE" sz="1800" strike="noStrike" u="non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Exercise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5" name="Graphic 5" descr=""/>
          <p:cNvPicPr/>
          <p:nvPr/>
        </p:nvPicPr>
        <p:blipFill>
          <a:blip r:embed="rId1"/>
          <a:stretch/>
        </p:blipFill>
        <p:spPr>
          <a:xfrm>
            <a:off x="7474680" y="273960"/>
            <a:ext cx="691560" cy="552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6" name="TextBox 59"/>
          <p:cNvSpPr/>
          <p:nvPr/>
        </p:nvSpPr>
        <p:spPr>
          <a:xfrm>
            <a:off x="8301960" y="542880"/>
            <a:ext cx="34797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exercises/tabular_tuberculosis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7" name="PlaceHolder 3"/>
          <p:cNvSpPr>
            <a:spLocks noGrp="1"/>
          </p:cNvSpPr>
          <p:nvPr>
            <p:ph type="title"/>
          </p:nvPr>
        </p:nvSpPr>
        <p:spPr>
          <a:xfrm>
            <a:off x="346680" y="365040"/>
            <a:ext cx="5890320" cy="950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 fontScale="70000" lnSpcReduction="19999"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44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Hands-on</a:t>
            </a:r>
            <a:br>
              <a:rPr sz="4400"/>
            </a:br>
            <a:endParaRPr b="0" lang="en-GB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8" name="Picture 24" descr=""/>
          <p:cNvPicPr/>
          <p:nvPr/>
        </p:nvPicPr>
        <p:blipFill>
          <a:blip r:embed="rId2"/>
          <a:stretch/>
        </p:blipFill>
        <p:spPr>
          <a:xfrm>
            <a:off x="1559520" y="2781000"/>
            <a:ext cx="8913600" cy="287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9" name="TextBox 60"/>
          <p:cNvSpPr/>
          <p:nvPr/>
        </p:nvSpPr>
        <p:spPr>
          <a:xfrm>
            <a:off x="4223880" y="2137320"/>
            <a:ext cx="789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Males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TextBox 61"/>
          <p:cNvSpPr/>
          <p:nvPr/>
        </p:nvSpPr>
        <p:spPr>
          <a:xfrm>
            <a:off x="5026320" y="2137320"/>
            <a:ext cx="1513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15-24 years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01" name="Straight Arrow Connector 29"/>
          <p:cNvCxnSpPr>
            <a:stCxn id="599" idx="2"/>
          </p:cNvCxnSpPr>
          <p:nvPr/>
        </p:nvCxnSpPr>
        <p:spPr>
          <a:xfrm>
            <a:off x="4618440" y="2501280"/>
            <a:ext cx="255960" cy="354240"/>
          </a:xfrm>
          <a:prstGeom prst="straightConnector1">
            <a:avLst/>
          </a:prstGeom>
          <a:ln w="3810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602" name="Straight Arrow Connector 30"/>
          <p:cNvCxnSpPr/>
          <p:nvPr/>
        </p:nvCxnSpPr>
        <p:spPr>
          <a:xfrm flipH="1">
            <a:off x="5159880" y="2423160"/>
            <a:ext cx="241920" cy="432360"/>
          </a:xfrm>
          <a:prstGeom prst="straightConnector1">
            <a:avLst/>
          </a:prstGeom>
          <a:ln w="3810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388065A4-2DFF-45EA-BD45-A18B1111847D}" type="slidenum">
              <a:t>51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PlaceHolder 1"/>
          <p:cNvSpPr>
            <a:spLocks noGrp="1"/>
          </p:cNvSpPr>
          <p:nvPr>
            <p:ph type="title"/>
          </p:nvPr>
        </p:nvSpPr>
        <p:spPr>
          <a:xfrm>
            <a:off x="838080" y="2709000"/>
            <a:ext cx="10512720" cy="900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54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Window functions</a:t>
            </a:r>
            <a:endParaRPr b="0" lang="en-GB" sz="5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4" name="PlaceHolder 2"/>
          <p:cNvSpPr>
            <a:spLocks noGrp="1"/>
          </p:cNvSpPr>
          <p:nvPr>
            <p:ph type="dt" idx="162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p>
            <a:fld id="{8A3F375B-3E61-461D-A3B7-A950E8D40B4F}" type="slidenum">
              <a:t>52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560" cy="90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 fontScale="92500" lnSpcReduction="9999"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Window functions: grouped row-by-row operations</a:t>
            </a:r>
            <a:endParaRPr b="0" lang="en-GB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6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2720" cy="4833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“Window functions” are a kind of split-apply-combine operation, but instead of aggregating the data in a group and returning one value per group, they return one value per row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Examples: ranking all entries in a group; computing the distance between timestamps per group; number the rows by group in chronological order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CH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 Pandas, most of these operations can be performed with a combination of sorting and grouping-by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7" name="PlaceHolder 3"/>
          <p:cNvSpPr>
            <a:spLocks noGrp="1"/>
          </p:cNvSpPr>
          <p:nvPr>
            <p:ph type="dt" idx="163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6B1D8BB0-1061-4C55-9F8D-50A76BE17270}" type="slidenum">
              <a:t>53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560" cy="900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Window functions</a:t>
            </a:r>
            <a:endParaRPr b="0" lang="en-GB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9" name="PlaceHolder 2"/>
          <p:cNvSpPr>
            <a:spLocks noGrp="1"/>
          </p:cNvSpPr>
          <p:nvPr>
            <p:ph type="dt" idx="164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0" name="Rectangle 7"/>
          <p:cNvSpPr/>
          <p:nvPr/>
        </p:nvSpPr>
        <p:spPr>
          <a:xfrm>
            <a:off x="7430400" y="206640"/>
            <a:ext cx="4536000" cy="9874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DE" sz="1800" strike="noStrike" u="none">
              <a:solidFill>
                <a:srgbClr val="000000"/>
              </a:solidFill>
              <a:effectLst/>
              <a:uFillTx/>
              <a:latin typeface="Courier New"/>
              <a:ea typeface="DejaVu Sans"/>
            </a:endParaRPr>
          </a:p>
        </p:txBody>
      </p:sp>
      <p:pic>
        <p:nvPicPr>
          <p:cNvPr id="611" name="Graphic 8" descr=""/>
          <p:cNvPicPr/>
          <p:nvPr/>
        </p:nvPicPr>
        <p:blipFill>
          <a:blip r:embed="rId1"/>
          <a:stretch/>
        </p:blipFill>
        <p:spPr>
          <a:xfrm>
            <a:off x="7511040" y="232200"/>
            <a:ext cx="707400" cy="62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2" name="TextBox 9"/>
          <p:cNvSpPr/>
          <p:nvPr/>
        </p:nvSpPr>
        <p:spPr>
          <a:xfrm>
            <a:off x="8163720" y="225360"/>
            <a:ext cx="1776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DE" sz="1800" strike="noStrike" u="non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Live Coding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TextBox 10"/>
          <p:cNvSpPr/>
          <p:nvPr/>
        </p:nvSpPr>
        <p:spPr>
          <a:xfrm>
            <a:off x="8301960" y="542880"/>
            <a:ext cx="347976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n</a:t>
            </a:r>
            <a:r>
              <a:rPr b="0" lang="en-DE" sz="1400" strike="noStrike" u="non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otebooks/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tabular_data/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040_window_functions.ipynb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p>
            <a:fld id="{D91BBA4D-E36C-40B8-8994-7850236436A3}" type="slidenum">
              <a:t>54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560" cy="90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Window functions</a:t>
            </a:r>
            <a:endParaRPr b="0" lang="en-GB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5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2720" cy="4833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Main points: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Window functions perform row-by-row operations on grouped data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They are an advanced way of avoiding for loops with tabular data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 Pandas, they can be achieved with a combo of sorting and grouping-by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6" name="PlaceHolder 3"/>
          <p:cNvSpPr>
            <a:spLocks noGrp="1"/>
          </p:cNvSpPr>
          <p:nvPr>
            <p:ph type="dt" idx="165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7" name="Rectangle 7"/>
          <p:cNvSpPr/>
          <p:nvPr/>
        </p:nvSpPr>
        <p:spPr>
          <a:xfrm>
            <a:off x="7430400" y="206640"/>
            <a:ext cx="4536000" cy="9874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DE" sz="1800" strike="noStrike" u="none">
              <a:solidFill>
                <a:srgbClr val="000000"/>
              </a:solidFill>
              <a:effectLst/>
              <a:uFillTx/>
              <a:latin typeface="Courier New"/>
              <a:ea typeface="DejaVu Sans"/>
            </a:endParaRPr>
          </a:p>
        </p:txBody>
      </p:sp>
      <p:pic>
        <p:nvPicPr>
          <p:cNvPr id="618" name="Graphic 8" descr=""/>
          <p:cNvPicPr/>
          <p:nvPr/>
        </p:nvPicPr>
        <p:blipFill>
          <a:blip r:embed="rId1"/>
          <a:stretch/>
        </p:blipFill>
        <p:spPr>
          <a:xfrm>
            <a:off x="7511040" y="232200"/>
            <a:ext cx="707400" cy="62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9" name="TextBox 9"/>
          <p:cNvSpPr/>
          <p:nvPr/>
        </p:nvSpPr>
        <p:spPr>
          <a:xfrm>
            <a:off x="8163720" y="225360"/>
            <a:ext cx="1776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DE" sz="1800" strike="noStrike" u="non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Live Coding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0" name="TextBox 10"/>
          <p:cNvSpPr/>
          <p:nvPr/>
        </p:nvSpPr>
        <p:spPr>
          <a:xfrm>
            <a:off x="8301960" y="542880"/>
            <a:ext cx="347976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n</a:t>
            </a:r>
            <a:r>
              <a:rPr b="0" lang="en-DE" sz="1400" strike="noStrike" u="non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otebooks/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tabular_data/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040_window_functions.ipynb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6CBDC3A0-E3BE-4DCC-9E73-28BD25AC4327}" type="slidenum">
              <a:t>55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560" cy="900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Window functions operations</a:t>
            </a:r>
            <a:endParaRPr b="0" lang="en-GB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2" name="PlaceHolder 2"/>
          <p:cNvSpPr>
            <a:spLocks noGrp="1"/>
          </p:cNvSpPr>
          <p:nvPr>
            <p:ph type="dt" idx="166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cxnSp>
        <p:nvCxnSpPr>
          <p:cNvPr id="623" name="Straight Arrow Connector 19"/>
          <p:cNvCxnSpPr/>
          <p:nvPr/>
        </p:nvCxnSpPr>
        <p:spPr>
          <a:xfrm flipV="1">
            <a:off x="2829600" y="2564640"/>
            <a:ext cx="411120" cy="67248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len="med" type="triangle" w="med"/>
          </a:ln>
        </p:spPr>
      </p:cxnSp>
      <p:cxnSp>
        <p:nvCxnSpPr>
          <p:cNvPr id="624" name="Straight Arrow Connector 20"/>
          <p:cNvCxnSpPr/>
          <p:nvPr/>
        </p:nvCxnSpPr>
        <p:spPr>
          <a:xfrm flipV="1">
            <a:off x="2822760" y="3840480"/>
            <a:ext cx="526320" cy="9468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len="med" type="triangle" w="med"/>
          </a:ln>
        </p:spPr>
      </p:cxnSp>
      <p:cxnSp>
        <p:nvCxnSpPr>
          <p:cNvPr id="625" name="Straight Arrow Connector 21"/>
          <p:cNvCxnSpPr/>
          <p:nvPr/>
        </p:nvCxnSpPr>
        <p:spPr>
          <a:xfrm>
            <a:off x="2811600" y="4768920"/>
            <a:ext cx="549720" cy="67896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len="med" type="triangle" w="med"/>
          </a:ln>
        </p:spPr>
      </p:cxnSp>
      <p:cxnSp>
        <p:nvCxnSpPr>
          <p:cNvPr id="626" name="Straight Arrow Connector 42"/>
          <p:cNvCxnSpPr/>
          <p:nvPr/>
        </p:nvCxnSpPr>
        <p:spPr>
          <a:xfrm>
            <a:off x="8301240" y="2178720"/>
            <a:ext cx="473400" cy="31320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len="med" type="triangle" w="med"/>
          </a:ln>
        </p:spPr>
      </p:cxnSp>
      <p:cxnSp>
        <p:nvCxnSpPr>
          <p:cNvPr id="627" name="Straight Arrow Connector 44"/>
          <p:cNvCxnSpPr/>
          <p:nvPr/>
        </p:nvCxnSpPr>
        <p:spPr>
          <a:xfrm>
            <a:off x="8301240" y="3955320"/>
            <a:ext cx="460080" cy="19836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len="med" type="triangle" w="med"/>
          </a:ln>
        </p:spPr>
      </p:cxnSp>
      <p:cxnSp>
        <p:nvCxnSpPr>
          <p:cNvPr id="628" name="Straight Arrow Connector 48"/>
          <p:cNvCxnSpPr/>
          <p:nvPr/>
        </p:nvCxnSpPr>
        <p:spPr>
          <a:xfrm flipV="1">
            <a:off x="8301240" y="4747320"/>
            <a:ext cx="460080" cy="69516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len="med" type="triangle" w="med"/>
          </a:ln>
        </p:spPr>
      </p:cxnSp>
      <p:sp>
        <p:nvSpPr>
          <p:cNvPr id="629" name="TextBox 2"/>
          <p:cNvSpPr/>
          <p:nvPr/>
        </p:nvSpPr>
        <p:spPr>
          <a:xfrm>
            <a:off x="623520" y="1041120"/>
            <a:ext cx="11332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1800" strike="noStrike" u="none">
                <a:solidFill>
                  <a:schemeClr val="accent6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df['nr_lefts'] </a:t>
            </a:r>
            <a:r>
              <a:rPr b="0" lang="en-CH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= df</a:t>
            </a:r>
            <a:r>
              <a:rPr b="0" lang="en-CH" sz="1800" strike="noStrike" u="non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.sort_values('time (ms)').groupby('subject_id')</a:t>
            </a:r>
            <a:r>
              <a:rPr b="0" lang="en-CH" sz="1800" strike="noStrike" u="none">
                <a:solidFill>
                  <a:schemeClr val="accent5">
                    <a:lumMod val="50000"/>
                  </a:schemeClr>
                </a:solidFill>
                <a:effectLst/>
                <a:uFillTx/>
                <a:latin typeface="Consolas"/>
                <a:ea typeface="DejaVu Sans"/>
              </a:rPr>
              <a:t>['is_left'].cumsum()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30" name="Picture 10" descr=""/>
          <p:cNvPicPr/>
          <p:nvPr/>
        </p:nvPicPr>
        <p:blipFill>
          <a:blip r:embed="rId1"/>
          <a:stretch/>
        </p:blipFill>
        <p:spPr>
          <a:xfrm>
            <a:off x="142920" y="2124720"/>
            <a:ext cx="2607120" cy="3429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31" name="Picture 18" descr=""/>
          <p:cNvPicPr/>
          <p:nvPr/>
        </p:nvPicPr>
        <p:blipFill>
          <a:blip r:embed="rId2"/>
          <a:stretch/>
        </p:blipFill>
        <p:spPr>
          <a:xfrm>
            <a:off x="3404520" y="1479960"/>
            <a:ext cx="3017160" cy="4873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32" name="Picture 26" descr=""/>
          <p:cNvPicPr/>
          <p:nvPr/>
        </p:nvPicPr>
        <p:blipFill>
          <a:blip r:embed="rId3"/>
          <a:stretch/>
        </p:blipFill>
        <p:spPr>
          <a:xfrm>
            <a:off x="7079040" y="1479960"/>
            <a:ext cx="1091160" cy="4916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3" name="Right Arrow 27"/>
          <p:cNvSpPr/>
          <p:nvPr/>
        </p:nvSpPr>
        <p:spPr>
          <a:xfrm>
            <a:off x="6519240" y="3429000"/>
            <a:ext cx="501120" cy="85788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CH" sz="1800" strike="noStrike" u="non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634" name="Picture 28" descr=""/>
          <p:cNvPicPr/>
          <p:nvPr/>
        </p:nvPicPr>
        <p:blipFill>
          <a:blip r:embed="rId4"/>
          <a:stretch/>
        </p:blipFill>
        <p:spPr>
          <a:xfrm>
            <a:off x="8968680" y="2124720"/>
            <a:ext cx="3101040" cy="3439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p>
            <a:fld id="{82A41136-7CFB-4BE0-8448-2C39ED524C24}" type="slidenum">
              <a:t>56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Rectangle 2"/>
          <p:cNvSpPr/>
          <p:nvPr/>
        </p:nvSpPr>
        <p:spPr>
          <a:xfrm>
            <a:off x="7428240" y="205920"/>
            <a:ext cx="4536000" cy="98748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DE" sz="1800" strike="noStrike" u="none">
              <a:solidFill>
                <a:srgbClr val="000000"/>
              </a:solidFill>
              <a:effectLst/>
              <a:uFillTx/>
              <a:latin typeface="Courier New"/>
              <a:ea typeface="DejaVu Sans"/>
            </a:endParaRPr>
          </a:p>
        </p:txBody>
      </p:sp>
      <p:sp>
        <p:nvSpPr>
          <p:cNvPr id="636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560" cy="90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Hands-on</a:t>
            </a:r>
            <a:endParaRPr b="0" lang="en-GB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7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2720" cy="4833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Compute the cumulative number of cases across time, per diet group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Submit a PR on</a:t>
            </a:r>
            <a:br>
              <a:rPr sz="2800"/>
            </a:b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git.aspp.school/ASPP/2025-plovdiv-data</a:t>
            </a:r>
            <a:br>
              <a:rPr sz="2800"/>
            </a:b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 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8" name="PlaceHolder 3"/>
          <p:cNvSpPr>
            <a:spLocks noGrp="1"/>
          </p:cNvSpPr>
          <p:nvPr>
            <p:ph type="dt" idx="167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9" name="TextBox 9"/>
          <p:cNvSpPr/>
          <p:nvPr/>
        </p:nvSpPr>
        <p:spPr>
          <a:xfrm>
            <a:off x="7930800" y="224640"/>
            <a:ext cx="1776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DE" sz="1800" strike="noStrike" u="non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Exercise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40" name="Graphic 10" descr=""/>
          <p:cNvPicPr/>
          <p:nvPr/>
        </p:nvPicPr>
        <p:blipFill>
          <a:blip r:embed="rId1"/>
          <a:stretch/>
        </p:blipFill>
        <p:spPr>
          <a:xfrm>
            <a:off x="7474680" y="273960"/>
            <a:ext cx="691560" cy="552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1" name="TextBox 8"/>
          <p:cNvSpPr/>
          <p:nvPr/>
        </p:nvSpPr>
        <p:spPr>
          <a:xfrm>
            <a:off x="8301960" y="542880"/>
            <a:ext cx="347976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exercises/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tabular_window_functions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42" name="" descr=""/>
          <p:cNvPicPr/>
          <p:nvPr/>
        </p:nvPicPr>
        <p:blipFill>
          <a:blip r:embed="rId2"/>
          <a:stretch/>
        </p:blipFill>
        <p:spPr>
          <a:xfrm>
            <a:off x="3696840" y="2955960"/>
            <a:ext cx="5121720" cy="3882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E0912F3C-3780-43B7-8807-7F3A6164FCB0}" type="slidenum">
              <a:t>57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560" cy="90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Data organization</a:t>
            </a:r>
            <a:endParaRPr b="0" lang="en-GB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4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2720" cy="4833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Data organization concepts: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tidy data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normalized data (star organization)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data science friendly data (denormalized)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5" name="PlaceHolder 3"/>
          <p:cNvSpPr>
            <a:spLocks noGrp="1"/>
          </p:cNvSpPr>
          <p:nvPr>
            <p:ph type="dt" idx="168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July 2024, CC BY-SA 4.0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687B3BEB-5615-44D9-A60B-818435D487D1}" type="slidenum">
              <a:t>58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560" cy="90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Organizing multiple tables</a:t>
            </a:r>
            <a:endParaRPr b="0" lang="en-GB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7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2720" cy="4833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Dimension vs fact tables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De-normalization (but for data analys flat tables are more convienent)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8" name="PlaceHolder 3"/>
          <p:cNvSpPr>
            <a:spLocks noGrp="1"/>
          </p:cNvSpPr>
          <p:nvPr>
            <p:ph type="dt" idx="169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July 2024, CC BY-SA 4.0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649" name="Picture 2" descr="The Data Warehouse Toolkit"/>
          <p:cNvPicPr/>
          <p:nvPr/>
        </p:nvPicPr>
        <p:blipFill>
          <a:blip r:embed="rId1"/>
          <a:stretch/>
        </p:blipFill>
        <p:spPr>
          <a:xfrm>
            <a:off x="8040240" y="3162600"/>
            <a:ext cx="2085480" cy="2629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50" name="Picture 6" descr=""/>
          <p:cNvPicPr/>
          <p:nvPr/>
        </p:nvPicPr>
        <p:blipFill>
          <a:blip r:embed="rId2"/>
          <a:stretch/>
        </p:blipFill>
        <p:spPr>
          <a:xfrm>
            <a:off x="551520" y="2951640"/>
            <a:ext cx="5611680" cy="3051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EBF59A95-8B19-42AD-A3DA-F3D261EE2EF3}" type="slidenum">
              <a:t>59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560" cy="90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Dealing with changes in the data</a:t>
            </a:r>
            <a:endParaRPr b="0" lang="en-GB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2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2720" cy="4833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Recommendations: 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NEVER overwite a data file. Treat data files as immutable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Use versioning for changes in the data file, and load the latest version for new analyses, old versions to reproduce previous results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(pond is a library I’m working on to automatize this process)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Like in computer code: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Adding new columns / rows is generally ok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Deleting/changing a column is not! Code will break! Add a new column instead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3" name="PlaceHolder 3"/>
          <p:cNvSpPr>
            <a:spLocks noGrp="1"/>
          </p:cNvSpPr>
          <p:nvPr>
            <p:ph type="dt" idx="170"/>
          </p:nvPr>
        </p:nvSpPr>
        <p:spPr>
          <a:xfrm>
            <a:off x="838080" y="6356520"/>
            <a:ext cx="274032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July 2024, CC BY-SA 4.0</a:t>
            </a:r>
            <a:endParaRPr b="0" lang="en-GB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39A57B2C-55F8-44C7-89B8-283471A115E0}" type="slidenum">
              <a:t>60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7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135154</TotalTime>
  <Application>LibreOffice/25.2.3.2$Linux_X86_64 LibreOffice_project/520$Build-2</Application>
  <AppVersion>15.0000</AppVersion>
  <Words>3182</Words>
  <Paragraphs>572</Paragraphs>
  <Company>University of Pennsylvania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2010-10-01T16:09:12Z</dcterms:created>
  <dc:creator>Pietro Berkes</dc:creator>
  <dc:description/>
  <dc:language>en-GB</dc:language>
  <cp:lastModifiedBy>Guillermo Aguilar</cp:lastModifiedBy>
  <cp:lastPrinted>2026-06-30T23:36:35Z</cp:lastPrinted>
  <dcterms:modified xsi:type="dcterms:W3CDTF">2026-07-01T00:04:20Z</dcterms:modified>
  <cp:revision>1707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2</vt:i4>
  </property>
  <property fmtid="{D5CDD505-2E9C-101B-9397-08002B2CF9AE}" pid="3" name="Notes">
    <vt:i4>1</vt:i4>
  </property>
  <property fmtid="{D5CDD505-2E9C-101B-9397-08002B2CF9AE}" pid="4" name="PresentationFormat">
    <vt:lpwstr>Widescreen</vt:lpwstr>
  </property>
  <property fmtid="{D5CDD505-2E9C-101B-9397-08002B2CF9AE}" pid="5" name="Slides">
    <vt:i4>50</vt:i4>
  </property>
</Properties>
</file>