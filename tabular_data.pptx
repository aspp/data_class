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_rels/notesSlide5.xml.rels" ContentType="application/vnd.openxmlformats-package.relationships+xml"/>
  <Override PartName="/ppt/notesSlides/notesSlide5.xml" ContentType="application/vnd.openxmlformats-officedocument.presentationml.notesSlide+xml"/>
  <Override PartName="/ppt/_rels/presentation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26.xml.rels" ContentType="application/vnd.openxmlformats-package.relationships+xml"/>
  <Override PartName="/ppt/slideLayouts/slideLayout2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20.png" ContentType="image/png"/>
  <Override PartName="/ppt/media/image18.png" ContentType="image/png"/>
  <Override PartName="/ppt/media/image17.png" ContentType="image/png"/>
  <Override PartName="/ppt/media/image16.png" ContentType="image/png"/>
  <Override PartName="/ppt/media/image15.png" ContentType="image/png"/>
  <Override PartName="/ppt/media/image14.png" ContentType="image/png"/>
  <Override PartName="/ppt/media/image24.png" ContentType="image/png"/>
  <Override PartName="/ppt/media/image29.png" ContentType="image/png"/>
  <Override PartName="/ppt/media/image1.png" ContentType="image/png"/>
  <Override PartName="/ppt/media/image31.png" ContentType="image/png"/>
  <Override PartName="/ppt/media/image11.png" ContentType="image/png"/>
  <Override PartName="/ppt/media/image6.png" ContentType="image/png"/>
  <Override PartName="/ppt/media/image36.png" ContentType="image/png"/>
  <Override PartName="/ppt/media/image7.png" ContentType="image/png"/>
  <Override PartName="/ppt/media/image12.png" ContentType="image/png"/>
  <Override PartName="/ppt/media/image9.png" ContentType="image/png"/>
  <Override PartName="/ppt/media/image39.png" ContentType="image/png"/>
  <Override PartName="/ppt/media/image41.png" ContentType="image/png"/>
  <Override PartName="/ppt/media/image13.png" ContentType="image/png"/>
  <Override PartName="/ppt/media/image37.jpeg" ContentType="image/jpeg"/>
  <Override PartName="/ppt/media/image30.png" ContentType="image/png"/>
  <Override PartName="/ppt/media/image28.png" ContentType="image/png"/>
  <Override PartName="/ppt/media/image40.png" ContentType="image/png"/>
  <Override PartName="/ppt/media/image8.jpeg" ContentType="image/jpeg"/>
  <Override PartName="/ppt/media/image38.png" ContentType="image/png"/>
  <Override PartName="/ppt/media/image10.png" ContentType="image/png"/>
  <Override PartName="/ppt/media/image5.png" ContentType="image/png"/>
  <Override PartName="/ppt/media/image35.png" ContentType="image/png"/>
  <Override PartName="/ppt/media/image34.png" ContentType="image/png"/>
  <Override PartName="/ppt/media/image4.png" ContentType="image/png"/>
  <Override PartName="/ppt/media/image27.png" ContentType="image/png"/>
  <Override PartName="/ppt/media/image33.png" ContentType="image/png"/>
  <Override PartName="/ppt/media/image3.png" ContentType="image/png"/>
  <Override PartName="/ppt/media/image26.png" ContentType="image/png"/>
  <Override PartName="/ppt/media/image32.png" ContentType="image/png"/>
  <Override PartName="/ppt/media/image2.png" ContentType="image/png"/>
  <Override PartName="/ppt/media/image25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_rels/slide40.xml.rels" ContentType="application/vnd.openxmlformats-package.relationships+xml"/>
  <Override PartName="/ppt/slides/_rels/slide48.xml.rels" ContentType="application/vnd.openxmlformats-package.relationships+xml"/>
  <Override PartName="/ppt/slides/_rels/slide33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41.xml.rels" ContentType="application/vnd.openxmlformats-package.relationships+xml"/>
  <Override PartName="/ppt/slides/_rels/slide49.xml.rels" ContentType="application/vnd.openxmlformats-package.relationships+xml"/>
  <Override PartName="/ppt/slides/_rels/slide50.xml.rels" ContentType="application/vnd.openxmlformats-package.relationships+xml"/>
  <Override PartName="/ppt/slides/_rels/slide34.xml.rels" ContentType="application/vnd.openxmlformats-package.relationships+xml"/>
  <Override PartName="/ppt/slides/_rels/slide7.xml.rels" ContentType="application/vnd.openxmlformats-package.relationships+xml"/>
  <Override PartName="/ppt/slides/_rels/slide42.xml.rels" ContentType="application/vnd.openxmlformats-package.relationships+xml"/>
  <Override PartName="/ppt/slides/_rels/slide35.xml.rels" ContentType="application/vnd.openxmlformats-package.relationships+xml"/>
  <Override PartName="/ppt/slides/_rels/slide1.xml.rels" ContentType="application/vnd.openxmlformats-package.relationships+xml"/>
  <Override PartName="/ppt/slides/_rels/slide20.xml.rels" ContentType="application/vnd.openxmlformats-package.relationships+xml"/>
  <Override PartName="/ppt/slides/_rels/slide10.xml.rels" ContentType="application/vnd.openxmlformats-package.relationships+xml"/>
  <Override PartName="/ppt/slides/_rels/slide32.xml.rels" ContentType="application/vnd.openxmlformats-package.relationships+xml"/>
  <Override PartName="/ppt/slides/_rels/slide16.xml.rels" ContentType="application/vnd.openxmlformats-package.relationships+xml"/>
  <Override PartName="/ppt/slides/_rels/slide25.xml.rels" ContentType="application/vnd.openxmlformats-package.relationships+xml"/>
  <Override PartName="/ppt/slides/_rels/slide47.xml.rels" ContentType="application/vnd.openxmlformats-package.relationships+xml"/>
  <Override PartName="/ppt/slides/_rels/slide4.xml.rels" ContentType="application/vnd.openxmlformats-package.relationships+xml"/>
  <Override PartName="/ppt/slides/_rels/slide46.xml.rels" ContentType="application/vnd.openxmlformats-package.relationships+xml"/>
  <Override PartName="/ppt/slides/_rels/slide30.xml.rels" ContentType="application/vnd.openxmlformats-package.relationships+xml"/>
  <Override PartName="/ppt/slides/_rels/slide29.xml.rels" ContentType="application/vnd.openxmlformats-package.relationships+xml"/>
  <Override PartName="/ppt/slides/_rels/slide45.xml.rels" ContentType="application/vnd.openxmlformats-package.relationships+xml"/>
  <Override PartName="/ppt/slides/_rels/slide14.xml.rels" ContentType="application/vnd.openxmlformats-package.relationships+xml"/>
  <Override PartName="/ppt/slides/_rels/slide23.xml.rels" ContentType="application/vnd.openxmlformats-package.relationships+xml"/>
  <Override PartName="/ppt/slides/_rels/slide38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39.xml.rels" ContentType="application/vnd.openxmlformats-package.relationships+xml"/>
  <Override PartName="/ppt/slides/_rels/slide24.xml.rels" ContentType="application/vnd.openxmlformats-package.relationships+xml"/>
  <Override PartName="/ppt/slides/_rels/slide15.xml.rels" ContentType="application/vnd.openxmlformats-package.relationships+xml"/>
  <Override PartName="/ppt/slides/_rels/slide31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28.xml.rels" ContentType="application/vnd.openxmlformats-package.relationships+xml"/>
  <Override PartName="/ppt/slides/_rels/slide44.xml.rels" ContentType="application/vnd.openxmlformats-package.relationships+xml"/>
  <Override PartName="/ppt/slides/_rels/slide22.xml.rels" ContentType="application/vnd.openxmlformats-package.relationships+xml"/>
  <Override PartName="/ppt/slides/_rels/slide37.xml.rels" ContentType="application/vnd.openxmlformats-package.relationships+xml"/>
  <Override PartName="/ppt/slides/_rels/slide3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17.xml.rels" ContentType="application/vnd.openxmlformats-package.relationships+xml"/>
  <Override PartName="/ppt/slides/_rels/slide8.xml.rels" ContentType="application/vnd.openxmlformats-package.relationships+xml"/>
  <Override PartName="/ppt/slides/_rels/slide21.xml.rels" ContentType="application/vnd.openxmlformats-package.relationships+xml"/>
  <Override PartName="/ppt/slides/_rels/slide36.xml.rels" ContentType="application/vnd.openxmlformats-package.relationships+xml"/>
  <Override PartName="/ppt/slides/_rels/slide27.xml.rels" ContentType="application/vnd.openxmlformats-package.relationships+xml"/>
  <Override PartName="/ppt/slides/_rels/slide43.xml.rels" ContentType="application/vnd.openxmlformats-package.relationships+xml"/>
  <Override PartName="/ppt/slides/_rels/slide2.xml.rels" ContentType="application/vnd.openxmlformats-package.relationships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5.xml" ContentType="application/vnd.openxmlformats-officedocument.presentationml.slide+xml"/>
  <Override PartName="/ppt/slides/slide40.xml" ContentType="application/vnd.openxmlformats-officedocument.presentationml.slide+xml"/>
  <Override PartName="/ppt/slides/slide33.xml" ContentType="application/vnd.openxmlformats-officedocument.presentationml.slide+xml"/>
  <Override PartName="/ppt/slides/slide45.xml" ContentType="application/vnd.openxmlformats-officedocument.presentationml.slide+xml"/>
  <Override PartName="/ppt/slides/slide34.xml" ContentType="application/vnd.openxmlformats-officedocument.presentationml.slide+xml"/>
  <Override PartName="/ppt/slides/slide46.xml" ContentType="application/vnd.openxmlformats-officedocument.presentationml.slide+xml"/>
  <Override PartName="/ppt/slides/slide39.xml" ContentType="application/vnd.openxmlformats-officedocument.presentationml.slide+xml"/>
  <Override PartName="/ppt/slides/slide50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12.xml" ContentType="application/vnd.openxmlformats-officedocument.presentationml.slide+xml"/>
  <Override PartName="/ppt/slides/slide10.xml" ContentType="application/vnd.openxmlformats-officedocument.presentationml.slide+xml"/>
  <Override PartName="/ppt/slides/slide47.xml" ContentType="application/vnd.openxmlformats-officedocument.presentationml.slide+xml"/>
  <Override PartName="/ppt/slides/slide9.xml" ContentType="application/vnd.openxmlformats-officedocument.presentationml.slide+xml"/>
  <Override PartName="/ppt/slides/slide44.xml" ContentType="application/vnd.openxmlformats-officedocument.presentationml.slide+xml"/>
  <Override PartName="/ppt/slides/slide41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43.xml" ContentType="application/vnd.openxmlformats-officedocument.presentationml.slide+xml"/>
  <Override PartName="/ppt/slides/slide7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dt" idx="10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ftr" idx="11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PlaceHolder 6"/>
          <p:cNvSpPr>
            <a:spLocks noGrp="1"/>
          </p:cNvSpPr>
          <p:nvPr>
            <p:ph type="sldNum" idx="12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D8A0477C-C668-4392-877A-AF5DBBD812D8}" type="slidenum"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480" cy="4007160"/>
          </a:xfrm>
          <a:prstGeom prst="rect">
            <a:avLst/>
          </a:prstGeom>
          <a:ln w="0">
            <a:noFill/>
          </a:ln>
        </p:spPr>
      </p:sp>
      <p:sp>
        <p:nvSpPr>
          <p:cNvPr id="47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5840" cy="4809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Message: concepts are not specific to pandas but general. 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Not go into detail but mention that other languages or frameworks use similar concepts (e.g. SQL)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A6EAC05-F553-4A16-A272-E4422413BAB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0CC4AA7-3629-49A0-8EE4-D2FF4ED1811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2DFDCDD-7CEF-4703-B605-E93A44D6537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5806793-C479-4798-8159-A03EEA4F2E5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9D73C22-EC7E-4513-A50B-8FF8B507137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187E636-C9A3-4872-8F47-8D567AC957A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AABC5E3-439B-4E08-9C1C-106F98E8ECA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73FAC27-318C-4C9D-98D2-3D8118D2764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38E37F0-06B6-4034-A2FF-D97B9DE9144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EAD5952-3DDB-4EAB-9265-85EE94D9957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C71CD52-2029-4099-8A57-2FBB5118891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DC75D21-08F7-4F26-B6A6-9486A4D6866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1593178-1A34-4957-85E6-2109BD15B91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566044D-33BB-405B-9456-307B007C116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B239435-4891-41A8-BA8C-257D458FDB0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24696EC-6A6C-46DE-95D7-E138677630D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60812FF-A64D-436F-BA5C-AD6237677B9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431C58A-54B7-4D42-9813-A1EB633233E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B356F9D-5534-414F-A3D5-8F0E6646795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C63130D-CEB8-41B6-9DFD-63337C8149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A46EA4A-869C-4F1A-A418-29B32E29ABF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90EA733-73CA-47BB-8E87-B19DD362107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F5705E3-AF90-4DC7-BB1D-73218FC4A4E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EC42CB3-23EA-41E9-BABE-523E273D8CD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DF2B256-0DB7-408E-8831-CB7F2656DBD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7F77821-7CBF-4B98-8FC5-6CC87D69473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35F7C54-FDF4-4B89-8E97-D928F5DD53F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B6A69A0-503B-477F-9C74-9F657A31A22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0DB54C3-2E2A-4260-9DCA-89560625B9A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E1214C0-B258-4BBC-8CB2-83823470618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597EE63-6341-4669-A25A-5D248D9DC87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373E6A7-CEEB-422C-8A59-F35FE1BCFB5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47ABC62-A403-4ECA-99C4-65576B3A38A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A7A1D08-EFA3-4B8A-AC7E-B8CA5E35E30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2D52F88-D683-48BB-9131-4262E4DAAAE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57133CF-E64D-469C-BDBD-5C1B959F256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22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&lt;footer&gt;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3C6C85B-F3F4-42CC-9198-98FED79038DE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22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&lt;footer&gt;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FE20C81-7A87-4B83-9749-5C427FB67445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GB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22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&lt;footer&gt;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250694C-AC7D-4565-98FA-61F724A6975F}" type="slidenum">
              <a:rPr b="0" lang="en-US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&lt;number&gt;</a:t>
            </a:fld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GB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GB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GB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GB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2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8.jpeg"/><Relationship Id="rId2" Type="http://schemas.openxmlformats.org/officeDocument/2006/relationships/hyperlink" Target="https://www.nejm.org/doi/full/10.1056/NEJMoa1800389" TargetMode="External"/><Relationship Id="rId3" Type="http://schemas.openxmlformats.org/officeDocument/2006/relationships/slideLayout" Target="../slideLayouts/slideLayout1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hyperlink" Target="https://www.nejm.org/doi/full/10.1056/NEJMoa1800389" TargetMode="Externa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1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slideLayout" Target="../slideLayouts/slideLayout2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slideLayout" Target="../slideLayouts/slideLayout2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2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1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slideLayout" Target="../slideLayouts/slideLayout2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slideLayout" Target="../slideLayouts/slideLayout2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21.png"/><Relationship Id="rId3" Type="http://schemas.openxmlformats.org/officeDocument/2006/relationships/slideLayout" Target="../slideLayouts/slideLayout2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2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slideLayout" Target="../slideLayouts/slideLayout29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slideLayout" Target="../slideLayouts/slideLayout1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image" Target="../media/image23.png"/><Relationship Id="rId3" Type="http://schemas.openxmlformats.org/officeDocument/2006/relationships/image" Target="../media/image29.png"/><Relationship Id="rId4" Type="http://schemas.openxmlformats.org/officeDocument/2006/relationships/slideLayout" Target="../slideLayouts/slideLayout13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3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25.png"/><Relationship Id="rId3" Type="http://schemas.openxmlformats.org/officeDocument/2006/relationships/slideLayout" Target="../slideLayouts/slideLayout13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13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9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9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3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slideLayout" Target="../slideLayouts/slideLayout29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36.png"/><Relationship Id="rId3" Type="http://schemas.openxmlformats.org/officeDocument/2006/relationships/slideLayout" Target="../slideLayouts/slideLayout1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37.jpeg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slideLayout" Target="../slideLayouts/slideLayout13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slideLayout" Target="../slideLayouts/slideLayout29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37.jpeg"/><Relationship Id="rId2" Type="http://schemas.openxmlformats.org/officeDocument/2006/relationships/image" Target="../media/image41.png"/><Relationship Id="rId3" Type="http://schemas.openxmlformats.org/officeDocument/2006/relationships/slideLayout" Target="../slideLayouts/slideLayout13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30" name="Picture 42" descr="Image"/>
          <p:cNvPicPr/>
          <p:nvPr/>
        </p:nvPicPr>
        <p:blipFill>
          <a:blip r:embed="rId1"/>
          <a:srcRect l="0" t="13533" r="0" b="10643"/>
          <a:stretch/>
        </p:blipFill>
        <p:spPr>
          <a:xfrm>
            <a:off x="1112400" y="2121120"/>
            <a:ext cx="9964800" cy="4232880"/>
          </a:xfrm>
          <a:prstGeom prst="rect">
            <a:avLst/>
          </a:prstGeom>
          <a:ln w="0">
            <a:noFill/>
          </a:ln>
        </p:spPr>
      </p:pic>
      <p:sp>
        <p:nvSpPr>
          <p:cNvPr id="131" name="Title 1"/>
          <p:cNvSpPr/>
          <p:nvPr/>
        </p:nvSpPr>
        <p:spPr>
          <a:xfrm>
            <a:off x="263520" y="0"/>
            <a:ext cx="6694200" cy="148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90000"/>
              </a:lnSpc>
            </a:pPr>
            <a:r>
              <a:rPr b="0" lang="en-US" sz="8000" spc="-1" strike="noStrike">
                <a:solidFill>
                  <a:srgbClr val="000000"/>
                </a:solidFill>
                <a:latin typeface="Calibri Light"/>
                <a:ea typeface="DejaVu Sans"/>
              </a:rPr>
              <a:t>Tabular data</a:t>
            </a:r>
            <a:endParaRPr b="0" lang="en-GB" sz="8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405B4A6-956A-468E-BF37-B91AD8B8FE68}" type="slidenum">
              <a:t>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What is </a:t>
            </a: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tabular </a:t>
            </a: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data?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dt" idx="14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graphicFrame>
        <p:nvGraphicFramePr>
          <p:cNvPr id="134" name="Table 6"/>
          <p:cNvGraphicFramePr/>
          <p:nvPr/>
        </p:nvGraphicFramePr>
        <p:xfrm>
          <a:off x="1841400" y="2421000"/>
          <a:ext cx="8528040" cy="1434240"/>
        </p:xfrm>
        <a:graphic>
          <a:graphicData uri="http://schemas.openxmlformats.org/drawingml/2006/table">
            <a:tbl>
              <a:tblPr/>
              <a:tblGrid>
                <a:gridCol w="1705680"/>
                <a:gridCol w="1705680"/>
                <a:gridCol w="1705680"/>
                <a:gridCol w="1705680"/>
                <a:gridCol w="1705680"/>
              </a:tblGrid>
              <a:tr h="1249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Date (index)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Wind speed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Wind direction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Rain fall (mm)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Hours of sun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7.3.2024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7.1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0.0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10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8.3.2024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0.3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NW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2.1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9.3.2024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1.1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SE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0.3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5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5" name="Table 2"/>
          <p:cNvGraphicFramePr/>
          <p:nvPr/>
        </p:nvGraphicFramePr>
        <p:xfrm>
          <a:off x="1833480" y="4343400"/>
          <a:ext cx="8528040" cy="1664280"/>
        </p:xfrm>
        <a:graphic>
          <a:graphicData uri="http://schemas.openxmlformats.org/drawingml/2006/table">
            <a:tbl>
              <a:tblPr/>
              <a:tblGrid>
                <a:gridCol w="1705680"/>
                <a:gridCol w="1705680"/>
                <a:gridCol w="1705680"/>
                <a:gridCol w="1705680"/>
                <a:gridCol w="1705680"/>
              </a:tblGrid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Subject ID (index)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Condition ID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Presentation nr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Response time (ms)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Response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VM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732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28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LEFT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VM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732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41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RIGHT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PB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665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LEFT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</a:tr>
            </a:tbl>
          </a:graphicData>
        </a:graphic>
      </p:graphicFrame>
      <p:sp>
        <p:nvSpPr>
          <p:cNvPr id="136" name="TextBox 7"/>
          <p:cNvSpPr/>
          <p:nvPr/>
        </p:nvSpPr>
        <p:spPr>
          <a:xfrm>
            <a:off x="5519880" y="762120"/>
            <a:ext cx="3741840" cy="912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Unlike arrays, each column can represent another type of value, with different data types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37" name="Straight Arrow Connector 10"/>
          <p:cNvCxnSpPr/>
          <p:nvPr/>
        </p:nvCxnSpPr>
        <p:spPr>
          <a:xfrm flipH="1">
            <a:off x="5015880" y="1937880"/>
            <a:ext cx="506520" cy="38304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138" name="Straight Arrow Connector 12"/>
          <p:cNvCxnSpPr/>
          <p:nvPr/>
        </p:nvCxnSpPr>
        <p:spPr>
          <a:xfrm flipH="1">
            <a:off x="6167880" y="1829520"/>
            <a:ext cx="146520" cy="49140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139" name="Straight Arrow Connector 14"/>
          <p:cNvCxnSpPr/>
          <p:nvPr/>
        </p:nvCxnSpPr>
        <p:spPr>
          <a:xfrm>
            <a:off x="7679880" y="1849320"/>
            <a:ext cx="74520" cy="47160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140" name="Straight Arrow Connector 16"/>
          <p:cNvCxnSpPr/>
          <p:nvPr/>
        </p:nvCxnSpPr>
        <p:spPr>
          <a:xfrm>
            <a:off x="9120240" y="1851480"/>
            <a:ext cx="250920" cy="46944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141" name="Straight Arrow Connector 18"/>
          <p:cNvCxnSpPr/>
          <p:nvPr/>
        </p:nvCxnSpPr>
        <p:spPr>
          <a:xfrm flipH="1">
            <a:off x="2877840" y="1487880"/>
            <a:ext cx="2140560" cy="83304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B311C64-1B55-4EA1-AC74-49082B3D8F66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What is tabular data?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graphicFrame>
        <p:nvGraphicFramePr>
          <p:cNvPr id="144" name="Table 6"/>
          <p:cNvGraphicFramePr/>
          <p:nvPr/>
        </p:nvGraphicFramePr>
        <p:xfrm>
          <a:off x="1841400" y="2421000"/>
          <a:ext cx="8528040" cy="1434240"/>
        </p:xfrm>
        <a:graphic>
          <a:graphicData uri="http://schemas.openxmlformats.org/drawingml/2006/table">
            <a:tbl>
              <a:tblPr/>
              <a:tblGrid>
                <a:gridCol w="1705680"/>
                <a:gridCol w="1705680"/>
                <a:gridCol w="1705680"/>
                <a:gridCol w="1705680"/>
                <a:gridCol w="1705680"/>
              </a:tblGrid>
              <a:tr h="1249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Date (index)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Wind speed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Wind direction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Rain fall (mm)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Hours of sun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7.3.2024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7.1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N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0.0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10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8.3.2024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0.3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NW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2.1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9.3.2024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1.1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SE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0.3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5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5" name="Table 2"/>
          <p:cNvGraphicFramePr/>
          <p:nvPr/>
        </p:nvGraphicFramePr>
        <p:xfrm>
          <a:off x="1833480" y="4343400"/>
          <a:ext cx="8528040" cy="1664280"/>
        </p:xfrm>
        <a:graphic>
          <a:graphicData uri="http://schemas.openxmlformats.org/drawingml/2006/table">
            <a:tbl>
              <a:tblPr/>
              <a:tblGrid>
                <a:gridCol w="1705680"/>
                <a:gridCol w="1705680"/>
                <a:gridCol w="1705680"/>
                <a:gridCol w="1705680"/>
                <a:gridCol w="1705680"/>
              </a:tblGrid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Subject ID (index)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Condition ID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Presentation nr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Response time (ms)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chemeClr val="lt1"/>
                          </a:solidFill>
                          <a:latin typeface="Calibri"/>
                          <a:ea typeface="DejaVu Sans"/>
                        </a:rPr>
                        <a:t>Response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38160">
                      <a:solidFill>
                        <a:srgbClr val="ffffff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VM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732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28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LEFT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3816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VM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732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41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RIGHT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e8ebf4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PB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665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LEFT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</a:lnL>
                    <a:lnR w="12240">
                      <a:solidFill>
                        <a:srgbClr val="ffffff"/>
                      </a:solidFill>
                    </a:lnR>
                    <a:lnT w="12240">
                      <a:solidFill>
                        <a:srgbClr val="ffffff"/>
                      </a:solidFill>
                    </a:lnT>
                    <a:lnB w="12240">
                      <a:solidFill>
                        <a:srgbClr val="ffffff"/>
                      </a:solidFill>
                    </a:lnB>
                    <a:solidFill>
                      <a:srgbClr val="cfd5e9"/>
                    </a:solidFill>
                  </a:tcPr>
                </a:tc>
              </a:tr>
            </a:tbl>
          </a:graphicData>
        </a:graphic>
      </p:graphicFrame>
      <p:sp>
        <p:nvSpPr>
          <p:cNvPr id="146" name="TextBox 7"/>
          <p:cNvSpPr/>
          <p:nvPr/>
        </p:nvSpPr>
        <p:spPr>
          <a:xfrm>
            <a:off x="695520" y="998280"/>
            <a:ext cx="2733840" cy="1186920"/>
          </a:xfrm>
          <a:prstGeom prst="rect">
            <a:avLst/>
          </a:prstGeom>
          <a:solidFill>
            <a:schemeClr val="accent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Column and rows have meaningful labels (indices) that are attached to the data for each operation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6CC142A-AC38-4D7B-9106-C24225E122F4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Spreadsheets and databases rule the world!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TextBox 8"/>
          <p:cNvSpPr/>
          <p:nvPr/>
        </p:nvSpPr>
        <p:spPr>
          <a:xfrm>
            <a:off x="7248240" y="6250320"/>
            <a:ext cx="4560480" cy="4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100" spc="-1" strike="noStrike">
                <a:solidFill>
                  <a:srgbClr val="a6a6a6"/>
                </a:solidFill>
                <a:latin typeface="Calibri"/>
                <a:ea typeface="DejaVu Sans"/>
              </a:rPr>
              <a:t>https://techcommunity.microsoft.com/t5/excel-blog/guinness-world-records-the-largest-collection-of-spreadsheet/ba-p/216592</a:t>
            </a:r>
            <a:endParaRPr b="0" lang="en-GB" sz="11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150" name="Group 11"/>
          <p:cNvGrpSpPr/>
          <p:nvPr/>
        </p:nvGrpSpPr>
        <p:grpSpPr>
          <a:xfrm>
            <a:off x="2446200" y="1184040"/>
            <a:ext cx="7296840" cy="4979880"/>
            <a:chOff x="2446200" y="1184040"/>
            <a:chExt cx="7296840" cy="4979880"/>
          </a:xfrm>
        </p:grpSpPr>
        <p:pic>
          <p:nvPicPr>
            <p:cNvPr id="151" name="Picture 6" descr=""/>
            <p:cNvPicPr/>
            <p:nvPr/>
          </p:nvPicPr>
          <p:blipFill>
            <a:blip r:embed="rId1"/>
            <a:stretch/>
          </p:blipFill>
          <p:spPr>
            <a:xfrm>
              <a:off x="2452680" y="1184040"/>
              <a:ext cx="7093800" cy="49798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52" name="TextBox 7"/>
            <p:cNvSpPr/>
            <p:nvPr/>
          </p:nvSpPr>
          <p:spPr>
            <a:xfrm>
              <a:off x="2446200" y="5589000"/>
              <a:ext cx="7296840" cy="5158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spAutoFit/>
            </a:bodyPr>
            <a:p>
              <a:pPr>
                <a:lnSpc>
                  <a:spcPct val="100000"/>
                </a:lnSpc>
              </a:pPr>
              <a:r>
                <a:rPr b="1" i="1" lang="en-CH" sz="1400" spc="-1" strike="noStrike">
                  <a:solidFill>
                    <a:srgbClr val="ffffff"/>
                  </a:solidFill>
                  <a:latin typeface="Calibri"/>
                  <a:ea typeface="DejaVu Sans"/>
                </a:rPr>
                <a:t>Ariel </a:t>
              </a:r>
              <a:r>
                <a:rPr b="1" i="1" lang="en-US" sz="1400" spc="-1" strike="noStrike">
                  <a:solidFill>
                    <a:srgbClr val="ffffff"/>
                  </a:solidFill>
                  <a:latin typeface="SegoeUI"/>
                  <a:ea typeface="DejaVu Sans"/>
                </a:rPr>
                <a:t>Fischman holds the Guinness World Record for owning the most spreadsheet software (over 500!)</a:t>
              </a:r>
              <a:endParaRPr b="0" lang="en-GB" sz="14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222BE6A-840E-4F34-A3A3-C4FB7FB736A0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1f2328"/>
                </a:solidFill>
                <a:latin typeface="Calibri Light"/>
                <a:ea typeface="DejaVu Sans"/>
              </a:rPr>
              <a:t>Many tools to handle tabular data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3080" cy="483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Python tools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pandas: in-memory tabular data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dask: on-disk tabular data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SQL databases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Optimized for retrieving rows (tree data structure for index)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Transactional: groups of operations are either all executed, or none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Columnar DBs, Spark, Hadoop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Optimized for operations on columns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Ideal for data science tasks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Operations can be automatically distributed over multiple machines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dt" idx="17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7E49D02-72A5-4067-B23B-C0F1E7FB0F0D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Box 7"/>
          <p:cNvSpPr/>
          <p:nvPr/>
        </p:nvSpPr>
        <p:spPr>
          <a:xfrm>
            <a:off x="2691360" y="1730520"/>
            <a:ext cx="88887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2400" spc="-1" strike="noStrike">
                <a:solidFill>
                  <a:srgbClr val="000000"/>
                </a:solidFill>
                <a:latin typeface="Consolas"/>
                <a:ea typeface="DejaVu Sans"/>
              </a:rPr>
              <a:t>df</a:t>
            </a:r>
            <a:r>
              <a:rPr b="0" lang="en-CH" sz="24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.groupby(‘condition_id’)</a:t>
            </a:r>
            <a:r>
              <a:rPr b="0" lang="en-CH" sz="2400" spc="-1" strike="noStrike">
                <a:solidFill>
                  <a:schemeClr val="accent1">
                    <a:lumMod val="75000"/>
                  </a:schemeClr>
                </a:solidFill>
                <a:latin typeface="Consolas"/>
                <a:ea typeface="DejaVu Sans"/>
              </a:rPr>
              <a:t>[‘response_time’].mean()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Box 1"/>
          <p:cNvSpPr/>
          <p:nvPr/>
        </p:nvSpPr>
        <p:spPr>
          <a:xfrm>
            <a:off x="2722320" y="2646000"/>
            <a:ext cx="88887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2400" spc="-1" strike="noStrike">
                <a:solidFill>
                  <a:srgbClr val="000000"/>
                </a:solidFill>
                <a:latin typeface="Consolas"/>
                <a:ea typeface="DejaVu Sans"/>
              </a:rPr>
              <a:t>df</a:t>
            </a:r>
            <a:r>
              <a:rPr b="0" lang="en-CH" sz="24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.groupby(‘condition_id’)</a:t>
            </a:r>
            <a:r>
              <a:rPr b="0" lang="en-CH" sz="2400" spc="-1" strike="noStrike">
                <a:solidFill>
                  <a:schemeClr val="accent1">
                    <a:lumMod val="75000"/>
                  </a:schemeClr>
                </a:solidFill>
                <a:latin typeface="Consolas"/>
                <a:ea typeface="DejaVu Sans"/>
              </a:rPr>
              <a:t>[‘response_time’].mean()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2"/>
          <p:cNvSpPr/>
          <p:nvPr/>
        </p:nvSpPr>
        <p:spPr>
          <a:xfrm>
            <a:off x="853200" y="1699920"/>
            <a:ext cx="14158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Pandas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Box 8"/>
          <p:cNvSpPr/>
          <p:nvPr/>
        </p:nvSpPr>
        <p:spPr>
          <a:xfrm>
            <a:off x="853200" y="2618280"/>
            <a:ext cx="18604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dask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Box 9"/>
          <p:cNvSpPr/>
          <p:nvPr/>
        </p:nvSpPr>
        <p:spPr>
          <a:xfrm>
            <a:off x="2722320" y="3565440"/>
            <a:ext cx="88887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2400" spc="-1" strike="noStrike">
                <a:solidFill>
                  <a:srgbClr val="000000"/>
                </a:solidFill>
                <a:latin typeface="Consolas"/>
                <a:ea typeface="DejaVu Sans"/>
              </a:rPr>
              <a:t>df</a:t>
            </a:r>
            <a:r>
              <a:rPr b="0" lang="en-CH" sz="24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.groupby(‘condition_id’)</a:t>
            </a:r>
            <a:r>
              <a:rPr b="0" lang="en-CH" sz="2400" spc="-1" strike="noStrike">
                <a:solidFill>
                  <a:schemeClr val="accent1">
                    <a:lumMod val="75000"/>
                  </a:schemeClr>
                </a:solidFill>
                <a:latin typeface="Consolas"/>
                <a:ea typeface="DejaVu Sans"/>
              </a:rPr>
              <a:t>.avg(‘response_time’)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TextBox 10"/>
          <p:cNvSpPr/>
          <p:nvPr/>
        </p:nvSpPr>
        <p:spPr>
          <a:xfrm>
            <a:off x="853200" y="3537000"/>
            <a:ext cx="18604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PySpark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28"/>
          <p:cNvSpPr/>
          <p:nvPr/>
        </p:nvSpPr>
        <p:spPr>
          <a:xfrm>
            <a:off x="853200" y="4455360"/>
            <a:ext cx="18604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SQL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1109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91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Tabular data ideas and operations are universal for all tabular data tools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TextBox 24"/>
          <p:cNvSpPr/>
          <p:nvPr/>
        </p:nvSpPr>
        <p:spPr>
          <a:xfrm>
            <a:off x="2722320" y="4515840"/>
            <a:ext cx="88887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pc="-1" strike="noStrike">
                <a:solidFill>
                  <a:srgbClr val="000000"/>
                </a:solidFill>
                <a:latin typeface="Consolas"/>
                <a:ea typeface="DejaVu Sans"/>
              </a:rPr>
              <a:t>SELECT condition_id, 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400" spc="-1" strike="noStrike">
                <a:solidFill>
                  <a:schemeClr val="accent1">
                    <a:lumMod val="75000"/>
                  </a:schemeClr>
                </a:solidFill>
                <a:latin typeface="Consolas"/>
                <a:ea typeface="DejaVu Sans"/>
              </a:rPr>
              <a:t>       </a:t>
            </a:r>
            <a:r>
              <a:rPr b="0" lang="en-US" sz="2400" spc="-1" strike="noStrike">
                <a:solidFill>
                  <a:schemeClr val="accent1">
                    <a:lumMod val="75000"/>
                  </a:schemeClr>
                </a:solidFill>
                <a:latin typeface="Consolas"/>
                <a:ea typeface="DejaVu Sans"/>
              </a:rPr>
              <a:t>AVG(response_time) AS avg_response_time 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400" spc="-1" strike="noStrike">
                <a:solidFill>
                  <a:srgbClr val="000000"/>
                </a:solidFill>
                <a:latin typeface="Consolas"/>
                <a:ea typeface="DejaVu Sans"/>
              </a:rPr>
              <a:t>FROM df 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4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GROUP BY condition_id</a:t>
            </a:r>
            <a:r>
              <a:rPr b="0" lang="en-US" sz="2400" spc="-1" strike="noStrike">
                <a:solidFill>
                  <a:srgbClr val="000000"/>
                </a:solidFill>
                <a:latin typeface="Consolas"/>
                <a:ea typeface="DejaVu Sans"/>
              </a:rPr>
              <a:t>;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5CE29B4-B4CD-4722-8066-840B745B6BDF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Basic Pandas reference slide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/>
          </p:nvPr>
        </p:nvSpPr>
        <p:spPr>
          <a:xfrm>
            <a:off x="838080" y="1268640"/>
            <a:ext cx="10513080" cy="5254200"/>
          </a:xfrm>
          <a:prstGeom prst="rect">
            <a:avLst/>
          </a:prstGeom>
          <a:noFill/>
          <a:ln w="0">
            <a:noFill/>
          </a:ln>
        </p:spPr>
        <p:txBody>
          <a:bodyPr numCol="2" spcCol="360000" lIns="90000" rIns="90000" tIns="45000" bIns="45000" anchor="t">
            <a:normAutofit fontScale="61000"/>
          </a:bodyPr>
          <a:p>
            <a:pPr marL="220680" indent="-22068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Looking at data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1" marL="667080" indent="-22068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df.head()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show the first 5 rows</a:t>
            </a:r>
            <a:endParaRPr b="0" lang="en-GB" sz="1900" spc="-1" strike="noStrike">
              <a:solidFill>
                <a:srgbClr val="000000"/>
              </a:solidFill>
              <a:latin typeface="Arial"/>
            </a:endParaRPr>
          </a:p>
          <a:p>
            <a:pPr lvl="1" marL="667080" indent="-22068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df.tail()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show the last 5 rows</a:t>
            </a:r>
            <a:endParaRPr b="0" lang="en-GB" sz="1900" spc="-1" strike="noStrike">
              <a:solidFill>
                <a:srgbClr val="000000"/>
              </a:solidFill>
              <a:latin typeface="Arial"/>
            </a:endParaRPr>
          </a:p>
          <a:p>
            <a:pPr lvl="1" marL="667080" indent="-22068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df.sample(n)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show n random rows</a:t>
            </a:r>
            <a:endParaRPr b="0" lang="en-GB" sz="1900" spc="-1" strike="noStrike">
              <a:solidFill>
                <a:srgbClr val="000000"/>
              </a:solidFill>
              <a:latin typeface="Arial"/>
            </a:endParaRPr>
          </a:p>
          <a:p>
            <a:pPr marL="220680" indent="-22068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Attributes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1" marL="667080" indent="-22068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df.shape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size of the table</a:t>
            </a:r>
            <a:endParaRPr b="0" lang="en-GB" sz="1900" spc="-1" strike="noStrike">
              <a:solidFill>
                <a:srgbClr val="000000"/>
              </a:solidFill>
              <a:latin typeface="Arial"/>
            </a:endParaRPr>
          </a:p>
          <a:p>
            <a:pPr lvl="1" marL="667080" indent="-22068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df.dtypes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print dtype of cols</a:t>
            </a:r>
            <a:endParaRPr b="0" lang="en-GB" sz="1900" spc="-1" strike="noStrike">
              <a:solidFill>
                <a:srgbClr val="000000"/>
              </a:solidFill>
              <a:latin typeface="Arial"/>
            </a:endParaRPr>
          </a:p>
          <a:p>
            <a:pPr lvl="1" marL="667080" indent="-22068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df.columns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column index</a:t>
            </a:r>
            <a:endParaRPr b="0" lang="en-GB" sz="1900" spc="-1" strike="noStrike">
              <a:solidFill>
                <a:srgbClr val="000000"/>
              </a:solidFill>
              <a:latin typeface="Arial"/>
            </a:endParaRPr>
          </a:p>
          <a:p>
            <a:pPr lvl="1" marL="667080" indent="-22068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df.index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rows index</a:t>
            </a:r>
            <a:endParaRPr b="0" lang="en-GB" sz="1900" spc="-1" strike="noStrike">
              <a:solidFill>
                <a:srgbClr val="000000"/>
              </a:solidFill>
              <a:latin typeface="Arial"/>
            </a:endParaRPr>
          </a:p>
          <a:p>
            <a:pPr marL="220680" indent="-22068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Indexing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1" marL="667080" indent="-22068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df[‘age’]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get column ‘age’</a:t>
            </a:r>
            <a:endParaRPr b="0" lang="en-GB" sz="1900" spc="-1" strike="noStrike">
              <a:solidFill>
                <a:srgbClr val="000000"/>
              </a:solidFill>
              <a:latin typeface="Arial"/>
            </a:endParaRPr>
          </a:p>
          <a:p>
            <a:pPr lvl="1" marL="667080" indent="-22068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df[[‘age’, ‘name’]]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multiple columns</a:t>
            </a:r>
            <a:endParaRPr b="0" lang="en-GB" sz="1900" spc="-1" strike="noStrike">
              <a:solidFill>
                <a:srgbClr val="000000"/>
              </a:solidFill>
              <a:latin typeface="Arial"/>
            </a:endParaRPr>
          </a:p>
          <a:p>
            <a:pPr lvl="1" marL="667080" indent="-22068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df.iloc[0, 2]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one element, by position</a:t>
            </a:r>
            <a:endParaRPr b="0" lang="en-GB" sz="1900" spc="-1" strike="noStrike">
              <a:solidFill>
                <a:srgbClr val="000000"/>
              </a:solidFill>
              <a:latin typeface="Arial"/>
            </a:endParaRPr>
          </a:p>
          <a:p>
            <a:pPr marL="220680" indent="-22068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Exploration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1" marL="667080" indent="-22068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df[‘name’].unique()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unique values</a:t>
            </a:r>
            <a:endParaRPr b="0" lang="en-GB" sz="1900" spc="-1" strike="noStrike">
              <a:solidFill>
                <a:srgbClr val="000000"/>
              </a:solidFill>
              <a:latin typeface="Arial"/>
            </a:endParaRPr>
          </a:p>
          <a:p>
            <a:pPr lvl="1" marL="667080" indent="-22068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df[‘age’].describe()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summary stats</a:t>
            </a:r>
            <a:endParaRPr b="0" lang="en-GB" sz="1900" spc="-1" strike="noStrike">
              <a:solidFill>
                <a:srgbClr val="000000"/>
              </a:solidFill>
              <a:latin typeface="Arial"/>
            </a:endParaRPr>
          </a:p>
          <a:p>
            <a:pPr lvl="1" marL="667080" indent="-22068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</a:pPr>
            <a:r>
              <a:rPr b="0" lang="en-US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df[‘age’].value_counts(dropna=False) </a:t>
            </a:r>
            <a:r>
              <a:rPr b="0" lang="en-US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number of rows per unique value in column</a:t>
            </a:r>
            <a:endParaRPr b="0" lang="en-GB" sz="1900" spc="-1" strike="noStrike">
              <a:solidFill>
                <a:srgbClr val="000000"/>
              </a:solidFill>
              <a:latin typeface="Arial"/>
            </a:endParaRPr>
          </a:p>
          <a:p>
            <a:pPr marL="227160" indent="0">
              <a:lnSpc>
                <a:spcPct val="12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0680" indent="-22068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Adding a column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1" marL="667080" indent="-220680">
              <a:lnSpc>
                <a:spcPct val="120000"/>
              </a:lnSpc>
              <a:spcBef>
                <a:spcPts val="400"/>
              </a:spcBef>
              <a:buClr>
                <a:srgbClr val="c55a11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en-CH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df[‘new’] = df[‘age’] * 3.1 </a:t>
            </a:r>
            <a:r>
              <a:rPr b="0" lang="en-CH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add new column</a:t>
            </a:r>
            <a:endParaRPr b="0" lang="en-GB" sz="1900" spc="-1" strike="noStrike">
              <a:solidFill>
                <a:srgbClr val="000000"/>
              </a:solidFill>
              <a:latin typeface="Arial"/>
            </a:endParaRPr>
          </a:p>
          <a:p>
            <a:pPr marL="220680" indent="-22068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Filtering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1" marL="667080" indent="-220680">
              <a:lnSpc>
                <a:spcPct val="120000"/>
              </a:lnSpc>
              <a:spcBef>
                <a:spcPts val="499"/>
              </a:spcBef>
              <a:buClr>
                <a:srgbClr val="c55a11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df[df['age'] &gt; 30] </a:t>
            </a:r>
            <a:r>
              <a:rPr b="0" lang="en-US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select rows where condition is True</a:t>
            </a:r>
            <a:endParaRPr b="0" lang="en-GB" sz="1900" spc="-1" strike="noStrike">
              <a:solidFill>
                <a:srgbClr val="000000"/>
              </a:solidFill>
              <a:latin typeface="Arial"/>
            </a:endParaRPr>
          </a:p>
          <a:p>
            <a:pPr marL="220680" indent="-22068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Operations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1" marL="667080" indent="-220680">
              <a:lnSpc>
                <a:spcPct val="120000"/>
              </a:lnSpc>
              <a:spcBef>
                <a:spcPts val="499"/>
              </a:spcBef>
              <a:buClr>
                <a:srgbClr val="c55a11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df.min(), .max(), .mean(), .std(), etc. </a:t>
            </a:r>
            <a:r>
              <a:rPr b="0" lang="en-US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</a:t>
            </a:r>
            <a:br>
              <a:rPr sz="1900"/>
            </a:br>
            <a:r>
              <a:rPr b="0" lang="en-US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column-wise operations</a:t>
            </a:r>
            <a:endParaRPr b="0" lang="en-GB" sz="1900" spc="-1" strike="noStrike">
              <a:solidFill>
                <a:srgbClr val="000000"/>
              </a:solidFill>
              <a:latin typeface="Arial"/>
            </a:endParaRPr>
          </a:p>
          <a:p>
            <a:pPr lvl="1" marL="667080" indent="-220680">
              <a:lnSpc>
                <a:spcPct val="120000"/>
              </a:lnSpc>
              <a:spcBef>
                <a:spcPts val="499"/>
              </a:spcBef>
              <a:buClr>
                <a:srgbClr val="c55a11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df.count() </a:t>
            </a:r>
            <a:r>
              <a:rPr b="0" lang="en-US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count of non-NaN elements in columns</a:t>
            </a:r>
            <a:endParaRPr b="0" lang="en-GB" sz="1900" spc="-1" strike="noStrike">
              <a:solidFill>
                <a:srgbClr val="000000"/>
              </a:solidFill>
              <a:latin typeface="Arial"/>
            </a:endParaRPr>
          </a:p>
          <a:p>
            <a:pPr lvl="1" marL="667080" indent="-220680">
              <a:lnSpc>
                <a:spcPct val="120000"/>
              </a:lnSpc>
              <a:spcBef>
                <a:spcPts val="499"/>
              </a:spcBef>
              <a:buClr>
                <a:srgbClr val="c55a11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df.sort_values(‘name’) </a:t>
            </a:r>
            <a:r>
              <a:rPr b="0" lang="en-US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reorder rows by values of column ‘name’</a:t>
            </a:r>
            <a:endParaRPr b="0" lang="en-GB" sz="1900" spc="-1" strike="noStrike">
              <a:solidFill>
                <a:srgbClr val="000000"/>
              </a:solidFill>
              <a:latin typeface="Arial"/>
            </a:endParaRPr>
          </a:p>
          <a:p>
            <a:pPr lvl="1" marL="667080" indent="-220680">
              <a:lnSpc>
                <a:spcPct val="120000"/>
              </a:lnSpc>
              <a:spcBef>
                <a:spcPts val="499"/>
              </a:spcBef>
              <a:buClr>
                <a:srgbClr val="c55a11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df.sort_index() </a:t>
            </a:r>
            <a:r>
              <a:rPr b="0" lang="en-US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reorder rows by the index values</a:t>
            </a:r>
            <a:endParaRPr b="0" lang="en-GB" sz="1900" spc="-1" strike="noStrike">
              <a:solidFill>
                <a:srgbClr val="000000"/>
              </a:solidFill>
              <a:latin typeface="Arial"/>
            </a:endParaRPr>
          </a:p>
          <a:p>
            <a:pPr marL="220680" indent="-220680">
              <a:lnSpc>
                <a:spcPct val="12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String operations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1" marL="667080" indent="-220680">
              <a:lnSpc>
                <a:spcPct val="120000"/>
              </a:lnSpc>
              <a:spcBef>
                <a:spcPts val="499"/>
              </a:spcBef>
              <a:buClr>
                <a:srgbClr val="c55a11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df[‘name’].str </a:t>
            </a:r>
            <a:r>
              <a:rPr b="0" lang="en-US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accessor for operations on the strings in a col</a:t>
            </a:r>
            <a:endParaRPr b="0" lang="en-GB" sz="1900" spc="-1" strike="noStrike">
              <a:solidFill>
                <a:srgbClr val="000000"/>
              </a:solidFill>
              <a:latin typeface="Arial"/>
            </a:endParaRPr>
          </a:p>
          <a:p>
            <a:pPr lvl="1" marL="667080" indent="-220680">
              <a:lnSpc>
                <a:spcPct val="120000"/>
              </a:lnSpc>
              <a:spcBef>
                <a:spcPts val="499"/>
              </a:spcBef>
              <a:buClr>
                <a:srgbClr val="c55a11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df['name'].str[2:4] </a:t>
            </a:r>
            <a:r>
              <a:rPr b="0" lang="en-US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slice the strings in a col</a:t>
            </a:r>
            <a:endParaRPr b="0" lang="en-GB" sz="1900" spc="-1" strike="noStrike">
              <a:solidFill>
                <a:srgbClr val="000000"/>
              </a:solidFill>
              <a:latin typeface="Arial"/>
            </a:endParaRPr>
          </a:p>
          <a:p>
            <a:pPr lvl="1" marL="667080" indent="-220680">
              <a:lnSpc>
                <a:spcPct val="120000"/>
              </a:lnSpc>
              <a:spcBef>
                <a:spcPts val="499"/>
              </a:spcBef>
              <a:buClr>
                <a:srgbClr val="c55a11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19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df['name'].str.count(‘a’) </a:t>
            </a:r>
            <a:r>
              <a:rPr b="0" lang="en-US" sz="1900" spc="-1" strike="noStrike">
                <a:solidFill>
                  <a:srgbClr val="000000"/>
                </a:solidFill>
                <a:latin typeface="Consolas"/>
                <a:ea typeface="DejaVu Sans"/>
              </a:rPr>
              <a:t>: count the letter ‘a’ in the string in a col</a:t>
            </a:r>
            <a:endParaRPr b="0" lang="en-GB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3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July 2024,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Rectangle 2"/>
          <p:cNvSpPr/>
          <p:nvPr/>
        </p:nvSpPr>
        <p:spPr>
          <a:xfrm>
            <a:off x="4332240" y="2189880"/>
            <a:ext cx="3381840" cy="248796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000" spc="-1" strike="noStrike">
                <a:solidFill>
                  <a:srgbClr val="000000"/>
                </a:solidFill>
                <a:latin typeface="Calibri"/>
                <a:ea typeface="DejaVu Sans"/>
              </a:rPr>
              <a:t>REMOVE?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4000" spc="-1" strike="noStrike">
                <a:solidFill>
                  <a:srgbClr val="000000"/>
                </a:solidFill>
                <a:latin typeface="Calibri"/>
                <a:ea typeface="DejaVu Sans"/>
              </a:rPr>
              <a:t>Maybe give as cheatsheet ?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94A36EE-0980-4898-A948-AE916D705F92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Tabular data example from the lab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838080" y="1124640"/>
            <a:ext cx="10513080" cy="1869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Research question: Does neuronal activity change over time? Does this depend on the overall activity level of the neuronal network?</a:t>
            </a:r>
            <a:br>
              <a:rPr sz="2400"/>
            </a:b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The mainstream theory suggests that neural activity is self-regulating to maintain a baseline level (“homeostatic plasticity”)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 type="dt" idx="20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July 2024,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Content Placeholder 2"/>
          <p:cNvSpPr/>
          <p:nvPr/>
        </p:nvSpPr>
        <p:spPr>
          <a:xfrm>
            <a:off x="838080" y="2781000"/>
            <a:ext cx="4391280" cy="30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 fontScale="96000"/>
          </a:bodyPr>
          <a:p>
            <a:pPr marL="217080" indent="-217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Exp design: patch clamp recordings from the same cells (or different cells/ same slices) before and after prolonged incubation in high potassium (K) 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marL="217080" indent="-217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Potassium stimulates and TTX silences the entire network, allowing us to control the overall activity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4" name="Picture 9" descr=""/>
          <p:cNvPicPr/>
          <p:nvPr/>
        </p:nvPicPr>
        <p:blipFill>
          <a:blip r:embed="rId1"/>
          <a:stretch/>
        </p:blipFill>
        <p:spPr>
          <a:xfrm>
            <a:off x="5879880" y="2749320"/>
            <a:ext cx="5182200" cy="3087720"/>
          </a:xfrm>
          <a:prstGeom prst="rect">
            <a:avLst/>
          </a:prstGeom>
          <a:ln w="0">
            <a:noFill/>
          </a:ln>
        </p:spPr>
      </p:pic>
      <p:sp>
        <p:nvSpPr>
          <p:cNvPr id="175" name="Rectangle 6"/>
          <p:cNvSpPr/>
          <p:nvPr/>
        </p:nvSpPr>
        <p:spPr>
          <a:xfrm>
            <a:off x="8136000" y="2210760"/>
            <a:ext cx="3381840" cy="138708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000" spc="-1" strike="noStrike">
                <a:solidFill>
                  <a:srgbClr val="000000"/>
                </a:solidFill>
                <a:latin typeface="Calibri"/>
                <a:ea typeface="DejaVu Sans"/>
              </a:rPr>
              <a:t>Use weather data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4CD2B48-4BCB-468D-A92A-9284A8B734EF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838080" y="2401200"/>
            <a:ext cx="10513080" cy="2053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5400" spc="-1" strike="noStrike">
                <a:solidFill>
                  <a:srgbClr val="000000"/>
                </a:solidFill>
                <a:latin typeface="Calibri Light"/>
                <a:ea typeface="DejaVu Sans"/>
              </a:rPr>
              <a:t>TA</a:t>
            </a:r>
            <a:r>
              <a:rPr b="0" lang="en-CH" sz="5400" spc="-1" strike="noStrike">
                <a:solidFill>
                  <a:srgbClr val="000000"/>
                </a:solidFill>
                <a:latin typeface="Calibri Light"/>
                <a:ea typeface="DejaVu Sans"/>
              </a:rPr>
              <a:t>B</a:t>
            </a:r>
            <a:r>
              <a:rPr b="0" lang="en-CH" sz="5400" spc="-1" strike="noStrike">
                <a:solidFill>
                  <a:srgbClr val="000000"/>
                </a:solidFill>
                <a:latin typeface="Calibri Light"/>
                <a:ea typeface="DejaVu Sans"/>
              </a:rPr>
              <a:t>UL</a:t>
            </a:r>
            <a:r>
              <a:rPr b="0" lang="en-CH" sz="5400" spc="-1" strike="noStrike">
                <a:solidFill>
                  <a:srgbClr val="000000"/>
                </a:solidFill>
                <a:latin typeface="Calibri Light"/>
                <a:ea typeface="DejaVu Sans"/>
              </a:rPr>
              <a:t>A</a:t>
            </a:r>
            <a:r>
              <a:rPr b="0" lang="en-CH" sz="5400" spc="-1" strike="noStrike">
                <a:solidFill>
                  <a:srgbClr val="000000"/>
                </a:solidFill>
                <a:latin typeface="Calibri Light"/>
                <a:ea typeface="DejaVu Sans"/>
              </a:rPr>
              <a:t>R </a:t>
            </a:r>
            <a:r>
              <a:rPr b="0" lang="en-CH" sz="5400" spc="-1" strike="noStrike">
                <a:solidFill>
                  <a:srgbClr val="000000"/>
                </a:solidFill>
                <a:latin typeface="Calibri Light"/>
                <a:ea typeface="DejaVu Sans"/>
              </a:rPr>
              <a:t>DA</a:t>
            </a:r>
            <a:r>
              <a:rPr b="0" lang="en-CH" sz="5400" spc="-1" strike="noStrike">
                <a:solidFill>
                  <a:srgbClr val="000000"/>
                </a:solidFill>
                <a:latin typeface="Calibri Light"/>
                <a:ea typeface="DejaVu Sans"/>
              </a:rPr>
              <a:t>TA </a:t>
            </a:r>
            <a:r>
              <a:rPr b="0" lang="en-CH" sz="5400" spc="-1" strike="noStrike">
                <a:solidFill>
                  <a:srgbClr val="000000"/>
                </a:solidFill>
                <a:latin typeface="Calibri Light"/>
                <a:ea typeface="DejaVu Sans"/>
              </a:rPr>
              <a:t>O</a:t>
            </a:r>
            <a:r>
              <a:rPr b="0" lang="en-CH" sz="5400" spc="-1" strike="noStrike">
                <a:solidFill>
                  <a:srgbClr val="000000"/>
                </a:solidFill>
                <a:latin typeface="Calibri Light"/>
                <a:ea typeface="DejaVu Sans"/>
              </a:rPr>
              <a:t>PE</a:t>
            </a:r>
            <a:r>
              <a:rPr b="0" lang="en-CH" sz="5400" spc="-1" strike="noStrike">
                <a:solidFill>
                  <a:srgbClr val="000000"/>
                </a:solidFill>
                <a:latin typeface="Calibri Light"/>
                <a:ea typeface="DejaVu Sans"/>
              </a:rPr>
              <a:t>RA</a:t>
            </a:r>
            <a:r>
              <a:rPr b="0" lang="en-CH" sz="5400" spc="-1" strike="noStrike">
                <a:solidFill>
                  <a:srgbClr val="000000"/>
                </a:solidFill>
                <a:latin typeface="Calibri Light"/>
                <a:ea typeface="DejaVu Sans"/>
              </a:rPr>
              <a:t>TI</a:t>
            </a:r>
            <a:r>
              <a:rPr b="0" lang="en-CH" sz="5400" spc="-1" strike="noStrike">
                <a:solidFill>
                  <a:srgbClr val="000000"/>
                </a:solidFill>
                <a:latin typeface="Calibri Light"/>
                <a:ea typeface="DejaVu Sans"/>
              </a:rPr>
              <a:t>O</a:t>
            </a:r>
            <a:r>
              <a:rPr b="0" lang="en-CH" sz="5400" spc="-1" strike="noStrike">
                <a:solidFill>
                  <a:srgbClr val="000000"/>
                </a:solidFill>
                <a:latin typeface="Calibri Light"/>
                <a:ea typeface="DejaVu Sans"/>
              </a:rPr>
              <a:t>N</a:t>
            </a:r>
            <a:r>
              <a:rPr b="0" lang="en-CH" sz="5400" spc="-1" strike="noStrike">
                <a:solidFill>
                  <a:srgbClr val="000000"/>
                </a:solidFill>
                <a:latin typeface="Calibri Light"/>
                <a:ea typeface="DejaVu Sans"/>
              </a:rPr>
              <a:t>S</a:t>
            </a:r>
            <a:endParaRPr b="0" lang="en-GB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BCF1B55-6533-4004-9E0E-BD14605CA50D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Common operations on tabular data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3080" cy="483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88000"/>
          </a:bodyPr>
          <a:p>
            <a:pPr marL="214920" indent="-21492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Tabular data has additional needs compared to arrays. Understanding how to vectorize these operations is critical for handling them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716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14920" indent="-21492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Combine information across tables (</a:t>
            </a:r>
            <a:r>
              <a:rPr b="1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join, anti-join</a:t>
            </a: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)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1" marL="649800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Join</a:t>
            </a: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: e.g., combine table with experiments results with table with experiments metadata (date, location, experimenter, free-form notes, …)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1" marL="649800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Anti-join</a:t>
            </a: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: e.g. student compiles list of outliers, exclude them from t</a:t>
            </a: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h</a:t>
            </a: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e table of experiments to analyze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marL="214920" indent="-21492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Summary tables (</a:t>
            </a:r>
            <a:r>
              <a:rPr b="1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split-apply-combine</a:t>
            </a: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)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1" marL="649800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E.g., compute average measurement and standard deviation by experimental condition and treatment dosage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marL="214920" indent="-21492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1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Window functions</a:t>
            </a: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 to vectorize complex computations over groups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1" marL="649800" indent="-2149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E.g., compute some operation considering more than one row at the time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marL="22716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716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0F36FD4-31CD-48FF-BE9D-57E6E7F63D32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3080" cy="90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5400" spc="-1" strike="noStrike">
                <a:solidFill>
                  <a:srgbClr val="000000"/>
                </a:solidFill>
                <a:latin typeface="Calibri Light"/>
                <a:ea typeface="DejaVu Sans"/>
              </a:rPr>
              <a:t>Joins</a:t>
            </a:r>
            <a:endParaRPr b="0" lang="en-GB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2"/>
          <p:cNvSpPr>
            <a:spLocks noGrp="1"/>
          </p:cNvSpPr>
          <p:nvPr>
            <p:ph type="dt" idx="23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52F74F5-DFA0-4C6D-9DBB-D5E86A1CCE82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80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Join operations: combining informations from multiple tables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85" name="Picture 5" descr=""/>
          <p:cNvPicPr/>
          <p:nvPr/>
        </p:nvPicPr>
        <p:blipFill>
          <a:blip r:embed="rId1"/>
          <a:srcRect l="0" t="0" r="47418" b="0"/>
          <a:stretch/>
        </p:blipFill>
        <p:spPr>
          <a:xfrm>
            <a:off x="2209680" y="1277640"/>
            <a:ext cx="2945160" cy="2269080"/>
          </a:xfrm>
          <a:prstGeom prst="rect">
            <a:avLst/>
          </a:prstGeom>
          <a:ln w="0">
            <a:noFill/>
          </a:ln>
        </p:spPr>
      </p:pic>
      <p:pic>
        <p:nvPicPr>
          <p:cNvPr id="186" name="Picture 9" descr=""/>
          <p:cNvPicPr/>
          <p:nvPr/>
        </p:nvPicPr>
        <p:blipFill>
          <a:blip r:embed="rId2"/>
          <a:stretch/>
        </p:blipFill>
        <p:spPr>
          <a:xfrm>
            <a:off x="3407400" y="4047840"/>
            <a:ext cx="5374440" cy="2176560"/>
          </a:xfrm>
          <a:prstGeom prst="rect">
            <a:avLst/>
          </a:prstGeom>
          <a:ln w="0">
            <a:noFill/>
          </a:ln>
        </p:spPr>
      </p:pic>
      <p:sp>
        <p:nvSpPr>
          <p:cNvPr id="187" name="TextBox 11"/>
          <p:cNvSpPr/>
          <p:nvPr/>
        </p:nvSpPr>
        <p:spPr>
          <a:xfrm>
            <a:off x="5627880" y="1911240"/>
            <a:ext cx="93348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0" lang="en-CH" sz="6000" spc="-1" strike="noStrike">
                <a:solidFill>
                  <a:srgbClr val="000000"/>
                </a:solidFill>
                <a:latin typeface="Calibri"/>
                <a:ea typeface="DejaVu Sans"/>
              </a:rPr>
              <a:t>+</a:t>
            </a:r>
            <a:endParaRPr b="0" lang="en-GB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Box 12"/>
          <p:cNvSpPr/>
          <p:nvPr/>
        </p:nvSpPr>
        <p:spPr>
          <a:xfrm>
            <a:off x="2135520" y="4635000"/>
            <a:ext cx="93348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0" lang="en-CH" sz="6000" spc="-1" strike="noStrike">
                <a:solidFill>
                  <a:srgbClr val="000000"/>
                </a:solidFill>
                <a:latin typeface="Calibri"/>
                <a:ea typeface="DejaVu Sans"/>
              </a:rPr>
              <a:t>=</a:t>
            </a:r>
            <a:endParaRPr b="0" lang="en-GB" sz="6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9" name="Picture 7" descr=""/>
          <p:cNvPicPr/>
          <p:nvPr/>
        </p:nvPicPr>
        <p:blipFill>
          <a:blip r:embed="rId3"/>
          <a:stretch/>
        </p:blipFill>
        <p:spPr>
          <a:xfrm>
            <a:off x="7005240" y="1616760"/>
            <a:ext cx="3333960" cy="159048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8649F96-EA90-42B1-ADED-C6ED7C3CF824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Join operations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Rectangle 7"/>
          <p:cNvSpPr/>
          <p:nvPr/>
        </p:nvSpPr>
        <p:spPr>
          <a:xfrm>
            <a:off x="7430400" y="206640"/>
            <a:ext cx="4536360" cy="9878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193" name="Graphic 8" descr=""/>
          <p:cNvPicPr/>
          <p:nvPr/>
        </p:nvPicPr>
        <p:blipFill>
          <a:blip r:embed="rId1"/>
          <a:stretch/>
        </p:blipFill>
        <p:spPr>
          <a:xfrm>
            <a:off x="7511040" y="232200"/>
            <a:ext cx="707760" cy="628560"/>
          </a:xfrm>
          <a:prstGeom prst="rect">
            <a:avLst/>
          </a:prstGeom>
          <a:ln w="0">
            <a:noFill/>
          </a:ln>
        </p:spPr>
      </p:pic>
      <p:sp>
        <p:nvSpPr>
          <p:cNvPr id="194" name="TextBox 9"/>
          <p:cNvSpPr/>
          <p:nvPr/>
        </p:nvSpPr>
        <p:spPr>
          <a:xfrm>
            <a:off x="8163720" y="225360"/>
            <a:ext cx="1776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pc="-1" strike="noStrike">
                <a:solidFill>
                  <a:srgbClr val="000000"/>
                </a:solidFill>
                <a:latin typeface="Courier New"/>
                <a:ea typeface="DejaVu Sans"/>
              </a:rPr>
              <a:t>Live Coding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TextBox 10"/>
          <p:cNvSpPr/>
          <p:nvPr/>
        </p:nvSpPr>
        <p:spPr>
          <a:xfrm>
            <a:off x="8301960" y="542880"/>
            <a:ext cx="34801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n</a:t>
            </a:r>
            <a:r>
              <a:rPr b="0" lang="en-DE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otebooks/</a:t>
            </a:r>
            <a:r>
              <a:rPr b="0" lang="en-US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tabular_data/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020_join_operations.ipynb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0CBBDD3-7D63-45AE-875F-3A28DA1F94A8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Join operations – Main points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360000" y="1152000"/>
            <a:ext cx="6299280" cy="483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Join operations can be used to combine two tables using the values of one or m</a:t>
            </a: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ore columns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Different types of join: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left/right: keep all the column values that are present in the first/second table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inner: keep the column values common to both tables (intersection)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outer: keep all the column values of both tables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Anti-joins can be used to exclude the values that are present in one, but not the other table (filtering based on arbitrary criteria)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dt" idx="26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Rectangle 4"/>
          <p:cNvSpPr/>
          <p:nvPr/>
        </p:nvSpPr>
        <p:spPr>
          <a:xfrm>
            <a:off x="7430400" y="206640"/>
            <a:ext cx="4536360" cy="9878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200" name="Graphic 1" descr=""/>
          <p:cNvPicPr/>
          <p:nvPr/>
        </p:nvPicPr>
        <p:blipFill>
          <a:blip r:embed="rId1"/>
          <a:stretch/>
        </p:blipFill>
        <p:spPr>
          <a:xfrm>
            <a:off x="7511040" y="232200"/>
            <a:ext cx="707760" cy="628560"/>
          </a:xfrm>
          <a:prstGeom prst="rect">
            <a:avLst/>
          </a:prstGeom>
          <a:ln w="0">
            <a:noFill/>
          </a:ln>
        </p:spPr>
      </p:pic>
      <p:sp>
        <p:nvSpPr>
          <p:cNvPr id="201" name="TextBox 3"/>
          <p:cNvSpPr/>
          <p:nvPr/>
        </p:nvSpPr>
        <p:spPr>
          <a:xfrm>
            <a:off x="8163720" y="225360"/>
            <a:ext cx="1776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pc="-1" strike="noStrike">
                <a:solidFill>
                  <a:srgbClr val="000000"/>
                </a:solidFill>
                <a:latin typeface="Courier New"/>
                <a:ea typeface="DejaVu Sans"/>
              </a:rPr>
              <a:t>Live Coding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Box 4"/>
          <p:cNvSpPr/>
          <p:nvPr/>
        </p:nvSpPr>
        <p:spPr>
          <a:xfrm>
            <a:off x="8301960" y="542880"/>
            <a:ext cx="34801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n</a:t>
            </a:r>
            <a:r>
              <a:rPr b="0" lang="en-DE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otebooks/</a:t>
            </a:r>
            <a:r>
              <a:rPr b="0" lang="en-US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tabular_data/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020_join_operations.ipynb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3" name="" descr=""/>
          <p:cNvPicPr/>
          <p:nvPr/>
        </p:nvPicPr>
        <p:blipFill>
          <a:blip r:embed="rId2"/>
          <a:stretch/>
        </p:blipFill>
        <p:spPr>
          <a:xfrm>
            <a:off x="6660000" y="1807920"/>
            <a:ext cx="5219280" cy="32313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ED91B4C-D846-4DDA-9CC4-C91B751D1037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Example of tabular data: “Predimed” study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/>
          </p:nvPr>
        </p:nvSpPr>
        <p:spPr>
          <a:xfrm>
            <a:off x="838080" y="1124640"/>
            <a:ext cx="10513080" cy="853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Research question: Does Mediterranean diet help prevent cardiovascular diseases, such as heart attacks and strokes?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Content Placeholder 4"/>
          <p:cNvSpPr/>
          <p:nvPr/>
        </p:nvSpPr>
        <p:spPr>
          <a:xfrm>
            <a:off x="838080" y="2160000"/>
            <a:ext cx="6179760" cy="30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Longitudinal study following &gt; 7000 Spanish participants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Three different diets: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Mediterranean diet + extra virgin olive oil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Mediterranean diet + nuts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Control diet (low fat food items)</a:t>
            </a:r>
            <a:br>
              <a:rPr sz="2400"/>
            </a:br>
            <a:r>
              <a:rPr b="0" lang="en-US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 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8" name="Picture 213" descr=""/>
          <p:cNvPicPr/>
          <p:nvPr/>
        </p:nvPicPr>
        <p:blipFill>
          <a:blip r:embed="rId1"/>
          <a:stretch/>
        </p:blipFill>
        <p:spPr>
          <a:xfrm>
            <a:off x="7307280" y="1807200"/>
            <a:ext cx="4918680" cy="3410640"/>
          </a:xfrm>
          <a:prstGeom prst="rect">
            <a:avLst/>
          </a:prstGeom>
          <a:ln w="0">
            <a:noFill/>
          </a:ln>
        </p:spPr>
      </p:pic>
      <p:sp>
        <p:nvSpPr>
          <p:cNvPr id="209" name="Content Placeholder 6"/>
          <p:cNvSpPr/>
          <p:nvPr/>
        </p:nvSpPr>
        <p:spPr>
          <a:xfrm>
            <a:off x="4992120" y="5852160"/>
            <a:ext cx="719784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 u="sng">
                <a:solidFill>
                  <a:srgbClr val="0563c1"/>
                </a:solidFill>
                <a:uFillTx/>
                <a:latin typeface="Calibri"/>
                <a:ea typeface="DejaVu Sans"/>
                <a:hlinkClick r:id="rId2"/>
              </a:rPr>
              <a:t>Estruch et al. (2018). New England Journal of Medicine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51374AE-0990-4F66-92ED-83494FDA1195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Example of tabular data: “Predimed” study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Content Placeholder 10"/>
          <p:cNvSpPr/>
          <p:nvPr/>
        </p:nvSpPr>
        <p:spPr>
          <a:xfrm>
            <a:off x="4992120" y="5852160"/>
            <a:ext cx="7197840" cy="4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>
              <a:lnSpc>
                <a:spcPct val="90000"/>
              </a:lnSpc>
              <a:spcBef>
                <a:spcPts val="1001"/>
              </a:spcBef>
            </a:pPr>
            <a:r>
              <a:rPr b="0" lang="en-US" sz="2400" spc="-1" strike="noStrike" u="sng">
                <a:solidFill>
                  <a:srgbClr val="0563c1"/>
                </a:solidFill>
                <a:uFillTx/>
                <a:latin typeface="Calibri"/>
                <a:ea typeface="DejaVu Sans"/>
                <a:hlinkClick r:id="rId1"/>
              </a:rPr>
              <a:t>Estruch et al. (2018). New England Journal of Medicine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3" name="Picture 218" descr=""/>
          <p:cNvPicPr/>
          <p:nvPr/>
        </p:nvPicPr>
        <p:blipFill>
          <a:blip r:embed="rId2"/>
          <a:stretch/>
        </p:blipFill>
        <p:spPr>
          <a:xfrm>
            <a:off x="720000" y="1409760"/>
            <a:ext cx="10694520" cy="2188440"/>
          </a:xfrm>
          <a:prstGeom prst="rect">
            <a:avLst/>
          </a:prstGeom>
          <a:ln w="0">
            <a:noFill/>
          </a:ln>
        </p:spPr>
      </p:pic>
      <p:pic>
        <p:nvPicPr>
          <p:cNvPr id="214" name="Picture 219" descr=""/>
          <p:cNvPicPr/>
          <p:nvPr/>
        </p:nvPicPr>
        <p:blipFill>
          <a:blip r:embed="rId3"/>
          <a:stretch/>
        </p:blipFill>
        <p:spPr>
          <a:xfrm>
            <a:off x="1080000" y="3881880"/>
            <a:ext cx="3522240" cy="223632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E83DD30-5151-49CD-9AF6-5F4BC2F43017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Rectangle 7"/>
          <p:cNvSpPr/>
          <p:nvPr/>
        </p:nvSpPr>
        <p:spPr>
          <a:xfrm>
            <a:off x="7428240" y="205920"/>
            <a:ext cx="4536360" cy="987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sp>
        <p:nvSpPr>
          <p:cNvPr id="216" name="PlaceHolder 1"/>
          <p:cNvSpPr>
            <a:spLocks noGrp="1"/>
          </p:cNvSpPr>
          <p:nvPr>
            <p:ph/>
          </p:nvPr>
        </p:nvSpPr>
        <p:spPr>
          <a:xfrm>
            <a:off x="838080" y="1496160"/>
            <a:ext cx="10513080" cy="467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Use joins to add the experimental information to the data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(who followed which diet)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Use anti-joins to correct for attrition </a:t>
            </a:r>
            <a:br>
              <a:rPr sz="2800"/>
            </a:b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(people who self-reported not following the diet)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Submit a PR on</a:t>
            </a:r>
            <a:br>
              <a:rPr sz="2800"/>
            </a:br>
            <a:r>
              <a:rPr b="0" lang="en-US" sz="2800" spc="-1" strike="noStrike">
                <a:solidFill>
                  <a:srgbClr val="000000"/>
                </a:solidFill>
                <a:latin typeface="Consolas"/>
                <a:ea typeface="DejaVu Sans"/>
              </a:rPr>
              <a:t>git.aspp.school/ASPP/2025-plovdiv-data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 type="dt" idx="29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TextBox 8"/>
          <p:cNvSpPr/>
          <p:nvPr/>
        </p:nvSpPr>
        <p:spPr>
          <a:xfrm>
            <a:off x="7930800" y="224640"/>
            <a:ext cx="1776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pc="-1" strike="noStrike">
                <a:solidFill>
                  <a:srgbClr val="000000"/>
                </a:solidFill>
                <a:latin typeface="Courier New"/>
                <a:ea typeface="DejaVu Sans"/>
              </a:rPr>
              <a:t>Exercise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9" name="Graphic 10" descr=""/>
          <p:cNvPicPr/>
          <p:nvPr/>
        </p:nvPicPr>
        <p:blipFill>
          <a:blip r:embed="rId1"/>
          <a:stretch/>
        </p:blipFill>
        <p:spPr>
          <a:xfrm>
            <a:off x="7474680" y="273960"/>
            <a:ext cx="691920" cy="552960"/>
          </a:xfrm>
          <a:prstGeom prst="rect">
            <a:avLst/>
          </a:prstGeom>
          <a:ln w="0">
            <a:noFill/>
          </a:ln>
        </p:spPr>
      </p:pic>
      <p:sp>
        <p:nvSpPr>
          <p:cNvPr id="220" name="TextBox 12"/>
          <p:cNvSpPr/>
          <p:nvPr/>
        </p:nvSpPr>
        <p:spPr>
          <a:xfrm>
            <a:off x="8301960" y="542880"/>
            <a:ext cx="348012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exercises/tabular_join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 type="title"/>
          </p:nvPr>
        </p:nvSpPr>
        <p:spPr>
          <a:xfrm>
            <a:off x="346680" y="365040"/>
            <a:ext cx="5962680" cy="950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67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Hands-on</a:t>
            </a:r>
            <a:br>
              <a:rPr sz="4400"/>
            </a:b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4F052CA-984E-43B6-A342-5265E7EDD2F8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3080" cy="90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5400" spc="-1" strike="noStrike">
                <a:solidFill>
                  <a:srgbClr val="000000"/>
                </a:solidFill>
                <a:latin typeface="Calibri Light"/>
                <a:ea typeface="DejaVu Sans"/>
              </a:rPr>
              <a:t>Split-apply-combine</a:t>
            </a:r>
            <a:endParaRPr b="0" lang="en-GB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2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BC5AEB7-4619-4B55-AD8E-92CD12403412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The basic structure of most numerical analyses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26" name="Picture 11" descr=""/>
          <p:cNvPicPr/>
          <p:nvPr/>
        </p:nvPicPr>
        <p:blipFill>
          <a:blip r:embed="rId1"/>
          <a:stretch/>
        </p:blipFill>
        <p:spPr>
          <a:xfrm>
            <a:off x="3935880" y="2162520"/>
            <a:ext cx="2884320" cy="4556520"/>
          </a:xfrm>
          <a:prstGeom prst="rect">
            <a:avLst/>
          </a:prstGeom>
          <a:ln w="0">
            <a:noFill/>
          </a:ln>
        </p:spPr>
      </p:pic>
      <p:pic>
        <p:nvPicPr>
          <p:cNvPr id="227" name="Picture 12" descr=""/>
          <p:cNvPicPr/>
          <p:nvPr/>
        </p:nvPicPr>
        <p:blipFill>
          <a:blip r:embed="rId2"/>
          <a:stretch/>
        </p:blipFill>
        <p:spPr>
          <a:xfrm>
            <a:off x="7584840" y="2500560"/>
            <a:ext cx="1474560" cy="3627000"/>
          </a:xfrm>
          <a:prstGeom prst="rect">
            <a:avLst/>
          </a:prstGeom>
          <a:ln w="0">
            <a:noFill/>
          </a:ln>
        </p:spPr>
      </p:pic>
      <p:pic>
        <p:nvPicPr>
          <p:cNvPr id="228" name="Picture 13" descr=""/>
          <p:cNvPicPr/>
          <p:nvPr/>
        </p:nvPicPr>
        <p:blipFill>
          <a:blip r:embed="rId3"/>
          <a:stretch/>
        </p:blipFill>
        <p:spPr>
          <a:xfrm>
            <a:off x="9859680" y="2999880"/>
            <a:ext cx="1809720" cy="1953000"/>
          </a:xfrm>
          <a:prstGeom prst="rect">
            <a:avLst/>
          </a:prstGeom>
          <a:ln w="0">
            <a:noFill/>
          </a:ln>
        </p:spPr>
      </p:pic>
      <p:pic>
        <p:nvPicPr>
          <p:cNvPr id="229" name="Picture 14" descr=""/>
          <p:cNvPicPr/>
          <p:nvPr/>
        </p:nvPicPr>
        <p:blipFill>
          <a:blip r:embed="rId4"/>
          <a:stretch/>
        </p:blipFill>
        <p:spPr>
          <a:xfrm>
            <a:off x="460080" y="2783880"/>
            <a:ext cx="2661840" cy="2586600"/>
          </a:xfrm>
          <a:prstGeom prst="rect">
            <a:avLst/>
          </a:prstGeom>
          <a:ln w="0">
            <a:noFill/>
          </a:ln>
        </p:spPr>
      </p:pic>
      <p:sp>
        <p:nvSpPr>
          <p:cNvPr id="230" name="TextBox 15"/>
          <p:cNvSpPr/>
          <p:nvPr/>
        </p:nvSpPr>
        <p:spPr>
          <a:xfrm>
            <a:off x="2617920" y="1321920"/>
            <a:ext cx="1869840" cy="6382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split</a:t>
            </a:r>
            <a:endParaRPr b="0" lang="en-GB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Box 16"/>
          <p:cNvSpPr/>
          <p:nvPr/>
        </p:nvSpPr>
        <p:spPr>
          <a:xfrm>
            <a:off x="6311880" y="1321920"/>
            <a:ext cx="1869840" cy="6382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apply</a:t>
            </a:r>
            <a:endParaRPr b="0" lang="en-GB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Box 17"/>
          <p:cNvSpPr/>
          <p:nvPr/>
        </p:nvSpPr>
        <p:spPr>
          <a:xfrm>
            <a:off x="9783360" y="1321920"/>
            <a:ext cx="1869840" cy="638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combine</a:t>
            </a:r>
            <a:endParaRPr b="0" lang="en-GB" sz="3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33" name="Straight Arrow Connector 19"/>
          <p:cNvCxnSpPr/>
          <p:nvPr/>
        </p:nvCxnSpPr>
        <p:spPr>
          <a:xfrm flipV="1">
            <a:off x="3287520" y="2783520"/>
            <a:ext cx="650520" cy="74484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234" name="Straight Arrow Connector 20"/>
          <p:cNvCxnSpPr/>
          <p:nvPr/>
        </p:nvCxnSpPr>
        <p:spPr>
          <a:xfrm flipV="1">
            <a:off x="3281400" y="3784320"/>
            <a:ext cx="650520" cy="11484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235" name="Straight Arrow Connector 21"/>
          <p:cNvCxnSpPr/>
          <p:nvPr/>
        </p:nvCxnSpPr>
        <p:spPr>
          <a:xfrm>
            <a:off x="3281760" y="4326480"/>
            <a:ext cx="639720" cy="39852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236" name="Straight Arrow Connector 22"/>
          <p:cNvCxnSpPr/>
          <p:nvPr/>
        </p:nvCxnSpPr>
        <p:spPr>
          <a:xfrm>
            <a:off x="3291840" y="5254200"/>
            <a:ext cx="640080" cy="118944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237" name="Straight Arrow Connector 25"/>
          <p:cNvCxnSpPr/>
          <p:nvPr/>
        </p:nvCxnSpPr>
        <p:spPr>
          <a:xfrm>
            <a:off x="3281400" y="4874760"/>
            <a:ext cx="650520" cy="7563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sp>
        <p:nvSpPr>
          <p:cNvPr id="238" name="TextBox 29"/>
          <p:cNvSpPr/>
          <p:nvPr/>
        </p:nvSpPr>
        <p:spPr>
          <a:xfrm>
            <a:off x="3228840" y="2734560"/>
            <a:ext cx="645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A1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Box 30"/>
          <p:cNvSpPr/>
          <p:nvPr/>
        </p:nvSpPr>
        <p:spPr>
          <a:xfrm>
            <a:off x="3223800" y="3516480"/>
            <a:ext cx="645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A2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Box 31"/>
          <p:cNvSpPr/>
          <p:nvPr/>
        </p:nvSpPr>
        <p:spPr>
          <a:xfrm>
            <a:off x="3223800" y="4020480"/>
            <a:ext cx="645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B1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32"/>
          <p:cNvSpPr/>
          <p:nvPr/>
        </p:nvSpPr>
        <p:spPr>
          <a:xfrm>
            <a:off x="3233520" y="4754520"/>
            <a:ext cx="645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B2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Box 33"/>
          <p:cNvSpPr/>
          <p:nvPr/>
        </p:nvSpPr>
        <p:spPr>
          <a:xfrm>
            <a:off x="3233520" y="5244480"/>
            <a:ext cx="645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C2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Right Arrow 40"/>
          <p:cNvSpPr/>
          <p:nvPr/>
        </p:nvSpPr>
        <p:spPr>
          <a:xfrm>
            <a:off x="6996240" y="4089240"/>
            <a:ext cx="501480" cy="85824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CH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TextBox 41"/>
          <p:cNvSpPr/>
          <p:nvPr/>
        </p:nvSpPr>
        <p:spPr>
          <a:xfrm>
            <a:off x="6837120" y="3702960"/>
            <a:ext cx="780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mean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45" name="Straight Arrow Connector 42"/>
          <p:cNvCxnSpPr/>
          <p:nvPr/>
        </p:nvCxnSpPr>
        <p:spPr>
          <a:xfrm>
            <a:off x="9076320" y="2923920"/>
            <a:ext cx="709560" cy="59508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246" name="Straight Arrow Connector 44"/>
          <p:cNvCxnSpPr/>
          <p:nvPr/>
        </p:nvCxnSpPr>
        <p:spPr>
          <a:xfrm>
            <a:off x="9076320" y="3645000"/>
            <a:ext cx="709560" cy="1980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247" name="Straight Arrow Connector 46"/>
          <p:cNvCxnSpPr/>
          <p:nvPr/>
        </p:nvCxnSpPr>
        <p:spPr>
          <a:xfrm flipV="1">
            <a:off x="9065520" y="4205160"/>
            <a:ext cx="720360" cy="21924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248" name="Straight Arrow Connector 48"/>
          <p:cNvCxnSpPr/>
          <p:nvPr/>
        </p:nvCxnSpPr>
        <p:spPr>
          <a:xfrm flipV="1">
            <a:off x="9076320" y="4421880"/>
            <a:ext cx="709560" cy="70992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249" name="Straight Arrow Connector 50"/>
          <p:cNvCxnSpPr/>
          <p:nvPr/>
        </p:nvCxnSpPr>
        <p:spPr>
          <a:xfrm flipV="1">
            <a:off x="9076320" y="4775400"/>
            <a:ext cx="709560" cy="116568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3E819CB-2434-4692-BEC9-AAE15E8AD470}" type="slidenum">
              <a:t>19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74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Split-apply-combine </a:t>
            </a:r>
            <a:br>
              <a:rPr sz="4400"/>
            </a:b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operations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 type="dt" idx="32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Rectangle 7"/>
          <p:cNvSpPr/>
          <p:nvPr/>
        </p:nvSpPr>
        <p:spPr>
          <a:xfrm>
            <a:off x="7430400" y="206640"/>
            <a:ext cx="4536360" cy="9878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253" name="Graphic 8" descr=""/>
          <p:cNvPicPr/>
          <p:nvPr/>
        </p:nvPicPr>
        <p:blipFill>
          <a:blip r:embed="rId1"/>
          <a:stretch/>
        </p:blipFill>
        <p:spPr>
          <a:xfrm>
            <a:off x="7511040" y="232200"/>
            <a:ext cx="707760" cy="628560"/>
          </a:xfrm>
          <a:prstGeom prst="rect">
            <a:avLst/>
          </a:prstGeom>
          <a:ln w="0">
            <a:noFill/>
          </a:ln>
        </p:spPr>
      </p:pic>
      <p:sp>
        <p:nvSpPr>
          <p:cNvPr id="254" name="TextBox 9"/>
          <p:cNvSpPr/>
          <p:nvPr/>
        </p:nvSpPr>
        <p:spPr>
          <a:xfrm>
            <a:off x="8163720" y="225360"/>
            <a:ext cx="1776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pc="-1" strike="noStrike">
                <a:solidFill>
                  <a:srgbClr val="000000"/>
                </a:solidFill>
                <a:latin typeface="Courier New"/>
                <a:ea typeface="DejaVu Sans"/>
              </a:rPr>
              <a:t>Live Coding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TextBox 10"/>
          <p:cNvSpPr/>
          <p:nvPr/>
        </p:nvSpPr>
        <p:spPr>
          <a:xfrm>
            <a:off x="8301960" y="542880"/>
            <a:ext cx="34801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n</a:t>
            </a:r>
            <a:r>
              <a:rPr b="0" lang="en-DE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otebooks/</a:t>
            </a:r>
            <a:r>
              <a:rPr b="0" lang="en-US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030_tabular_data/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030_split-apply-combine.ipynb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DB83D77-B6C5-4196-B5AA-9B35D3EE83AA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67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Split-apply-combine </a:t>
            </a:r>
            <a:br>
              <a:rPr sz="4400"/>
            </a:b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operations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3080" cy="483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Main points: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Tabular data tools have a way to vectorize the standard</a:t>
            </a:r>
            <a:br>
              <a:rPr sz="2800"/>
            </a:b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split-apply-combine operations, using a “group-by” command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In addition, Pandas has got a “pivot-table” command that can be used to simplify the creation of more complex summary tables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3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Rectangle 7"/>
          <p:cNvSpPr/>
          <p:nvPr/>
        </p:nvSpPr>
        <p:spPr>
          <a:xfrm>
            <a:off x="7430400" y="206640"/>
            <a:ext cx="4536360" cy="9878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260" name="Graphic 8" descr=""/>
          <p:cNvPicPr/>
          <p:nvPr/>
        </p:nvPicPr>
        <p:blipFill>
          <a:blip r:embed="rId1"/>
          <a:stretch/>
        </p:blipFill>
        <p:spPr>
          <a:xfrm>
            <a:off x="7511040" y="232200"/>
            <a:ext cx="707760" cy="628560"/>
          </a:xfrm>
          <a:prstGeom prst="rect">
            <a:avLst/>
          </a:prstGeom>
          <a:ln w="0">
            <a:noFill/>
          </a:ln>
        </p:spPr>
      </p:pic>
      <p:sp>
        <p:nvSpPr>
          <p:cNvPr id="261" name="TextBox 9"/>
          <p:cNvSpPr/>
          <p:nvPr/>
        </p:nvSpPr>
        <p:spPr>
          <a:xfrm>
            <a:off x="8163720" y="225360"/>
            <a:ext cx="1776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pc="-1" strike="noStrike">
                <a:solidFill>
                  <a:srgbClr val="000000"/>
                </a:solidFill>
                <a:latin typeface="Courier New"/>
                <a:ea typeface="DejaVu Sans"/>
              </a:rPr>
              <a:t>Live Coding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Box 10"/>
          <p:cNvSpPr/>
          <p:nvPr/>
        </p:nvSpPr>
        <p:spPr>
          <a:xfrm>
            <a:off x="8301960" y="542880"/>
            <a:ext cx="34801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n</a:t>
            </a:r>
            <a:r>
              <a:rPr b="0" lang="en-DE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otebooks/</a:t>
            </a:r>
            <a:r>
              <a:rPr b="0" lang="en-US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030_tabular_data/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030_split-apply-combine.ipynb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F59AAC5-1D5B-422A-ADFD-03BA694F088B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dt" idx="34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</a:t>
            </a: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64" name="Picture 11" descr=""/>
          <p:cNvPicPr/>
          <p:nvPr/>
        </p:nvPicPr>
        <p:blipFill>
          <a:blip r:embed="rId1"/>
          <a:stretch/>
        </p:blipFill>
        <p:spPr>
          <a:xfrm>
            <a:off x="3935880" y="2162520"/>
            <a:ext cx="2884320" cy="4556520"/>
          </a:xfrm>
          <a:prstGeom prst="rect">
            <a:avLst/>
          </a:prstGeom>
          <a:ln w="0">
            <a:noFill/>
          </a:ln>
        </p:spPr>
      </p:pic>
      <p:pic>
        <p:nvPicPr>
          <p:cNvPr id="265" name="Picture 12" descr=""/>
          <p:cNvPicPr/>
          <p:nvPr/>
        </p:nvPicPr>
        <p:blipFill>
          <a:blip r:embed="rId2"/>
          <a:stretch/>
        </p:blipFill>
        <p:spPr>
          <a:xfrm>
            <a:off x="7584840" y="2500560"/>
            <a:ext cx="1474560" cy="3627000"/>
          </a:xfrm>
          <a:prstGeom prst="rect">
            <a:avLst/>
          </a:prstGeom>
          <a:ln w="0">
            <a:noFill/>
          </a:ln>
        </p:spPr>
      </p:pic>
      <p:pic>
        <p:nvPicPr>
          <p:cNvPr id="266" name="Picture 13" descr=""/>
          <p:cNvPicPr/>
          <p:nvPr/>
        </p:nvPicPr>
        <p:blipFill>
          <a:blip r:embed="rId3"/>
          <a:stretch/>
        </p:blipFill>
        <p:spPr>
          <a:xfrm>
            <a:off x="9859680" y="2999880"/>
            <a:ext cx="1809720" cy="1953000"/>
          </a:xfrm>
          <a:prstGeom prst="rect">
            <a:avLst/>
          </a:prstGeom>
          <a:ln w="0">
            <a:noFill/>
          </a:ln>
        </p:spPr>
      </p:pic>
      <p:pic>
        <p:nvPicPr>
          <p:cNvPr id="267" name="Picture 14" descr=""/>
          <p:cNvPicPr/>
          <p:nvPr/>
        </p:nvPicPr>
        <p:blipFill>
          <a:blip r:embed="rId4"/>
          <a:stretch/>
        </p:blipFill>
        <p:spPr>
          <a:xfrm>
            <a:off x="460080" y="2783880"/>
            <a:ext cx="2661840" cy="2586600"/>
          </a:xfrm>
          <a:prstGeom prst="rect">
            <a:avLst/>
          </a:prstGeom>
          <a:ln w="0">
            <a:noFill/>
          </a:ln>
        </p:spPr>
      </p:pic>
      <p:sp>
        <p:nvSpPr>
          <p:cNvPr id="268" name="TextBox 15"/>
          <p:cNvSpPr/>
          <p:nvPr/>
        </p:nvSpPr>
        <p:spPr>
          <a:xfrm>
            <a:off x="2617920" y="1321920"/>
            <a:ext cx="1869840" cy="6382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split</a:t>
            </a:r>
            <a:endParaRPr b="0" lang="en-GB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TextBox 16"/>
          <p:cNvSpPr/>
          <p:nvPr/>
        </p:nvSpPr>
        <p:spPr>
          <a:xfrm>
            <a:off x="6311880" y="1321920"/>
            <a:ext cx="1869840" cy="6382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apply</a:t>
            </a:r>
            <a:endParaRPr b="0" lang="en-GB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Box 17"/>
          <p:cNvSpPr/>
          <p:nvPr/>
        </p:nvSpPr>
        <p:spPr>
          <a:xfrm>
            <a:off x="9783360" y="1321920"/>
            <a:ext cx="1869840" cy="638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combine</a:t>
            </a:r>
            <a:endParaRPr b="0" lang="en-GB" sz="36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71" name="Straight Arrow Connector 19"/>
          <p:cNvCxnSpPr/>
          <p:nvPr/>
        </p:nvCxnSpPr>
        <p:spPr>
          <a:xfrm flipV="1">
            <a:off x="3287520" y="2783520"/>
            <a:ext cx="650520" cy="74484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272" name="Straight Arrow Connector 20"/>
          <p:cNvCxnSpPr/>
          <p:nvPr/>
        </p:nvCxnSpPr>
        <p:spPr>
          <a:xfrm flipV="1">
            <a:off x="3281400" y="3784320"/>
            <a:ext cx="650520" cy="11484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273" name="Straight Arrow Connector 21"/>
          <p:cNvCxnSpPr/>
          <p:nvPr/>
        </p:nvCxnSpPr>
        <p:spPr>
          <a:xfrm>
            <a:off x="3281760" y="4326480"/>
            <a:ext cx="639720" cy="39852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274" name="Straight Arrow Connector 22"/>
          <p:cNvCxnSpPr/>
          <p:nvPr/>
        </p:nvCxnSpPr>
        <p:spPr>
          <a:xfrm>
            <a:off x="3291840" y="5254200"/>
            <a:ext cx="640080" cy="118944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275" name="Straight Arrow Connector 25"/>
          <p:cNvCxnSpPr/>
          <p:nvPr/>
        </p:nvCxnSpPr>
        <p:spPr>
          <a:xfrm>
            <a:off x="3281400" y="4874760"/>
            <a:ext cx="650520" cy="75636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sp>
        <p:nvSpPr>
          <p:cNvPr id="276" name="TextBox 29"/>
          <p:cNvSpPr/>
          <p:nvPr/>
        </p:nvSpPr>
        <p:spPr>
          <a:xfrm>
            <a:off x="3228840" y="2734560"/>
            <a:ext cx="645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A1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Box 30"/>
          <p:cNvSpPr/>
          <p:nvPr/>
        </p:nvSpPr>
        <p:spPr>
          <a:xfrm>
            <a:off x="3223800" y="3516480"/>
            <a:ext cx="645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A2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Box 31"/>
          <p:cNvSpPr/>
          <p:nvPr/>
        </p:nvSpPr>
        <p:spPr>
          <a:xfrm>
            <a:off x="3223800" y="4020480"/>
            <a:ext cx="645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B1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Box 32"/>
          <p:cNvSpPr/>
          <p:nvPr/>
        </p:nvSpPr>
        <p:spPr>
          <a:xfrm>
            <a:off x="3233520" y="4754520"/>
            <a:ext cx="645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B2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Box 33"/>
          <p:cNvSpPr/>
          <p:nvPr/>
        </p:nvSpPr>
        <p:spPr>
          <a:xfrm>
            <a:off x="3233520" y="5244480"/>
            <a:ext cx="645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C2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Right Arrow 40"/>
          <p:cNvSpPr/>
          <p:nvPr/>
        </p:nvSpPr>
        <p:spPr>
          <a:xfrm>
            <a:off x="6996240" y="4089240"/>
            <a:ext cx="501480" cy="85824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CH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TextBox 41"/>
          <p:cNvSpPr/>
          <p:nvPr/>
        </p:nvSpPr>
        <p:spPr>
          <a:xfrm>
            <a:off x="6837120" y="3702960"/>
            <a:ext cx="7801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mean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83" name="Straight Arrow Connector 42"/>
          <p:cNvCxnSpPr/>
          <p:nvPr/>
        </p:nvCxnSpPr>
        <p:spPr>
          <a:xfrm>
            <a:off x="9076320" y="2923920"/>
            <a:ext cx="709560" cy="59508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284" name="Straight Arrow Connector 44"/>
          <p:cNvCxnSpPr/>
          <p:nvPr/>
        </p:nvCxnSpPr>
        <p:spPr>
          <a:xfrm>
            <a:off x="9076320" y="3645000"/>
            <a:ext cx="709560" cy="1980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285" name="Straight Arrow Connector 46"/>
          <p:cNvCxnSpPr/>
          <p:nvPr/>
        </p:nvCxnSpPr>
        <p:spPr>
          <a:xfrm flipV="1">
            <a:off x="9065520" y="4205160"/>
            <a:ext cx="720360" cy="21924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286" name="Straight Arrow Connector 48"/>
          <p:cNvCxnSpPr/>
          <p:nvPr/>
        </p:nvCxnSpPr>
        <p:spPr>
          <a:xfrm flipV="1">
            <a:off x="9076320" y="4421880"/>
            <a:ext cx="709560" cy="70992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287" name="Straight Arrow Connector 50"/>
          <p:cNvCxnSpPr/>
          <p:nvPr/>
        </p:nvCxnSpPr>
        <p:spPr>
          <a:xfrm flipV="1">
            <a:off x="9076320" y="4775400"/>
            <a:ext cx="709560" cy="116568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sp>
        <p:nvSpPr>
          <p:cNvPr id="288" name="TextBox 7"/>
          <p:cNvSpPr/>
          <p:nvPr/>
        </p:nvSpPr>
        <p:spPr>
          <a:xfrm>
            <a:off x="515520" y="293760"/>
            <a:ext cx="111585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2800" spc="-1" strike="noStrike">
                <a:solidFill>
                  <a:srgbClr val="000000"/>
                </a:solidFill>
                <a:latin typeface="Consolas"/>
                <a:ea typeface="DejaVu Sans"/>
              </a:rPr>
              <a:t>df</a:t>
            </a:r>
            <a:r>
              <a:rPr b="0" lang="en-CH" sz="28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.groupby(‘condition_id’)</a:t>
            </a:r>
            <a:r>
              <a:rPr b="0" lang="en-CH" sz="2800" spc="-1" strike="noStrike">
                <a:solidFill>
                  <a:schemeClr val="accent1">
                    <a:lumMod val="75000"/>
                  </a:schemeClr>
                </a:solidFill>
                <a:latin typeface="Consolas"/>
                <a:ea typeface="DejaVu Sans"/>
              </a:rPr>
              <a:t>[‘response_time’].mean()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5D7ED96-814E-4A13-8EC4-DD3D657D8BB1}" type="slidenum">
              <a:t>22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dt" idx="35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90" name="Picture 14" descr=""/>
          <p:cNvPicPr/>
          <p:nvPr/>
        </p:nvPicPr>
        <p:blipFill>
          <a:blip r:embed="rId1"/>
          <a:stretch/>
        </p:blipFill>
        <p:spPr>
          <a:xfrm>
            <a:off x="1775520" y="2645640"/>
            <a:ext cx="3396960" cy="3301200"/>
          </a:xfrm>
          <a:prstGeom prst="rect">
            <a:avLst/>
          </a:prstGeom>
          <a:ln w="0">
            <a:noFill/>
          </a:ln>
        </p:spPr>
      </p:pic>
      <p:sp>
        <p:nvSpPr>
          <p:cNvPr id="291" name="TextBox 15"/>
          <p:cNvSpPr/>
          <p:nvPr/>
        </p:nvSpPr>
        <p:spPr>
          <a:xfrm>
            <a:off x="9984600" y="476640"/>
            <a:ext cx="1869840" cy="63828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split</a:t>
            </a:r>
            <a:endParaRPr b="0" lang="en-GB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TextBox 16"/>
          <p:cNvSpPr/>
          <p:nvPr/>
        </p:nvSpPr>
        <p:spPr>
          <a:xfrm>
            <a:off x="9984600" y="1214280"/>
            <a:ext cx="1869840" cy="63828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apply</a:t>
            </a:r>
            <a:endParaRPr b="0" lang="en-GB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17"/>
          <p:cNvSpPr/>
          <p:nvPr/>
        </p:nvSpPr>
        <p:spPr>
          <a:xfrm>
            <a:off x="9987480" y="2017440"/>
            <a:ext cx="1869840" cy="6382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combine</a:t>
            </a:r>
            <a:endParaRPr b="0" lang="en-GB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TextBox 1"/>
          <p:cNvSpPr/>
          <p:nvPr/>
        </p:nvSpPr>
        <p:spPr>
          <a:xfrm>
            <a:off x="515520" y="325800"/>
            <a:ext cx="11158560" cy="179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Consolas"/>
                <a:ea typeface="DejaVu Sans"/>
              </a:rPr>
              <a:t>data.pivot_table(</a:t>
            </a:r>
            <a:br>
              <a:rPr sz="2800"/>
            </a:br>
            <a:r>
              <a:rPr b="0" lang="en-US" sz="2800" spc="-1" strike="noStrike">
                <a:solidFill>
                  <a:srgbClr val="000000"/>
                </a:solidFill>
                <a:latin typeface="Consolas"/>
                <a:ea typeface="DejaVu Sans"/>
              </a:rPr>
              <a:t>	</a:t>
            </a:r>
            <a:r>
              <a:rPr b="0" lang="en-US" sz="28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index='condition_id', columns='response'</a:t>
            </a:r>
            <a:r>
              <a:rPr b="0" lang="en-US" sz="2800" spc="-1" strike="noStrike">
                <a:solidFill>
                  <a:srgbClr val="000000"/>
                </a:solidFill>
                <a:latin typeface="Consolas"/>
                <a:ea typeface="DejaVu Sans"/>
              </a:rPr>
              <a:t>, </a:t>
            </a:r>
            <a:r>
              <a:rPr b="0" lang="en-US" sz="2800" spc="-1" strike="noStrike">
                <a:solidFill>
                  <a:srgbClr val="000000"/>
                </a:solidFill>
                <a:latin typeface="Consolas"/>
                <a:ea typeface="DejaVu Sans"/>
              </a:rPr>
              <a:t>	</a:t>
            </a:r>
            <a:r>
              <a:rPr b="0" lang="en-US" sz="2800" spc="-1" strike="noStrike">
                <a:solidFill>
                  <a:schemeClr val="accent1">
                    <a:lumMod val="75000"/>
                  </a:schemeClr>
                </a:solidFill>
                <a:latin typeface="Consolas"/>
                <a:ea typeface="DejaVu Sans"/>
              </a:rPr>
              <a:t>values='response_time', aggfunc='mean',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Consolas"/>
                <a:ea typeface="DejaVu Sans"/>
              </a:rPr>
              <a:t>)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5" name="Picture 2" descr=""/>
          <p:cNvPicPr/>
          <p:nvPr/>
        </p:nvPicPr>
        <p:blipFill>
          <a:blip r:embed="rId2"/>
          <a:stretch/>
        </p:blipFill>
        <p:spPr>
          <a:xfrm>
            <a:off x="6966000" y="3065400"/>
            <a:ext cx="2372400" cy="2461320"/>
          </a:xfrm>
          <a:prstGeom prst="rect">
            <a:avLst/>
          </a:prstGeom>
          <a:ln w="0">
            <a:noFill/>
          </a:ln>
        </p:spPr>
      </p:pic>
      <p:sp>
        <p:nvSpPr>
          <p:cNvPr id="296" name="Right Arrow 6"/>
          <p:cNvSpPr/>
          <p:nvPr/>
        </p:nvSpPr>
        <p:spPr>
          <a:xfrm>
            <a:off x="5818320" y="3867120"/>
            <a:ext cx="501480" cy="85824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CH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055CAA1-9FA1-48FF-8FE2-5D1FE5A1B10E}" type="slidenum">
              <a:t>23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Rectangle 7"/>
          <p:cNvSpPr/>
          <p:nvPr/>
        </p:nvSpPr>
        <p:spPr>
          <a:xfrm>
            <a:off x="7428240" y="205920"/>
            <a:ext cx="4536360" cy="987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sp>
        <p:nvSpPr>
          <p:cNvPr id="298" name="PlaceHolder 1"/>
          <p:cNvSpPr>
            <a:spLocks noGrp="1"/>
          </p:cNvSpPr>
          <p:nvPr>
            <p:ph/>
          </p:nvPr>
        </p:nvSpPr>
        <p:spPr>
          <a:xfrm>
            <a:off x="838080" y="1340640"/>
            <a:ext cx="10513080" cy="483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Compute summary statistics to answer the question:</a:t>
            </a:r>
            <a:br>
              <a:rPr sz="2800"/>
            </a:b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Did the Mediterranean diet help prevent cardiovascular events?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Submit a PR on</a:t>
            </a:r>
            <a:br>
              <a:rPr sz="2800"/>
            </a:br>
            <a:r>
              <a:rPr b="0" lang="en-US" sz="2800" spc="-1" strike="noStrike">
                <a:solidFill>
                  <a:srgbClr val="000000"/>
                </a:solidFill>
                <a:latin typeface="Consolas"/>
                <a:ea typeface="DejaVu Sans"/>
              </a:rPr>
              <a:t>git.aspp.school/ASPP/2025-plovdiv-data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TextBox 8"/>
          <p:cNvSpPr/>
          <p:nvPr/>
        </p:nvSpPr>
        <p:spPr>
          <a:xfrm>
            <a:off x="7930800" y="224640"/>
            <a:ext cx="1776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pc="-1" strike="noStrike">
                <a:solidFill>
                  <a:srgbClr val="000000"/>
                </a:solidFill>
                <a:latin typeface="Courier New"/>
                <a:ea typeface="DejaVu Sans"/>
              </a:rPr>
              <a:t>Exercise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1" name="Graphic 10" descr=""/>
          <p:cNvPicPr/>
          <p:nvPr/>
        </p:nvPicPr>
        <p:blipFill>
          <a:blip r:embed="rId1"/>
          <a:stretch/>
        </p:blipFill>
        <p:spPr>
          <a:xfrm>
            <a:off x="7474680" y="273960"/>
            <a:ext cx="691920" cy="552960"/>
          </a:xfrm>
          <a:prstGeom prst="rect">
            <a:avLst/>
          </a:prstGeom>
          <a:ln w="0">
            <a:noFill/>
          </a:ln>
        </p:spPr>
      </p:pic>
      <p:sp>
        <p:nvSpPr>
          <p:cNvPr id="302" name="TextBox 12"/>
          <p:cNvSpPr/>
          <p:nvPr/>
        </p:nvSpPr>
        <p:spPr>
          <a:xfrm>
            <a:off x="8301960" y="542880"/>
            <a:ext cx="34801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exercises/</a:t>
            </a:r>
            <a:br>
              <a:rPr sz="1400"/>
            </a:b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tabular_split_apply_combine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 type="title"/>
          </p:nvPr>
        </p:nvSpPr>
        <p:spPr>
          <a:xfrm>
            <a:off x="346680" y="365040"/>
            <a:ext cx="6896160" cy="950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67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Hands-on</a:t>
            </a:r>
            <a:br>
              <a:rPr sz="4400"/>
            </a:b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38AD6B5-F00C-4ED8-9B6A-62C7CB764B57}" type="slidenum">
              <a:t>24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Rectangle 7"/>
          <p:cNvSpPr/>
          <p:nvPr/>
        </p:nvSpPr>
        <p:spPr>
          <a:xfrm>
            <a:off x="7428240" y="205920"/>
            <a:ext cx="4536360" cy="987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sp>
        <p:nvSpPr>
          <p:cNvPr id="305" name="PlaceHolder 1"/>
          <p:cNvSpPr>
            <a:spLocks noGrp="1"/>
          </p:cNvSpPr>
          <p:nvPr>
            <p:ph/>
          </p:nvPr>
        </p:nvSpPr>
        <p:spPr>
          <a:xfrm>
            <a:off x="838080" y="1340640"/>
            <a:ext cx="10513080" cy="483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Compute some summary tables for the WHO tuberculosis data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 type="dt" idx="37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TextBox 8"/>
          <p:cNvSpPr/>
          <p:nvPr/>
        </p:nvSpPr>
        <p:spPr>
          <a:xfrm>
            <a:off x="7930800" y="224640"/>
            <a:ext cx="1776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pc="-1" strike="noStrike">
                <a:solidFill>
                  <a:srgbClr val="000000"/>
                </a:solidFill>
                <a:latin typeface="Courier New"/>
                <a:ea typeface="DejaVu Sans"/>
              </a:rPr>
              <a:t>Exercise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8" name="Graphic 10" descr=""/>
          <p:cNvPicPr/>
          <p:nvPr/>
        </p:nvPicPr>
        <p:blipFill>
          <a:blip r:embed="rId1"/>
          <a:stretch/>
        </p:blipFill>
        <p:spPr>
          <a:xfrm>
            <a:off x="7474680" y="273960"/>
            <a:ext cx="691920" cy="552960"/>
          </a:xfrm>
          <a:prstGeom prst="rect">
            <a:avLst/>
          </a:prstGeom>
          <a:ln w="0">
            <a:noFill/>
          </a:ln>
        </p:spPr>
      </p:pic>
      <p:sp>
        <p:nvSpPr>
          <p:cNvPr id="309" name="TextBox 12"/>
          <p:cNvSpPr/>
          <p:nvPr/>
        </p:nvSpPr>
        <p:spPr>
          <a:xfrm>
            <a:off x="8301960" y="542880"/>
            <a:ext cx="348012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exercises/tabular_tuberculosis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title"/>
          </p:nvPr>
        </p:nvSpPr>
        <p:spPr>
          <a:xfrm>
            <a:off x="346680" y="365040"/>
            <a:ext cx="5890680" cy="950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67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Hands-on</a:t>
            </a:r>
            <a:br>
              <a:rPr sz="4400"/>
            </a:b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1" name="Picture 6" descr=""/>
          <p:cNvPicPr/>
          <p:nvPr/>
        </p:nvPicPr>
        <p:blipFill>
          <a:blip r:embed="rId2"/>
          <a:stretch/>
        </p:blipFill>
        <p:spPr>
          <a:xfrm>
            <a:off x="1559520" y="2781000"/>
            <a:ext cx="8913960" cy="2877840"/>
          </a:xfrm>
          <a:prstGeom prst="rect">
            <a:avLst/>
          </a:prstGeom>
          <a:ln w="0">
            <a:noFill/>
          </a:ln>
        </p:spPr>
      </p:pic>
      <p:sp>
        <p:nvSpPr>
          <p:cNvPr id="312" name="TextBox 9"/>
          <p:cNvSpPr/>
          <p:nvPr/>
        </p:nvSpPr>
        <p:spPr>
          <a:xfrm>
            <a:off x="4223880" y="2137320"/>
            <a:ext cx="789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Males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Box 11"/>
          <p:cNvSpPr/>
          <p:nvPr/>
        </p:nvSpPr>
        <p:spPr>
          <a:xfrm>
            <a:off x="5026320" y="2137320"/>
            <a:ext cx="1514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15-24 years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314" name="Straight Arrow Connector 13"/>
          <p:cNvCxnSpPr>
            <a:stCxn id="312" idx="2"/>
          </p:cNvCxnSpPr>
          <p:nvPr/>
        </p:nvCxnSpPr>
        <p:spPr>
          <a:xfrm>
            <a:off x="4618440" y="2501280"/>
            <a:ext cx="255600" cy="35388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med" type="triangle" w="med"/>
          </a:ln>
        </p:spPr>
      </p:cxnSp>
      <p:cxnSp>
        <p:nvCxnSpPr>
          <p:cNvPr id="315" name="Straight Arrow Connector 14"/>
          <p:cNvCxnSpPr/>
          <p:nvPr/>
        </p:nvCxnSpPr>
        <p:spPr>
          <a:xfrm flipH="1">
            <a:off x="5159880" y="2423160"/>
            <a:ext cx="241560" cy="432000"/>
          </a:xfrm>
          <a:prstGeom prst="straightConnector1">
            <a:avLst/>
          </a:prstGeom>
          <a:ln w="38100">
            <a:solidFill>
              <a:srgbClr val="000000"/>
            </a:solidFill>
            <a:round/>
            <a:tailEnd len="med" type="triangle" w="med"/>
          </a:ln>
        </p:spPr>
      </p:cxn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792B8CC-5FE1-460F-B33F-DDE68B34B61A}" type="slidenum">
              <a:t>25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3080" cy="90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5400" spc="-1" strike="noStrike">
                <a:solidFill>
                  <a:srgbClr val="000000"/>
                </a:solidFill>
                <a:latin typeface="Calibri Light"/>
                <a:ea typeface="DejaVu Sans"/>
              </a:rPr>
              <a:t>Tidy Data</a:t>
            </a:r>
            <a:endParaRPr b="0" lang="en-GB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 type="dt" idx="38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37E2E75-5614-41EC-8C15-1CE0E10CCACD}" type="slidenum">
              <a:t>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74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Same data, different organization</a:t>
            </a:r>
            <a:br>
              <a:rPr sz="4400"/>
            </a:b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Which one is best for data analysis?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20" name="Picture 6" descr=""/>
          <p:cNvPicPr/>
          <p:nvPr/>
        </p:nvPicPr>
        <p:blipFill>
          <a:blip r:embed="rId1"/>
          <a:stretch/>
        </p:blipFill>
        <p:spPr>
          <a:xfrm>
            <a:off x="6527880" y="3078000"/>
            <a:ext cx="4366440" cy="1508760"/>
          </a:xfrm>
          <a:prstGeom prst="rect">
            <a:avLst/>
          </a:prstGeom>
          <a:ln w="0">
            <a:noFill/>
          </a:ln>
        </p:spPr>
      </p:pic>
      <p:pic>
        <p:nvPicPr>
          <p:cNvPr id="321" name="Picture 7" descr=""/>
          <p:cNvPicPr/>
          <p:nvPr/>
        </p:nvPicPr>
        <p:blipFill>
          <a:blip r:embed="rId2"/>
          <a:stretch/>
        </p:blipFill>
        <p:spPr>
          <a:xfrm>
            <a:off x="551520" y="2119320"/>
            <a:ext cx="5382360" cy="1254960"/>
          </a:xfrm>
          <a:prstGeom prst="rect">
            <a:avLst/>
          </a:prstGeom>
          <a:ln w="0">
            <a:noFill/>
          </a:ln>
        </p:spPr>
      </p:pic>
      <p:pic>
        <p:nvPicPr>
          <p:cNvPr id="322" name="Picture 8" descr=""/>
          <p:cNvPicPr/>
          <p:nvPr/>
        </p:nvPicPr>
        <p:blipFill>
          <a:blip r:embed="rId3"/>
          <a:stretch/>
        </p:blipFill>
        <p:spPr>
          <a:xfrm>
            <a:off x="2927520" y="3944160"/>
            <a:ext cx="2918520" cy="227088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233783C-95BD-45A4-BF45-DCEF96982064}" type="slidenum">
              <a:t>27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 fontScale="74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Same data, different organization</a:t>
            </a:r>
            <a:br>
              <a:rPr sz="4400"/>
            </a:b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Which one is best for data analysis?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2"/>
          <p:cNvSpPr>
            <a:spLocks noGrp="1"/>
          </p:cNvSpPr>
          <p:nvPr>
            <p:ph type="dt" idx="40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25" name="Picture 6" descr=""/>
          <p:cNvPicPr/>
          <p:nvPr/>
        </p:nvPicPr>
        <p:blipFill>
          <a:blip r:embed="rId1"/>
          <a:stretch/>
        </p:blipFill>
        <p:spPr>
          <a:xfrm>
            <a:off x="6527880" y="3078000"/>
            <a:ext cx="4366440" cy="1508760"/>
          </a:xfrm>
          <a:prstGeom prst="rect">
            <a:avLst/>
          </a:prstGeom>
          <a:ln w="0">
            <a:noFill/>
          </a:ln>
        </p:spPr>
      </p:pic>
      <p:pic>
        <p:nvPicPr>
          <p:cNvPr id="326" name="Picture 7" descr=""/>
          <p:cNvPicPr/>
          <p:nvPr/>
        </p:nvPicPr>
        <p:blipFill>
          <a:blip r:embed="rId2"/>
          <a:stretch/>
        </p:blipFill>
        <p:spPr>
          <a:xfrm>
            <a:off x="551520" y="2119320"/>
            <a:ext cx="5382360" cy="1254960"/>
          </a:xfrm>
          <a:prstGeom prst="rect">
            <a:avLst/>
          </a:prstGeom>
          <a:ln w="0">
            <a:noFill/>
          </a:ln>
        </p:spPr>
      </p:pic>
      <p:pic>
        <p:nvPicPr>
          <p:cNvPr id="327" name="Picture 8" descr=""/>
          <p:cNvPicPr/>
          <p:nvPr/>
        </p:nvPicPr>
        <p:blipFill>
          <a:blip r:embed="rId3"/>
          <a:stretch/>
        </p:blipFill>
        <p:spPr>
          <a:xfrm>
            <a:off x="2927520" y="3944160"/>
            <a:ext cx="2918520" cy="2270880"/>
          </a:xfrm>
          <a:prstGeom prst="rect">
            <a:avLst/>
          </a:prstGeom>
          <a:ln w="0">
            <a:noFill/>
          </a:ln>
        </p:spPr>
      </p:pic>
      <p:sp>
        <p:nvSpPr>
          <p:cNvPr id="328" name="TextBox 2"/>
          <p:cNvSpPr/>
          <p:nvPr/>
        </p:nvSpPr>
        <p:spPr>
          <a:xfrm>
            <a:off x="3048120" y="1772640"/>
            <a:ext cx="5709600" cy="2282400"/>
          </a:xfrm>
          <a:custGeom>
            <a:avLst/>
            <a:gdLst>
              <a:gd name="textAreaLeft" fmla="*/ 0 w 5709600"/>
              <a:gd name="textAreaRight" fmla="*/ 5712120 w 5709600"/>
              <a:gd name="textAreaTop" fmla="*/ 0 h 2282400"/>
              <a:gd name="textAreaBottom" fmla="*/ 2284920 h 2282400"/>
            </a:gdLst>
            <a:ahLst/>
            <a:rect l="textAreaLeft" t="textAreaTop" r="textAreaRight" b="textAreaBottom"/>
            <a:pathLst>
              <a:path fill="none" w="5712296" h="2308324">
                <a:moveTo>
                  <a:pt x="0" y="0"/>
                </a:moveTo>
                <a:cubicBezTo>
                  <a:pt x="170481" y="12395"/>
                  <a:pt x="474495" y="4923"/>
                  <a:pt x="691823" y="0"/>
                </a:cubicBezTo>
                <a:cubicBezTo>
                  <a:pt x="909151" y="-4923"/>
                  <a:pt x="1025161" y="11703"/>
                  <a:pt x="1155153" y="0"/>
                </a:cubicBezTo>
                <a:cubicBezTo>
                  <a:pt x="1285145" y="-11703"/>
                  <a:pt x="1576417" y="299"/>
                  <a:pt x="1732730" y="0"/>
                </a:cubicBezTo>
                <a:cubicBezTo>
                  <a:pt x="1889043" y="-299"/>
                  <a:pt x="2130093" y="16857"/>
                  <a:pt x="2481675" y="0"/>
                </a:cubicBezTo>
                <a:cubicBezTo>
                  <a:pt x="2833257" y="-16857"/>
                  <a:pt x="2873551" y="17793"/>
                  <a:pt x="3116375" y="0"/>
                </a:cubicBezTo>
                <a:cubicBezTo>
                  <a:pt x="3359199" y="-17793"/>
                  <a:pt x="3543615" y="15531"/>
                  <a:pt x="3808197" y="0"/>
                </a:cubicBezTo>
                <a:cubicBezTo>
                  <a:pt x="4072779" y="-15531"/>
                  <a:pt x="4244086" y="-26212"/>
                  <a:pt x="4385774" y="0"/>
                </a:cubicBezTo>
                <a:cubicBezTo>
                  <a:pt x="4527462" y="26212"/>
                  <a:pt x="4804411" y="-17362"/>
                  <a:pt x="5020473" y="0"/>
                </a:cubicBezTo>
                <a:cubicBezTo>
                  <a:pt x="5236535" y="17362"/>
                  <a:pt x="5483850" y="13915"/>
                  <a:pt x="5712296" y="0"/>
                </a:cubicBezTo>
                <a:cubicBezTo>
                  <a:pt x="5698337" y="227921"/>
                  <a:pt x="5726828" y="309662"/>
                  <a:pt x="5712296" y="530915"/>
                </a:cubicBezTo>
                <a:cubicBezTo>
                  <a:pt x="5697764" y="752169"/>
                  <a:pt x="5697572" y="832379"/>
                  <a:pt x="5712296" y="1038746"/>
                </a:cubicBezTo>
                <a:cubicBezTo>
                  <a:pt x="5727020" y="1245113"/>
                  <a:pt x="5718057" y="1350161"/>
                  <a:pt x="5712296" y="1569660"/>
                </a:cubicBezTo>
                <a:cubicBezTo>
                  <a:pt x="5706535" y="1789159"/>
                  <a:pt x="5715761" y="2034313"/>
                  <a:pt x="5712296" y="2308324"/>
                </a:cubicBezTo>
                <a:cubicBezTo>
                  <a:pt x="5427327" y="2287513"/>
                  <a:pt x="5344141" y="2327301"/>
                  <a:pt x="5077596" y="2308324"/>
                </a:cubicBezTo>
                <a:cubicBezTo>
                  <a:pt x="4811051" y="2289347"/>
                  <a:pt x="4588159" y="2292673"/>
                  <a:pt x="4442897" y="2308324"/>
                </a:cubicBezTo>
                <a:cubicBezTo>
                  <a:pt x="4297635" y="2323975"/>
                  <a:pt x="4142033" y="2304319"/>
                  <a:pt x="3922443" y="2308324"/>
                </a:cubicBezTo>
                <a:cubicBezTo>
                  <a:pt x="3702853" y="2312329"/>
                  <a:pt x="3448460" y="2301342"/>
                  <a:pt x="3287744" y="2308324"/>
                </a:cubicBezTo>
                <a:cubicBezTo>
                  <a:pt x="3127028" y="2315306"/>
                  <a:pt x="2908419" y="2286204"/>
                  <a:pt x="2653044" y="2308324"/>
                </a:cubicBezTo>
                <a:cubicBezTo>
                  <a:pt x="2397669" y="2330444"/>
                  <a:pt x="2181981" y="2338620"/>
                  <a:pt x="2018345" y="2308324"/>
                </a:cubicBezTo>
                <a:cubicBezTo>
                  <a:pt x="1854709" y="2278028"/>
                  <a:pt x="1523819" y="2337051"/>
                  <a:pt x="1383645" y="2308324"/>
                </a:cubicBezTo>
                <a:cubicBezTo>
                  <a:pt x="1243471" y="2279597"/>
                  <a:pt x="1031240" y="2304491"/>
                  <a:pt x="806068" y="2308324"/>
                </a:cubicBezTo>
                <a:cubicBezTo>
                  <a:pt x="580896" y="2312157"/>
                  <a:pt x="347967" y="2325492"/>
                  <a:pt x="0" y="2308324"/>
                </a:cubicBezTo>
                <a:cubicBezTo>
                  <a:pt x="9212" y="2185053"/>
                  <a:pt x="-17414" y="1970670"/>
                  <a:pt x="0" y="1731243"/>
                </a:cubicBezTo>
                <a:cubicBezTo>
                  <a:pt x="17414" y="1491816"/>
                  <a:pt x="-10325" y="1313911"/>
                  <a:pt x="0" y="1131079"/>
                </a:cubicBezTo>
                <a:cubicBezTo>
                  <a:pt x="10325" y="948247"/>
                  <a:pt x="-25330" y="680352"/>
                  <a:pt x="0" y="530915"/>
                </a:cubicBezTo>
                <a:cubicBezTo>
                  <a:pt x="25330" y="381478"/>
                  <a:pt x="12113" y="149989"/>
                  <a:pt x="0" y="0"/>
                </a:cubicBezTo>
                <a:close/>
              </a:path>
              <a:path stroke="0" w="5712296" h="2308324">
                <a:moveTo>
                  <a:pt x="0" y="0"/>
                </a:moveTo>
                <a:cubicBezTo>
                  <a:pt x="117366" y="12157"/>
                  <a:pt x="427981" y="-1654"/>
                  <a:pt x="577577" y="0"/>
                </a:cubicBezTo>
                <a:cubicBezTo>
                  <a:pt x="727173" y="1654"/>
                  <a:pt x="919785" y="-10211"/>
                  <a:pt x="1040907" y="0"/>
                </a:cubicBezTo>
                <a:cubicBezTo>
                  <a:pt x="1162029" y="10211"/>
                  <a:pt x="1577922" y="25650"/>
                  <a:pt x="1789853" y="0"/>
                </a:cubicBezTo>
                <a:cubicBezTo>
                  <a:pt x="2001784" y="-25650"/>
                  <a:pt x="2188209" y="-24222"/>
                  <a:pt x="2367429" y="0"/>
                </a:cubicBezTo>
                <a:cubicBezTo>
                  <a:pt x="2546649" y="24222"/>
                  <a:pt x="2756192" y="-23950"/>
                  <a:pt x="2945006" y="0"/>
                </a:cubicBezTo>
                <a:cubicBezTo>
                  <a:pt x="3133820" y="23950"/>
                  <a:pt x="3433459" y="-33367"/>
                  <a:pt x="3693951" y="0"/>
                </a:cubicBezTo>
                <a:cubicBezTo>
                  <a:pt x="3954443" y="33367"/>
                  <a:pt x="4032117" y="-813"/>
                  <a:pt x="4214405" y="0"/>
                </a:cubicBezTo>
                <a:cubicBezTo>
                  <a:pt x="4396693" y="813"/>
                  <a:pt x="4790380" y="18167"/>
                  <a:pt x="4963351" y="0"/>
                </a:cubicBezTo>
                <a:cubicBezTo>
                  <a:pt x="5136322" y="-18167"/>
                  <a:pt x="5355621" y="-34473"/>
                  <a:pt x="5712296" y="0"/>
                </a:cubicBezTo>
                <a:cubicBezTo>
                  <a:pt x="5703245" y="275623"/>
                  <a:pt x="5730046" y="433797"/>
                  <a:pt x="5712296" y="577081"/>
                </a:cubicBezTo>
                <a:cubicBezTo>
                  <a:pt x="5694546" y="720365"/>
                  <a:pt x="5706106" y="925832"/>
                  <a:pt x="5712296" y="1154162"/>
                </a:cubicBezTo>
                <a:cubicBezTo>
                  <a:pt x="5718486" y="1382492"/>
                  <a:pt x="5707131" y="1562931"/>
                  <a:pt x="5712296" y="1754326"/>
                </a:cubicBezTo>
                <a:cubicBezTo>
                  <a:pt x="5717461" y="1945721"/>
                  <a:pt x="5715860" y="2077979"/>
                  <a:pt x="5712296" y="2308324"/>
                </a:cubicBezTo>
                <a:cubicBezTo>
                  <a:pt x="5577581" y="2308670"/>
                  <a:pt x="5224458" y="2290918"/>
                  <a:pt x="5077596" y="2308324"/>
                </a:cubicBezTo>
                <a:cubicBezTo>
                  <a:pt x="4930734" y="2325730"/>
                  <a:pt x="4790654" y="2322770"/>
                  <a:pt x="4557143" y="2308324"/>
                </a:cubicBezTo>
                <a:cubicBezTo>
                  <a:pt x="4323632" y="2293878"/>
                  <a:pt x="4066460" y="2312216"/>
                  <a:pt x="3922443" y="2308324"/>
                </a:cubicBezTo>
                <a:cubicBezTo>
                  <a:pt x="3778426" y="2304432"/>
                  <a:pt x="3352455" y="2286696"/>
                  <a:pt x="3173498" y="2308324"/>
                </a:cubicBezTo>
                <a:cubicBezTo>
                  <a:pt x="2994541" y="2329952"/>
                  <a:pt x="2709991" y="2308489"/>
                  <a:pt x="2538798" y="2308324"/>
                </a:cubicBezTo>
                <a:cubicBezTo>
                  <a:pt x="2367605" y="2308159"/>
                  <a:pt x="2190477" y="2285762"/>
                  <a:pt x="2075468" y="2308324"/>
                </a:cubicBezTo>
                <a:cubicBezTo>
                  <a:pt x="1960459" y="2330887"/>
                  <a:pt x="1781938" y="2316511"/>
                  <a:pt x="1555014" y="2308324"/>
                </a:cubicBezTo>
                <a:cubicBezTo>
                  <a:pt x="1328090" y="2300137"/>
                  <a:pt x="978738" y="2284534"/>
                  <a:pt x="806068" y="2308324"/>
                </a:cubicBezTo>
                <a:cubicBezTo>
                  <a:pt x="633398" y="2332114"/>
                  <a:pt x="358206" y="2331133"/>
                  <a:pt x="0" y="2308324"/>
                </a:cubicBezTo>
                <a:cubicBezTo>
                  <a:pt x="-23618" y="2154219"/>
                  <a:pt x="18177" y="1906591"/>
                  <a:pt x="0" y="1777409"/>
                </a:cubicBezTo>
                <a:cubicBezTo>
                  <a:pt x="-18177" y="1648228"/>
                  <a:pt x="-9736" y="1356449"/>
                  <a:pt x="0" y="1223412"/>
                </a:cubicBezTo>
                <a:cubicBezTo>
                  <a:pt x="9736" y="1090375"/>
                  <a:pt x="16833" y="862591"/>
                  <a:pt x="0" y="715580"/>
                </a:cubicBezTo>
                <a:cubicBezTo>
                  <a:pt x="-16833" y="568569"/>
                  <a:pt x="13966" y="290526"/>
                  <a:pt x="0" y="0"/>
                </a:cubicBezTo>
                <a:close/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 w="381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What do we want?</a:t>
            </a:r>
            <a:endParaRPr b="0" lang="en-GB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CH" sz="3600" spc="-1" strike="noStrike">
                <a:solidFill>
                  <a:srgbClr val="000000"/>
                </a:solidFill>
                <a:latin typeface="Calibri"/>
                <a:ea typeface="DejaVu Sans"/>
              </a:rPr>
              <a:t>We want data to be in a natural format, such that data analysis is easy</a:t>
            </a:r>
            <a:endParaRPr b="0" lang="en-GB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B962BB1-AC2E-4A06-B663-029332D2B26D}" type="slidenum">
              <a:t>28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Tidy data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PlaceHolder 2"/>
          <p:cNvSpPr>
            <a:spLocks noGrp="1"/>
          </p:cNvSpPr>
          <p:nvPr>
            <p:ph type="dt" idx="41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graphicFrame>
        <p:nvGraphicFramePr>
          <p:cNvPr id="331" name="Table 8"/>
          <p:cNvGraphicFramePr/>
          <p:nvPr/>
        </p:nvGraphicFramePr>
        <p:xfrm>
          <a:off x="2905200" y="2988000"/>
          <a:ext cx="6119640" cy="1664280"/>
        </p:xfrm>
        <a:graphic>
          <a:graphicData uri="http://schemas.openxmlformats.org/drawingml/2006/table">
            <a:tbl>
              <a:tblPr/>
              <a:tblGrid>
                <a:gridCol w="1224000"/>
                <a:gridCol w="1368000"/>
                <a:gridCol w="864000"/>
                <a:gridCol w="1152000"/>
                <a:gridCol w="1512000"/>
              </a:tblGrid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rgbClr val="000000"/>
                          </a:solidFill>
                          <a:latin typeface="Calibri"/>
                          <a:ea typeface="DejaVu Sans"/>
                        </a:rPr>
                        <a:t>Subject ID 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rgbClr val="000000"/>
                          </a:solidFill>
                          <a:latin typeface="Calibri"/>
                          <a:ea typeface="DejaVu Sans"/>
                        </a:rPr>
                        <a:t>Condition ID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rgbClr val="000000"/>
                          </a:solidFill>
                          <a:latin typeface="Calibri"/>
                          <a:ea typeface="DejaVu Sans"/>
                        </a:rPr>
                        <a:t>Trial nr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rgbClr val="000000"/>
                          </a:solidFill>
                          <a:latin typeface="Calibri"/>
                          <a:ea typeface="DejaVu Sans"/>
                        </a:rPr>
                        <a:t>Response time (ms)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en-CH" sz="1800" spc="-1" strike="noStrike">
                          <a:solidFill>
                            <a:srgbClr val="000000"/>
                          </a:solidFill>
                          <a:latin typeface="Calibri"/>
                          <a:ea typeface="DejaVu Sans"/>
                        </a:rPr>
                        <a:t>Response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6"/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VM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732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28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LEFT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VM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732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41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RIGHT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PB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665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1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73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CH" sz="1800" spc="-1" strike="noStrike">
                          <a:solidFill>
                            <a:schemeClr val="dk1"/>
                          </a:solidFill>
                          <a:latin typeface="Calibri"/>
                          <a:ea typeface="DejaVu Sans"/>
                        </a:rPr>
                        <a:t>LEFT</a:t>
                      </a:r>
                      <a:endParaRPr b="0" lang="en-GB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332" name="TextBox 10"/>
          <p:cNvSpPr/>
          <p:nvPr/>
        </p:nvSpPr>
        <p:spPr>
          <a:xfrm>
            <a:off x="2764080" y="2329560"/>
            <a:ext cx="6400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2800" spc="-1" strike="noStrike">
                <a:solidFill>
                  <a:schemeClr val="accent6"/>
                </a:solidFill>
                <a:latin typeface="Calibri"/>
                <a:ea typeface="DejaVu Sans"/>
              </a:rPr>
              <a:t>Variables (or features, attributes)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Box 11"/>
          <p:cNvSpPr/>
          <p:nvPr/>
        </p:nvSpPr>
        <p:spPr>
          <a:xfrm rot="16200000">
            <a:off x="708480" y="3471120"/>
            <a:ext cx="2372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CH" sz="2800" spc="-1" strike="noStrike">
                <a:solidFill>
                  <a:schemeClr val="accent5"/>
                </a:solidFill>
                <a:latin typeface="Calibri"/>
                <a:ea typeface="DejaVu Sans"/>
              </a:rPr>
              <a:t>Observations (or samples)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12"/>
          <p:cNvSpPr/>
          <p:nvPr/>
        </p:nvSpPr>
        <p:spPr>
          <a:xfrm>
            <a:off x="4223880" y="311400"/>
            <a:ext cx="6550200" cy="1916640"/>
          </a:xfrm>
          <a:custGeom>
            <a:avLst/>
            <a:gdLst>
              <a:gd name="textAreaLeft" fmla="*/ 0 w 6550200"/>
              <a:gd name="textAreaRight" fmla="*/ 6552720 w 6550200"/>
              <a:gd name="textAreaTop" fmla="*/ 0 h 1916640"/>
              <a:gd name="textAreaBottom" fmla="*/ 1919160 h 1916640"/>
            </a:gdLst>
            <a:ahLst/>
            <a:rect l="textAreaLeft" t="textAreaTop" r="textAreaRight" b="textAreaBottom"/>
            <a:pathLst>
              <a:path fill="none" w="6552728" h="1569660">
                <a:moveTo>
                  <a:pt x="0" y="0"/>
                </a:moveTo>
                <a:cubicBezTo>
                  <a:pt x="166419" y="-423"/>
                  <a:pt x="359212" y="-15014"/>
                  <a:pt x="524218" y="0"/>
                </a:cubicBezTo>
                <a:cubicBezTo>
                  <a:pt x="689224" y="15014"/>
                  <a:pt x="788676" y="-4207"/>
                  <a:pt x="1048436" y="0"/>
                </a:cubicBezTo>
                <a:cubicBezTo>
                  <a:pt x="1308196" y="4207"/>
                  <a:pt x="1291664" y="14801"/>
                  <a:pt x="1507127" y="0"/>
                </a:cubicBezTo>
                <a:cubicBezTo>
                  <a:pt x="1722590" y="-14801"/>
                  <a:pt x="1966041" y="7224"/>
                  <a:pt x="2293455" y="0"/>
                </a:cubicBezTo>
                <a:cubicBezTo>
                  <a:pt x="2620869" y="-7224"/>
                  <a:pt x="2527916" y="10517"/>
                  <a:pt x="2752146" y="0"/>
                </a:cubicBezTo>
                <a:cubicBezTo>
                  <a:pt x="2976376" y="-10517"/>
                  <a:pt x="3162926" y="28823"/>
                  <a:pt x="3472946" y="0"/>
                </a:cubicBezTo>
                <a:cubicBezTo>
                  <a:pt x="3782966" y="-28823"/>
                  <a:pt x="3740348" y="15487"/>
                  <a:pt x="3931637" y="0"/>
                </a:cubicBezTo>
                <a:cubicBezTo>
                  <a:pt x="4122926" y="-15487"/>
                  <a:pt x="4292237" y="-19151"/>
                  <a:pt x="4652437" y="0"/>
                </a:cubicBezTo>
                <a:cubicBezTo>
                  <a:pt x="5012637" y="19151"/>
                  <a:pt x="5176641" y="-9385"/>
                  <a:pt x="5307710" y="0"/>
                </a:cubicBezTo>
                <a:cubicBezTo>
                  <a:pt x="5438779" y="9385"/>
                  <a:pt x="5635367" y="24036"/>
                  <a:pt x="5831928" y="0"/>
                </a:cubicBezTo>
                <a:cubicBezTo>
                  <a:pt x="6028489" y="-24036"/>
                  <a:pt x="6315045" y="-1572"/>
                  <a:pt x="6552728" y="0"/>
                </a:cubicBezTo>
                <a:cubicBezTo>
                  <a:pt x="6578896" y="167135"/>
                  <a:pt x="6545030" y="433517"/>
                  <a:pt x="6552728" y="554613"/>
                </a:cubicBezTo>
                <a:cubicBezTo>
                  <a:pt x="6560426" y="675709"/>
                  <a:pt x="6558548" y="796698"/>
                  <a:pt x="6552728" y="1030743"/>
                </a:cubicBezTo>
                <a:cubicBezTo>
                  <a:pt x="6546909" y="1264788"/>
                  <a:pt x="6548253" y="1346613"/>
                  <a:pt x="6552728" y="1569660"/>
                </a:cubicBezTo>
                <a:cubicBezTo>
                  <a:pt x="6306048" y="1578089"/>
                  <a:pt x="6257480" y="1588739"/>
                  <a:pt x="6028510" y="1569660"/>
                </a:cubicBezTo>
                <a:cubicBezTo>
                  <a:pt x="5799540" y="1550581"/>
                  <a:pt x="5750000" y="1549130"/>
                  <a:pt x="5569819" y="1569660"/>
                </a:cubicBezTo>
                <a:cubicBezTo>
                  <a:pt x="5389638" y="1590190"/>
                  <a:pt x="5109329" y="1543701"/>
                  <a:pt x="4849019" y="1569660"/>
                </a:cubicBezTo>
                <a:cubicBezTo>
                  <a:pt x="4588709" y="1595619"/>
                  <a:pt x="4435227" y="1569163"/>
                  <a:pt x="4259273" y="1569660"/>
                </a:cubicBezTo>
                <a:cubicBezTo>
                  <a:pt x="4083319" y="1570157"/>
                  <a:pt x="3776601" y="1572099"/>
                  <a:pt x="3538473" y="1569660"/>
                </a:cubicBezTo>
                <a:cubicBezTo>
                  <a:pt x="3300345" y="1567221"/>
                  <a:pt x="3220535" y="1563996"/>
                  <a:pt x="3014255" y="1569660"/>
                </a:cubicBezTo>
                <a:cubicBezTo>
                  <a:pt x="2807975" y="1575324"/>
                  <a:pt x="2680474" y="1586876"/>
                  <a:pt x="2555564" y="1569660"/>
                </a:cubicBezTo>
                <a:cubicBezTo>
                  <a:pt x="2430654" y="1552444"/>
                  <a:pt x="1981924" y="1555011"/>
                  <a:pt x="1834764" y="1569660"/>
                </a:cubicBezTo>
                <a:cubicBezTo>
                  <a:pt x="1687604" y="1584309"/>
                  <a:pt x="1504110" y="1589358"/>
                  <a:pt x="1179491" y="1569660"/>
                </a:cubicBezTo>
                <a:cubicBezTo>
                  <a:pt x="854872" y="1549962"/>
                  <a:pt x="497714" y="1555029"/>
                  <a:pt x="0" y="1569660"/>
                </a:cubicBezTo>
                <a:cubicBezTo>
                  <a:pt x="-16176" y="1418876"/>
                  <a:pt x="23450" y="1211321"/>
                  <a:pt x="0" y="1046440"/>
                </a:cubicBezTo>
                <a:cubicBezTo>
                  <a:pt x="-23450" y="881559"/>
                  <a:pt x="-10584" y="681472"/>
                  <a:pt x="0" y="523220"/>
                </a:cubicBezTo>
                <a:cubicBezTo>
                  <a:pt x="10584" y="364968"/>
                  <a:pt x="8015" y="138700"/>
                  <a:pt x="0" y="0"/>
                </a:cubicBezTo>
                <a:close/>
              </a:path>
              <a:path stroke="0" w="6552728" h="1569660">
                <a:moveTo>
                  <a:pt x="0" y="0"/>
                </a:moveTo>
                <a:cubicBezTo>
                  <a:pt x="237273" y="21323"/>
                  <a:pt x="373062" y="16468"/>
                  <a:pt x="655273" y="0"/>
                </a:cubicBezTo>
                <a:cubicBezTo>
                  <a:pt x="937484" y="-16468"/>
                  <a:pt x="1225304" y="39289"/>
                  <a:pt x="1441600" y="0"/>
                </a:cubicBezTo>
                <a:cubicBezTo>
                  <a:pt x="1657896" y="-39289"/>
                  <a:pt x="1832535" y="-1542"/>
                  <a:pt x="2162400" y="0"/>
                </a:cubicBezTo>
                <a:cubicBezTo>
                  <a:pt x="2492265" y="1542"/>
                  <a:pt x="2728296" y="17429"/>
                  <a:pt x="2883200" y="0"/>
                </a:cubicBezTo>
                <a:cubicBezTo>
                  <a:pt x="3038104" y="-17429"/>
                  <a:pt x="3204829" y="7231"/>
                  <a:pt x="3472946" y="0"/>
                </a:cubicBezTo>
                <a:cubicBezTo>
                  <a:pt x="3741063" y="-7231"/>
                  <a:pt x="3807774" y="-16854"/>
                  <a:pt x="4062691" y="0"/>
                </a:cubicBezTo>
                <a:cubicBezTo>
                  <a:pt x="4317608" y="16854"/>
                  <a:pt x="4387418" y="-764"/>
                  <a:pt x="4521382" y="0"/>
                </a:cubicBezTo>
                <a:cubicBezTo>
                  <a:pt x="4655346" y="764"/>
                  <a:pt x="5016904" y="5362"/>
                  <a:pt x="5242182" y="0"/>
                </a:cubicBezTo>
                <a:cubicBezTo>
                  <a:pt x="5467460" y="-5362"/>
                  <a:pt x="5478829" y="3331"/>
                  <a:pt x="5700873" y="0"/>
                </a:cubicBezTo>
                <a:cubicBezTo>
                  <a:pt x="5922917" y="-3331"/>
                  <a:pt x="6214951" y="-10856"/>
                  <a:pt x="6552728" y="0"/>
                </a:cubicBezTo>
                <a:cubicBezTo>
                  <a:pt x="6548587" y="175294"/>
                  <a:pt x="6536344" y="339906"/>
                  <a:pt x="6552728" y="554613"/>
                </a:cubicBezTo>
                <a:cubicBezTo>
                  <a:pt x="6569112" y="769320"/>
                  <a:pt x="6539640" y="886963"/>
                  <a:pt x="6552728" y="1093530"/>
                </a:cubicBezTo>
                <a:cubicBezTo>
                  <a:pt x="6565816" y="1300097"/>
                  <a:pt x="6544049" y="1466238"/>
                  <a:pt x="6552728" y="1569660"/>
                </a:cubicBezTo>
                <a:cubicBezTo>
                  <a:pt x="6206451" y="1573109"/>
                  <a:pt x="6114152" y="1560077"/>
                  <a:pt x="5766401" y="1569660"/>
                </a:cubicBezTo>
                <a:cubicBezTo>
                  <a:pt x="5418650" y="1579243"/>
                  <a:pt x="5424681" y="1583451"/>
                  <a:pt x="5176655" y="1569660"/>
                </a:cubicBezTo>
                <a:cubicBezTo>
                  <a:pt x="4928629" y="1555869"/>
                  <a:pt x="4667278" y="1597241"/>
                  <a:pt x="4521382" y="1569660"/>
                </a:cubicBezTo>
                <a:cubicBezTo>
                  <a:pt x="4375486" y="1542079"/>
                  <a:pt x="4101707" y="1581799"/>
                  <a:pt x="3931637" y="1569660"/>
                </a:cubicBezTo>
                <a:cubicBezTo>
                  <a:pt x="3761568" y="1557521"/>
                  <a:pt x="3579898" y="1585538"/>
                  <a:pt x="3472946" y="1569660"/>
                </a:cubicBezTo>
                <a:cubicBezTo>
                  <a:pt x="3365994" y="1553782"/>
                  <a:pt x="3009255" y="1569223"/>
                  <a:pt x="2817673" y="1569660"/>
                </a:cubicBezTo>
                <a:cubicBezTo>
                  <a:pt x="2626091" y="1570097"/>
                  <a:pt x="2440158" y="1559255"/>
                  <a:pt x="2227928" y="1569660"/>
                </a:cubicBezTo>
                <a:cubicBezTo>
                  <a:pt x="2015699" y="1580065"/>
                  <a:pt x="1923066" y="1581389"/>
                  <a:pt x="1703709" y="1569660"/>
                </a:cubicBezTo>
                <a:cubicBezTo>
                  <a:pt x="1484352" y="1557931"/>
                  <a:pt x="1166821" y="1567437"/>
                  <a:pt x="982909" y="1569660"/>
                </a:cubicBezTo>
                <a:cubicBezTo>
                  <a:pt x="798997" y="1571883"/>
                  <a:pt x="248179" y="1599336"/>
                  <a:pt x="0" y="1569660"/>
                </a:cubicBezTo>
                <a:cubicBezTo>
                  <a:pt x="-3033" y="1415200"/>
                  <a:pt x="21133" y="1186207"/>
                  <a:pt x="0" y="1062137"/>
                </a:cubicBezTo>
                <a:cubicBezTo>
                  <a:pt x="-21133" y="938067"/>
                  <a:pt x="11829" y="822262"/>
                  <a:pt x="0" y="586006"/>
                </a:cubicBezTo>
                <a:cubicBezTo>
                  <a:pt x="-11829" y="349750"/>
                  <a:pt x="16853" y="271378"/>
                  <a:pt x="0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2400" spc="-1" strike="noStrike">
                <a:solidFill>
                  <a:srgbClr val="000000"/>
                </a:solidFill>
                <a:latin typeface="CMR10"/>
                <a:ea typeface="DejaVu Sans"/>
              </a:rPr>
              <a:t>In tidy data: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400" spc="-1" strike="noStrike">
                <a:solidFill>
                  <a:srgbClr val="000000"/>
                </a:solidFill>
                <a:latin typeface="CMR10"/>
                <a:ea typeface="DejaVu Sans"/>
              </a:rPr>
              <a:t>1. Each variable forms a column</a:t>
            </a:r>
            <a:br>
              <a:rPr sz="2400"/>
            </a:br>
            <a:r>
              <a:rPr b="0" lang="en-US" sz="2400" spc="-1" strike="noStrike">
                <a:solidFill>
                  <a:srgbClr val="000000"/>
                </a:solidFill>
                <a:latin typeface="CMR10"/>
                <a:ea typeface="DejaVu Sans"/>
              </a:rPr>
              <a:t>2. Each observation forms a row</a:t>
            </a:r>
            <a:br>
              <a:rPr sz="2400"/>
            </a:br>
            <a:r>
              <a:rPr b="0" lang="en-US" sz="2400" spc="-1" strike="noStrike">
                <a:solidFill>
                  <a:srgbClr val="000000"/>
                </a:solidFill>
                <a:latin typeface="CMR10"/>
                <a:ea typeface="DejaVu Sans"/>
              </a:rPr>
              <a:t>3. Each type of observational unit forms a table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TextBox 13"/>
          <p:cNvSpPr/>
          <p:nvPr/>
        </p:nvSpPr>
        <p:spPr>
          <a:xfrm>
            <a:off x="1050120" y="5146560"/>
            <a:ext cx="293544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1800" spc="-1" strike="noStrike">
                <a:solidFill>
                  <a:schemeClr val="accent5">
                    <a:lumMod val="75000"/>
                  </a:schemeClr>
                </a:solidFill>
                <a:latin typeface="Calibri"/>
                <a:ea typeface="DejaVu Sans"/>
              </a:rPr>
              <a:t>Observations</a:t>
            </a: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 increase when new units (dates, subjects, …) are measured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TextBox 9"/>
          <p:cNvSpPr/>
          <p:nvPr/>
        </p:nvSpPr>
        <p:spPr>
          <a:xfrm>
            <a:off x="9388800" y="2387880"/>
            <a:ext cx="2393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CH" sz="1800" spc="-1" strike="noStrike">
                <a:solidFill>
                  <a:schemeClr val="accent6"/>
                </a:solidFill>
                <a:latin typeface="Calibri"/>
                <a:ea typeface="DejaVu Sans"/>
              </a:rPr>
              <a:t>Variables</a:t>
            </a: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 increase when new types of measurements are introduced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9B813E7-6077-4368-A3F3-EF2607800D20}" type="slidenum">
              <a:t>29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Hands-on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TextBox 13"/>
          <p:cNvSpPr/>
          <p:nvPr/>
        </p:nvSpPr>
        <p:spPr>
          <a:xfrm>
            <a:off x="386280" y="850680"/>
            <a:ext cx="59742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Identify variables, observations, and values. What would a tidy version look like?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Rectangle 1"/>
          <p:cNvSpPr/>
          <p:nvPr/>
        </p:nvSpPr>
        <p:spPr>
          <a:xfrm>
            <a:off x="11052360" y="205920"/>
            <a:ext cx="825480" cy="7002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341" name="Graphic 11" descr=""/>
          <p:cNvPicPr/>
          <p:nvPr/>
        </p:nvPicPr>
        <p:blipFill>
          <a:blip r:embed="rId1"/>
          <a:stretch/>
        </p:blipFill>
        <p:spPr>
          <a:xfrm>
            <a:off x="11119320" y="279720"/>
            <a:ext cx="691920" cy="552960"/>
          </a:xfrm>
          <a:prstGeom prst="rect">
            <a:avLst/>
          </a:prstGeom>
          <a:ln w="0">
            <a:noFill/>
          </a:ln>
        </p:spPr>
      </p:pic>
      <p:pic>
        <p:nvPicPr>
          <p:cNvPr id="342" name="Picture 12" descr=""/>
          <p:cNvPicPr/>
          <p:nvPr/>
        </p:nvPicPr>
        <p:blipFill>
          <a:blip r:embed="rId2"/>
          <a:stretch/>
        </p:blipFill>
        <p:spPr>
          <a:xfrm>
            <a:off x="318600" y="2106360"/>
            <a:ext cx="7769880" cy="367308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DF8D3CE-6BD0-4DB8-9534-A9D44BB6F13D}" type="slidenum">
              <a:t>30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Hands-on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 type="dt" idx="43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45" name="Picture 7" descr=""/>
          <p:cNvPicPr/>
          <p:nvPr/>
        </p:nvPicPr>
        <p:blipFill>
          <a:blip r:embed="rId1"/>
          <a:stretch/>
        </p:blipFill>
        <p:spPr>
          <a:xfrm>
            <a:off x="318600" y="2106360"/>
            <a:ext cx="7769880" cy="3673080"/>
          </a:xfrm>
          <a:prstGeom prst="rect">
            <a:avLst/>
          </a:prstGeom>
          <a:ln w="0">
            <a:noFill/>
          </a:ln>
        </p:spPr>
      </p:pic>
      <p:sp>
        <p:nvSpPr>
          <p:cNvPr id="346" name="TextBox 13"/>
          <p:cNvSpPr/>
          <p:nvPr/>
        </p:nvSpPr>
        <p:spPr>
          <a:xfrm>
            <a:off x="386280" y="850680"/>
            <a:ext cx="59742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Identify variables, observations, and values. What would a tidy version look like?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7" name="Picture 14" descr=""/>
          <p:cNvPicPr/>
          <p:nvPr/>
        </p:nvPicPr>
        <p:blipFill>
          <a:blip r:embed="rId2"/>
          <a:stretch/>
        </p:blipFill>
        <p:spPr>
          <a:xfrm>
            <a:off x="8256240" y="2106360"/>
            <a:ext cx="3474360" cy="3264480"/>
          </a:xfrm>
          <a:prstGeom prst="rect">
            <a:avLst/>
          </a:prstGeom>
          <a:ln w="0">
            <a:noFill/>
          </a:ln>
        </p:spPr>
      </p:pic>
      <p:sp>
        <p:nvSpPr>
          <p:cNvPr id="348" name="Rectangle 1"/>
          <p:cNvSpPr/>
          <p:nvPr/>
        </p:nvSpPr>
        <p:spPr>
          <a:xfrm>
            <a:off x="11052360" y="205920"/>
            <a:ext cx="825480" cy="7002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349" name="Graphic 11" descr=""/>
          <p:cNvPicPr/>
          <p:nvPr/>
        </p:nvPicPr>
        <p:blipFill>
          <a:blip r:embed="rId3"/>
          <a:stretch/>
        </p:blipFill>
        <p:spPr>
          <a:xfrm>
            <a:off x="11119320" y="279720"/>
            <a:ext cx="691920" cy="55296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0E8E929B-A0E9-44F2-8006-C08E48D6BDBE}" type="slidenum">
              <a:t>31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Messy data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 type="dt" idx="44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TextBox 6"/>
          <p:cNvSpPr/>
          <p:nvPr/>
        </p:nvSpPr>
        <p:spPr>
          <a:xfrm>
            <a:off x="6879600" y="244080"/>
            <a:ext cx="4894200" cy="1552680"/>
          </a:xfrm>
          <a:prstGeom prst="rect">
            <a:avLst/>
          </a:prstGeom>
          <a:solidFill>
            <a:srgbClr val="f20000">
              <a:alpha val="9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i="1" lang="en-US" sz="2400" spc="-1" strike="noStrike">
                <a:solidFill>
                  <a:srgbClr val="000000"/>
                </a:solidFill>
                <a:latin typeface="Baskerville"/>
                <a:ea typeface="Baskerville"/>
              </a:rPr>
              <a:t>“</a:t>
            </a:r>
            <a:r>
              <a:rPr b="0" i="1" lang="en-US" sz="2400" spc="-1" strike="noStrike">
                <a:solidFill>
                  <a:srgbClr val="000000"/>
                </a:solidFill>
                <a:latin typeface="Baskerville"/>
                <a:ea typeface="Baskerville"/>
              </a:rPr>
              <a:t>Tidy datasets are all alike but every messy dataset is messy in its own way” </a:t>
            </a:r>
            <a:br>
              <a:rPr sz="2400"/>
            </a:br>
            <a:r>
              <a:rPr b="0" i="1" lang="en-US" sz="2400" spc="-1" strike="noStrike">
                <a:solidFill>
                  <a:srgbClr val="000000"/>
                </a:solidFill>
                <a:latin typeface="Baskerville"/>
                <a:ea typeface="Baskerville"/>
              </a:rPr>
              <a:t>– Hadley Wickham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3" name="Picture 8" descr=""/>
          <p:cNvPicPr/>
          <p:nvPr/>
        </p:nvPicPr>
        <p:blipFill>
          <a:blip r:embed="rId1"/>
          <a:stretch/>
        </p:blipFill>
        <p:spPr>
          <a:xfrm>
            <a:off x="3647880" y="4149000"/>
            <a:ext cx="2075040" cy="1683720"/>
          </a:xfrm>
          <a:prstGeom prst="rect">
            <a:avLst/>
          </a:prstGeom>
          <a:ln w="0">
            <a:noFill/>
          </a:ln>
        </p:spPr>
      </p:pic>
      <p:sp>
        <p:nvSpPr>
          <p:cNvPr id="354" name="TextBox 9"/>
          <p:cNvSpPr/>
          <p:nvPr/>
        </p:nvSpPr>
        <p:spPr>
          <a:xfrm>
            <a:off x="3594600" y="2889360"/>
            <a:ext cx="172584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Column headers are values, not variable names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TextBox 10"/>
          <p:cNvSpPr/>
          <p:nvPr/>
        </p:nvSpPr>
        <p:spPr>
          <a:xfrm>
            <a:off x="5254200" y="3182400"/>
            <a:ext cx="9273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4000" spc="-1" strike="noStrike">
                <a:solidFill>
                  <a:srgbClr val="1f1f1f"/>
                </a:solidFill>
                <a:highlight>
                  <a:srgbClr val="ffffff"/>
                </a:highlight>
                <a:latin typeface="Google Sans"/>
                <a:ea typeface="DejaVu Sans"/>
              </a:rPr>
              <a:t>😱 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6" name="Picture 11" descr=""/>
          <p:cNvPicPr/>
          <p:nvPr/>
        </p:nvPicPr>
        <p:blipFill>
          <a:blip r:embed="rId2"/>
          <a:stretch/>
        </p:blipFill>
        <p:spPr>
          <a:xfrm>
            <a:off x="565200" y="2919600"/>
            <a:ext cx="2522880" cy="2350080"/>
          </a:xfrm>
          <a:prstGeom prst="rect">
            <a:avLst/>
          </a:prstGeom>
          <a:ln w="0">
            <a:noFill/>
          </a:ln>
        </p:spPr>
      </p:pic>
      <p:sp>
        <p:nvSpPr>
          <p:cNvPr id="357" name="TextBox 12"/>
          <p:cNvSpPr/>
          <p:nvPr/>
        </p:nvSpPr>
        <p:spPr>
          <a:xfrm>
            <a:off x="542880" y="1756440"/>
            <a:ext cx="19504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Variables are stored in both rows and columns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Box 13"/>
          <p:cNvSpPr/>
          <p:nvPr/>
        </p:nvSpPr>
        <p:spPr>
          <a:xfrm>
            <a:off x="2376720" y="2012040"/>
            <a:ext cx="9273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4000" spc="-1" strike="noStrike">
                <a:solidFill>
                  <a:srgbClr val="1f1f1f"/>
                </a:solidFill>
                <a:highlight>
                  <a:srgbClr val="ffffff"/>
                </a:highlight>
                <a:latin typeface="Google Sans"/>
                <a:ea typeface="DejaVu Sans"/>
              </a:rPr>
              <a:t>😱 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9" name="Picture 14" descr=""/>
          <p:cNvPicPr/>
          <p:nvPr/>
        </p:nvPicPr>
        <p:blipFill>
          <a:blip r:embed="rId3"/>
          <a:stretch/>
        </p:blipFill>
        <p:spPr>
          <a:xfrm>
            <a:off x="9230040" y="3901320"/>
            <a:ext cx="2231640" cy="2171160"/>
          </a:xfrm>
          <a:prstGeom prst="rect">
            <a:avLst/>
          </a:prstGeom>
          <a:ln w="0">
            <a:noFill/>
          </a:ln>
        </p:spPr>
      </p:pic>
      <p:sp>
        <p:nvSpPr>
          <p:cNvPr id="360" name="TextBox 15"/>
          <p:cNvSpPr/>
          <p:nvPr/>
        </p:nvSpPr>
        <p:spPr>
          <a:xfrm>
            <a:off x="9227880" y="2710440"/>
            <a:ext cx="190584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Multiple variables are stored in one column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Box 16"/>
          <p:cNvSpPr/>
          <p:nvPr/>
        </p:nvSpPr>
        <p:spPr>
          <a:xfrm>
            <a:off x="11044800" y="2879280"/>
            <a:ext cx="9273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4000" spc="-1" strike="noStrike">
                <a:solidFill>
                  <a:srgbClr val="1f1f1f"/>
                </a:solidFill>
                <a:highlight>
                  <a:srgbClr val="ffffff"/>
                </a:highlight>
                <a:latin typeface="Google Sans"/>
                <a:ea typeface="DejaVu Sans"/>
              </a:rPr>
              <a:t>😱 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TextBox 17"/>
          <p:cNvSpPr/>
          <p:nvPr/>
        </p:nvSpPr>
        <p:spPr>
          <a:xfrm>
            <a:off x="6187320" y="1749600"/>
            <a:ext cx="172584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Some variables are stored in the file names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TextBox 18"/>
          <p:cNvSpPr/>
          <p:nvPr/>
        </p:nvSpPr>
        <p:spPr>
          <a:xfrm>
            <a:off x="7915320" y="1884240"/>
            <a:ext cx="9273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4000" spc="-1" strike="noStrike">
                <a:solidFill>
                  <a:srgbClr val="1f1f1f"/>
                </a:solidFill>
                <a:highlight>
                  <a:srgbClr val="ffffff"/>
                </a:highlight>
                <a:latin typeface="Google Sans"/>
                <a:ea typeface="DejaVu Sans"/>
              </a:rPr>
              <a:t>😱 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TextBox 20"/>
          <p:cNvSpPr/>
          <p:nvPr/>
        </p:nvSpPr>
        <p:spPr>
          <a:xfrm>
            <a:off x="6187320" y="2890440"/>
            <a:ext cx="2688120" cy="1063080"/>
          </a:xfrm>
          <a:prstGeom prst="rect">
            <a:avLst/>
          </a:prstGeom>
          <a:solidFill>
            <a:schemeClr val="bg1">
              <a:lumMod val="9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2024-01_prices_DE.csv</a:t>
            </a:r>
            <a:br>
              <a:rPr sz="1600"/>
            </a:b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2024-01_prices_FR.csv</a:t>
            </a:r>
            <a:br>
              <a:rPr sz="1600"/>
            </a:b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2024-02_prices_DE.csv</a:t>
            </a:r>
            <a:br>
              <a:rPr sz="1600"/>
            </a:b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2024-02_prices_FR.csv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DA28213-8544-49D4-92D9-C9D6DFD7281C}" type="slidenum">
              <a:t>32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title"/>
          </p:nvPr>
        </p:nvSpPr>
        <p:spPr>
          <a:xfrm>
            <a:off x="335520" y="347400"/>
            <a:ext cx="9142560" cy="90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81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The life-changing magic of tidying up data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3080" cy="483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Pivoting – we know this one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PlaceHolder 3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68" name="Picture 6" descr="Image"/>
          <p:cNvPicPr/>
          <p:nvPr/>
        </p:nvPicPr>
        <p:blipFill>
          <a:blip r:embed="rId1"/>
          <a:srcRect l="13464" t="0" r="8349" b="0"/>
          <a:stretch/>
        </p:blipFill>
        <p:spPr>
          <a:xfrm>
            <a:off x="9264240" y="588240"/>
            <a:ext cx="2719440" cy="3478680"/>
          </a:xfrm>
          <a:prstGeom prst="rect">
            <a:avLst/>
          </a:prstGeom>
          <a:ln w="0">
            <a:noFill/>
          </a:ln>
        </p:spPr>
      </p:pic>
      <p:sp>
        <p:nvSpPr>
          <p:cNvPr id="369" name="TextBox 7"/>
          <p:cNvSpPr/>
          <p:nvPr/>
        </p:nvSpPr>
        <p:spPr>
          <a:xfrm>
            <a:off x="3180600" y="5094360"/>
            <a:ext cx="6262200" cy="11869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df.pivot_table(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	</a:t>
            </a: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index=['city', 'date'], columns='type’, </a:t>
            </a:r>
            <a:br>
              <a:rPr sz="1800"/>
            </a:b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	</a:t>
            </a: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values='temperature', aggfunc='max’,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0" name="Picture 6" descr=""/>
          <p:cNvPicPr/>
          <p:nvPr/>
        </p:nvPicPr>
        <p:blipFill>
          <a:blip r:embed="rId2"/>
          <a:stretch/>
        </p:blipFill>
        <p:spPr>
          <a:xfrm>
            <a:off x="882720" y="2480760"/>
            <a:ext cx="2522880" cy="2350080"/>
          </a:xfrm>
          <a:prstGeom prst="rect">
            <a:avLst/>
          </a:prstGeom>
          <a:ln w="0">
            <a:noFill/>
          </a:ln>
        </p:spPr>
      </p:pic>
      <p:pic>
        <p:nvPicPr>
          <p:cNvPr id="371" name="Picture 10" descr=""/>
          <p:cNvPicPr/>
          <p:nvPr/>
        </p:nvPicPr>
        <p:blipFill>
          <a:blip r:embed="rId3"/>
          <a:stretch/>
        </p:blipFill>
        <p:spPr>
          <a:xfrm>
            <a:off x="6022800" y="2629440"/>
            <a:ext cx="2550960" cy="1823040"/>
          </a:xfrm>
          <a:prstGeom prst="rect">
            <a:avLst/>
          </a:prstGeom>
          <a:ln w="0">
            <a:noFill/>
          </a:ln>
        </p:spPr>
      </p:pic>
      <p:sp>
        <p:nvSpPr>
          <p:cNvPr id="372" name="TextBox 11"/>
          <p:cNvSpPr/>
          <p:nvPr/>
        </p:nvSpPr>
        <p:spPr>
          <a:xfrm>
            <a:off x="3800880" y="2127600"/>
            <a:ext cx="230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The “type” column is storing variable names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Right Arrow 13"/>
          <p:cNvSpPr/>
          <p:nvPr/>
        </p:nvSpPr>
        <p:spPr>
          <a:xfrm>
            <a:off x="3945960" y="3754800"/>
            <a:ext cx="1766880" cy="4294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CH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TextBox 14"/>
          <p:cNvSpPr/>
          <p:nvPr/>
        </p:nvSpPr>
        <p:spPr>
          <a:xfrm>
            <a:off x="3963600" y="3465000"/>
            <a:ext cx="1663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pivot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TextBox 8"/>
          <p:cNvSpPr/>
          <p:nvPr/>
        </p:nvSpPr>
        <p:spPr>
          <a:xfrm>
            <a:off x="6018120" y="2161800"/>
            <a:ext cx="9273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4000" spc="-1" strike="noStrike">
                <a:solidFill>
                  <a:srgbClr val="1f1f1f"/>
                </a:solidFill>
                <a:highlight>
                  <a:srgbClr val="ffffff"/>
                </a:highlight>
                <a:latin typeface="Google Sans"/>
                <a:ea typeface="DejaVu Sans"/>
              </a:rPr>
              <a:t>😱 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202C33B-4293-4F41-9A53-B312ECCDB4AE}" type="slidenum">
              <a:t>33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Picture 4" descr="Image"/>
          <p:cNvPicPr/>
          <p:nvPr/>
        </p:nvPicPr>
        <p:blipFill>
          <a:blip r:embed="rId1"/>
          <a:srcRect l="16022" t="0" r="5951" b="0"/>
          <a:stretch/>
        </p:blipFill>
        <p:spPr>
          <a:xfrm>
            <a:off x="9262800" y="581040"/>
            <a:ext cx="2719440" cy="3485880"/>
          </a:xfrm>
          <a:prstGeom prst="rect">
            <a:avLst/>
          </a:prstGeom>
          <a:ln w="0">
            <a:noFill/>
          </a:ln>
        </p:spPr>
      </p:pic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335520" y="347400"/>
            <a:ext cx="9142560" cy="90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81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The life-changing magic of tidying up data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3080" cy="483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Melting – it’s kind of the opposite of pivoting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 type="dt" idx="46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80" name="Picture 8" descr=""/>
          <p:cNvPicPr/>
          <p:nvPr/>
        </p:nvPicPr>
        <p:blipFill>
          <a:blip r:embed="rId2"/>
          <a:stretch/>
        </p:blipFill>
        <p:spPr>
          <a:xfrm>
            <a:off x="1503000" y="2860200"/>
            <a:ext cx="2075040" cy="1683720"/>
          </a:xfrm>
          <a:prstGeom prst="rect">
            <a:avLst/>
          </a:prstGeom>
          <a:ln w="0">
            <a:noFill/>
          </a:ln>
        </p:spPr>
      </p:pic>
      <p:pic>
        <p:nvPicPr>
          <p:cNvPr id="381" name="Picture 9" descr=""/>
          <p:cNvPicPr/>
          <p:nvPr/>
        </p:nvPicPr>
        <p:blipFill>
          <a:blip r:embed="rId3"/>
          <a:stretch/>
        </p:blipFill>
        <p:spPr>
          <a:xfrm>
            <a:off x="5969880" y="2067120"/>
            <a:ext cx="2868120" cy="2988360"/>
          </a:xfrm>
          <a:prstGeom prst="rect">
            <a:avLst/>
          </a:prstGeom>
          <a:ln w="0">
            <a:noFill/>
          </a:ln>
        </p:spPr>
      </p:pic>
      <p:sp>
        <p:nvSpPr>
          <p:cNvPr id="382" name="TextBox 7"/>
          <p:cNvSpPr/>
          <p:nvPr/>
        </p:nvSpPr>
        <p:spPr>
          <a:xfrm>
            <a:off x="1379520" y="5172480"/>
            <a:ext cx="9430560" cy="3639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pd.melt(data, id_vars=['subject', 'date'], value_name='response_time')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10"/>
          <p:cNvSpPr/>
          <p:nvPr/>
        </p:nvSpPr>
        <p:spPr>
          <a:xfrm>
            <a:off x="857160" y="1937160"/>
            <a:ext cx="213660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The treatment values are stored as a column name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TextBox 11"/>
          <p:cNvSpPr/>
          <p:nvPr/>
        </p:nvSpPr>
        <p:spPr>
          <a:xfrm>
            <a:off x="3024360" y="2192760"/>
            <a:ext cx="7146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2800" spc="-1" strike="noStrike">
                <a:solidFill>
                  <a:srgbClr val="1f1f1f"/>
                </a:solidFill>
                <a:highlight>
                  <a:srgbClr val="ffffff"/>
                </a:highlight>
                <a:latin typeface="Google Sans"/>
                <a:ea typeface="DejaVu Sans"/>
              </a:rPr>
              <a:t>😱 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Right Arrow 12"/>
          <p:cNvSpPr/>
          <p:nvPr/>
        </p:nvSpPr>
        <p:spPr>
          <a:xfrm>
            <a:off x="3945960" y="3487320"/>
            <a:ext cx="1766880" cy="4294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472c4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CH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TextBox 13"/>
          <p:cNvSpPr/>
          <p:nvPr/>
        </p:nvSpPr>
        <p:spPr>
          <a:xfrm>
            <a:off x="3963600" y="3197520"/>
            <a:ext cx="1663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melt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TextBox 6"/>
          <p:cNvSpPr/>
          <p:nvPr/>
        </p:nvSpPr>
        <p:spPr>
          <a:xfrm>
            <a:off x="1379520" y="5628240"/>
            <a:ext cx="96130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Split the columns in (A) “id_vars” and (B) non-”id_vars”. The column names in (B) are used as new values in a new column “variable”. The values in columns (B) go into a new column, “response_time”.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798D4A7-FB5C-405A-A003-9B4939325ED4}" type="slidenum">
              <a:t>34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8" name="Picture 2" descr="Image"/>
          <p:cNvPicPr/>
          <p:nvPr/>
        </p:nvPicPr>
        <p:blipFill>
          <a:blip r:embed="rId1"/>
          <a:srcRect l="2154" t="0" r="23761" b="5248"/>
          <a:stretch/>
        </p:blipFill>
        <p:spPr>
          <a:xfrm>
            <a:off x="9264240" y="588240"/>
            <a:ext cx="2719440" cy="3478680"/>
          </a:xfrm>
          <a:prstGeom prst="rect">
            <a:avLst/>
          </a:prstGeom>
          <a:ln w="0">
            <a:noFill/>
          </a:ln>
        </p:spPr>
      </p:pic>
      <p:sp>
        <p:nvSpPr>
          <p:cNvPr id="389" name="PlaceHolder 1"/>
          <p:cNvSpPr>
            <a:spLocks noGrp="1"/>
          </p:cNvSpPr>
          <p:nvPr>
            <p:ph type="title"/>
          </p:nvPr>
        </p:nvSpPr>
        <p:spPr>
          <a:xfrm>
            <a:off x="335520" y="347400"/>
            <a:ext cx="9142560" cy="90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81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The life-changing magic of tidying up data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8135640" cy="483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CH" sz="2400" spc="-1" strike="noStrike">
                <a:solidFill>
                  <a:srgbClr val="000000"/>
                </a:solidFill>
                <a:latin typeface="Consolas"/>
                <a:ea typeface="DejaVu Sans"/>
              </a:rPr>
              <a:t>pd.concat </a:t>
            </a: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– add together tables with the same variables (columns)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 type="dt" idx="47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TextBox 6"/>
          <p:cNvSpPr/>
          <p:nvPr/>
        </p:nvSpPr>
        <p:spPr>
          <a:xfrm>
            <a:off x="789120" y="2541600"/>
            <a:ext cx="172584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Some variables are stored in the file names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TextBox 14"/>
          <p:cNvSpPr/>
          <p:nvPr/>
        </p:nvSpPr>
        <p:spPr>
          <a:xfrm>
            <a:off x="2552400" y="2775960"/>
            <a:ext cx="7146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2800" spc="-1" strike="noStrike">
                <a:solidFill>
                  <a:srgbClr val="1f1f1f"/>
                </a:solidFill>
                <a:highlight>
                  <a:srgbClr val="ffffff"/>
                </a:highlight>
                <a:latin typeface="Google Sans"/>
                <a:ea typeface="DejaVu Sans"/>
              </a:rPr>
              <a:t>😱 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Box 15"/>
          <p:cNvSpPr/>
          <p:nvPr/>
        </p:nvSpPr>
        <p:spPr>
          <a:xfrm>
            <a:off x="838080" y="3530880"/>
            <a:ext cx="2688120" cy="1063080"/>
          </a:xfrm>
          <a:prstGeom prst="rect">
            <a:avLst/>
          </a:prstGeom>
          <a:solidFill>
            <a:schemeClr val="bg1">
              <a:lumMod val="95000"/>
            </a:scheme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2024-01_prices_DE.csv</a:t>
            </a:r>
            <a:br>
              <a:rPr sz="1600"/>
            </a:b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2024-01_prices_FR.csv</a:t>
            </a:r>
            <a:br>
              <a:rPr sz="1600"/>
            </a:b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2024-02_prices_DE.csv</a:t>
            </a:r>
            <a:br>
              <a:rPr sz="1600"/>
            </a:b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2024-02_prices_FR.csv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TextBox 16"/>
          <p:cNvSpPr/>
          <p:nvPr/>
        </p:nvSpPr>
        <p:spPr>
          <a:xfrm>
            <a:off x="4367880" y="2602080"/>
            <a:ext cx="6390000" cy="3496680"/>
          </a:xfrm>
          <a:prstGeom prst="rect">
            <a:avLst/>
          </a:prstGeom>
          <a:solidFill>
            <a:srgbClr val="e2f0d9">
              <a:alpha val="71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tables = []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for filename in filenames:   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# Parse filename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year_month, _, country = filename[:-4].split('_')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# Read table and add columns for the variables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df = pd.read_csv(filename)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    </a:t>
            </a:r>
            <a:r>
              <a:rPr b="1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# Add the variables that were in the filename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    </a:t>
            </a:r>
            <a:r>
              <a:rPr b="1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df['year_month'] = year_month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    </a:t>
            </a:r>
            <a:r>
              <a:rPr b="1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df['country’] = country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# Store table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tables.append(df)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# Create complete table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tidy_df = </a:t>
            </a:r>
            <a:r>
              <a:rPr b="1" lang="en-US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pd.concat(tables)</a:t>
            </a:r>
            <a:r>
              <a:rPr b="1" lang="en-CH" sz="1600" spc="-1" strike="noStrike">
                <a:solidFill>
                  <a:srgbClr val="000000"/>
                </a:solidFill>
                <a:latin typeface="Consolas"/>
                <a:ea typeface="DejaVu Sans"/>
              </a:rPr>
              <a:t>    </a:t>
            </a:r>
            <a:endParaRPr b="0" lang="en-GB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715AC2B-9A15-45A3-92EC-BBEB259C0026}" type="slidenum">
              <a:t>35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Rectangle 2"/>
          <p:cNvSpPr/>
          <p:nvPr/>
        </p:nvSpPr>
        <p:spPr>
          <a:xfrm>
            <a:off x="7428240" y="205920"/>
            <a:ext cx="4536360" cy="987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sp>
        <p:nvSpPr>
          <p:cNvPr id="397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Hands-on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3080" cy="483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Tidy up the data set in the tuberculosis exercise</a:t>
            </a:r>
            <a:br>
              <a:rPr sz="2800"/>
            </a:b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and compute the summary stats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Submit a PR on</a:t>
            </a:r>
            <a:br>
              <a:rPr sz="2800"/>
            </a:br>
            <a:r>
              <a:rPr b="0" lang="en-US" sz="2800" spc="-1" strike="noStrike">
                <a:solidFill>
                  <a:srgbClr val="000000"/>
                </a:solidFill>
                <a:latin typeface="Consolas"/>
                <a:ea typeface="DejaVu Sans"/>
              </a:rPr>
              <a:t>git.aspp.school/ASPP/</a:t>
            </a:r>
            <a:br>
              <a:rPr sz="2800"/>
            </a:br>
            <a:r>
              <a:rPr b="0" lang="en-US" sz="2800" spc="-1" strike="noStrike">
                <a:solidFill>
                  <a:srgbClr val="000000"/>
                </a:solidFill>
                <a:latin typeface="Consolas"/>
                <a:ea typeface="DejaVu Sans"/>
              </a:rPr>
              <a:t>2025-plovdiv-data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3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" name="TextBox 9"/>
          <p:cNvSpPr/>
          <p:nvPr/>
        </p:nvSpPr>
        <p:spPr>
          <a:xfrm>
            <a:off x="7930800" y="224640"/>
            <a:ext cx="1776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pc="-1" strike="noStrike">
                <a:solidFill>
                  <a:srgbClr val="000000"/>
                </a:solidFill>
                <a:latin typeface="Courier New"/>
                <a:ea typeface="DejaVu Sans"/>
              </a:rPr>
              <a:t>Exercise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01" name="Graphic 10" descr=""/>
          <p:cNvPicPr/>
          <p:nvPr/>
        </p:nvPicPr>
        <p:blipFill>
          <a:blip r:embed="rId1"/>
          <a:stretch/>
        </p:blipFill>
        <p:spPr>
          <a:xfrm>
            <a:off x="7474680" y="273960"/>
            <a:ext cx="691920" cy="552960"/>
          </a:xfrm>
          <a:prstGeom prst="rect">
            <a:avLst/>
          </a:prstGeom>
          <a:ln w="0">
            <a:noFill/>
          </a:ln>
        </p:spPr>
      </p:pic>
      <p:pic>
        <p:nvPicPr>
          <p:cNvPr id="402" name="Picture 1" descr=""/>
          <p:cNvPicPr/>
          <p:nvPr/>
        </p:nvPicPr>
        <p:blipFill>
          <a:blip r:embed="rId2"/>
          <a:stretch/>
        </p:blipFill>
        <p:spPr>
          <a:xfrm>
            <a:off x="7506000" y="3141000"/>
            <a:ext cx="2987640" cy="2906640"/>
          </a:xfrm>
          <a:prstGeom prst="rect">
            <a:avLst/>
          </a:prstGeom>
          <a:ln w="0">
            <a:noFill/>
          </a:ln>
        </p:spPr>
      </p:pic>
      <p:sp>
        <p:nvSpPr>
          <p:cNvPr id="403" name="TextBox 11"/>
          <p:cNvSpPr/>
          <p:nvPr/>
        </p:nvSpPr>
        <p:spPr>
          <a:xfrm>
            <a:off x="7527960" y="2102760"/>
            <a:ext cx="1914480" cy="91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Multiple variables are stored in one column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TextBox 8"/>
          <p:cNvSpPr/>
          <p:nvPr/>
        </p:nvSpPr>
        <p:spPr>
          <a:xfrm>
            <a:off x="8301960" y="542880"/>
            <a:ext cx="348012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exercises/tabular_tidy_data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Box 7"/>
          <p:cNvSpPr/>
          <p:nvPr/>
        </p:nvSpPr>
        <p:spPr>
          <a:xfrm>
            <a:off x="9595080" y="2243880"/>
            <a:ext cx="9273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4000" spc="-1" strike="noStrike">
                <a:solidFill>
                  <a:srgbClr val="1f1f1f"/>
                </a:solidFill>
                <a:highlight>
                  <a:srgbClr val="ffffff"/>
                </a:highlight>
                <a:latin typeface="Google Sans"/>
                <a:ea typeface="DejaVu Sans"/>
              </a:rPr>
              <a:t>😱 </a:t>
            </a:r>
            <a:endParaRPr b="0" lang="en-GB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142771B-9B5E-42A4-81B6-334BF3AC209C}" type="slidenum">
              <a:t>36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Rectangle 8"/>
          <p:cNvSpPr/>
          <p:nvPr/>
        </p:nvSpPr>
        <p:spPr>
          <a:xfrm>
            <a:off x="7838280" y="1054080"/>
            <a:ext cx="3885840" cy="540684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CH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Why is tidy data good?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6263280" cy="483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Many analyses require a simple sequence of steps: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Filter by individual variables to discard data that is not needed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Group and summarize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Re-arrange (e.g. sort)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000" spc="-1" strike="noStrike">
                <a:solidFill>
                  <a:srgbClr val="000000"/>
                </a:solidFill>
                <a:latin typeface="Calibri"/>
                <a:ea typeface="DejaVu Sans"/>
              </a:rPr>
              <a:t>Visualize</a:t>
            </a: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Joining tidy tables is easy! 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One can write generic code that takes tidy data as input. </a:t>
            </a:r>
            <a:br>
              <a:rPr sz="2400"/>
            </a:b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For example, </a:t>
            </a:r>
            <a:r>
              <a:rPr b="1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seaborn</a:t>
            </a: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 relies on tidy data to make complex plots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marL="457200" indent="0">
              <a:lnSpc>
                <a:spcPct val="90000"/>
              </a:lnSpc>
              <a:spcBef>
                <a:spcPts val="499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  <a:p>
            <a:pPr marL="457200" indent="0">
              <a:lnSpc>
                <a:spcPct val="9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GB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dt" idx="49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TextBox 7"/>
          <p:cNvSpPr/>
          <p:nvPr/>
        </p:nvSpPr>
        <p:spPr>
          <a:xfrm>
            <a:off x="8449560" y="1370520"/>
            <a:ext cx="2662920" cy="173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sns</a:t>
            </a:r>
            <a:r>
              <a:rPr b="1" lang="en-US" sz="1800" spc="-1" strike="noStrike">
                <a:solidFill>
                  <a:srgbClr val="dba475"/>
                </a:solidFill>
                <a:latin typeface="Consolas"/>
                <a:ea typeface="DejaVu Sans"/>
              </a:rPr>
              <a:t>.</a:t>
            </a: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swarmplot</a:t>
            </a:r>
            <a:r>
              <a:rPr b="1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(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   </a:t>
            </a: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data</a:t>
            </a:r>
            <a:r>
              <a:rPr b="1" lang="en-US" sz="1800" spc="-1" strike="noStrike">
                <a:solidFill>
                  <a:srgbClr val="dba475"/>
                </a:solidFill>
                <a:latin typeface="Consolas"/>
                <a:ea typeface="DejaVu Sans"/>
              </a:rPr>
              <a:t>=</a:t>
            </a: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df</a:t>
            </a:r>
            <a:r>
              <a:rPr b="1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,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   </a:t>
            </a: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x</a:t>
            </a:r>
            <a:r>
              <a:rPr b="1" lang="en-US" sz="1800" spc="-1" strike="noStrike">
                <a:solidFill>
                  <a:srgbClr val="dba475"/>
                </a:solidFill>
                <a:latin typeface="Consolas"/>
                <a:ea typeface="DejaVu Sans"/>
              </a:rPr>
              <a:t>=</a:t>
            </a:r>
            <a:r>
              <a:rPr b="0" lang="en-US" sz="1800" spc="-1" strike="noStrike">
                <a:solidFill>
                  <a:srgbClr val="4a6991"/>
                </a:solidFill>
                <a:latin typeface="Consolas"/>
                <a:ea typeface="DejaVu Sans"/>
              </a:rPr>
              <a:t>"body_mass_g"</a:t>
            </a:r>
            <a:r>
              <a:rPr b="1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,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   </a:t>
            </a: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y</a:t>
            </a:r>
            <a:r>
              <a:rPr b="1" lang="en-US" sz="1800" spc="-1" strike="noStrike">
                <a:solidFill>
                  <a:srgbClr val="dba475"/>
                </a:solidFill>
                <a:latin typeface="Consolas"/>
                <a:ea typeface="DejaVu Sans"/>
              </a:rPr>
              <a:t>=</a:t>
            </a:r>
            <a:r>
              <a:rPr b="0" lang="en-US" sz="1800" spc="-1" strike="noStrike">
                <a:solidFill>
                  <a:srgbClr val="4a6991"/>
                </a:solidFill>
                <a:latin typeface="Consolas"/>
                <a:ea typeface="DejaVu Sans"/>
              </a:rPr>
              <a:t>"sex"</a:t>
            </a:r>
            <a:r>
              <a:rPr b="1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,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   </a:t>
            </a:r>
            <a:r>
              <a:rPr b="0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hue</a:t>
            </a:r>
            <a:r>
              <a:rPr b="1" lang="en-US" sz="1800" spc="-1" strike="noStrike">
                <a:solidFill>
                  <a:srgbClr val="dba475"/>
                </a:solidFill>
                <a:latin typeface="Consolas"/>
                <a:ea typeface="DejaVu Sans"/>
              </a:rPr>
              <a:t>=</a:t>
            </a:r>
            <a:r>
              <a:rPr b="0" lang="en-US" sz="1800" spc="-1" strike="noStrike">
                <a:solidFill>
                  <a:srgbClr val="4a6991"/>
                </a:solidFill>
                <a:latin typeface="Consolas"/>
                <a:ea typeface="DejaVu Sans"/>
              </a:rPr>
              <a:t>"species”,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11" name="Picture 2" descr=""/>
          <p:cNvPicPr/>
          <p:nvPr/>
        </p:nvPicPr>
        <p:blipFill>
          <a:blip r:embed="rId1"/>
          <a:stretch/>
        </p:blipFill>
        <p:spPr>
          <a:xfrm>
            <a:off x="7968240" y="3440880"/>
            <a:ext cx="3625920" cy="273348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4D0F20B-B572-4572-8379-9E0091D5471D}" type="slidenum">
              <a:t>37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838080" y="2709000"/>
            <a:ext cx="10513080" cy="90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5400" spc="-1" strike="noStrike">
                <a:solidFill>
                  <a:srgbClr val="000000"/>
                </a:solidFill>
                <a:latin typeface="Calibri Light"/>
                <a:ea typeface="DejaVu Sans"/>
              </a:rPr>
              <a:t>Window functions</a:t>
            </a:r>
            <a:endParaRPr b="0" lang="en-GB" sz="5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2"/>
          <p:cNvSpPr>
            <a:spLocks noGrp="1"/>
          </p:cNvSpPr>
          <p:nvPr>
            <p:ph type="dt" idx="50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83CC337-35F8-4002-99B6-5144387EBC93}" type="slidenum">
              <a:t>38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 fontScale="81000"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Window functions: grouped row-by-row operations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3080" cy="483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“</a:t>
            </a: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Window functions” are a kind of split-apply-combine operation, but </a:t>
            </a: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instead of aggregating the data in a group and returning one value per </a:t>
            </a: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group, they return one value per row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Examples: ranking all entries in a group; computing the distance </a:t>
            </a: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between timestamps per group; number the rows by group in </a:t>
            </a: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chronological order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In Pandas, most of these operations can be performed with a </a:t>
            </a: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combination of sorting and grouping-by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BF12D3E-B09A-4E7E-A230-9EA7CEFF10E6}" type="slidenum">
              <a:t>39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Window functions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 type="dt" idx="52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9" name="Rectangle 7"/>
          <p:cNvSpPr/>
          <p:nvPr/>
        </p:nvSpPr>
        <p:spPr>
          <a:xfrm>
            <a:off x="7430400" y="206640"/>
            <a:ext cx="4536360" cy="9878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420" name="Graphic 8" descr=""/>
          <p:cNvPicPr/>
          <p:nvPr/>
        </p:nvPicPr>
        <p:blipFill>
          <a:blip r:embed="rId1"/>
          <a:stretch/>
        </p:blipFill>
        <p:spPr>
          <a:xfrm>
            <a:off x="7511040" y="232200"/>
            <a:ext cx="707760" cy="628560"/>
          </a:xfrm>
          <a:prstGeom prst="rect">
            <a:avLst/>
          </a:prstGeom>
          <a:ln w="0">
            <a:noFill/>
          </a:ln>
        </p:spPr>
      </p:pic>
      <p:sp>
        <p:nvSpPr>
          <p:cNvPr id="421" name="TextBox 9"/>
          <p:cNvSpPr/>
          <p:nvPr/>
        </p:nvSpPr>
        <p:spPr>
          <a:xfrm>
            <a:off x="8163720" y="225360"/>
            <a:ext cx="1776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pc="-1" strike="noStrike">
                <a:solidFill>
                  <a:srgbClr val="000000"/>
                </a:solidFill>
                <a:latin typeface="Courier New"/>
                <a:ea typeface="DejaVu Sans"/>
              </a:rPr>
              <a:t>Live Coding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TextBox 10"/>
          <p:cNvSpPr/>
          <p:nvPr/>
        </p:nvSpPr>
        <p:spPr>
          <a:xfrm>
            <a:off x="8301960" y="542880"/>
            <a:ext cx="34801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n</a:t>
            </a:r>
            <a:r>
              <a:rPr b="0" lang="en-DE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otebooks/</a:t>
            </a:r>
            <a:r>
              <a:rPr b="0" lang="en-US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tabular_data/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040_window_functions.ipynb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234A021-252F-4C63-B67F-0F291324906C}" type="slidenum">
              <a:t>40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Window functions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3080" cy="483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Main points: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Window functions perform row-by-row operations on grouped data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They are an advanced way of avoiding for loops with tabular data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In Pandas, they can be achieved with a combo of sorting and grouping-by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3"/>
          <p:cNvSpPr>
            <a:spLocks noGrp="1"/>
          </p:cNvSpPr>
          <p:nvPr>
            <p:ph type="dt" idx="53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" name="Rectangle 7"/>
          <p:cNvSpPr/>
          <p:nvPr/>
        </p:nvSpPr>
        <p:spPr>
          <a:xfrm>
            <a:off x="7430400" y="206640"/>
            <a:ext cx="4536360" cy="98784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pic>
        <p:nvPicPr>
          <p:cNvPr id="427" name="Graphic 8" descr=""/>
          <p:cNvPicPr/>
          <p:nvPr/>
        </p:nvPicPr>
        <p:blipFill>
          <a:blip r:embed="rId1"/>
          <a:stretch/>
        </p:blipFill>
        <p:spPr>
          <a:xfrm>
            <a:off x="7511040" y="232200"/>
            <a:ext cx="707760" cy="628560"/>
          </a:xfrm>
          <a:prstGeom prst="rect">
            <a:avLst/>
          </a:prstGeom>
          <a:ln w="0">
            <a:noFill/>
          </a:ln>
        </p:spPr>
      </p:pic>
      <p:sp>
        <p:nvSpPr>
          <p:cNvPr id="428" name="TextBox 9"/>
          <p:cNvSpPr/>
          <p:nvPr/>
        </p:nvSpPr>
        <p:spPr>
          <a:xfrm>
            <a:off x="8163720" y="225360"/>
            <a:ext cx="1776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pc="-1" strike="noStrike">
                <a:solidFill>
                  <a:srgbClr val="000000"/>
                </a:solidFill>
                <a:latin typeface="Courier New"/>
                <a:ea typeface="DejaVu Sans"/>
              </a:rPr>
              <a:t>Live Coding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TextBox 10"/>
          <p:cNvSpPr/>
          <p:nvPr/>
        </p:nvSpPr>
        <p:spPr>
          <a:xfrm>
            <a:off x="8301960" y="542880"/>
            <a:ext cx="34801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n</a:t>
            </a:r>
            <a:r>
              <a:rPr b="0" lang="en-DE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otebooks/</a:t>
            </a:r>
            <a:r>
              <a:rPr b="0" lang="en-US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tabular_data/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040_window_functions.ipynb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2D307E8-F5B4-4489-AFBD-C2AC82A0A2A8}" type="slidenum">
              <a:t>41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Window functions operations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432" name="Straight Arrow Connector 19"/>
          <p:cNvCxnSpPr/>
          <p:nvPr/>
        </p:nvCxnSpPr>
        <p:spPr>
          <a:xfrm flipV="1">
            <a:off x="2829600" y="2564640"/>
            <a:ext cx="410760" cy="67212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433" name="Straight Arrow Connector 20"/>
          <p:cNvCxnSpPr/>
          <p:nvPr/>
        </p:nvCxnSpPr>
        <p:spPr>
          <a:xfrm flipV="1">
            <a:off x="2822760" y="3840480"/>
            <a:ext cx="525960" cy="9432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434" name="Straight Arrow Connector 21"/>
          <p:cNvCxnSpPr/>
          <p:nvPr/>
        </p:nvCxnSpPr>
        <p:spPr>
          <a:xfrm>
            <a:off x="2811600" y="4768920"/>
            <a:ext cx="549360" cy="678600"/>
          </a:xfrm>
          <a:prstGeom prst="straightConnector1">
            <a:avLst/>
          </a:prstGeom>
          <a:ln w="57150">
            <a:solidFill>
              <a:srgbClr val="c55a11"/>
            </a:solidFill>
            <a:round/>
            <a:tailEnd len="med" type="triangle" w="med"/>
          </a:ln>
        </p:spPr>
      </p:cxnSp>
      <p:cxnSp>
        <p:nvCxnSpPr>
          <p:cNvPr id="435" name="Straight Arrow Connector 42"/>
          <p:cNvCxnSpPr/>
          <p:nvPr/>
        </p:nvCxnSpPr>
        <p:spPr>
          <a:xfrm>
            <a:off x="8301240" y="2178720"/>
            <a:ext cx="473040" cy="31284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436" name="Straight Arrow Connector 44"/>
          <p:cNvCxnSpPr/>
          <p:nvPr/>
        </p:nvCxnSpPr>
        <p:spPr>
          <a:xfrm>
            <a:off x="8301240" y="3955320"/>
            <a:ext cx="459720" cy="1980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cxnSp>
        <p:nvCxnSpPr>
          <p:cNvPr id="437" name="Straight Arrow Connector 48"/>
          <p:cNvCxnSpPr/>
          <p:nvPr/>
        </p:nvCxnSpPr>
        <p:spPr>
          <a:xfrm flipV="1">
            <a:off x="8301240" y="4747320"/>
            <a:ext cx="459720" cy="694800"/>
          </a:xfrm>
          <a:prstGeom prst="straightConnector1">
            <a:avLst/>
          </a:prstGeom>
          <a:ln w="57150">
            <a:solidFill>
              <a:srgbClr val="548235"/>
            </a:solidFill>
            <a:round/>
            <a:tailEnd len="med" type="triangle" w="med"/>
          </a:ln>
        </p:spPr>
      </p:cxnSp>
      <p:sp>
        <p:nvSpPr>
          <p:cNvPr id="438" name="TextBox 2"/>
          <p:cNvSpPr/>
          <p:nvPr/>
        </p:nvSpPr>
        <p:spPr>
          <a:xfrm>
            <a:off x="623520" y="1041120"/>
            <a:ext cx="11333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CH" sz="1800" spc="-1" strike="noStrike">
                <a:solidFill>
                  <a:schemeClr val="accent6">
                    <a:lumMod val="75000"/>
                  </a:schemeClr>
                </a:solidFill>
                <a:latin typeface="Consolas"/>
                <a:ea typeface="DejaVu Sans"/>
              </a:rPr>
              <a:t>df['nr_lefts'] </a:t>
            </a:r>
            <a:r>
              <a:rPr b="0" lang="en-CH" sz="1800" spc="-1" strike="noStrike">
                <a:solidFill>
                  <a:srgbClr val="000000"/>
                </a:solidFill>
                <a:latin typeface="Consolas"/>
                <a:ea typeface="DejaVu Sans"/>
              </a:rPr>
              <a:t>= df</a:t>
            </a:r>
            <a:r>
              <a:rPr b="0" lang="en-CH" sz="1800" spc="-1" strike="noStrike">
                <a:solidFill>
                  <a:schemeClr val="accent2">
                    <a:lumMod val="75000"/>
                  </a:schemeClr>
                </a:solidFill>
                <a:latin typeface="Consolas"/>
                <a:ea typeface="DejaVu Sans"/>
              </a:rPr>
              <a:t>.sort_values('time (ms)').groupby('subject_id')</a:t>
            </a:r>
            <a:r>
              <a:rPr b="0" lang="en-CH" sz="1800" spc="-1" strike="noStrike">
                <a:solidFill>
                  <a:schemeClr val="accent5">
                    <a:lumMod val="50000"/>
                  </a:schemeClr>
                </a:solidFill>
                <a:latin typeface="Consolas"/>
                <a:ea typeface="DejaVu Sans"/>
              </a:rPr>
              <a:t>['is_left'].cumsum()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39" name="Picture 10" descr=""/>
          <p:cNvPicPr/>
          <p:nvPr/>
        </p:nvPicPr>
        <p:blipFill>
          <a:blip r:embed="rId1"/>
          <a:stretch/>
        </p:blipFill>
        <p:spPr>
          <a:xfrm>
            <a:off x="142920" y="2124720"/>
            <a:ext cx="2607480" cy="3429360"/>
          </a:xfrm>
          <a:prstGeom prst="rect">
            <a:avLst/>
          </a:prstGeom>
          <a:ln w="0">
            <a:noFill/>
          </a:ln>
        </p:spPr>
      </p:pic>
      <p:pic>
        <p:nvPicPr>
          <p:cNvPr id="440" name="Picture 18" descr=""/>
          <p:cNvPicPr/>
          <p:nvPr/>
        </p:nvPicPr>
        <p:blipFill>
          <a:blip r:embed="rId2"/>
          <a:stretch/>
        </p:blipFill>
        <p:spPr>
          <a:xfrm>
            <a:off x="3404520" y="1479960"/>
            <a:ext cx="3017520" cy="4874040"/>
          </a:xfrm>
          <a:prstGeom prst="rect">
            <a:avLst/>
          </a:prstGeom>
          <a:ln w="0">
            <a:noFill/>
          </a:ln>
        </p:spPr>
      </p:pic>
      <p:pic>
        <p:nvPicPr>
          <p:cNvPr id="441" name="Picture 26" descr=""/>
          <p:cNvPicPr/>
          <p:nvPr/>
        </p:nvPicPr>
        <p:blipFill>
          <a:blip r:embed="rId3"/>
          <a:stretch/>
        </p:blipFill>
        <p:spPr>
          <a:xfrm>
            <a:off x="7079040" y="1479960"/>
            <a:ext cx="1091520" cy="4916520"/>
          </a:xfrm>
          <a:prstGeom prst="rect">
            <a:avLst/>
          </a:prstGeom>
          <a:ln w="0">
            <a:noFill/>
          </a:ln>
        </p:spPr>
      </p:pic>
      <p:sp>
        <p:nvSpPr>
          <p:cNvPr id="442" name="Right Arrow 27"/>
          <p:cNvSpPr/>
          <p:nvPr/>
        </p:nvSpPr>
        <p:spPr>
          <a:xfrm>
            <a:off x="6519240" y="3429000"/>
            <a:ext cx="501480" cy="85824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CH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pic>
        <p:nvPicPr>
          <p:cNvPr id="443" name="Picture 28" descr=""/>
          <p:cNvPicPr/>
          <p:nvPr/>
        </p:nvPicPr>
        <p:blipFill>
          <a:blip r:embed="rId4"/>
          <a:stretch/>
        </p:blipFill>
        <p:spPr>
          <a:xfrm>
            <a:off x="8968680" y="2124720"/>
            <a:ext cx="3101400" cy="343944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52AD46C-29FE-4249-911B-02089F7469D1}" type="slidenum">
              <a:t>42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Rectangle 2"/>
          <p:cNvSpPr/>
          <p:nvPr/>
        </p:nvSpPr>
        <p:spPr>
          <a:xfrm>
            <a:off x="7428240" y="205920"/>
            <a:ext cx="4536360" cy="987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38100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DE" sz="1800" spc="-1" strike="noStrike">
              <a:solidFill>
                <a:srgbClr val="000000"/>
              </a:solidFill>
              <a:latin typeface="Courier New"/>
              <a:ea typeface="DejaVu Sans"/>
            </a:endParaRPr>
          </a:p>
        </p:txBody>
      </p:sp>
      <p:sp>
        <p:nvSpPr>
          <p:cNvPr id="445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Hands-on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3080" cy="483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Compute the cumulative number of cases across time, per diet group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Submit a PR on</a:t>
            </a:r>
            <a:br>
              <a:rPr sz="2800"/>
            </a:br>
            <a:r>
              <a:rPr b="0" lang="en-US" sz="2800" spc="-1" strike="noStrike">
                <a:solidFill>
                  <a:srgbClr val="000000"/>
                </a:solidFill>
                <a:latin typeface="Consolas"/>
                <a:ea typeface="DejaVu Sans"/>
              </a:rPr>
              <a:t>git.aspp.school/ASPP/2025-plovdiv-data</a:t>
            </a:r>
            <a:br>
              <a:rPr sz="2800"/>
            </a:br>
            <a:r>
              <a:rPr b="0" lang="en-US" sz="2800" spc="-1" strike="noStrike">
                <a:solidFill>
                  <a:srgbClr val="000000"/>
                </a:solidFill>
                <a:latin typeface="Consolas"/>
                <a:ea typeface="DejaVu Sans"/>
              </a:rPr>
              <a:t> 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3"/>
          <p:cNvSpPr>
            <a:spLocks noGrp="1"/>
          </p:cNvSpPr>
          <p:nvPr>
            <p:ph type="dt" idx="55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8" name="TextBox 9"/>
          <p:cNvSpPr/>
          <p:nvPr/>
        </p:nvSpPr>
        <p:spPr>
          <a:xfrm>
            <a:off x="7930800" y="224640"/>
            <a:ext cx="17769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1" lang="en-DE" sz="1800" spc="-1" strike="noStrike">
                <a:solidFill>
                  <a:srgbClr val="000000"/>
                </a:solidFill>
                <a:latin typeface="Courier New"/>
                <a:ea typeface="DejaVu Sans"/>
              </a:rPr>
              <a:t>Exercise</a:t>
            </a:r>
            <a:endParaRPr b="0" lang="en-GB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9" name="Graphic 10" descr=""/>
          <p:cNvPicPr/>
          <p:nvPr/>
        </p:nvPicPr>
        <p:blipFill>
          <a:blip r:embed="rId1"/>
          <a:stretch/>
        </p:blipFill>
        <p:spPr>
          <a:xfrm>
            <a:off x="7474680" y="273960"/>
            <a:ext cx="691920" cy="552960"/>
          </a:xfrm>
          <a:prstGeom prst="rect">
            <a:avLst/>
          </a:prstGeom>
          <a:ln w="0">
            <a:noFill/>
          </a:ln>
        </p:spPr>
      </p:pic>
      <p:sp>
        <p:nvSpPr>
          <p:cNvPr id="450" name="TextBox 8"/>
          <p:cNvSpPr/>
          <p:nvPr/>
        </p:nvSpPr>
        <p:spPr>
          <a:xfrm>
            <a:off x="8301960" y="542880"/>
            <a:ext cx="34801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exercises/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GB" sz="1400" spc="-1" strike="noStrike">
                <a:solidFill>
                  <a:srgbClr val="000000"/>
                </a:solidFill>
                <a:latin typeface="Courier New"/>
                <a:ea typeface="DejaVu Sans"/>
              </a:rPr>
              <a:t>tabular_window_functions</a:t>
            </a:r>
            <a:endParaRPr b="0" lang="en-GB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51" name="" descr=""/>
          <p:cNvPicPr/>
          <p:nvPr/>
        </p:nvPicPr>
        <p:blipFill>
          <a:blip r:embed="rId2"/>
          <a:stretch/>
        </p:blipFill>
        <p:spPr>
          <a:xfrm>
            <a:off x="3696840" y="2955960"/>
            <a:ext cx="5122080" cy="38829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9CF2CCF-8E89-4310-87A8-50F6266AF554}" type="slidenum">
              <a:t>43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Global summary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3080" cy="483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There are many different data structures, each specialized in efficiently processing one type of data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Code performance grows differently with data size: Big-O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NumPy array efficiently store data in a C-native memory block, interpreted as an array using some metadata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NumPy operations that only need to change the metadata do so, creating a view of the same memory block. These operations are O(1)!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Tabular data can also be vectorized using joins, anti-joins, split-apply-combine operations, and window functions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For these operations to be efficient and painless, data should be stored in a tidy data format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PlaceHolder 3"/>
          <p:cNvSpPr>
            <a:spLocks noGrp="1"/>
          </p:cNvSpPr>
          <p:nvPr>
            <p:ph type="dt" idx="56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8A345BA-BBD2-4441-B393-88FF138E1EBE}" type="slidenum">
              <a:t>44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What we didn’t talk about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3080" cy="483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Other data structures: graphs, trees, priority queues, …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Options for working with large data on disk / remotely (instead of in-memory)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Best practices in data handling: versioning, lineage, sharing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Organizing a complex data set in multiple tables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… </a:t>
            </a: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and a lot more!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PlaceHolder 3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58" name="Picture 2" descr="The Data Warehouse Toolkit"/>
          <p:cNvPicPr/>
          <p:nvPr/>
        </p:nvPicPr>
        <p:blipFill>
          <a:blip r:embed="rId1"/>
          <a:stretch/>
        </p:blipFill>
        <p:spPr>
          <a:xfrm>
            <a:off x="9776160" y="3605400"/>
            <a:ext cx="1939320" cy="2445480"/>
          </a:xfrm>
          <a:prstGeom prst="rect">
            <a:avLst/>
          </a:prstGeom>
          <a:ln w="0">
            <a:noFill/>
          </a:ln>
        </p:spPr>
      </p:pic>
      <p:pic>
        <p:nvPicPr>
          <p:cNvPr id="459" name="Picture 9" descr=""/>
          <p:cNvPicPr/>
          <p:nvPr/>
        </p:nvPicPr>
        <p:blipFill>
          <a:blip r:embed="rId2"/>
          <a:stretch/>
        </p:blipFill>
        <p:spPr>
          <a:xfrm>
            <a:off x="473760" y="3863160"/>
            <a:ext cx="4027680" cy="216720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460" name="Picture 10" descr=""/>
          <p:cNvPicPr/>
          <p:nvPr/>
        </p:nvPicPr>
        <p:blipFill>
          <a:blip r:embed="rId3"/>
          <a:stretch/>
        </p:blipFill>
        <p:spPr>
          <a:xfrm>
            <a:off x="4816800" y="3867480"/>
            <a:ext cx="4506480" cy="218376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6AE1F9B-39AC-49B0-8FD4-08693D0C119F}" type="slidenum">
              <a:t>45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title"/>
          </p:nvPr>
        </p:nvSpPr>
        <p:spPr>
          <a:xfrm>
            <a:off x="407520" y="2493000"/>
            <a:ext cx="5255280" cy="1869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7200" spc="-1" strike="noStrike">
                <a:solidFill>
                  <a:srgbClr val="000000"/>
                </a:solidFill>
                <a:latin typeface="Calibri Light"/>
                <a:ea typeface="DejaVu Sans"/>
              </a:rPr>
              <a:t>Thank you!</a:t>
            </a:r>
            <a:endParaRPr b="0" lang="en-GB" sz="7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PlaceHolder 2"/>
          <p:cNvSpPr>
            <a:spLocks noGrp="1"/>
          </p:cNvSpPr>
          <p:nvPr>
            <p:ph type="dt" idx="58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September 2025,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63" name="Picture 4" descr="Image"/>
          <p:cNvPicPr/>
          <p:nvPr/>
        </p:nvPicPr>
        <p:blipFill>
          <a:blip r:embed="rId1"/>
          <a:stretch/>
        </p:blipFill>
        <p:spPr>
          <a:xfrm>
            <a:off x="6672240" y="994320"/>
            <a:ext cx="4866480" cy="486648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97962B4-6BC5-42FC-82DD-42F201496337}" type="slidenum">
              <a:t>46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dt" idx="59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July 2024,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69DEC52-D524-4D23-90F1-63B0903EFFB6}" type="slidenum">
              <a:t>47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Data organization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3080" cy="483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Data organization concepts: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tidy data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normalized data (star organization)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data science friendly data (denormalized)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3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July 2024,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0A701AA-1D51-4330-85DA-7DE9AD58375C}" type="slidenum">
              <a:t>48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Organizing multiple tables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3080" cy="483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Dimension vs fact tables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De-normalization (but for data analys flat tables are more convienent)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PlaceHolder 3"/>
          <p:cNvSpPr>
            <a:spLocks noGrp="1"/>
          </p:cNvSpPr>
          <p:nvPr>
            <p:ph type="dt" idx="61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July 2024,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471" name="Picture 2" descr="The Data Warehouse Toolkit"/>
          <p:cNvPicPr/>
          <p:nvPr/>
        </p:nvPicPr>
        <p:blipFill>
          <a:blip r:embed="rId1"/>
          <a:stretch/>
        </p:blipFill>
        <p:spPr>
          <a:xfrm>
            <a:off x="8040240" y="3162600"/>
            <a:ext cx="2085840" cy="2629800"/>
          </a:xfrm>
          <a:prstGeom prst="rect">
            <a:avLst/>
          </a:prstGeom>
          <a:ln w="0">
            <a:noFill/>
          </a:ln>
        </p:spPr>
      </p:pic>
      <p:pic>
        <p:nvPicPr>
          <p:cNvPr id="472" name="Picture 6" descr=""/>
          <p:cNvPicPr/>
          <p:nvPr/>
        </p:nvPicPr>
        <p:blipFill>
          <a:blip r:embed="rId2"/>
          <a:stretch/>
        </p:blipFill>
        <p:spPr>
          <a:xfrm>
            <a:off x="551520" y="2951640"/>
            <a:ext cx="5612040" cy="3051360"/>
          </a:xfrm>
          <a:prstGeom prst="rect">
            <a:avLst/>
          </a:prstGeom>
          <a:ln w="0">
            <a:noFill/>
          </a:ln>
        </p:spPr>
      </p:pic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FB8751D-C1FF-476A-8DE3-C088516CA46D}" type="slidenum">
              <a:t>49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335520" y="140400"/>
            <a:ext cx="11446920" cy="90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CH" sz="4400" spc="-1" strike="noStrike">
                <a:solidFill>
                  <a:srgbClr val="000000"/>
                </a:solidFill>
                <a:latin typeface="Calibri Light"/>
                <a:ea typeface="DejaVu Sans"/>
              </a:rPr>
              <a:t>Dealing with changes in the data</a:t>
            </a:r>
            <a:endParaRPr b="0" lang="en-GB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/>
          </p:nvPr>
        </p:nvSpPr>
        <p:spPr>
          <a:xfrm>
            <a:off x="838080" y="1340640"/>
            <a:ext cx="10513080" cy="483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Recommendations: 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NEVER overwite a data file. Treat data files as immutable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Use versioning for changes in the data file, and load the latest version for new analyses, old versions to reproduce previous results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(pond is a library I’m working on to automatize this process)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800" spc="-1" strike="noStrike">
                <a:solidFill>
                  <a:srgbClr val="000000"/>
                </a:solidFill>
                <a:latin typeface="Calibri"/>
                <a:ea typeface="DejaVu Sans"/>
              </a:rPr>
              <a:t>Like in computer code:</a:t>
            </a:r>
            <a:endParaRPr b="0" lang="en-GB" sz="28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Adding new columns / rows is generally ok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  <a:p>
            <a:pPr lvl="1" marL="685800" indent="-2286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CH" sz="2400" spc="-1" strike="noStrike">
                <a:solidFill>
                  <a:srgbClr val="000000"/>
                </a:solidFill>
                <a:latin typeface="Calibri"/>
                <a:ea typeface="DejaVu Sans"/>
              </a:rPr>
              <a:t>Deleting/changing a column is not! Code will break! Add a new column instead</a:t>
            </a:r>
            <a:endParaRPr b="0" lang="en-GB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 type="dt" idx="62"/>
          </p:nvPr>
        </p:nvSpPr>
        <p:spPr>
          <a:xfrm>
            <a:off x="838080" y="6356520"/>
            <a:ext cx="274068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de-CH" sz="1200" spc="-1" strike="noStrike">
                <a:solidFill>
                  <a:srgbClr val="8b8b8b"/>
                </a:solidFill>
                <a:latin typeface="Calibri"/>
                <a:ea typeface="DejaVu Sans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CH" sz="1200" spc="-1" strike="noStrike">
                <a:solidFill>
                  <a:srgbClr val="8b8b8b"/>
                </a:solidFill>
                <a:latin typeface="Calibri"/>
                <a:ea typeface="DejaVu Sans"/>
              </a:rPr>
              <a:t>July 2024, CC BY-SA 4.0</a:t>
            </a:r>
            <a:endParaRPr b="0" lang="en-GB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Data, v1.0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D246C0A-AC4C-4D12-8EAB-BAD25302174E}" type="slidenum">
              <a:t>50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135095</TotalTime>
  <Application>LibreOffice/7.4.7.2$Linux_X86_64 LibreOffice_project/40$Build-2</Application>
  <AppVersion>15.0000</AppVersion>
  <Words>3182</Words>
  <Paragraphs>572</Paragraphs>
  <Company>University of Pennsylvania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2010-10-01T16:09:12Z</dcterms:created>
  <dc:creator>Pietro Berkes</dc:creator>
  <dc:description/>
  <dc:language>en-GB</dc:language>
  <cp:lastModifiedBy>Guillermo Aguilar</cp:lastModifiedBy>
  <cp:lastPrinted>2017-08-28T05:46:03Z</cp:lastPrinted>
  <dcterms:modified xsi:type="dcterms:W3CDTF">2025-09-23T13:53:13Z</dcterms:modified>
  <cp:revision>1696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2</vt:i4>
  </property>
  <property fmtid="{D5CDD505-2E9C-101B-9397-08002B2CF9AE}" pid="3" name="Notes">
    <vt:i4>1</vt:i4>
  </property>
  <property fmtid="{D5CDD505-2E9C-101B-9397-08002B2CF9AE}" pid="4" name="PresentationFormat">
    <vt:lpwstr>Widescreen</vt:lpwstr>
  </property>
  <property fmtid="{D5CDD505-2E9C-101B-9397-08002B2CF9AE}" pid="5" name="Slides">
    <vt:i4>50</vt:i4>
  </property>
</Properties>
</file>