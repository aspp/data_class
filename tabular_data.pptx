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_rels/notesSlide5.xml.rels" ContentType="application/vnd.openxmlformats-package.relationships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4.png" ContentType="image/png"/>
  <Override PartName="/ppt/media/image1.png" ContentType="image/png"/>
  <Override PartName="/ppt/media/image31.png" ContentType="image/png"/>
  <Override PartName="/ppt/media/image18.png" ContentType="image/png"/>
  <Override PartName="/ppt/media/image20.png" ContentType="image/png"/>
  <Override PartName="/ppt/media/image36.jpeg" ContentType="image/jpeg"/>
  <Override PartName="/ppt/media/image40.png" ContentType="image/png"/>
  <Override PartName="/ppt/media/image11.png" ContentType="image/png"/>
  <Override PartName="/ppt/media/image9.png" ContentType="image/png"/>
  <Override PartName="/ppt/media/image39.png" ContentType="image/png"/>
  <Override PartName="/ppt/media/image12.png" ContentType="image/png"/>
  <Override PartName="/ppt/media/image30.png" ContentType="image/png"/>
  <Override PartName="/ppt/media/image7.jpeg" ContentType="image/jpeg"/>
  <Override PartName="/ppt/media/image28.png" ContentType="image/png"/>
  <Override PartName="/ppt/media/image38.png" ContentType="image/png"/>
  <Override PartName="/ppt/media/image8.png" ContentType="image/png"/>
  <Override PartName="/ppt/media/image13.png" ContentType="image/png"/>
  <Override PartName="/ppt/media/image37.png" ContentType="image/png"/>
  <Override PartName="/ppt/media/image6.png" ContentType="image/png"/>
  <Override PartName="/ppt/media/image29.png" ContentType="image/png"/>
  <Override PartName="/ppt/media/image10.png" ContentType="image/png"/>
  <Override PartName="/ppt/media/image5.png" ContentType="image/png"/>
  <Override PartName="/ppt/media/image35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40.xml.rels" ContentType="application/vnd.openxmlformats-package.relationships+xml"/>
  <Override PartName="/ppt/slides/_rels/slide48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50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46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9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1F27FFF-B79C-429B-B24E-0C6315E8525C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560" cy="400824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920" cy="4810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Message: concepts are not specific to pandas but general.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6ACD74-3986-49C0-88D9-308F7636D3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B48F4D-DE0F-45BA-8256-11AEE4C18A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3E85CF6-538B-46DF-8BC8-2EF4A19E0E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A3BA83-5DA8-4397-B535-2FEDE36937B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D1508B-86F6-4321-B589-F3DC791C6F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86F316-E5FD-4FAB-B6DA-ED13E6B41D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CF45CEA-467F-47B3-84CC-F9AF0BC8EE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C96E5F-8088-4482-BC78-F4E32CEA6A0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3E1861-1815-40C8-A652-C63547F7C8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031662-727A-44BB-B760-CCCCDE6889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7C0CC7-45D9-47A3-AC1D-1D2DB9F7EE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AB1543-0652-428F-AA45-8CC2C392A34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6E3DB3D-846A-4655-84EF-B62278A818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4DA0002-6731-4FD6-AD20-5115D52773C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B55149-0D48-44CC-8509-D94B359D9D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1C18E2-B343-41A0-90C6-60B9DEF3A4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4984039-2A5B-44B9-B30F-8359222EA3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2096B32-47DE-4345-963C-5974DD5390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26272F-6D08-4CE9-9E78-85007650C0C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A63C4F4-628D-492E-A95E-27746B5F2C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8EFF51-D2CF-4477-A374-87389DE3D7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04F74A-A922-474E-830F-40EB3C38B0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BFE27A-7BB4-41ED-BC4A-A520F6CBF32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3CA9B9-0AE4-44FA-9AD8-53174748212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A719CDD-85B5-42E0-833E-48624171D8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62B6F27-0E23-47C5-B980-366A5A3288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9CDE65B-DC32-4EE2-8874-EE76BF3CD6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1BFAF2-C690-4BB8-AD1A-1B7302DBA6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F3434A0-DF9C-45D6-B8EE-C33EB751B3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AAB5B52-C980-4BFC-8AB1-314B43F247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DFB7DC4-8FC7-4CA2-9B6E-E00E6810D9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898875C-2107-4608-B0D9-CA71DE37886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0E7566-EF1B-4648-A6DE-5104F6D76A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572F725-ACC3-4750-9C43-13E052FC869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8A9E29-CA11-4D3A-94CD-88DE4B44AD9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4222435-C47C-45F0-9385-87CAD8476C0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01E61D-36CC-4151-BB87-FB80199CA3A7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E8833F-14AF-4C55-8959-BDF6CD8ACBB5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FR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7130E4-3493-4A4B-86A0-564B94C951E3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FR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F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F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hyperlink" Target="https://www.nejm.org/doi/full/10.1056/NEJMoa1800389" TargetMode="External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www.nejm.org/doi/full/10.1056/NEJMoa1800389" TargetMode="Externa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2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2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2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2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Layout" Target="../slideLayouts/slideLayout2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2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2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3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2.png"/><Relationship Id="rId3" Type="http://schemas.openxmlformats.org/officeDocument/2006/relationships/image" Target="../media/image28.png"/><Relationship Id="rId4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slideLayout" Target="../slideLayouts/slideLayout2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6.jpe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slideLayout" Target="../slideLayouts/slideLayout1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2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6.jpeg"/><Relationship Id="rId2" Type="http://schemas.openxmlformats.org/officeDocument/2006/relationships/image" Target="../media/image40.png"/><Relationship Id="rId3" Type="http://schemas.openxmlformats.org/officeDocument/2006/relationships/slideLayout" Target="../slideLayouts/slideLayout1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0" name="Picture 42" descr="Image"/>
          <p:cNvPicPr/>
          <p:nvPr/>
        </p:nvPicPr>
        <p:blipFill>
          <a:blip r:embed="rId1"/>
          <a:srcRect l="0" t="13533" r="0" b="10643"/>
          <a:stretch/>
        </p:blipFill>
        <p:spPr>
          <a:xfrm>
            <a:off x="1112400" y="2121120"/>
            <a:ext cx="9965880" cy="4233960"/>
          </a:xfrm>
          <a:prstGeom prst="rect">
            <a:avLst/>
          </a:prstGeom>
          <a:ln w="0">
            <a:noFill/>
          </a:ln>
        </p:spPr>
      </p:pic>
      <p:sp>
        <p:nvSpPr>
          <p:cNvPr id="131" name="Title 1"/>
          <p:cNvSpPr/>
          <p:nvPr/>
        </p:nvSpPr>
        <p:spPr>
          <a:xfrm>
            <a:off x="263520" y="0"/>
            <a:ext cx="6695280" cy="14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9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</a:t>
            </a:r>
            <a:endParaRPr b="0" lang="en-GB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0A5CBC-4047-43DE-8D9E-A575E8B9DA5F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is tabular data?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34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5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7"/>
          <p:cNvSpPr/>
          <p:nvPr/>
        </p:nvSpPr>
        <p:spPr>
          <a:xfrm>
            <a:off x="5519880" y="762120"/>
            <a:ext cx="374292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Unlike arrays, each column can represent another type of value, with different data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7" name="Straight Arrow Connector 10"/>
          <p:cNvCxnSpPr/>
          <p:nvPr/>
        </p:nvCxnSpPr>
        <p:spPr>
          <a:xfrm flipH="1">
            <a:off x="5015880" y="1937880"/>
            <a:ext cx="505440" cy="3819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38" name="Straight Arrow Connector 12"/>
          <p:cNvCxnSpPr/>
          <p:nvPr/>
        </p:nvCxnSpPr>
        <p:spPr>
          <a:xfrm flipH="1">
            <a:off x="6167880" y="1829520"/>
            <a:ext cx="145440" cy="4903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39" name="Straight Arrow Connector 14"/>
          <p:cNvCxnSpPr/>
          <p:nvPr/>
        </p:nvCxnSpPr>
        <p:spPr>
          <a:xfrm>
            <a:off x="7679880" y="1849320"/>
            <a:ext cx="73440" cy="4705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40" name="Straight Arrow Connector 16"/>
          <p:cNvCxnSpPr/>
          <p:nvPr/>
        </p:nvCxnSpPr>
        <p:spPr>
          <a:xfrm>
            <a:off x="9120240" y="1851480"/>
            <a:ext cx="249840" cy="4683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41" name="Straight Arrow Connector 18"/>
          <p:cNvCxnSpPr/>
          <p:nvPr/>
        </p:nvCxnSpPr>
        <p:spPr>
          <a:xfrm flipH="1">
            <a:off x="2877840" y="1487880"/>
            <a:ext cx="2139480" cy="8319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0C2D381-0685-482E-B3F9-D2E90D5930EC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is tabular data?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4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7"/>
          <p:cNvSpPr/>
          <p:nvPr/>
        </p:nvSpPr>
        <p:spPr>
          <a:xfrm>
            <a:off x="695520" y="998280"/>
            <a:ext cx="2734920" cy="11869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Column and rows have meaningful labels (indices) that are attached to the data for each operation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BA2136-F666-4D99-9E0C-65BD38FF7FC2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Spread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sheets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and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databa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ses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rule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world!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7248240" y="6250320"/>
            <a:ext cx="456156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100" spc="-1" strike="noStrike">
                <a:solidFill>
                  <a:srgbClr val="a6a6a6"/>
                </a:solidFill>
                <a:latin typeface="Calibri"/>
                <a:ea typeface="DejaVu Sans"/>
              </a:rPr>
              <a:t>https://techcommunity.microsoft.com/t5/excel-blog/guinness-world-records-the-largest-collection-of-spreadsheet/ba-p/216592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0" name="Group 11"/>
          <p:cNvGrpSpPr/>
          <p:nvPr/>
        </p:nvGrpSpPr>
        <p:grpSpPr>
          <a:xfrm>
            <a:off x="2446200" y="1184040"/>
            <a:ext cx="7297920" cy="4980960"/>
            <a:chOff x="2446200" y="1184040"/>
            <a:chExt cx="7297920" cy="4980960"/>
          </a:xfrm>
        </p:grpSpPr>
        <p:pic>
          <p:nvPicPr>
            <p:cNvPr id="151" name="Picture 6" descr=""/>
            <p:cNvPicPr/>
            <p:nvPr/>
          </p:nvPicPr>
          <p:blipFill>
            <a:blip r:embed="rId1"/>
            <a:stretch/>
          </p:blipFill>
          <p:spPr>
            <a:xfrm>
              <a:off x="2452680" y="1184040"/>
              <a:ext cx="7094880" cy="498096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2" name="TextBox 7"/>
            <p:cNvSpPr/>
            <p:nvPr/>
          </p:nvSpPr>
          <p:spPr>
            <a:xfrm>
              <a:off x="2446200" y="5589000"/>
              <a:ext cx="7297920" cy="51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i="1" lang="en-CH" sz="1400" spc="-1" strike="noStrike">
                  <a:solidFill>
                    <a:srgbClr val="ffffff"/>
                  </a:solidFill>
                  <a:latin typeface="Calibri"/>
                  <a:ea typeface="DejaVu Sans"/>
                </a:rPr>
                <a:t>Ariel </a:t>
              </a:r>
              <a:r>
                <a:rPr b="1" i="1" lang="en-US" sz="1400" spc="-1" strike="noStrike">
                  <a:solidFill>
                    <a:srgbClr val="ffffff"/>
                  </a:solidFill>
                  <a:latin typeface="SegoeUI"/>
                  <a:ea typeface="DejaVu Sans"/>
                </a:rPr>
                <a:t>Fischman holds the Guinness World Record for owning the most spreadsheet software (over 500!)</a:t>
              </a: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96E9BC-C186-4065-868C-082E938304C8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1f2328"/>
                </a:solidFill>
                <a:latin typeface="Calibri Light"/>
                <a:ea typeface="DejaVu Sans"/>
              </a:rPr>
              <a:t>Many tools </a:t>
            </a:r>
            <a:r>
              <a:rPr b="0" lang="en-US" sz="4400" spc="-1" strike="noStrike">
                <a:solidFill>
                  <a:srgbClr val="1f2328"/>
                </a:solidFill>
                <a:latin typeface="Calibri Light"/>
                <a:ea typeface="DejaVu Sans"/>
              </a:rPr>
              <a:t>to handle </a:t>
            </a:r>
            <a:r>
              <a:rPr b="0" lang="en-US" sz="4400" spc="-1" strike="noStrike">
                <a:solidFill>
                  <a:srgbClr val="1f2328"/>
                </a:solidFill>
                <a:latin typeface="Calibri Light"/>
                <a:ea typeface="DejaVu Sans"/>
              </a:rPr>
              <a:t>tabular </a:t>
            </a:r>
            <a:r>
              <a:rPr b="0" lang="en-US" sz="4400" spc="-1" strike="noStrike">
                <a:solidFill>
                  <a:srgbClr val="1f2328"/>
                </a:solidFill>
                <a:latin typeface="Calibri Light"/>
                <a:ea typeface="DejaVu Sans"/>
              </a:rPr>
              <a:t>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Python tools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pandas: in-memory tabular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dask: on-disk tabular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SQL databases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Optimized for retrieving rows (tree data structure for index)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Transactional: groups of operations are either all executed, or none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Columnar DBs, Spark, Hadoop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Optimized for operations on columns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Ideal for data science tasks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Operations can be automatically distributed over multiple machines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dt" idx="1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6EC303E-4238-4284-A334-F75D95AD051E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7"/>
          <p:cNvSpPr/>
          <p:nvPr/>
        </p:nvSpPr>
        <p:spPr>
          <a:xfrm>
            <a:off x="2691360" y="1730520"/>
            <a:ext cx="8889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1"/>
          <p:cNvSpPr/>
          <p:nvPr/>
        </p:nvSpPr>
        <p:spPr>
          <a:xfrm>
            <a:off x="2722320" y="2646000"/>
            <a:ext cx="8889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2"/>
          <p:cNvSpPr/>
          <p:nvPr/>
        </p:nvSpPr>
        <p:spPr>
          <a:xfrm>
            <a:off x="853200" y="1699920"/>
            <a:ext cx="1416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Pandas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8"/>
          <p:cNvSpPr/>
          <p:nvPr/>
        </p:nvSpPr>
        <p:spPr>
          <a:xfrm>
            <a:off x="853200" y="2618280"/>
            <a:ext cx="1861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dask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9"/>
          <p:cNvSpPr/>
          <p:nvPr/>
        </p:nvSpPr>
        <p:spPr>
          <a:xfrm>
            <a:off x="2722320" y="3565440"/>
            <a:ext cx="8889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.avg(‘response_time’)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10"/>
          <p:cNvSpPr/>
          <p:nvPr/>
        </p:nvSpPr>
        <p:spPr>
          <a:xfrm>
            <a:off x="853200" y="3537000"/>
            <a:ext cx="1861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PySpark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8"/>
          <p:cNvSpPr/>
          <p:nvPr/>
        </p:nvSpPr>
        <p:spPr>
          <a:xfrm>
            <a:off x="853200" y="4455360"/>
            <a:ext cx="1861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SQL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111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2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 ideas and operations are universal for all tabular data tools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TextBox 24"/>
          <p:cNvSpPr/>
          <p:nvPr/>
        </p:nvSpPr>
        <p:spPr>
          <a:xfrm>
            <a:off x="2722320" y="4515840"/>
            <a:ext cx="88898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SELECT condition_id,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       </a:t>
            </a:r>
            <a:r>
              <a:rPr b="0" lang="en-US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AVG(response_time) AS avg_response_time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FROM df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GROUP BY condition_id</a:t>
            </a: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;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DEC8F9-F96D-4635-AFEA-92945121F6A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Basic Pandas reference slide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838080" y="1268640"/>
            <a:ext cx="10514160" cy="5255280"/>
          </a:xfrm>
          <a:prstGeom prst="rect">
            <a:avLst/>
          </a:prstGeom>
          <a:noFill/>
          <a:ln w="0">
            <a:noFill/>
          </a:ln>
        </p:spPr>
        <p:txBody>
          <a:bodyPr numCol="2" spcCol="360000" lIns="90000" rIns="90000" tIns="45000" bIns="45000" anchor="t">
            <a:normAutofit fontScale="61000"/>
          </a:bodyPr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Looking at 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df.head()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the first 5 rows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df.tail()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the last 5 rows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df.sample(n)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n random rows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Attributes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df.shape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size of the table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df.dtypes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print dtype of cols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df.columns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column index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df.index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rows index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Indexing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get column ‘age’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df[[‘age’, ‘name’]]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multiple columns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df.iloc[0, 2]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one element, by position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Exploration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df[‘name’].unique()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unique values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df[‘age’].describe()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summary stats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df[‘age’].value_counts(dropna=False)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number of rows per unique value in column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8240" indent="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Adding a column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df[‘new’] = df[‘age’] * 3.1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add new column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Filtering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df[df['age'] &gt; 30]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select rows where condition is True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Operations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df.min(), .max(), .mean(), .std(), etc.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</a:t>
            </a:r>
            <a:br>
              <a:rPr sz="1900"/>
            </a:b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column-wise operations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df.count()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count of non-NaN elements in columns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df.sort_values(‘name’)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reorder rows by values of column ‘name’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df.sort_index()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reorder rows by the index values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marL="221760" indent="-22176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String operations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df[‘name’].str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accessor for operations on the strings in a col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df['name'].str[2:4]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slice the strings in a col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  <a:p>
            <a:pPr lvl="1" marL="668160" indent="-22176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df['name'].str.count(‘a’)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count the letter ‘a’ in the string in a col</a:t>
            </a:r>
            <a:endParaRPr b="0" lang="en-FR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332240" y="2189880"/>
            <a:ext cx="3382920" cy="248904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REMOVE?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Maybe give as cheatsheet 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2925A2-9E63-41CD-8A5F-59CA0BF502B8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 example from the lab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4160" cy="1870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 question: Does neuronal activity change over time? Does this depend on the overall activity level of the neuronal network?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 mainstream theory suggests that neural activity is self-regulating to maintain a baseline level (“homeostatic plasticity”)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Content Placeholder 2"/>
          <p:cNvSpPr/>
          <p:nvPr/>
        </p:nvSpPr>
        <p:spPr>
          <a:xfrm>
            <a:off x="838080" y="2781000"/>
            <a:ext cx="4392360" cy="30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6000"/>
          </a:bodyPr>
          <a:p>
            <a:pPr marL="218160" indent="-21816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Exp design: patch clamp recordings from the same cells (or different cells/ same slices) before and after prolonged incubation in high potassium (K)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18160" indent="-21816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Potassium stimulates and TTX silences the entire network, allowing us to control the overall activity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Picture 9" descr=""/>
          <p:cNvPicPr/>
          <p:nvPr/>
        </p:nvPicPr>
        <p:blipFill>
          <a:blip r:embed="rId1"/>
          <a:stretch/>
        </p:blipFill>
        <p:spPr>
          <a:xfrm>
            <a:off x="5879880" y="2749320"/>
            <a:ext cx="5183280" cy="3088800"/>
          </a:xfrm>
          <a:prstGeom prst="rect">
            <a:avLst/>
          </a:prstGeom>
          <a:ln w="0">
            <a:noFill/>
          </a:ln>
        </p:spPr>
      </p:pic>
      <p:sp>
        <p:nvSpPr>
          <p:cNvPr id="175" name="Rectangle 6"/>
          <p:cNvSpPr/>
          <p:nvPr/>
        </p:nvSpPr>
        <p:spPr>
          <a:xfrm>
            <a:off x="8136000" y="2210760"/>
            <a:ext cx="3382920" cy="138816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Use weather data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F10C6AD-F3D2-4966-A72A-C2778979DE8F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838080" y="2401200"/>
            <a:ext cx="10514160" cy="205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 OPERATIONS</a:t>
            </a:r>
            <a:endParaRPr b="0" lang="en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E7E1875-0D84-402E-9ECF-E55DD183DCBA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Common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operations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on tabular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8000"/>
          </a:bodyPr>
          <a:p>
            <a:pPr marL="216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has additional needs compared to arrays. Understanding how to vectorize these operations is critical for handling them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24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Combine information across tables (</a:t>
            </a: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join, anti-join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50880" indent="-2160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Join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50880" indent="-2160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Anti-join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: e.g. student compiles list of outliers, exclude them from t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h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 table of experiments to analyze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Summary tables (</a:t>
            </a: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split-apply-combine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50880" indent="-2160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 to vectorize complex computations over groups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50880" indent="-2160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E.g., compute the time distance between experiments by lab technician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24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24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24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FDF4199-1F9A-4228-AEA6-876963E778D3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16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Joins</a:t>
            </a:r>
            <a:endParaRPr b="0" lang="en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dt" idx="2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7A8475-2449-4745-8513-9F57EAF789BA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0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operations: combining informations from multiple tables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5" name="Picture 5" descr=""/>
          <p:cNvPicPr/>
          <p:nvPr/>
        </p:nvPicPr>
        <p:blipFill>
          <a:blip r:embed="rId1"/>
          <a:srcRect l="0" t="0" r="47418" b="0"/>
          <a:stretch/>
        </p:blipFill>
        <p:spPr>
          <a:xfrm>
            <a:off x="2209680" y="1277640"/>
            <a:ext cx="2946240" cy="227016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9" descr=""/>
          <p:cNvPicPr/>
          <p:nvPr/>
        </p:nvPicPr>
        <p:blipFill>
          <a:blip r:embed="rId2"/>
          <a:stretch/>
        </p:blipFill>
        <p:spPr>
          <a:xfrm>
            <a:off x="3407400" y="4047840"/>
            <a:ext cx="5375520" cy="2177640"/>
          </a:xfrm>
          <a:prstGeom prst="rect">
            <a:avLst/>
          </a:prstGeom>
          <a:ln w="0">
            <a:noFill/>
          </a:ln>
        </p:spPr>
      </p:pic>
      <p:sp>
        <p:nvSpPr>
          <p:cNvPr id="187" name="TextBox 11"/>
          <p:cNvSpPr/>
          <p:nvPr/>
        </p:nvSpPr>
        <p:spPr>
          <a:xfrm>
            <a:off x="5627880" y="1911240"/>
            <a:ext cx="9345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+</a:t>
            </a:r>
            <a:endParaRPr b="0" lang="en-GB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2135520" y="4635000"/>
            <a:ext cx="9345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=</a:t>
            </a:r>
            <a:endParaRPr b="0" lang="en-GB" sz="6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" name="Picture 7" descr=""/>
          <p:cNvPicPr/>
          <p:nvPr/>
        </p:nvPicPr>
        <p:blipFill>
          <a:blip r:embed="rId3"/>
          <a:stretch/>
        </p:blipFill>
        <p:spPr>
          <a:xfrm>
            <a:off x="7005240" y="1616760"/>
            <a:ext cx="3335040" cy="15915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B95A044-8992-4528-9E7F-3776D2DEAE2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Rectangle 7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193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194" name="TextBox 9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0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020_join_operations.ipynb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6EE276-187F-40FD-B5B4-9ECBC7E05FD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Main points: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Join operations can be used to combine two tables using the values of one or m</a:t>
            </a: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ore columns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Different types of join: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left/right: keep all the column values that are present in the first/second table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inner: keep the column values common to both tables (intersection)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outer: keep all the column values of both tables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Anti-joins can be used to exclude the values that are present in one, but not the other table (filtering based on arbitrary criteria)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Rectangle 4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00" name="Graphic 1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201" name="TextBox 3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4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020_join_operations.ipynb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324C83-0DC9-4AD9-981B-EF9E757BB7D0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Example of tabular data: “Predimed” study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4160" cy="854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 question: Does Mediterranean diet help prevent cardiovascular 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diseases, such as heart attacks and strokes?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Content Placeholder 4"/>
          <p:cNvSpPr/>
          <p:nvPr/>
        </p:nvSpPr>
        <p:spPr>
          <a:xfrm>
            <a:off x="838080" y="2160000"/>
            <a:ext cx="6180840" cy="30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Longitudinal study following &gt; 7000 Spanish participants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Three different diets: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Mediterranean diet + extra virgin olive oil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Mediterranean diet + nuts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Control diet (low fat food items)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Picture 213" descr=""/>
          <p:cNvPicPr/>
          <p:nvPr/>
        </p:nvPicPr>
        <p:blipFill>
          <a:blip r:embed="rId1"/>
          <a:stretch/>
        </p:blipFill>
        <p:spPr>
          <a:xfrm>
            <a:off x="7307280" y="1807200"/>
            <a:ext cx="4919760" cy="3411720"/>
          </a:xfrm>
          <a:prstGeom prst="rect">
            <a:avLst/>
          </a:prstGeom>
          <a:ln w="0">
            <a:noFill/>
          </a:ln>
        </p:spPr>
      </p:pic>
      <p:sp>
        <p:nvSpPr>
          <p:cNvPr id="208" name="Content Placeholder 6"/>
          <p:cNvSpPr/>
          <p:nvPr/>
        </p:nvSpPr>
        <p:spPr>
          <a:xfrm>
            <a:off x="4992120" y="5852160"/>
            <a:ext cx="7198920" cy="4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 u="sng">
                <a:solidFill>
                  <a:srgbClr val="0563c1"/>
                </a:solidFill>
                <a:uFillTx/>
                <a:latin typeface="Calibri"/>
                <a:ea typeface="DejaVu Sans"/>
                <a:hlinkClick r:id="rId2"/>
              </a:rPr>
              <a:t>Estruch et al. (2018). New England Journal of Medicine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DE8328-0C78-4E8C-95BB-C59CDB2DF591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Example of tabular data: “Predimed” study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Content Placeholder 10"/>
          <p:cNvSpPr/>
          <p:nvPr/>
        </p:nvSpPr>
        <p:spPr>
          <a:xfrm>
            <a:off x="4992120" y="5852160"/>
            <a:ext cx="7198920" cy="44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0" lang="en-US" sz="2400" spc="-1" strike="noStrike" u="sng">
                <a:solidFill>
                  <a:srgbClr val="0563c1"/>
                </a:solidFill>
                <a:uFillTx/>
                <a:latin typeface="Calibri"/>
                <a:ea typeface="DejaVu Sans"/>
                <a:hlinkClick r:id="rId1"/>
              </a:rPr>
              <a:t>Estruch et al. (2018). New England Journal of Medicine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218" descr=""/>
          <p:cNvPicPr/>
          <p:nvPr/>
        </p:nvPicPr>
        <p:blipFill>
          <a:blip r:embed="rId2"/>
          <a:stretch/>
        </p:blipFill>
        <p:spPr>
          <a:xfrm>
            <a:off x="720000" y="1409760"/>
            <a:ext cx="10695600" cy="2189520"/>
          </a:xfrm>
          <a:prstGeom prst="rect">
            <a:avLst/>
          </a:prstGeom>
          <a:ln w="0">
            <a:noFill/>
          </a:ln>
        </p:spPr>
      </p:pic>
      <p:pic>
        <p:nvPicPr>
          <p:cNvPr id="213" name="Picture 219" descr=""/>
          <p:cNvPicPr/>
          <p:nvPr/>
        </p:nvPicPr>
        <p:blipFill>
          <a:blip r:embed="rId3"/>
          <a:stretch/>
        </p:blipFill>
        <p:spPr>
          <a:xfrm>
            <a:off x="1080000" y="3881880"/>
            <a:ext cx="3523320" cy="22374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F6EAA8E-1136-4950-A187-6480195A6C09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7"/>
          <p:cNvSpPr/>
          <p:nvPr/>
        </p:nvSpPr>
        <p:spPr>
          <a:xfrm>
            <a:off x="7428240" y="205920"/>
            <a:ext cx="4537440" cy="9889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838080" y="1496160"/>
            <a:ext cx="10514160" cy="467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Use joins to add the experimental information to the 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(who followed which diet)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Use anti-joins to correct for attrition 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(people who self-reported not following the diet)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for Issue #2 on 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dt" idx="2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TextBox 8"/>
          <p:cNvSpPr/>
          <p:nvPr/>
        </p:nvSpPr>
        <p:spPr>
          <a:xfrm>
            <a:off x="7930800" y="22464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3000" cy="5540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12"/>
          <p:cNvSpPr/>
          <p:nvPr/>
        </p:nvSpPr>
        <p:spPr>
          <a:xfrm>
            <a:off x="8301960" y="542880"/>
            <a:ext cx="34812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exercises/tabular_join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963760" cy="95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E460084-802D-4771-8125-9E2BD23C1B24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16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</a:t>
            </a:r>
            <a:endParaRPr b="0" lang="en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DABD845-BFD6-482D-9BB7-BFE59738BA63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basic structure of most numerical analyses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5" name="Picture 11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5400" cy="4557600"/>
          </a:xfrm>
          <a:prstGeom prst="rect">
            <a:avLst/>
          </a:prstGeom>
          <a:ln w="0">
            <a:noFill/>
          </a:ln>
        </p:spPr>
      </p:pic>
      <p:pic>
        <p:nvPicPr>
          <p:cNvPr id="226" name="Picture 12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5640" cy="3628080"/>
          </a:xfrm>
          <a:prstGeom prst="rect">
            <a:avLst/>
          </a:prstGeom>
          <a:ln w="0">
            <a:noFill/>
          </a:ln>
        </p:spPr>
      </p:pic>
      <p:pic>
        <p:nvPicPr>
          <p:cNvPr id="227" name="Picture 13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10800" cy="1954080"/>
          </a:xfrm>
          <a:prstGeom prst="rect">
            <a:avLst/>
          </a:prstGeom>
          <a:ln w="0">
            <a:noFill/>
          </a:ln>
        </p:spPr>
      </p:pic>
      <p:pic>
        <p:nvPicPr>
          <p:cNvPr id="228" name="Picture 14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2920" cy="2587680"/>
          </a:xfrm>
          <a:prstGeom prst="rect">
            <a:avLst/>
          </a:prstGeom>
          <a:ln w="0">
            <a:noFill/>
          </a:ln>
        </p:spPr>
      </p:pic>
      <p:sp>
        <p:nvSpPr>
          <p:cNvPr id="229" name="TextBox 15"/>
          <p:cNvSpPr/>
          <p:nvPr/>
        </p:nvSpPr>
        <p:spPr>
          <a:xfrm>
            <a:off x="2617920" y="1321920"/>
            <a:ext cx="18709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6"/>
          <p:cNvSpPr/>
          <p:nvPr/>
        </p:nvSpPr>
        <p:spPr>
          <a:xfrm>
            <a:off x="6311880" y="1321920"/>
            <a:ext cx="18709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7"/>
          <p:cNvSpPr/>
          <p:nvPr/>
        </p:nvSpPr>
        <p:spPr>
          <a:xfrm>
            <a:off x="9783360" y="1321920"/>
            <a:ext cx="18709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2" name="Straight Arrow Connector 19"/>
          <p:cNvCxnSpPr/>
          <p:nvPr/>
        </p:nvCxnSpPr>
        <p:spPr>
          <a:xfrm flipV="1">
            <a:off x="3287520" y="2783520"/>
            <a:ext cx="649440" cy="7437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3" name="Straight Arrow Connector 20"/>
          <p:cNvCxnSpPr/>
          <p:nvPr/>
        </p:nvCxnSpPr>
        <p:spPr>
          <a:xfrm flipV="1">
            <a:off x="3281400" y="3784320"/>
            <a:ext cx="649440" cy="1137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4" name="Straight Arrow Connector 21"/>
          <p:cNvCxnSpPr/>
          <p:nvPr/>
        </p:nvCxnSpPr>
        <p:spPr>
          <a:xfrm>
            <a:off x="3281760" y="4326480"/>
            <a:ext cx="638640" cy="3974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5" name="Straight Arrow Connector 22"/>
          <p:cNvCxnSpPr/>
          <p:nvPr/>
        </p:nvCxnSpPr>
        <p:spPr>
          <a:xfrm>
            <a:off x="3291840" y="5254200"/>
            <a:ext cx="639000" cy="11883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6" name="Straight Arrow Connector 25"/>
          <p:cNvCxnSpPr/>
          <p:nvPr/>
        </p:nvCxnSpPr>
        <p:spPr>
          <a:xfrm>
            <a:off x="3281400" y="4874760"/>
            <a:ext cx="649440" cy="7552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237" name="TextBox 29"/>
          <p:cNvSpPr/>
          <p:nvPr/>
        </p:nvSpPr>
        <p:spPr>
          <a:xfrm>
            <a:off x="3228840" y="273456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30"/>
          <p:cNvSpPr/>
          <p:nvPr/>
        </p:nvSpPr>
        <p:spPr>
          <a:xfrm>
            <a:off x="3223800" y="3516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31"/>
          <p:cNvSpPr/>
          <p:nvPr/>
        </p:nvSpPr>
        <p:spPr>
          <a:xfrm>
            <a:off x="3223800" y="4020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32"/>
          <p:cNvSpPr/>
          <p:nvPr/>
        </p:nvSpPr>
        <p:spPr>
          <a:xfrm>
            <a:off x="3233520" y="475452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33"/>
          <p:cNvSpPr/>
          <p:nvPr/>
        </p:nvSpPr>
        <p:spPr>
          <a:xfrm>
            <a:off x="3233520" y="5244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ight Arrow 40"/>
          <p:cNvSpPr/>
          <p:nvPr/>
        </p:nvSpPr>
        <p:spPr>
          <a:xfrm>
            <a:off x="6996240" y="4089240"/>
            <a:ext cx="502560" cy="85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TextBox 41"/>
          <p:cNvSpPr/>
          <p:nvPr/>
        </p:nvSpPr>
        <p:spPr>
          <a:xfrm>
            <a:off x="6837120" y="3702960"/>
            <a:ext cx="78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mean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4" name="Straight Arrow Connector 42"/>
          <p:cNvCxnSpPr/>
          <p:nvPr/>
        </p:nvCxnSpPr>
        <p:spPr>
          <a:xfrm>
            <a:off x="9076320" y="2923920"/>
            <a:ext cx="708480" cy="5940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5" name="Straight Arrow Connector 44"/>
          <p:cNvCxnSpPr/>
          <p:nvPr/>
        </p:nvCxnSpPr>
        <p:spPr>
          <a:xfrm>
            <a:off x="9076320" y="3645000"/>
            <a:ext cx="708480" cy="1969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6" name="Straight Arrow Connector 46"/>
          <p:cNvCxnSpPr/>
          <p:nvPr/>
        </p:nvCxnSpPr>
        <p:spPr>
          <a:xfrm flipV="1">
            <a:off x="9065520" y="4205160"/>
            <a:ext cx="719280" cy="2181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7" name="Straight Arrow Connector 48"/>
          <p:cNvCxnSpPr/>
          <p:nvPr/>
        </p:nvCxnSpPr>
        <p:spPr>
          <a:xfrm flipV="1">
            <a:off x="9076320" y="4421880"/>
            <a:ext cx="708480" cy="7088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8" name="Straight Arrow Connector 50"/>
          <p:cNvCxnSpPr/>
          <p:nvPr/>
        </p:nvCxnSpPr>
        <p:spPr>
          <a:xfrm flipV="1">
            <a:off x="9076320" y="4775400"/>
            <a:ext cx="708480" cy="1164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9919FC0-549A-478A-A970-99D829AE9859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dt" idx="3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Rectangle 7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52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253" name="TextBox 9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10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030_split-apply-combine.ipynb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FDE4D64-E1A2-459F-A690-7A35D613D6D4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Main points: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split-apply-combine operations, using a “group-by” command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Rectangle 7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59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260" name="TextBox 9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10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030_split-apply-combine.ipynb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9933E2-DFDE-45F4-A1C5-F5D6C8F0B7D2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3" name="Picture 11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5400" cy="4557600"/>
          </a:xfrm>
          <a:prstGeom prst="rect">
            <a:avLst/>
          </a:prstGeom>
          <a:ln w="0">
            <a:noFill/>
          </a:ln>
        </p:spPr>
      </p:pic>
      <p:pic>
        <p:nvPicPr>
          <p:cNvPr id="264" name="Picture 12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5640" cy="3628080"/>
          </a:xfrm>
          <a:prstGeom prst="rect">
            <a:avLst/>
          </a:prstGeom>
          <a:ln w="0">
            <a:noFill/>
          </a:ln>
        </p:spPr>
      </p:pic>
      <p:pic>
        <p:nvPicPr>
          <p:cNvPr id="265" name="Picture 13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10800" cy="1954080"/>
          </a:xfrm>
          <a:prstGeom prst="rect">
            <a:avLst/>
          </a:prstGeom>
          <a:ln w="0">
            <a:noFill/>
          </a:ln>
        </p:spPr>
      </p:pic>
      <p:pic>
        <p:nvPicPr>
          <p:cNvPr id="266" name="Picture 14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2920" cy="2587680"/>
          </a:xfrm>
          <a:prstGeom prst="rect">
            <a:avLst/>
          </a:prstGeom>
          <a:ln w="0">
            <a:noFill/>
          </a:ln>
        </p:spPr>
      </p:pic>
      <p:sp>
        <p:nvSpPr>
          <p:cNvPr id="267" name="TextBox 15"/>
          <p:cNvSpPr/>
          <p:nvPr/>
        </p:nvSpPr>
        <p:spPr>
          <a:xfrm>
            <a:off x="2617920" y="1321920"/>
            <a:ext cx="18709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16"/>
          <p:cNvSpPr/>
          <p:nvPr/>
        </p:nvSpPr>
        <p:spPr>
          <a:xfrm>
            <a:off x="6311880" y="1321920"/>
            <a:ext cx="18709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17"/>
          <p:cNvSpPr/>
          <p:nvPr/>
        </p:nvSpPr>
        <p:spPr>
          <a:xfrm>
            <a:off x="9783360" y="1321920"/>
            <a:ext cx="18709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0" name="Straight Arrow Connector 19"/>
          <p:cNvCxnSpPr/>
          <p:nvPr/>
        </p:nvCxnSpPr>
        <p:spPr>
          <a:xfrm flipV="1">
            <a:off x="3287520" y="2783520"/>
            <a:ext cx="649440" cy="7437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1" name="Straight Arrow Connector 20"/>
          <p:cNvCxnSpPr/>
          <p:nvPr/>
        </p:nvCxnSpPr>
        <p:spPr>
          <a:xfrm flipV="1">
            <a:off x="3281400" y="3784320"/>
            <a:ext cx="649440" cy="1137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2" name="Straight Arrow Connector 21"/>
          <p:cNvCxnSpPr/>
          <p:nvPr/>
        </p:nvCxnSpPr>
        <p:spPr>
          <a:xfrm>
            <a:off x="3281760" y="4326480"/>
            <a:ext cx="638640" cy="3974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3" name="Straight Arrow Connector 22"/>
          <p:cNvCxnSpPr/>
          <p:nvPr/>
        </p:nvCxnSpPr>
        <p:spPr>
          <a:xfrm>
            <a:off x="3291840" y="5254200"/>
            <a:ext cx="639000" cy="11883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4" name="Straight Arrow Connector 25"/>
          <p:cNvCxnSpPr/>
          <p:nvPr/>
        </p:nvCxnSpPr>
        <p:spPr>
          <a:xfrm>
            <a:off x="3281400" y="4874760"/>
            <a:ext cx="649440" cy="75528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275" name="TextBox 29"/>
          <p:cNvSpPr/>
          <p:nvPr/>
        </p:nvSpPr>
        <p:spPr>
          <a:xfrm>
            <a:off x="3228840" y="273456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3223800" y="3516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3223800" y="4020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32"/>
          <p:cNvSpPr/>
          <p:nvPr/>
        </p:nvSpPr>
        <p:spPr>
          <a:xfrm>
            <a:off x="3233520" y="475452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3233520" y="5244480"/>
            <a:ext cx="646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ight Arrow 40"/>
          <p:cNvSpPr/>
          <p:nvPr/>
        </p:nvSpPr>
        <p:spPr>
          <a:xfrm>
            <a:off x="6996240" y="4089240"/>
            <a:ext cx="502560" cy="85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TextBox 41"/>
          <p:cNvSpPr/>
          <p:nvPr/>
        </p:nvSpPr>
        <p:spPr>
          <a:xfrm>
            <a:off x="6837120" y="3702960"/>
            <a:ext cx="781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mean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2" name="Straight Arrow Connector 42"/>
          <p:cNvCxnSpPr/>
          <p:nvPr/>
        </p:nvCxnSpPr>
        <p:spPr>
          <a:xfrm>
            <a:off x="9076320" y="2923920"/>
            <a:ext cx="708480" cy="5940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3" name="Straight Arrow Connector 44"/>
          <p:cNvCxnSpPr/>
          <p:nvPr/>
        </p:nvCxnSpPr>
        <p:spPr>
          <a:xfrm>
            <a:off x="9076320" y="3645000"/>
            <a:ext cx="708480" cy="1969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4" name="Straight Arrow Connector 46"/>
          <p:cNvCxnSpPr/>
          <p:nvPr/>
        </p:nvCxnSpPr>
        <p:spPr>
          <a:xfrm flipV="1">
            <a:off x="9065520" y="4205160"/>
            <a:ext cx="719280" cy="2181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5" name="Straight Arrow Connector 48"/>
          <p:cNvCxnSpPr/>
          <p:nvPr/>
        </p:nvCxnSpPr>
        <p:spPr>
          <a:xfrm flipV="1">
            <a:off x="9076320" y="4421880"/>
            <a:ext cx="708480" cy="7088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6" name="Straight Arrow Connector 50"/>
          <p:cNvCxnSpPr/>
          <p:nvPr/>
        </p:nvCxnSpPr>
        <p:spPr>
          <a:xfrm flipV="1">
            <a:off x="9076320" y="4775400"/>
            <a:ext cx="708480" cy="11646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287" name="TextBox 7"/>
          <p:cNvSpPr/>
          <p:nvPr/>
        </p:nvSpPr>
        <p:spPr>
          <a:xfrm>
            <a:off x="515520" y="293760"/>
            <a:ext cx="111596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8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9054737-8DB7-45C7-87F4-AE6DF76C81A4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dt" idx="3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9" name="Picture 14" descr=""/>
          <p:cNvPicPr/>
          <p:nvPr/>
        </p:nvPicPr>
        <p:blipFill>
          <a:blip r:embed="rId1"/>
          <a:stretch/>
        </p:blipFill>
        <p:spPr>
          <a:xfrm>
            <a:off x="1775520" y="2645640"/>
            <a:ext cx="3398040" cy="3302280"/>
          </a:xfrm>
          <a:prstGeom prst="rect">
            <a:avLst/>
          </a:prstGeom>
          <a:ln w="0">
            <a:noFill/>
          </a:ln>
        </p:spPr>
      </p:pic>
      <p:sp>
        <p:nvSpPr>
          <p:cNvPr id="290" name="TextBox 15"/>
          <p:cNvSpPr/>
          <p:nvPr/>
        </p:nvSpPr>
        <p:spPr>
          <a:xfrm>
            <a:off x="9984600" y="476640"/>
            <a:ext cx="187092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16"/>
          <p:cNvSpPr/>
          <p:nvPr/>
        </p:nvSpPr>
        <p:spPr>
          <a:xfrm>
            <a:off x="9984600" y="1214280"/>
            <a:ext cx="187092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17"/>
          <p:cNvSpPr/>
          <p:nvPr/>
        </p:nvSpPr>
        <p:spPr>
          <a:xfrm>
            <a:off x="9987480" y="2017440"/>
            <a:ext cx="187092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1"/>
          <p:cNvSpPr/>
          <p:nvPr/>
        </p:nvSpPr>
        <p:spPr>
          <a:xfrm>
            <a:off x="515520" y="325800"/>
            <a:ext cx="11159640" cy="179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2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index='condition_id', columns='response'</a:t>
            </a: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, </a:t>
            </a: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28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values='response_time', aggfunc='mean',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4" name="Picture 2" descr=""/>
          <p:cNvPicPr/>
          <p:nvPr/>
        </p:nvPicPr>
        <p:blipFill>
          <a:blip r:embed="rId2"/>
          <a:stretch/>
        </p:blipFill>
        <p:spPr>
          <a:xfrm>
            <a:off x="6966000" y="3065400"/>
            <a:ext cx="2373480" cy="2462400"/>
          </a:xfrm>
          <a:prstGeom prst="rect">
            <a:avLst/>
          </a:prstGeom>
          <a:ln w="0">
            <a:noFill/>
          </a:ln>
        </p:spPr>
      </p:pic>
      <p:sp>
        <p:nvSpPr>
          <p:cNvPr id="295" name="Right Arrow 6"/>
          <p:cNvSpPr/>
          <p:nvPr/>
        </p:nvSpPr>
        <p:spPr>
          <a:xfrm>
            <a:off x="5818320" y="3867120"/>
            <a:ext cx="502560" cy="85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04E762-D955-480D-B99A-5B67196F5A1E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"/>
          <p:cNvSpPr/>
          <p:nvPr/>
        </p:nvSpPr>
        <p:spPr>
          <a:xfrm>
            <a:off x="7428240" y="205920"/>
            <a:ext cx="4537440" cy="9889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297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summary statistics to answer the question: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Did the Mediterranean diet help prevent cardiovascular events?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for Issue #3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</a:t>
            </a: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TextBox 8"/>
          <p:cNvSpPr/>
          <p:nvPr/>
        </p:nvSpPr>
        <p:spPr>
          <a:xfrm>
            <a:off x="7930800" y="22464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0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3000" cy="554040"/>
          </a:xfrm>
          <a:prstGeom prst="rect">
            <a:avLst/>
          </a:prstGeom>
          <a:ln w="0">
            <a:noFill/>
          </a:ln>
        </p:spPr>
      </p:pic>
      <p:sp>
        <p:nvSpPr>
          <p:cNvPr id="301" name="TextBox 12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</a:t>
            </a:r>
            <a:br>
              <a:rPr sz="1400"/>
            </a:b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tabular_split_apply_combine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7240" cy="95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C87473B-4E9B-48A0-99B9-8A5A7CD1FEC0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Rectangle 7"/>
          <p:cNvSpPr/>
          <p:nvPr/>
        </p:nvSpPr>
        <p:spPr>
          <a:xfrm>
            <a:off x="7428240" y="205920"/>
            <a:ext cx="4537440" cy="9889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304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some summary tables for the WHO tuberculosis 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TextBox 8"/>
          <p:cNvSpPr/>
          <p:nvPr/>
        </p:nvSpPr>
        <p:spPr>
          <a:xfrm>
            <a:off x="7930800" y="22464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7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3000" cy="554040"/>
          </a:xfrm>
          <a:prstGeom prst="rect">
            <a:avLst/>
          </a:prstGeom>
          <a:ln w="0">
            <a:noFill/>
          </a:ln>
        </p:spPr>
      </p:pic>
      <p:sp>
        <p:nvSpPr>
          <p:cNvPr id="308" name="TextBox 12"/>
          <p:cNvSpPr/>
          <p:nvPr/>
        </p:nvSpPr>
        <p:spPr>
          <a:xfrm>
            <a:off x="8301960" y="542880"/>
            <a:ext cx="34812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exercises/tuberculosis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891760" cy="951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0" name="Picture 6" descr=""/>
          <p:cNvPicPr/>
          <p:nvPr/>
        </p:nvPicPr>
        <p:blipFill>
          <a:blip r:embed="rId2"/>
          <a:stretch/>
        </p:blipFill>
        <p:spPr>
          <a:xfrm>
            <a:off x="1559520" y="2781000"/>
            <a:ext cx="8915040" cy="2878920"/>
          </a:xfrm>
          <a:prstGeom prst="rect">
            <a:avLst/>
          </a:prstGeom>
          <a:ln w="0">
            <a:noFill/>
          </a:ln>
        </p:spPr>
      </p:pic>
      <p:sp>
        <p:nvSpPr>
          <p:cNvPr id="311" name="TextBox 9"/>
          <p:cNvSpPr/>
          <p:nvPr/>
        </p:nvSpPr>
        <p:spPr>
          <a:xfrm>
            <a:off x="4223880" y="2137320"/>
            <a:ext cx="79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Males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11"/>
          <p:cNvSpPr/>
          <p:nvPr/>
        </p:nvSpPr>
        <p:spPr>
          <a:xfrm>
            <a:off x="5026320" y="2137320"/>
            <a:ext cx="1515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15-24 years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3" name="Straight Arrow Connector 13"/>
          <p:cNvCxnSpPr>
            <a:stCxn id="311" idx="2"/>
          </p:cNvCxnSpPr>
          <p:nvPr/>
        </p:nvCxnSpPr>
        <p:spPr>
          <a:xfrm>
            <a:off x="4619160" y="2501280"/>
            <a:ext cx="253800" cy="3528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14" name="Straight Arrow Connector 14"/>
          <p:cNvCxnSpPr/>
          <p:nvPr/>
        </p:nvCxnSpPr>
        <p:spPr>
          <a:xfrm flipH="1">
            <a:off x="5159880" y="2423160"/>
            <a:ext cx="240480" cy="43092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25362D-4C83-4AFB-A43C-218F2133BCA7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16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Tidy Data</a:t>
            </a:r>
            <a:endParaRPr b="0" lang="en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dt" idx="3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9DC45C-F02F-483C-B2DF-55A37CD1317F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Which one is best for data analysis?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9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7520" cy="1509840"/>
          </a:xfrm>
          <a:prstGeom prst="rect">
            <a:avLst/>
          </a:prstGeom>
          <a:ln w="0">
            <a:noFill/>
          </a:ln>
        </p:spPr>
      </p:pic>
      <p:pic>
        <p:nvPicPr>
          <p:cNvPr id="320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3440" cy="1256040"/>
          </a:xfrm>
          <a:prstGeom prst="rect">
            <a:avLst/>
          </a:prstGeom>
          <a:ln w="0">
            <a:noFill/>
          </a:ln>
        </p:spPr>
      </p:pic>
      <p:pic>
        <p:nvPicPr>
          <p:cNvPr id="321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9600" cy="22719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28C5F1-692B-4531-A011-F2378764F887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Which one is best for data analysis?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4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7520" cy="1509840"/>
          </a:xfrm>
          <a:prstGeom prst="rect">
            <a:avLst/>
          </a:prstGeom>
          <a:ln w="0">
            <a:noFill/>
          </a:ln>
        </p:spPr>
      </p:pic>
      <p:pic>
        <p:nvPicPr>
          <p:cNvPr id="325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3440" cy="1256040"/>
          </a:xfrm>
          <a:prstGeom prst="rect">
            <a:avLst/>
          </a:prstGeom>
          <a:ln w="0">
            <a:noFill/>
          </a:ln>
        </p:spPr>
      </p:pic>
      <p:pic>
        <p:nvPicPr>
          <p:cNvPr id="326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9600" cy="2271960"/>
          </a:xfrm>
          <a:prstGeom prst="rect">
            <a:avLst/>
          </a:prstGeom>
          <a:ln w="0">
            <a:noFill/>
          </a:ln>
        </p:spPr>
      </p:pic>
      <p:sp>
        <p:nvSpPr>
          <p:cNvPr id="327" name="TextBox 2"/>
          <p:cNvSpPr/>
          <p:nvPr/>
        </p:nvSpPr>
        <p:spPr>
          <a:xfrm>
            <a:off x="3048120" y="1772640"/>
            <a:ext cx="5710680" cy="2283480"/>
          </a:xfrm>
          <a:custGeom>
            <a:avLst/>
            <a:gdLst>
              <a:gd name="textAreaLeft" fmla="*/ 0 w 5710680"/>
              <a:gd name="textAreaRight" fmla="*/ 5712120 w 5710680"/>
              <a:gd name="textAreaTop" fmla="*/ 0 h 2283480"/>
              <a:gd name="textAreaBottom" fmla="*/ 2284920 h 2283480"/>
            </a:gdLst>
            <a:ahLst/>
            <a:rect l="textAreaLeft" t="textAreaTop" r="textAreaRight" b="textAreaBottom"/>
            <a:pathLst>
              <a:path fill="none" w="5712296" h="2308324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stroke="0" w="5712296" h="2308324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What do we want?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We want data to be in a natural format, such that data analysis is easy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32097E-F708-42F3-AF02-DE0A576AFD80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Tidy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330" name="Table 8"/>
          <p:cNvGraphicFramePr/>
          <p:nvPr/>
        </p:nvGraphicFramePr>
        <p:xfrm>
          <a:off x="2905200" y="2988000"/>
          <a:ext cx="6119640" cy="1664280"/>
        </p:xfrm>
        <a:graphic>
          <a:graphicData uri="http://schemas.openxmlformats.org/drawingml/2006/table">
            <a:tbl>
              <a:tblPr/>
              <a:tblGrid>
                <a:gridCol w="1224000"/>
                <a:gridCol w="1368000"/>
                <a:gridCol w="864000"/>
                <a:gridCol w="1152000"/>
                <a:gridCol w="15120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Subject ID 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Trial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31" name="TextBox 10"/>
          <p:cNvSpPr/>
          <p:nvPr/>
        </p:nvSpPr>
        <p:spPr>
          <a:xfrm>
            <a:off x="2764080" y="2329560"/>
            <a:ext cx="64015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pc="-1" strike="noStrike">
                <a:solidFill>
                  <a:schemeClr val="accent6"/>
                </a:solidFill>
                <a:latin typeface="Calibri"/>
                <a:ea typeface="DejaVu Sans"/>
              </a:rPr>
              <a:t>Variables (or features, attributes)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11"/>
          <p:cNvSpPr/>
          <p:nvPr/>
        </p:nvSpPr>
        <p:spPr>
          <a:xfrm rot="16200000">
            <a:off x="707760" y="3470400"/>
            <a:ext cx="237384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pc="-1" strike="noStrike">
                <a:solidFill>
                  <a:schemeClr val="accent5"/>
                </a:solidFill>
                <a:latin typeface="Calibri"/>
                <a:ea typeface="DejaVu Sans"/>
              </a:rPr>
              <a:t>Observations (or samples)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12"/>
          <p:cNvSpPr/>
          <p:nvPr/>
        </p:nvSpPr>
        <p:spPr>
          <a:xfrm>
            <a:off x="4223880" y="311400"/>
            <a:ext cx="6551280" cy="1917720"/>
          </a:xfrm>
          <a:custGeom>
            <a:avLst/>
            <a:gdLst>
              <a:gd name="textAreaLeft" fmla="*/ 0 w 6551280"/>
              <a:gd name="textAreaRight" fmla="*/ 6552720 w 6551280"/>
              <a:gd name="textAreaTop" fmla="*/ 0 h 1917720"/>
              <a:gd name="textAreaBottom" fmla="*/ 1919160 h 1917720"/>
            </a:gdLst>
            <a:ahLst/>
            <a:rect l="textAreaLeft" t="textAreaTop" r="textAreaRight" b="textAreaBottom"/>
            <a:pathLst>
              <a:path fill="none" w="6552728" h="1569660">
                <a:moveTo>
                  <a:pt x="0" y="0"/>
                </a:moveTo>
                <a:cubicBezTo>
                  <a:pt x="166419" y="-423"/>
                  <a:pt x="359212" y="-15014"/>
                  <a:pt x="524218" y="0"/>
                </a:cubicBezTo>
                <a:cubicBezTo>
                  <a:pt x="689224" y="15014"/>
                  <a:pt x="788676" y="-4207"/>
                  <a:pt x="1048436" y="0"/>
                </a:cubicBezTo>
                <a:cubicBezTo>
                  <a:pt x="1308196" y="4207"/>
                  <a:pt x="1291664" y="14801"/>
                  <a:pt x="1507127" y="0"/>
                </a:cubicBezTo>
                <a:cubicBezTo>
                  <a:pt x="1722590" y="-14801"/>
                  <a:pt x="1966041" y="7224"/>
                  <a:pt x="2293455" y="0"/>
                </a:cubicBezTo>
                <a:cubicBezTo>
                  <a:pt x="2620869" y="-7224"/>
                  <a:pt x="2527916" y="10517"/>
                  <a:pt x="2752146" y="0"/>
                </a:cubicBezTo>
                <a:cubicBezTo>
                  <a:pt x="2976376" y="-10517"/>
                  <a:pt x="3162926" y="28823"/>
                  <a:pt x="3472946" y="0"/>
                </a:cubicBezTo>
                <a:cubicBezTo>
                  <a:pt x="3782966" y="-28823"/>
                  <a:pt x="3740348" y="15487"/>
                  <a:pt x="3931637" y="0"/>
                </a:cubicBezTo>
                <a:cubicBezTo>
                  <a:pt x="4122926" y="-15487"/>
                  <a:pt x="4292237" y="-19151"/>
                  <a:pt x="4652437" y="0"/>
                </a:cubicBezTo>
                <a:cubicBezTo>
                  <a:pt x="5012637" y="19151"/>
                  <a:pt x="5176641" y="-9385"/>
                  <a:pt x="5307710" y="0"/>
                </a:cubicBezTo>
                <a:cubicBezTo>
                  <a:pt x="5438779" y="9385"/>
                  <a:pt x="5635367" y="24036"/>
                  <a:pt x="5831928" y="0"/>
                </a:cubicBezTo>
                <a:cubicBezTo>
                  <a:pt x="6028489" y="-24036"/>
                  <a:pt x="6315045" y="-1572"/>
                  <a:pt x="6552728" y="0"/>
                </a:cubicBezTo>
                <a:cubicBezTo>
                  <a:pt x="6578896" y="167135"/>
                  <a:pt x="6545030" y="433517"/>
                  <a:pt x="6552728" y="554613"/>
                </a:cubicBezTo>
                <a:cubicBezTo>
                  <a:pt x="6560426" y="675709"/>
                  <a:pt x="6558548" y="796698"/>
                  <a:pt x="6552728" y="1030743"/>
                </a:cubicBezTo>
                <a:cubicBezTo>
                  <a:pt x="6546909" y="1264788"/>
                  <a:pt x="6548253" y="1346613"/>
                  <a:pt x="6552728" y="1569660"/>
                </a:cubicBezTo>
                <a:cubicBezTo>
                  <a:pt x="6306048" y="1578089"/>
                  <a:pt x="6257480" y="1588739"/>
                  <a:pt x="6028510" y="1569660"/>
                </a:cubicBezTo>
                <a:cubicBezTo>
                  <a:pt x="5799540" y="1550581"/>
                  <a:pt x="5750000" y="1549130"/>
                  <a:pt x="5569819" y="1569660"/>
                </a:cubicBezTo>
                <a:cubicBezTo>
                  <a:pt x="5389638" y="1590190"/>
                  <a:pt x="5109329" y="1543701"/>
                  <a:pt x="4849019" y="1569660"/>
                </a:cubicBezTo>
                <a:cubicBezTo>
                  <a:pt x="4588709" y="1595619"/>
                  <a:pt x="4435227" y="1569163"/>
                  <a:pt x="4259273" y="1569660"/>
                </a:cubicBezTo>
                <a:cubicBezTo>
                  <a:pt x="4083319" y="1570157"/>
                  <a:pt x="3776601" y="1572099"/>
                  <a:pt x="3538473" y="1569660"/>
                </a:cubicBezTo>
                <a:cubicBezTo>
                  <a:pt x="3300345" y="1567221"/>
                  <a:pt x="3220535" y="1563996"/>
                  <a:pt x="3014255" y="1569660"/>
                </a:cubicBezTo>
                <a:cubicBezTo>
                  <a:pt x="2807975" y="1575324"/>
                  <a:pt x="2680474" y="1586876"/>
                  <a:pt x="2555564" y="1569660"/>
                </a:cubicBezTo>
                <a:cubicBezTo>
                  <a:pt x="2430654" y="1552444"/>
                  <a:pt x="1981924" y="1555011"/>
                  <a:pt x="1834764" y="1569660"/>
                </a:cubicBezTo>
                <a:cubicBezTo>
                  <a:pt x="1687604" y="1584309"/>
                  <a:pt x="1504110" y="1589358"/>
                  <a:pt x="1179491" y="1569660"/>
                </a:cubicBezTo>
                <a:cubicBezTo>
                  <a:pt x="854872" y="1549962"/>
                  <a:pt x="497714" y="1555029"/>
                  <a:pt x="0" y="1569660"/>
                </a:cubicBezTo>
                <a:cubicBezTo>
                  <a:pt x="-16176" y="1418876"/>
                  <a:pt x="23450" y="1211321"/>
                  <a:pt x="0" y="1046440"/>
                </a:cubicBezTo>
                <a:cubicBezTo>
                  <a:pt x="-23450" y="881559"/>
                  <a:pt x="-10584" y="681472"/>
                  <a:pt x="0" y="523220"/>
                </a:cubicBezTo>
                <a:cubicBezTo>
                  <a:pt x="10584" y="364968"/>
                  <a:pt x="8015" y="138700"/>
                  <a:pt x="0" y="0"/>
                </a:cubicBezTo>
                <a:close/>
              </a:path>
              <a:path stroke="0" w="6552728" h="1569660">
                <a:moveTo>
                  <a:pt x="0" y="0"/>
                </a:moveTo>
                <a:cubicBezTo>
                  <a:pt x="237273" y="21323"/>
                  <a:pt x="373062" y="16468"/>
                  <a:pt x="655273" y="0"/>
                </a:cubicBezTo>
                <a:cubicBezTo>
                  <a:pt x="937484" y="-16468"/>
                  <a:pt x="1225304" y="39289"/>
                  <a:pt x="1441600" y="0"/>
                </a:cubicBezTo>
                <a:cubicBezTo>
                  <a:pt x="1657896" y="-39289"/>
                  <a:pt x="1832535" y="-1542"/>
                  <a:pt x="2162400" y="0"/>
                </a:cubicBezTo>
                <a:cubicBezTo>
                  <a:pt x="2492265" y="1542"/>
                  <a:pt x="2728296" y="17429"/>
                  <a:pt x="2883200" y="0"/>
                </a:cubicBezTo>
                <a:cubicBezTo>
                  <a:pt x="3038104" y="-17429"/>
                  <a:pt x="3204829" y="7231"/>
                  <a:pt x="3472946" y="0"/>
                </a:cubicBezTo>
                <a:cubicBezTo>
                  <a:pt x="3741063" y="-7231"/>
                  <a:pt x="3807774" y="-16854"/>
                  <a:pt x="4062691" y="0"/>
                </a:cubicBezTo>
                <a:cubicBezTo>
                  <a:pt x="4317608" y="16854"/>
                  <a:pt x="4387418" y="-764"/>
                  <a:pt x="4521382" y="0"/>
                </a:cubicBezTo>
                <a:cubicBezTo>
                  <a:pt x="4655346" y="764"/>
                  <a:pt x="5016904" y="5362"/>
                  <a:pt x="5242182" y="0"/>
                </a:cubicBezTo>
                <a:cubicBezTo>
                  <a:pt x="5467460" y="-5362"/>
                  <a:pt x="5478829" y="3331"/>
                  <a:pt x="5700873" y="0"/>
                </a:cubicBezTo>
                <a:cubicBezTo>
                  <a:pt x="5922917" y="-3331"/>
                  <a:pt x="6214951" y="-10856"/>
                  <a:pt x="6552728" y="0"/>
                </a:cubicBezTo>
                <a:cubicBezTo>
                  <a:pt x="6548587" y="175294"/>
                  <a:pt x="6536344" y="339906"/>
                  <a:pt x="6552728" y="554613"/>
                </a:cubicBezTo>
                <a:cubicBezTo>
                  <a:pt x="6569112" y="769320"/>
                  <a:pt x="6539640" y="886963"/>
                  <a:pt x="6552728" y="1093530"/>
                </a:cubicBezTo>
                <a:cubicBezTo>
                  <a:pt x="6565816" y="1300097"/>
                  <a:pt x="6544049" y="1466238"/>
                  <a:pt x="6552728" y="1569660"/>
                </a:cubicBezTo>
                <a:cubicBezTo>
                  <a:pt x="6206451" y="1573109"/>
                  <a:pt x="6114152" y="1560077"/>
                  <a:pt x="5766401" y="1569660"/>
                </a:cubicBezTo>
                <a:cubicBezTo>
                  <a:pt x="5418650" y="1579243"/>
                  <a:pt x="5424681" y="1583451"/>
                  <a:pt x="5176655" y="1569660"/>
                </a:cubicBezTo>
                <a:cubicBezTo>
                  <a:pt x="4928629" y="1555869"/>
                  <a:pt x="4667278" y="1597241"/>
                  <a:pt x="4521382" y="1569660"/>
                </a:cubicBezTo>
                <a:cubicBezTo>
                  <a:pt x="4375486" y="1542079"/>
                  <a:pt x="4101707" y="1581799"/>
                  <a:pt x="3931637" y="1569660"/>
                </a:cubicBezTo>
                <a:cubicBezTo>
                  <a:pt x="3761568" y="1557521"/>
                  <a:pt x="3579898" y="1585538"/>
                  <a:pt x="3472946" y="1569660"/>
                </a:cubicBezTo>
                <a:cubicBezTo>
                  <a:pt x="3365994" y="1553782"/>
                  <a:pt x="3009255" y="1569223"/>
                  <a:pt x="2817673" y="1569660"/>
                </a:cubicBezTo>
                <a:cubicBezTo>
                  <a:pt x="2626091" y="1570097"/>
                  <a:pt x="2440158" y="1559255"/>
                  <a:pt x="2227928" y="1569660"/>
                </a:cubicBezTo>
                <a:cubicBezTo>
                  <a:pt x="2015699" y="1580065"/>
                  <a:pt x="1923066" y="1581389"/>
                  <a:pt x="1703709" y="1569660"/>
                </a:cubicBezTo>
                <a:cubicBezTo>
                  <a:pt x="1484352" y="1557931"/>
                  <a:pt x="1166821" y="1567437"/>
                  <a:pt x="982909" y="1569660"/>
                </a:cubicBezTo>
                <a:cubicBezTo>
                  <a:pt x="798997" y="1571883"/>
                  <a:pt x="248179" y="1599336"/>
                  <a:pt x="0" y="1569660"/>
                </a:cubicBezTo>
                <a:cubicBezTo>
                  <a:pt x="-3033" y="1415200"/>
                  <a:pt x="21133" y="1186207"/>
                  <a:pt x="0" y="1062137"/>
                </a:cubicBezTo>
                <a:cubicBezTo>
                  <a:pt x="-21133" y="938067"/>
                  <a:pt x="11829" y="822262"/>
                  <a:pt x="0" y="586006"/>
                </a:cubicBezTo>
                <a:cubicBezTo>
                  <a:pt x="-11829" y="349750"/>
                  <a:pt x="16853" y="271378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In tidy data: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1. Each variable forms a column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2. Each observation forms a row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3. Each type of observational unit forms a table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13"/>
          <p:cNvSpPr/>
          <p:nvPr/>
        </p:nvSpPr>
        <p:spPr>
          <a:xfrm>
            <a:off x="1050120" y="5146560"/>
            <a:ext cx="29365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pc="-1" strike="noStrike">
                <a:solidFill>
                  <a:schemeClr val="accent5">
                    <a:lumMod val="75000"/>
                  </a:schemeClr>
                </a:solidFill>
                <a:latin typeface="Calibri"/>
                <a:ea typeface="DejaVu Sans"/>
              </a:rPr>
              <a:t>Observations</a:t>
            </a: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increase when new units (dates, subjects, …) are measured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9"/>
          <p:cNvSpPr/>
          <p:nvPr/>
        </p:nvSpPr>
        <p:spPr>
          <a:xfrm>
            <a:off x="9388800" y="2387880"/>
            <a:ext cx="23947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pc="-1" strike="noStrike">
                <a:solidFill>
                  <a:schemeClr val="accent6"/>
                </a:solidFill>
                <a:latin typeface="Calibri"/>
                <a:ea typeface="DejaVu Sans"/>
              </a:rPr>
              <a:t>Variables</a:t>
            </a: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increase when new types of measurements are introduced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4E1ECFD-F87B-4904-8008-AC388906D85F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TextBox 13"/>
          <p:cNvSpPr/>
          <p:nvPr/>
        </p:nvSpPr>
        <p:spPr>
          <a:xfrm>
            <a:off x="386280" y="850680"/>
            <a:ext cx="5975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ectangle 1"/>
          <p:cNvSpPr/>
          <p:nvPr/>
        </p:nvSpPr>
        <p:spPr>
          <a:xfrm>
            <a:off x="11052360" y="205920"/>
            <a:ext cx="826560" cy="7012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340" name="Graphic 11" descr=""/>
          <p:cNvPicPr/>
          <p:nvPr/>
        </p:nvPicPr>
        <p:blipFill>
          <a:blip r:embed="rId1"/>
          <a:stretch/>
        </p:blipFill>
        <p:spPr>
          <a:xfrm>
            <a:off x="11119320" y="279720"/>
            <a:ext cx="693000" cy="554040"/>
          </a:xfrm>
          <a:prstGeom prst="rect">
            <a:avLst/>
          </a:prstGeom>
          <a:ln w="0">
            <a:noFill/>
          </a:ln>
        </p:spPr>
      </p:pic>
      <p:pic>
        <p:nvPicPr>
          <p:cNvPr id="341" name="Picture 12" descr=""/>
          <p:cNvPicPr/>
          <p:nvPr/>
        </p:nvPicPr>
        <p:blipFill>
          <a:blip r:embed="rId2"/>
          <a:stretch/>
        </p:blipFill>
        <p:spPr>
          <a:xfrm>
            <a:off x="318600" y="2106360"/>
            <a:ext cx="7770960" cy="36741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FB5890-B924-4AEE-83CB-8966229B5F14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44" name="Picture 7" descr=""/>
          <p:cNvPicPr/>
          <p:nvPr/>
        </p:nvPicPr>
        <p:blipFill>
          <a:blip r:embed="rId1"/>
          <a:stretch/>
        </p:blipFill>
        <p:spPr>
          <a:xfrm>
            <a:off x="318600" y="2106360"/>
            <a:ext cx="7770960" cy="3674160"/>
          </a:xfrm>
          <a:prstGeom prst="rect">
            <a:avLst/>
          </a:prstGeom>
          <a:ln w="0">
            <a:noFill/>
          </a:ln>
        </p:spPr>
      </p:pic>
      <p:sp>
        <p:nvSpPr>
          <p:cNvPr id="345" name="TextBox 13"/>
          <p:cNvSpPr/>
          <p:nvPr/>
        </p:nvSpPr>
        <p:spPr>
          <a:xfrm>
            <a:off x="386280" y="850680"/>
            <a:ext cx="5975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6" name="Picture 14" descr=""/>
          <p:cNvPicPr/>
          <p:nvPr/>
        </p:nvPicPr>
        <p:blipFill>
          <a:blip r:embed="rId2"/>
          <a:stretch/>
        </p:blipFill>
        <p:spPr>
          <a:xfrm>
            <a:off x="8256240" y="2106360"/>
            <a:ext cx="3475440" cy="3265560"/>
          </a:xfrm>
          <a:prstGeom prst="rect">
            <a:avLst/>
          </a:prstGeom>
          <a:ln w="0">
            <a:noFill/>
          </a:ln>
        </p:spPr>
      </p:pic>
      <p:sp>
        <p:nvSpPr>
          <p:cNvPr id="347" name="Rectangle 1"/>
          <p:cNvSpPr/>
          <p:nvPr/>
        </p:nvSpPr>
        <p:spPr>
          <a:xfrm>
            <a:off x="11052360" y="205920"/>
            <a:ext cx="826560" cy="7012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348" name="Graphic 11" descr=""/>
          <p:cNvPicPr/>
          <p:nvPr/>
        </p:nvPicPr>
        <p:blipFill>
          <a:blip r:embed="rId3"/>
          <a:stretch/>
        </p:blipFill>
        <p:spPr>
          <a:xfrm>
            <a:off x="11119320" y="279720"/>
            <a:ext cx="693000" cy="5540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592A08-9D17-4A17-84D3-A4A0505FB91B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Messy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 type="dt" idx="4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TextBox 6"/>
          <p:cNvSpPr/>
          <p:nvPr/>
        </p:nvSpPr>
        <p:spPr>
          <a:xfrm>
            <a:off x="6879600" y="244080"/>
            <a:ext cx="4895280" cy="1552680"/>
          </a:xfrm>
          <a:prstGeom prst="rect">
            <a:avLst/>
          </a:prstGeom>
          <a:solidFill>
            <a:srgbClr val="f20000">
              <a:alpha val="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“</a:t>
            </a: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Tidy datasets are all alike but every messy dataset is messy in its own way” </a:t>
            </a:r>
            <a:br>
              <a:rPr sz="2400"/>
            </a:b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– Hadley Wickham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2" name="Picture 8" descr=""/>
          <p:cNvPicPr/>
          <p:nvPr/>
        </p:nvPicPr>
        <p:blipFill>
          <a:blip r:embed="rId1"/>
          <a:stretch/>
        </p:blipFill>
        <p:spPr>
          <a:xfrm>
            <a:off x="3647880" y="4149000"/>
            <a:ext cx="2076120" cy="1684800"/>
          </a:xfrm>
          <a:prstGeom prst="rect">
            <a:avLst/>
          </a:prstGeom>
          <a:ln w="0">
            <a:noFill/>
          </a:ln>
        </p:spPr>
      </p:pic>
      <p:sp>
        <p:nvSpPr>
          <p:cNvPr id="353" name="TextBox 9"/>
          <p:cNvSpPr/>
          <p:nvPr/>
        </p:nvSpPr>
        <p:spPr>
          <a:xfrm>
            <a:off x="3594600" y="2889360"/>
            <a:ext cx="17269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Column headers are values, not variable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Box 10"/>
          <p:cNvSpPr/>
          <p:nvPr/>
        </p:nvSpPr>
        <p:spPr>
          <a:xfrm>
            <a:off x="5254200" y="318240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5" name="Picture 11" descr=""/>
          <p:cNvPicPr/>
          <p:nvPr/>
        </p:nvPicPr>
        <p:blipFill>
          <a:blip r:embed="rId2"/>
          <a:stretch/>
        </p:blipFill>
        <p:spPr>
          <a:xfrm>
            <a:off x="565200" y="2919600"/>
            <a:ext cx="2523960" cy="2351160"/>
          </a:xfrm>
          <a:prstGeom prst="rect">
            <a:avLst/>
          </a:prstGeom>
          <a:ln w="0">
            <a:noFill/>
          </a:ln>
        </p:spPr>
      </p:pic>
      <p:sp>
        <p:nvSpPr>
          <p:cNvPr id="356" name="TextBox 12"/>
          <p:cNvSpPr/>
          <p:nvPr/>
        </p:nvSpPr>
        <p:spPr>
          <a:xfrm>
            <a:off x="542880" y="1756440"/>
            <a:ext cx="1951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Variables are stored in both rows and columns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13"/>
          <p:cNvSpPr/>
          <p:nvPr/>
        </p:nvSpPr>
        <p:spPr>
          <a:xfrm>
            <a:off x="2376720" y="201204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8" name="Picture 14" descr=""/>
          <p:cNvPicPr/>
          <p:nvPr/>
        </p:nvPicPr>
        <p:blipFill>
          <a:blip r:embed="rId3"/>
          <a:stretch/>
        </p:blipFill>
        <p:spPr>
          <a:xfrm>
            <a:off x="9230040" y="3901320"/>
            <a:ext cx="2232720" cy="2172240"/>
          </a:xfrm>
          <a:prstGeom prst="rect">
            <a:avLst/>
          </a:prstGeom>
          <a:ln w="0">
            <a:noFill/>
          </a:ln>
        </p:spPr>
      </p:pic>
      <p:sp>
        <p:nvSpPr>
          <p:cNvPr id="359" name="TextBox 15"/>
          <p:cNvSpPr/>
          <p:nvPr/>
        </p:nvSpPr>
        <p:spPr>
          <a:xfrm>
            <a:off x="9227880" y="2710440"/>
            <a:ext cx="19069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Multiple variables are stored in one column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16"/>
          <p:cNvSpPr/>
          <p:nvPr/>
        </p:nvSpPr>
        <p:spPr>
          <a:xfrm>
            <a:off x="11044800" y="287928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17"/>
          <p:cNvSpPr/>
          <p:nvPr/>
        </p:nvSpPr>
        <p:spPr>
          <a:xfrm>
            <a:off x="6187320" y="1749600"/>
            <a:ext cx="17269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Some variables are stored in the file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18"/>
          <p:cNvSpPr/>
          <p:nvPr/>
        </p:nvSpPr>
        <p:spPr>
          <a:xfrm>
            <a:off x="7915320" y="188424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20"/>
          <p:cNvSpPr/>
          <p:nvPr/>
        </p:nvSpPr>
        <p:spPr>
          <a:xfrm>
            <a:off x="6187320" y="2890440"/>
            <a:ext cx="2689200" cy="106308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2024-02_prices_FR.csv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995658-3600-4574-9EA0-71F774A580DE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364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2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Pivoting – we know this one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7" name="Picture 6" descr="Image"/>
          <p:cNvPicPr/>
          <p:nvPr/>
        </p:nvPicPr>
        <p:blipFill>
          <a:blip r:embed="rId1"/>
          <a:srcRect l="13464" t="0" r="8349" b="0"/>
          <a:stretch/>
        </p:blipFill>
        <p:spPr>
          <a:xfrm>
            <a:off x="9264240" y="588240"/>
            <a:ext cx="2720520" cy="3479760"/>
          </a:xfrm>
          <a:prstGeom prst="rect">
            <a:avLst/>
          </a:prstGeom>
          <a:ln w="0">
            <a:noFill/>
          </a:ln>
        </p:spPr>
      </p:pic>
      <p:sp>
        <p:nvSpPr>
          <p:cNvPr id="368" name="TextBox 7"/>
          <p:cNvSpPr/>
          <p:nvPr/>
        </p:nvSpPr>
        <p:spPr>
          <a:xfrm>
            <a:off x="3180600" y="5094360"/>
            <a:ext cx="626328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df.pivot_table(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index=['city', 'date'], columns='type’, 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values='temperature', aggfunc='max’,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9" name="Picture 6" descr=""/>
          <p:cNvPicPr/>
          <p:nvPr/>
        </p:nvPicPr>
        <p:blipFill>
          <a:blip r:embed="rId2"/>
          <a:stretch/>
        </p:blipFill>
        <p:spPr>
          <a:xfrm>
            <a:off x="882720" y="2480760"/>
            <a:ext cx="2523960" cy="2351160"/>
          </a:xfrm>
          <a:prstGeom prst="rect">
            <a:avLst/>
          </a:prstGeom>
          <a:ln w="0">
            <a:noFill/>
          </a:ln>
        </p:spPr>
      </p:pic>
      <p:pic>
        <p:nvPicPr>
          <p:cNvPr id="370" name="Picture 10" descr=""/>
          <p:cNvPicPr/>
          <p:nvPr/>
        </p:nvPicPr>
        <p:blipFill>
          <a:blip r:embed="rId3"/>
          <a:stretch/>
        </p:blipFill>
        <p:spPr>
          <a:xfrm>
            <a:off x="6022800" y="2629440"/>
            <a:ext cx="2552040" cy="1824120"/>
          </a:xfrm>
          <a:prstGeom prst="rect">
            <a:avLst/>
          </a:prstGeom>
          <a:ln w="0">
            <a:noFill/>
          </a:ln>
        </p:spPr>
      </p:pic>
      <p:sp>
        <p:nvSpPr>
          <p:cNvPr id="371" name="TextBox 11"/>
          <p:cNvSpPr/>
          <p:nvPr/>
        </p:nvSpPr>
        <p:spPr>
          <a:xfrm>
            <a:off x="3800880" y="2127600"/>
            <a:ext cx="2301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The “type” column is storing variable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ight Arrow 13"/>
          <p:cNvSpPr/>
          <p:nvPr/>
        </p:nvSpPr>
        <p:spPr>
          <a:xfrm>
            <a:off x="3945960" y="3754800"/>
            <a:ext cx="1767960" cy="430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TextBox 14"/>
          <p:cNvSpPr/>
          <p:nvPr/>
        </p:nvSpPr>
        <p:spPr>
          <a:xfrm>
            <a:off x="3963600" y="3465000"/>
            <a:ext cx="1665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pivot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8"/>
          <p:cNvSpPr/>
          <p:nvPr/>
        </p:nvSpPr>
        <p:spPr>
          <a:xfrm>
            <a:off x="6018120" y="216180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937436-7A9D-497F-A349-D3B68F777FBB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Picture 4" descr="Image"/>
          <p:cNvPicPr/>
          <p:nvPr/>
        </p:nvPicPr>
        <p:blipFill>
          <a:blip r:embed="rId1"/>
          <a:srcRect l="16022" t="0" r="5951" b="0"/>
          <a:stretch/>
        </p:blipFill>
        <p:spPr>
          <a:xfrm>
            <a:off x="9262800" y="581040"/>
            <a:ext cx="2720520" cy="3486960"/>
          </a:xfrm>
          <a:prstGeom prst="rect">
            <a:avLst/>
          </a:prstGeom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364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2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Melting – it’s kind of the opposite of pivoting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79" name="Picture 8" descr=""/>
          <p:cNvPicPr/>
          <p:nvPr/>
        </p:nvPicPr>
        <p:blipFill>
          <a:blip r:embed="rId2"/>
          <a:stretch/>
        </p:blipFill>
        <p:spPr>
          <a:xfrm>
            <a:off x="1503000" y="2860200"/>
            <a:ext cx="2076120" cy="1684800"/>
          </a:xfrm>
          <a:prstGeom prst="rect">
            <a:avLst/>
          </a:prstGeom>
          <a:ln w="0">
            <a:noFill/>
          </a:ln>
        </p:spPr>
      </p:pic>
      <p:pic>
        <p:nvPicPr>
          <p:cNvPr id="380" name="Picture 9" descr=""/>
          <p:cNvPicPr/>
          <p:nvPr/>
        </p:nvPicPr>
        <p:blipFill>
          <a:blip r:embed="rId3"/>
          <a:stretch/>
        </p:blipFill>
        <p:spPr>
          <a:xfrm>
            <a:off x="5969880" y="2067120"/>
            <a:ext cx="2869200" cy="2989440"/>
          </a:xfrm>
          <a:prstGeom prst="rect">
            <a:avLst/>
          </a:prstGeom>
          <a:ln w="0">
            <a:noFill/>
          </a:ln>
        </p:spPr>
      </p:pic>
      <p:sp>
        <p:nvSpPr>
          <p:cNvPr id="381" name="TextBox 7"/>
          <p:cNvSpPr/>
          <p:nvPr/>
        </p:nvSpPr>
        <p:spPr>
          <a:xfrm>
            <a:off x="1379520" y="5172480"/>
            <a:ext cx="9431640" cy="3639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pd.melt(data, id_vars=['subject', 'date'], value_name='response_time')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10"/>
          <p:cNvSpPr/>
          <p:nvPr/>
        </p:nvSpPr>
        <p:spPr>
          <a:xfrm>
            <a:off x="857160" y="1937160"/>
            <a:ext cx="21376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The treatment values are stored as a column name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1"/>
          <p:cNvSpPr/>
          <p:nvPr/>
        </p:nvSpPr>
        <p:spPr>
          <a:xfrm>
            <a:off x="3024360" y="2192760"/>
            <a:ext cx="714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ight Arrow 12"/>
          <p:cNvSpPr/>
          <p:nvPr/>
        </p:nvSpPr>
        <p:spPr>
          <a:xfrm>
            <a:off x="3945960" y="3487320"/>
            <a:ext cx="1767960" cy="4305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TextBox 13"/>
          <p:cNvSpPr/>
          <p:nvPr/>
        </p:nvSpPr>
        <p:spPr>
          <a:xfrm>
            <a:off x="3963600" y="3197520"/>
            <a:ext cx="1665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melt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6"/>
          <p:cNvSpPr/>
          <p:nvPr/>
        </p:nvSpPr>
        <p:spPr>
          <a:xfrm>
            <a:off x="1379520" y="5628240"/>
            <a:ext cx="9614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Split the columns in (A) “id_vars” and (B) non-”id_vars”. The column names in (B) are used as new values in a new column “variable”. The values in columns (B) go into a new column, “response_time”.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9FFB3E-920A-4B1C-83B3-C228535B530D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Picture 2" descr="Image"/>
          <p:cNvPicPr/>
          <p:nvPr/>
        </p:nvPicPr>
        <p:blipFill>
          <a:blip r:embed="rId1"/>
          <a:srcRect l="2154" t="0" r="23761" b="5248"/>
          <a:stretch/>
        </p:blipFill>
        <p:spPr>
          <a:xfrm>
            <a:off x="9264240" y="588240"/>
            <a:ext cx="2720520" cy="3479760"/>
          </a:xfrm>
          <a:prstGeom prst="rect">
            <a:avLst/>
          </a:prstGeom>
          <a:ln w="0">
            <a:noFill/>
          </a:ln>
        </p:spPr>
      </p:pic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364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2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813672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pd.concat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– add together tables with the same variables (columns)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dt" idx="4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TextBox 6"/>
          <p:cNvSpPr/>
          <p:nvPr/>
        </p:nvSpPr>
        <p:spPr>
          <a:xfrm>
            <a:off x="789120" y="2541600"/>
            <a:ext cx="17269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Some variables are stored in the file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Box 14"/>
          <p:cNvSpPr/>
          <p:nvPr/>
        </p:nvSpPr>
        <p:spPr>
          <a:xfrm>
            <a:off x="2552400" y="2775960"/>
            <a:ext cx="714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Box 15"/>
          <p:cNvSpPr/>
          <p:nvPr/>
        </p:nvSpPr>
        <p:spPr>
          <a:xfrm>
            <a:off x="838080" y="3530880"/>
            <a:ext cx="2689200" cy="106308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2024-02_prices_FR.csv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6"/>
          <p:cNvSpPr/>
          <p:nvPr/>
        </p:nvSpPr>
        <p:spPr>
          <a:xfrm>
            <a:off x="4367880" y="2602080"/>
            <a:ext cx="6391080" cy="3496680"/>
          </a:xfrm>
          <a:prstGeom prst="rect">
            <a:avLst/>
          </a:prstGeom>
          <a:solidFill>
            <a:srgbClr val="e2f0d9">
              <a:alpha val="71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tables = []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for filename in filenames:  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Parse filename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year_month, _, country = filename[:-4].split('_')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Read table and add columns for the variables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 = pd.read_csv(filename)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Add the variables that were in the filename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df['year_month'] = year_month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df['country’] = country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Store table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tables.append(df)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Create complete table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tidy_df =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pd.concat(tables)</a:t>
            </a:r>
            <a:r>
              <a:rPr b="1" lang="en-CH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9E397B-ABFF-4D3C-99FA-797FDEAD6CD9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Rectangle 2"/>
          <p:cNvSpPr/>
          <p:nvPr/>
        </p:nvSpPr>
        <p:spPr>
          <a:xfrm>
            <a:off x="7428240" y="205920"/>
            <a:ext cx="4537440" cy="9889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Tidy up the data set in the tuberculosis exercise</a:t>
            </a:r>
            <a:br>
              <a:rPr sz="2800"/>
            </a:b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and compute the summary stats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for Issue #4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2025-plovdiv-data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TextBox 9"/>
          <p:cNvSpPr/>
          <p:nvPr/>
        </p:nvSpPr>
        <p:spPr>
          <a:xfrm>
            <a:off x="7930800" y="22464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0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3000" cy="554040"/>
          </a:xfrm>
          <a:prstGeom prst="rect">
            <a:avLst/>
          </a:prstGeom>
          <a:ln w="0">
            <a:noFill/>
          </a:ln>
        </p:spPr>
      </p:pic>
      <p:pic>
        <p:nvPicPr>
          <p:cNvPr id="401" name="Picture 1" descr=""/>
          <p:cNvPicPr/>
          <p:nvPr/>
        </p:nvPicPr>
        <p:blipFill>
          <a:blip r:embed="rId2"/>
          <a:stretch/>
        </p:blipFill>
        <p:spPr>
          <a:xfrm>
            <a:off x="7506000" y="3141000"/>
            <a:ext cx="2988720" cy="2907720"/>
          </a:xfrm>
          <a:prstGeom prst="rect">
            <a:avLst/>
          </a:prstGeom>
          <a:ln w="0">
            <a:noFill/>
          </a:ln>
        </p:spPr>
      </p:pic>
      <p:sp>
        <p:nvSpPr>
          <p:cNvPr id="402" name="TextBox 11"/>
          <p:cNvSpPr/>
          <p:nvPr/>
        </p:nvSpPr>
        <p:spPr>
          <a:xfrm>
            <a:off x="7527960" y="2102760"/>
            <a:ext cx="1915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Multiple variables are stored in one column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8"/>
          <p:cNvSpPr/>
          <p:nvPr/>
        </p:nvSpPr>
        <p:spPr>
          <a:xfrm>
            <a:off x="8301960" y="542880"/>
            <a:ext cx="34812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exercises/tabular_tidy_data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7"/>
          <p:cNvSpPr/>
          <p:nvPr/>
        </p:nvSpPr>
        <p:spPr>
          <a:xfrm>
            <a:off x="9595080" y="2243880"/>
            <a:ext cx="92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487418-5EFB-414B-83AC-9B84ED18B7EF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8"/>
          <p:cNvSpPr/>
          <p:nvPr/>
        </p:nvSpPr>
        <p:spPr>
          <a:xfrm>
            <a:off x="7838280" y="1054080"/>
            <a:ext cx="3886920" cy="54079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Why is tidy data good?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62643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Many analyses require a simple sequence of steps: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Filter by individual variables to discard data that is not needed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Group and summarize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Re-arrange (e.g. sort)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Visualize</a:t>
            </a: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Joining tidy tables is easy! 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One can write generic code that takes tidy data as input. </a:t>
            </a:r>
            <a:br>
              <a:rPr sz="2400"/>
            </a:b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For example, </a:t>
            </a: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seaborn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relies on tidy data to make complex plots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TextBox 7"/>
          <p:cNvSpPr/>
          <p:nvPr/>
        </p:nvSpPr>
        <p:spPr>
          <a:xfrm>
            <a:off x="8449560" y="1370520"/>
            <a:ext cx="266400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sns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.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swarmplot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(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data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x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"body_mass_g"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y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"sex"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hue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"species”,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0" name="Picture 2" descr=""/>
          <p:cNvPicPr/>
          <p:nvPr/>
        </p:nvPicPr>
        <p:blipFill>
          <a:blip r:embed="rId1"/>
          <a:stretch/>
        </p:blipFill>
        <p:spPr>
          <a:xfrm>
            <a:off x="7968240" y="3440880"/>
            <a:ext cx="3627000" cy="27345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E033A3-557C-4B8B-9992-335ED74C516A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16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FR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PlaceHolder 2"/>
          <p:cNvSpPr>
            <a:spLocks noGrp="1"/>
          </p:cNvSpPr>
          <p:nvPr>
            <p:ph type="dt" idx="5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7E4FBF5-A7EA-4440-8E6D-60CCE12B186D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2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functions: grouped row-by-row 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“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functions” are a kind of split-apply-combine operation, but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instead of aggregating the data in a group and returning one value per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group, they return one value per row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Examples: ranking all entries in a group; computing the distance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between timestamps per group; number the rows by group in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chronological order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 Pandas, most of these operations can be performed with a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combination of sorting and grouping-by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A7AF5CD-C7B6-4B39-B2A9-4E2957C77A6A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Rectangle 7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419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420" name="TextBox 9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10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040_window_functions.ipynb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FC81DFC-5CE5-4504-ACF4-4F5D170D8761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Main points: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 perform row-by-row operations on grouped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They are an advanced way of avoiding for loops with tabular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In Pandas, they can be achieved with a combo of sorting and grouping-by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dt" idx="5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Rectangle 7"/>
          <p:cNvSpPr/>
          <p:nvPr/>
        </p:nvSpPr>
        <p:spPr>
          <a:xfrm>
            <a:off x="7430400" y="206640"/>
            <a:ext cx="4537440" cy="988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426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8840" cy="629640"/>
          </a:xfrm>
          <a:prstGeom prst="rect">
            <a:avLst/>
          </a:prstGeom>
          <a:ln w="0">
            <a:noFill/>
          </a:ln>
        </p:spPr>
      </p:pic>
      <p:sp>
        <p:nvSpPr>
          <p:cNvPr id="427" name="TextBox 9"/>
          <p:cNvSpPr/>
          <p:nvPr/>
        </p:nvSpPr>
        <p:spPr>
          <a:xfrm>
            <a:off x="8163720" y="22536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10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040_window_functions.ipynb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B0CB0AA-8776-4AC2-866C-0E51B88A4D61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 operations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431" name="Straight Arrow Connector 19"/>
          <p:cNvCxnSpPr/>
          <p:nvPr/>
        </p:nvCxnSpPr>
        <p:spPr>
          <a:xfrm flipV="1">
            <a:off x="2829600" y="2564640"/>
            <a:ext cx="409680" cy="6710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2" name="Straight Arrow Connector 20"/>
          <p:cNvCxnSpPr/>
          <p:nvPr/>
        </p:nvCxnSpPr>
        <p:spPr>
          <a:xfrm flipV="1">
            <a:off x="2822760" y="3840480"/>
            <a:ext cx="524880" cy="932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3" name="Straight Arrow Connector 21"/>
          <p:cNvCxnSpPr/>
          <p:nvPr/>
        </p:nvCxnSpPr>
        <p:spPr>
          <a:xfrm>
            <a:off x="2811600" y="4768920"/>
            <a:ext cx="548280" cy="6775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4" name="Straight Arrow Connector 42"/>
          <p:cNvCxnSpPr/>
          <p:nvPr/>
        </p:nvCxnSpPr>
        <p:spPr>
          <a:xfrm>
            <a:off x="8301240" y="2178720"/>
            <a:ext cx="471960" cy="31176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435" name="Straight Arrow Connector 44"/>
          <p:cNvCxnSpPr/>
          <p:nvPr/>
        </p:nvCxnSpPr>
        <p:spPr>
          <a:xfrm>
            <a:off x="8301240" y="3955320"/>
            <a:ext cx="458640" cy="1969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436" name="Straight Arrow Connector 48"/>
          <p:cNvCxnSpPr/>
          <p:nvPr/>
        </p:nvCxnSpPr>
        <p:spPr>
          <a:xfrm flipV="1">
            <a:off x="8301240" y="4747320"/>
            <a:ext cx="458640" cy="6937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37" name="TextBox 2"/>
          <p:cNvSpPr/>
          <p:nvPr/>
        </p:nvSpPr>
        <p:spPr>
          <a:xfrm>
            <a:off x="623520" y="1041120"/>
            <a:ext cx="11334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chemeClr val="accent6">
                    <a:lumMod val="75000"/>
                  </a:schemeClr>
                </a:solidFill>
                <a:latin typeface="Consolas"/>
                <a:ea typeface="DejaVu Sans"/>
              </a:rPr>
              <a:t>df['nr_lefts'] </a:t>
            </a:r>
            <a:r>
              <a:rPr b="0" lang="en-CH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= df</a:t>
            </a:r>
            <a:r>
              <a:rPr b="0" lang="en-CH" sz="1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.sort_values('time (ms)').groupby('subject_id')</a:t>
            </a:r>
            <a:r>
              <a:rPr b="0" lang="en-CH" sz="1800" spc="-1" strike="noStrike">
                <a:solidFill>
                  <a:schemeClr val="accent5">
                    <a:lumMod val="50000"/>
                  </a:schemeClr>
                </a:solidFill>
                <a:latin typeface="Consolas"/>
                <a:ea typeface="DejaVu Sans"/>
              </a:rPr>
              <a:t>['is_left'].cumsum()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8" name="Picture 10" descr=""/>
          <p:cNvPicPr/>
          <p:nvPr/>
        </p:nvPicPr>
        <p:blipFill>
          <a:blip r:embed="rId1"/>
          <a:stretch/>
        </p:blipFill>
        <p:spPr>
          <a:xfrm>
            <a:off x="142920" y="2124720"/>
            <a:ext cx="2608560" cy="3430440"/>
          </a:xfrm>
          <a:prstGeom prst="rect">
            <a:avLst/>
          </a:prstGeom>
          <a:ln w="0">
            <a:noFill/>
          </a:ln>
        </p:spPr>
      </p:pic>
      <p:pic>
        <p:nvPicPr>
          <p:cNvPr id="439" name="Picture 18" descr=""/>
          <p:cNvPicPr/>
          <p:nvPr/>
        </p:nvPicPr>
        <p:blipFill>
          <a:blip r:embed="rId2"/>
          <a:stretch/>
        </p:blipFill>
        <p:spPr>
          <a:xfrm>
            <a:off x="3404520" y="1479960"/>
            <a:ext cx="3018600" cy="4875120"/>
          </a:xfrm>
          <a:prstGeom prst="rect">
            <a:avLst/>
          </a:prstGeom>
          <a:ln w="0">
            <a:noFill/>
          </a:ln>
        </p:spPr>
      </p:pic>
      <p:pic>
        <p:nvPicPr>
          <p:cNvPr id="440" name="Picture 26" descr=""/>
          <p:cNvPicPr/>
          <p:nvPr/>
        </p:nvPicPr>
        <p:blipFill>
          <a:blip r:embed="rId3"/>
          <a:stretch/>
        </p:blipFill>
        <p:spPr>
          <a:xfrm>
            <a:off x="7079040" y="1479960"/>
            <a:ext cx="1092600" cy="4917600"/>
          </a:xfrm>
          <a:prstGeom prst="rect">
            <a:avLst/>
          </a:prstGeom>
          <a:ln w="0">
            <a:noFill/>
          </a:ln>
        </p:spPr>
      </p:pic>
      <p:sp>
        <p:nvSpPr>
          <p:cNvPr id="441" name="Right Arrow 27"/>
          <p:cNvSpPr/>
          <p:nvPr/>
        </p:nvSpPr>
        <p:spPr>
          <a:xfrm>
            <a:off x="6519240" y="3429000"/>
            <a:ext cx="502560" cy="859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442" name="Picture 28" descr=""/>
          <p:cNvPicPr/>
          <p:nvPr/>
        </p:nvPicPr>
        <p:blipFill>
          <a:blip r:embed="rId4"/>
          <a:stretch/>
        </p:blipFill>
        <p:spPr>
          <a:xfrm>
            <a:off x="8968680" y="2124720"/>
            <a:ext cx="3102480" cy="34405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0AE26C-AF43-4C2A-A9CD-AE215EA6BE34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"/>
          <p:cNvSpPr/>
          <p:nvPr/>
        </p:nvSpPr>
        <p:spPr>
          <a:xfrm>
            <a:off x="7428240" y="205920"/>
            <a:ext cx="4537440" cy="98892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the cumulative number of cases across time, per diet group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for Issue #5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 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" name="TextBox 9"/>
          <p:cNvSpPr/>
          <p:nvPr/>
        </p:nvSpPr>
        <p:spPr>
          <a:xfrm>
            <a:off x="7930800" y="224640"/>
            <a:ext cx="1778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8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3000" cy="554040"/>
          </a:xfrm>
          <a:prstGeom prst="rect">
            <a:avLst/>
          </a:prstGeom>
          <a:ln w="0">
            <a:noFill/>
          </a:ln>
        </p:spPr>
      </p:pic>
      <p:sp>
        <p:nvSpPr>
          <p:cNvPr id="449" name="TextBox 8"/>
          <p:cNvSpPr/>
          <p:nvPr/>
        </p:nvSpPr>
        <p:spPr>
          <a:xfrm>
            <a:off x="8301960" y="542880"/>
            <a:ext cx="348120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tabular_window_functions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0" name="" descr=""/>
          <p:cNvPicPr/>
          <p:nvPr/>
        </p:nvPicPr>
        <p:blipFill>
          <a:blip r:embed="rId2"/>
          <a:stretch/>
        </p:blipFill>
        <p:spPr>
          <a:xfrm>
            <a:off x="3696840" y="2955960"/>
            <a:ext cx="5123160" cy="38840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1537347-E28C-4279-97C3-03113D9225E2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Global summary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There are many different data structures, each specialized in efficiently processing one type of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Code performance grows differently with data size: Big-O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NumPy array efficiently store data in a C-native memory block, interpreted as an array using some metadata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NumPy operations that only need to change the metadata do so, creating a view of the same memory block. These operations are O(1)!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can also be vectorized using joins, anti-joins, split-apply-combine operations, and window functions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For these operations to be efficient and painless, data should be stored in a tidy data format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dt" idx="5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940A02-4B8E-4844-9108-A88B6D8AC7EB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we didn’t talk about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Other data structures: graphs, trees, priority queues, …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Options for working with large data on disk / remotely (instead of in-memory)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Best practices in data handling: versioning, lineage, sharing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Organizing a complex data set in multiple tables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… 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and a lot more!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57" name="Picture 2" descr="The Data Warehouse Toolkit"/>
          <p:cNvPicPr/>
          <p:nvPr/>
        </p:nvPicPr>
        <p:blipFill>
          <a:blip r:embed="rId1"/>
          <a:stretch/>
        </p:blipFill>
        <p:spPr>
          <a:xfrm>
            <a:off x="9776160" y="3605400"/>
            <a:ext cx="1940400" cy="2446560"/>
          </a:xfrm>
          <a:prstGeom prst="rect">
            <a:avLst/>
          </a:prstGeom>
          <a:ln w="0">
            <a:noFill/>
          </a:ln>
        </p:spPr>
      </p:pic>
      <p:pic>
        <p:nvPicPr>
          <p:cNvPr id="458" name="Picture 9" descr=""/>
          <p:cNvPicPr/>
          <p:nvPr/>
        </p:nvPicPr>
        <p:blipFill>
          <a:blip r:embed="rId2"/>
          <a:stretch/>
        </p:blipFill>
        <p:spPr>
          <a:xfrm>
            <a:off x="473760" y="3863160"/>
            <a:ext cx="4028760" cy="21682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459" name="Picture 10" descr=""/>
          <p:cNvPicPr/>
          <p:nvPr/>
        </p:nvPicPr>
        <p:blipFill>
          <a:blip r:embed="rId3"/>
          <a:stretch/>
        </p:blipFill>
        <p:spPr>
          <a:xfrm>
            <a:off x="4816800" y="3867480"/>
            <a:ext cx="4507560" cy="218484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95C71C-2078-45C7-9D19-8440A423BAC4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07520" y="2493000"/>
            <a:ext cx="5256360" cy="187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72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Thank you!</a:t>
            </a:r>
            <a:endParaRPr b="0" lang="en-FR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62" name="Picture 4" descr="Image"/>
          <p:cNvPicPr/>
          <p:nvPr/>
        </p:nvPicPr>
        <p:blipFill>
          <a:blip r:embed="rId1"/>
          <a:stretch/>
        </p:blipFill>
        <p:spPr>
          <a:xfrm>
            <a:off x="6672240" y="994320"/>
            <a:ext cx="4867560" cy="48675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9D4183-39ED-4542-B6FC-69958060FCEB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dt" idx="5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6D98F6-E400-461E-9B82-14963664FC8A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Data organization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Data organization concepts: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tidy data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normalized data (star organization)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data science friendly data (denormalized)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F8F067E-91D8-49E3-8C42-08C9A1760B8D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Organizing multiple tables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Dimension vs fact tables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De-normalization (but for data analys flat tables are more convienent)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70" name="Picture 2" descr="The Data Warehouse Toolkit"/>
          <p:cNvPicPr/>
          <p:nvPr/>
        </p:nvPicPr>
        <p:blipFill>
          <a:blip r:embed="rId1"/>
          <a:stretch/>
        </p:blipFill>
        <p:spPr>
          <a:xfrm>
            <a:off x="8040240" y="3162600"/>
            <a:ext cx="2086920" cy="2630880"/>
          </a:xfrm>
          <a:prstGeom prst="rect">
            <a:avLst/>
          </a:prstGeom>
          <a:ln w="0">
            <a:noFill/>
          </a:ln>
        </p:spPr>
      </p:pic>
      <p:pic>
        <p:nvPicPr>
          <p:cNvPr id="471" name="Picture 6" descr=""/>
          <p:cNvPicPr/>
          <p:nvPr/>
        </p:nvPicPr>
        <p:blipFill>
          <a:blip r:embed="rId2"/>
          <a:stretch/>
        </p:blipFill>
        <p:spPr>
          <a:xfrm>
            <a:off x="551520" y="2951640"/>
            <a:ext cx="5613120" cy="30524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DFE4296-A693-48C1-B9A2-61312A8E1BC8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8000" cy="90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Dealing with changes in the data</a:t>
            </a:r>
            <a:endParaRPr b="0" lang="en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4160" cy="4834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Recommendations: 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NEVER overwite a data file. Treat data files as immutable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Use versioning for changes in the data file, and load the latest version for new analyses, old versions to reproduce previous results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(pond is a library I’m working on to automatize this process)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Like in computer code:</a:t>
            </a:r>
            <a:endParaRPr b="0" lang="en-FR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Adding new columns / rows is generally ok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Deleting/changing a column is not! Code will break! Add a new column instead</a:t>
            </a:r>
            <a:endParaRPr b="0" lang="en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dt" idx="6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2A570E-1462-4511-9BF2-9762CA5467B1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134980</TotalTime>
  <Application>LibreOffice/7.4.7.2$Linux_X86_64 LibreOffice_project/40$Build-2</Application>
  <AppVersion>15.0000</AppVersion>
  <Words>3182</Words>
  <Paragraphs>572</Paragraphs>
  <Company>University of Pennsylvania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2010-10-01T16:09:12Z</dcterms:created>
  <dc:creator>Pietro Berkes</dc:creator>
  <dc:description/>
  <dc:language>en-GB</dc:language>
  <cp:lastModifiedBy>Guillermo Aguilar</cp:lastModifiedBy>
  <cp:lastPrinted>2017-08-28T05:46:03Z</cp:lastPrinted>
  <dcterms:modified xsi:type="dcterms:W3CDTF">2025-09-22T15:06:09Z</dcterms:modified>
  <cp:revision>1687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50</vt:i4>
  </property>
</Properties>
</file>