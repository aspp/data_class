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comment1.xml" ContentType="application/vnd.openxmlformats-officedocument.presentationml.comments+xml"/>
  <Override PartName="/ppt/notesSlides/notesSlide13.xml" ContentType="application/vnd.openxmlformats-officedocument.presentationml.notesSlide+xml"/>
  <Override PartName="/ppt/comments/comment2.xml" ContentType="application/vnd.openxmlformats-officedocument.presentationml.comments+xml"/>
  <Override PartName="/ppt/notesSlides/notesSlide14.xml" ContentType="application/vnd.openxmlformats-officedocument.presentationml.notesSlide+xml"/>
  <Override PartName="/ppt/comments/comment3.xml" ContentType="application/vnd.openxmlformats-officedocument.presentationml.comments+xml"/>
  <Override PartName="/ppt/comments/comment4.xml" ContentType="application/vnd.openxmlformats-officedocument.presentationml.comment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comment5.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6"/>
  </p:notesMasterIdLst>
  <p:sldIdLst>
    <p:sldId id="256" r:id="rId2"/>
    <p:sldId id="260" r:id="rId3"/>
    <p:sldId id="257" r:id="rId4"/>
    <p:sldId id="258" r:id="rId5"/>
    <p:sldId id="323" r:id="rId6"/>
    <p:sldId id="324" r:id="rId7"/>
    <p:sldId id="362" r:id="rId8"/>
    <p:sldId id="363" r:id="rId9"/>
    <p:sldId id="261" r:id="rId10"/>
    <p:sldId id="259" r:id="rId11"/>
    <p:sldId id="343" r:id="rId12"/>
    <p:sldId id="316" r:id="rId13"/>
    <p:sldId id="350" r:id="rId14"/>
    <p:sldId id="354" r:id="rId15"/>
    <p:sldId id="352" r:id="rId16"/>
    <p:sldId id="353" r:id="rId17"/>
    <p:sldId id="355" r:id="rId18"/>
    <p:sldId id="356" r:id="rId19"/>
    <p:sldId id="357" r:id="rId20"/>
    <p:sldId id="358" r:id="rId21"/>
    <p:sldId id="359" r:id="rId22"/>
    <p:sldId id="360" r:id="rId23"/>
    <p:sldId id="361" r:id="rId24"/>
    <p:sldId id="265" r:id="rId25"/>
    <p:sldId id="320" r:id="rId26"/>
    <p:sldId id="268" r:id="rId27"/>
    <p:sldId id="269" r:id="rId28"/>
    <p:sldId id="270" r:id="rId29"/>
    <p:sldId id="271" r:id="rId30"/>
    <p:sldId id="272" r:id="rId31"/>
    <p:sldId id="273" r:id="rId32"/>
    <p:sldId id="339" r:id="rId33"/>
    <p:sldId id="325" r:id="rId34"/>
    <p:sldId id="332" r:id="rId35"/>
    <p:sldId id="333" r:id="rId36"/>
    <p:sldId id="334" r:id="rId37"/>
    <p:sldId id="335" r:id="rId38"/>
    <p:sldId id="336" r:id="rId39"/>
    <p:sldId id="275" r:id="rId40"/>
    <p:sldId id="278" r:id="rId41"/>
    <p:sldId id="276" r:id="rId42"/>
    <p:sldId id="277" r:id="rId43"/>
    <p:sldId id="364" r:id="rId44"/>
    <p:sldId id="365" r:id="rId45"/>
    <p:sldId id="286" r:id="rId46"/>
    <p:sldId id="345" r:id="rId47"/>
    <p:sldId id="347" r:id="rId48"/>
    <p:sldId id="346" r:id="rId49"/>
    <p:sldId id="266" r:id="rId50"/>
    <p:sldId id="311" r:id="rId51"/>
    <p:sldId id="348" r:id="rId52"/>
    <p:sldId id="287" r:id="rId53"/>
    <p:sldId id="315" r:id="rId54"/>
    <p:sldId id="289" r:id="rId55"/>
    <p:sldId id="329" r:id="rId56"/>
    <p:sldId id="291" r:id="rId57"/>
    <p:sldId id="293" r:id="rId58"/>
    <p:sldId id="282" r:id="rId59"/>
    <p:sldId id="318" r:id="rId60"/>
    <p:sldId id="283" r:id="rId61"/>
    <p:sldId id="284" r:id="rId62"/>
    <p:sldId id="285" r:id="rId63"/>
    <p:sldId id="288" r:id="rId64"/>
    <p:sldId id="292" r:id="rId65"/>
    <p:sldId id="294" r:id="rId66"/>
    <p:sldId id="295" r:id="rId67"/>
    <p:sldId id="296" r:id="rId68"/>
    <p:sldId id="297" r:id="rId69"/>
    <p:sldId id="298" r:id="rId70"/>
    <p:sldId id="299" r:id="rId71"/>
    <p:sldId id="300" r:id="rId72"/>
    <p:sldId id="301" r:id="rId73"/>
    <p:sldId id="302" r:id="rId74"/>
    <p:sldId id="303" r:id="rId75"/>
    <p:sldId id="304" r:id="rId76"/>
    <p:sldId id="305" r:id="rId77"/>
    <p:sldId id="306" r:id="rId78"/>
    <p:sldId id="307" r:id="rId79"/>
    <p:sldId id="308" r:id="rId80"/>
    <p:sldId id="309" r:id="rId81"/>
    <p:sldId id="310" r:id="rId82"/>
    <p:sldId id="312" r:id="rId83"/>
    <p:sldId id="313" r:id="rId84"/>
    <p:sldId id="314" r:id="rId85"/>
  </p:sldIdLst>
  <p:sldSz cx="12192000" cy="6858000"/>
  <p:notesSz cx="7559675" cy="10691813"/>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uillermo Aguilar" initials="GA" lastIdx="9"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E11"/>
    <a:srgbClr val="FFC862"/>
    <a:srgbClr val="FFB50D"/>
    <a:srgbClr val="2F5597"/>
    <a:srgbClr val="F5F5F5"/>
    <a:srgbClr val="0A7E06"/>
    <a:srgbClr val="7D0079"/>
    <a:srgbClr val="81D41A"/>
    <a:srgbClr val="008D18"/>
    <a:srgbClr val="006C1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712"/>
    <p:restoredTop sz="87945"/>
  </p:normalViewPr>
  <p:slideViewPr>
    <p:cSldViewPr snapToGrid="0">
      <p:cViewPr varScale="1">
        <p:scale>
          <a:sx n="111" d="100"/>
          <a:sy n="111" d="100"/>
        </p:scale>
        <p:origin x="1680" y="20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99" d="100"/>
        <a:sy n="199"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commentAuthors" Target="commen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7-01T00:03:17" idx="1">
    <p:pos x="0" y="0"/>
    <p:text>Idea of exercise:
Notebook contains already two implementations, one vectorize and the other using for-loops, for a fixed input size N
The instruction indicate that they need to convert to functions that take N as argument,
And run it with increasing N, collecting the runtime on each.
Here they also need to decide on how to store this type of data, for this exercise → discuss with your partner what is the best way to store this simulation data (numpy array? Dataframe? A simple list?) Does it mattter for this case?
In the final part they are prompted to generate some kind of visualization, with N on the x-axis and runtime on the y, for both implementations in color. I think most students wont have issues with this, basic matplotlib knowledge suffices
They should conclude: which one is faster?
Optional: why?  Deduce the O notation on both cases. (similar to first exercise).
Give hints on how pandas does group by and mean().</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6-30T23:27:22" idx="2">
    <p:pos x="0" y="0"/>
    <p:text>Complete this slide</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6-30T23:27:22" idx="9">
    <p:pos x="0" y="0"/>
    <p:text>Complete this slide</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6-07-01T00:03:17" idx="4">
    <p:pos x="0" y="0"/>
    <p:text>Idea of exercise:
Notebook contains already two implementations, one vectorize and the other using for-loops, for a fixed input size N
The instruction indicate that they need to convert to functions that take N as argument,
And run it with increasing N, collecting the runtime on each.
Here they also need to decide on how to store this type of data, for this exercise → discuss with your partner what is the best way to store this simulation data (numpy array? Dataframe? A simple list?) Does it mattter for this case?
In the final part they are prompted to generate some kind of visualization, with N on the x-axis and runtime on the y, for both implementations in color. I think most students wont have issues with this, basic matplotlib knowledge suffices
They should conclude: which one is faster?
Optional: why?  Deduce the O notation on both cases. (similar to first exercise).
Give hints on how pandas does group by and mean().</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6-06-30T23:19:54" idx="3">
    <p:pos x="113" y="88"/>
    <p:text>If we use this exercise, it needs introduction. This is the slide from previous version where this exercise has been already introduced before.</p:text>
  </p:cm>
</p:cmLst>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24.978"/>
    </inkml:context>
    <inkml:brush xml:id="br0">
      <inkml:brushProperty name="width" value="0.05" units="cm"/>
      <inkml:brushProperty name="height" value="0.05" units="cm"/>
      <inkml:brushProperty name="color" value="#3680B3"/>
    </inkml:brush>
  </inkml:definitions>
  <inkml:trace contextRef="#ctx0" brushRef="#br0">5 0 17702,'-2'3'0,"0"-1"0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1.205"/>
    </inkml:context>
    <inkml:brush xml:id="br0">
      <inkml:brushProperty name="width" value="0.1" units="cm"/>
      <inkml:brushProperty name="height" value="0.1" units="cm"/>
      <inkml:brushProperty name="color" value="#FFC114"/>
    </inkml:brush>
  </inkml:definitions>
  <inkml:trace contextRef="#ctx0" brushRef="#br0">1 0 24575,'22'0'0,"-1"0"0,12 0 0,1 0 0,0 0 0,-3 0 0,-8 0 0,-1 0 0,2 0 0,0 0 0,-1 0 0,1 0 0,-5 2 0,0 1 0,-4-1 0,0 3 0,-1-3 0,-3 2 0,0 1 0,-3-1 0,1 0 0,1-1 0,-1 2 0,1-3 0,-1 3 0,-1-1 0,0 0 0,0 0 0,0-1 0,2 1 0,-1-2 0,1 1 0,-1 1 0,0-2 0,-1 2 0,-2 0 0,-1-2 0,0 2 0,1-1 0,0-1 0,2 2 0,-1 1 0,-2 1 0,-3 3 0,-2-1 0,0 1 0,0-1 0,0 1 0,0-2 0,-2 1 0,-2 1 0,-4 1 0,-6 2 0,-6 1 0,-3-1 0,-5 4 0,-2-1 0,2-1 0,1 0 0,3-2 0,2 2 0,0 0 0,1 2 0,1-1 0,2-1 0,2 1 0,3-2 0,0-2 0,2 2 0,0-2 0,-2 0 0,0 1 0,0-1 0,0-1 0,5 0 0,0-1 0,1 1 0,2-2 0,-1 0 0,2 0 0,0 0 0,-2 1 0,0 1 0,0-3 0,1 1 0,-1-1 0,2 0 0,-1-1 0,1 0 0,2-4 0,0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4.568"/>
    </inkml:context>
    <inkml:brush xml:id="br0">
      <inkml:brushProperty name="width" value="0.1" units="cm"/>
      <inkml:brushProperty name="height" value="0.1" units="cm"/>
      <inkml:brushProperty name="color" value="#FFC114"/>
    </inkml:brush>
  </inkml:definitions>
  <inkml:trace contextRef="#ctx0" brushRef="#br0">1 64 24575,'37'0'0,"14"0"-3034,19 0 3034,25 0-3342,-41 0 1,2 0 3341,12 0 0,2 0 0,2 0 0,1 0 477,0 0 0,1 0-477,3 0 0,-1 0 0,-3-2 0,0 0 0,2 1 0,1-2 0,2 0 0,-2-2 0,-7 1 0,0 0 0,4 1 0,-1 1 0,-7 0 0,-2-1-165,-7 0 0,-1 0 165,1-1 0,-1 0 0,33-4 0,-37 4 0,2 1 0,1 3 0,0 0 0,1 0 0,0 0 0,2 0 0,0 0 0,-1 0 0,0 0 0,43 0 0,-9 0 0,-5 0 0,-11 0 0,6 0 915,-5 0-915,-3 0 0,5 0 0,-4 0 0,5 3 0,-3 1 0,4 2 0,-1 4 6094,-10 0-6094,-4 1 0,-2 1 1450,1 0-1450,6 1 575,-4 1-575,-4-1 0,-5 0 59,-4 0-59,-4-1 0,-10-1 0,-5 0 0,-2 2 0,3 0 0,3 2 0,0 0 0,-1 2 0,0 1 0,3 0 0,-1 0 0,4 0 0,-5 0 0,-3-1 0,1 3 0,-1 1 0,5 3 0,-1-1 0,-2 1 0,-1-1 0,-3-1 0,-2 0 0,-6-2 0,-2-2 0,-2 0 0,-1-2 0,1 3 0,-1-4 0,-1 2 0,1-2 0,-1 1 0,1-1 0,-4-3 0,0 1 0,-2-3 0,3 4 0,1 1 0,2 0 0,2 3 0,0-1 0,3 1 0,0-2 0,-1 0 0,0 0 0,-2-2 0,0 2 0,4-1 0,0 1 0,3 1 0,0-3 0,0 0 0,-1-3 0,-3 0 0,-1 0 0,1 2 0,0-1 0,5 2 0,-2 0 0,2 0 0,-1 0 0,-1-3 0,0 0 0,-5-1 0,1-1 0,-2 0 0,1 0 0,1 2 0,-1-3 0,0 0 0,-3-2 0,2-3 0,-3 2 0,-1-3 0,0 2 0,-2 1 0,4-3 0,2 2 0,-2-1 0,-1 0 0,0 2 0,-1-2 0,0 2 0,-2 0 0,0-1 0,1 1 0,0-1 0,2 1 0,-2-2 0,2 2 0,-3-2 0,1 2 0,-1 0 0,-4-3 0,0 2 0,-3-2 0,0 0 0,1 0 0,1-1 0,-3 1 0,1 0 0,-2 1 0,0 0 0,0-1 0,-1 0 0,2 1 0,1-3 0,1 1 0,0-1 0,-1 0 0,0 0 0,1 0 0,-1 0 0,-2 0 0,-5 0 0,-5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6.592"/>
    </inkml:context>
    <inkml:brush xml:id="br0">
      <inkml:brushProperty name="width" value="0.1" units="cm"/>
      <inkml:brushProperty name="height" value="0.1" units="cm"/>
      <inkml:brushProperty name="color" value="#FFC114"/>
    </inkml:brush>
  </inkml:definitions>
  <inkml:trace contextRef="#ctx0" brushRef="#br0">32 0 24575,'15'0'0,"4"0"0,2 0 0,0 0 0,-1 0 0,-2 2 0,-2 0 0,2 3 0,-4 2 0,1 0 0,3 3 0,-2-2 0,-1-1 0,-2-1 0,0 0 0,2 3 0,1 1 0,2-2 0,-2-1 0,-3 1 0,2-3 0,-3 2 0,0-2 0,0 0 0,-2 1 0,2 0 0,-1-1 0,-1 1 0,0 1 0,0-1 0,-1 1 0,1-2 0,-3-2 0,-1 1 0,-2 0 0,0 0 0,0 1 0,1 0 0,-1-1 0,-1 3 0,-1 0 0,-1 1 0,-3 1 0,-5 0 0,-3 0 0,-7 1 0,-2-1 0,0-1 0,-4 4 0,-1 0 0,-4 4 0,-2 2 0,1 0 0,0 1 0,2 0 0,4-3 0,3-2 0,2-2 0,0 0 0,-1 1 0,0-1 0,3-1 0,0-3 0,1 0 0,2-3 0,-1-1 0,2 1 0,1-1 0,1 2 0,3 1 0,0-1 0,-1 1 0,1 0 0,0 0 0,0 0 0,5-2 0,0-4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7:31.317"/>
    </inkml:context>
    <inkml:brush xml:id="br0">
      <inkml:brushProperty name="width" value="0.1" units="cm"/>
      <inkml:brushProperty name="height" value="0.1" units="cm"/>
      <inkml:brushProperty name="color" value="#FFC114"/>
    </inkml:brush>
  </inkml:definitions>
  <inkml:trace contextRef="#ctx0" brushRef="#br0">1 1253 24575,'29'0'0,"8"0"0,4 0 0,9 0 0,8 0 0,-6 0 0,3 0 0,-3 0 0,0 0 0,9 0 0,2 0 0,-1 0 0,-1 0 0,-5 0 0,-4 0 0,-5 0 0,-9 0 0,-2 0 0,-3-2 0,4-1 0,0-2 0,-1-2 0,-3-2 0,-2-2 0,-3 2 0,-1 1 0,-2 1 0,-1 0 0,-1-1 0,2 1 0,4-2 0,3 0 0,-1-2 0,1 0 0,-1-1 0,-4 2 0,2 1 0,0-1 0,1 0 0,1-1 0,4-1 0,0-2 0,1-1 0,2 1 0,-4-3 0,0 2 0,-5 2 0,-3 1 0,0 3 0,2-1 0,5-4 0,-2 0 0,1-1 0,-3 1 0,-1 3 0,1 0 0,-3 1 0,0 0 0,-2-1 0,0-1 0,3-2 0,-2 1 0,0 2 0,0-1 0,0 1 0,-1 1 0,-3 0 0,-5 3 0,-1 0 0,1 1 0,2-2 0,0-2 0,0-1 0,-2 1 0,-3 0 0,-1 3 0,-1 1 0,-1 0 0,1-1 0,0 1 0,-1-1 0,-1 0 0,1-1 0,2 1 0,0 0 0,1 0 0,-1 2 0,-2-2 0,1 2 0,2-2 0,0-2 0,-1 2 0,3-3 0,-2 2 0,2-3 0,0-1 0,-3 4 0,0-1 0,-2 1 0,4-1 0,1-3 0,0 1 0,3 1 0,-2 2 0,2-1 0,-3-3 0,-2 3 0,0-1 0,0 1 0,1 2 0,0-1 0,0-2 0,-1 1 0,-1 0 0,3-1 0,-3 2 0,0 2 0,-2 0 0,-2 0 0,0-3 0,2 2 0,-1 0 0,1-1 0,-1 0 0,1-1 0,-1 2 0,-1 1 0,0 0 0,1 1 0,-1-1 0,2-1 0,-1 0 0,0 0 0,0 0 0,0 2 0,0 0 0,-1-1 0,-2 1 0,0 1 0,0 0 0,2 1 0,2-2 0,-1 1 0,1-1 0,-1 0 0,1 0 0,-2-1 0,0 1 0,0 1 0,1 0 0,0 0 0,0-2 0,1 0 0,-1 1 0,-1 3 0,0-2 0,1 2 0,-1-1 0,1-1 0,1 0 0,-1-2 0,-1 2 0,-2 0 0,0 1 0,0 1 0,2-2 0,1 1 0,0 1 0,-1 0 0,1 2 0,-1-2 0,0-1 0,1 1 0,0 0 0,-3 0 0,0-1 0,0 1 0,2 0 0,1 1 0,-1-1 0,1 0 0,-1-1 0,0 1 0,1 2 0,-1 0 0,2 0 0,-1 0 0,-2-2 0,-1-1 0,0 1 0,0 0 0,3 0 0,0 0 0,0-1 0,1 1 0,-2 2 0,0 0 0,1 0 0,-1 0 0,1 0 0,0 0 0,-1 0 0,0 0 0,1 0 0,0 0 0,-1 0 0,0 0 0,0 0 0,0 0 0,2 0 0,-1 0 0,0 0 0,-1 0 0,0 0 0,1 0 0,-1 0 0,1 0 0,-1 0 0,0 0 0,0 0 0,1 0 0,-1 0 0,0 0 0,-1-2 0,-7 0 0,-2-2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24.978"/>
    </inkml:context>
    <inkml:brush xml:id="br0">
      <inkml:brushProperty name="width" value="0.05" units="cm"/>
      <inkml:brushProperty name="height" value="0.05" units="cm"/>
      <inkml:brushProperty name="color" value="#3680B3"/>
    </inkml:brush>
  </inkml:definitions>
  <inkml:trace contextRef="#ctx0" brushRef="#br0">5 0 17702,'-2'3'0,"0"-1"0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1.205"/>
    </inkml:context>
    <inkml:brush xml:id="br0">
      <inkml:brushProperty name="width" value="0.1" units="cm"/>
      <inkml:brushProperty name="height" value="0.1" units="cm"/>
      <inkml:brushProperty name="color" value="#FFC114"/>
    </inkml:brush>
  </inkml:definitions>
  <inkml:trace contextRef="#ctx0" brushRef="#br0">1 0 24575,'22'0'0,"-1"0"0,12 0 0,1 0 0,0 0 0,-3 0 0,-8 0 0,-1 0 0,2 0 0,0 0 0,-1 0 0,1 0 0,-5 2 0,0 1 0,-4-1 0,0 3 0,-1-3 0,-3 2 0,0 1 0,-3-1 0,1 0 0,1-1 0,-1 2 0,1-3 0,-1 3 0,-1-1 0,0 0 0,0 0 0,0-1 0,2 1 0,-1-2 0,1 1 0,-1 1 0,0-2 0,-1 2 0,-2 0 0,-1-2 0,0 2 0,1-1 0,0-1 0,2 2 0,-1 1 0,-2 1 0,-3 3 0,-2-1 0,0 1 0,0-1 0,0 1 0,0-2 0,-2 1 0,-2 1 0,-4 1 0,-6 2 0,-6 1 0,-3-1 0,-5 4 0,-2-1 0,2-1 0,1 0 0,3-2 0,2 2 0,0 0 0,1 2 0,1-1 0,2-1 0,2 1 0,3-2 0,0-2 0,2 2 0,0-2 0,-2 0 0,0 1 0,0-1 0,0-1 0,5 0 0,0-1 0,1 1 0,2-2 0,-1 0 0,2 0 0,0 0 0,-2 1 0,0 1 0,0-3 0,1 1 0,-1-1 0,2 0 0,-1-1 0,1 0 0,2-4 0,0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7:31.317"/>
    </inkml:context>
    <inkml:brush xml:id="br0">
      <inkml:brushProperty name="width" value="0.1" units="cm"/>
      <inkml:brushProperty name="height" value="0.1" units="cm"/>
      <inkml:brushProperty name="color" value="#FFC114"/>
    </inkml:brush>
  </inkml:definitions>
  <inkml:trace contextRef="#ctx0" brushRef="#br0">1 1253 24575,'29'0'0,"8"0"0,4 0 0,9 0 0,8 0 0,-6 0 0,3 0 0,-3 0 0,0 0 0,9 0 0,2 0 0,-1 0 0,-1 0 0,-5 0 0,-4 0 0,-5 0 0,-9 0 0,-2 0 0,-3-2 0,4-1 0,0-2 0,-1-2 0,-3-2 0,-2-2 0,-3 2 0,-1 1 0,-2 1 0,-1 0 0,-1-1 0,2 1 0,4-2 0,3 0 0,-1-2 0,1 0 0,-1-1 0,-4 2 0,2 1 0,0-1 0,1 0 0,1-1 0,4-1 0,0-2 0,1-1 0,2 1 0,-4-3 0,0 2 0,-5 2 0,-3 1 0,0 3 0,2-1 0,5-4 0,-2 0 0,1-1 0,-3 1 0,-1 3 0,1 0 0,-3 1 0,0 0 0,-2-1 0,0-1 0,3-2 0,-2 1 0,0 2 0,0-1 0,0 1 0,-1 1 0,-3 0 0,-5 3 0,-1 0 0,1 1 0,2-2 0,0-2 0,0-1 0,-2 1 0,-3 0 0,-1 3 0,-1 1 0,-1 0 0,1-1 0,0 1 0,-1-1 0,-1 0 0,1-1 0,2 1 0,0 0 0,1 0 0,-1 2 0,-2-2 0,1 2 0,2-2 0,0-2 0,-1 2 0,3-3 0,-2 2 0,2-3 0,0-1 0,-3 4 0,0-1 0,-2 1 0,4-1 0,1-3 0,0 1 0,3 1 0,-2 2 0,2-1 0,-3-3 0,-2 3 0,0-1 0,0 1 0,1 2 0,0-1 0,0-2 0,-1 1 0,-1 0 0,3-1 0,-3 2 0,0 2 0,-2 0 0,-2 0 0,0-3 0,2 2 0,-1 0 0,1-1 0,-1 0 0,1-1 0,-1 2 0,-1 1 0,0 0 0,1 1 0,-1-1 0,2-1 0,-1 0 0,0 0 0,0 0 0,0 2 0,0 0 0,-1-1 0,-2 1 0,0 1 0,0 0 0,2 1 0,2-2 0,-1 1 0,1-1 0,-1 0 0,1 0 0,-2-1 0,0 1 0,0 1 0,1 0 0,0 0 0,0-2 0,1 0 0,-1 1 0,-1 3 0,0-2 0,1 2 0,-1-1 0,1-1 0,1 0 0,-1-2 0,-1 2 0,-2 0 0,0 1 0,0 1 0,2-2 0,1 1 0,0 1 0,-1 0 0,1 2 0,-1-2 0,0-1 0,1 1 0,0 0 0,-3 0 0,0-1 0,0 1 0,2 0 0,1 1 0,-1-1 0,1 0 0,-1-1 0,0 1 0,1 2 0,-1 0 0,2 0 0,-1 0 0,-2-2 0,-1-1 0,0 1 0,0 0 0,3 0 0,0 0 0,0-1 0,1 1 0,-2 2 0,0 0 0,1 0 0,-1 0 0,1 0 0,0 0 0,-1 0 0,0 0 0,1 0 0,0 0 0,-1 0 0,0 0 0,0 0 0,0 0 0,2 0 0,-1 0 0,0 0 0,-1 0 0,0 0 0,1 0 0,-1 0 0,1 0 0,-1 0 0,0 0 0,0 0 0,1 0 0,-1 0 0,0 0 0,-1-2 0,-7 0 0,-2-2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15"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u="none" strike="noStrike">
                <a:solidFill>
                  <a:srgbClr val="000000"/>
                </a:solidFill>
                <a:effectLst/>
                <a:uFillTx/>
                <a:latin typeface="Arial"/>
              </a:rPr>
              <a:t>Click to move the slide</a:t>
            </a:r>
          </a:p>
        </p:txBody>
      </p:sp>
      <p:sp>
        <p:nvSpPr>
          <p:cNvPr id="21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GB" sz="2000" b="0" u="none" strike="noStrike">
                <a:solidFill>
                  <a:srgbClr val="000000"/>
                </a:solidFill>
                <a:effectLst/>
                <a:uFillTx/>
                <a:latin typeface="Arial"/>
              </a:rPr>
              <a:t>Click to edit the notes format</a:t>
            </a:r>
          </a:p>
        </p:txBody>
      </p:sp>
      <p:sp>
        <p:nvSpPr>
          <p:cNvPr id="21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u="none" strike="noStrike">
                <a:solidFill>
                  <a:srgbClr val="000000"/>
                </a:solidFill>
                <a:effectLst/>
                <a:uFillTx/>
                <a:latin typeface="Times New Roman"/>
              </a:rPr>
              <a:t>&lt;header&gt;</a:t>
            </a:r>
          </a:p>
        </p:txBody>
      </p:sp>
      <p:sp>
        <p:nvSpPr>
          <p:cNvPr id="218" name="PlaceHolder 4"/>
          <p:cNvSpPr>
            <a:spLocks noGrp="1"/>
          </p:cNvSpPr>
          <p:nvPr>
            <p:ph type="dt" idx="109"/>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p>
        </p:txBody>
      </p:sp>
      <p:sp>
        <p:nvSpPr>
          <p:cNvPr id="219" name="PlaceHolder 5"/>
          <p:cNvSpPr>
            <a:spLocks noGrp="1"/>
          </p:cNvSpPr>
          <p:nvPr>
            <p:ph type="ftr" idx="110"/>
          </p:nvPr>
        </p:nvSpPr>
        <p:spPr>
          <a:xfrm>
            <a:off x="0" y="10157400"/>
            <a:ext cx="3280680" cy="534240"/>
          </a:xfrm>
          <a:prstGeom prst="rect">
            <a:avLst/>
          </a:prstGeom>
          <a:noFill/>
          <a:ln w="0">
            <a:noFill/>
          </a:ln>
        </p:spPr>
        <p:txBody>
          <a:bodyPr lIns="0" tIns="0" r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p>
        </p:txBody>
      </p:sp>
      <p:sp>
        <p:nvSpPr>
          <p:cNvPr id="220" name="PlaceHolder 6"/>
          <p:cNvSpPr>
            <a:spLocks noGrp="1"/>
          </p:cNvSpPr>
          <p:nvPr>
            <p:ph type="sldNum" idx="111"/>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443F2498-5187-42C2-A83F-FE72315DB477}" type="slidenum">
              <a:rPr lang="en-GB" sz="1400" b="0" u="none" strike="noStrike">
                <a:solidFill>
                  <a:srgbClr val="000000"/>
                </a:solidFill>
                <a:effectLst/>
                <a:uFillTx/>
                <a:latin typeface="Times New Roman"/>
              </a:rPr>
              <a:t>‹#›</a:t>
            </a:fld>
            <a:endParaRPr lang="en-GB"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316662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One can access the data in columns and rows easily using the ‘attached’ labels</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4</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4224657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Here talk about how also the index can be not only numeric. </a:t>
            </a:r>
            <a:br>
              <a:rPr lang="en-US" dirty="0"/>
            </a:br>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907065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And having columns containing the same information in two </a:t>
            </a:r>
            <a:r>
              <a:rPr lang="en-US" dirty="0" err="1"/>
              <a:t>dataframes</a:t>
            </a:r>
            <a:r>
              <a:rPr lang="en-US" dirty="0"/>
              <a:t> allows s to ask questions that require consideration of the data from both</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6</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75533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8" name="PlaceHolder 1"/>
          <p:cNvSpPr>
            <a:spLocks noGrp="1" noRot="1" noChangeAspect="1"/>
          </p:cNvSpPr>
          <p:nvPr>
            <p:ph type="sldImg"/>
          </p:nvPr>
        </p:nvSpPr>
        <p:spPr>
          <a:xfrm>
            <a:off x="215900" y="812800"/>
            <a:ext cx="7124700" cy="4006850"/>
          </a:xfrm>
          <a:prstGeom prst="rect">
            <a:avLst/>
          </a:prstGeom>
          <a:ln w="0">
            <a:noFill/>
          </a:ln>
        </p:spPr>
      </p:sp>
      <p:sp>
        <p:nvSpPr>
          <p:cNvPr id="659"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marL="216000" indent="0">
              <a:lnSpc>
                <a:spcPct val="100000"/>
              </a:lnSpc>
              <a:buNone/>
              <a:tabLst>
                <a:tab pos="0" algn="l"/>
              </a:tabLst>
            </a:pPr>
            <a:r>
              <a:rPr lang="en-US" sz="2000" b="0" u="none" strike="noStrike" dirty="0">
                <a:solidFill>
                  <a:srgbClr val="000000"/>
                </a:solidFill>
                <a:effectLst/>
                <a:uFillTx/>
                <a:latin typeface="Calibri"/>
                <a:ea typeface="+mn-ea"/>
              </a:rPr>
              <a:t>Message: concepts are not specific to pandas but general. </a:t>
            </a:r>
            <a:endParaRPr lang="en-GB" sz="2000" b="0" u="none" strike="noStrike" dirty="0">
              <a:solidFill>
                <a:srgbClr val="000000"/>
              </a:solidFill>
              <a:effectLst/>
              <a:uFillTx/>
              <a:latin typeface="+mn-lt"/>
            </a:endParaRPr>
          </a:p>
          <a:p>
            <a:pPr marL="216000" indent="0">
              <a:lnSpc>
                <a:spcPct val="100000"/>
              </a:lnSpc>
              <a:buNone/>
              <a:tabLst>
                <a:tab pos="0" algn="l"/>
              </a:tabLst>
            </a:pPr>
            <a:r>
              <a:rPr lang="en-US" sz="2000" b="0" u="none" strike="noStrike" dirty="0">
                <a:solidFill>
                  <a:srgbClr val="000000"/>
                </a:solidFill>
                <a:effectLst/>
                <a:uFillTx/>
                <a:latin typeface="Calibri"/>
                <a:ea typeface="+mn-ea"/>
              </a:rPr>
              <a:t>Not go into detail but mention that other languages or frameworks use similar concepts (e.g. SQL)</a:t>
            </a:r>
            <a:endParaRPr lang="en-GB" sz="2000" b="0" u="none" strike="noStrike" dirty="0">
              <a:solidFill>
                <a:srgbClr val="000000"/>
              </a:solidFill>
              <a:effectLst/>
              <a:uFillTx/>
              <a:latin typeface="+mn-lt"/>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Explain the exercise. Focus on thinking about the big O complexity and different solutions</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091091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038B8-8C48-5266-B8C5-403FF339B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671EE-3218-F0F5-E2FB-6F28B4A595B6}"/>
              </a:ext>
            </a:extLst>
          </p:cNvPr>
          <p:cNvSpPr>
            <a:spLocks noGrp="1" noRot="1" noChangeAspect="1"/>
          </p:cNvSpPr>
          <p:nvPr>
            <p:ph type="sldImg"/>
          </p:nvPr>
        </p:nvSpPr>
        <p:spPr>
          <a:xfrm>
            <a:off x="0" y="812800"/>
            <a:ext cx="0" cy="0"/>
          </a:xfrm>
        </p:spPr>
      </p:sp>
      <p:sp>
        <p:nvSpPr>
          <p:cNvPr id="3" name="Notes Placeholder 2">
            <a:extLst>
              <a:ext uri="{FF2B5EF4-FFF2-40B4-BE49-F238E27FC236}">
                <a16:creationId xmlns:a16="http://schemas.microsoft.com/office/drawing/2014/main" id="{92576C75-A691-A9BC-68B9-F17A333CBCD2}"/>
              </a:ext>
            </a:extLst>
          </p:cNvPr>
          <p:cNvSpPr>
            <a:spLocks noGrp="1"/>
          </p:cNvSpPr>
          <p:nvPr>
            <p:ph type="body" idx="1"/>
          </p:nvPr>
        </p:nvSpPr>
        <p:spPr/>
        <p:txBody>
          <a:bodyPr/>
          <a:lstStyle/>
          <a:p>
            <a:r>
              <a:rPr lang="en-US" dirty="0"/>
              <a:t>Explain the exercise. Focus on thinking about the big O complexity and different solutions</a:t>
            </a:r>
          </a:p>
        </p:txBody>
      </p:sp>
      <p:sp>
        <p:nvSpPr>
          <p:cNvPr id="4" name="Slide Number Placeholder 3">
            <a:extLst>
              <a:ext uri="{FF2B5EF4-FFF2-40B4-BE49-F238E27FC236}">
                <a16:creationId xmlns:a16="http://schemas.microsoft.com/office/drawing/2014/main" id="{DD9BB80B-E9A0-370E-296F-7E6F62A5E33F}"/>
              </a:ext>
            </a:extLst>
          </p:cNvPr>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8832525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GB" dirty="0"/>
              <a:t>A</a:t>
            </a:r>
            <a:r>
              <a:rPr lang="en-US" dirty="0"/>
              <a:t>dd plot</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16</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367866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GB" dirty="0"/>
              <a:t>A</a:t>
            </a:r>
            <a:r>
              <a:rPr lang="en-US" dirty="0"/>
              <a:t>dd plot</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374251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Explain what does this do by hand:</a:t>
            </a:r>
          </a:p>
          <a:p>
            <a:r>
              <a:rPr lang="en-US" dirty="0"/>
              <a:t>Creates a lookup table (something like a </a:t>
            </a:r>
            <a:r>
              <a:rPr lang="en-US" dirty="0" err="1"/>
              <a:t>dictianry</a:t>
            </a:r>
            <a:r>
              <a:rPr lang="en-US" dirty="0"/>
              <a:t>) from the location-id </a:t>
            </a:r>
            <a:r>
              <a:rPr lang="en-US" dirty="0" err="1"/>
              <a:t>dataframe</a:t>
            </a:r>
            <a:endParaRPr lang="en-US" dirty="0"/>
          </a:p>
          <a:p>
            <a:r>
              <a:rPr lang="en-US" dirty="0"/>
              <a:t>Then goes through all of the rows of the </a:t>
            </a:r>
            <a:r>
              <a:rPr lang="en-US" dirty="0" err="1"/>
              <a:t>patients_df</a:t>
            </a:r>
            <a:r>
              <a:rPr lang="en-US" dirty="0"/>
              <a:t> </a:t>
            </a:r>
            <a:r>
              <a:rPr lang="en-US" dirty="0" err="1"/>
              <a:t>dataframe</a:t>
            </a:r>
            <a:r>
              <a:rPr lang="en-US" dirty="0"/>
              <a:t> (O(N) and looks up the location-id in the dictionary</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3132209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28</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474856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Plan: </a:t>
            </a:r>
          </a:p>
          <a:p>
            <a:r>
              <a:rPr lang="en-US" dirty="0"/>
              <a:t>- Explain the solutions easily</a:t>
            </a:r>
          </a:p>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3710149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endParaRPr lang="en-GB" sz="1200" b="0" u="none" strike="noStrike" dirty="0">
              <a:solidFill>
                <a:srgbClr val="000000"/>
              </a:solidFill>
              <a:effectLst/>
              <a:uFillTx/>
              <a:latin typeface="+mn-lt"/>
            </a:endParaRPr>
          </a:p>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69306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795CA-D5D9-BF93-24FD-7DA4617253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AC7407-1F9F-D676-9EC0-AE7E39DBCF18}"/>
              </a:ext>
            </a:extLst>
          </p:cNvPr>
          <p:cNvSpPr>
            <a:spLocks noGrp="1" noRot="1" noChangeAspect="1"/>
          </p:cNvSpPr>
          <p:nvPr>
            <p:ph type="sldImg"/>
          </p:nvPr>
        </p:nvSpPr>
        <p:spPr>
          <a:xfrm>
            <a:off x="0" y="812800"/>
            <a:ext cx="0" cy="0"/>
          </a:xfrm>
        </p:spPr>
      </p:sp>
      <p:sp>
        <p:nvSpPr>
          <p:cNvPr id="3" name="Notes Placeholder 2">
            <a:extLst>
              <a:ext uri="{FF2B5EF4-FFF2-40B4-BE49-F238E27FC236}">
                <a16:creationId xmlns:a16="http://schemas.microsoft.com/office/drawing/2014/main" id="{BF9F369A-5D84-8A75-7D99-306E7FBEC703}"/>
              </a:ext>
            </a:extLst>
          </p:cNvPr>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endParaRPr lang="en-GB" sz="1200" b="0" u="none" strike="noStrike" dirty="0">
              <a:solidFill>
                <a:srgbClr val="000000"/>
              </a:solidFill>
              <a:effectLst/>
              <a:uFillTx/>
              <a:latin typeface="+mn-lt"/>
            </a:endParaRPr>
          </a:p>
          <a:p>
            <a:endParaRPr lang="en-US" dirty="0"/>
          </a:p>
        </p:txBody>
      </p:sp>
      <p:sp>
        <p:nvSpPr>
          <p:cNvPr id="4" name="Slide Number Placeholder 3">
            <a:extLst>
              <a:ext uri="{FF2B5EF4-FFF2-40B4-BE49-F238E27FC236}">
                <a16:creationId xmlns:a16="http://schemas.microsoft.com/office/drawing/2014/main" id="{871AD302-891D-FBF3-FDC8-B969B3E4FB1B}"/>
              </a:ext>
            </a:extLst>
          </p:cNvPr>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32</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7715645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Window functions perform row-by-row operations on grouped data</a:t>
            </a:r>
            <a:endParaRPr lang="en-GB" sz="2400" b="0" u="none" strike="noStrike" dirty="0">
              <a:solidFill>
                <a:srgbClr val="000000"/>
              </a:solidFill>
              <a:effectLst/>
              <a:uFillTx/>
              <a:latin typeface="+mn-lt"/>
            </a:endParaRPr>
          </a:p>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They are an advanced way of avoiding for loops with tabular data</a:t>
            </a:r>
            <a:endParaRPr lang="en-GB" sz="2400" b="0" u="none" strike="noStrike" dirty="0">
              <a:solidFill>
                <a:srgbClr val="000000"/>
              </a:solidFill>
              <a:effectLst/>
              <a:uFillTx/>
              <a:latin typeface="+mn-lt"/>
            </a:endParaRPr>
          </a:p>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In Pandas, they can be achieved with a combo of sorting and grouping-by</a:t>
            </a:r>
            <a:endParaRPr lang="en-GB" sz="2400" b="0" u="none" strike="noStrike" dirty="0">
              <a:solidFill>
                <a:srgbClr val="000000"/>
              </a:solidFill>
              <a:effectLst/>
              <a:uFillTx/>
              <a:latin typeface="+mn-lt"/>
            </a:endParaRP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00226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1 st bullet point. Like in a house there are specialized rooms for ‘processing’ different action, you’d rarely watch TV in the bathroom, you can. But you don’t do it. And you’d never do what you do in the toile tin the living room.</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52</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732192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AF43-7529-492A-18D9-CCCE0BA0F2EA}"/>
            </a:ext>
          </a:extLst>
        </p:cNvPr>
        <p:cNvGrpSpPr/>
        <p:nvPr/>
      </p:nvGrpSpPr>
      <p:grpSpPr>
        <a:xfrm>
          <a:off x="0" y="0"/>
          <a:ext cx="0" cy="0"/>
          <a:chOff x="0" y="0"/>
          <a:chExt cx="0" cy="0"/>
        </a:xfrm>
      </p:grpSpPr>
      <p:sp>
        <p:nvSpPr>
          <p:cNvPr id="658" name="PlaceHolder 1">
            <a:extLst>
              <a:ext uri="{FF2B5EF4-FFF2-40B4-BE49-F238E27FC236}">
                <a16:creationId xmlns:a16="http://schemas.microsoft.com/office/drawing/2014/main" id="{54E997C5-47FA-3FF7-41F3-8CCD35FCB91E}"/>
              </a:ext>
            </a:extLst>
          </p:cNvPr>
          <p:cNvSpPr>
            <a:spLocks noGrp="1" noRot="1" noChangeAspect="1"/>
          </p:cNvSpPr>
          <p:nvPr>
            <p:ph type="sldImg"/>
          </p:nvPr>
        </p:nvSpPr>
        <p:spPr>
          <a:xfrm>
            <a:off x="215900" y="812800"/>
            <a:ext cx="7124700" cy="4006850"/>
          </a:xfrm>
          <a:prstGeom prst="rect">
            <a:avLst/>
          </a:prstGeom>
          <a:ln w="0">
            <a:noFill/>
          </a:ln>
        </p:spPr>
      </p:sp>
      <p:sp>
        <p:nvSpPr>
          <p:cNvPr id="659" name="PlaceHolder 2">
            <a:extLst>
              <a:ext uri="{FF2B5EF4-FFF2-40B4-BE49-F238E27FC236}">
                <a16:creationId xmlns:a16="http://schemas.microsoft.com/office/drawing/2014/main" id="{876814AB-385C-C811-D138-C6E6D46CC763}"/>
              </a:ext>
            </a:extLst>
          </p:cNvPr>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marL="216000" marR="0" lvl="0" indent="0" algn="l" defTabSz="914400" rtl="0" eaLnBrk="1" fontAlgn="auto" latinLnBrk="0" hangingPunct="1">
              <a:lnSpc>
                <a:spcPct val="100000"/>
              </a:lnSpc>
              <a:spcBef>
                <a:spcPts val="0"/>
              </a:spcBef>
              <a:spcAft>
                <a:spcPts val="0"/>
              </a:spcAft>
              <a:buClrTx/>
              <a:buSzTx/>
              <a:buFontTx/>
              <a:buNone/>
              <a:tabLst>
                <a:tab pos="0" algn="l"/>
              </a:tabLst>
              <a:defRPr/>
            </a:pPr>
            <a:r>
              <a:rPr lang="en-US" sz="2000" dirty="0"/>
              <a:t>Not only is the syntax very similar, but the computation is also highly identical</a:t>
            </a:r>
          </a:p>
          <a:p>
            <a:pPr marL="216000" indent="0">
              <a:lnSpc>
                <a:spcPct val="100000"/>
              </a:lnSpc>
              <a:buNone/>
              <a:tabLst>
                <a:tab pos="0" algn="l"/>
              </a:tabLst>
            </a:pPr>
            <a:endParaRPr lang="en-US" sz="2000" b="0" u="none" strike="noStrike" dirty="0">
              <a:solidFill>
                <a:srgbClr val="000000"/>
              </a:solidFill>
              <a:effectLst/>
              <a:uFillTx/>
              <a:latin typeface="Calibri"/>
              <a:ea typeface="DejaVu Sans"/>
            </a:endParaRPr>
          </a:p>
          <a:p>
            <a:pPr marL="216000" indent="0">
              <a:lnSpc>
                <a:spcPct val="100000"/>
              </a:lnSpc>
              <a:buNone/>
              <a:tabLst>
                <a:tab pos="0" algn="l"/>
              </a:tabLst>
            </a:pPr>
            <a:r>
              <a:rPr lang="en-US" sz="2000" b="0" u="none" strike="noStrike" dirty="0">
                <a:solidFill>
                  <a:srgbClr val="000000"/>
                </a:solidFill>
                <a:effectLst/>
                <a:uFillTx/>
                <a:latin typeface="Calibri"/>
                <a:ea typeface="DejaVu Sans"/>
              </a:rPr>
              <a:t>Message: concepts are not specific to pandas but general. </a:t>
            </a:r>
            <a:endParaRPr lang="en-GB" sz="2000" b="0" u="none" strike="noStrike" dirty="0">
              <a:solidFill>
                <a:srgbClr val="000000"/>
              </a:solidFill>
              <a:effectLst/>
              <a:uFillTx/>
              <a:latin typeface="Arial"/>
            </a:endParaRPr>
          </a:p>
          <a:p>
            <a:pPr marL="216000" indent="0">
              <a:lnSpc>
                <a:spcPct val="100000"/>
              </a:lnSpc>
              <a:buNone/>
              <a:tabLst>
                <a:tab pos="0" algn="l"/>
              </a:tabLst>
            </a:pPr>
            <a:r>
              <a:rPr lang="en-US" sz="2000" b="0" u="none" strike="noStrike" dirty="0">
                <a:solidFill>
                  <a:srgbClr val="000000"/>
                </a:solidFill>
                <a:effectLst/>
                <a:uFillTx/>
                <a:latin typeface="Calibri"/>
                <a:ea typeface="DejaVu Sans"/>
              </a:rPr>
              <a:t>Not go into detail but mention that other languages or frameworks use similar concepts (e.g. SQL)</a:t>
            </a:r>
            <a:endParaRPr lang="en-GB" sz="2000" b="0" u="none" strike="noStrike" dirty="0">
              <a:solidFill>
                <a:srgbClr val="000000"/>
              </a:solidFill>
              <a:effectLst/>
              <a:uFillTx/>
              <a:latin typeface="Arial"/>
            </a:endParaRPr>
          </a:p>
        </p:txBody>
      </p:sp>
    </p:spTree>
    <p:extLst>
      <p:ext uri="{BB962C8B-B14F-4D97-AF65-F5344CB8AC3E}">
        <p14:creationId xmlns:p14="http://schemas.microsoft.com/office/powerpoint/2010/main" val="22804390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55" name="PlaceHolder 4"/>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56"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3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0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
        <p:nvSpPr>
          <p:cNvPr id="2" name="PlaceHolder 2">
            <a:extLst>
              <a:ext uri="{FF2B5EF4-FFF2-40B4-BE49-F238E27FC236}">
                <a16:creationId xmlns:a16="http://schemas.microsoft.com/office/drawing/2014/main" id="{524F1DE7-7207-EE13-A09C-5D8B847FFC67}"/>
              </a:ext>
            </a:extLst>
          </p:cNvPr>
          <p:cNvSpPr>
            <a:spLocks noGrp="1"/>
          </p:cNvSpPr>
          <p:nvPr>
            <p:ph type="ftr" idx="1"/>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r>
              <a:rPr lang="en-US"/>
              <a:t>Tab, v4.0</a:t>
            </a:r>
            <a:endParaRPr lang="en-US" dirty="0"/>
          </a:p>
        </p:txBody>
      </p:sp>
      <p:sp>
        <p:nvSpPr>
          <p:cNvPr id="3" name="PlaceHolder 3">
            <a:extLst>
              <a:ext uri="{FF2B5EF4-FFF2-40B4-BE49-F238E27FC236}">
                <a16:creationId xmlns:a16="http://schemas.microsoft.com/office/drawing/2014/main" id="{52AB37A6-A3AB-08F8-8D29-E763EC787EC0}"/>
              </a:ext>
            </a:extLst>
          </p:cNvPr>
          <p:cNvSpPr>
            <a:spLocks noGrp="1"/>
          </p:cNvSpPr>
          <p:nvPr>
            <p:ph type="sldNum" idx="2"/>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26C5790-D993-4051-82AE-D75E25E1987E}" type="slidenum">
              <a:rPr lang="en-US" sz="1200" b="0" u="none" strike="noStrike">
                <a:solidFill>
                  <a:srgbClr val="8B8B8B"/>
                </a:solidFill>
                <a:effectLst/>
                <a:uFillTx/>
                <a:latin typeface="Calibri"/>
                <a:ea typeface="DejaVu Sans"/>
              </a:rPr>
              <a:t>‹#›</a:t>
            </a:fld>
            <a:endParaRPr lang="en-GB" sz="1200" b="0" u="none" strike="noStrike" dirty="0">
              <a:solidFill>
                <a:srgbClr val="000000"/>
              </a:solidFill>
              <a:effectLst/>
              <a:uFillTx/>
              <a:latin typeface="Times New Roman"/>
            </a:endParaRPr>
          </a:p>
        </p:txBody>
      </p:sp>
      <p:sp>
        <p:nvSpPr>
          <p:cNvPr id="4" name="PlaceHolder 4">
            <a:extLst>
              <a:ext uri="{FF2B5EF4-FFF2-40B4-BE49-F238E27FC236}">
                <a16:creationId xmlns:a16="http://schemas.microsoft.com/office/drawing/2014/main" id="{75F45193-782B-446B-04BE-7F2F68D2EF1E}"/>
              </a:ext>
            </a:extLst>
          </p:cNvPr>
          <p:cNvSpPr>
            <a:spLocks noGrp="1"/>
          </p:cNvSpPr>
          <p:nvPr>
            <p:ph type="dt" idx="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2">
            <a:extLst>
              <a:ext uri="{FF2B5EF4-FFF2-40B4-BE49-F238E27FC236}">
                <a16:creationId xmlns:a16="http://schemas.microsoft.com/office/drawing/2014/main" id="{7996DFDB-ACD1-8811-ADA5-4BD4C65359F9}"/>
              </a:ext>
            </a:extLst>
          </p:cNvPr>
          <p:cNvSpPr>
            <a:spLocks noGrp="1"/>
          </p:cNvSpPr>
          <p:nvPr>
            <p:ph type="ftr" idx="3"/>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r>
              <a:rPr lang="en-US"/>
              <a:t>Tab, v4.0</a:t>
            </a:r>
            <a:endParaRPr lang="en-US" dirty="0"/>
          </a:p>
        </p:txBody>
      </p:sp>
      <p:sp>
        <p:nvSpPr>
          <p:cNvPr id="3" name="PlaceHolder 3">
            <a:extLst>
              <a:ext uri="{FF2B5EF4-FFF2-40B4-BE49-F238E27FC236}">
                <a16:creationId xmlns:a16="http://schemas.microsoft.com/office/drawing/2014/main" id="{6A7CA069-43BC-DF2E-04A8-C32C373929BE}"/>
              </a:ext>
            </a:extLst>
          </p:cNvPr>
          <p:cNvSpPr>
            <a:spLocks noGrp="1"/>
          </p:cNvSpPr>
          <p:nvPr>
            <p:ph type="sldNum" idx="4"/>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26C5790-D993-4051-82AE-D75E25E1987E}" type="slidenum">
              <a:rPr lang="en-US" sz="1200" b="0" u="none" strike="noStrike">
                <a:solidFill>
                  <a:srgbClr val="8B8B8B"/>
                </a:solidFill>
                <a:effectLst/>
                <a:uFillTx/>
                <a:latin typeface="Calibri"/>
                <a:ea typeface="DejaVu Sans"/>
              </a:rPr>
              <a:t>‹#›</a:t>
            </a:fld>
            <a:endParaRPr lang="en-GB" sz="1200" b="0" u="none" strike="noStrike" dirty="0">
              <a:solidFill>
                <a:srgbClr val="000000"/>
              </a:solidFill>
              <a:effectLst/>
              <a:uFillTx/>
              <a:latin typeface="Times New Roman"/>
            </a:endParaRPr>
          </a:p>
        </p:txBody>
      </p:sp>
      <p:sp>
        <p:nvSpPr>
          <p:cNvPr id="4" name="PlaceHolder 4">
            <a:extLst>
              <a:ext uri="{FF2B5EF4-FFF2-40B4-BE49-F238E27FC236}">
                <a16:creationId xmlns:a16="http://schemas.microsoft.com/office/drawing/2014/main" id="{5170C064-E795-E31F-D0C1-0A2D1373B621}"/>
              </a:ext>
            </a:extLst>
          </p:cNvPr>
          <p:cNvSpPr>
            <a:spLocks noGrp="1"/>
          </p:cNvSpPr>
          <p:nvPr>
            <p:ph type="dt" idx="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 bg1="lt1" tx1="dk1" bg2="lt2" tx2="dk2" accent1="accent1" accent2="accent2" accent3="accent3" accent4="accent4" accent5="accent5" accent6="accent6" hlink="hlink" folHlink="folHlink"/>
  <p:sldLayoutIdLst>
    <p:sldLayoutId id="2147483657" r:id="rId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sv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22.png"/><Relationship Id="rId3" Type="http://schemas.openxmlformats.org/officeDocument/2006/relationships/image" Target="../media/image16.png"/><Relationship Id="rId7" Type="http://schemas.openxmlformats.org/officeDocument/2006/relationships/image" Target="../media/image19.png"/><Relationship Id="rId12" Type="http://schemas.openxmlformats.org/officeDocument/2006/relationships/customXml" Target="../ink/ink5.xml"/><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customXml" Target="../ink/ink2.xml"/><Relationship Id="rId11" Type="http://schemas.openxmlformats.org/officeDocument/2006/relationships/image" Target="../media/image21.png"/><Relationship Id="rId5" Type="http://schemas.openxmlformats.org/officeDocument/2006/relationships/image" Target="../media/image18.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20.png"/></Relationships>
</file>

<file path=ppt/slides/_rels/slide23.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customXml" Target="../ink/ink7.xml"/><Relationship Id="rId5" Type="http://schemas.openxmlformats.org/officeDocument/2006/relationships/image" Target="../media/image18.png"/><Relationship Id="rId10" Type="http://schemas.openxmlformats.org/officeDocument/2006/relationships/image" Target="../media/image18.svg"/><Relationship Id="rId4" Type="http://schemas.openxmlformats.org/officeDocument/2006/relationships/customXml" Target="../ink/ink6.xml"/><Relationship Id="rId9"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2.xml"/></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comments" Target="../comments/comment3.xml"/></Relationships>
</file>

<file path=ppt/slides/_rels/slide33.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44.png"/><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46.png"/><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6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comments" Target="../comments/comment5.xml"/></Relationships>
</file>

<file path=ppt/slides/_rels/slide6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jpeg"/><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hyperlink" Target="https://www.nejm.org/doi/full/10.1056/NEJMoa1800389" TargetMode="External"/><Relationship Id="rId2" Type="http://schemas.openxmlformats.org/officeDocument/2006/relationships/image" Target="../media/image54.jpe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hyperlink" Target="https://www.nejm.org/doi/full/10.1056/NEJMoa1800389" TargetMode="Externa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7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7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9.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ceHolder 2"/>
          <p:cNvSpPr>
            <a:spLocks noGrp="1"/>
          </p:cNvSpPr>
          <p:nvPr>
            <p:ph type="ftr" idx="1"/>
          </p:nvPr>
        </p:nvSpPr>
        <p:spPr/>
        <p:txBody>
          <a:bodyPr/>
          <a:lstStyle/>
          <a:p>
            <a:r>
              <a:rPr lang="en-US"/>
              <a:t>Tab, v4.0</a:t>
            </a:r>
            <a:endParaRPr dirty="0"/>
          </a:p>
        </p:txBody>
      </p:sp>
      <p:sp>
        <p:nvSpPr>
          <p:cNvPr id="4" name="PlaceHolder 3"/>
          <p:cNvSpPr>
            <a:spLocks noGrp="1"/>
          </p:cNvSpPr>
          <p:nvPr>
            <p:ph type="sldNum" idx="2"/>
          </p:nvPr>
        </p:nvSpPr>
        <p:spPr/>
        <p:txBody>
          <a:bodyPr/>
          <a:lstStyle/>
          <a:p>
            <a:fld id="{2CBFA259-BABD-46FB-B7BE-7FC62B612749}" type="slidenum">
              <a:rPr/>
              <a:t>1</a:t>
            </a:fld>
            <a:endParaRPr dirty="0"/>
          </a:p>
        </p:txBody>
      </p:sp>
      <p:sp>
        <p:nvSpPr>
          <p:cNvPr id="221"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de-CH" sz="1200" b="0" u="none" strike="noStrike" dirty="0">
              <a:solidFill>
                <a:srgbClr val="8B8B8B"/>
              </a:solidFill>
              <a:effectLst/>
              <a:uFillTx/>
              <a:latin typeface="Calibri"/>
              <a:ea typeface="DejaVu Sans"/>
            </a:endParaRPr>
          </a:p>
        </p:txBody>
      </p:sp>
      <p:pic>
        <p:nvPicPr>
          <p:cNvPr id="222" name="Picture 42" descr="Image"/>
          <p:cNvPicPr/>
          <p:nvPr/>
        </p:nvPicPr>
        <p:blipFill>
          <a:blip r:embed="rId3"/>
          <a:srcRect t="13533" b="10643"/>
          <a:stretch/>
        </p:blipFill>
        <p:spPr>
          <a:xfrm>
            <a:off x="1112400" y="2121120"/>
            <a:ext cx="9964080" cy="4232160"/>
          </a:xfrm>
          <a:prstGeom prst="rect">
            <a:avLst/>
          </a:prstGeom>
          <a:noFill/>
          <a:ln w="0">
            <a:noFill/>
          </a:ln>
        </p:spPr>
      </p:pic>
      <p:sp>
        <p:nvSpPr>
          <p:cNvPr id="223" name="Title 1"/>
          <p:cNvSpPr/>
          <p:nvPr/>
        </p:nvSpPr>
        <p:spPr>
          <a:xfrm>
            <a:off x="263520" y="360000"/>
            <a:ext cx="11928240" cy="148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pPr>
            <a:r>
              <a:rPr lang="en-US" sz="8000" b="0" u="none" strike="noStrike" dirty="0">
                <a:solidFill>
                  <a:srgbClr val="000000"/>
                </a:solidFill>
                <a:effectLst/>
                <a:uFillTx/>
                <a:latin typeface="Calibri" panose="020F0502020204030204" pitchFamily="34" charset="0"/>
                <a:ea typeface="DejaVu Sans"/>
                <a:cs typeface="Calibri" panose="020F0502020204030204" pitchFamily="34" charset="0"/>
              </a:rPr>
              <a:t>Tabular data </a:t>
            </a:r>
            <a:endParaRPr lang="en-GB" sz="8000" b="0" u="none" strike="noStrike" dirty="0">
              <a:solidFill>
                <a:srgbClr val="000000"/>
              </a:solidFill>
              <a:effectLst/>
              <a:uFillTx/>
              <a:latin typeface="Calibri" panose="020F0502020204030204" pitchFamily="34" charset="0"/>
              <a:cs typeface="Calibri" panose="020F0502020204030204" pitchFamily="34" charset="0"/>
            </a:endParaRPr>
          </a:p>
          <a:p>
            <a:pPr>
              <a:lnSpc>
                <a:spcPct val="90000"/>
              </a:lnSpc>
            </a:pPr>
            <a:r>
              <a:rPr lang="en-US" sz="4200" b="0" u="none" strike="noStrike" dirty="0">
                <a:solidFill>
                  <a:srgbClr val="000000"/>
                </a:solidFill>
                <a:effectLst/>
                <a:uFillTx/>
                <a:latin typeface="Calibri" panose="020F0502020204030204" pitchFamily="34" charset="0"/>
                <a:ea typeface="DejaVu Sans"/>
                <a:cs typeface="Calibri" panose="020F0502020204030204" pitchFamily="34" charset="0"/>
              </a:rPr>
              <a:t>A particular type of data structure</a:t>
            </a:r>
            <a:endParaRPr lang="en-GB" sz="4200" b="0" u="none" strike="noStrike" dirty="0">
              <a:solidFill>
                <a:srgbClr val="000000"/>
              </a:solidFill>
              <a:effectLst/>
              <a:uFillTx/>
              <a:latin typeface="Calibri" panose="020F0502020204030204" pitchFamily="34" charset="0"/>
              <a:cs typeface="Calibri" panose="020F050202020403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608220" y="39600"/>
            <a:ext cx="10972080" cy="114444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Spreadsheets and databases rule the world!</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48" name="TextBox 8"/>
          <p:cNvSpPr/>
          <p:nvPr/>
        </p:nvSpPr>
        <p:spPr>
          <a:xfrm>
            <a:off x="7248240" y="6250320"/>
            <a:ext cx="4559760" cy="423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100" b="0" u="none" strike="noStrike">
                <a:solidFill>
                  <a:srgbClr val="A6A6A6"/>
                </a:solidFill>
                <a:effectLst/>
                <a:uFillTx/>
                <a:latin typeface="Calibri"/>
                <a:ea typeface="DejaVu Sans"/>
              </a:rPr>
              <a:t>https://techcommunity.microsoft.com/t5/excel-blog/guinness-world-records-the-largest-collection-of-spreadsheet/ba-p/216592</a:t>
            </a:r>
            <a:endParaRPr lang="en-GB" sz="1100" b="0" u="none" strike="noStrike" dirty="0">
              <a:solidFill>
                <a:srgbClr val="000000"/>
              </a:solidFill>
              <a:effectLst/>
              <a:uFillTx/>
              <a:latin typeface="Arial"/>
            </a:endParaRPr>
          </a:p>
        </p:txBody>
      </p:sp>
      <p:grpSp>
        <p:nvGrpSpPr>
          <p:cNvPr id="249" name="Group 11"/>
          <p:cNvGrpSpPr/>
          <p:nvPr/>
        </p:nvGrpSpPr>
        <p:grpSpPr>
          <a:xfrm>
            <a:off x="2446200" y="1184040"/>
            <a:ext cx="7296120" cy="4979160"/>
            <a:chOff x="2446200" y="1184040"/>
            <a:chExt cx="7296120" cy="4979160"/>
          </a:xfrm>
        </p:grpSpPr>
        <p:pic>
          <p:nvPicPr>
            <p:cNvPr id="250" name="Picture 6"/>
            <p:cNvPicPr/>
            <p:nvPr/>
          </p:nvPicPr>
          <p:blipFill>
            <a:blip r:embed="rId2"/>
            <a:stretch/>
          </p:blipFill>
          <p:spPr>
            <a:xfrm>
              <a:off x="2452680" y="1184040"/>
              <a:ext cx="7093080" cy="4979160"/>
            </a:xfrm>
            <a:prstGeom prst="rect">
              <a:avLst/>
            </a:prstGeom>
            <a:noFill/>
            <a:ln w="0">
              <a:noFill/>
            </a:ln>
          </p:spPr>
        </p:pic>
        <p:sp>
          <p:nvSpPr>
            <p:cNvPr id="251" name="TextBox 7"/>
            <p:cNvSpPr/>
            <p:nvPr/>
          </p:nvSpPr>
          <p:spPr>
            <a:xfrm>
              <a:off x="2446200" y="5589000"/>
              <a:ext cx="7296120" cy="515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400" b="1" i="1" u="none" strike="noStrike">
                  <a:solidFill>
                    <a:srgbClr val="FFFFFF"/>
                  </a:solidFill>
                  <a:effectLst/>
                  <a:uFillTx/>
                  <a:latin typeface="Calibri"/>
                  <a:ea typeface="DejaVu Sans"/>
                </a:rPr>
                <a:t>Ariel </a:t>
              </a:r>
              <a:r>
                <a:rPr lang="en-US" sz="1400" b="1" i="1" u="none" strike="noStrike">
                  <a:solidFill>
                    <a:srgbClr val="FFFFFF"/>
                  </a:solidFill>
                  <a:effectLst/>
                  <a:uFillTx/>
                  <a:latin typeface="SegoeUI"/>
                  <a:ea typeface="DejaVu Sans"/>
                </a:rPr>
                <a:t>Fischman holds the Guinness World Record for owning the most spreadsheet software (over 500!)</a:t>
              </a:r>
              <a:endParaRPr lang="en-GB" sz="1400" b="0" u="none" strike="noStrike">
                <a:solidFill>
                  <a:srgbClr val="000000"/>
                </a:solidFill>
                <a:effectLst/>
                <a:uFillTx/>
                <a:latin typeface="Arial"/>
              </a:endParaRPr>
            </a:p>
          </p:txBody>
        </p:sp>
      </p:grpSp>
      <p:sp>
        <p:nvSpPr>
          <p:cNvPr id="3" name="PlaceHolder 1">
            <a:extLst>
              <a:ext uri="{FF2B5EF4-FFF2-40B4-BE49-F238E27FC236}">
                <a16:creationId xmlns:a16="http://schemas.microsoft.com/office/drawing/2014/main" id="{B2E12346-22C4-6790-B2DE-19A85E02B72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2">
            <a:extLst>
              <a:ext uri="{FF2B5EF4-FFF2-40B4-BE49-F238E27FC236}">
                <a16:creationId xmlns:a16="http://schemas.microsoft.com/office/drawing/2014/main" id="{3894F057-2F0A-9E9B-F83D-393572512D74}"/>
              </a:ext>
            </a:extLst>
          </p:cNvPr>
          <p:cNvSpPr>
            <a:spLocks noGrp="1"/>
          </p:cNvSpPr>
          <p:nvPr>
            <p:ph type="ftr" idx="1"/>
          </p:nvPr>
        </p:nvSpPr>
        <p:spPr>
          <a:xfrm>
            <a:off x="4038480" y="6356520"/>
            <a:ext cx="4111560" cy="361800"/>
          </a:xfrm>
        </p:spPr>
        <p:txBody>
          <a:bodyPr/>
          <a:lstStyle/>
          <a:p>
            <a:r>
              <a:rPr lang="en-US"/>
              <a:t>Tab, v4.0</a:t>
            </a:r>
            <a:endParaRPr dirty="0"/>
          </a:p>
        </p:txBody>
      </p:sp>
      <p:sp>
        <p:nvSpPr>
          <p:cNvPr id="2" name="Date Placeholder 1">
            <a:extLst>
              <a:ext uri="{FF2B5EF4-FFF2-40B4-BE49-F238E27FC236}">
                <a16:creationId xmlns:a16="http://schemas.microsoft.com/office/drawing/2014/main" id="{060E92B0-DE18-FA13-0173-FE4E6CA39A86}"/>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4" name="Slide Number Placeholder 3">
            <a:extLst>
              <a:ext uri="{FF2B5EF4-FFF2-40B4-BE49-F238E27FC236}">
                <a16:creationId xmlns:a16="http://schemas.microsoft.com/office/drawing/2014/main" id="{E3CA69E9-F9AE-79F0-B3BC-6FD80E50BEA4}"/>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2</a:t>
            </a:fld>
            <a:endParaRPr lang="en-GB" sz="1200" b="0" u="none" strike="noStrike" dirty="0">
              <a:solidFill>
                <a:srgbClr val="000000"/>
              </a:solidFill>
              <a:effectLst/>
              <a:uFillTx/>
              <a:latin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26" name="Table 6"/>
          <p:cNvGraphicFramePr/>
          <p:nvPr>
            <p:extLst>
              <p:ext uri="{D42A27DB-BD31-4B8C-83A1-F6EECF244321}">
                <p14:modId xmlns:p14="http://schemas.microsoft.com/office/powerpoint/2010/main" val="2982385278"/>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224"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sldNum" idx="2"/>
          </p:nvPr>
        </p:nvSpPr>
        <p:spPr/>
        <p:txBody>
          <a:bodyPr/>
          <a:lstStyle/>
          <a:p>
            <a:fld id="{A1E596C4-6989-4025-9F10-DAD178BCAE86}" type="slidenum">
              <a:rPr>
                <a:latin typeface="Calibri" panose="020F0502020204030204" pitchFamily="34" charset="0"/>
                <a:cs typeface="Calibri" panose="020F0502020204030204" pitchFamily="34" charset="0"/>
              </a:rPr>
              <a:t>3</a:t>
            </a:fld>
            <a:endParaRPr>
              <a:latin typeface="Calibri" panose="020F0502020204030204" pitchFamily="34" charset="0"/>
              <a:cs typeface="Calibri" panose="020F0502020204030204" pitchFamily="34" charset="0"/>
            </a:endParaRPr>
          </a:p>
        </p:txBody>
      </p:sp>
      <p:sp>
        <p:nvSpPr>
          <p:cNvPr id="228" name="TextBox 7"/>
          <p:cNvSpPr/>
          <p:nvPr/>
        </p:nvSpPr>
        <p:spPr>
          <a:xfrm>
            <a:off x="6672820" y="762120"/>
            <a:ext cx="3741120" cy="1014209"/>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Unlike arrays, each column can represent another type of value, with different data types</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229" name="Straight Arrow Connector 10"/>
          <p:cNvCxnSpPr>
            <a:cxnSpLocks/>
          </p:cNvCxnSpPr>
          <p:nvPr/>
        </p:nvCxnSpPr>
        <p:spPr>
          <a:xfrm flipH="1">
            <a:off x="4515729" y="1729409"/>
            <a:ext cx="2157091" cy="691591"/>
          </a:xfrm>
          <a:prstGeom prst="straightConnector1">
            <a:avLst/>
          </a:prstGeom>
          <a:ln w="38100">
            <a:solidFill>
              <a:srgbClr val="000000"/>
            </a:solidFill>
            <a:round/>
            <a:tailEnd type="triangle" w="med" len="med"/>
          </a:ln>
        </p:spPr>
      </p:cxnSp>
      <p:cxnSp>
        <p:nvCxnSpPr>
          <p:cNvPr id="230" name="Straight Arrow Connector 12"/>
          <p:cNvCxnSpPr>
            <a:cxnSpLocks/>
            <a:endCxn id="226" idx="0"/>
          </p:cNvCxnSpPr>
          <p:nvPr/>
        </p:nvCxnSpPr>
        <p:spPr>
          <a:xfrm flipH="1">
            <a:off x="6105600" y="1776329"/>
            <a:ext cx="1354975" cy="644671"/>
          </a:xfrm>
          <a:prstGeom prst="straightConnector1">
            <a:avLst/>
          </a:prstGeom>
          <a:ln w="38100">
            <a:solidFill>
              <a:srgbClr val="000000"/>
            </a:solidFill>
            <a:round/>
            <a:tailEnd type="triangle" w="med" len="med"/>
          </a:ln>
        </p:spPr>
      </p:cxnSp>
      <p:cxnSp>
        <p:nvCxnSpPr>
          <p:cNvPr id="231" name="Straight Arrow Connector 14"/>
          <p:cNvCxnSpPr>
            <a:cxnSpLocks/>
            <a:stCxn id="228" idx="2"/>
          </p:cNvCxnSpPr>
          <p:nvPr/>
        </p:nvCxnSpPr>
        <p:spPr>
          <a:xfrm flipH="1">
            <a:off x="7807569" y="1776329"/>
            <a:ext cx="735811" cy="644671"/>
          </a:xfrm>
          <a:prstGeom prst="straightConnector1">
            <a:avLst/>
          </a:prstGeom>
          <a:ln w="38100">
            <a:solidFill>
              <a:srgbClr val="000000"/>
            </a:solidFill>
            <a:round/>
            <a:tailEnd type="triangle" w="med" len="med"/>
          </a:ln>
        </p:spPr>
      </p:cxnSp>
      <p:cxnSp>
        <p:nvCxnSpPr>
          <p:cNvPr id="232" name="Straight Arrow Connector 16"/>
          <p:cNvCxnSpPr>
            <a:cxnSpLocks/>
          </p:cNvCxnSpPr>
          <p:nvPr/>
        </p:nvCxnSpPr>
        <p:spPr>
          <a:xfrm>
            <a:off x="9650437" y="1729409"/>
            <a:ext cx="0" cy="691591"/>
          </a:xfrm>
          <a:prstGeom prst="straightConnector1">
            <a:avLst/>
          </a:prstGeom>
          <a:ln w="38100">
            <a:solidFill>
              <a:srgbClr val="000000"/>
            </a:solidFill>
            <a:round/>
            <a:tailEnd type="triangle" w="med" len="med"/>
          </a:ln>
        </p:spPr>
      </p:cxnSp>
      <p:cxnSp>
        <p:nvCxnSpPr>
          <p:cNvPr id="233" name="Straight Arrow Connector 18"/>
          <p:cNvCxnSpPr>
            <a:cxnSpLocks/>
          </p:cNvCxnSpPr>
          <p:nvPr/>
        </p:nvCxnSpPr>
        <p:spPr>
          <a:xfrm flipH="1">
            <a:off x="2729132" y="1252330"/>
            <a:ext cx="3949965" cy="1168670"/>
          </a:xfrm>
          <a:prstGeom prst="straightConnector1">
            <a:avLst/>
          </a:prstGeom>
          <a:ln w="38100">
            <a:solidFill>
              <a:srgbClr val="000000"/>
            </a:solidFill>
            <a:round/>
            <a:tailEnd type="triangle" w="med" len="med"/>
          </a:ln>
        </p:spPr>
      </p:cxnSp>
      <p:sp>
        <p:nvSpPr>
          <p:cNvPr id="6" name="PlaceHolder 1">
            <a:extLst>
              <a:ext uri="{FF2B5EF4-FFF2-40B4-BE49-F238E27FC236}">
                <a16:creationId xmlns:a16="http://schemas.microsoft.com/office/drawing/2014/main" id="{487CFEC6-DDBB-2309-7F17-DC291940FDF2}"/>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80F1CE3C-ED07-D900-6756-06758976EE33}"/>
              </a:ext>
            </a:extLst>
          </p:cNvPr>
          <p:cNvSpPr>
            <a:spLocks noGrp="1"/>
          </p:cNvSpPr>
          <p:nvPr>
            <p:ph type="ftr" idx="1"/>
          </p:nvPr>
        </p:nvSpPr>
        <p:spPr>
          <a:xfrm>
            <a:off x="4038480" y="6356520"/>
            <a:ext cx="4111560" cy="361800"/>
          </a:xfrm>
        </p:spPr>
        <p:txBody>
          <a:bodyPr/>
          <a:lstStyle/>
          <a:p>
            <a:r>
              <a:rPr lang="en-US"/>
              <a:t>Tab, v4.0</a:t>
            </a:r>
            <a:endParaRPr dirty="0"/>
          </a:p>
        </p:txBody>
      </p:sp>
      <p:sp>
        <p:nvSpPr>
          <p:cNvPr id="2" name="Date Placeholder 1">
            <a:extLst>
              <a:ext uri="{FF2B5EF4-FFF2-40B4-BE49-F238E27FC236}">
                <a16:creationId xmlns:a16="http://schemas.microsoft.com/office/drawing/2014/main" id="{5EB4695D-A48F-8CD8-6477-42162DC4D3DB}"/>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6" name="Table 6"/>
          <p:cNvGraphicFramePr/>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234"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4</a:t>
            </a:fld>
            <a:endParaRPr>
              <a:latin typeface="Calibri" panose="020F0502020204030204" pitchFamily="34" charset="0"/>
              <a:cs typeface="Calibri" panose="020F0502020204030204" pitchFamily="34" charset="0"/>
            </a:endParaRPr>
          </a:p>
        </p:txBody>
      </p:sp>
      <p:sp>
        <p:nvSpPr>
          <p:cNvPr id="238" name="TextBox 7"/>
          <p:cNvSpPr/>
          <p:nvPr/>
        </p:nvSpPr>
        <p:spPr>
          <a:xfrm>
            <a:off x="708046" y="1223775"/>
            <a:ext cx="4014266" cy="1014209"/>
          </a:xfrm>
          <a:prstGeom prst="rect">
            <a:avLst/>
          </a:prstGeom>
          <a:solidFill>
            <a:schemeClr val="accent4"/>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Column and rows have meaningful labels (indices) that are attached to the data for each operation</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1">
            <a:extLst>
              <a:ext uri="{FF2B5EF4-FFF2-40B4-BE49-F238E27FC236}">
                <a16:creationId xmlns:a16="http://schemas.microsoft.com/office/drawing/2014/main" id="{A3AAFCC3-09B2-80DF-A584-0405BADE9A1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8" name="PlaceHolder 2">
            <a:extLst>
              <a:ext uri="{FF2B5EF4-FFF2-40B4-BE49-F238E27FC236}">
                <a16:creationId xmlns:a16="http://schemas.microsoft.com/office/drawing/2014/main" id="{8D20B855-6A94-E42E-52C9-D25590DF36DB}"/>
              </a:ext>
            </a:extLst>
          </p:cNvPr>
          <p:cNvSpPr>
            <a:spLocks noGrp="1"/>
          </p:cNvSpPr>
          <p:nvPr>
            <p:ph type="ftr" idx="1"/>
          </p:nvPr>
        </p:nvSpPr>
        <p:spPr>
          <a:xfrm>
            <a:off x="4038480" y="6356520"/>
            <a:ext cx="4111560" cy="361800"/>
          </a:xfrm>
        </p:spPr>
        <p:txBody>
          <a:bodyPr/>
          <a:lstStyle/>
          <a:p>
            <a:r>
              <a:rPr lang="en-US"/>
              <a:t>Tab, v4.0</a:t>
            </a:r>
            <a:endParaRPr dirty="0"/>
          </a:p>
        </p:txBody>
      </p:sp>
      <p:sp>
        <p:nvSpPr>
          <p:cNvPr id="2" name="Date Placeholder 1">
            <a:extLst>
              <a:ext uri="{FF2B5EF4-FFF2-40B4-BE49-F238E27FC236}">
                <a16:creationId xmlns:a16="http://schemas.microsoft.com/office/drawing/2014/main" id="{3E21C351-A1D1-F0F3-8BE7-B75C27FB8F30}"/>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DBBE3-D1D4-6614-C512-05A13D4F8998}"/>
            </a:ext>
          </a:extLst>
        </p:cNvPr>
        <p:cNvGrpSpPr/>
        <p:nvPr/>
      </p:nvGrpSpPr>
      <p:grpSpPr>
        <a:xfrm>
          <a:off x="0" y="0"/>
          <a:ext cx="0" cy="0"/>
          <a:chOff x="0" y="0"/>
          <a:chExt cx="0" cy="0"/>
        </a:xfrm>
      </p:grpSpPr>
      <p:graphicFrame>
        <p:nvGraphicFramePr>
          <p:cNvPr id="237" name="Table 2">
            <a:extLst>
              <a:ext uri="{FF2B5EF4-FFF2-40B4-BE49-F238E27FC236}">
                <a16:creationId xmlns:a16="http://schemas.microsoft.com/office/drawing/2014/main" id="{F11DF7ED-A211-2E1B-A711-B548552ABF79}"/>
              </a:ext>
            </a:extLst>
          </p:cNvPr>
          <p:cNvGraphicFramePr/>
          <p:nvPr>
            <p:extLst>
              <p:ext uri="{D42A27DB-BD31-4B8C-83A1-F6EECF244321}">
                <p14:modId xmlns:p14="http://schemas.microsoft.com/office/powerpoint/2010/main" val="1347308946"/>
              </p:ext>
            </p:extLst>
          </p:nvPr>
        </p:nvGraphicFramePr>
        <p:xfrm>
          <a:off x="1833480" y="4343400"/>
          <a:ext cx="8528400" cy="174744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chemeClr val="lt1"/>
                          </a:solidFill>
                          <a:effectLst/>
                          <a:uFillTx/>
                          <a:latin typeface="Calibri"/>
                          <a:ea typeface="DejaVu Sans"/>
                        </a:rPr>
                        <a:t>Subject ID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Condition ID</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US" sz="1800" b="1" u="none" strike="noStrike" dirty="0">
                          <a:solidFill>
                            <a:schemeClr val="lt1"/>
                          </a:solidFill>
                          <a:effectLst/>
                          <a:uFillTx/>
                          <a:latin typeface="Calibri"/>
                        </a:rPr>
                        <a:t>Date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 time (ms)</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567</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2"/>
                  </a:ext>
                </a:extLst>
              </a:tr>
              <a:tr h="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3"/>
                  </a:ext>
                </a:extLst>
              </a:tr>
            </a:tbl>
          </a:graphicData>
        </a:graphic>
      </p:graphicFrame>
      <p:sp>
        <p:nvSpPr>
          <p:cNvPr id="234" name="PlaceHolder 1">
            <a:extLst>
              <a:ext uri="{FF2B5EF4-FFF2-40B4-BE49-F238E27FC236}">
                <a16:creationId xmlns:a16="http://schemas.microsoft.com/office/drawing/2014/main" id="{76EEABFD-4534-4A55-4F31-AF29B2F434E1}"/>
              </a:ext>
            </a:extLst>
          </p:cNvPr>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a:extLst>
              <a:ext uri="{FF2B5EF4-FFF2-40B4-BE49-F238E27FC236}">
                <a16:creationId xmlns:a16="http://schemas.microsoft.com/office/drawing/2014/main" id="{1215E728-AC81-D965-6EE9-D1E29AD3636E}"/>
              </a:ext>
            </a:extLst>
          </p:cNvPr>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5</a:t>
            </a:fld>
            <a:endParaRPr>
              <a:latin typeface="Calibri" panose="020F0502020204030204" pitchFamily="34" charset="0"/>
              <a:cs typeface="Calibri" panose="020F0502020204030204" pitchFamily="34" charset="0"/>
            </a:endParaRPr>
          </a:p>
        </p:txBody>
      </p:sp>
      <p:graphicFrame>
        <p:nvGraphicFramePr>
          <p:cNvPr id="3" name="Table 6">
            <a:extLst>
              <a:ext uri="{FF2B5EF4-FFF2-40B4-BE49-F238E27FC236}">
                <a16:creationId xmlns:a16="http://schemas.microsoft.com/office/drawing/2014/main" id="{ECF1A4E7-B8DE-77F8-CD0E-DAFA3C588F4E}"/>
              </a:ext>
            </a:extLst>
          </p:cNvPr>
          <p:cNvGraphicFramePr/>
          <p:nvPr>
            <p:extLst>
              <p:ext uri="{D42A27DB-BD31-4B8C-83A1-F6EECF244321}">
                <p14:modId xmlns:p14="http://schemas.microsoft.com/office/powerpoint/2010/main" val="3579303211"/>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6" name="PlaceHolder 1">
            <a:extLst>
              <a:ext uri="{FF2B5EF4-FFF2-40B4-BE49-F238E27FC236}">
                <a16:creationId xmlns:a16="http://schemas.microsoft.com/office/drawing/2014/main" id="{0A263E47-107A-5011-F692-6A685F47C99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2BA67A5B-42E6-F030-4B91-F6B3CCBCE80A}"/>
              </a:ext>
            </a:extLst>
          </p:cNvPr>
          <p:cNvSpPr>
            <a:spLocks noGrp="1"/>
          </p:cNvSpPr>
          <p:nvPr>
            <p:ph type="ftr" idx="1"/>
          </p:nvPr>
        </p:nvSpPr>
        <p:spPr>
          <a:xfrm>
            <a:off x="4038480" y="6356520"/>
            <a:ext cx="4111560" cy="361800"/>
          </a:xfrm>
        </p:spPr>
        <p:txBody>
          <a:bodyPr/>
          <a:lstStyle/>
          <a:p>
            <a:r>
              <a:rPr lang="en-US"/>
              <a:t>Tab, v4.0</a:t>
            </a:r>
            <a:endParaRPr dirty="0"/>
          </a:p>
        </p:txBody>
      </p:sp>
      <p:sp>
        <p:nvSpPr>
          <p:cNvPr id="2" name="Date Placeholder 1">
            <a:extLst>
              <a:ext uri="{FF2B5EF4-FFF2-40B4-BE49-F238E27FC236}">
                <a16:creationId xmlns:a16="http://schemas.microsoft.com/office/drawing/2014/main" id="{FF8B14D5-3533-FF90-D766-D9BE1DD43EC9}"/>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33991211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36C5E-8BFD-EBA1-47E4-E003B5FD5378}"/>
            </a:ext>
          </a:extLst>
        </p:cNvPr>
        <p:cNvGrpSpPr/>
        <p:nvPr/>
      </p:nvGrpSpPr>
      <p:grpSpPr>
        <a:xfrm>
          <a:off x="0" y="0"/>
          <a:ext cx="0" cy="0"/>
          <a:chOff x="0" y="0"/>
          <a:chExt cx="0" cy="0"/>
        </a:xfrm>
      </p:grpSpPr>
      <p:graphicFrame>
        <p:nvGraphicFramePr>
          <p:cNvPr id="237" name="Table 2">
            <a:extLst>
              <a:ext uri="{FF2B5EF4-FFF2-40B4-BE49-F238E27FC236}">
                <a16:creationId xmlns:a16="http://schemas.microsoft.com/office/drawing/2014/main" id="{15581EAA-749E-5DDB-4117-FD5F776940A1}"/>
              </a:ext>
            </a:extLst>
          </p:cNvPr>
          <p:cNvGraphicFramePr/>
          <p:nvPr/>
        </p:nvGraphicFramePr>
        <p:xfrm>
          <a:off x="1833480" y="4343400"/>
          <a:ext cx="8528400" cy="174744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chemeClr val="lt1"/>
                          </a:solidFill>
                          <a:effectLst/>
                          <a:uFillTx/>
                          <a:latin typeface="Calibri"/>
                          <a:ea typeface="DejaVu Sans"/>
                        </a:rPr>
                        <a:t>Subject ID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Condition ID</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US" sz="1800" b="1" u="none" strike="noStrike" dirty="0">
                          <a:solidFill>
                            <a:schemeClr val="lt1"/>
                          </a:solidFill>
                          <a:effectLst/>
                          <a:uFillTx/>
                          <a:latin typeface="Calibri"/>
                        </a:rPr>
                        <a:t>Date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 time (ms)</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567</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2"/>
                  </a:ext>
                </a:extLst>
              </a:tr>
              <a:tr h="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3"/>
                  </a:ext>
                </a:extLst>
              </a:tr>
            </a:tbl>
          </a:graphicData>
        </a:graphic>
      </p:graphicFrame>
      <p:sp>
        <p:nvSpPr>
          <p:cNvPr id="234" name="PlaceHolder 1">
            <a:extLst>
              <a:ext uri="{FF2B5EF4-FFF2-40B4-BE49-F238E27FC236}">
                <a16:creationId xmlns:a16="http://schemas.microsoft.com/office/drawing/2014/main" id="{9A0EA5EA-721C-0CEB-B849-1A6736399955}"/>
              </a:ext>
            </a:extLst>
          </p:cNvPr>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a:extLst>
              <a:ext uri="{FF2B5EF4-FFF2-40B4-BE49-F238E27FC236}">
                <a16:creationId xmlns:a16="http://schemas.microsoft.com/office/drawing/2014/main" id="{45DE0995-B221-DE1F-8974-BF4BE387607C}"/>
              </a:ext>
            </a:extLst>
          </p:cNvPr>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6</a:t>
            </a:fld>
            <a:endParaRPr>
              <a:latin typeface="Calibri" panose="020F0502020204030204" pitchFamily="34" charset="0"/>
              <a:cs typeface="Calibri" panose="020F0502020204030204" pitchFamily="34" charset="0"/>
            </a:endParaRPr>
          </a:p>
        </p:txBody>
      </p:sp>
      <p:sp>
        <p:nvSpPr>
          <p:cNvPr id="238" name="TextBox 7">
            <a:extLst>
              <a:ext uri="{FF2B5EF4-FFF2-40B4-BE49-F238E27FC236}">
                <a16:creationId xmlns:a16="http://schemas.microsoft.com/office/drawing/2014/main" id="{F1446350-EB40-794F-FB32-61206BA8D853}"/>
              </a:ext>
            </a:extLst>
          </p:cNvPr>
          <p:cNvSpPr/>
          <p:nvPr/>
        </p:nvSpPr>
        <p:spPr>
          <a:xfrm>
            <a:off x="4239022" y="1147217"/>
            <a:ext cx="3639196" cy="829543"/>
          </a:xfrm>
          <a:prstGeom prst="rect">
            <a:avLst/>
          </a:prstGeom>
          <a:solidFill>
            <a:schemeClr val="accent6">
              <a:lumMod val="40000"/>
              <a:lumOff val="60000"/>
            </a:scheme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Does the windspeed affect </a:t>
            </a:r>
            <a:r>
              <a:rPr lang="en-US" sz="2400" dirty="0">
                <a:solidFill>
                  <a:srgbClr val="000000"/>
                </a:solidFill>
                <a:latin typeface="Calibri" panose="020F0502020204030204" pitchFamily="34" charset="0"/>
                <a:ea typeface="DejaVu Sans"/>
                <a:cs typeface="Calibri" panose="020F0502020204030204" pitchFamily="34" charset="0"/>
              </a:rPr>
              <a:t>response time?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graphicFrame>
        <p:nvGraphicFramePr>
          <p:cNvPr id="3" name="Table 6">
            <a:extLst>
              <a:ext uri="{FF2B5EF4-FFF2-40B4-BE49-F238E27FC236}">
                <a16:creationId xmlns:a16="http://schemas.microsoft.com/office/drawing/2014/main" id="{19FF0079-A3F6-EED3-B4DF-89BC74776775}"/>
              </a:ext>
            </a:extLst>
          </p:cNvPr>
          <p:cNvGraphicFramePr/>
          <p:nvPr>
            <p:extLst>
              <p:ext uri="{D42A27DB-BD31-4B8C-83A1-F6EECF244321}">
                <p14:modId xmlns:p14="http://schemas.microsoft.com/office/powerpoint/2010/main" val="164059032"/>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6" name="PlaceHolder 1">
            <a:extLst>
              <a:ext uri="{FF2B5EF4-FFF2-40B4-BE49-F238E27FC236}">
                <a16:creationId xmlns:a16="http://schemas.microsoft.com/office/drawing/2014/main" id="{A185E540-6991-2700-F82E-527113771D1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9E3C7B0B-D7FA-5080-F4F3-C158194EFFA2}"/>
              </a:ext>
            </a:extLst>
          </p:cNvPr>
          <p:cNvSpPr>
            <a:spLocks noGrp="1"/>
          </p:cNvSpPr>
          <p:nvPr>
            <p:ph type="ftr" idx="1"/>
          </p:nvPr>
        </p:nvSpPr>
        <p:spPr>
          <a:xfrm>
            <a:off x="4038480" y="6356520"/>
            <a:ext cx="4111560" cy="361800"/>
          </a:xfrm>
        </p:spPr>
        <p:txBody>
          <a:bodyPr/>
          <a:lstStyle/>
          <a:p>
            <a:r>
              <a:rPr lang="en-US"/>
              <a:t>Tab, v4.0</a:t>
            </a:r>
            <a:endParaRPr dirty="0"/>
          </a:p>
        </p:txBody>
      </p:sp>
      <p:sp>
        <p:nvSpPr>
          <p:cNvPr id="2" name="Date Placeholder 1">
            <a:extLst>
              <a:ext uri="{FF2B5EF4-FFF2-40B4-BE49-F238E27FC236}">
                <a16:creationId xmlns:a16="http://schemas.microsoft.com/office/drawing/2014/main" id="{D57F3A5A-5FF3-8CCD-B944-E6D9E614844B}"/>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41967595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laceHolder 2">
            <a:extLst>
              <a:ext uri="{FF2B5EF4-FFF2-40B4-BE49-F238E27FC236}">
                <a16:creationId xmlns:a16="http://schemas.microsoft.com/office/drawing/2014/main" id="{F6485EBD-2B30-4BA5-3599-EB0ACC6EE114}"/>
              </a:ext>
            </a:extLst>
          </p:cNvPr>
          <p:cNvSpPr>
            <a:spLocks noGrp="1"/>
          </p:cNvSpPr>
          <p:nvPr>
            <p:ph type="body"/>
          </p:nvPr>
        </p:nvSpPr>
        <p:spPr>
          <a:xfrm>
            <a:off x="609480" y="1604520"/>
            <a:ext cx="10972080" cy="3976920"/>
          </a:xfrm>
          <a:prstGeom prst="rect">
            <a:avLst/>
          </a:prstGeom>
          <a:noFill/>
          <a:ln w="0">
            <a:noFill/>
          </a:ln>
        </p:spPr>
        <p:txBody>
          <a:bodyPr lIns="90000" tIns="45000" rIns="90000" bIns="45000" anchor="t">
            <a:normAutofit lnSpcReduction="10000"/>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Python tools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pandas: in-memory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dask: on-disk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SQL databases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retrieving rows (tree data structure for index)</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Transactional: groups of operations are either all executed, or none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Columnar DBs, Spark, Hadoop</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operations on columns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Ideal for data science tasks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Operations can be automatically distributed over multiple machines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a:extLst>
              <a:ext uri="{FF2B5EF4-FFF2-40B4-BE49-F238E27FC236}">
                <a16:creationId xmlns:a16="http://schemas.microsoft.com/office/drawing/2014/main" id="{89E247B0-4773-9469-DF00-D856D10B4A9A}"/>
              </a:ext>
            </a:extLst>
          </p:cNvPr>
          <p:cNvSpPr>
            <a:spLocks noGrp="1"/>
          </p:cNvSpPr>
          <p:nvPr>
            <p:ph type="sldNum" idx="2"/>
          </p:nvPr>
        </p:nvSpPr>
        <p:spPr>
          <a:xfrm>
            <a:off x="8610480" y="6356520"/>
            <a:ext cx="2739960" cy="361800"/>
          </a:xfrm>
        </p:spPr>
        <p:txBody>
          <a:bodyPr/>
          <a:lstStyle/>
          <a:p>
            <a:fld id="{84715A79-DF31-4BA5-9F2D-21B8064E297F}" type="slidenum">
              <a:rPr/>
              <a:t>7</a:t>
            </a:fld>
            <a:endParaRPr/>
          </a:p>
        </p:txBody>
      </p:sp>
      <p:sp>
        <p:nvSpPr>
          <p:cNvPr id="7" name="PlaceHolder 1">
            <a:extLst>
              <a:ext uri="{FF2B5EF4-FFF2-40B4-BE49-F238E27FC236}">
                <a16:creationId xmlns:a16="http://schemas.microsoft.com/office/drawing/2014/main" id="{43857590-1B7D-5487-9C04-00740301F17A}"/>
              </a:ext>
            </a:extLst>
          </p:cNvPr>
          <p:cNvSpPr txBox="1">
            <a:spLocks/>
          </p:cNvSpPr>
          <p:nvPr/>
        </p:nvSpPr>
        <p:spPr>
          <a:xfrm>
            <a:off x="609480" y="273600"/>
            <a:ext cx="10972080" cy="1144440"/>
          </a:xfrm>
          <a:prstGeom prst="rect">
            <a:avLst/>
          </a:prstGeom>
          <a:noFill/>
          <a:ln w="0">
            <a:noFill/>
          </a:ln>
        </p:spPr>
        <p:txBody>
          <a:bodyPr lIns="90000" tIns="45000" rIns="90000" bIns="4500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US">
                <a:solidFill>
                  <a:srgbClr val="1F2328"/>
                </a:solidFill>
                <a:latin typeface="Calibri Light"/>
                <a:ea typeface="DejaVu Sans"/>
              </a:rPr>
              <a:t>Many tools to handle tabular data</a:t>
            </a:r>
            <a:endParaRPr lang="en-GB" dirty="0">
              <a:solidFill>
                <a:srgbClr val="000000"/>
              </a:solidFill>
              <a:latin typeface="Arial"/>
            </a:endParaRPr>
          </a:p>
        </p:txBody>
      </p:sp>
      <p:sp>
        <p:nvSpPr>
          <p:cNvPr id="8" name="PlaceHolder 1">
            <a:extLst>
              <a:ext uri="{FF2B5EF4-FFF2-40B4-BE49-F238E27FC236}">
                <a16:creationId xmlns:a16="http://schemas.microsoft.com/office/drawing/2014/main" id="{F0DDA8BE-4A78-FED4-EB7C-24A0E2A77F9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838B40B1-0BC2-5776-69C4-BBA08BE49552}"/>
              </a:ext>
            </a:extLst>
          </p:cNvPr>
          <p:cNvSpPr>
            <a:spLocks noGrp="1"/>
          </p:cNvSpPr>
          <p:nvPr>
            <p:ph type="ftr" idx="1"/>
          </p:nvPr>
        </p:nvSpPr>
        <p:spPr>
          <a:xfrm>
            <a:off x="4038480" y="6356520"/>
            <a:ext cx="4111560" cy="361800"/>
          </a:xfrm>
        </p:spPr>
        <p:txBody>
          <a:bodyPr/>
          <a:lstStyle/>
          <a:p>
            <a:r>
              <a:rPr lang="en-US"/>
              <a:t>Tab, v4.0</a:t>
            </a:r>
            <a:endParaRPr dirty="0"/>
          </a:p>
        </p:txBody>
      </p:sp>
      <p:sp>
        <p:nvSpPr>
          <p:cNvPr id="2" name="Date Placeholder 1">
            <a:extLst>
              <a:ext uri="{FF2B5EF4-FFF2-40B4-BE49-F238E27FC236}">
                <a16:creationId xmlns:a16="http://schemas.microsoft.com/office/drawing/2014/main" id="{86594377-5775-F26D-E2F5-5BD5757EDF16}"/>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21909089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74D5A-93B6-555A-4012-0FB94114A111}"/>
            </a:ext>
          </a:extLst>
        </p:cNvPr>
        <p:cNvGrpSpPr/>
        <p:nvPr/>
      </p:nvGrpSpPr>
      <p:grpSpPr>
        <a:xfrm>
          <a:off x="0" y="0"/>
          <a:ext cx="0" cy="0"/>
          <a:chOff x="0" y="0"/>
          <a:chExt cx="0" cy="0"/>
        </a:xfrm>
      </p:grpSpPr>
      <p:sp>
        <p:nvSpPr>
          <p:cNvPr id="5" name="PlaceHolder 2">
            <a:extLst>
              <a:ext uri="{FF2B5EF4-FFF2-40B4-BE49-F238E27FC236}">
                <a16:creationId xmlns:a16="http://schemas.microsoft.com/office/drawing/2014/main" id="{ED9A4333-D900-DE3E-46CA-1A7900B32361}"/>
              </a:ext>
            </a:extLst>
          </p:cNvPr>
          <p:cNvSpPr>
            <a:spLocks noGrp="1"/>
          </p:cNvSpPr>
          <p:nvPr>
            <p:ph type="body"/>
          </p:nvPr>
        </p:nvSpPr>
        <p:spPr>
          <a:xfrm>
            <a:off x="609480" y="1604520"/>
            <a:ext cx="10972080" cy="3976920"/>
          </a:xfrm>
          <a:prstGeom prst="rect">
            <a:avLst/>
          </a:prstGeom>
          <a:noFill/>
          <a:ln w="0">
            <a:noFill/>
          </a:ln>
        </p:spPr>
        <p:txBody>
          <a:bodyPr lIns="90000" tIns="45000" rIns="90000" bIns="45000" anchor="t">
            <a:normAutofit lnSpcReduction="10000"/>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Python tools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pandas: in-memory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dask: on-disk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SQL databases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retrieving rows (tree data structure for index)</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Transactional: groups of operations are either all executed, or none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Columnar DBs, Spark, Hadoop</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operations on columns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Ideal for data science tasks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Operations can be automatically distributed over multiple machines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a:extLst>
              <a:ext uri="{FF2B5EF4-FFF2-40B4-BE49-F238E27FC236}">
                <a16:creationId xmlns:a16="http://schemas.microsoft.com/office/drawing/2014/main" id="{0E680EC3-545D-02AD-8DA7-A0681235598F}"/>
              </a:ext>
            </a:extLst>
          </p:cNvPr>
          <p:cNvSpPr>
            <a:spLocks noGrp="1"/>
          </p:cNvSpPr>
          <p:nvPr>
            <p:ph type="sldNum" idx="2"/>
          </p:nvPr>
        </p:nvSpPr>
        <p:spPr>
          <a:xfrm>
            <a:off x="8610480" y="6356520"/>
            <a:ext cx="2739960" cy="361800"/>
          </a:xfrm>
        </p:spPr>
        <p:txBody>
          <a:bodyPr/>
          <a:lstStyle/>
          <a:p>
            <a:fld id="{84715A79-DF31-4BA5-9F2D-21B8064E297F}" type="slidenum">
              <a:rPr/>
              <a:t>8</a:t>
            </a:fld>
            <a:endParaRPr/>
          </a:p>
        </p:txBody>
      </p:sp>
      <p:sp>
        <p:nvSpPr>
          <p:cNvPr id="7" name="PlaceHolder 1">
            <a:extLst>
              <a:ext uri="{FF2B5EF4-FFF2-40B4-BE49-F238E27FC236}">
                <a16:creationId xmlns:a16="http://schemas.microsoft.com/office/drawing/2014/main" id="{E4A447D4-CF8A-B35C-2661-9D739BF14174}"/>
              </a:ext>
            </a:extLst>
          </p:cNvPr>
          <p:cNvSpPr txBox="1">
            <a:spLocks/>
          </p:cNvSpPr>
          <p:nvPr/>
        </p:nvSpPr>
        <p:spPr>
          <a:xfrm>
            <a:off x="609480" y="273600"/>
            <a:ext cx="10972080" cy="1144440"/>
          </a:xfrm>
          <a:prstGeom prst="rect">
            <a:avLst/>
          </a:prstGeom>
          <a:noFill/>
          <a:ln w="0">
            <a:noFill/>
          </a:ln>
        </p:spPr>
        <p:txBody>
          <a:bodyPr lIns="90000" tIns="45000" rIns="90000" bIns="4500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US">
                <a:solidFill>
                  <a:srgbClr val="1F2328"/>
                </a:solidFill>
                <a:latin typeface="Calibri Light"/>
                <a:ea typeface="DejaVu Sans"/>
              </a:rPr>
              <a:t>Many tools to handle tabular data</a:t>
            </a:r>
            <a:endParaRPr lang="en-GB" dirty="0">
              <a:solidFill>
                <a:srgbClr val="000000"/>
              </a:solidFill>
              <a:latin typeface="Arial"/>
            </a:endParaRPr>
          </a:p>
        </p:txBody>
      </p:sp>
      <p:sp>
        <p:nvSpPr>
          <p:cNvPr id="8" name="PlaceHolder 1">
            <a:extLst>
              <a:ext uri="{FF2B5EF4-FFF2-40B4-BE49-F238E27FC236}">
                <a16:creationId xmlns:a16="http://schemas.microsoft.com/office/drawing/2014/main" id="{1AD7EF3E-E7E6-0395-33A1-7DB3AFF7C9A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EA4A8974-2F7C-E45E-AE62-E56BFE822468}"/>
              </a:ext>
            </a:extLst>
          </p:cNvPr>
          <p:cNvSpPr>
            <a:spLocks noGrp="1"/>
          </p:cNvSpPr>
          <p:nvPr>
            <p:ph type="ftr" idx="1"/>
          </p:nvPr>
        </p:nvSpPr>
        <p:spPr>
          <a:xfrm>
            <a:off x="4038480" y="6356520"/>
            <a:ext cx="4111560" cy="361800"/>
          </a:xfrm>
        </p:spPr>
        <p:txBody>
          <a:bodyPr/>
          <a:lstStyle/>
          <a:p>
            <a:r>
              <a:rPr lang="en-US"/>
              <a:t>Tab, v4.0</a:t>
            </a:r>
            <a:endParaRPr dirty="0"/>
          </a:p>
        </p:txBody>
      </p:sp>
      <p:sp>
        <p:nvSpPr>
          <p:cNvPr id="10" name="TextBox 78">
            <a:extLst>
              <a:ext uri="{FF2B5EF4-FFF2-40B4-BE49-F238E27FC236}">
                <a16:creationId xmlns:a16="http://schemas.microsoft.com/office/drawing/2014/main" id="{989C4E9D-0206-9C10-AD2B-879DA5C0D9B4}"/>
              </a:ext>
            </a:extLst>
          </p:cNvPr>
          <p:cNvSpPr/>
          <p:nvPr/>
        </p:nvSpPr>
        <p:spPr>
          <a:xfrm>
            <a:off x="1574516" y="1775094"/>
            <a:ext cx="9179640" cy="3968864"/>
          </a:xfrm>
          <a:custGeom>
            <a:avLst/>
            <a:gdLst>
              <a:gd name="textAreaLeft" fmla="*/ 0 w 9179640"/>
              <a:gd name="textAreaRight" fmla="*/ 9184320 w 917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Today we will see an example in </a:t>
            </a:r>
            <a:r>
              <a:rPr lang="en-CH" sz="3600" b="0" i="1" u="none" strike="noStrike">
                <a:solidFill>
                  <a:srgbClr val="000000"/>
                </a:solidFill>
                <a:effectLst/>
                <a:uFillTx/>
                <a:latin typeface="Calibri" panose="020F0502020204030204" pitchFamily="34" charset="0"/>
                <a:ea typeface="DejaVu Sans"/>
                <a:cs typeface="Calibri" panose="020F0502020204030204" pitchFamily="34" charset="0"/>
              </a:rPr>
              <a:t>pandas</a:t>
            </a: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but the reasoning we will see are general </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and apply to all of them</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11" name="Picture 10" descr="Pandita Intenso 65 Pz">
            <a:extLst>
              <a:ext uri="{FF2B5EF4-FFF2-40B4-BE49-F238E27FC236}">
                <a16:creationId xmlns:a16="http://schemas.microsoft.com/office/drawing/2014/main" id="{2F33C0FD-7373-446F-6ECA-5E7E546C2A16}"/>
              </a:ext>
            </a:extLst>
          </p:cNvPr>
          <p:cNvPicPr>
            <a:picLocks noChangeAspect="1"/>
          </p:cNvPicPr>
          <p:nvPr/>
        </p:nvPicPr>
        <p:blipFill>
          <a:blip r:embed="rId2"/>
          <a:srcRect l="23479" t="4973" r="23966" b="5094"/>
          <a:stretch>
            <a:fillRect/>
          </a:stretch>
        </p:blipFill>
        <p:spPr>
          <a:xfrm>
            <a:off x="10061395" y="211705"/>
            <a:ext cx="1657797" cy="2836855"/>
          </a:xfrm>
          <a:prstGeom prst="rect">
            <a:avLst/>
          </a:prstGeom>
        </p:spPr>
      </p:pic>
      <p:sp>
        <p:nvSpPr>
          <p:cNvPr id="2" name="Date Placeholder 1">
            <a:extLst>
              <a:ext uri="{FF2B5EF4-FFF2-40B4-BE49-F238E27FC236}">
                <a16:creationId xmlns:a16="http://schemas.microsoft.com/office/drawing/2014/main" id="{AD73C5C2-A9E7-3B1A-E090-84AC8DE9A5CD}"/>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31157843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laceHolder 5"/>
          <p:cNvSpPr>
            <a:spLocks noGrp="1"/>
          </p:cNvSpPr>
          <p:nvPr>
            <p:ph type="sldNum" idx="2"/>
          </p:nvPr>
        </p:nvSpPr>
        <p:spPr/>
        <p:txBody>
          <a:bodyPr/>
          <a:lstStyle/>
          <a:p>
            <a:fld id="{84715A79-DF31-4BA5-9F2D-21B8064E297F}" type="slidenum">
              <a:rPr/>
              <a:t>9</a:t>
            </a:fld>
            <a:endParaRPr/>
          </a:p>
        </p:txBody>
      </p:sp>
      <p:sp>
        <p:nvSpPr>
          <p:cNvPr id="252" name="PlaceHolder 1"/>
          <p:cNvSpPr>
            <a:spLocks noGrp="1"/>
          </p:cNvSpPr>
          <p:nvPr>
            <p:ph type="title"/>
          </p:nvPr>
        </p:nvSpPr>
        <p:spPr>
          <a:xfrm>
            <a:off x="608220" y="124123"/>
            <a:ext cx="10972080" cy="114444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dirty="0">
                <a:solidFill>
                  <a:srgbClr val="1F2328"/>
                </a:solidFill>
                <a:effectLst/>
                <a:uFillTx/>
                <a:latin typeface="Calibri Light"/>
                <a:ea typeface="DejaVu Sans"/>
              </a:rPr>
              <a:t>Why pandas?</a:t>
            </a:r>
            <a:endParaRPr lang="en-GB" sz="4400" b="0" u="none" strike="noStrike" dirty="0">
              <a:solidFill>
                <a:srgbClr val="000000"/>
              </a:solidFill>
              <a:effectLst/>
              <a:uFillTx/>
              <a:latin typeface="Arial"/>
            </a:endParaRPr>
          </a:p>
        </p:txBody>
      </p:sp>
      <p:sp>
        <p:nvSpPr>
          <p:cNvPr id="2" name="PlaceHolder 1">
            <a:extLst>
              <a:ext uri="{FF2B5EF4-FFF2-40B4-BE49-F238E27FC236}">
                <a16:creationId xmlns:a16="http://schemas.microsoft.com/office/drawing/2014/main" id="{E5A91741-0C98-E230-442E-B198FD0EA44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54ED9DE9-9AB8-89C7-6CA2-5F892891314B}"/>
              </a:ext>
            </a:extLst>
          </p:cNvPr>
          <p:cNvSpPr>
            <a:spLocks noGrp="1"/>
          </p:cNvSpPr>
          <p:nvPr>
            <p:ph type="ftr" idx="1"/>
          </p:nvPr>
        </p:nvSpPr>
        <p:spPr>
          <a:xfrm>
            <a:off x="4038480" y="6356520"/>
            <a:ext cx="4111560" cy="361800"/>
          </a:xfrm>
        </p:spPr>
        <p:txBody>
          <a:bodyPr/>
          <a:lstStyle/>
          <a:p>
            <a:r>
              <a:rPr lang="en-US"/>
              <a:t>Tab, v4.0</a:t>
            </a:r>
            <a:endParaRPr dirty="0"/>
          </a:p>
        </p:txBody>
      </p:sp>
      <p:pic>
        <p:nvPicPr>
          <p:cNvPr id="10" name="Picture 9">
            <a:extLst>
              <a:ext uri="{FF2B5EF4-FFF2-40B4-BE49-F238E27FC236}">
                <a16:creationId xmlns:a16="http://schemas.microsoft.com/office/drawing/2014/main" id="{9A61FBC5-877A-424C-1B0C-E0CC53D628D5}"/>
              </a:ext>
            </a:extLst>
          </p:cNvPr>
          <p:cNvPicPr>
            <a:picLocks noChangeAspect="1"/>
          </p:cNvPicPr>
          <p:nvPr/>
        </p:nvPicPr>
        <p:blipFill>
          <a:blip r:embed="rId3"/>
          <a:stretch>
            <a:fillRect/>
          </a:stretch>
        </p:blipFill>
        <p:spPr>
          <a:xfrm>
            <a:off x="1422280" y="2501204"/>
            <a:ext cx="3691609" cy="3828674"/>
          </a:xfrm>
          <a:prstGeom prst="rect">
            <a:avLst/>
          </a:prstGeom>
        </p:spPr>
      </p:pic>
      <p:sp>
        <p:nvSpPr>
          <p:cNvPr id="11" name="TextBox 10">
            <a:extLst>
              <a:ext uri="{FF2B5EF4-FFF2-40B4-BE49-F238E27FC236}">
                <a16:creationId xmlns:a16="http://schemas.microsoft.com/office/drawing/2014/main" id="{018C1072-CE57-DA47-0FC0-01E0A1997D1D}"/>
              </a:ext>
            </a:extLst>
          </p:cNvPr>
          <p:cNvSpPr txBox="1"/>
          <p:nvPr/>
        </p:nvSpPr>
        <p:spPr>
          <a:xfrm>
            <a:off x="1334597" y="1146987"/>
            <a:ext cx="4431021" cy="1354217"/>
          </a:xfrm>
          <a:prstGeom prst="rect">
            <a:avLst/>
          </a:prstGeom>
          <a:noFill/>
        </p:spPr>
        <p:txBody>
          <a:bodyPr wrap="none" rtlCol="0">
            <a:spAutoFit/>
          </a:bodyPr>
          <a:lstStyle/>
          <a:p>
            <a:r>
              <a:rPr lang="en-US" sz="1600" b="1" u="sng" dirty="0"/>
              <a:t>Stack overflow survey 2021</a:t>
            </a:r>
          </a:p>
          <a:p>
            <a:r>
              <a:rPr lang="en-DE" sz="1600" dirty="0"/>
              <a:t>Which </a:t>
            </a:r>
            <a:r>
              <a:rPr lang="en-DE" sz="1600" b="1" dirty="0"/>
              <a:t>other frameworks and libraries</a:t>
            </a:r>
            <a:r>
              <a:rPr lang="en-DE" sz="1600" dirty="0"/>
              <a:t> have </a:t>
            </a:r>
          </a:p>
          <a:p>
            <a:r>
              <a:rPr lang="en-DE" sz="1600" dirty="0"/>
              <a:t>you done extensive development work in </a:t>
            </a:r>
          </a:p>
          <a:p>
            <a:r>
              <a:rPr lang="en-DE" sz="1600" dirty="0"/>
              <a:t>over the past year, and which do you want</a:t>
            </a:r>
          </a:p>
          <a:p>
            <a:r>
              <a:rPr lang="en-DE" sz="1600" dirty="0"/>
              <a:t>to work in over the next year?</a:t>
            </a:r>
          </a:p>
        </p:txBody>
      </p:sp>
      <p:sp>
        <p:nvSpPr>
          <p:cNvPr id="14" name="TextBox 13">
            <a:extLst>
              <a:ext uri="{FF2B5EF4-FFF2-40B4-BE49-F238E27FC236}">
                <a16:creationId xmlns:a16="http://schemas.microsoft.com/office/drawing/2014/main" id="{1F02804D-12B0-F043-8401-C26C950A7A65}"/>
              </a:ext>
            </a:extLst>
          </p:cNvPr>
          <p:cNvSpPr txBox="1"/>
          <p:nvPr/>
        </p:nvSpPr>
        <p:spPr>
          <a:xfrm>
            <a:off x="1536352" y="6185412"/>
            <a:ext cx="3089307" cy="184666"/>
          </a:xfrm>
          <a:prstGeom prst="rect">
            <a:avLst/>
          </a:prstGeom>
          <a:noFill/>
        </p:spPr>
        <p:txBody>
          <a:bodyPr wrap="none" rtlCol="0">
            <a:spAutoFit/>
          </a:bodyPr>
          <a:lstStyle/>
          <a:p>
            <a:r>
              <a:rPr lang="en-US" sz="600" dirty="0">
                <a:solidFill>
                  <a:schemeClr val="bg1"/>
                </a:solidFill>
              </a:rPr>
              <a:t>https://</a:t>
            </a:r>
            <a:r>
              <a:rPr lang="en-US" sz="600" dirty="0" err="1">
                <a:solidFill>
                  <a:schemeClr val="bg1"/>
                </a:solidFill>
              </a:rPr>
              <a:t>survey.stackoverflow.co</a:t>
            </a:r>
            <a:r>
              <a:rPr lang="en-US" sz="600" dirty="0">
                <a:solidFill>
                  <a:schemeClr val="bg1"/>
                </a:solidFill>
              </a:rPr>
              <a:t>/2021?most-popular-technologies-misc-tech#overview</a:t>
            </a:r>
          </a:p>
        </p:txBody>
      </p:sp>
      <p:grpSp>
        <p:nvGrpSpPr>
          <p:cNvPr id="17" name="Group 16">
            <a:extLst>
              <a:ext uri="{FF2B5EF4-FFF2-40B4-BE49-F238E27FC236}">
                <a16:creationId xmlns:a16="http://schemas.microsoft.com/office/drawing/2014/main" id="{02204F38-5C56-92D0-1DD1-0F8E8134E85A}"/>
              </a:ext>
            </a:extLst>
          </p:cNvPr>
          <p:cNvGrpSpPr/>
          <p:nvPr/>
        </p:nvGrpSpPr>
        <p:grpSpPr>
          <a:xfrm>
            <a:off x="6876018" y="596549"/>
            <a:ext cx="4431021" cy="5733329"/>
            <a:chOff x="7739618" y="583849"/>
            <a:chExt cx="4431021" cy="5733329"/>
          </a:xfrm>
        </p:grpSpPr>
        <p:pic>
          <p:nvPicPr>
            <p:cNvPr id="15" name="Picture 14">
              <a:extLst>
                <a:ext uri="{FF2B5EF4-FFF2-40B4-BE49-F238E27FC236}">
                  <a16:creationId xmlns:a16="http://schemas.microsoft.com/office/drawing/2014/main" id="{01F53AB6-4E7D-EFDF-1252-BDDB48BC14CD}"/>
                </a:ext>
              </a:extLst>
            </p:cNvPr>
            <p:cNvPicPr>
              <a:picLocks noChangeAspect="1"/>
            </p:cNvPicPr>
            <p:nvPr/>
          </p:nvPicPr>
          <p:blipFill>
            <a:blip r:embed="rId4"/>
            <a:stretch>
              <a:fillRect/>
            </a:stretch>
          </p:blipFill>
          <p:spPr>
            <a:xfrm>
              <a:off x="7739618" y="583849"/>
              <a:ext cx="4431021" cy="5733329"/>
            </a:xfrm>
            <a:prstGeom prst="rect">
              <a:avLst/>
            </a:prstGeom>
          </p:spPr>
        </p:pic>
        <p:sp>
          <p:nvSpPr>
            <p:cNvPr id="16" name="TextBox 15">
              <a:extLst>
                <a:ext uri="{FF2B5EF4-FFF2-40B4-BE49-F238E27FC236}">
                  <a16:creationId xmlns:a16="http://schemas.microsoft.com/office/drawing/2014/main" id="{B04E9A5A-9665-08E3-86A9-161B4355CD11}"/>
                </a:ext>
              </a:extLst>
            </p:cNvPr>
            <p:cNvSpPr txBox="1"/>
            <p:nvPr/>
          </p:nvSpPr>
          <p:spPr>
            <a:xfrm>
              <a:off x="10072153" y="6132512"/>
              <a:ext cx="2087431" cy="184666"/>
            </a:xfrm>
            <a:prstGeom prst="rect">
              <a:avLst/>
            </a:prstGeom>
            <a:noFill/>
          </p:spPr>
          <p:txBody>
            <a:bodyPr wrap="none" rtlCol="0">
              <a:spAutoFit/>
            </a:bodyPr>
            <a:lstStyle/>
            <a:p>
              <a:r>
                <a:rPr lang="en-US" sz="600" dirty="0">
                  <a:solidFill>
                    <a:schemeClr val="bg1"/>
                  </a:solidFill>
                </a:rPr>
                <a:t>https://</a:t>
              </a:r>
              <a:r>
                <a:rPr lang="en-US" sz="600" dirty="0" err="1">
                  <a:solidFill>
                    <a:schemeClr val="bg1"/>
                  </a:solidFill>
                </a:rPr>
                <a:t>lp.jetbrains.com</a:t>
              </a:r>
              <a:r>
                <a:rPr lang="en-US" sz="600" dirty="0">
                  <a:solidFill>
                    <a:schemeClr val="bg1"/>
                  </a:solidFill>
                </a:rPr>
                <a:t>/python-developers-survey-2024/</a:t>
              </a:r>
            </a:p>
          </p:txBody>
        </p:sp>
      </p:grpSp>
      <p:sp>
        <p:nvSpPr>
          <p:cNvPr id="3" name="Date Placeholder 2">
            <a:extLst>
              <a:ext uri="{FF2B5EF4-FFF2-40B4-BE49-F238E27FC236}">
                <a16:creationId xmlns:a16="http://schemas.microsoft.com/office/drawing/2014/main" id="{B9873666-445D-50D1-9314-8873EAD7D1A5}"/>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PlaceHolder 1"/>
          <p:cNvSpPr>
            <a:spLocks noGrp="1"/>
          </p:cNvSpPr>
          <p:nvPr>
            <p:ph type="body"/>
          </p:nvPr>
        </p:nvSpPr>
        <p:spPr>
          <a:xfrm>
            <a:off x="609480" y="1604520"/>
            <a:ext cx="5486520" cy="3976920"/>
          </a:xfrm>
          <a:prstGeom prst="rect">
            <a:avLst/>
          </a:prstGeom>
          <a:noFill/>
          <a:ln w="0">
            <a:noFill/>
          </a:ln>
        </p:spPr>
        <p:txBody>
          <a:bodyPr lIns="90000" tIns="45000" rIns="90000" bIns="45000" anchor="t">
            <a:noAutofit/>
          </a:bodyPr>
          <a:lstStyle/>
          <a:p>
            <a:pPr marL="457200"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Create a single table combining the information from the two separate tabular data files</a:t>
            </a:r>
          </a:p>
          <a:p>
            <a:pPr marL="0" indent="0" algn="ctr">
              <a:lnSpc>
                <a:spcPct val="90000"/>
              </a:lnSpc>
              <a:spcBef>
                <a:spcPts val="1001"/>
              </a:spcBef>
              <a:buClr>
                <a:srgbClr val="000000"/>
              </a:buClr>
              <a:buNone/>
              <a:tabLst>
                <a:tab pos="0" algn="l"/>
              </a:tabLst>
            </a:pPr>
            <a:endParaRPr lang="en-US" sz="2400" dirty="0">
              <a:solidFill>
                <a:srgbClr val="000000"/>
              </a:solidFill>
              <a:latin typeface="Calibri"/>
            </a:endParaRPr>
          </a:p>
          <a:p>
            <a:pPr marL="0" indent="0" algn="ctr">
              <a:lnSpc>
                <a:spcPct val="90000"/>
              </a:lnSpc>
              <a:spcBef>
                <a:spcPts val="1001"/>
              </a:spcBef>
              <a:buClr>
                <a:srgbClr val="000000"/>
              </a:buClr>
              <a:buNone/>
              <a:tabLst>
                <a:tab pos="0" algn="l"/>
              </a:tabLst>
            </a:pPr>
            <a:r>
              <a:rPr lang="en-US" sz="2400" dirty="0" err="1">
                <a:solidFill>
                  <a:srgbClr val="000000"/>
                </a:solidFill>
                <a:latin typeface="Courier New" panose="02070309020205020404" pitchFamily="49" charset="0"/>
                <a:cs typeface="Courier New" panose="02070309020205020404" pitchFamily="49" charset="0"/>
              </a:rPr>
              <a:t>predimed_records.csv</a:t>
            </a:r>
            <a:r>
              <a:rPr lang="en-US" sz="2400" dirty="0">
                <a:solidFill>
                  <a:srgbClr val="000000"/>
                </a:solidFill>
                <a:latin typeface="Courier New" panose="02070309020205020404" pitchFamily="49" charset="0"/>
                <a:cs typeface="Courier New" panose="02070309020205020404" pitchFamily="49" charset="0"/>
              </a:rPr>
              <a:t>	</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&amp;</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	</a:t>
            </a:r>
            <a:r>
              <a:rPr lang="en-US" sz="2400" dirty="0" err="1">
                <a:solidFill>
                  <a:srgbClr val="000000"/>
                </a:solidFill>
                <a:latin typeface="Courier New" panose="02070309020205020404" pitchFamily="49" charset="0"/>
                <a:cs typeface="Courier New" panose="02070309020205020404" pitchFamily="49" charset="0"/>
              </a:rPr>
              <a:t>predimed_locations.csv</a:t>
            </a:r>
            <a:endParaRPr lang="en-US" sz="2400" dirty="0">
              <a:solidFill>
                <a:srgbClr val="000000"/>
              </a:solidFill>
              <a:latin typeface="Courier New" panose="02070309020205020404" pitchFamily="49" charset="0"/>
              <a:cs typeface="Courier New" panose="02070309020205020404" pitchFamily="49" charset="0"/>
            </a:endParaRP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0" lvl="2" indent="0">
              <a:lnSpc>
                <a:spcPct val="90000"/>
              </a:lnSpc>
              <a:spcBef>
                <a:spcPts val="1001"/>
              </a:spcBef>
              <a:buClr>
                <a:srgbClr val="000000"/>
              </a:buClr>
              <a:buNone/>
              <a:tabLst>
                <a:tab pos="0" algn="l"/>
              </a:tabLst>
            </a:pPr>
            <a:endParaRPr lang="en-US" sz="2400" dirty="0">
              <a:solidFill>
                <a:srgbClr val="000000"/>
              </a:solidFill>
              <a:latin typeface="Calibri"/>
            </a:endParaRPr>
          </a:p>
        </p:txBody>
      </p:sp>
      <p:sp>
        <p:nvSpPr>
          <p:cNvPr id="6" name="PlaceHolder 5"/>
          <p:cNvSpPr>
            <a:spLocks noGrp="1"/>
          </p:cNvSpPr>
          <p:nvPr>
            <p:ph type="sldNum" idx="2"/>
          </p:nvPr>
        </p:nvSpPr>
        <p:spPr/>
        <p:txBody>
          <a:bodyPr/>
          <a:lstStyle/>
          <a:p>
            <a:fld id="{63F6CC6A-DF16-4F88-82E8-D125745032A3}" type="slidenum">
              <a:rPr/>
              <a:t>10</a:t>
            </a:fld>
            <a:endParaRPr/>
          </a:p>
        </p:txBody>
      </p:sp>
      <p:sp>
        <p:nvSpPr>
          <p:cNvPr id="245" name="PlaceHolder 3"/>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02E68497-CB2D-BE87-750D-E6C6DBC2E68F}"/>
              </a:ext>
            </a:extLst>
          </p:cNvPr>
          <p:cNvGrpSpPr/>
          <p:nvPr/>
        </p:nvGrpSpPr>
        <p:grpSpPr>
          <a:xfrm>
            <a:off x="6501008" y="2684165"/>
            <a:ext cx="5054601" cy="1489669"/>
            <a:chOff x="5812077" y="489442"/>
            <a:chExt cx="4634631" cy="1489669"/>
          </a:xfrm>
        </p:grpSpPr>
        <p:sp>
          <p:nvSpPr>
            <p:cNvPr id="239" name="Rectangle 3"/>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242" name="TextBox 79"/>
            <p:cNvSpPr/>
            <p:nvPr/>
          </p:nvSpPr>
          <p:spPr>
            <a:xfrm>
              <a:off x="5812077" y="636145"/>
              <a:ext cx="4634629"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20 minutes</a:t>
              </a:r>
              <a:endParaRPr lang="en-GB" sz="2000" b="0" u="none" strike="noStrike" dirty="0">
                <a:solidFill>
                  <a:srgbClr val="000000"/>
                </a:solidFill>
                <a:effectLst/>
                <a:uFillTx/>
                <a:latin typeface="Arial"/>
              </a:endParaRPr>
            </a:p>
          </p:txBody>
        </p:sp>
        <p:pic>
          <p:nvPicPr>
            <p:cNvPr id="243" name="Graphic 9"/>
            <p:cNvPicPr/>
            <p:nvPr/>
          </p:nvPicPr>
          <p:blipFill>
            <a:blip r:embed="rId3"/>
            <a:stretch/>
          </p:blipFill>
          <p:spPr>
            <a:xfrm>
              <a:off x="6094258" y="958156"/>
              <a:ext cx="691200" cy="552240"/>
            </a:xfrm>
            <a:prstGeom prst="rect">
              <a:avLst/>
            </a:prstGeom>
            <a:noFill/>
            <a:ln w="0">
              <a:noFill/>
            </a:ln>
          </p:spPr>
        </p:pic>
        <p:sp>
          <p:nvSpPr>
            <p:cNvPr id="244" name="TextBox 80"/>
            <p:cNvSpPr/>
            <p:nvPr/>
          </p:nvSpPr>
          <p:spPr>
            <a:xfrm>
              <a:off x="7089390" y="1105287"/>
              <a:ext cx="3053387" cy="64487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a:t>
              </a:r>
              <a:r>
                <a:rPr lang="en-GB" b="0" u="none" strike="noStrike" dirty="0" err="1">
                  <a:solidFill>
                    <a:srgbClr val="000000"/>
                  </a:solidFill>
                  <a:effectLst/>
                  <a:uFillTx/>
                  <a:latin typeface="Courier New"/>
                  <a:ea typeface="DejaVu Sans"/>
                </a:rPr>
                <a:t>tabular_join</a:t>
              </a:r>
              <a:r>
                <a:rPr lang="en-GB" dirty="0">
                  <a:solidFill>
                    <a:srgbClr val="000000"/>
                  </a:solidFill>
                  <a:latin typeface="Courier New"/>
                  <a:ea typeface="DejaVu Sans"/>
                </a:rPr>
                <a:t>/</a:t>
              </a:r>
              <a:r>
                <a:rPr lang="en-GB" dirty="0" err="1">
                  <a:solidFill>
                    <a:srgbClr val="000000"/>
                  </a:solidFill>
                  <a:latin typeface="Courier New"/>
                  <a:ea typeface="DejaVu Sans"/>
                </a:rPr>
                <a:t>tabular_join.ipynb</a:t>
              </a:r>
              <a:r>
                <a:rPr lang="en-GB" b="0" u="none" strike="noStrike" dirty="0">
                  <a:solidFill>
                    <a:srgbClr val="000000"/>
                  </a:solidFill>
                  <a:effectLst/>
                  <a:uFillTx/>
                  <a:latin typeface="Arial"/>
                  <a:ea typeface="DejaVu Sans"/>
                </a:rPr>
                <a:t> </a:t>
              </a:r>
              <a:endParaRPr lang="en-GB" b="0" u="none" strike="noStrike" dirty="0">
                <a:solidFill>
                  <a:srgbClr val="000000"/>
                </a:solidFill>
                <a:effectLst/>
                <a:uFillTx/>
                <a:latin typeface="Arial"/>
              </a:endParaRPr>
            </a:p>
          </p:txBody>
        </p:sp>
      </p:grpSp>
      <p:sp>
        <p:nvSpPr>
          <p:cNvPr id="3" name="PlaceHolder 1">
            <a:extLst>
              <a:ext uri="{FF2B5EF4-FFF2-40B4-BE49-F238E27FC236}">
                <a16:creationId xmlns:a16="http://schemas.microsoft.com/office/drawing/2014/main" id="{70A46943-7200-EE46-5B33-55841A00D68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AE88D20A-8905-E8D8-5B0A-41F247EEF664}"/>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Date Placeholder 4">
            <a:extLst>
              <a:ext uri="{FF2B5EF4-FFF2-40B4-BE49-F238E27FC236}">
                <a16:creationId xmlns:a16="http://schemas.microsoft.com/office/drawing/2014/main" id="{45883BE7-5968-5D5F-9FF0-BF3BEE80B24E}"/>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63821-341B-7F24-5D26-9C9549EB4FF3}"/>
            </a:ext>
          </a:extLst>
        </p:cNvPr>
        <p:cNvGrpSpPr/>
        <p:nvPr/>
      </p:nvGrpSpPr>
      <p:grpSpPr>
        <a:xfrm>
          <a:off x="0" y="0"/>
          <a:ext cx="0" cy="0"/>
          <a:chOff x="0" y="0"/>
          <a:chExt cx="0" cy="0"/>
        </a:xfrm>
      </p:grpSpPr>
      <p:sp>
        <p:nvSpPr>
          <p:cNvPr id="240" name="PlaceHolder 1">
            <a:extLst>
              <a:ext uri="{FF2B5EF4-FFF2-40B4-BE49-F238E27FC236}">
                <a16:creationId xmlns:a16="http://schemas.microsoft.com/office/drawing/2014/main" id="{3EE120FF-978D-D2F4-54EB-B6A8E15155ED}"/>
              </a:ext>
            </a:extLst>
          </p:cNvPr>
          <p:cNvSpPr>
            <a:spLocks noGrp="1"/>
          </p:cNvSpPr>
          <p:nvPr>
            <p:ph type="body"/>
          </p:nvPr>
        </p:nvSpPr>
        <p:spPr>
          <a:xfrm>
            <a:off x="609480" y="1604519"/>
            <a:ext cx="5486520" cy="4243387"/>
          </a:xfrm>
          <a:prstGeom prst="rect">
            <a:avLst/>
          </a:prstGeom>
          <a:noFill/>
          <a:ln w="0">
            <a:noFill/>
          </a:ln>
        </p:spPr>
        <p:txBody>
          <a:bodyPr lIns="90000" tIns="45000" rIns="90000" bIns="45000" anchor="t">
            <a:noAutofit/>
          </a:bodyPr>
          <a:lstStyle/>
          <a:p>
            <a:pPr marL="457200"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Create a single table combining the information from the two separate tabular data files</a:t>
            </a:r>
          </a:p>
          <a:p>
            <a:pPr marL="0" indent="0" algn="ctr">
              <a:lnSpc>
                <a:spcPct val="90000"/>
              </a:lnSpc>
              <a:spcBef>
                <a:spcPts val="1001"/>
              </a:spcBef>
              <a:buClr>
                <a:srgbClr val="000000"/>
              </a:buClr>
              <a:buNone/>
              <a:tabLst>
                <a:tab pos="0" algn="l"/>
              </a:tabLst>
            </a:pPr>
            <a:endParaRPr lang="en-US" sz="2400" dirty="0">
              <a:solidFill>
                <a:srgbClr val="000000"/>
              </a:solidFill>
              <a:latin typeface="Calibri"/>
            </a:endParaRPr>
          </a:p>
          <a:p>
            <a:pPr marL="0" indent="0" algn="ctr">
              <a:lnSpc>
                <a:spcPct val="90000"/>
              </a:lnSpc>
              <a:spcBef>
                <a:spcPts val="1001"/>
              </a:spcBef>
              <a:buClr>
                <a:srgbClr val="000000"/>
              </a:buClr>
              <a:buNone/>
              <a:tabLst>
                <a:tab pos="0" algn="l"/>
              </a:tabLst>
            </a:pPr>
            <a:r>
              <a:rPr lang="en-US" sz="2400" dirty="0" err="1">
                <a:solidFill>
                  <a:srgbClr val="000000"/>
                </a:solidFill>
                <a:latin typeface="Courier New" panose="02070309020205020404" pitchFamily="49" charset="0"/>
                <a:cs typeface="Courier New" panose="02070309020205020404" pitchFamily="49" charset="0"/>
              </a:rPr>
              <a:t>predimed_records.csv</a:t>
            </a:r>
            <a:r>
              <a:rPr lang="en-US" sz="2400" dirty="0">
                <a:solidFill>
                  <a:srgbClr val="000000"/>
                </a:solidFill>
                <a:latin typeface="Courier New" panose="02070309020205020404" pitchFamily="49" charset="0"/>
                <a:cs typeface="Courier New" panose="02070309020205020404" pitchFamily="49" charset="0"/>
              </a:rPr>
              <a:t>	</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&amp;</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	</a:t>
            </a:r>
            <a:r>
              <a:rPr lang="en-US" sz="2400" dirty="0" err="1">
                <a:solidFill>
                  <a:srgbClr val="000000"/>
                </a:solidFill>
                <a:latin typeface="Courier New" panose="02070309020205020404" pitchFamily="49" charset="0"/>
                <a:cs typeface="Courier New" panose="02070309020205020404" pitchFamily="49" charset="0"/>
              </a:rPr>
              <a:t>predimed_locations.csv</a:t>
            </a:r>
            <a:endParaRPr lang="en-US" sz="2400" dirty="0">
              <a:solidFill>
                <a:srgbClr val="000000"/>
              </a:solidFill>
              <a:latin typeface="Courier New" panose="02070309020205020404" pitchFamily="49" charset="0"/>
              <a:cs typeface="Courier New" panose="02070309020205020404" pitchFamily="49" charset="0"/>
            </a:endParaRP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457200" lvl="2"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Extra: what happens if we increase the table size? How is the performance of your solution affected?</a:t>
            </a: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0" lvl="2" indent="0">
              <a:lnSpc>
                <a:spcPct val="90000"/>
              </a:lnSpc>
              <a:spcBef>
                <a:spcPts val="1001"/>
              </a:spcBef>
              <a:buClr>
                <a:srgbClr val="000000"/>
              </a:buClr>
              <a:buNone/>
              <a:tabLst>
                <a:tab pos="0" algn="l"/>
              </a:tabLst>
            </a:pPr>
            <a:endParaRPr lang="en-US" sz="2400" dirty="0">
              <a:solidFill>
                <a:srgbClr val="000000"/>
              </a:solidFill>
              <a:latin typeface="Calibri"/>
            </a:endParaRPr>
          </a:p>
        </p:txBody>
      </p:sp>
      <p:sp>
        <p:nvSpPr>
          <p:cNvPr id="6" name="PlaceHolder 5">
            <a:extLst>
              <a:ext uri="{FF2B5EF4-FFF2-40B4-BE49-F238E27FC236}">
                <a16:creationId xmlns:a16="http://schemas.microsoft.com/office/drawing/2014/main" id="{E07712A8-91DD-9F75-2900-823035BDE9DD}"/>
              </a:ext>
            </a:extLst>
          </p:cNvPr>
          <p:cNvSpPr>
            <a:spLocks noGrp="1"/>
          </p:cNvSpPr>
          <p:nvPr>
            <p:ph type="sldNum" idx="2"/>
          </p:nvPr>
        </p:nvSpPr>
        <p:spPr/>
        <p:txBody>
          <a:bodyPr/>
          <a:lstStyle/>
          <a:p>
            <a:fld id="{63F6CC6A-DF16-4F88-82E8-D125745032A3}" type="slidenum">
              <a:rPr/>
              <a:t>11</a:t>
            </a:fld>
            <a:endParaRPr/>
          </a:p>
        </p:txBody>
      </p:sp>
      <p:sp>
        <p:nvSpPr>
          <p:cNvPr id="245" name="PlaceHolder 3">
            <a:extLst>
              <a:ext uri="{FF2B5EF4-FFF2-40B4-BE49-F238E27FC236}">
                <a16:creationId xmlns:a16="http://schemas.microsoft.com/office/drawing/2014/main" id="{0DD03E64-56F3-8DEA-3F36-D88D309D8151}"/>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3654B1E4-CB03-210D-655D-96690F61ABAB}"/>
              </a:ext>
            </a:extLst>
          </p:cNvPr>
          <p:cNvGrpSpPr/>
          <p:nvPr/>
        </p:nvGrpSpPr>
        <p:grpSpPr>
          <a:xfrm>
            <a:off x="6501008" y="2684165"/>
            <a:ext cx="5054601" cy="1489669"/>
            <a:chOff x="5812077" y="489442"/>
            <a:chExt cx="4634631" cy="1489669"/>
          </a:xfrm>
        </p:grpSpPr>
        <p:sp>
          <p:nvSpPr>
            <p:cNvPr id="239" name="Rectangle 3">
              <a:extLst>
                <a:ext uri="{FF2B5EF4-FFF2-40B4-BE49-F238E27FC236}">
                  <a16:creationId xmlns:a16="http://schemas.microsoft.com/office/drawing/2014/main" id="{EFB398B9-D8E0-3DD2-39BC-8D8AA47A6149}"/>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242" name="TextBox 79">
              <a:extLst>
                <a:ext uri="{FF2B5EF4-FFF2-40B4-BE49-F238E27FC236}">
                  <a16:creationId xmlns:a16="http://schemas.microsoft.com/office/drawing/2014/main" id="{826959D9-0551-2ADD-A0B0-9D35C63B4C30}"/>
                </a:ext>
              </a:extLst>
            </p:cNvPr>
            <p:cNvSpPr/>
            <p:nvPr/>
          </p:nvSpPr>
          <p:spPr>
            <a:xfrm>
              <a:off x="5812077" y="636145"/>
              <a:ext cx="4634629"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20 minutes</a:t>
              </a:r>
              <a:endParaRPr lang="en-GB" sz="2000" b="0" u="none" strike="noStrike" dirty="0">
                <a:solidFill>
                  <a:srgbClr val="000000"/>
                </a:solidFill>
                <a:effectLst/>
                <a:uFillTx/>
                <a:latin typeface="Arial"/>
              </a:endParaRPr>
            </a:p>
          </p:txBody>
        </p:sp>
        <p:pic>
          <p:nvPicPr>
            <p:cNvPr id="243" name="Graphic 9">
              <a:extLst>
                <a:ext uri="{FF2B5EF4-FFF2-40B4-BE49-F238E27FC236}">
                  <a16:creationId xmlns:a16="http://schemas.microsoft.com/office/drawing/2014/main" id="{1F7E550C-9772-5BA2-8788-03B252AE89B9}"/>
                </a:ext>
              </a:extLst>
            </p:cNvPr>
            <p:cNvPicPr/>
            <p:nvPr/>
          </p:nvPicPr>
          <p:blipFill>
            <a:blip r:embed="rId3"/>
            <a:stretch/>
          </p:blipFill>
          <p:spPr>
            <a:xfrm>
              <a:off x="6094258" y="958156"/>
              <a:ext cx="691200" cy="552240"/>
            </a:xfrm>
            <a:prstGeom prst="rect">
              <a:avLst/>
            </a:prstGeom>
            <a:noFill/>
            <a:ln w="0">
              <a:noFill/>
            </a:ln>
          </p:spPr>
        </p:pic>
        <p:sp>
          <p:nvSpPr>
            <p:cNvPr id="244" name="TextBox 80">
              <a:extLst>
                <a:ext uri="{FF2B5EF4-FFF2-40B4-BE49-F238E27FC236}">
                  <a16:creationId xmlns:a16="http://schemas.microsoft.com/office/drawing/2014/main" id="{0D65D7D6-94C1-A215-6BB7-EBE477C8DC48}"/>
                </a:ext>
              </a:extLst>
            </p:cNvPr>
            <p:cNvSpPr/>
            <p:nvPr/>
          </p:nvSpPr>
          <p:spPr>
            <a:xfrm>
              <a:off x="7089390" y="1105287"/>
              <a:ext cx="3053387" cy="64487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a:t>
              </a:r>
              <a:r>
                <a:rPr lang="en-GB" b="0" u="none" strike="noStrike" dirty="0" err="1">
                  <a:solidFill>
                    <a:srgbClr val="000000"/>
                  </a:solidFill>
                  <a:effectLst/>
                  <a:uFillTx/>
                  <a:latin typeface="Courier New"/>
                  <a:ea typeface="DejaVu Sans"/>
                </a:rPr>
                <a:t>tabular_join</a:t>
              </a:r>
              <a:r>
                <a:rPr lang="en-GB" dirty="0">
                  <a:solidFill>
                    <a:srgbClr val="000000"/>
                  </a:solidFill>
                  <a:latin typeface="Courier New"/>
                  <a:ea typeface="DejaVu Sans"/>
                </a:rPr>
                <a:t>/</a:t>
              </a:r>
              <a:r>
                <a:rPr lang="en-GB" dirty="0" err="1">
                  <a:solidFill>
                    <a:srgbClr val="000000"/>
                  </a:solidFill>
                  <a:latin typeface="Courier New"/>
                  <a:ea typeface="DejaVu Sans"/>
                </a:rPr>
                <a:t>tabular_join.ipynb</a:t>
              </a:r>
              <a:r>
                <a:rPr lang="en-GB" b="0" u="none" strike="noStrike" dirty="0">
                  <a:solidFill>
                    <a:srgbClr val="000000"/>
                  </a:solidFill>
                  <a:effectLst/>
                  <a:uFillTx/>
                  <a:latin typeface="Arial"/>
                  <a:ea typeface="DejaVu Sans"/>
                </a:rPr>
                <a:t> </a:t>
              </a:r>
              <a:endParaRPr lang="en-GB" b="0" u="none" strike="noStrike" dirty="0">
                <a:solidFill>
                  <a:srgbClr val="000000"/>
                </a:solidFill>
                <a:effectLst/>
                <a:uFillTx/>
                <a:latin typeface="Arial"/>
              </a:endParaRPr>
            </a:p>
          </p:txBody>
        </p:sp>
      </p:grpSp>
      <p:sp>
        <p:nvSpPr>
          <p:cNvPr id="3" name="PlaceHolder 1">
            <a:extLst>
              <a:ext uri="{FF2B5EF4-FFF2-40B4-BE49-F238E27FC236}">
                <a16:creationId xmlns:a16="http://schemas.microsoft.com/office/drawing/2014/main" id="{9EEB1A44-7064-760D-B21D-300E9FA0F34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D01D0790-FC7B-BF2B-9649-747D41153C85}"/>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Date Placeholder 4">
            <a:extLst>
              <a:ext uri="{FF2B5EF4-FFF2-40B4-BE49-F238E27FC236}">
                <a16:creationId xmlns:a16="http://schemas.microsoft.com/office/drawing/2014/main" id="{3FF5E72B-8472-C250-6821-594C9CB4AC7D}"/>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15588546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4E10B2FB-5E35-FC53-F0FB-3F3F5E38A641}"/>
              </a:ext>
            </a:extLst>
          </p:cNvPr>
          <p:cNvSpPr txBox="1"/>
          <p:nvPr/>
        </p:nvSpPr>
        <p:spPr>
          <a:xfrm>
            <a:off x="250967" y="1867782"/>
            <a:ext cx="2448690" cy="1245469"/>
          </a:xfrm>
          <a:prstGeom prst="rect">
            <a:avLst/>
          </a:prstGeom>
          <a:noFill/>
        </p:spPr>
        <p:txBody>
          <a:bodyPr wrap="squar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predimed_records</a:t>
            </a:r>
            <a:r>
              <a:rPr lang="en-US" dirty="0">
                <a:solidFill>
                  <a:srgbClr val="000000"/>
                </a:solidFill>
                <a:latin typeface="Courier New" panose="02070309020205020404" pitchFamily="49" charset="0"/>
                <a:cs typeface="Courier New" panose="02070309020205020404" pitchFamily="49" charset="0"/>
              </a:rPr>
              <a:t>	</a:t>
            </a:r>
          </a:p>
          <a:p>
            <a:pPr>
              <a:lnSpc>
                <a:spcPct val="90000"/>
              </a:lnSpc>
              <a:spcBef>
                <a:spcPts val="1001"/>
              </a:spcBef>
              <a:buClr>
                <a:srgbClr val="000000"/>
              </a:buClr>
              <a:tabLst>
                <a:tab pos="0" algn="l"/>
              </a:tabLst>
            </a:pPr>
            <a:r>
              <a:rPr lang="en-GB" dirty="0"/>
              <a:t>6324 (N) rows</a:t>
            </a:r>
          </a:p>
          <a:p>
            <a:r>
              <a:rPr lang="en-GB" dirty="0"/>
              <a:t>16 columns</a:t>
            </a:r>
            <a:endParaRPr lang="en-US" dirty="0"/>
          </a:p>
        </p:txBody>
      </p:sp>
      <p:sp>
        <p:nvSpPr>
          <p:cNvPr id="2" name="Title 1">
            <a:extLst>
              <a:ext uri="{FF2B5EF4-FFF2-40B4-BE49-F238E27FC236}">
                <a16:creationId xmlns:a16="http://schemas.microsoft.com/office/drawing/2014/main" id="{DC7445BF-1F6D-3CB8-9121-7F192865C163}"/>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Tabular data join and performance</a:t>
            </a:r>
          </a:p>
        </p:txBody>
      </p:sp>
      <p:sp>
        <p:nvSpPr>
          <p:cNvPr id="18" name="TextBox 17">
            <a:extLst>
              <a:ext uri="{FF2B5EF4-FFF2-40B4-BE49-F238E27FC236}">
                <a16:creationId xmlns:a16="http://schemas.microsoft.com/office/drawing/2014/main" id="{E9DB0604-63DF-6434-D1C2-2948F9DC78CA}"/>
              </a:ext>
            </a:extLst>
          </p:cNvPr>
          <p:cNvSpPr txBox="1"/>
          <p:nvPr/>
        </p:nvSpPr>
        <p:spPr>
          <a:xfrm>
            <a:off x="250967" y="4486795"/>
            <a:ext cx="2666114" cy="1172629"/>
          </a:xfrm>
          <a:prstGeom prst="rect">
            <a:avLst/>
          </a:prstGeom>
          <a:noFill/>
        </p:spPr>
        <p:txBody>
          <a:bodyPr wrap="non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predimed_locations</a:t>
            </a:r>
            <a:endParaRPr lang="en-US" dirty="0">
              <a:solidFill>
                <a:srgbClr val="000000"/>
              </a:solidFill>
              <a:latin typeface="Courier New" panose="02070309020205020404" pitchFamily="49" charset="0"/>
              <a:cs typeface="Courier New" panose="02070309020205020404" pitchFamily="49" charset="0"/>
            </a:endParaRPr>
          </a:p>
          <a:p>
            <a:endParaRPr lang="en-US" dirty="0"/>
          </a:p>
          <a:p>
            <a:r>
              <a:rPr lang="en-US" dirty="0"/>
              <a:t>5 (M)</a:t>
            </a:r>
            <a:r>
              <a:rPr lang="en-GB" dirty="0"/>
              <a:t> rows</a:t>
            </a:r>
          </a:p>
          <a:p>
            <a:r>
              <a:rPr lang="en-GB" dirty="0"/>
              <a:t>3 columns</a:t>
            </a:r>
            <a:endParaRPr lang="en-US" dirty="0"/>
          </a:p>
        </p:txBody>
      </p:sp>
      <p:pic>
        <p:nvPicPr>
          <p:cNvPr id="19" name="Picture 18">
            <a:extLst>
              <a:ext uri="{FF2B5EF4-FFF2-40B4-BE49-F238E27FC236}">
                <a16:creationId xmlns:a16="http://schemas.microsoft.com/office/drawing/2014/main" id="{8F2539ED-52CE-C1A8-DD01-E95D08F7A061}"/>
              </a:ext>
            </a:extLst>
          </p:cNvPr>
          <p:cNvPicPr>
            <a:picLocks noChangeAspect="1"/>
          </p:cNvPicPr>
          <p:nvPr/>
        </p:nvPicPr>
        <p:blipFill>
          <a:blip r:embed="rId2"/>
          <a:stretch>
            <a:fillRect/>
          </a:stretch>
        </p:blipFill>
        <p:spPr>
          <a:xfrm>
            <a:off x="3079872" y="3948173"/>
            <a:ext cx="2615404" cy="2360243"/>
          </a:xfrm>
          <a:prstGeom prst="rect">
            <a:avLst/>
          </a:prstGeom>
        </p:spPr>
      </p:pic>
      <p:grpSp>
        <p:nvGrpSpPr>
          <p:cNvPr id="20" name="Group 19">
            <a:extLst>
              <a:ext uri="{FF2B5EF4-FFF2-40B4-BE49-F238E27FC236}">
                <a16:creationId xmlns:a16="http://schemas.microsoft.com/office/drawing/2014/main" id="{251B2A9E-9AB4-EF10-676E-1CF7FBD20374}"/>
              </a:ext>
            </a:extLst>
          </p:cNvPr>
          <p:cNvGrpSpPr/>
          <p:nvPr/>
        </p:nvGrpSpPr>
        <p:grpSpPr>
          <a:xfrm>
            <a:off x="2577594" y="1445868"/>
            <a:ext cx="9363439" cy="2067804"/>
            <a:chOff x="1610899" y="1277259"/>
            <a:chExt cx="6883106" cy="1520052"/>
          </a:xfrm>
        </p:grpSpPr>
        <p:pic>
          <p:nvPicPr>
            <p:cNvPr id="21" name="Picture 20">
              <a:extLst>
                <a:ext uri="{FF2B5EF4-FFF2-40B4-BE49-F238E27FC236}">
                  <a16:creationId xmlns:a16="http://schemas.microsoft.com/office/drawing/2014/main" id="{55840425-9F26-5235-14A3-234E03AF102C}"/>
                </a:ext>
              </a:extLst>
            </p:cNvPr>
            <p:cNvPicPr>
              <a:picLocks noChangeAspect="1"/>
            </p:cNvPicPr>
            <p:nvPr/>
          </p:nvPicPr>
          <p:blipFill>
            <a:blip r:embed="rId3"/>
            <a:srcRect b="70671"/>
            <a:stretch>
              <a:fillRect/>
            </a:stretch>
          </p:blipFill>
          <p:spPr>
            <a:xfrm>
              <a:off x="1623135" y="1277259"/>
              <a:ext cx="6870870" cy="767926"/>
            </a:xfrm>
            <a:prstGeom prst="rect">
              <a:avLst/>
            </a:prstGeom>
          </p:spPr>
        </p:pic>
        <p:pic>
          <p:nvPicPr>
            <p:cNvPr id="22" name="Picture 21">
              <a:extLst>
                <a:ext uri="{FF2B5EF4-FFF2-40B4-BE49-F238E27FC236}">
                  <a16:creationId xmlns:a16="http://schemas.microsoft.com/office/drawing/2014/main" id="{9A9BFADF-CD04-3E2D-5B5B-89BD0D082506}"/>
                </a:ext>
              </a:extLst>
            </p:cNvPr>
            <p:cNvPicPr>
              <a:picLocks noChangeAspect="1"/>
            </p:cNvPicPr>
            <p:nvPr/>
          </p:nvPicPr>
          <p:blipFill>
            <a:blip r:embed="rId3"/>
            <a:srcRect l="-635" t="43488" r="635" b="47181"/>
            <a:stretch>
              <a:fillRect/>
            </a:stretch>
          </p:blipFill>
          <p:spPr>
            <a:xfrm>
              <a:off x="1615443" y="2056204"/>
              <a:ext cx="6870870" cy="244306"/>
            </a:xfrm>
            <a:prstGeom prst="rect">
              <a:avLst/>
            </a:prstGeom>
          </p:spPr>
        </p:pic>
        <p:pic>
          <p:nvPicPr>
            <p:cNvPr id="23" name="Picture 22">
              <a:extLst>
                <a:ext uri="{FF2B5EF4-FFF2-40B4-BE49-F238E27FC236}">
                  <a16:creationId xmlns:a16="http://schemas.microsoft.com/office/drawing/2014/main" id="{3B0172D6-AC2D-7B00-F8D8-E17F42F66867}"/>
                </a:ext>
              </a:extLst>
            </p:cNvPr>
            <p:cNvPicPr>
              <a:picLocks noChangeAspect="1"/>
            </p:cNvPicPr>
            <p:nvPr/>
          </p:nvPicPr>
          <p:blipFill>
            <a:blip r:embed="rId3"/>
            <a:srcRect l="-112" t="81437" r="112" b="-325"/>
            <a:stretch>
              <a:fillRect/>
            </a:stretch>
          </p:blipFill>
          <p:spPr>
            <a:xfrm>
              <a:off x="1610899" y="2302757"/>
              <a:ext cx="6870870" cy="494554"/>
            </a:xfrm>
            <a:prstGeom prst="rect">
              <a:avLst/>
            </a:prstGeom>
          </p:spPr>
        </p:pic>
      </p:grpSp>
      <p:sp>
        <p:nvSpPr>
          <p:cNvPr id="24" name="PlaceHolder 1">
            <a:extLst>
              <a:ext uri="{FF2B5EF4-FFF2-40B4-BE49-F238E27FC236}">
                <a16:creationId xmlns:a16="http://schemas.microsoft.com/office/drawing/2014/main" id="{962D2441-1359-3465-4F78-932BD4C64E2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CB1F83DB-4A5F-CA0B-0FD1-FEF451A663E2}"/>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PlaceHolder 5">
            <a:extLst>
              <a:ext uri="{FF2B5EF4-FFF2-40B4-BE49-F238E27FC236}">
                <a16:creationId xmlns:a16="http://schemas.microsoft.com/office/drawing/2014/main" id="{5878E452-83E6-5F0B-E552-FAF8415BB218}"/>
              </a:ext>
            </a:extLst>
          </p:cNvPr>
          <p:cNvSpPr>
            <a:spLocks noGrp="1"/>
          </p:cNvSpPr>
          <p:nvPr>
            <p:ph type="sldNum" idx="2"/>
          </p:nvPr>
        </p:nvSpPr>
        <p:spPr>
          <a:xfrm>
            <a:off x="8610480" y="6356520"/>
            <a:ext cx="2739960" cy="361800"/>
          </a:xfrm>
        </p:spPr>
        <p:txBody>
          <a:bodyPr/>
          <a:lstStyle/>
          <a:p>
            <a:fld id="{63F6CC6A-DF16-4F88-82E8-D125745032A3}" type="slidenum">
              <a:rPr/>
              <a:t>12</a:t>
            </a:fld>
            <a:endParaRPr/>
          </a:p>
        </p:txBody>
      </p:sp>
      <p:sp>
        <p:nvSpPr>
          <p:cNvPr id="3" name="Date Placeholder 2">
            <a:extLst>
              <a:ext uri="{FF2B5EF4-FFF2-40B4-BE49-F238E27FC236}">
                <a16:creationId xmlns:a16="http://schemas.microsoft.com/office/drawing/2014/main" id="{8683C79B-2209-ADC3-E150-6A3749A1D6BB}"/>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32760460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1A564D-C499-6DF2-CECE-5AE7B47FEEC6}"/>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8E39B2E3-C862-4523-F551-2BEC02095F23}"/>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B548E81E-C99E-7156-74D5-21EBE73B5752}"/>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15" name="Picture 14">
            <a:extLst>
              <a:ext uri="{FF2B5EF4-FFF2-40B4-BE49-F238E27FC236}">
                <a16:creationId xmlns:a16="http://schemas.microsoft.com/office/drawing/2014/main" id="{7119568E-CFEC-64C4-8F3C-9ACEF3AE10C1}"/>
              </a:ext>
            </a:extLst>
          </p:cNvPr>
          <p:cNvPicPr>
            <a:picLocks noChangeAspect="1"/>
          </p:cNvPicPr>
          <p:nvPr/>
        </p:nvPicPr>
        <p:blipFill>
          <a:blip r:embed="rId2"/>
          <a:srcRect r="68073"/>
          <a:stretch>
            <a:fillRect/>
          </a:stretch>
        </p:blipFill>
        <p:spPr>
          <a:xfrm>
            <a:off x="8762296" y="1086967"/>
            <a:ext cx="2897921" cy="2007487"/>
          </a:xfrm>
          <a:prstGeom prst="rect">
            <a:avLst/>
          </a:prstGeom>
        </p:spPr>
      </p:pic>
      <p:pic>
        <p:nvPicPr>
          <p:cNvPr id="30" name="Picture 29">
            <a:extLst>
              <a:ext uri="{FF2B5EF4-FFF2-40B4-BE49-F238E27FC236}">
                <a16:creationId xmlns:a16="http://schemas.microsoft.com/office/drawing/2014/main" id="{DBCB808F-D6C7-E28F-8156-1CA986AD613F}"/>
              </a:ext>
            </a:extLst>
          </p:cNvPr>
          <p:cNvPicPr>
            <a:picLocks noChangeAspect="1"/>
          </p:cNvPicPr>
          <p:nvPr/>
        </p:nvPicPr>
        <p:blipFill>
          <a:blip r:embed="rId3"/>
          <a:stretch>
            <a:fillRect/>
          </a:stretch>
        </p:blipFill>
        <p:spPr>
          <a:xfrm>
            <a:off x="9212480" y="4310203"/>
            <a:ext cx="1997551" cy="1802669"/>
          </a:xfrm>
          <a:prstGeom prst="rect">
            <a:avLst/>
          </a:prstGeom>
        </p:spPr>
      </p:pic>
      <p:sp>
        <p:nvSpPr>
          <p:cNvPr id="37" name="TextBox 36">
            <a:extLst>
              <a:ext uri="{FF2B5EF4-FFF2-40B4-BE49-F238E27FC236}">
                <a16:creationId xmlns:a16="http://schemas.microsoft.com/office/drawing/2014/main" id="{D702C206-A861-24E0-233F-278363E20531}"/>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C80DC15C-4F03-E728-5CB5-B92C0C2C5F41}"/>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
        <p:nvSpPr>
          <p:cNvPr id="2" name="Date Placeholder 1">
            <a:extLst>
              <a:ext uri="{FF2B5EF4-FFF2-40B4-BE49-F238E27FC236}">
                <a16:creationId xmlns:a16="http://schemas.microsoft.com/office/drawing/2014/main" id="{6FC01CA5-BAE4-592F-0F97-F35FF01AB5D7}"/>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3" name="Footer Placeholder 2">
            <a:extLst>
              <a:ext uri="{FF2B5EF4-FFF2-40B4-BE49-F238E27FC236}">
                <a16:creationId xmlns:a16="http://schemas.microsoft.com/office/drawing/2014/main" id="{4CC8A340-7A03-8398-8A44-9244F558AAF6}"/>
              </a:ext>
            </a:extLst>
          </p:cNvPr>
          <p:cNvSpPr>
            <a:spLocks noGrp="1"/>
          </p:cNvSpPr>
          <p:nvPr>
            <p:ph type="ftr" idx="1"/>
          </p:nvPr>
        </p:nvSpPr>
        <p:spPr/>
        <p:txBody>
          <a:bodyPr/>
          <a:lstStyle/>
          <a:p>
            <a:r>
              <a:rPr lang="en-US"/>
              <a:t>Tab, v4.0</a:t>
            </a:r>
            <a:endParaRPr lang="en-US" dirty="0"/>
          </a:p>
        </p:txBody>
      </p:sp>
      <p:sp>
        <p:nvSpPr>
          <p:cNvPr id="5" name="Slide Number Placeholder 4">
            <a:extLst>
              <a:ext uri="{FF2B5EF4-FFF2-40B4-BE49-F238E27FC236}">
                <a16:creationId xmlns:a16="http://schemas.microsoft.com/office/drawing/2014/main" id="{6540B630-C769-4B32-7787-CBA921E628CB}"/>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13</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42811766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0A816-F0B1-F642-55B3-6AB687CA81F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1F100F-A9E5-7661-AB27-CCBB7EB54CC8}"/>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783609FE-0B11-D8A5-5A53-95DD64FBE7F9}"/>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9932428D-06B1-27AD-8ABA-294988995E26}"/>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15" name="Picture 14">
            <a:extLst>
              <a:ext uri="{FF2B5EF4-FFF2-40B4-BE49-F238E27FC236}">
                <a16:creationId xmlns:a16="http://schemas.microsoft.com/office/drawing/2014/main" id="{B128CCAD-7A79-0010-6B1A-F88D533E78AC}"/>
              </a:ext>
            </a:extLst>
          </p:cNvPr>
          <p:cNvPicPr>
            <a:picLocks noChangeAspect="1"/>
          </p:cNvPicPr>
          <p:nvPr/>
        </p:nvPicPr>
        <p:blipFill>
          <a:blip r:embed="rId2"/>
          <a:srcRect r="68073"/>
          <a:stretch>
            <a:fillRect/>
          </a:stretch>
        </p:blipFill>
        <p:spPr>
          <a:xfrm>
            <a:off x="8762296" y="1086967"/>
            <a:ext cx="2897921" cy="2007487"/>
          </a:xfrm>
          <a:prstGeom prst="rect">
            <a:avLst/>
          </a:prstGeom>
        </p:spPr>
      </p:pic>
      <p:pic>
        <p:nvPicPr>
          <p:cNvPr id="30" name="Picture 29">
            <a:extLst>
              <a:ext uri="{FF2B5EF4-FFF2-40B4-BE49-F238E27FC236}">
                <a16:creationId xmlns:a16="http://schemas.microsoft.com/office/drawing/2014/main" id="{142FD06E-1673-CA98-B56C-1FC37D54985A}"/>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860DBB06-83A4-C520-257D-7A926A1D9A1C}"/>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C8044A93-A5ED-5636-3BBA-E56CB0001A56}"/>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D94A3210-FAF8-105C-FB64-AB6AA61D4AFD}"/>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F5F5F5"/>
                  </a:solidFill>
                </a:rPr>
                <a:t>O(N)</a:t>
              </a:r>
            </a:p>
          </p:txBody>
        </p:sp>
      </p:grpSp>
      <p:sp>
        <p:nvSpPr>
          <p:cNvPr id="37" name="TextBox 36">
            <a:extLst>
              <a:ext uri="{FF2B5EF4-FFF2-40B4-BE49-F238E27FC236}">
                <a16:creationId xmlns:a16="http://schemas.microsoft.com/office/drawing/2014/main" id="{165B88FD-D871-0B72-9F1B-05540EEB8A45}"/>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9DE8C9B6-487D-C177-9BFD-0149487796A8}"/>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
        <p:nvSpPr>
          <p:cNvPr id="2" name="Date Placeholder 1">
            <a:extLst>
              <a:ext uri="{FF2B5EF4-FFF2-40B4-BE49-F238E27FC236}">
                <a16:creationId xmlns:a16="http://schemas.microsoft.com/office/drawing/2014/main" id="{54111268-D89D-8FB8-3F6C-2D2DBE981AAE}"/>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3" name="Footer Placeholder 2">
            <a:extLst>
              <a:ext uri="{FF2B5EF4-FFF2-40B4-BE49-F238E27FC236}">
                <a16:creationId xmlns:a16="http://schemas.microsoft.com/office/drawing/2014/main" id="{CC6C85F0-3076-FD16-F030-81235E8E827B}"/>
              </a:ext>
            </a:extLst>
          </p:cNvPr>
          <p:cNvSpPr>
            <a:spLocks noGrp="1"/>
          </p:cNvSpPr>
          <p:nvPr>
            <p:ph type="ftr" idx="1"/>
          </p:nvPr>
        </p:nvSpPr>
        <p:spPr/>
        <p:txBody>
          <a:bodyPr/>
          <a:lstStyle/>
          <a:p>
            <a:r>
              <a:rPr lang="en-US"/>
              <a:t>Tab, v4.0</a:t>
            </a:r>
            <a:endParaRPr lang="en-US" dirty="0"/>
          </a:p>
        </p:txBody>
      </p:sp>
      <p:sp>
        <p:nvSpPr>
          <p:cNvPr id="5" name="Slide Number Placeholder 4">
            <a:extLst>
              <a:ext uri="{FF2B5EF4-FFF2-40B4-BE49-F238E27FC236}">
                <a16:creationId xmlns:a16="http://schemas.microsoft.com/office/drawing/2014/main" id="{F362622B-C77C-2509-30A9-E7D4618B3C89}"/>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14</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2585979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22A2-20E9-A75F-A4BF-D8F2777127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0A6818-D72A-43D2-82BE-3F57269981A4}"/>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FAD7B6B3-7F7C-FF71-AEE4-C54EC406CF09}"/>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25031ACD-A1D1-D129-4EE2-51DDDB2CEC28}"/>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grpSp>
        <p:nvGrpSpPr>
          <p:cNvPr id="28" name="Group 27">
            <a:extLst>
              <a:ext uri="{FF2B5EF4-FFF2-40B4-BE49-F238E27FC236}">
                <a16:creationId xmlns:a16="http://schemas.microsoft.com/office/drawing/2014/main" id="{BE6A0756-7FB0-3107-C1D6-67F24D74F273}"/>
              </a:ext>
            </a:extLst>
          </p:cNvPr>
          <p:cNvGrpSpPr/>
          <p:nvPr/>
        </p:nvGrpSpPr>
        <p:grpSpPr>
          <a:xfrm>
            <a:off x="8660859" y="1086967"/>
            <a:ext cx="2999358" cy="2007487"/>
            <a:chOff x="8820196" y="1647191"/>
            <a:chExt cx="2999358" cy="2007487"/>
          </a:xfrm>
        </p:grpSpPr>
        <p:pic>
          <p:nvPicPr>
            <p:cNvPr id="15" name="Picture 14">
              <a:extLst>
                <a:ext uri="{FF2B5EF4-FFF2-40B4-BE49-F238E27FC236}">
                  <a16:creationId xmlns:a16="http://schemas.microsoft.com/office/drawing/2014/main" id="{92B8DAB2-B320-6A06-70AD-B6CA4C63BD33}"/>
                </a:ext>
              </a:extLst>
            </p:cNvPr>
            <p:cNvPicPr>
              <a:picLocks noChangeAspect="1"/>
            </p:cNvPicPr>
            <p:nvPr/>
          </p:nvPicPr>
          <p:blipFill>
            <a:blip r:embed="rId2"/>
            <a:srcRect r="68073"/>
            <a:stretch>
              <a:fillRect/>
            </a:stretch>
          </p:blipFill>
          <p:spPr>
            <a:xfrm>
              <a:off x="8921633" y="1647191"/>
              <a:ext cx="2897921" cy="2007487"/>
            </a:xfrm>
            <a:prstGeom prst="rect">
              <a:avLst/>
            </a:prstGeom>
          </p:spPr>
        </p:pic>
        <p:cxnSp>
          <p:nvCxnSpPr>
            <p:cNvPr id="22" name="Straight Arrow Connector 21">
              <a:extLst>
                <a:ext uri="{FF2B5EF4-FFF2-40B4-BE49-F238E27FC236}">
                  <a16:creationId xmlns:a16="http://schemas.microsoft.com/office/drawing/2014/main" id="{7B12D495-9535-491E-EDC4-E1EC3DCD1737}"/>
                </a:ext>
              </a:extLst>
            </p:cNvPr>
            <p:cNvCxnSpPr>
              <a:cxnSpLocks/>
            </p:cNvCxnSpPr>
            <p:nvPr/>
          </p:nvCxnSpPr>
          <p:spPr>
            <a:xfrm>
              <a:off x="8820196" y="1701342"/>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grpSp>
      <p:pic>
        <p:nvPicPr>
          <p:cNvPr id="30" name="Picture 29">
            <a:extLst>
              <a:ext uri="{FF2B5EF4-FFF2-40B4-BE49-F238E27FC236}">
                <a16:creationId xmlns:a16="http://schemas.microsoft.com/office/drawing/2014/main" id="{D961D575-83E3-FE88-29F8-1E73084A54C1}"/>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D7A4FA43-D955-D9DD-9DE9-D60D47A11343}"/>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4E3DE82E-830D-153F-D54D-DF0D4CF1C041}"/>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43B04903-EAAC-B28C-23C2-AF2682E676A2}"/>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7D0079"/>
                  </a:solidFill>
                </a:rPr>
                <a:t>O(N)</a:t>
              </a:r>
            </a:p>
          </p:txBody>
        </p:sp>
        <p:sp>
          <p:nvSpPr>
            <p:cNvPr id="31" name="TextBox 30">
              <a:extLst>
                <a:ext uri="{FF2B5EF4-FFF2-40B4-BE49-F238E27FC236}">
                  <a16:creationId xmlns:a16="http://schemas.microsoft.com/office/drawing/2014/main" id="{C510ABDD-7E62-58DD-E3DB-4E44FB50769E}"/>
                </a:ext>
              </a:extLst>
            </p:cNvPr>
            <p:cNvSpPr txBox="1"/>
            <p:nvPr/>
          </p:nvSpPr>
          <p:spPr>
            <a:xfrm>
              <a:off x="3840283" y="3285558"/>
              <a:ext cx="784462" cy="369332"/>
            </a:xfrm>
            <a:prstGeom prst="rect">
              <a:avLst/>
            </a:prstGeom>
            <a:solidFill>
              <a:srgbClr val="F5F5F5"/>
            </a:solidFill>
          </p:spPr>
          <p:txBody>
            <a:bodyPr wrap="square" rtlCol="0">
              <a:spAutoFit/>
            </a:bodyPr>
            <a:lstStyle/>
            <a:p>
              <a:r>
                <a:rPr lang="en-US" b="1" dirty="0">
                  <a:solidFill>
                    <a:srgbClr val="7D0079"/>
                  </a:solidFill>
                </a:rPr>
                <a:t>O(M)</a:t>
              </a:r>
            </a:p>
          </p:txBody>
        </p:sp>
      </p:grpSp>
      <p:cxnSp>
        <p:nvCxnSpPr>
          <p:cNvPr id="36" name="Straight Arrow Connector 35">
            <a:extLst>
              <a:ext uri="{FF2B5EF4-FFF2-40B4-BE49-F238E27FC236}">
                <a16:creationId xmlns:a16="http://schemas.microsoft.com/office/drawing/2014/main" id="{03414975-5CAB-4622-3DCD-DE3546118F01}"/>
              </a:ext>
            </a:extLst>
          </p:cNvPr>
          <p:cNvCxnSpPr>
            <a:cxnSpLocks/>
          </p:cNvCxnSpPr>
          <p:nvPr/>
        </p:nvCxnSpPr>
        <p:spPr>
          <a:xfrm>
            <a:off x="9138935" y="4324810"/>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30D2FB5E-1799-2B4E-3AE4-555C0C038BD2}"/>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cxnSp>
        <p:nvCxnSpPr>
          <p:cNvPr id="39" name="Straight Arrow Connector 38">
            <a:extLst>
              <a:ext uri="{FF2B5EF4-FFF2-40B4-BE49-F238E27FC236}">
                <a16:creationId xmlns:a16="http://schemas.microsoft.com/office/drawing/2014/main" id="{EC70174D-2BEA-43B0-DCD4-C7B90EF7773B}"/>
              </a:ext>
            </a:extLst>
          </p:cNvPr>
          <p:cNvCxnSpPr>
            <a:cxnSpLocks/>
          </p:cNvCxnSpPr>
          <p:nvPr/>
        </p:nvCxnSpPr>
        <p:spPr>
          <a:xfrm>
            <a:off x="8660859" y="1141118"/>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26C1AC62-EB6A-E997-609D-FA51663E8745}"/>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
        <p:nvSpPr>
          <p:cNvPr id="2" name="Date Placeholder 1">
            <a:extLst>
              <a:ext uri="{FF2B5EF4-FFF2-40B4-BE49-F238E27FC236}">
                <a16:creationId xmlns:a16="http://schemas.microsoft.com/office/drawing/2014/main" id="{A3D0515A-8148-EAB3-0620-4B3941727FCB}"/>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3" name="Footer Placeholder 2">
            <a:extLst>
              <a:ext uri="{FF2B5EF4-FFF2-40B4-BE49-F238E27FC236}">
                <a16:creationId xmlns:a16="http://schemas.microsoft.com/office/drawing/2014/main" id="{990A82C8-3EFA-928A-F02B-FF11AD409175}"/>
              </a:ext>
            </a:extLst>
          </p:cNvPr>
          <p:cNvSpPr>
            <a:spLocks noGrp="1"/>
          </p:cNvSpPr>
          <p:nvPr>
            <p:ph type="ftr" idx="1"/>
          </p:nvPr>
        </p:nvSpPr>
        <p:spPr/>
        <p:txBody>
          <a:bodyPr/>
          <a:lstStyle/>
          <a:p>
            <a:r>
              <a:rPr lang="en-US"/>
              <a:t>Tab, v4.0</a:t>
            </a:r>
            <a:endParaRPr lang="en-US" dirty="0"/>
          </a:p>
        </p:txBody>
      </p:sp>
      <p:sp>
        <p:nvSpPr>
          <p:cNvPr id="5" name="Slide Number Placeholder 4">
            <a:extLst>
              <a:ext uri="{FF2B5EF4-FFF2-40B4-BE49-F238E27FC236}">
                <a16:creationId xmlns:a16="http://schemas.microsoft.com/office/drawing/2014/main" id="{34251013-EC50-98D3-3CE8-A8ED58559D31}"/>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15</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28665610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B75C8-DE14-7531-2377-464A79766F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49E848-0840-5DC3-7F90-70F060A99872}"/>
              </a:ext>
            </a:extLst>
          </p:cNvPr>
          <p:cNvSpPr>
            <a:spLocks noGrp="1"/>
          </p:cNvSpPr>
          <p:nvPr>
            <p:ph type="title"/>
          </p:nvPr>
        </p:nvSpPr>
        <p:spPr/>
        <p:txBody>
          <a:bodyPr/>
          <a:lstStyle/>
          <a:p>
            <a:r>
              <a:rPr lang="en-US" dirty="0"/>
              <a:t>Solution O(N*M)</a:t>
            </a:r>
          </a:p>
        </p:txBody>
      </p:sp>
      <p:sp>
        <p:nvSpPr>
          <p:cNvPr id="17" name="PlaceHolder 1">
            <a:extLst>
              <a:ext uri="{FF2B5EF4-FFF2-40B4-BE49-F238E27FC236}">
                <a16:creationId xmlns:a16="http://schemas.microsoft.com/office/drawing/2014/main" id="{B24A7B36-8BBD-48CF-0E77-4DCD8E023314}"/>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30" name="Picture 29">
            <a:extLst>
              <a:ext uri="{FF2B5EF4-FFF2-40B4-BE49-F238E27FC236}">
                <a16:creationId xmlns:a16="http://schemas.microsoft.com/office/drawing/2014/main" id="{B78AF198-C325-616F-E067-7651DEF062D6}"/>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3B8CC776-1410-6105-2B06-7988E7B310FF}"/>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3B1654F5-3089-8AE0-10E4-65782A7B314C}"/>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52AC2BF4-D413-DD7A-98C5-D4FAB8A66354}"/>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7D0079"/>
                  </a:solidFill>
                </a:rPr>
                <a:t>O(N)</a:t>
              </a:r>
            </a:p>
          </p:txBody>
        </p:sp>
        <p:sp>
          <p:nvSpPr>
            <p:cNvPr id="31" name="TextBox 30">
              <a:extLst>
                <a:ext uri="{FF2B5EF4-FFF2-40B4-BE49-F238E27FC236}">
                  <a16:creationId xmlns:a16="http://schemas.microsoft.com/office/drawing/2014/main" id="{ED1757FF-FFBC-4FBA-B33A-1273E7330369}"/>
                </a:ext>
              </a:extLst>
            </p:cNvPr>
            <p:cNvSpPr txBox="1"/>
            <p:nvPr/>
          </p:nvSpPr>
          <p:spPr>
            <a:xfrm>
              <a:off x="3840283" y="3285558"/>
              <a:ext cx="784462" cy="369332"/>
            </a:xfrm>
            <a:prstGeom prst="rect">
              <a:avLst/>
            </a:prstGeom>
            <a:solidFill>
              <a:srgbClr val="F5F5F5"/>
            </a:solidFill>
          </p:spPr>
          <p:txBody>
            <a:bodyPr wrap="square" rtlCol="0">
              <a:spAutoFit/>
            </a:bodyPr>
            <a:lstStyle/>
            <a:p>
              <a:r>
                <a:rPr lang="en-US" b="1" dirty="0">
                  <a:solidFill>
                    <a:srgbClr val="7D0079"/>
                  </a:solidFill>
                </a:rPr>
                <a:t>O(M)</a:t>
              </a:r>
            </a:p>
          </p:txBody>
        </p:sp>
      </p:grpSp>
      <p:cxnSp>
        <p:nvCxnSpPr>
          <p:cNvPr id="36" name="Straight Arrow Connector 35">
            <a:extLst>
              <a:ext uri="{FF2B5EF4-FFF2-40B4-BE49-F238E27FC236}">
                <a16:creationId xmlns:a16="http://schemas.microsoft.com/office/drawing/2014/main" id="{57A57F7D-F218-C7B1-05AD-D55D3C24F38B}"/>
              </a:ext>
            </a:extLst>
          </p:cNvPr>
          <p:cNvCxnSpPr>
            <a:cxnSpLocks/>
          </p:cNvCxnSpPr>
          <p:nvPr/>
        </p:nvCxnSpPr>
        <p:spPr>
          <a:xfrm>
            <a:off x="9138935" y="4324810"/>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999AA50-DA70-1411-B31A-893F8911C8B2}"/>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0B8FEA9C-974C-4CAD-243B-17BE9075D7B3}"/>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pic>
        <p:nvPicPr>
          <p:cNvPr id="3" name="Graphic 2">
            <a:extLst>
              <a:ext uri="{FF2B5EF4-FFF2-40B4-BE49-F238E27FC236}">
                <a16:creationId xmlns:a16="http://schemas.microsoft.com/office/drawing/2014/main" id="{1509F41F-B312-B11A-8503-DD14D6A941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6857" y="1840188"/>
            <a:ext cx="5334000" cy="4419600"/>
          </a:xfrm>
          <a:prstGeom prst="rect">
            <a:avLst/>
          </a:prstGeom>
        </p:spPr>
      </p:pic>
      <p:sp>
        <p:nvSpPr>
          <p:cNvPr id="8" name="TextBox 7">
            <a:extLst>
              <a:ext uri="{FF2B5EF4-FFF2-40B4-BE49-F238E27FC236}">
                <a16:creationId xmlns:a16="http://schemas.microsoft.com/office/drawing/2014/main" id="{C4C5E766-9737-0E44-02C3-FA99217A8EA6}"/>
              </a:ext>
            </a:extLst>
          </p:cNvPr>
          <p:cNvSpPr txBox="1"/>
          <p:nvPr/>
        </p:nvSpPr>
        <p:spPr>
          <a:xfrm>
            <a:off x="7375640" y="1859850"/>
            <a:ext cx="4092734" cy="338554"/>
          </a:xfrm>
          <a:prstGeom prst="rect">
            <a:avLst/>
          </a:prstGeom>
          <a:solidFill>
            <a:schemeClr val="bg1"/>
          </a:solidFill>
        </p:spPr>
        <p:txBody>
          <a:bodyPr wrap="square" rtlCol="0">
            <a:spAutoFit/>
          </a:bodyPr>
          <a:lstStyle/>
          <a:p>
            <a:r>
              <a:rPr lang="en-DE" sz="1600" dirty="0">
                <a:solidFill>
                  <a:srgbClr val="800080"/>
                </a:solidFill>
              </a:rPr>
              <a:t>two for-loops: 	</a:t>
            </a:r>
            <a:r>
              <a:rPr lang="en-GB" sz="1600" dirty="0">
                <a:solidFill>
                  <a:srgbClr val="800080"/>
                </a:solidFill>
              </a:rPr>
              <a:t>O(N*M)</a:t>
            </a:r>
            <a:endParaRPr lang="en-DE" sz="1600" dirty="0">
              <a:solidFill>
                <a:srgbClr val="800080"/>
              </a:solidFill>
            </a:endParaRPr>
          </a:p>
        </p:txBody>
      </p:sp>
      <p:sp>
        <p:nvSpPr>
          <p:cNvPr id="2" name="Date Placeholder 1">
            <a:extLst>
              <a:ext uri="{FF2B5EF4-FFF2-40B4-BE49-F238E27FC236}">
                <a16:creationId xmlns:a16="http://schemas.microsoft.com/office/drawing/2014/main" id="{27DFB3AC-070C-9B75-1981-418C9EACBB34}"/>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5" name="Footer Placeholder 4">
            <a:extLst>
              <a:ext uri="{FF2B5EF4-FFF2-40B4-BE49-F238E27FC236}">
                <a16:creationId xmlns:a16="http://schemas.microsoft.com/office/drawing/2014/main" id="{E774D5C8-15E5-6B3F-7E2B-4BB10C26E0E2}"/>
              </a:ext>
            </a:extLst>
          </p:cNvPr>
          <p:cNvSpPr>
            <a:spLocks noGrp="1"/>
          </p:cNvSpPr>
          <p:nvPr>
            <p:ph type="ftr" idx="1"/>
          </p:nvPr>
        </p:nvSpPr>
        <p:spPr/>
        <p:txBody>
          <a:bodyPr/>
          <a:lstStyle/>
          <a:p>
            <a:r>
              <a:rPr lang="en-US"/>
              <a:t>Tab, v4.0</a:t>
            </a:r>
            <a:endParaRPr lang="en-US" dirty="0"/>
          </a:p>
        </p:txBody>
      </p:sp>
      <p:sp>
        <p:nvSpPr>
          <p:cNvPr id="6" name="Slide Number Placeholder 5">
            <a:extLst>
              <a:ext uri="{FF2B5EF4-FFF2-40B4-BE49-F238E27FC236}">
                <a16:creationId xmlns:a16="http://schemas.microsoft.com/office/drawing/2014/main" id="{E67EB8B8-32D3-1F87-40EA-7A4C450031E4}"/>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16</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155545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AFC6-9B3A-8EAC-BA77-5E06AC80DF0A}"/>
              </a:ext>
            </a:extLst>
          </p:cNvPr>
          <p:cNvSpPr>
            <a:spLocks noGrp="1"/>
          </p:cNvSpPr>
          <p:nvPr>
            <p:ph type="title"/>
          </p:nvPr>
        </p:nvSpPr>
        <p:spPr>
          <a:xfrm>
            <a:off x="609480" y="88021"/>
            <a:ext cx="10972080" cy="1144440"/>
          </a:xfrm>
        </p:spPr>
        <p:txBody>
          <a:bodyPr/>
          <a:lstStyle/>
          <a:p>
            <a:r>
              <a:rPr lang="en-US" dirty="0"/>
              <a:t>Solution sort</a:t>
            </a:r>
          </a:p>
        </p:txBody>
      </p:sp>
      <p:sp>
        <p:nvSpPr>
          <p:cNvPr id="6" name="PlaceHolder 1">
            <a:extLst>
              <a:ext uri="{FF2B5EF4-FFF2-40B4-BE49-F238E27FC236}">
                <a16:creationId xmlns:a16="http://schemas.microsoft.com/office/drawing/2014/main" id="{291A657B-EEB2-8B22-4B80-F41CC2F24714}"/>
              </a:ext>
            </a:extLst>
          </p:cNvPr>
          <p:cNvSpPr>
            <a:spLocks noGrp="1"/>
          </p:cNvSpPr>
          <p:nvPr>
            <p:ph type="body"/>
          </p:nvPr>
        </p:nvSpPr>
        <p:spPr>
          <a:xfrm>
            <a:off x="306982" y="1288745"/>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7" name="PlaceHolder 1">
            <a:extLst>
              <a:ext uri="{FF2B5EF4-FFF2-40B4-BE49-F238E27FC236}">
                <a16:creationId xmlns:a16="http://schemas.microsoft.com/office/drawing/2014/main" id="{EBCEED8C-F36F-3B87-E8F9-D7EA8D215415}"/>
              </a:ext>
            </a:extLst>
          </p:cNvPr>
          <p:cNvSpPr>
            <a:spLocks noGrp="1"/>
          </p:cNvSpPr>
          <p:nvPr>
            <p:ph type="body"/>
          </p:nvPr>
        </p:nvSpPr>
        <p:spPr>
          <a:xfrm>
            <a:off x="306982" y="4784224"/>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EA1A5787-EC42-2253-817B-20866783721A}"/>
              </a:ext>
            </a:extLst>
          </p:cNvPr>
          <p:cNvPicPr>
            <a:picLocks noChangeAspect="1"/>
          </p:cNvPicPr>
          <p:nvPr/>
        </p:nvPicPr>
        <p:blipFill>
          <a:blip r:embed="rId2"/>
          <a:srcRect r="68073"/>
          <a:stretch>
            <a:fillRect/>
          </a:stretch>
        </p:blipFill>
        <p:spPr>
          <a:xfrm>
            <a:off x="3351064" y="1600533"/>
            <a:ext cx="2897921" cy="2007487"/>
          </a:xfrm>
          <a:prstGeom prst="rect">
            <a:avLst/>
          </a:prstGeom>
        </p:spPr>
      </p:pic>
      <p:pic>
        <p:nvPicPr>
          <p:cNvPr id="9" name="Picture 8">
            <a:extLst>
              <a:ext uri="{FF2B5EF4-FFF2-40B4-BE49-F238E27FC236}">
                <a16:creationId xmlns:a16="http://schemas.microsoft.com/office/drawing/2014/main" id="{E308DEDA-ECA8-5CB5-ABE8-6E5F13DCCA40}"/>
              </a:ext>
            </a:extLst>
          </p:cNvPr>
          <p:cNvPicPr>
            <a:picLocks noChangeAspect="1"/>
          </p:cNvPicPr>
          <p:nvPr/>
        </p:nvPicPr>
        <p:blipFill>
          <a:blip r:embed="rId3"/>
          <a:stretch>
            <a:fillRect/>
          </a:stretch>
        </p:blipFill>
        <p:spPr>
          <a:xfrm>
            <a:off x="4302288" y="4823769"/>
            <a:ext cx="1997551" cy="1802669"/>
          </a:xfrm>
          <a:prstGeom prst="rect">
            <a:avLst/>
          </a:prstGeom>
        </p:spPr>
      </p:pic>
      <p:sp>
        <p:nvSpPr>
          <p:cNvPr id="10" name="TextBox 9">
            <a:extLst>
              <a:ext uri="{FF2B5EF4-FFF2-40B4-BE49-F238E27FC236}">
                <a16:creationId xmlns:a16="http://schemas.microsoft.com/office/drawing/2014/main" id="{6F746ED9-18C7-6E9B-FA50-0A3A0B977EE9}"/>
              </a:ext>
            </a:extLst>
          </p:cNvPr>
          <p:cNvSpPr txBox="1"/>
          <p:nvPr/>
        </p:nvSpPr>
        <p:spPr>
          <a:xfrm>
            <a:off x="3212257" y="5603302"/>
            <a:ext cx="979755" cy="369332"/>
          </a:xfrm>
          <a:prstGeom prst="rect">
            <a:avLst/>
          </a:prstGeom>
          <a:noFill/>
        </p:spPr>
        <p:txBody>
          <a:bodyPr wrap="none" rtlCol="0">
            <a:spAutoFit/>
          </a:bodyPr>
          <a:lstStyle/>
          <a:p>
            <a:r>
              <a:rPr lang="en-US" b="1" dirty="0">
                <a:solidFill>
                  <a:srgbClr val="7D0079"/>
                </a:solidFill>
              </a:rPr>
              <a:t>M rows</a:t>
            </a:r>
          </a:p>
        </p:txBody>
      </p:sp>
      <p:sp>
        <p:nvSpPr>
          <p:cNvPr id="11" name="TextBox 10">
            <a:extLst>
              <a:ext uri="{FF2B5EF4-FFF2-40B4-BE49-F238E27FC236}">
                <a16:creationId xmlns:a16="http://schemas.microsoft.com/office/drawing/2014/main" id="{61DE2888-41F8-9798-2E1A-2B6245A96ECA}"/>
              </a:ext>
            </a:extLst>
          </p:cNvPr>
          <p:cNvSpPr txBox="1"/>
          <p:nvPr/>
        </p:nvSpPr>
        <p:spPr>
          <a:xfrm>
            <a:off x="2245667" y="2419610"/>
            <a:ext cx="954107" cy="369332"/>
          </a:xfrm>
          <a:prstGeom prst="rect">
            <a:avLst/>
          </a:prstGeom>
          <a:noFill/>
        </p:spPr>
        <p:txBody>
          <a:bodyPr wrap="none" rtlCol="0">
            <a:spAutoFit/>
          </a:bodyPr>
          <a:lstStyle/>
          <a:p>
            <a:r>
              <a:rPr lang="en-US" b="1" dirty="0">
                <a:solidFill>
                  <a:srgbClr val="7D0079"/>
                </a:solidFill>
              </a:rPr>
              <a:t>N rows</a:t>
            </a:r>
          </a:p>
        </p:txBody>
      </p:sp>
      <p:grpSp>
        <p:nvGrpSpPr>
          <p:cNvPr id="14" name="Group 13">
            <a:extLst>
              <a:ext uri="{FF2B5EF4-FFF2-40B4-BE49-F238E27FC236}">
                <a16:creationId xmlns:a16="http://schemas.microsoft.com/office/drawing/2014/main" id="{F93A85F9-C571-6949-4B3C-2C990FE3E1CD}"/>
              </a:ext>
            </a:extLst>
          </p:cNvPr>
          <p:cNvGrpSpPr/>
          <p:nvPr/>
        </p:nvGrpSpPr>
        <p:grpSpPr>
          <a:xfrm>
            <a:off x="8867365" y="1088288"/>
            <a:ext cx="2750851" cy="2279755"/>
            <a:chOff x="8757699" y="910837"/>
            <a:chExt cx="2750851" cy="2279755"/>
          </a:xfrm>
        </p:grpSpPr>
        <p:pic>
          <p:nvPicPr>
            <p:cNvPr id="5" name="Picture 4">
              <a:extLst>
                <a:ext uri="{FF2B5EF4-FFF2-40B4-BE49-F238E27FC236}">
                  <a16:creationId xmlns:a16="http://schemas.microsoft.com/office/drawing/2014/main" id="{D2D9AF3A-AB48-6029-5EB3-3CD30FECC1C6}"/>
                </a:ext>
              </a:extLst>
            </p:cNvPr>
            <p:cNvPicPr>
              <a:picLocks noChangeAspect="1"/>
            </p:cNvPicPr>
            <p:nvPr/>
          </p:nvPicPr>
          <p:blipFill>
            <a:blip r:embed="rId4"/>
            <a:srcRect b="67031"/>
            <a:stretch>
              <a:fillRect/>
            </a:stretch>
          </p:blipFill>
          <p:spPr>
            <a:xfrm>
              <a:off x="8757699" y="910837"/>
              <a:ext cx="2750851" cy="1268692"/>
            </a:xfrm>
            <a:prstGeom prst="rect">
              <a:avLst/>
            </a:prstGeom>
          </p:spPr>
        </p:pic>
        <p:pic>
          <p:nvPicPr>
            <p:cNvPr id="12" name="Picture 11">
              <a:extLst>
                <a:ext uri="{FF2B5EF4-FFF2-40B4-BE49-F238E27FC236}">
                  <a16:creationId xmlns:a16="http://schemas.microsoft.com/office/drawing/2014/main" id="{DCB98E96-FF0E-868A-BB87-257F2C8942AB}"/>
                </a:ext>
              </a:extLst>
            </p:cNvPr>
            <p:cNvPicPr>
              <a:picLocks noChangeAspect="1"/>
            </p:cNvPicPr>
            <p:nvPr/>
          </p:nvPicPr>
          <p:blipFill>
            <a:blip r:embed="rId4"/>
            <a:srcRect t="46031" b="45139"/>
            <a:stretch>
              <a:fillRect/>
            </a:stretch>
          </p:blipFill>
          <p:spPr>
            <a:xfrm>
              <a:off x="8757699" y="2167003"/>
              <a:ext cx="2750851" cy="339793"/>
            </a:xfrm>
            <a:prstGeom prst="rect">
              <a:avLst/>
            </a:prstGeom>
          </p:spPr>
        </p:pic>
        <p:pic>
          <p:nvPicPr>
            <p:cNvPr id="13" name="Picture 12">
              <a:extLst>
                <a:ext uri="{FF2B5EF4-FFF2-40B4-BE49-F238E27FC236}">
                  <a16:creationId xmlns:a16="http://schemas.microsoft.com/office/drawing/2014/main" id="{674F4EC6-460B-7D92-E91E-2D5860D4C1BA}"/>
                </a:ext>
              </a:extLst>
            </p:cNvPr>
            <p:cNvPicPr>
              <a:picLocks noChangeAspect="1"/>
            </p:cNvPicPr>
            <p:nvPr/>
          </p:nvPicPr>
          <p:blipFill>
            <a:blip r:embed="rId4"/>
            <a:srcRect t="81213"/>
            <a:stretch>
              <a:fillRect/>
            </a:stretch>
          </p:blipFill>
          <p:spPr>
            <a:xfrm>
              <a:off x="8757699" y="2467628"/>
              <a:ext cx="2750851" cy="722964"/>
            </a:xfrm>
            <a:prstGeom prst="rect">
              <a:avLst/>
            </a:prstGeom>
          </p:spPr>
        </p:pic>
      </p:grpSp>
      <p:sp>
        <p:nvSpPr>
          <p:cNvPr id="15" name="PlaceHolder 1">
            <a:extLst>
              <a:ext uri="{FF2B5EF4-FFF2-40B4-BE49-F238E27FC236}">
                <a16:creationId xmlns:a16="http://schemas.microsoft.com/office/drawing/2014/main" id="{EB327D29-1FFD-B541-D19E-23696BEDF1F4}"/>
              </a:ext>
            </a:extLst>
          </p:cNvPr>
          <p:cNvSpPr>
            <a:spLocks noGrp="1"/>
          </p:cNvSpPr>
          <p:nvPr>
            <p:ph type="body"/>
          </p:nvPr>
        </p:nvSpPr>
        <p:spPr>
          <a:xfrm>
            <a:off x="6331163" y="3675447"/>
            <a:ext cx="1869806" cy="427346"/>
          </a:xfrm>
          <a:prstGeom prst="rect">
            <a:avLst/>
          </a:prstGeom>
          <a:noFill/>
          <a:ln w="0">
            <a:noFill/>
          </a:ln>
        </p:spPr>
        <p:txBody>
          <a:bodyPr lIns="90000" tIns="45000" rIns="90000" bIns="45000" anchor="t">
            <a:noAutofit/>
          </a:bodyPr>
          <a:lstStyle/>
          <a:p>
            <a:pPr algn="ct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sort on</a:t>
            </a:r>
          </a:p>
          <a:p>
            <a:pPr algn="ct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location-id</a:t>
            </a:r>
          </a:p>
        </p:txBody>
      </p:sp>
      <p:pic>
        <p:nvPicPr>
          <p:cNvPr id="16" name="Picture 15">
            <a:extLst>
              <a:ext uri="{FF2B5EF4-FFF2-40B4-BE49-F238E27FC236}">
                <a16:creationId xmlns:a16="http://schemas.microsoft.com/office/drawing/2014/main" id="{E253FDBF-205B-4113-0102-3195219A08AC}"/>
              </a:ext>
            </a:extLst>
          </p:cNvPr>
          <p:cNvPicPr>
            <a:picLocks noChangeAspect="1"/>
          </p:cNvPicPr>
          <p:nvPr/>
        </p:nvPicPr>
        <p:blipFill>
          <a:blip r:embed="rId5"/>
          <a:stretch>
            <a:fillRect/>
          </a:stretch>
        </p:blipFill>
        <p:spPr>
          <a:xfrm>
            <a:off x="9548375" y="4578161"/>
            <a:ext cx="2033185" cy="1789203"/>
          </a:xfrm>
          <a:prstGeom prst="rect">
            <a:avLst/>
          </a:prstGeom>
        </p:spPr>
      </p:pic>
      <p:sp>
        <p:nvSpPr>
          <p:cNvPr id="17" name="Right Arrow 5">
            <a:extLst>
              <a:ext uri="{FF2B5EF4-FFF2-40B4-BE49-F238E27FC236}">
                <a16:creationId xmlns:a16="http://schemas.microsoft.com/office/drawing/2014/main" id="{D53FC689-4576-4108-DF0E-DD73B876EC64}"/>
              </a:ext>
            </a:extLst>
          </p:cNvPr>
          <p:cNvSpPr/>
          <p:nvPr/>
        </p:nvSpPr>
        <p:spPr>
          <a:xfrm>
            <a:off x="6293585" y="2875841"/>
            <a:ext cx="2460492" cy="2303768"/>
          </a:xfrm>
          <a:prstGeom prst="rightArrow">
            <a:avLst>
              <a:gd name="adj1" fmla="val 50000"/>
              <a:gd name="adj2" fmla="val 50000"/>
            </a:avLst>
          </a:prstGeom>
          <a:noFill/>
          <a:ln w="28575">
            <a:solidFill>
              <a:srgbClr val="0A7E06"/>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22" name="TextBox 21">
            <a:extLst>
              <a:ext uri="{FF2B5EF4-FFF2-40B4-BE49-F238E27FC236}">
                <a16:creationId xmlns:a16="http://schemas.microsoft.com/office/drawing/2014/main" id="{A4A9D8E0-ED5E-F9AD-B6B1-86EE75467EEE}"/>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23" name="TextBox 22">
            <a:extLst>
              <a:ext uri="{FF2B5EF4-FFF2-40B4-BE49-F238E27FC236}">
                <a16:creationId xmlns:a16="http://schemas.microsoft.com/office/drawing/2014/main" id="{D1F293C8-C62F-AF01-3DD2-8C4514DF4136}"/>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sp>
        <p:nvSpPr>
          <p:cNvPr id="3" name="Date Placeholder 2">
            <a:extLst>
              <a:ext uri="{FF2B5EF4-FFF2-40B4-BE49-F238E27FC236}">
                <a16:creationId xmlns:a16="http://schemas.microsoft.com/office/drawing/2014/main" id="{050B37A5-760D-230F-1A27-4BB20A6BFC22}"/>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4" name="Footer Placeholder 3">
            <a:extLst>
              <a:ext uri="{FF2B5EF4-FFF2-40B4-BE49-F238E27FC236}">
                <a16:creationId xmlns:a16="http://schemas.microsoft.com/office/drawing/2014/main" id="{F132AB19-8112-7C8C-76EB-5D980B972670}"/>
              </a:ext>
            </a:extLst>
          </p:cNvPr>
          <p:cNvSpPr>
            <a:spLocks noGrp="1"/>
          </p:cNvSpPr>
          <p:nvPr>
            <p:ph type="ftr" idx="1"/>
          </p:nvPr>
        </p:nvSpPr>
        <p:spPr/>
        <p:txBody>
          <a:bodyPr/>
          <a:lstStyle/>
          <a:p>
            <a:r>
              <a:rPr lang="en-US"/>
              <a:t>Tab, v4.0</a:t>
            </a:r>
            <a:endParaRPr lang="en-US" dirty="0"/>
          </a:p>
        </p:txBody>
      </p:sp>
      <p:sp>
        <p:nvSpPr>
          <p:cNvPr id="18" name="Slide Number Placeholder 17">
            <a:extLst>
              <a:ext uri="{FF2B5EF4-FFF2-40B4-BE49-F238E27FC236}">
                <a16:creationId xmlns:a16="http://schemas.microsoft.com/office/drawing/2014/main" id="{9223107E-F2ED-CD81-536E-C11D6EBD7DD9}"/>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17</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1205115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96574-9707-F45A-C20C-1D4CA2E4D662}"/>
            </a:ext>
          </a:extLst>
        </p:cNvPr>
        <p:cNvGrpSpPr/>
        <p:nvPr/>
      </p:nvGrpSpPr>
      <p:grpSpPr>
        <a:xfrm>
          <a:off x="0" y="0"/>
          <a:ext cx="0" cy="0"/>
          <a:chOff x="0" y="0"/>
          <a:chExt cx="0" cy="0"/>
        </a:xfrm>
      </p:grpSpPr>
      <p:sp>
        <p:nvSpPr>
          <p:cNvPr id="6" name="PlaceHolder 1">
            <a:extLst>
              <a:ext uri="{FF2B5EF4-FFF2-40B4-BE49-F238E27FC236}">
                <a16:creationId xmlns:a16="http://schemas.microsoft.com/office/drawing/2014/main" id="{50CD5ADA-D62C-D616-53FE-877B1938CD8D}"/>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7" name="PlaceHolder 1">
            <a:extLst>
              <a:ext uri="{FF2B5EF4-FFF2-40B4-BE49-F238E27FC236}">
                <a16:creationId xmlns:a16="http://schemas.microsoft.com/office/drawing/2014/main" id="{35EA8427-BDD1-A88A-856B-CFA80AA6D37A}"/>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grpSp>
        <p:nvGrpSpPr>
          <p:cNvPr id="3" name="Group 2">
            <a:extLst>
              <a:ext uri="{FF2B5EF4-FFF2-40B4-BE49-F238E27FC236}">
                <a16:creationId xmlns:a16="http://schemas.microsoft.com/office/drawing/2014/main" id="{433272B0-6861-261D-D8AC-BED5D1329D0F}"/>
              </a:ext>
            </a:extLst>
          </p:cNvPr>
          <p:cNvGrpSpPr/>
          <p:nvPr/>
        </p:nvGrpSpPr>
        <p:grpSpPr>
          <a:xfrm>
            <a:off x="8867365" y="1088288"/>
            <a:ext cx="2750851" cy="2279755"/>
            <a:chOff x="8757699" y="910837"/>
            <a:chExt cx="2750851" cy="2279755"/>
          </a:xfrm>
        </p:grpSpPr>
        <p:pic>
          <p:nvPicPr>
            <p:cNvPr id="12" name="Picture 11">
              <a:extLst>
                <a:ext uri="{FF2B5EF4-FFF2-40B4-BE49-F238E27FC236}">
                  <a16:creationId xmlns:a16="http://schemas.microsoft.com/office/drawing/2014/main" id="{C411A18A-DA78-092D-CC3F-B4A5F3389E52}"/>
                </a:ext>
              </a:extLst>
            </p:cNvPr>
            <p:cNvPicPr>
              <a:picLocks noChangeAspect="1"/>
            </p:cNvPicPr>
            <p:nvPr/>
          </p:nvPicPr>
          <p:blipFill>
            <a:blip r:embed="rId2"/>
            <a:srcRect b="67031"/>
            <a:stretch>
              <a:fillRect/>
            </a:stretch>
          </p:blipFill>
          <p:spPr>
            <a:xfrm>
              <a:off x="8757699" y="910837"/>
              <a:ext cx="2750851" cy="1268692"/>
            </a:xfrm>
            <a:prstGeom prst="rect">
              <a:avLst/>
            </a:prstGeom>
          </p:spPr>
        </p:pic>
        <p:pic>
          <p:nvPicPr>
            <p:cNvPr id="13" name="Picture 12">
              <a:extLst>
                <a:ext uri="{FF2B5EF4-FFF2-40B4-BE49-F238E27FC236}">
                  <a16:creationId xmlns:a16="http://schemas.microsoft.com/office/drawing/2014/main" id="{AD11C7CB-7EF2-68FD-F541-5A88A39A5D2A}"/>
                </a:ext>
              </a:extLst>
            </p:cNvPr>
            <p:cNvPicPr>
              <a:picLocks noChangeAspect="1"/>
            </p:cNvPicPr>
            <p:nvPr/>
          </p:nvPicPr>
          <p:blipFill>
            <a:blip r:embed="rId2"/>
            <a:srcRect t="46031" b="45139"/>
            <a:stretch>
              <a:fillRect/>
            </a:stretch>
          </p:blipFill>
          <p:spPr>
            <a:xfrm>
              <a:off x="8757699" y="2167003"/>
              <a:ext cx="2750851" cy="339793"/>
            </a:xfrm>
            <a:prstGeom prst="rect">
              <a:avLst/>
            </a:prstGeom>
          </p:spPr>
        </p:pic>
        <p:pic>
          <p:nvPicPr>
            <p:cNvPr id="14" name="Picture 13">
              <a:extLst>
                <a:ext uri="{FF2B5EF4-FFF2-40B4-BE49-F238E27FC236}">
                  <a16:creationId xmlns:a16="http://schemas.microsoft.com/office/drawing/2014/main" id="{358D23D5-F3D5-9B96-C602-6E681B5DB6DB}"/>
                </a:ext>
              </a:extLst>
            </p:cNvPr>
            <p:cNvPicPr>
              <a:picLocks noChangeAspect="1"/>
            </p:cNvPicPr>
            <p:nvPr/>
          </p:nvPicPr>
          <p:blipFill>
            <a:blip r:embed="rId2"/>
            <a:srcRect t="81213"/>
            <a:stretch>
              <a:fillRect/>
            </a:stretch>
          </p:blipFill>
          <p:spPr>
            <a:xfrm>
              <a:off x="8757699" y="2467628"/>
              <a:ext cx="2750851" cy="722964"/>
            </a:xfrm>
            <a:prstGeom prst="rect">
              <a:avLst/>
            </a:prstGeom>
          </p:spPr>
        </p:pic>
      </p:grpSp>
      <p:pic>
        <p:nvPicPr>
          <p:cNvPr id="15" name="Picture 14">
            <a:extLst>
              <a:ext uri="{FF2B5EF4-FFF2-40B4-BE49-F238E27FC236}">
                <a16:creationId xmlns:a16="http://schemas.microsoft.com/office/drawing/2014/main" id="{00A45A24-7345-7F51-320F-54E367E85233}"/>
              </a:ext>
            </a:extLst>
          </p:cNvPr>
          <p:cNvPicPr>
            <a:picLocks noChangeAspect="1"/>
          </p:cNvPicPr>
          <p:nvPr/>
        </p:nvPicPr>
        <p:blipFill>
          <a:blip r:embed="rId3"/>
          <a:stretch>
            <a:fillRect/>
          </a:stretch>
        </p:blipFill>
        <p:spPr>
          <a:xfrm>
            <a:off x="9548375" y="4578161"/>
            <a:ext cx="2033185" cy="1789203"/>
          </a:xfrm>
          <a:prstGeom prst="rect">
            <a:avLst/>
          </a:prstGeom>
        </p:spPr>
      </p:pic>
      <p:sp>
        <p:nvSpPr>
          <p:cNvPr id="16" name="TextBox 15">
            <a:extLst>
              <a:ext uri="{FF2B5EF4-FFF2-40B4-BE49-F238E27FC236}">
                <a16:creationId xmlns:a16="http://schemas.microsoft.com/office/drawing/2014/main" id="{6412B894-7840-F4E2-6842-E4EB28ED8DB5}"/>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8245FDA5-8EEB-E27E-3F63-D649F149DED2}"/>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A6DD0CC4-C6D1-93E6-4094-D84FF01FB2A6}"/>
              </a:ext>
            </a:extLst>
          </p:cNvPr>
          <p:cNvPicPr>
            <a:picLocks noChangeAspect="1"/>
          </p:cNvPicPr>
          <p:nvPr/>
        </p:nvPicPr>
        <p:blipFill>
          <a:blip r:embed="rId4"/>
          <a:srcRect b="83054"/>
          <a:stretch>
            <a:fillRect/>
          </a:stretch>
        </p:blipFill>
        <p:spPr>
          <a:xfrm>
            <a:off x="240183" y="1136212"/>
            <a:ext cx="7772400" cy="917697"/>
          </a:xfrm>
          <a:prstGeom prst="rect">
            <a:avLst/>
          </a:prstGeom>
        </p:spPr>
      </p:pic>
      <p:sp>
        <p:nvSpPr>
          <p:cNvPr id="19" name="TextBox 18">
            <a:extLst>
              <a:ext uri="{FF2B5EF4-FFF2-40B4-BE49-F238E27FC236}">
                <a16:creationId xmlns:a16="http://schemas.microsoft.com/office/drawing/2014/main" id="{9F99B9CF-946B-7D54-D4D5-CFE915E6833E}"/>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20" name="TextBox 19">
            <a:extLst>
              <a:ext uri="{FF2B5EF4-FFF2-40B4-BE49-F238E27FC236}">
                <a16:creationId xmlns:a16="http://schemas.microsoft.com/office/drawing/2014/main" id="{59FED709-8424-9154-B9FB-5943E6680EB6}"/>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4" name="Title 1">
            <a:extLst>
              <a:ext uri="{FF2B5EF4-FFF2-40B4-BE49-F238E27FC236}">
                <a16:creationId xmlns:a16="http://schemas.microsoft.com/office/drawing/2014/main" id="{6389F541-211F-C6FB-DBB1-BEC20BDA784D}"/>
              </a:ext>
            </a:extLst>
          </p:cNvPr>
          <p:cNvSpPr txBox="1">
            <a:spLocks/>
          </p:cNvSpPr>
          <p:nvPr/>
        </p:nvSpPr>
        <p:spPr>
          <a:xfrm>
            <a:off x="609480" y="88021"/>
            <a:ext cx="10972080"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
        <p:nvSpPr>
          <p:cNvPr id="2" name="Date Placeholder 1">
            <a:extLst>
              <a:ext uri="{FF2B5EF4-FFF2-40B4-BE49-F238E27FC236}">
                <a16:creationId xmlns:a16="http://schemas.microsoft.com/office/drawing/2014/main" id="{5D82D423-53CA-0FF7-1052-E81047D2CBAA}"/>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4" name="Footer Placeholder 3">
            <a:extLst>
              <a:ext uri="{FF2B5EF4-FFF2-40B4-BE49-F238E27FC236}">
                <a16:creationId xmlns:a16="http://schemas.microsoft.com/office/drawing/2014/main" id="{780C413F-3B4A-B861-F3DF-0FFC4E3C6591}"/>
              </a:ext>
            </a:extLst>
          </p:cNvPr>
          <p:cNvSpPr>
            <a:spLocks noGrp="1"/>
          </p:cNvSpPr>
          <p:nvPr>
            <p:ph type="ftr" idx="1"/>
          </p:nvPr>
        </p:nvSpPr>
        <p:spPr/>
        <p:txBody>
          <a:bodyPr/>
          <a:lstStyle/>
          <a:p>
            <a:r>
              <a:rPr lang="en-US"/>
              <a:t>Tab, v4.0</a:t>
            </a:r>
            <a:endParaRPr lang="en-US" dirty="0"/>
          </a:p>
        </p:txBody>
      </p:sp>
      <p:sp>
        <p:nvSpPr>
          <p:cNvPr id="5" name="Slide Number Placeholder 4">
            <a:extLst>
              <a:ext uri="{FF2B5EF4-FFF2-40B4-BE49-F238E27FC236}">
                <a16:creationId xmlns:a16="http://schemas.microsoft.com/office/drawing/2014/main" id="{642BCEEC-786A-A9FC-AB24-14460F4D429F}"/>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18</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34186077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6BDEF-7EE5-6AD4-32AB-9479AAEDDD51}"/>
            </a:ext>
          </a:extLst>
        </p:cNvPr>
        <p:cNvGrpSpPr/>
        <p:nvPr/>
      </p:nvGrpSpPr>
      <p:grpSpPr>
        <a:xfrm>
          <a:off x="0" y="0"/>
          <a:ext cx="0" cy="0"/>
          <a:chOff x="0" y="0"/>
          <a:chExt cx="0" cy="0"/>
        </a:xfrm>
      </p:grpSpPr>
      <p:sp>
        <p:nvSpPr>
          <p:cNvPr id="6" name="PlaceHolder 1">
            <a:extLst>
              <a:ext uri="{FF2B5EF4-FFF2-40B4-BE49-F238E27FC236}">
                <a16:creationId xmlns:a16="http://schemas.microsoft.com/office/drawing/2014/main" id="{AE32561C-0E73-BC34-1DC8-875FC1DE31A1}"/>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grpSp>
        <p:nvGrpSpPr>
          <p:cNvPr id="3" name="Group 2">
            <a:extLst>
              <a:ext uri="{FF2B5EF4-FFF2-40B4-BE49-F238E27FC236}">
                <a16:creationId xmlns:a16="http://schemas.microsoft.com/office/drawing/2014/main" id="{A21675A9-D43A-4823-46E4-88A65C59ED50}"/>
              </a:ext>
            </a:extLst>
          </p:cNvPr>
          <p:cNvGrpSpPr/>
          <p:nvPr/>
        </p:nvGrpSpPr>
        <p:grpSpPr>
          <a:xfrm>
            <a:off x="8867365" y="1088288"/>
            <a:ext cx="2750851" cy="2279755"/>
            <a:chOff x="8757699" y="910837"/>
            <a:chExt cx="2750851" cy="2279755"/>
          </a:xfrm>
        </p:grpSpPr>
        <p:pic>
          <p:nvPicPr>
            <p:cNvPr id="12" name="Picture 11">
              <a:extLst>
                <a:ext uri="{FF2B5EF4-FFF2-40B4-BE49-F238E27FC236}">
                  <a16:creationId xmlns:a16="http://schemas.microsoft.com/office/drawing/2014/main" id="{21DCD01D-061F-29C4-B689-671DAAEB4B79}"/>
                </a:ext>
              </a:extLst>
            </p:cNvPr>
            <p:cNvPicPr>
              <a:picLocks noChangeAspect="1"/>
            </p:cNvPicPr>
            <p:nvPr/>
          </p:nvPicPr>
          <p:blipFill>
            <a:blip r:embed="rId2"/>
            <a:srcRect b="67031"/>
            <a:stretch>
              <a:fillRect/>
            </a:stretch>
          </p:blipFill>
          <p:spPr>
            <a:xfrm>
              <a:off x="8757699" y="910837"/>
              <a:ext cx="2750851" cy="1268692"/>
            </a:xfrm>
            <a:prstGeom prst="rect">
              <a:avLst/>
            </a:prstGeom>
          </p:spPr>
        </p:pic>
        <p:pic>
          <p:nvPicPr>
            <p:cNvPr id="13" name="Picture 12">
              <a:extLst>
                <a:ext uri="{FF2B5EF4-FFF2-40B4-BE49-F238E27FC236}">
                  <a16:creationId xmlns:a16="http://schemas.microsoft.com/office/drawing/2014/main" id="{11CBBAB3-69F3-5BF0-989A-DCEAE401C0D7}"/>
                </a:ext>
              </a:extLst>
            </p:cNvPr>
            <p:cNvPicPr>
              <a:picLocks noChangeAspect="1"/>
            </p:cNvPicPr>
            <p:nvPr/>
          </p:nvPicPr>
          <p:blipFill>
            <a:blip r:embed="rId2"/>
            <a:srcRect t="46031" b="45139"/>
            <a:stretch>
              <a:fillRect/>
            </a:stretch>
          </p:blipFill>
          <p:spPr>
            <a:xfrm>
              <a:off x="8757699" y="2167003"/>
              <a:ext cx="2750851" cy="339793"/>
            </a:xfrm>
            <a:prstGeom prst="rect">
              <a:avLst/>
            </a:prstGeom>
          </p:spPr>
        </p:pic>
        <p:pic>
          <p:nvPicPr>
            <p:cNvPr id="14" name="Picture 13">
              <a:extLst>
                <a:ext uri="{FF2B5EF4-FFF2-40B4-BE49-F238E27FC236}">
                  <a16:creationId xmlns:a16="http://schemas.microsoft.com/office/drawing/2014/main" id="{0CE85CD4-C5F2-23BF-9BEC-236403116438}"/>
                </a:ext>
              </a:extLst>
            </p:cNvPr>
            <p:cNvPicPr>
              <a:picLocks noChangeAspect="1"/>
            </p:cNvPicPr>
            <p:nvPr/>
          </p:nvPicPr>
          <p:blipFill>
            <a:blip r:embed="rId2"/>
            <a:srcRect t="81213"/>
            <a:stretch>
              <a:fillRect/>
            </a:stretch>
          </p:blipFill>
          <p:spPr>
            <a:xfrm>
              <a:off x="8757699" y="2467628"/>
              <a:ext cx="2750851" cy="722964"/>
            </a:xfrm>
            <a:prstGeom prst="rect">
              <a:avLst/>
            </a:prstGeom>
          </p:spPr>
        </p:pic>
      </p:grpSp>
      <p:pic>
        <p:nvPicPr>
          <p:cNvPr id="15" name="Picture 14">
            <a:extLst>
              <a:ext uri="{FF2B5EF4-FFF2-40B4-BE49-F238E27FC236}">
                <a16:creationId xmlns:a16="http://schemas.microsoft.com/office/drawing/2014/main" id="{9A35B822-B4D1-1FF4-B158-A1E72BCFB280}"/>
              </a:ext>
            </a:extLst>
          </p:cNvPr>
          <p:cNvPicPr>
            <a:picLocks noChangeAspect="1"/>
          </p:cNvPicPr>
          <p:nvPr/>
        </p:nvPicPr>
        <p:blipFill>
          <a:blip r:embed="rId3"/>
          <a:stretch>
            <a:fillRect/>
          </a:stretch>
        </p:blipFill>
        <p:spPr>
          <a:xfrm>
            <a:off x="9548375" y="4578161"/>
            <a:ext cx="2033185" cy="1789203"/>
          </a:xfrm>
          <a:prstGeom prst="rect">
            <a:avLst/>
          </a:prstGeom>
        </p:spPr>
      </p:pic>
      <p:sp>
        <p:nvSpPr>
          <p:cNvPr id="16" name="TextBox 15">
            <a:extLst>
              <a:ext uri="{FF2B5EF4-FFF2-40B4-BE49-F238E27FC236}">
                <a16:creationId xmlns:a16="http://schemas.microsoft.com/office/drawing/2014/main" id="{F6FB6DF3-7A67-2623-82D0-3C58400D5332}"/>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2ED3142D-57AA-F40B-7B50-5380D45C211A}"/>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774A83DE-7A62-3D01-CE3D-E7C4F315BC26}"/>
              </a:ext>
            </a:extLst>
          </p:cNvPr>
          <p:cNvPicPr>
            <a:picLocks noChangeAspect="1"/>
          </p:cNvPicPr>
          <p:nvPr/>
        </p:nvPicPr>
        <p:blipFill>
          <a:blip r:embed="rId4"/>
          <a:stretch>
            <a:fillRect/>
          </a:stretch>
        </p:blipFill>
        <p:spPr>
          <a:xfrm>
            <a:off x="240183" y="1136212"/>
            <a:ext cx="7772400" cy="5415426"/>
          </a:xfrm>
          <a:prstGeom prst="rect">
            <a:avLst/>
          </a:prstGeom>
        </p:spPr>
      </p:pic>
      <p:sp>
        <p:nvSpPr>
          <p:cNvPr id="9" name="Title 1">
            <a:extLst>
              <a:ext uri="{FF2B5EF4-FFF2-40B4-BE49-F238E27FC236}">
                <a16:creationId xmlns:a16="http://schemas.microsoft.com/office/drawing/2014/main" id="{95292699-665C-E0F3-EA62-B8F9FD32E413}"/>
              </a:ext>
            </a:extLst>
          </p:cNvPr>
          <p:cNvSpPr txBox="1">
            <a:spLocks/>
          </p:cNvSpPr>
          <p:nvPr/>
        </p:nvSpPr>
        <p:spPr>
          <a:xfrm>
            <a:off x="609480" y="88021"/>
            <a:ext cx="10972080"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
        <p:nvSpPr>
          <p:cNvPr id="10" name="TextBox 9">
            <a:extLst>
              <a:ext uri="{FF2B5EF4-FFF2-40B4-BE49-F238E27FC236}">
                <a16:creationId xmlns:a16="http://schemas.microsoft.com/office/drawing/2014/main" id="{D6477F86-540E-63C7-3354-D749CC53573A}"/>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11" name="TextBox 10">
            <a:extLst>
              <a:ext uri="{FF2B5EF4-FFF2-40B4-BE49-F238E27FC236}">
                <a16:creationId xmlns:a16="http://schemas.microsoft.com/office/drawing/2014/main" id="{5142CC7F-0530-3655-7656-2E72E2E87F9E}"/>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3" name="PlaceHolder 1">
            <a:extLst>
              <a:ext uri="{FF2B5EF4-FFF2-40B4-BE49-F238E27FC236}">
                <a16:creationId xmlns:a16="http://schemas.microsoft.com/office/drawing/2014/main" id="{33A50277-0B6D-E235-D6BF-A884FFE54508}"/>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sp>
        <p:nvSpPr>
          <p:cNvPr id="24" name="TextBox 23">
            <a:extLst>
              <a:ext uri="{FF2B5EF4-FFF2-40B4-BE49-F238E27FC236}">
                <a16:creationId xmlns:a16="http://schemas.microsoft.com/office/drawing/2014/main" id="{65D689E8-2594-F4DA-2F03-4083F6B03DD3}"/>
              </a:ext>
            </a:extLst>
          </p:cNvPr>
          <p:cNvSpPr txBox="1"/>
          <p:nvPr/>
        </p:nvSpPr>
        <p:spPr>
          <a:xfrm>
            <a:off x="1665961" y="2821895"/>
            <a:ext cx="1289077" cy="369332"/>
          </a:xfrm>
          <a:prstGeom prst="rect">
            <a:avLst/>
          </a:prstGeom>
          <a:solidFill>
            <a:srgbClr val="F5F5F5"/>
          </a:solidFill>
        </p:spPr>
        <p:txBody>
          <a:bodyPr wrap="square" rtlCol="0">
            <a:spAutoFit/>
          </a:bodyPr>
          <a:lstStyle/>
          <a:p>
            <a:pPr algn="r"/>
            <a:r>
              <a:rPr lang="en-US" b="1" dirty="0">
                <a:solidFill>
                  <a:srgbClr val="0A7E06"/>
                </a:solidFill>
              </a:rPr>
              <a:t>O(N +M)</a:t>
            </a:r>
          </a:p>
        </p:txBody>
      </p:sp>
      <p:sp>
        <p:nvSpPr>
          <p:cNvPr id="2" name="Date Placeholder 1">
            <a:extLst>
              <a:ext uri="{FF2B5EF4-FFF2-40B4-BE49-F238E27FC236}">
                <a16:creationId xmlns:a16="http://schemas.microsoft.com/office/drawing/2014/main" id="{BBC672F9-D554-7E0D-56AA-074C08F6B9FF}"/>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4" name="Footer Placeholder 3">
            <a:extLst>
              <a:ext uri="{FF2B5EF4-FFF2-40B4-BE49-F238E27FC236}">
                <a16:creationId xmlns:a16="http://schemas.microsoft.com/office/drawing/2014/main" id="{705E9D3F-72CB-F058-BBFE-C10C941CB0E3}"/>
              </a:ext>
            </a:extLst>
          </p:cNvPr>
          <p:cNvSpPr>
            <a:spLocks noGrp="1"/>
          </p:cNvSpPr>
          <p:nvPr>
            <p:ph type="ftr" idx="1"/>
          </p:nvPr>
        </p:nvSpPr>
        <p:spPr/>
        <p:txBody>
          <a:bodyPr/>
          <a:lstStyle/>
          <a:p>
            <a:r>
              <a:rPr lang="en-US"/>
              <a:t>Tab, v4.0</a:t>
            </a:r>
            <a:endParaRPr lang="en-US" dirty="0"/>
          </a:p>
        </p:txBody>
      </p:sp>
      <p:sp>
        <p:nvSpPr>
          <p:cNvPr id="5" name="Slide Number Placeholder 4">
            <a:extLst>
              <a:ext uri="{FF2B5EF4-FFF2-40B4-BE49-F238E27FC236}">
                <a16:creationId xmlns:a16="http://schemas.microsoft.com/office/drawing/2014/main" id="{D4E9CD0E-1061-B07E-79BD-7ED12FEE1DE9}"/>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19</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34438419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FCF68-CABC-56EC-2817-1358FBECA51B}"/>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4D081A29-B535-DB9B-02DC-8F376A4E691C}"/>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68689B7F-4656-D89C-3BAF-1A89EE17475D}"/>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68A1FE1B-AE48-9A0B-8967-E876A9451209}"/>
              </a:ext>
            </a:extLst>
          </p:cNvPr>
          <p:cNvPicPr>
            <a:picLocks noChangeAspect="1"/>
          </p:cNvPicPr>
          <p:nvPr/>
        </p:nvPicPr>
        <p:blipFill>
          <a:blip r:embed="rId3"/>
          <a:stretch>
            <a:fillRect/>
          </a:stretch>
        </p:blipFill>
        <p:spPr>
          <a:xfrm>
            <a:off x="240183" y="1136212"/>
            <a:ext cx="7772400" cy="5415426"/>
          </a:xfrm>
          <a:prstGeom prst="rect">
            <a:avLst/>
          </a:prstGeom>
        </p:spPr>
      </p:pic>
      <p:sp>
        <p:nvSpPr>
          <p:cNvPr id="9" name="Title 1">
            <a:extLst>
              <a:ext uri="{FF2B5EF4-FFF2-40B4-BE49-F238E27FC236}">
                <a16:creationId xmlns:a16="http://schemas.microsoft.com/office/drawing/2014/main" id="{724FB327-5B7B-0CFF-5526-6D23072CE27D}"/>
              </a:ext>
            </a:extLst>
          </p:cNvPr>
          <p:cNvSpPr txBox="1">
            <a:spLocks/>
          </p:cNvSpPr>
          <p:nvPr/>
        </p:nvSpPr>
        <p:spPr>
          <a:xfrm>
            <a:off x="609480" y="88021"/>
            <a:ext cx="7796749"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
        <p:nvSpPr>
          <p:cNvPr id="10" name="TextBox 9">
            <a:extLst>
              <a:ext uri="{FF2B5EF4-FFF2-40B4-BE49-F238E27FC236}">
                <a16:creationId xmlns:a16="http://schemas.microsoft.com/office/drawing/2014/main" id="{6A2A4930-0A10-B9C1-FF4C-AB1B3D2FAA03}"/>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11" name="TextBox 10">
            <a:extLst>
              <a:ext uri="{FF2B5EF4-FFF2-40B4-BE49-F238E27FC236}">
                <a16:creationId xmlns:a16="http://schemas.microsoft.com/office/drawing/2014/main" id="{BCE8C0DB-6919-B8C9-CCC1-EC0FAD1BD756}"/>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3" name="PlaceHolder 1">
            <a:extLst>
              <a:ext uri="{FF2B5EF4-FFF2-40B4-BE49-F238E27FC236}">
                <a16:creationId xmlns:a16="http://schemas.microsoft.com/office/drawing/2014/main" id="{8C6F1412-7E6E-F49B-974A-7D7AC403622F}"/>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sp>
        <p:nvSpPr>
          <p:cNvPr id="24" name="TextBox 23">
            <a:extLst>
              <a:ext uri="{FF2B5EF4-FFF2-40B4-BE49-F238E27FC236}">
                <a16:creationId xmlns:a16="http://schemas.microsoft.com/office/drawing/2014/main" id="{46D000F8-4622-FCD1-4B3C-2ADE7E879EC9}"/>
              </a:ext>
            </a:extLst>
          </p:cNvPr>
          <p:cNvSpPr txBox="1"/>
          <p:nvPr/>
        </p:nvSpPr>
        <p:spPr>
          <a:xfrm>
            <a:off x="1665961" y="2821895"/>
            <a:ext cx="1289077" cy="369332"/>
          </a:xfrm>
          <a:prstGeom prst="rect">
            <a:avLst/>
          </a:prstGeom>
          <a:solidFill>
            <a:srgbClr val="F5F5F5"/>
          </a:solidFill>
        </p:spPr>
        <p:txBody>
          <a:bodyPr wrap="square" rtlCol="0">
            <a:spAutoFit/>
          </a:bodyPr>
          <a:lstStyle/>
          <a:p>
            <a:pPr algn="r"/>
            <a:r>
              <a:rPr lang="en-US" b="1" dirty="0">
                <a:solidFill>
                  <a:srgbClr val="0A7E06"/>
                </a:solidFill>
              </a:rPr>
              <a:t>O(N +M)</a:t>
            </a:r>
          </a:p>
        </p:txBody>
      </p:sp>
      <p:pic>
        <p:nvPicPr>
          <p:cNvPr id="4" name="Graphic 3">
            <a:extLst>
              <a:ext uri="{FF2B5EF4-FFF2-40B4-BE49-F238E27FC236}">
                <a16:creationId xmlns:a16="http://schemas.microsoft.com/office/drawing/2014/main" id="{B98F89C6-7B95-EBF4-E73B-EE65C8121C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73201" y="2173525"/>
            <a:ext cx="5334000" cy="4419600"/>
          </a:xfrm>
          <a:prstGeom prst="rect">
            <a:avLst/>
          </a:prstGeom>
        </p:spPr>
      </p:pic>
      <p:sp>
        <p:nvSpPr>
          <p:cNvPr id="5" name="TextBox 4">
            <a:extLst>
              <a:ext uri="{FF2B5EF4-FFF2-40B4-BE49-F238E27FC236}">
                <a16:creationId xmlns:a16="http://schemas.microsoft.com/office/drawing/2014/main" id="{629A0C60-778B-9B1C-F45B-A9A24305265F}"/>
              </a:ext>
            </a:extLst>
          </p:cNvPr>
          <p:cNvSpPr txBox="1"/>
          <p:nvPr/>
        </p:nvSpPr>
        <p:spPr>
          <a:xfrm>
            <a:off x="8014467" y="1343551"/>
            <a:ext cx="4092734" cy="830997"/>
          </a:xfrm>
          <a:prstGeom prst="rect">
            <a:avLst/>
          </a:prstGeom>
          <a:solidFill>
            <a:schemeClr val="bg1"/>
          </a:solidFill>
        </p:spPr>
        <p:txBody>
          <a:bodyPr wrap="square" rtlCol="0">
            <a:spAutoFit/>
          </a:bodyPr>
          <a:lstStyle/>
          <a:p>
            <a:endParaRPr lang="bg-BG" sz="1600" dirty="0">
              <a:solidFill>
                <a:srgbClr val="800080"/>
              </a:solidFill>
            </a:endParaRPr>
          </a:p>
          <a:p>
            <a:r>
              <a:rPr lang="en-DE" sz="1600" dirty="0">
                <a:solidFill>
                  <a:srgbClr val="800080"/>
                </a:solidFill>
              </a:rPr>
              <a:t>two for-loops: 	</a:t>
            </a:r>
            <a:r>
              <a:rPr lang="en-GB" sz="1600" dirty="0">
                <a:solidFill>
                  <a:srgbClr val="800080"/>
                </a:solidFill>
              </a:rPr>
              <a:t>O(N*M)</a:t>
            </a:r>
            <a:endParaRPr lang="en-DE" sz="1600" dirty="0">
              <a:solidFill>
                <a:srgbClr val="800080"/>
              </a:solidFill>
            </a:endParaRPr>
          </a:p>
          <a:p>
            <a:r>
              <a:rPr lang="en-GB" sz="1600" dirty="0">
                <a:solidFill>
                  <a:srgbClr val="008001"/>
                </a:solidFill>
              </a:rPr>
              <a:t>s</a:t>
            </a:r>
            <a:r>
              <a:rPr lang="en-DE" sz="1600" dirty="0">
                <a:solidFill>
                  <a:srgbClr val="008001"/>
                </a:solidFill>
              </a:rPr>
              <a:t>orted for loop:	</a:t>
            </a:r>
            <a:r>
              <a:rPr lang="en-GB" sz="1600" dirty="0">
                <a:solidFill>
                  <a:srgbClr val="008001"/>
                </a:solidFill>
              </a:rPr>
              <a:t>O(N log N + M log M)</a:t>
            </a:r>
            <a:endParaRPr lang="en-DE" sz="1600" dirty="0">
              <a:solidFill>
                <a:srgbClr val="008001"/>
              </a:solidFill>
            </a:endParaRPr>
          </a:p>
        </p:txBody>
      </p:sp>
      <p:sp>
        <p:nvSpPr>
          <p:cNvPr id="2" name="Date Placeholder 1">
            <a:extLst>
              <a:ext uri="{FF2B5EF4-FFF2-40B4-BE49-F238E27FC236}">
                <a16:creationId xmlns:a16="http://schemas.microsoft.com/office/drawing/2014/main" id="{8EC7A8A1-383C-A361-EB76-025E56D102A1}"/>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3" name="Footer Placeholder 2">
            <a:extLst>
              <a:ext uri="{FF2B5EF4-FFF2-40B4-BE49-F238E27FC236}">
                <a16:creationId xmlns:a16="http://schemas.microsoft.com/office/drawing/2014/main" id="{4F977BC0-62AB-CF56-5269-C151D2FA307D}"/>
              </a:ext>
            </a:extLst>
          </p:cNvPr>
          <p:cNvSpPr>
            <a:spLocks noGrp="1"/>
          </p:cNvSpPr>
          <p:nvPr>
            <p:ph type="ftr" idx="1"/>
          </p:nvPr>
        </p:nvSpPr>
        <p:spPr/>
        <p:txBody>
          <a:bodyPr/>
          <a:lstStyle/>
          <a:p>
            <a:r>
              <a:rPr lang="en-US"/>
              <a:t>Tab, v4.0</a:t>
            </a:r>
            <a:endParaRPr lang="en-US" dirty="0"/>
          </a:p>
        </p:txBody>
      </p:sp>
      <p:sp>
        <p:nvSpPr>
          <p:cNvPr id="6" name="Slide Number Placeholder 5">
            <a:extLst>
              <a:ext uri="{FF2B5EF4-FFF2-40B4-BE49-F238E27FC236}">
                <a16:creationId xmlns:a16="http://schemas.microsoft.com/office/drawing/2014/main" id="{097D3D43-F3B5-8742-C017-9B13CE196499}"/>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20</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3795365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2964F-00DC-B925-2CC4-E87395F9161D}"/>
              </a:ext>
            </a:extLst>
          </p:cNvPr>
          <p:cNvSpPr>
            <a:spLocks noGrp="1"/>
          </p:cNvSpPr>
          <p:nvPr>
            <p:ph type="title"/>
          </p:nvPr>
        </p:nvSpPr>
        <p:spPr/>
        <p:txBody>
          <a:bodyPr/>
          <a:lstStyle/>
          <a:p>
            <a:r>
              <a:rPr lang="en-US" dirty="0"/>
              <a:t>Solution join operation</a:t>
            </a:r>
          </a:p>
        </p:txBody>
      </p:sp>
      <p:pic>
        <p:nvPicPr>
          <p:cNvPr id="7" name="Picture 6">
            <a:extLst>
              <a:ext uri="{FF2B5EF4-FFF2-40B4-BE49-F238E27FC236}">
                <a16:creationId xmlns:a16="http://schemas.microsoft.com/office/drawing/2014/main" id="{260B3375-E145-CD0C-B3EC-CE13BF9DFA02}"/>
              </a:ext>
            </a:extLst>
          </p:cNvPr>
          <p:cNvPicPr>
            <a:picLocks noChangeAspect="1"/>
          </p:cNvPicPr>
          <p:nvPr/>
        </p:nvPicPr>
        <p:blipFill>
          <a:blip r:embed="rId3"/>
          <a:stretch>
            <a:fillRect/>
          </a:stretch>
        </p:blipFill>
        <p:spPr>
          <a:xfrm>
            <a:off x="609480" y="1650044"/>
            <a:ext cx="7188200" cy="952500"/>
          </a:xfrm>
          <a:prstGeom prst="rect">
            <a:avLst/>
          </a:prstGeom>
        </p:spPr>
      </p:pic>
      <p:pic>
        <p:nvPicPr>
          <p:cNvPr id="8" name="Picture 7">
            <a:extLst>
              <a:ext uri="{FF2B5EF4-FFF2-40B4-BE49-F238E27FC236}">
                <a16:creationId xmlns:a16="http://schemas.microsoft.com/office/drawing/2014/main" id="{2D91C824-611A-98EB-0FD2-7BF74A8243A6}"/>
              </a:ext>
            </a:extLst>
          </p:cNvPr>
          <p:cNvPicPr>
            <a:picLocks noChangeAspect="1"/>
          </p:cNvPicPr>
          <p:nvPr/>
        </p:nvPicPr>
        <p:blipFill>
          <a:blip r:embed="rId4"/>
          <a:stretch>
            <a:fillRect/>
          </a:stretch>
        </p:blipFill>
        <p:spPr>
          <a:xfrm>
            <a:off x="349838" y="3097150"/>
            <a:ext cx="8294295" cy="3056818"/>
          </a:xfrm>
          <a:prstGeom prst="rect">
            <a:avLst/>
          </a:prstGeom>
        </p:spPr>
      </p:pic>
      <p:sp>
        <p:nvSpPr>
          <p:cNvPr id="3" name="Date Placeholder 2">
            <a:extLst>
              <a:ext uri="{FF2B5EF4-FFF2-40B4-BE49-F238E27FC236}">
                <a16:creationId xmlns:a16="http://schemas.microsoft.com/office/drawing/2014/main" id="{7AD75DCB-8BF8-A692-11F8-B6F01D8A2DCF}"/>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4" name="Footer Placeholder 3">
            <a:extLst>
              <a:ext uri="{FF2B5EF4-FFF2-40B4-BE49-F238E27FC236}">
                <a16:creationId xmlns:a16="http://schemas.microsoft.com/office/drawing/2014/main" id="{5B19C7A6-D36E-CA17-891C-4DE94B034E56}"/>
              </a:ext>
            </a:extLst>
          </p:cNvPr>
          <p:cNvSpPr>
            <a:spLocks noGrp="1"/>
          </p:cNvSpPr>
          <p:nvPr>
            <p:ph type="ftr" idx="1"/>
          </p:nvPr>
        </p:nvSpPr>
        <p:spPr/>
        <p:txBody>
          <a:bodyPr/>
          <a:lstStyle/>
          <a:p>
            <a:r>
              <a:rPr lang="en-US"/>
              <a:t>Tab, v4.0</a:t>
            </a:r>
            <a:endParaRPr lang="en-US" dirty="0"/>
          </a:p>
        </p:txBody>
      </p:sp>
      <p:sp>
        <p:nvSpPr>
          <p:cNvPr id="5" name="Slide Number Placeholder 4">
            <a:extLst>
              <a:ext uri="{FF2B5EF4-FFF2-40B4-BE49-F238E27FC236}">
                <a16:creationId xmlns:a16="http://schemas.microsoft.com/office/drawing/2014/main" id="{2F2CD186-9310-AB54-0026-6DD634CDB549}"/>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21</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36795805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F454F-54BE-3880-D4A5-FA88D6B9BD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7D8205-DCD0-344A-8A47-37CAAB6E3D6D}"/>
              </a:ext>
            </a:extLst>
          </p:cNvPr>
          <p:cNvSpPr>
            <a:spLocks noGrp="1"/>
          </p:cNvSpPr>
          <p:nvPr>
            <p:ph type="title"/>
          </p:nvPr>
        </p:nvSpPr>
        <p:spPr/>
        <p:txBody>
          <a:bodyPr/>
          <a:lstStyle/>
          <a:p>
            <a:r>
              <a:rPr lang="en-US" dirty="0"/>
              <a:t>Solution join operation</a:t>
            </a:r>
          </a:p>
        </p:txBody>
      </p:sp>
      <p:pic>
        <p:nvPicPr>
          <p:cNvPr id="6" name="Picture 5">
            <a:extLst>
              <a:ext uri="{FF2B5EF4-FFF2-40B4-BE49-F238E27FC236}">
                <a16:creationId xmlns:a16="http://schemas.microsoft.com/office/drawing/2014/main" id="{86C95525-8802-6A15-99EE-DDF7373BB812}"/>
              </a:ext>
            </a:extLst>
          </p:cNvPr>
          <p:cNvPicPr>
            <a:picLocks noChangeAspect="1"/>
          </p:cNvPicPr>
          <p:nvPr/>
        </p:nvPicPr>
        <p:blipFill>
          <a:blip r:embed="rId2"/>
          <a:stretch>
            <a:fillRect/>
          </a:stretch>
        </p:blipFill>
        <p:spPr>
          <a:xfrm>
            <a:off x="349838" y="3097150"/>
            <a:ext cx="8294295" cy="3056818"/>
          </a:xfrm>
          <a:prstGeom prst="rect">
            <a:avLst/>
          </a:prstGeom>
        </p:spPr>
      </p:pic>
      <p:pic>
        <p:nvPicPr>
          <p:cNvPr id="7" name="Picture 6">
            <a:extLst>
              <a:ext uri="{FF2B5EF4-FFF2-40B4-BE49-F238E27FC236}">
                <a16:creationId xmlns:a16="http://schemas.microsoft.com/office/drawing/2014/main" id="{633D995A-E991-BF15-E5AA-47E8341BE6CC}"/>
              </a:ext>
            </a:extLst>
          </p:cNvPr>
          <p:cNvPicPr>
            <a:picLocks noChangeAspect="1"/>
          </p:cNvPicPr>
          <p:nvPr/>
        </p:nvPicPr>
        <p:blipFill>
          <a:blip r:embed="rId3"/>
          <a:stretch>
            <a:fillRect/>
          </a:stretch>
        </p:blipFill>
        <p:spPr>
          <a:xfrm>
            <a:off x="609480" y="1650044"/>
            <a:ext cx="7188200" cy="952500"/>
          </a:xfrm>
          <a:prstGeom prst="rect">
            <a:avLst/>
          </a:prstGeom>
        </p:spPr>
      </p:pic>
      <p:sp>
        <p:nvSpPr>
          <p:cNvPr id="3" name="TextBox 2">
            <a:extLst>
              <a:ext uri="{FF2B5EF4-FFF2-40B4-BE49-F238E27FC236}">
                <a16:creationId xmlns:a16="http://schemas.microsoft.com/office/drawing/2014/main" id="{E361B8E9-C6BE-29A9-7171-3328A51E4732}"/>
              </a:ext>
            </a:extLst>
          </p:cNvPr>
          <p:cNvSpPr txBox="1"/>
          <p:nvPr/>
        </p:nvSpPr>
        <p:spPr>
          <a:xfrm>
            <a:off x="8907543" y="1072377"/>
            <a:ext cx="2736647" cy="923330"/>
          </a:xfrm>
          <a:prstGeom prst="rect">
            <a:avLst/>
          </a:prstGeom>
          <a:solidFill>
            <a:srgbClr val="FFC862">
              <a:alpha val="45882"/>
            </a:srgbClr>
          </a:solidFill>
          <a:ln>
            <a:solidFill>
              <a:srgbClr val="FFAE11"/>
            </a:solidFill>
            <a:prstDash val="dash"/>
          </a:ln>
        </p:spPr>
        <p:txBody>
          <a:bodyPr wrap="none" rtlCol="0">
            <a:spAutoFit/>
          </a:bodyPr>
          <a:lstStyle/>
          <a:p>
            <a:r>
              <a:rPr lang="en-DE" dirty="0"/>
              <a:t>column or index level</a:t>
            </a:r>
          </a:p>
          <a:p>
            <a:r>
              <a:rPr lang="en-DE" dirty="0"/>
              <a:t>names to join on,</a:t>
            </a:r>
          </a:p>
          <a:p>
            <a:r>
              <a:rPr lang="en-DE" dirty="0"/>
              <a:t>found in both dataframes</a:t>
            </a:r>
            <a:endParaRPr lang="en-US" dirty="0"/>
          </a:p>
        </p:txBody>
      </p:sp>
      <p:sp>
        <p:nvSpPr>
          <p:cNvPr id="4" name="TextBox 3">
            <a:extLst>
              <a:ext uri="{FF2B5EF4-FFF2-40B4-BE49-F238E27FC236}">
                <a16:creationId xmlns:a16="http://schemas.microsoft.com/office/drawing/2014/main" id="{634870F3-85FA-5993-6B68-C57640357949}"/>
              </a:ext>
            </a:extLst>
          </p:cNvPr>
          <p:cNvSpPr txBox="1"/>
          <p:nvPr/>
        </p:nvSpPr>
        <p:spPr>
          <a:xfrm>
            <a:off x="8907543" y="2360389"/>
            <a:ext cx="2736647" cy="1477328"/>
          </a:xfrm>
          <a:prstGeom prst="rect">
            <a:avLst/>
          </a:prstGeom>
          <a:solidFill>
            <a:srgbClr val="FFC862">
              <a:alpha val="45882"/>
            </a:srgbClr>
          </a:solidFill>
          <a:ln>
            <a:solidFill>
              <a:srgbClr val="FFAE11"/>
            </a:solidFill>
            <a:prstDash val="dash"/>
          </a:ln>
        </p:spPr>
        <p:txBody>
          <a:bodyPr wrap="square" rtlCol="0">
            <a:spAutoFit/>
          </a:bodyPr>
          <a:lstStyle/>
          <a:p>
            <a:r>
              <a:rPr lang="en-DE" dirty="0"/>
              <a:t>type of merge to be performed. Here t</a:t>
            </a:r>
            <a:r>
              <a:rPr lang="en-GB" dirty="0"/>
              <a:t>he</a:t>
            </a:r>
            <a:r>
              <a:rPr lang="en-DE" dirty="0"/>
              <a:t> keys and the order  of the left dataframe </a:t>
            </a:r>
            <a:r>
              <a:rPr lang="en-US" dirty="0" err="1">
                <a:solidFill>
                  <a:srgbClr val="000000"/>
                </a:solidFill>
                <a:latin typeface="Courier New" panose="02070309020205020404" pitchFamily="49" charset="0"/>
                <a:cs typeface="Courier New" panose="02070309020205020404" pitchFamily="49" charset="0"/>
              </a:rPr>
              <a:t>df_patients</a:t>
            </a:r>
            <a:r>
              <a:rPr lang="en-DE" dirty="0">
                <a:solidFill>
                  <a:srgbClr val="000000"/>
                </a:solidFill>
                <a:latin typeface="Courier New" panose="02070309020205020404" pitchFamily="49" charset="0"/>
                <a:cs typeface="Courier New" panose="02070309020205020404" pitchFamily="49" charset="0"/>
              </a:rPr>
              <a:t> </a:t>
            </a:r>
            <a:r>
              <a:rPr lang="en-GB" dirty="0" err="1"/>
              <a:t>ar</a:t>
            </a:r>
            <a:r>
              <a:rPr lang="en-DE" dirty="0"/>
              <a:t>e kept</a:t>
            </a:r>
          </a:p>
        </p:txBody>
      </p:sp>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ADC78246-6BE3-B7BB-F755-6BA653AADA06}"/>
                  </a:ext>
                </a:extLst>
              </p14:cNvPr>
              <p14:cNvContentPartPr/>
              <p14:nvPr/>
            </p14:nvContentPartPr>
            <p14:xfrm>
              <a:off x="7627493" y="829835"/>
              <a:ext cx="1800" cy="1800"/>
            </p14:xfrm>
          </p:contentPart>
        </mc:Choice>
        <mc:Fallback xmlns="">
          <p:pic>
            <p:nvPicPr>
              <p:cNvPr id="12" name="Ink 11">
                <a:extLst>
                  <a:ext uri="{FF2B5EF4-FFF2-40B4-BE49-F238E27FC236}">
                    <a16:creationId xmlns:a16="http://schemas.microsoft.com/office/drawing/2014/main" id="{ADC78246-6BE3-B7BB-F755-6BA653AADA06}"/>
                  </a:ext>
                </a:extLst>
              </p:cNvPr>
              <p:cNvPicPr/>
              <p:nvPr/>
            </p:nvPicPr>
            <p:blipFill>
              <a:blip r:embed="rId5"/>
              <a:stretch>
                <a:fillRect/>
              </a:stretch>
            </p:blipFill>
            <p:spPr>
              <a:xfrm>
                <a:off x="7618853" y="820835"/>
                <a:ext cx="1944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13C9B956-B985-AF4B-FF33-E133823F2F44}"/>
                  </a:ext>
                </a:extLst>
              </p14:cNvPr>
              <p14:cNvContentPartPr/>
              <p14:nvPr/>
            </p14:nvContentPartPr>
            <p14:xfrm>
              <a:off x="8536133" y="1536515"/>
              <a:ext cx="220320" cy="216360"/>
            </p14:xfrm>
          </p:contentPart>
        </mc:Choice>
        <mc:Fallback xmlns="">
          <p:pic>
            <p:nvPicPr>
              <p:cNvPr id="16" name="Ink 15">
                <a:extLst>
                  <a:ext uri="{FF2B5EF4-FFF2-40B4-BE49-F238E27FC236}">
                    <a16:creationId xmlns:a16="http://schemas.microsoft.com/office/drawing/2014/main" id="{13C9B956-B985-AF4B-FF33-E133823F2F44}"/>
                  </a:ext>
                </a:extLst>
              </p:cNvPr>
              <p:cNvPicPr/>
              <p:nvPr/>
            </p:nvPicPr>
            <p:blipFill>
              <a:blip r:embed="rId7"/>
              <a:stretch>
                <a:fillRect/>
              </a:stretch>
            </p:blipFill>
            <p:spPr>
              <a:xfrm>
                <a:off x="8518493" y="1518515"/>
                <a:ext cx="255960" cy="252000"/>
              </a:xfrm>
              <a:prstGeom prst="rect">
                <a:avLst/>
              </a:prstGeom>
            </p:spPr>
          </p:pic>
        </mc:Fallback>
      </mc:AlternateContent>
      <p:grpSp>
        <p:nvGrpSpPr>
          <p:cNvPr id="20" name="Group 19">
            <a:extLst>
              <a:ext uri="{FF2B5EF4-FFF2-40B4-BE49-F238E27FC236}">
                <a16:creationId xmlns:a16="http://schemas.microsoft.com/office/drawing/2014/main" id="{D431A71A-AF59-3907-D49F-18287E9FE16F}"/>
              </a:ext>
            </a:extLst>
          </p:cNvPr>
          <p:cNvGrpSpPr/>
          <p:nvPr/>
        </p:nvGrpSpPr>
        <p:grpSpPr>
          <a:xfrm>
            <a:off x="6256253" y="2386835"/>
            <a:ext cx="2551320" cy="580320"/>
            <a:chOff x="6256253" y="2386835"/>
            <a:chExt cx="2551320" cy="580320"/>
          </a:xfrm>
        </p:grpSpPr>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B62D9CF4-5AB6-6DBF-16B4-D406CF19373B}"/>
                    </a:ext>
                  </a:extLst>
                </p14:cNvPr>
                <p14:cNvContentPartPr/>
                <p14:nvPr/>
              </p14:nvContentPartPr>
              <p14:xfrm>
                <a:off x="6256253" y="2386835"/>
                <a:ext cx="2402640" cy="470880"/>
              </p14:xfrm>
            </p:contentPart>
          </mc:Choice>
          <mc:Fallback xmlns="">
            <p:pic>
              <p:nvPicPr>
                <p:cNvPr id="17" name="Ink 16">
                  <a:extLst>
                    <a:ext uri="{FF2B5EF4-FFF2-40B4-BE49-F238E27FC236}">
                      <a16:creationId xmlns:a16="http://schemas.microsoft.com/office/drawing/2014/main" id="{B62D9CF4-5AB6-6DBF-16B4-D406CF19373B}"/>
                    </a:ext>
                  </a:extLst>
                </p:cNvPr>
                <p:cNvPicPr/>
                <p:nvPr/>
              </p:nvPicPr>
              <p:blipFill>
                <a:blip r:embed="rId9"/>
                <a:stretch>
                  <a:fillRect/>
                </a:stretch>
              </p:blipFill>
              <p:spPr>
                <a:xfrm>
                  <a:off x="6238613" y="2369195"/>
                  <a:ext cx="2438280"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8" name="Ink 17">
                  <a:extLst>
                    <a:ext uri="{FF2B5EF4-FFF2-40B4-BE49-F238E27FC236}">
                      <a16:creationId xmlns:a16="http://schemas.microsoft.com/office/drawing/2014/main" id="{D7EC668B-BC35-8C23-F3B2-74A0FD76FA27}"/>
                    </a:ext>
                  </a:extLst>
                </p14:cNvPr>
                <p14:cNvContentPartPr/>
                <p14:nvPr/>
              </p14:nvContentPartPr>
              <p14:xfrm>
                <a:off x="8614613" y="2762315"/>
                <a:ext cx="192960" cy="204840"/>
              </p14:xfrm>
            </p:contentPart>
          </mc:Choice>
          <mc:Fallback xmlns="">
            <p:pic>
              <p:nvPicPr>
                <p:cNvPr id="18" name="Ink 17">
                  <a:extLst>
                    <a:ext uri="{FF2B5EF4-FFF2-40B4-BE49-F238E27FC236}">
                      <a16:creationId xmlns:a16="http://schemas.microsoft.com/office/drawing/2014/main" id="{D7EC668B-BC35-8C23-F3B2-74A0FD76FA27}"/>
                    </a:ext>
                  </a:extLst>
                </p:cNvPr>
                <p:cNvPicPr/>
                <p:nvPr/>
              </p:nvPicPr>
              <p:blipFill>
                <a:blip r:embed="rId11"/>
                <a:stretch>
                  <a:fillRect/>
                </a:stretch>
              </p:blipFill>
              <p:spPr>
                <a:xfrm>
                  <a:off x="8596613" y="2744315"/>
                  <a:ext cx="228600" cy="240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23" name="Ink 22">
                <a:extLst>
                  <a:ext uri="{FF2B5EF4-FFF2-40B4-BE49-F238E27FC236}">
                    <a16:creationId xmlns:a16="http://schemas.microsoft.com/office/drawing/2014/main" id="{A7C03BD6-D60A-D36D-45E7-C8B68FF8AE5E}"/>
                  </a:ext>
                </a:extLst>
              </p14:cNvPr>
              <p14:cNvContentPartPr/>
              <p14:nvPr/>
            </p14:nvContentPartPr>
            <p14:xfrm>
              <a:off x="7238333" y="1618595"/>
              <a:ext cx="1405800" cy="451080"/>
            </p14:xfrm>
          </p:contentPart>
        </mc:Choice>
        <mc:Fallback xmlns="">
          <p:pic>
            <p:nvPicPr>
              <p:cNvPr id="23" name="Ink 22">
                <a:extLst>
                  <a:ext uri="{FF2B5EF4-FFF2-40B4-BE49-F238E27FC236}">
                    <a16:creationId xmlns:a16="http://schemas.microsoft.com/office/drawing/2014/main" id="{A7C03BD6-D60A-D36D-45E7-C8B68FF8AE5E}"/>
                  </a:ext>
                </a:extLst>
              </p:cNvPr>
              <p:cNvPicPr/>
              <p:nvPr/>
            </p:nvPicPr>
            <p:blipFill>
              <a:blip r:embed="rId13"/>
              <a:stretch>
                <a:fillRect/>
              </a:stretch>
            </p:blipFill>
            <p:spPr>
              <a:xfrm>
                <a:off x="7220693" y="1600955"/>
                <a:ext cx="1441440" cy="486720"/>
              </a:xfrm>
              <a:prstGeom prst="rect">
                <a:avLst/>
              </a:prstGeom>
            </p:spPr>
          </p:pic>
        </mc:Fallback>
      </mc:AlternateContent>
      <p:sp>
        <p:nvSpPr>
          <p:cNvPr id="24" name="TextBox 23">
            <a:extLst>
              <a:ext uri="{FF2B5EF4-FFF2-40B4-BE49-F238E27FC236}">
                <a16:creationId xmlns:a16="http://schemas.microsoft.com/office/drawing/2014/main" id="{A5F2836A-8517-2C7E-1255-FDF602A066F1}"/>
              </a:ext>
            </a:extLst>
          </p:cNvPr>
          <p:cNvSpPr txBox="1"/>
          <p:nvPr/>
        </p:nvSpPr>
        <p:spPr>
          <a:xfrm>
            <a:off x="5568133" y="33045"/>
            <a:ext cx="6376639" cy="461665"/>
          </a:xfrm>
          <a:prstGeom prst="rect">
            <a:avLst/>
          </a:prstGeom>
          <a:noFill/>
        </p:spPr>
        <p:txBody>
          <a:bodyPr wrap="square" rtlCol="0">
            <a:spAutoFit/>
          </a:bodyPr>
          <a:lstStyle/>
          <a:p>
            <a:r>
              <a:rPr lang="en-US" sz="1200" dirty="0"/>
              <a:t>Documentation </a:t>
            </a:r>
            <a:r>
              <a:rPr lang="en-DE" sz="1200" b="1" dirty="0"/>
              <a:t>pandas.DataFrame.merge</a:t>
            </a:r>
          </a:p>
          <a:p>
            <a:r>
              <a:rPr lang="en-US" sz="1200" dirty="0"/>
              <a:t>https://</a:t>
            </a:r>
            <a:r>
              <a:rPr lang="en-US" sz="1200" dirty="0" err="1"/>
              <a:t>pandas.pydata.org</a:t>
            </a:r>
            <a:r>
              <a:rPr lang="en-US" sz="1200" dirty="0"/>
              <a:t>/pandas-docs/stable/reference/</a:t>
            </a:r>
            <a:r>
              <a:rPr lang="en-US" sz="1200" dirty="0" err="1"/>
              <a:t>api</a:t>
            </a:r>
            <a:r>
              <a:rPr lang="en-US" sz="1200" dirty="0"/>
              <a:t>/</a:t>
            </a:r>
            <a:r>
              <a:rPr lang="en-US" sz="1200" dirty="0" err="1"/>
              <a:t>pandas.DataFrame.merge.html</a:t>
            </a:r>
            <a:endParaRPr lang="en-US" sz="1200" dirty="0"/>
          </a:p>
        </p:txBody>
      </p:sp>
      <p:sp>
        <p:nvSpPr>
          <p:cNvPr id="5" name="Date Placeholder 4">
            <a:extLst>
              <a:ext uri="{FF2B5EF4-FFF2-40B4-BE49-F238E27FC236}">
                <a16:creationId xmlns:a16="http://schemas.microsoft.com/office/drawing/2014/main" id="{5CEE8799-6AFD-4043-3F6A-054DBDF6695C}"/>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8" name="Footer Placeholder 7">
            <a:extLst>
              <a:ext uri="{FF2B5EF4-FFF2-40B4-BE49-F238E27FC236}">
                <a16:creationId xmlns:a16="http://schemas.microsoft.com/office/drawing/2014/main" id="{F3C922D2-68FA-72E3-15DC-E673D225CE49}"/>
              </a:ext>
            </a:extLst>
          </p:cNvPr>
          <p:cNvSpPr>
            <a:spLocks noGrp="1"/>
          </p:cNvSpPr>
          <p:nvPr>
            <p:ph type="ftr" idx="1"/>
          </p:nvPr>
        </p:nvSpPr>
        <p:spPr/>
        <p:txBody>
          <a:bodyPr/>
          <a:lstStyle/>
          <a:p>
            <a:r>
              <a:rPr lang="en-US"/>
              <a:t>Tab, v4.0</a:t>
            </a:r>
            <a:endParaRPr lang="en-US" dirty="0"/>
          </a:p>
        </p:txBody>
      </p:sp>
      <p:sp>
        <p:nvSpPr>
          <p:cNvPr id="9" name="Slide Number Placeholder 8">
            <a:extLst>
              <a:ext uri="{FF2B5EF4-FFF2-40B4-BE49-F238E27FC236}">
                <a16:creationId xmlns:a16="http://schemas.microsoft.com/office/drawing/2014/main" id="{76092EAE-54B9-4075-8208-BFC741AF1FD3}"/>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22</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2358457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7C3C3-A34B-2C1B-AFAF-95BBB01B3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DB55B7-96A4-7407-71E5-41C1C1861E89}"/>
              </a:ext>
            </a:extLst>
          </p:cNvPr>
          <p:cNvSpPr>
            <a:spLocks noGrp="1"/>
          </p:cNvSpPr>
          <p:nvPr>
            <p:ph type="title"/>
          </p:nvPr>
        </p:nvSpPr>
        <p:spPr/>
        <p:txBody>
          <a:bodyPr/>
          <a:lstStyle/>
          <a:p>
            <a:r>
              <a:rPr lang="en-US" dirty="0"/>
              <a:t>Solution join operation</a:t>
            </a:r>
          </a:p>
        </p:txBody>
      </p:sp>
      <p:pic>
        <p:nvPicPr>
          <p:cNvPr id="6" name="Picture 5">
            <a:extLst>
              <a:ext uri="{FF2B5EF4-FFF2-40B4-BE49-F238E27FC236}">
                <a16:creationId xmlns:a16="http://schemas.microsoft.com/office/drawing/2014/main" id="{A36ED006-1AFD-B9F5-B686-16C7E5FC5694}"/>
              </a:ext>
            </a:extLst>
          </p:cNvPr>
          <p:cNvPicPr>
            <a:picLocks noChangeAspect="1"/>
          </p:cNvPicPr>
          <p:nvPr/>
        </p:nvPicPr>
        <p:blipFill>
          <a:blip r:embed="rId2"/>
          <a:stretch>
            <a:fillRect/>
          </a:stretch>
        </p:blipFill>
        <p:spPr>
          <a:xfrm>
            <a:off x="349838" y="3097150"/>
            <a:ext cx="8294295" cy="3056818"/>
          </a:xfrm>
          <a:prstGeom prst="rect">
            <a:avLst/>
          </a:prstGeom>
        </p:spPr>
      </p:pic>
      <p:pic>
        <p:nvPicPr>
          <p:cNvPr id="7" name="Picture 6">
            <a:extLst>
              <a:ext uri="{FF2B5EF4-FFF2-40B4-BE49-F238E27FC236}">
                <a16:creationId xmlns:a16="http://schemas.microsoft.com/office/drawing/2014/main" id="{C4E6F0D8-613A-774C-A082-31B3A62FD088}"/>
              </a:ext>
            </a:extLst>
          </p:cNvPr>
          <p:cNvPicPr>
            <a:picLocks noChangeAspect="1"/>
          </p:cNvPicPr>
          <p:nvPr/>
        </p:nvPicPr>
        <p:blipFill>
          <a:blip r:embed="rId3"/>
          <a:stretch>
            <a:fillRect/>
          </a:stretch>
        </p:blipFill>
        <p:spPr>
          <a:xfrm>
            <a:off x="609480" y="1650044"/>
            <a:ext cx="7188200" cy="952500"/>
          </a:xfrm>
          <a:prstGeom prst="rect">
            <a:avLst/>
          </a:prstGeom>
        </p:spPr>
      </p:pic>
      <p:sp>
        <p:nvSpPr>
          <p:cNvPr id="3" name="TextBox 2">
            <a:extLst>
              <a:ext uri="{FF2B5EF4-FFF2-40B4-BE49-F238E27FC236}">
                <a16:creationId xmlns:a16="http://schemas.microsoft.com/office/drawing/2014/main" id="{020C15BC-0ABA-32CD-04C9-7E5D8CC3BAD9}"/>
              </a:ext>
            </a:extLst>
          </p:cNvPr>
          <p:cNvSpPr txBox="1"/>
          <p:nvPr/>
        </p:nvSpPr>
        <p:spPr>
          <a:xfrm>
            <a:off x="8907543" y="1072377"/>
            <a:ext cx="2736647" cy="923330"/>
          </a:xfrm>
          <a:prstGeom prst="rect">
            <a:avLst/>
          </a:prstGeom>
          <a:solidFill>
            <a:srgbClr val="FFC862">
              <a:alpha val="45882"/>
            </a:srgbClr>
          </a:solidFill>
          <a:ln>
            <a:solidFill>
              <a:srgbClr val="FFAE11"/>
            </a:solidFill>
            <a:prstDash val="dash"/>
          </a:ln>
        </p:spPr>
        <p:txBody>
          <a:bodyPr wrap="none" rtlCol="0">
            <a:spAutoFit/>
          </a:bodyPr>
          <a:lstStyle/>
          <a:p>
            <a:r>
              <a:rPr lang="en-DE" dirty="0"/>
              <a:t>column or index level</a:t>
            </a:r>
          </a:p>
          <a:p>
            <a:r>
              <a:rPr lang="en-DE" dirty="0"/>
              <a:t>names to join on,</a:t>
            </a:r>
          </a:p>
          <a:p>
            <a:r>
              <a:rPr lang="en-DE" dirty="0"/>
              <a:t>found in both dataframes</a:t>
            </a:r>
            <a:endParaRPr lang="en-US" dirty="0"/>
          </a:p>
        </p:txBody>
      </p:sp>
      <p:sp>
        <p:nvSpPr>
          <p:cNvPr id="4" name="TextBox 3">
            <a:extLst>
              <a:ext uri="{FF2B5EF4-FFF2-40B4-BE49-F238E27FC236}">
                <a16:creationId xmlns:a16="http://schemas.microsoft.com/office/drawing/2014/main" id="{6C12EF22-7774-CE87-9CFD-3A0A726A3CC1}"/>
              </a:ext>
            </a:extLst>
          </p:cNvPr>
          <p:cNvSpPr txBox="1"/>
          <p:nvPr/>
        </p:nvSpPr>
        <p:spPr>
          <a:xfrm>
            <a:off x="8907543" y="2360389"/>
            <a:ext cx="2736647" cy="1477328"/>
          </a:xfrm>
          <a:prstGeom prst="rect">
            <a:avLst/>
          </a:prstGeom>
          <a:solidFill>
            <a:srgbClr val="FFC862">
              <a:alpha val="45882"/>
            </a:srgbClr>
          </a:solidFill>
          <a:ln>
            <a:solidFill>
              <a:srgbClr val="FFAE11"/>
            </a:solidFill>
            <a:prstDash val="dash"/>
          </a:ln>
        </p:spPr>
        <p:txBody>
          <a:bodyPr wrap="square" rtlCol="0">
            <a:spAutoFit/>
          </a:bodyPr>
          <a:lstStyle/>
          <a:p>
            <a:r>
              <a:rPr lang="en-DE" dirty="0"/>
              <a:t>type of merge to be performed. Here t</a:t>
            </a:r>
            <a:r>
              <a:rPr lang="en-GB" dirty="0"/>
              <a:t>he</a:t>
            </a:r>
            <a:r>
              <a:rPr lang="en-DE" dirty="0"/>
              <a:t> keys and the order  of the left dataframe </a:t>
            </a:r>
            <a:r>
              <a:rPr lang="en-US" dirty="0" err="1">
                <a:solidFill>
                  <a:srgbClr val="000000"/>
                </a:solidFill>
                <a:latin typeface="Courier New" panose="02070309020205020404" pitchFamily="49" charset="0"/>
                <a:cs typeface="Courier New" panose="02070309020205020404" pitchFamily="49" charset="0"/>
              </a:rPr>
              <a:t>df_patients</a:t>
            </a:r>
            <a:r>
              <a:rPr lang="en-DE" dirty="0">
                <a:solidFill>
                  <a:srgbClr val="000000"/>
                </a:solidFill>
                <a:latin typeface="Courier New" panose="02070309020205020404" pitchFamily="49" charset="0"/>
                <a:cs typeface="Courier New" panose="02070309020205020404" pitchFamily="49" charset="0"/>
              </a:rPr>
              <a:t> </a:t>
            </a:r>
            <a:r>
              <a:rPr lang="en-GB" dirty="0" err="1"/>
              <a:t>ar</a:t>
            </a:r>
            <a:r>
              <a:rPr lang="en-DE" dirty="0"/>
              <a:t>e kept</a:t>
            </a:r>
          </a:p>
        </p:txBody>
      </p:sp>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ED72F2F6-C516-85D3-CBF7-649AFCF72069}"/>
                  </a:ext>
                </a:extLst>
              </p14:cNvPr>
              <p14:cNvContentPartPr/>
              <p14:nvPr/>
            </p14:nvContentPartPr>
            <p14:xfrm>
              <a:off x="7627493" y="829835"/>
              <a:ext cx="1800" cy="1800"/>
            </p14:xfrm>
          </p:contentPart>
        </mc:Choice>
        <mc:Fallback xmlns="">
          <p:pic>
            <p:nvPicPr>
              <p:cNvPr id="12" name="Ink 11">
                <a:extLst>
                  <a:ext uri="{FF2B5EF4-FFF2-40B4-BE49-F238E27FC236}">
                    <a16:creationId xmlns:a16="http://schemas.microsoft.com/office/drawing/2014/main" id="{ED72F2F6-C516-85D3-CBF7-649AFCF72069}"/>
                  </a:ext>
                </a:extLst>
              </p:cNvPr>
              <p:cNvPicPr/>
              <p:nvPr/>
            </p:nvPicPr>
            <p:blipFill>
              <a:blip r:embed="rId5"/>
              <a:stretch>
                <a:fillRect/>
              </a:stretch>
            </p:blipFill>
            <p:spPr>
              <a:xfrm>
                <a:off x="7618853" y="820835"/>
                <a:ext cx="1944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900C439F-8E1B-CAA9-5473-6B3CCCED64E9}"/>
                  </a:ext>
                </a:extLst>
              </p14:cNvPr>
              <p14:cNvContentPartPr/>
              <p14:nvPr/>
            </p14:nvContentPartPr>
            <p14:xfrm>
              <a:off x="8536133" y="1536515"/>
              <a:ext cx="220320" cy="216360"/>
            </p14:xfrm>
          </p:contentPart>
        </mc:Choice>
        <mc:Fallback xmlns="">
          <p:pic>
            <p:nvPicPr>
              <p:cNvPr id="16" name="Ink 15">
                <a:extLst>
                  <a:ext uri="{FF2B5EF4-FFF2-40B4-BE49-F238E27FC236}">
                    <a16:creationId xmlns:a16="http://schemas.microsoft.com/office/drawing/2014/main" id="{900C439F-8E1B-CAA9-5473-6B3CCCED64E9}"/>
                  </a:ext>
                </a:extLst>
              </p:cNvPr>
              <p:cNvPicPr/>
              <p:nvPr/>
            </p:nvPicPr>
            <p:blipFill>
              <a:blip r:embed="rId7"/>
              <a:stretch>
                <a:fillRect/>
              </a:stretch>
            </p:blipFill>
            <p:spPr>
              <a:xfrm>
                <a:off x="8518493" y="1518515"/>
                <a:ext cx="25596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A73D8E3C-4B1F-A675-4040-E91D14148ED6}"/>
                  </a:ext>
                </a:extLst>
              </p14:cNvPr>
              <p14:cNvContentPartPr/>
              <p14:nvPr/>
            </p14:nvContentPartPr>
            <p14:xfrm>
              <a:off x="7238333" y="1618595"/>
              <a:ext cx="1405800" cy="451080"/>
            </p14:xfrm>
          </p:contentPart>
        </mc:Choice>
        <mc:Fallback xmlns="">
          <p:pic>
            <p:nvPicPr>
              <p:cNvPr id="23" name="Ink 22">
                <a:extLst>
                  <a:ext uri="{FF2B5EF4-FFF2-40B4-BE49-F238E27FC236}">
                    <a16:creationId xmlns:a16="http://schemas.microsoft.com/office/drawing/2014/main" id="{A73D8E3C-4B1F-A675-4040-E91D14148ED6}"/>
                  </a:ext>
                </a:extLst>
              </p:cNvPr>
              <p:cNvPicPr/>
              <p:nvPr/>
            </p:nvPicPr>
            <p:blipFill>
              <a:blip r:embed="rId9"/>
              <a:stretch>
                <a:fillRect/>
              </a:stretch>
            </p:blipFill>
            <p:spPr>
              <a:xfrm>
                <a:off x="7220693" y="1600955"/>
                <a:ext cx="1441440" cy="486720"/>
              </a:xfrm>
              <a:prstGeom prst="rect">
                <a:avLst/>
              </a:prstGeom>
            </p:spPr>
          </p:pic>
        </mc:Fallback>
      </mc:AlternateContent>
      <p:sp>
        <p:nvSpPr>
          <p:cNvPr id="24" name="TextBox 23">
            <a:extLst>
              <a:ext uri="{FF2B5EF4-FFF2-40B4-BE49-F238E27FC236}">
                <a16:creationId xmlns:a16="http://schemas.microsoft.com/office/drawing/2014/main" id="{D960EAE3-4C7D-717E-4416-C2828514A625}"/>
              </a:ext>
            </a:extLst>
          </p:cNvPr>
          <p:cNvSpPr txBox="1"/>
          <p:nvPr/>
        </p:nvSpPr>
        <p:spPr>
          <a:xfrm>
            <a:off x="5568133" y="33045"/>
            <a:ext cx="6376639" cy="461665"/>
          </a:xfrm>
          <a:prstGeom prst="rect">
            <a:avLst/>
          </a:prstGeom>
          <a:noFill/>
        </p:spPr>
        <p:txBody>
          <a:bodyPr wrap="square" rtlCol="0">
            <a:spAutoFit/>
          </a:bodyPr>
          <a:lstStyle/>
          <a:p>
            <a:r>
              <a:rPr lang="en-US" sz="1200" dirty="0"/>
              <a:t>Documentation </a:t>
            </a:r>
            <a:r>
              <a:rPr lang="en-DE" sz="1200" b="1" dirty="0"/>
              <a:t>pandas.DataFrame.merge</a:t>
            </a:r>
          </a:p>
          <a:p>
            <a:r>
              <a:rPr lang="en-US" sz="1200" dirty="0"/>
              <a:t>https://</a:t>
            </a:r>
            <a:r>
              <a:rPr lang="en-US" sz="1200" dirty="0" err="1"/>
              <a:t>pandas.pydata.org</a:t>
            </a:r>
            <a:r>
              <a:rPr lang="en-US" sz="1200" dirty="0"/>
              <a:t>/pandas-docs/stable/reference/</a:t>
            </a:r>
            <a:r>
              <a:rPr lang="en-US" sz="1200" dirty="0" err="1"/>
              <a:t>api</a:t>
            </a:r>
            <a:r>
              <a:rPr lang="en-US" sz="1200" dirty="0"/>
              <a:t>/</a:t>
            </a:r>
            <a:r>
              <a:rPr lang="en-US" sz="1200" dirty="0" err="1"/>
              <a:t>pandas.DataFrame.merge.html</a:t>
            </a:r>
            <a:endParaRPr lang="en-US" sz="1200" dirty="0"/>
          </a:p>
        </p:txBody>
      </p:sp>
      <p:pic>
        <p:nvPicPr>
          <p:cNvPr id="8" name="Graphic 7">
            <a:extLst>
              <a:ext uri="{FF2B5EF4-FFF2-40B4-BE49-F238E27FC236}">
                <a16:creationId xmlns:a16="http://schemas.microsoft.com/office/drawing/2014/main" id="{C9CCE741-1563-7EA5-065E-0844CA25C4C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189028" y="2027155"/>
            <a:ext cx="5002971" cy="4145319"/>
          </a:xfrm>
          <a:prstGeom prst="rect">
            <a:avLst/>
          </a:prstGeom>
        </p:spPr>
      </p:pic>
      <p:sp>
        <p:nvSpPr>
          <p:cNvPr id="9" name="TextBox 8">
            <a:extLst>
              <a:ext uri="{FF2B5EF4-FFF2-40B4-BE49-F238E27FC236}">
                <a16:creationId xmlns:a16="http://schemas.microsoft.com/office/drawing/2014/main" id="{9B610F02-6FF1-35AD-081E-F11DA6EF8904}"/>
              </a:ext>
            </a:extLst>
          </p:cNvPr>
          <p:cNvSpPr txBox="1"/>
          <p:nvPr/>
        </p:nvSpPr>
        <p:spPr>
          <a:xfrm>
            <a:off x="7627493" y="974314"/>
            <a:ext cx="4564506" cy="1077218"/>
          </a:xfrm>
          <a:prstGeom prst="rect">
            <a:avLst/>
          </a:prstGeom>
          <a:solidFill>
            <a:schemeClr val="bg1"/>
          </a:solidFill>
        </p:spPr>
        <p:txBody>
          <a:bodyPr wrap="square" rtlCol="0">
            <a:spAutoFit/>
          </a:bodyPr>
          <a:lstStyle/>
          <a:p>
            <a:endParaRPr lang="bg-BG" sz="1600" dirty="0">
              <a:solidFill>
                <a:srgbClr val="800080"/>
              </a:solidFill>
            </a:endParaRPr>
          </a:p>
          <a:p>
            <a:r>
              <a:rPr lang="bg-BG" sz="1600" dirty="0">
                <a:solidFill>
                  <a:srgbClr val="800080"/>
                </a:solidFill>
              </a:rPr>
              <a:t>   </a:t>
            </a:r>
            <a:r>
              <a:rPr lang="en-DE" sz="1600" dirty="0">
                <a:solidFill>
                  <a:srgbClr val="800080"/>
                </a:solidFill>
              </a:rPr>
              <a:t>two for-loops: 	</a:t>
            </a:r>
            <a:r>
              <a:rPr lang="en-GB" sz="1600" dirty="0">
                <a:solidFill>
                  <a:srgbClr val="800080"/>
                </a:solidFill>
              </a:rPr>
              <a:t>O(N*M)</a:t>
            </a:r>
            <a:endParaRPr lang="en-DE" sz="1600" dirty="0">
              <a:solidFill>
                <a:srgbClr val="800080"/>
              </a:solidFill>
            </a:endParaRPr>
          </a:p>
          <a:p>
            <a:r>
              <a:rPr lang="bg-BG" sz="1600" dirty="0">
                <a:solidFill>
                  <a:srgbClr val="008001"/>
                </a:solidFill>
              </a:rPr>
              <a:t>   </a:t>
            </a:r>
            <a:r>
              <a:rPr lang="en-GB" sz="1600" dirty="0">
                <a:solidFill>
                  <a:srgbClr val="008001"/>
                </a:solidFill>
              </a:rPr>
              <a:t>s</a:t>
            </a:r>
            <a:r>
              <a:rPr lang="en-DE" sz="1600" dirty="0">
                <a:solidFill>
                  <a:srgbClr val="008001"/>
                </a:solidFill>
              </a:rPr>
              <a:t>orted for loop:	</a:t>
            </a:r>
            <a:r>
              <a:rPr lang="en-GB" sz="1600" dirty="0">
                <a:solidFill>
                  <a:srgbClr val="008001"/>
                </a:solidFill>
              </a:rPr>
              <a:t>O(N log N + M log M)</a:t>
            </a:r>
            <a:endParaRPr lang="en-DE" sz="1600" dirty="0">
              <a:solidFill>
                <a:srgbClr val="008001"/>
              </a:solidFill>
            </a:endParaRPr>
          </a:p>
          <a:p>
            <a:r>
              <a:rPr lang="bg-BG" sz="1600" dirty="0">
                <a:solidFill>
                  <a:srgbClr val="FFA500"/>
                </a:solidFill>
              </a:rPr>
              <a:t>   </a:t>
            </a:r>
            <a:r>
              <a:rPr lang="en-GB" sz="1600" dirty="0">
                <a:solidFill>
                  <a:srgbClr val="FFA500"/>
                </a:solidFill>
              </a:rPr>
              <a:t>join operation</a:t>
            </a:r>
            <a:r>
              <a:rPr lang="en-DE" sz="1600" dirty="0">
                <a:solidFill>
                  <a:srgbClr val="FFA500"/>
                </a:solidFill>
              </a:rPr>
              <a:t>:	O (N + M)</a:t>
            </a:r>
            <a:endParaRPr lang="en-US" sz="1600" dirty="0">
              <a:solidFill>
                <a:srgbClr val="FFA500"/>
              </a:solidFill>
            </a:endParaRPr>
          </a:p>
        </p:txBody>
      </p:sp>
      <p:sp>
        <p:nvSpPr>
          <p:cNvPr id="5" name="Date Placeholder 4">
            <a:extLst>
              <a:ext uri="{FF2B5EF4-FFF2-40B4-BE49-F238E27FC236}">
                <a16:creationId xmlns:a16="http://schemas.microsoft.com/office/drawing/2014/main" id="{F42D5DF7-C90D-1ED6-9041-C4F813673ECB}"/>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10" name="Footer Placeholder 9">
            <a:extLst>
              <a:ext uri="{FF2B5EF4-FFF2-40B4-BE49-F238E27FC236}">
                <a16:creationId xmlns:a16="http://schemas.microsoft.com/office/drawing/2014/main" id="{6FAA64B7-2A74-21F8-39BE-1A6301745797}"/>
              </a:ext>
            </a:extLst>
          </p:cNvPr>
          <p:cNvSpPr>
            <a:spLocks noGrp="1"/>
          </p:cNvSpPr>
          <p:nvPr>
            <p:ph type="ftr" idx="1"/>
          </p:nvPr>
        </p:nvSpPr>
        <p:spPr/>
        <p:txBody>
          <a:bodyPr/>
          <a:lstStyle/>
          <a:p>
            <a:r>
              <a:rPr lang="en-US"/>
              <a:t>Tab, v4.0</a:t>
            </a:r>
            <a:endParaRPr lang="en-US" dirty="0"/>
          </a:p>
        </p:txBody>
      </p:sp>
      <p:sp>
        <p:nvSpPr>
          <p:cNvPr id="11" name="Slide Number Placeholder 10">
            <a:extLst>
              <a:ext uri="{FF2B5EF4-FFF2-40B4-BE49-F238E27FC236}">
                <a16:creationId xmlns:a16="http://schemas.microsoft.com/office/drawing/2014/main" id="{4FC3BE02-1D4A-3792-2EB0-AAD0192DD7E3}"/>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23</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4073844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 name="PlaceHolder 2"/>
          <p:cNvSpPr>
            <a:spLocks noGrp="1"/>
          </p:cNvSpPr>
          <p:nvPr>
            <p:ph type="body"/>
          </p:nvPr>
        </p:nvSpPr>
        <p:spPr>
          <a:prstGeom prst="rect">
            <a:avLst/>
          </a:prstGeom>
          <a:noFill/>
          <a:ln w="0">
            <a:noFill/>
          </a:ln>
        </p:spPr>
        <p:txBody>
          <a:bodyPr lIns="90000" tIns="45000" rIns="90000" bIns="45000" anchor="t">
            <a:normAutofit fontScale="70000" lnSpcReduction="20000"/>
          </a:bodyPr>
          <a:lstStyle/>
          <a:p>
            <a:pPr marL="214920" indent="-214920">
              <a:lnSpc>
                <a:spcPct val="90000"/>
              </a:lnSpc>
              <a:spcBef>
                <a:spcPts val="1001"/>
              </a:spcBef>
              <a:buClr>
                <a:srgbClr val="000000"/>
              </a:buClr>
              <a:buFont typeface="Arial"/>
              <a:buChar char="•"/>
            </a:pPr>
            <a:r>
              <a:rPr lang="en-CH" sz="2800" b="0" u="none" strike="noStrike" dirty="0">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dirty="0">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dirty="0">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dirty="0">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dirty="0">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dirty="0">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dirty="0">
                <a:solidFill>
                  <a:srgbClr val="000000"/>
                </a:solidFill>
                <a:effectLst/>
                <a:uFillTx/>
                <a:latin typeface="Calibri" panose="020F0502020204030204" pitchFamily="34" charset="0"/>
                <a:ea typeface="DejaVu Sans"/>
                <a:cs typeface="Calibri" panose="020F0502020204030204" pitchFamily="34" charset="0"/>
              </a:rPr>
              <a:t>e table of experiments to analyz</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e</a:t>
            </a:r>
            <a:r>
              <a:rPr lang="en-CH" sz="2800" b="0" u="none" strike="noStrike" dirty="0">
                <a:solidFill>
                  <a:srgbClr val="FFFFFF"/>
                </a:solidFill>
                <a:effectLst/>
                <a:uFillTx/>
                <a:latin typeface="Calibri" panose="020F0502020204030204" pitchFamily="34" charset="0"/>
                <a:ea typeface="DejaVu Sans"/>
                <a:cs typeface="Calibri" panose="020F0502020204030204" pitchFamily="34" charset="0"/>
              </a:rPr>
              <a:t> vectorized ope</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6" name="PlaceHolder 2">
            <a:extLst>
              <a:ext uri="{FF2B5EF4-FFF2-40B4-BE49-F238E27FC236}">
                <a16:creationId xmlns:a16="http://schemas.microsoft.com/office/drawing/2014/main" id="{484A99D9-4E65-213C-D70C-5D4F36B8A508}"/>
              </a:ext>
            </a:extLst>
          </p:cNvPr>
          <p:cNvSpPr>
            <a:spLocks noGrp="1"/>
          </p:cNvSpPr>
          <p:nvPr>
            <p:ph type="ftr" idx="1"/>
          </p:nvPr>
        </p:nvSpPr>
        <p:spPr/>
        <p:txBody>
          <a:bodyPr/>
          <a:lstStyle/>
          <a:p>
            <a:r>
              <a:rPr lang="en-US"/>
              <a:t>Tab, v4.0</a:t>
            </a:r>
            <a:endParaRPr dirty="0"/>
          </a:p>
        </p:txBody>
      </p:sp>
      <p:sp>
        <p:nvSpPr>
          <p:cNvPr id="6" name="PlaceHolder 5"/>
          <p:cNvSpPr>
            <a:spLocks noGrp="1"/>
          </p:cNvSpPr>
          <p:nvPr>
            <p:ph type="sldNum" idx="2"/>
          </p:nvPr>
        </p:nvSpPr>
        <p:spPr/>
        <p:txBody>
          <a:bodyPr/>
          <a:lstStyle/>
          <a:p>
            <a:fld id="{E2CF6877-FF63-44A7-AB15-0859B560B298}" type="slidenum">
              <a:rPr/>
              <a:t>24</a:t>
            </a:fld>
            <a:endParaRPr dirty="0"/>
          </a:p>
        </p:txBody>
      </p:sp>
      <p:sp>
        <p:nvSpPr>
          <p:cNvPr id="278"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261DD008-7834-43B4-2B49-44C32CAE392D}"/>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Date Placeholder 1">
            <a:extLst>
              <a:ext uri="{FF2B5EF4-FFF2-40B4-BE49-F238E27FC236}">
                <a16:creationId xmlns:a16="http://schemas.microsoft.com/office/drawing/2014/main" id="{A92CD6EB-1270-541A-9C8F-1E6F5E7CAC04}"/>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8B1F0-1C71-4267-A00F-207783F0C610}"/>
            </a:ext>
          </a:extLst>
        </p:cNvPr>
        <p:cNvGrpSpPr/>
        <p:nvPr/>
      </p:nvGrpSpPr>
      <p:grpSpPr>
        <a:xfrm>
          <a:off x="0" y="0"/>
          <a:ext cx="0" cy="0"/>
          <a:chOff x="0" y="0"/>
          <a:chExt cx="0" cy="0"/>
        </a:xfrm>
      </p:grpSpPr>
      <p:sp>
        <p:nvSpPr>
          <p:cNvPr id="279" name="PlaceHolder 2">
            <a:extLst>
              <a:ext uri="{FF2B5EF4-FFF2-40B4-BE49-F238E27FC236}">
                <a16:creationId xmlns:a16="http://schemas.microsoft.com/office/drawing/2014/main" id="{F5B47331-8654-319F-D1BF-666D3061FFE9}"/>
              </a:ext>
            </a:extLst>
          </p:cNvPr>
          <p:cNvSpPr>
            <a:spLocks noGrp="1"/>
          </p:cNvSpPr>
          <p:nvPr>
            <p:ph type="body"/>
          </p:nvPr>
        </p:nvSpPr>
        <p:spPr>
          <a:prstGeom prst="rect">
            <a:avLst/>
          </a:prstGeom>
          <a:noFill/>
          <a:ln w="0">
            <a:noFill/>
          </a:ln>
        </p:spPr>
        <p:txBody>
          <a:bodyPr lIns="90000" tIns="45000" rIns="90000" bIns="45000" anchor="t">
            <a:normAutofit fontScale="55000" lnSpcReduction="20000"/>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 table of experiments to analyze</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Summary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split-apply-combine</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E.g., compute average measurement and standard deviation by experimental condition and treatment dosage</a:t>
            </a:r>
            <a:r>
              <a:rPr lang="en-CH" sz="2800" b="0" u="none" strike="noStrike">
                <a:solidFill>
                  <a:srgbClr val="FFFFFF"/>
                </a:solidFill>
                <a:effectLst/>
                <a:uFillTx/>
                <a:latin typeface="Calibri" panose="020F0502020204030204" pitchFamily="34" charset="0"/>
                <a:ea typeface="DejaVu Sans"/>
                <a:cs typeface="Calibri" panose="020F0502020204030204" pitchFamily="34" charset="0"/>
              </a:rPr>
              <a:t>use vectorized operations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 name="PlaceHolder 2">
            <a:extLst>
              <a:ext uri="{FF2B5EF4-FFF2-40B4-BE49-F238E27FC236}">
                <a16:creationId xmlns:a16="http://schemas.microsoft.com/office/drawing/2014/main" id="{36B00C36-2C4D-99D3-04D2-3AC65A2B5C36}"/>
              </a:ext>
            </a:extLst>
          </p:cNvPr>
          <p:cNvSpPr>
            <a:spLocks noGrp="1"/>
          </p:cNvSpPr>
          <p:nvPr>
            <p:ph type="ftr" idx="1"/>
          </p:nvPr>
        </p:nvSpPr>
        <p:spPr/>
        <p:txBody>
          <a:bodyPr/>
          <a:lstStyle/>
          <a:p>
            <a:r>
              <a:rPr lang="en-US"/>
              <a:t>Tab, v4.0</a:t>
            </a:r>
            <a:endParaRPr dirty="0"/>
          </a:p>
        </p:txBody>
      </p:sp>
      <p:sp>
        <p:nvSpPr>
          <p:cNvPr id="6" name="PlaceHolder 5">
            <a:extLst>
              <a:ext uri="{FF2B5EF4-FFF2-40B4-BE49-F238E27FC236}">
                <a16:creationId xmlns:a16="http://schemas.microsoft.com/office/drawing/2014/main" id="{39037126-DC85-0831-E152-FFB475D55563}"/>
              </a:ext>
            </a:extLst>
          </p:cNvPr>
          <p:cNvSpPr>
            <a:spLocks noGrp="1"/>
          </p:cNvSpPr>
          <p:nvPr>
            <p:ph type="sldNum" idx="2"/>
          </p:nvPr>
        </p:nvSpPr>
        <p:spPr/>
        <p:txBody>
          <a:bodyPr/>
          <a:lstStyle/>
          <a:p>
            <a:fld id="{E2CF6877-FF63-44A7-AB15-0859B560B298}" type="slidenum">
              <a:rPr/>
              <a:t>25</a:t>
            </a:fld>
            <a:endParaRPr/>
          </a:p>
        </p:txBody>
      </p:sp>
      <p:sp>
        <p:nvSpPr>
          <p:cNvPr id="278" name="PlaceHolder 1">
            <a:extLst>
              <a:ext uri="{FF2B5EF4-FFF2-40B4-BE49-F238E27FC236}">
                <a16:creationId xmlns:a16="http://schemas.microsoft.com/office/drawing/2014/main" id="{00EAAD72-4180-4FB6-BC7D-ECCDECF46F10}"/>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476725D7-25DA-ECA3-591A-36DEB2CE59F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3" name="Date Placeholder 2">
            <a:extLst>
              <a:ext uri="{FF2B5EF4-FFF2-40B4-BE49-F238E27FC236}">
                <a16:creationId xmlns:a16="http://schemas.microsoft.com/office/drawing/2014/main" id="{4210503A-928A-72FD-FF1A-EEA70632C0ED}"/>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1162336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The basic structure of most numerical analyses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290" name="Picture 36"/>
          <p:cNvPicPr/>
          <p:nvPr/>
        </p:nvPicPr>
        <p:blipFill>
          <a:blip r:embed="rId2"/>
          <a:stretch/>
        </p:blipFill>
        <p:spPr>
          <a:xfrm>
            <a:off x="3935880" y="2162520"/>
            <a:ext cx="2883600" cy="4555800"/>
          </a:xfrm>
          <a:prstGeom prst="rect">
            <a:avLst/>
          </a:prstGeom>
          <a:noFill/>
          <a:ln w="0">
            <a:noFill/>
          </a:ln>
        </p:spPr>
      </p:pic>
      <p:pic>
        <p:nvPicPr>
          <p:cNvPr id="291" name="Picture 37"/>
          <p:cNvPicPr/>
          <p:nvPr/>
        </p:nvPicPr>
        <p:blipFill>
          <a:blip r:embed="rId3"/>
          <a:stretch/>
        </p:blipFill>
        <p:spPr>
          <a:xfrm>
            <a:off x="7584840" y="2500560"/>
            <a:ext cx="1473840" cy="3626280"/>
          </a:xfrm>
          <a:prstGeom prst="rect">
            <a:avLst/>
          </a:prstGeom>
          <a:noFill/>
          <a:ln w="0">
            <a:noFill/>
          </a:ln>
        </p:spPr>
      </p:pic>
      <p:pic>
        <p:nvPicPr>
          <p:cNvPr id="292" name="Picture 38"/>
          <p:cNvPicPr/>
          <p:nvPr/>
        </p:nvPicPr>
        <p:blipFill>
          <a:blip r:embed="rId4"/>
          <a:stretch/>
        </p:blipFill>
        <p:spPr>
          <a:xfrm>
            <a:off x="9859680" y="2999880"/>
            <a:ext cx="1809000" cy="1952280"/>
          </a:xfrm>
          <a:prstGeom prst="rect">
            <a:avLst/>
          </a:prstGeom>
          <a:noFill/>
          <a:ln w="0">
            <a:noFill/>
          </a:ln>
        </p:spPr>
      </p:pic>
      <p:pic>
        <p:nvPicPr>
          <p:cNvPr id="293" name="Picture 39"/>
          <p:cNvPicPr/>
          <p:nvPr/>
        </p:nvPicPr>
        <p:blipFill>
          <a:blip r:embed="rId5"/>
          <a:stretch/>
        </p:blipFill>
        <p:spPr>
          <a:xfrm>
            <a:off x="460080" y="2783880"/>
            <a:ext cx="2661120" cy="2585880"/>
          </a:xfrm>
          <a:prstGeom prst="rect">
            <a:avLst/>
          </a:prstGeom>
          <a:noFill/>
          <a:ln w="0">
            <a:noFill/>
          </a:ln>
        </p:spPr>
      </p:pic>
      <p:sp>
        <p:nvSpPr>
          <p:cNvPr id="294" name="TextBox 68"/>
          <p:cNvSpPr/>
          <p:nvPr/>
        </p:nvSpPr>
        <p:spPr>
          <a:xfrm>
            <a:off x="2617920" y="1321920"/>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95" name="TextBox 69"/>
          <p:cNvSpPr/>
          <p:nvPr/>
        </p:nvSpPr>
        <p:spPr>
          <a:xfrm>
            <a:off x="6311880" y="132192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96" name="TextBox 70"/>
          <p:cNvSpPr/>
          <p:nvPr/>
        </p:nvSpPr>
        <p:spPr>
          <a:xfrm>
            <a:off x="9783360" y="1321920"/>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297" name="Straight Arrow Connector 3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298" name="Straight Arrow Connector 32"/>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299" name="Straight Arrow Connector 33"/>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300" name="Straight Arrow Connector 34"/>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301" name="Straight Arrow Connector 35"/>
          <p:cNvCxnSpPr/>
          <p:nvPr/>
        </p:nvCxnSpPr>
        <p:spPr>
          <a:xfrm>
            <a:off x="3281400" y="4874760"/>
            <a:ext cx="651240" cy="757080"/>
          </a:xfrm>
          <a:prstGeom prst="straightConnector1">
            <a:avLst/>
          </a:prstGeom>
          <a:ln w="57150">
            <a:solidFill>
              <a:srgbClr val="C55A11"/>
            </a:solidFill>
            <a:round/>
            <a:tailEnd type="triangle" w="med" len="med"/>
          </a:ln>
        </p:spPr>
      </p:cxnSp>
      <p:sp>
        <p:nvSpPr>
          <p:cNvPr id="302" name="TextBox 71"/>
          <p:cNvSpPr/>
          <p:nvPr/>
        </p:nvSpPr>
        <p:spPr>
          <a:xfrm>
            <a:off x="3228840" y="273456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A1</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3" name="TextBox 72"/>
          <p:cNvSpPr/>
          <p:nvPr/>
        </p:nvSpPr>
        <p:spPr>
          <a:xfrm>
            <a:off x="3223800" y="3516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A2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4" name="TextBox 73"/>
          <p:cNvSpPr/>
          <p:nvPr/>
        </p:nvSpPr>
        <p:spPr>
          <a:xfrm>
            <a:off x="3223800" y="4020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B1</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5" name="TextBox 74"/>
          <p:cNvSpPr/>
          <p:nvPr/>
        </p:nvSpPr>
        <p:spPr>
          <a:xfrm>
            <a:off x="3233520" y="475452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B2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6" name="TextBox 75"/>
          <p:cNvSpPr/>
          <p:nvPr/>
        </p:nvSpPr>
        <p:spPr>
          <a:xfrm>
            <a:off x="3233520" y="5244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7" name="Right Arrow 3"/>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panose="020F0502020204030204" pitchFamily="34" charset="0"/>
              <a:ea typeface="DejaVu Sans"/>
              <a:cs typeface="Calibri" panose="020F0502020204030204" pitchFamily="34" charset="0"/>
            </a:endParaRPr>
          </a:p>
        </p:txBody>
      </p:sp>
      <p:sp>
        <p:nvSpPr>
          <p:cNvPr id="308" name="TextBox 76"/>
          <p:cNvSpPr/>
          <p:nvPr/>
        </p:nvSpPr>
        <p:spPr>
          <a:xfrm>
            <a:off x="6837120" y="3702960"/>
            <a:ext cx="77940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panose="020F0502020204030204" pitchFamily="34" charset="0"/>
                <a:ea typeface="DejaVu Sans"/>
                <a:cs typeface="Calibri" panose="020F0502020204030204" pitchFamily="34" charset="0"/>
              </a:rPr>
              <a:t>mean</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309" name="Straight Arrow Connector 36"/>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310" name="Straight Arrow Connector 37"/>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311" name="Straight Arrow Connector 38"/>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312" name="Straight Arrow Connector 39"/>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313" name="Straight Arrow Connector 40"/>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2" name="PlaceHolder 1">
            <a:extLst>
              <a:ext uri="{FF2B5EF4-FFF2-40B4-BE49-F238E27FC236}">
                <a16:creationId xmlns:a16="http://schemas.microsoft.com/office/drawing/2014/main" id="{1DF8EC7D-55A8-C0D7-E5DC-70D96F6EF9A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5" name="PlaceHolder 5">
            <a:extLst>
              <a:ext uri="{FF2B5EF4-FFF2-40B4-BE49-F238E27FC236}">
                <a16:creationId xmlns:a16="http://schemas.microsoft.com/office/drawing/2014/main" id="{1FD81489-7D49-9139-A634-558B0AE1CD2E}"/>
              </a:ext>
            </a:extLst>
          </p:cNvPr>
          <p:cNvSpPr>
            <a:spLocks noGrp="1"/>
          </p:cNvSpPr>
          <p:nvPr>
            <p:ph type="sldNum" idx="2"/>
          </p:nvPr>
        </p:nvSpPr>
        <p:spPr>
          <a:xfrm>
            <a:off x="8610480" y="6356520"/>
            <a:ext cx="2739960" cy="361800"/>
          </a:xfrm>
        </p:spPr>
        <p:txBody>
          <a:bodyPr/>
          <a:lstStyle/>
          <a:p>
            <a:fld id="{E2CF6877-FF63-44A7-AB15-0859B560B298}" type="slidenum">
              <a:rPr/>
              <a:t>26</a:t>
            </a:fld>
            <a:endParaRPr/>
          </a:p>
        </p:txBody>
      </p:sp>
      <p:sp>
        <p:nvSpPr>
          <p:cNvPr id="3" name="Date Placeholder 2">
            <a:extLst>
              <a:ext uri="{FF2B5EF4-FFF2-40B4-BE49-F238E27FC236}">
                <a16:creationId xmlns:a16="http://schemas.microsoft.com/office/drawing/2014/main" id="{CDF0A65E-1058-C345-8DD3-1C1F6C09AE33}"/>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4" name="Footer Placeholder 3">
            <a:extLst>
              <a:ext uri="{FF2B5EF4-FFF2-40B4-BE49-F238E27FC236}">
                <a16:creationId xmlns:a16="http://schemas.microsoft.com/office/drawing/2014/main" id="{5C9ABC4D-22D1-69A7-3B43-3CAE9F428E7E}"/>
              </a:ext>
            </a:extLst>
          </p:cNvPr>
          <p:cNvSpPr>
            <a:spLocks noGrp="1"/>
          </p:cNvSpPr>
          <p:nvPr>
            <p:ph type="ftr" idx="1"/>
          </p:nvPr>
        </p:nvSpPr>
        <p:spPr/>
        <p:txBody>
          <a:bodyPr/>
          <a:lstStyle/>
          <a:p>
            <a:r>
              <a:rPr lang="en-US"/>
              <a:t>Tab, v4.0</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5" name="Picture 40"/>
          <p:cNvPicPr/>
          <p:nvPr/>
        </p:nvPicPr>
        <p:blipFill>
          <a:blip r:embed="rId2"/>
          <a:stretch/>
        </p:blipFill>
        <p:spPr>
          <a:xfrm>
            <a:off x="3935880" y="2162520"/>
            <a:ext cx="2883600" cy="4555800"/>
          </a:xfrm>
          <a:prstGeom prst="rect">
            <a:avLst/>
          </a:prstGeom>
          <a:noFill/>
          <a:ln w="0">
            <a:noFill/>
          </a:ln>
        </p:spPr>
      </p:pic>
      <p:pic>
        <p:nvPicPr>
          <p:cNvPr id="316" name="Picture 41"/>
          <p:cNvPicPr/>
          <p:nvPr/>
        </p:nvPicPr>
        <p:blipFill>
          <a:blip r:embed="rId3"/>
          <a:stretch/>
        </p:blipFill>
        <p:spPr>
          <a:xfrm>
            <a:off x="7584840" y="2500560"/>
            <a:ext cx="1473840" cy="3626280"/>
          </a:xfrm>
          <a:prstGeom prst="rect">
            <a:avLst/>
          </a:prstGeom>
          <a:noFill/>
          <a:ln w="0">
            <a:noFill/>
          </a:ln>
        </p:spPr>
      </p:pic>
      <p:pic>
        <p:nvPicPr>
          <p:cNvPr id="317" name="Picture 43"/>
          <p:cNvPicPr/>
          <p:nvPr/>
        </p:nvPicPr>
        <p:blipFill>
          <a:blip r:embed="rId4"/>
          <a:stretch/>
        </p:blipFill>
        <p:spPr>
          <a:xfrm>
            <a:off x="9859680" y="2999880"/>
            <a:ext cx="1809000" cy="1952280"/>
          </a:xfrm>
          <a:prstGeom prst="rect">
            <a:avLst/>
          </a:prstGeom>
          <a:noFill/>
          <a:ln w="0">
            <a:noFill/>
          </a:ln>
        </p:spPr>
      </p:pic>
      <p:pic>
        <p:nvPicPr>
          <p:cNvPr id="318" name="Picture 44"/>
          <p:cNvPicPr/>
          <p:nvPr/>
        </p:nvPicPr>
        <p:blipFill>
          <a:blip r:embed="rId5"/>
          <a:stretch/>
        </p:blipFill>
        <p:spPr>
          <a:xfrm>
            <a:off x="460080" y="2783880"/>
            <a:ext cx="2661120" cy="2585880"/>
          </a:xfrm>
          <a:prstGeom prst="rect">
            <a:avLst/>
          </a:prstGeom>
          <a:noFill/>
          <a:ln w="0">
            <a:noFill/>
          </a:ln>
        </p:spPr>
      </p:pic>
      <p:sp>
        <p:nvSpPr>
          <p:cNvPr id="319" name="TextBox 81"/>
          <p:cNvSpPr/>
          <p:nvPr/>
        </p:nvSpPr>
        <p:spPr>
          <a:xfrm>
            <a:off x="2617920" y="1321920"/>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20" name="TextBox 82"/>
          <p:cNvSpPr/>
          <p:nvPr/>
        </p:nvSpPr>
        <p:spPr>
          <a:xfrm>
            <a:off x="6311880" y="132192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21" name="TextBox 83"/>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322" name="Straight Arrow Connector 4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323" name="Straight Arrow Connector 43"/>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324" name="Straight Arrow Connector 45"/>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325" name="Straight Arrow Connector 46"/>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326" name="Straight Arrow Connector 47"/>
          <p:cNvCxnSpPr/>
          <p:nvPr/>
        </p:nvCxnSpPr>
        <p:spPr>
          <a:xfrm>
            <a:off x="3281400" y="4874760"/>
            <a:ext cx="651240" cy="757080"/>
          </a:xfrm>
          <a:prstGeom prst="straightConnector1">
            <a:avLst/>
          </a:prstGeom>
          <a:ln w="57150">
            <a:solidFill>
              <a:srgbClr val="C55A11"/>
            </a:solidFill>
            <a:round/>
            <a:tailEnd type="triangle" w="med" len="med"/>
          </a:ln>
        </p:spPr>
      </p:cxnSp>
      <p:sp>
        <p:nvSpPr>
          <p:cNvPr id="327" name="TextBox 84"/>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328" name="TextBox 85"/>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329" name="TextBox 86"/>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330" name="TextBox 87"/>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331" name="TextBox 88"/>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332" name="Right Arrow 5"/>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333" name="TextBox 89"/>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334" name="Straight Arrow Connector 49"/>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335" name="Straight Arrow Connector 50"/>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336" name="Straight Arrow Connector 51"/>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337" name="Straight Arrow Connector 52"/>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338" name="Straight Arrow Connector 53"/>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339" name="TextBox 90"/>
          <p:cNvSpPr/>
          <p:nvPr/>
        </p:nvSpPr>
        <p:spPr>
          <a:xfrm>
            <a:off x="515520" y="293760"/>
            <a:ext cx="1115784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0" u="none" strike="noStrike">
                <a:solidFill>
                  <a:srgbClr val="000000"/>
                </a:solidFill>
                <a:effectLst/>
                <a:uFillTx/>
                <a:latin typeface="Consolas"/>
                <a:ea typeface="DejaVu Sans"/>
              </a:rPr>
              <a:t>df</a:t>
            </a:r>
            <a:r>
              <a:rPr lang="en-CH" sz="2800" b="0" u="none" strike="noStrike">
                <a:solidFill>
                  <a:schemeClr val="accent2">
                    <a:lumMod val="75000"/>
                  </a:schemeClr>
                </a:solidFill>
                <a:effectLst/>
                <a:uFillTx/>
                <a:latin typeface="Consolas"/>
                <a:ea typeface="DejaVu Sans"/>
              </a:rPr>
              <a:t>.groupby(‘condition_id’)</a:t>
            </a:r>
            <a:r>
              <a:rPr lang="en-CH" sz="2800" b="0" u="none" strike="noStrike">
                <a:solidFill>
                  <a:schemeClr val="accent1">
                    <a:lumMod val="75000"/>
                  </a:schemeClr>
                </a:solidFill>
                <a:effectLst/>
                <a:uFillTx/>
                <a:latin typeface="Consolas"/>
                <a:ea typeface="DejaVu Sans"/>
              </a:rPr>
              <a:t>[‘response_time’].mean()</a:t>
            </a:r>
            <a:endParaRPr lang="en-GB" sz="2800" b="0" u="none" strike="noStrike" dirty="0">
              <a:solidFill>
                <a:srgbClr val="000000"/>
              </a:solidFill>
              <a:effectLst/>
              <a:uFillTx/>
              <a:latin typeface="Arial"/>
            </a:endParaRPr>
          </a:p>
        </p:txBody>
      </p:sp>
      <p:sp>
        <p:nvSpPr>
          <p:cNvPr id="2" name="PlaceHolder 1">
            <a:extLst>
              <a:ext uri="{FF2B5EF4-FFF2-40B4-BE49-F238E27FC236}">
                <a16:creationId xmlns:a16="http://schemas.microsoft.com/office/drawing/2014/main" id="{69330AB7-6A97-DC95-6E3B-513AF11C45BD}"/>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5">
            <a:extLst>
              <a:ext uri="{FF2B5EF4-FFF2-40B4-BE49-F238E27FC236}">
                <a16:creationId xmlns:a16="http://schemas.microsoft.com/office/drawing/2014/main" id="{D05787B4-071B-D25F-CE0E-E3E5AB1A9AA1}"/>
              </a:ext>
            </a:extLst>
          </p:cNvPr>
          <p:cNvSpPr>
            <a:spLocks noGrp="1"/>
          </p:cNvSpPr>
          <p:nvPr>
            <p:ph type="sldNum" idx="2"/>
          </p:nvPr>
        </p:nvSpPr>
        <p:spPr>
          <a:xfrm>
            <a:off x="8610480" y="6356520"/>
            <a:ext cx="2739960" cy="361800"/>
          </a:xfrm>
        </p:spPr>
        <p:txBody>
          <a:bodyPr/>
          <a:lstStyle/>
          <a:p>
            <a:fld id="{E2CF6877-FF63-44A7-AB15-0859B560B298}" type="slidenum">
              <a:rPr/>
              <a:t>27</a:t>
            </a:fld>
            <a:endParaRPr/>
          </a:p>
        </p:txBody>
      </p:sp>
      <p:sp>
        <p:nvSpPr>
          <p:cNvPr id="3" name="Date Placeholder 2">
            <a:extLst>
              <a:ext uri="{FF2B5EF4-FFF2-40B4-BE49-F238E27FC236}">
                <a16:creationId xmlns:a16="http://schemas.microsoft.com/office/drawing/2014/main" id="{BCE161BA-DAC2-DB0A-81C8-F73A89BBA459}"/>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4" name="Footer Placeholder 3">
            <a:extLst>
              <a:ext uri="{FF2B5EF4-FFF2-40B4-BE49-F238E27FC236}">
                <a16:creationId xmlns:a16="http://schemas.microsoft.com/office/drawing/2014/main" id="{DFAB3B9E-B1C6-0146-BC03-91389076245E}"/>
              </a:ext>
            </a:extLst>
          </p:cNvPr>
          <p:cNvSpPr>
            <a:spLocks noGrp="1"/>
          </p:cNvSpPr>
          <p:nvPr>
            <p:ph type="ftr" idx="1"/>
          </p:nvPr>
        </p:nvSpPr>
        <p:spPr/>
        <p:txBody>
          <a:bodyPr/>
          <a:lstStyle/>
          <a:p>
            <a:r>
              <a:rPr lang="en-US"/>
              <a:t>Tab, v4.0</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PlaceHolder 2"/>
          <p:cNvSpPr>
            <a:spLocks noGrp="1"/>
          </p:cNvSpPr>
          <p:nvPr>
            <p:ph type="body"/>
          </p:nvPr>
        </p:nvSpPr>
        <p:spPr>
          <a:prstGeom prst="rect">
            <a:avLst/>
          </a:prstGeom>
          <a:noFill/>
          <a:ln w="0">
            <a:noFill/>
          </a:ln>
        </p:spPr>
        <p:txBody>
          <a:bodyPr lIns="90000" tIns="45000" rIns="90000" bIns="45000" anchor="t">
            <a:normAutofit fontScale="55000" lnSpcReduction="20000"/>
          </a:bodyPr>
          <a:lstStyle/>
          <a:p>
            <a:pPr marL="228600" indent="0">
              <a:lnSpc>
                <a:spcPct val="90000"/>
              </a:lnSpc>
              <a:spcBef>
                <a:spcPts val="1001"/>
              </a:spcBef>
              <a:buNone/>
              <a:tabLst>
                <a:tab pos="0" algn="l"/>
              </a:tabLst>
            </a:pPr>
            <a:endParaRPr lang="en-GB" sz="2800" b="0" u="none" strike="noStrike" dirty="0">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dirty="0">
                <a:solidFill>
                  <a:srgbClr val="000000"/>
                </a:solidFill>
                <a:effectLst/>
                <a:uFillTx/>
                <a:latin typeface="Calibri"/>
                <a:ea typeface="DejaVu Sans"/>
              </a:rPr>
              <a:t>Tabular data tools vectorize the standard </a:t>
            </a:r>
            <a:r>
              <a:rPr lang="en-US" sz="2800" b="0" i="1" u="none" strike="noStrike" dirty="0">
                <a:solidFill>
                  <a:srgbClr val="000000"/>
                </a:solidFill>
                <a:effectLst/>
                <a:uFillTx/>
                <a:latin typeface="Calibri"/>
                <a:ea typeface="DejaVu Sans"/>
              </a:rPr>
              <a:t>split-apply-combine</a:t>
            </a:r>
            <a:r>
              <a:rPr lang="en-US" sz="2800" b="0" u="none" strike="noStrike" dirty="0">
                <a:solidFill>
                  <a:srgbClr val="000000"/>
                </a:solidFill>
                <a:effectLst/>
                <a:uFillTx/>
                <a:latin typeface="Calibri"/>
                <a:ea typeface="DejaVu Sans"/>
              </a:rPr>
              <a:t> operations, using a “group-by” command</a:t>
            </a:r>
            <a:endParaRPr lang="en-GB" sz="2800" b="0" u="none" strike="noStrike" dirty="0">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dirty="0">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dirty="0">
                <a:solidFill>
                  <a:srgbClr val="000000"/>
                </a:solidFill>
                <a:effectLst/>
                <a:uFillTx/>
                <a:latin typeface="Calibri"/>
                <a:ea typeface="DejaVu Sans"/>
              </a:rPr>
              <a:t>In addition, pandas has a “pivot-table” command that can be used to simplify the creation of more complex summary tables</a:t>
            </a:r>
            <a:endParaRPr lang="en-GB" sz="2800" b="0" u="none" strike="noStrike" dirty="0">
              <a:solidFill>
                <a:srgbClr val="000000"/>
              </a:solidFill>
              <a:effectLst/>
              <a:uFillTx/>
              <a:latin typeface="Arial"/>
            </a:endParaRPr>
          </a:p>
        </p:txBody>
      </p:sp>
      <p:sp>
        <p:nvSpPr>
          <p:cNvPr id="7" name="PlaceHolder 2">
            <a:extLst>
              <a:ext uri="{FF2B5EF4-FFF2-40B4-BE49-F238E27FC236}">
                <a16:creationId xmlns:a16="http://schemas.microsoft.com/office/drawing/2014/main" id="{7776D7B0-F83C-4672-C444-D1A2F35F597D}"/>
              </a:ext>
            </a:extLst>
          </p:cNvPr>
          <p:cNvSpPr>
            <a:spLocks noGrp="1"/>
          </p:cNvSpPr>
          <p:nvPr>
            <p:ph type="ftr" idx="1"/>
          </p:nvPr>
        </p:nvSpPr>
        <p:spPr/>
        <p:txBody>
          <a:bodyPr/>
          <a:lstStyle/>
          <a:p>
            <a:r>
              <a:rPr lang="en-US"/>
              <a:t>Tab, v4.0</a:t>
            </a:r>
            <a:endParaRPr dirty="0"/>
          </a:p>
        </p:txBody>
      </p:sp>
      <p:sp>
        <p:nvSpPr>
          <p:cNvPr id="4" name="PlaceHolder 5">
            <a:extLst>
              <a:ext uri="{FF2B5EF4-FFF2-40B4-BE49-F238E27FC236}">
                <a16:creationId xmlns:a16="http://schemas.microsoft.com/office/drawing/2014/main" id="{817B28A6-C54B-4354-F2E2-6A2A6D20396B}"/>
              </a:ext>
            </a:extLst>
          </p:cNvPr>
          <p:cNvSpPr>
            <a:spLocks noGrp="1"/>
          </p:cNvSpPr>
          <p:nvPr>
            <p:ph type="sldNum" idx="2"/>
          </p:nvPr>
        </p:nvSpPr>
        <p:spPr/>
        <p:txBody>
          <a:bodyPr/>
          <a:lstStyle/>
          <a:p>
            <a:fld id="{E2CF6877-FF63-44A7-AB15-0859B560B298}" type="slidenum">
              <a:rPr/>
              <a:t>28</a:t>
            </a:fld>
            <a:endParaRPr/>
          </a:p>
        </p:txBody>
      </p:sp>
      <p:sp>
        <p:nvSpPr>
          <p:cNvPr id="340"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Split-apply-combine </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B245EA5C-9F95-037C-0566-72ED00ED00F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3" name="Date Placeholder 2">
            <a:extLst>
              <a:ext uri="{FF2B5EF4-FFF2-40B4-BE49-F238E27FC236}">
                <a16:creationId xmlns:a16="http://schemas.microsoft.com/office/drawing/2014/main" id="{A0FAC2BA-5F2B-6D6D-6D8E-FA508C756DDC}"/>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4" name="Picture 45"/>
          <p:cNvPicPr/>
          <p:nvPr/>
        </p:nvPicPr>
        <p:blipFill>
          <a:blip r:embed="rId2"/>
          <a:stretch/>
        </p:blipFill>
        <p:spPr>
          <a:xfrm>
            <a:off x="1775520" y="2645640"/>
            <a:ext cx="3396240" cy="3300480"/>
          </a:xfrm>
          <a:prstGeom prst="rect">
            <a:avLst/>
          </a:prstGeom>
          <a:noFill/>
          <a:ln w="0">
            <a:noFill/>
          </a:ln>
        </p:spPr>
      </p:pic>
      <p:sp>
        <p:nvSpPr>
          <p:cNvPr id="345" name="TextBox 91"/>
          <p:cNvSpPr/>
          <p:nvPr/>
        </p:nvSpPr>
        <p:spPr>
          <a:xfrm>
            <a:off x="9984600" y="47664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346" name="TextBox 92"/>
          <p:cNvSpPr/>
          <p:nvPr/>
        </p:nvSpPr>
        <p:spPr>
          <a:xfrm>
            <a:off x="9984600" y="121428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7" name="TextBox 93"/>
          <p:cNvSpPr/>
          <p:nvPr/>
        </p:nvSpPr>
        <p:spPr>
          <a:xfrm>
            <a:off x="9987480" y="2017440"/>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8" name="TextBox 94"/>
          <p:cNvSpPr/>
          <p:nvPr/>
        </p:nvSpPr>
        <p:spPr>
          <a:xfrm>
            <a:off x="515340" y="536017"/>
            <a:ext cx="9469260" cy="156820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u="none" strike="noStrike" dirty="0" err="1">
                <a:solidFill>
                  <a:srgbClr val="000000"/>
                </a:solidFill>
                <a:effectLst/>
                <a:uFillTx/>
                <a:latin typeface="Consolas"/>
                <a:ea typeface="DejaVu Sans"/>
              </a:rPr>
              <a:t>data.pivot_table</a:t>
            </a:r>
            <a:r>
              <a:rPr lang="en-US" sz="2400" b="0" u="none" strike="noStrike" dirty="0">
                <a:solidFill>
                  <a:srgbClr val="000000"/>
                </a:solidFill>
                <a:effectLst/>
                <a:uFillTx/>
                <a:latin typeface="Consolas"/>
                <a:ea typeface="DejaVu Sans"/>
              </a:rPr>
              <a:t>(</a:t>
            </a:r>
            <a:br>
              <a:rPr sz="2400" dirty="0"/>
            </a:br>
            <a:r>
              <a:rPr lang="en-US" sz="2400" b="0" u="none" strike="noStrike" dirty="0">
                <a:solidFill>
                  <a:srgbClr val="000000"/>
                </a:solidFill>
                <a:effectLst/>
                <a:uFillTx/>
                <a:latin typeface="Consolas"/>
                <a:ea typeface="DejaVu Sans"/>
              </a:rPr>
              <a:t>	</a:t>
            </a:r>
            <a:r>
              <a:rPr lang="en-US" sz="2400" b="0" u="none" strike="noStrike" dirty="0">
                <a:solidFill>
                  <a:schemeClr val="accent2">
                    <a:lumMod val="75000"/>
                  </a:schemeClr>
                </a:solidFill>
                <a:effectLst/>
                <a:uFillTx/>
                <a:latin typeface="Consolas"/>
                <a:ea typeface="DejaVu Sans"/>
              </a:rPr>
              <a:t>index = '</a:t>
            </a:r>
            <a:r>
              <a:rPr lang="en-US" sz="2400" b="0" u="none" strike="noStrike" dirty="0" err="1">
                <a:solidFill>
                  <a:schemeClr val="accent2">
                    <a:lumMod val="75000"/>
                  </a:schemeClr>
                </a:solidFill>
                <a:effectLst/>
                <a:uFillTx/>
                <a:latin typeface="Consolas"/>
                <a:ea typeface="DejaVu Sans"/>
              </a:rPr>
              <a:t>condition_id</a:t>
            </a:r>
            <a:r>
              <a:rPr lang="en-US" sz="2400" b="0" u="none" strike="noStrike" dirty="0">
                <a:solidFill>
                  <a:schemeClr val="accent2">
                    <a:lumMod val="75000"/>
                  </a:schemeClr>
                </a:solidFill>
                <a:effectLst/>
                <a:uFillTx/>
                <a:latin typeface="Consolas"/>
                <a:ea typeface="DejaVu Sans"/>
              </a:rPr>
              <a:t>', columns = 'response'</a:t>
            </a:r>
            <a:r>
              <a:rPr lang="en-US" sz="2400" b="0" u="none" strike="noStrike" dirty="0">
                <a:solidFill>
                  <a:srgbClr val="000000"/>
                </a:solidFill>
                <a:effectLst/>
                <a:uFillTx/>
                <a:latin typeface="Consolas"/>
                <a:ea typeface="DejaVu Sans"/>
              </a:rPr>
              <a:t>, 	</a:t>
            </a:r>
            <a:r>
              <a:rPr lang="en-US" sz="2400" b="0" u="none" strike="noStrike" dirty="0">
                <a:solidFill>
                  <a:schemeClr val="accent1">
                    <a:lumMod val="75000"/>
                  </a:schemeClr>
                </a:solidFill>
                <a:effectLst/>
                <a:uFillTx/>
                <a:latin typeface="Consolas"/>
                <a:ea typeface="DejaVu Sans"/>
              </a:rPr>
              <a:t>values = '</a:t>
            </a:r>
            <a:r>
              <a:rPr lang="en-US" sz="2400" b="0" u="none" strike="noStrike" dirty="0" err="1">
                <a:solidFill>
                  <a:schemeClr val="accent1">
                    <a:lumMod val="75000"/>
                  </a:schemeClr>
                </a:solidFill>
                <a:effectLst/>
                <a:uFillTx/>
                <a:latin typeface="Consolas"/>
                <a:ea typeface="DejaVu Sans"/>
              </a:rPr>
              <a:t>response_time</a:t>
            </a:r>
            <a:r>
              <a:rPr lang="en-US" sz="2400" b="0" u="none" strike="noStrike" dirty="0">
                <a:solidFill>
                  <a:schemeClr val="accent1">
                    <a:lumMod val="75000"/>
                  </a:schemeClr>
                </a:solidFill>
                <a:effectLst/>
                <a:uFillTx/>
                <a:latin typeface="Consolas"/>
                <a:ea typeface="DejaVu Sans"/>
              </a:rPr>
              <a:t>', </a:t>
            </a:r>
            <a:r>
              <a:rPr lang="en-US" sz="2400" b="0" u="none" strike="noStrike" dirty="0" err="1">
                <a:solidFill>
                  <a:schemeClr val="accent1">
                    <a:lumMod val="75000"/>
                  </a:schemeClr>
                </a:solidFill>
                <a:effectLst/>
                <a:uFillTx/>
                <a:latin typeface="Consolas"/>
                <a:ea typeface="DejaVu Sans"/>
              </a:rPr>
              <a:t>aggfunc</a:t>
            </a:r>
            <a:r>
              <a:rPr lang="en-US" sz="2400" b="0" u="none" strike="noStrike" dirty="0">
                <a:solidFill>
                  <a:schemeClr val="accent1">
                    <a:lumMod val="75000"/>
                  </a:schemeClr>
                </a:solidFill>
                <a:effectLst/>
                <a:uFillTx/>
                <a:latin typeface="Consolas"/>
                <a:ea typeface="DejaVu Sans"/>
              </a:rPr>
              <a:t> = 'mean',</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pic>
        <p:nvPicPr>
          <p:cNvPr id="349" name="Picture 46"/>
          <p:cNvPicPr/>
          <p:nvPr/>
        </p:nvPicPr>
        <p:blipFill>
          <a:blip r:embed="rId3"/>
          <a:stretch/>
        </p:blipFill>
        <p:spPr>
          <a:xfrm>
            <a:off x="6966000" y="3065400"/>
            <a:ext cx="2371680" cy="2460600"/>
          </a:xfrm>
          <a:prstGeom prst="rect">
            <a:avLst/>
          </a:prstGeom>
          <a:noFill/>
          <a:ln w="0">
            <a:noFill/>
          </a:ln>
        </p:spPr>
      </p:pic>
      <p:sp>
        <p:nvSpPr>
          <p:cNvPr id="350" name="Right Arrow 6"/>
          <p:cNvSpPr/>
          <p:nvPr/>
        </p:nvSpPr>
        <p:spPr>
          <a:xfrm>
            <a:off x="5818320" y="386712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2" name="PlaceHolder 1">
            <a:extLst>
              <a:ext uri="{FF2B5EF4-FFF2-40B4-BE49-F238E27FC236}">
                <a16:creationId xmlns:a16="http://schemas.microsoft.com/office/drawing/2014/main" id="{53DF97E2-D020-E7DD-15A0-123A7F3ADCA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2">
            <a:extLst>
              <a:ext uri="{FF2B5EF4-FFF2-40B4-BE49-F238E27FC236}">
                <a16:creationId xmlns:a16="http://schemas.microsoft.com/office/drawing/2014/main" id="{5FBA17CE-A8B5-1268-F8CF-E4CC5B1E8EE5}"/>
              </a:ext>
            </a:extLst>
          </p:cNvPr>
          <p:cNvSpPr>
            <a:spLocks noGrp="1"/>
          </p:cNvSpPr>
          <p:nvPr>
            <p:ph type="ftr" idx="1"/>
          </p:nvPr>
        </p:nvSpPr>
        <p:spPr>
          <a:xfrm>
            <a:off x="4038480" y="6356520"/>
            <a:ext cx="4111560" cy="361800"/>
          </a:xfrm>
        </p:spPr>
        <p:txBody>
          <a:bodyPr/>
          <a:lstStyle/>
          <a:p>
            <a:r>
              <a:rPr lang="en-US"/>
              <a:t>Tab, v4.0</a:t>
            </a:r>
            <a:endParaRPr dirty="0"/>
          </a:p>
        </p:txBody>
      </p:sp>
      <p:sp>
        <p:nvSpPr>
          <p:cNvPr id="7" name="PlaceHolder 5">
            <a:extLst>
              <a:ext uri="{FF2B5EF4-FFF2-40B4-BE49-F238E27FC236}">
                <a16:creationId xmlns:a16="http://schemas.microsoft.com/office/drawing/2014/main" id="{D083CB3B-0E73-CD4A-EA2D-11FD4DF7313C}"/>
              </a:ext>
            </a:extLst>
          </p:cNvPr>
          <p:cNvSpPr>
            <a:spLocks noGrp="1"/>
          </p:cNvSpPr>
          <p:nvPr>
            <p:ph type="sldNum" idx="2"/>
          </p:nvPr>
        </p:nvSpPr>
        <p:spPr>
          <a:xfrm>
            <a:off x="8610480" y="6356520"/>
            <a:ext cx="2739960" cy="361800"/>
          </a:xfrm>
        </p:spPr>
        <p:txBody>
          <a:bodyPr/>
          <a:lstStyle/>
          <a:p>
            <a:fld id="{3E148585-ABA2-4DA4-835D-3B33A5959990}" type="slidenum">
              <a:rPr/>
              <a:t>29</a:t>
            </a:fld>
            <a:endParaRPr/>
          </a:p>
        </p:txBody>
      </p:sp>
      <p:sp>
        <p:nvSpPr>
          <p:cNvPr id="3" name="Date Placeholder 2">
            <a:extLst>
              <a:ext uri="{FF2B5EF4-FFF2-40B4-BE49-F238E27FC236}">
                <a16:creationId xmlns:a16="http://schemas.microsoft.com/office/drawing/2014/main" id="{A311259F-B598-0CAC-D5EC-23AB2DCB80A2}"/>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body"/>
          </p:nvPr>
        </p:nvSpPr>
        <p:spPr>
          <a:xfrm>
            <a:off x="609480" y="1604520"/>
            <a:ext cx="5486520" cy="3976920"/>
          </a:xfrm>
          <a:prstGeom prst="rect">
            <a:avLst/>
          </a:prstGeom>
          <a:noFill/>
          <a:ln w="0">
            <a:noFill/>
          </a:ln>
        </p:spPr>
        <p:txBody>
          <a:bodyPr lIns="90000" tIns="45000" rIns="90000" bIns="45000" anchor="t">
            <a:noAutofit/>
          </a:bodyPr>
          <a:lstStyle/>
          <a:p>
            <a:pPr marL="457200" indent="-457200">
              <a:spcBef>
                <a:spcPts val="1001"/>
              </a:spcBef>
              <a:buClr>
                <a:srgbClr val="000000"/>
              </a:buClr>
              <a:buFont typeface="Arial" panose="020B0604020202020204" pitchFamily="34" charset="0"/>
              <a:buChar char="•"/>
              <a:tabLst>
                <a:tab pos="0" algn="l"/>
              </a:tabLst>
            </a:pPr>
            <a:r>
              <a:rPr lang="en-GB" sz="2400" dirty="0">
                <a:solidFill>
                  <a:srgbClr val="000000"/>
                </a:solidFill>
                <a:latin typeface="Calibri" panose="020F0502020204030204" pitchFamily="34" charset="0"/>
                <a:cs typeface="Calibri" panose="020F0502020204030204" pitchFamily="34" charset="0"/>
              </a:rPr>
              <a:t>Pt1: Work with the dataset from the previous exercise </a:t>
            </a:r>
            <a:r>
              <a:rPr lang="en-GB" sz="2400" dirty="0">
                <a:solidFill>
                  <a:srgbClr val="000000"/>
                </a:solidFill>
                <a:latin typeface="Calibri" panose="020F0502020204030204" pitchFamily="34" charset="0"/>
                <a:ea typeface="DejaVu Sans"/>
                <a:cs typeface="Calibri" panose="020F0502020204030204" pitchFamily="34" charset="0"/>
              </a:rPr>
              <a:t>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I</a:t>
            </a:r>
            <a:r>
              <a:rPr lang="en-US" sz="2400" b="0" u="sng" strike="noStrike" dirty="0">
                <a:solidFill>
                  <a:srgbClr val="000000"/>
                </a:solidFill>
                <a:effectLst/>
                <a:uFillTx/>
                <a:latin typeface="Calibri" panose="020F0502020204030204" pitchFamily="34" charset="0"/>
                <a:ea typeface="DejaVu Sans"/>
                <a:cs typeface="Calibri" panose="020F0502020204030204" pitchFamily="34" charset="0"/>
              </a:rPr>
              <a:t>s</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 the mediterranean diet associated with less cardiovascular events?</a:t>
            </a:r>
          </a:p>
        </p:txBody>
      </p:sp>
      <p:sp>
        <p:nvSpPr>
          <p:cNvPr id="6" name="PlaceHolder 5"/>
          <p:cNvSpPr>
            <a:spLocks noGrp="1"/>
          </p:cNvSpPr>
          <p:nvPr>
            <p:ph type="sldNum" idx="2"/>
          </p:nvPr>
        </p:nvSpPr>
        <p:spPr/>
        <p:txBody>
          <a:bodyPr/>
          <a:lstStyle/>
          <a:p>
            <a:fld id="{3E148585-ABA2-4DA4-835D-3B33A5959990}" type="slidenum">
              <a:rPr/>
              <a:t>30</a:t>
            </a:fld>
            <a:endParaRPr/>
          </a:p>
        </p:txBody>
      </p:sp>
      <p:sp>
        <p:nvSpPr>
          <p:cNvPr id="357" name="PlaceHolder 3"/>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63B572B5-E351-267C-AAEC-8C3BA10CB17E}"/>
              </a:ext>
            </a:extLst>
          </p:cNvPr>
          <p:cNvGrpSpPr/>
          <p:nvPr/>
        </p:nvGrpSpPr>
        <p:grpSpPr>
          <a:xfrm>
            <a:off x="6542614" y="1461163"/>
            <a:ext cx="5054600" cy="1990139"/>
            <a:chOff x="5812078" y="489442"/>
            <a:chExt cx="4634630" cy="1537721"/>
          </a:xfrm>
        </p:grpSpPr>
        <p:sp>
          <p:nvSpPr>
            <p:cNvPr id="3" name="Rectangle 3">
              <a:extLst>
                <a:ext uri="{FF2B5EF4-FFF2-40B4-BE49-F238E27FC236}">
                  <a16:creationId xmlns:a16="http://schemas.microsoft.com/office/drawing/2014/main" id="{D0C8DE16-458E-DB1D-31D8-FBD9DB9C93F8}"/>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4" name="TextBox 79">
              <a:extLst>
                <a:ext uri="{FF2B5EF4-FFF2-40B4-BE49-F238E27FC236}">
                  <a16:creationId xmlns:a16="http://schemas.microsoft.com/office/drawing/2014/main" id="{02D1BFD0-A264-CFEC-E044-ECD8F91AB502}"/>
                </a:ext>
              </a:extLst>
            </p:cNvPr>
            <p:cNvSpPr/>
            <p:nvPr/>
          </p:nvSpPr>
          <p:spPr>
            <a:xfrm>
              <a:off x="5812078" y="636145"/>
              <a:ext cx="4634628" cy="30802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1: 15 minutes</a:t>
              </a:r>
              <a:endParaRPr lang="en-GB" sz="2000" b="0" u="none" strike="noStrike" dirty="0">
                <a:solidFill>
                  <a:srgbClr val="000000"/>
                </a:solidFill>
                <a:effectLst/>
                <a:uFillTx/>
                <a:latin typeface="Arial"/>
              </a:endParaRPr>
            </a:p>
          </p:txBody>
        </p:sp>
        <p:pic>
          <p:nvPicPr>
            <p:cNvPr id="7" name="Graphic 9">
              <a:extLst>
                <a:ext uri="{FF2B5EF4-FFF2-40B4-BE49-F238E27FC236}">
                  <a16:creationId xmlns:a16="http://schemas.microsoft.com/office/drawing/2014/main" id="{5B577435-DEAE-D704-A21E-56763C05CFA0}"/>
                </a:ext>
              </a:extLst>
            </p:cNvPr>
            <p:cNvPicPr/>
            <p:nvPr/>
          </p:nvPicPr>
          <p:blipFill>
            <a:blip r:embed="rId3"/>
            <a:stretch/>
          </p:blipFill>
          <p:spPr>
            <a:xfrm>
              <a:off x="6105134" y="958156"/>
              <a:ext cx="691200" cy="552240"/>
            </a:xfrm>
            <a:prstGeom prst="rect">
              <a:avLst/>
            </a:prstGeom>
            <a:noFill/>
            <a:ln w="0">
              <a:noFill/>
            </a:ln>
          </p:spPr>
        </p:pic>
        <p:sp>
          <p:nvSpPr>
            <p:cNvPr id="8" name="TextBox 80">
              <a:extLst>
                <a:ext uri="{FF2B5EF4-FFF2-40B4-BE49-F238E27FC236}">
                  <a16:creationId xmlns:a16="http://schemas.microsoft.com/office/drawing/2014/main" id="{5F29C437-44F3-14EE-0B19-5A46C0ABE738}"/>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/split_apply_combine_part1.ipynb</a:t>
              </a:r>
              <a:endParaRPr lang="en-GB" b="0" u="none" strike="noStrike" dirty="0">
                <a:solidFill>
                  <a:srgbClr val="000000"/>
                </a:solidFill>
                <a:effectLst/>
                <a:uFillTx/>
                <a:latin typeface="Arial"/>
              </a:endParaRPr>
            </a:p>
          </p:txBody>
        </p:sp>
      </p:grpSp>
      <p:sp>
        <p:nvSpPr>
          <p:cNvPr id="16" name="PlaceHolder 1">
            <a:extLst>
              <a:ext uri="{FF2B5EF4-FFF2-40B4-BE49-F238E27FC236}">
                <a16:creationId xmlns:a16="http://schemas.microsoft.com/office/drawing/2014/main" id="{4FFB7CD8-17A0-1AD0-B239-C5107D520FA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E59D2C86-5480-47F0-E962-1A799A053143}"/>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Date Placeholder 4">
            <a:extLst>
              <a:ext uri="{FF2B5EF4-FFF2-40B4-BE49-F238E27FC236}">
                <a16:creationId xmlns:a16="http://schemas.microsoft.com/office/drawing/2014/main" id="{240B8125-4FD7-072E-8A79-4F8F275266A0}"/>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FC9D2DA-A69A-CBEC-9FC5-636BA04219D4}"/>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Split-apply-combine operations and performance</a:t>
            </a:r>
          </a:p>
        </p:txBody>
      </p:sp>
      <p:sp>
        <p:nvSpPr>
          <p:cNvPr id="6" name="PlaceHolder 5"/>
          <p:cNvSpPr>
            <a:spLocks noGrp="1"/>
          </p:cNvSpPr>
          <p:nvPr>
            <p:ph type="sldNum" idx="2"/>
          </p:nvPr>
        </p:nvSpPr>
        <p:spPr/>
        <p:txBody>
          <a:bodyPr/>
          <a:lstStyle/>
          <a:p>
            <a:fld id="{4D37C06B-2B80-444E-91D9-E29CAECFF7F7}" type="slidenum">
              <a:rPr/>
              <a:t>31</a:t>
            </a:fld>
            <a:endParaRPr/>
          </a:p>
        </p:txBody>
      </p:sp>
      <p:sp>
        <p:nvSpPr>
          <p:cNvPr id="2" name="PlaceHolder 1">
            <a:extLst>
              <a:ext uri="{FF2B5EF4-FFF2-40B4-BE49-F238E27FC236}">
                <a16:creationId xmlns:a16="http://schemas.microsoft.com/office/drawing/2014/main" id="{68198F41-0F02-B5F2-9316-942CE4B3CD0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pic>
        <p:nvPicPr>
          <p:cNvPr id="21" name="Picture 20">
            <a:extLst>
              <a:ext uri="{FF2B5EF4-FFF2-40B4-BE49-F238E27FC236}">
                <a16:creationId xmlns:a16="http://schemas.microsoft.com/office/drawing/2014/main" id="{75BADF87-4242-2867-F2C2-03898FD1D1D0}"/>
              </a:ext>
            </a:extLst>
          </p:cNvPr>
          <p:cNvPicPr>
            <a:picLocks noChangeAspect="1"/>
          </p:cNvPicPr>
          <p:nvPr/>
        </p:nvPicPr>
        <p:blipFill>
          <a:blip r:embed="rId3"/>
          <a:stretch>
            <a:fillRect/>
          </a:stretch>
        </p:blipFill>
        <p:spPr>
          <a:xfrm>
            <a:off x="318533" y="1962150"/>
            <a:ext cx="3407815" cy="3578576"/>
          </a:xfrm>
          <a:prstGeom prst="rect">
            <a:avLst/>
          </a:prstGeom>
        </p:spPr>
      </p:pic>
      <p:sp>
        <p:nvSpPr>
          <p:cNvPr id="4" name="PlaceHolder 2">
            <a:extLst>
              <a:ext uri="{FF2B5EF4-FFF2-40B4-BE49-F238E27FC236}">
                <a16:creationId xmlns:a16="http://schemas.microsoft.com/office/drawing/2014/main" id="{3479E94B-C666-7554-1852-CCCF1DD6E6A5}"/>
              </a:ext>
            </a:extLst>
          </p:cNvPr>
          <p:cNvSpPr>
            <a:spLocks noGrp="1"/>
          </p:cNvSpPr>
          <p:nvPr>
            <p:ph type="ftr" idx="1"/>
          </p:nvPr>
        </p:nvSpPr>
        <p:spPr>
          <a:xfrm>
            <a:off x="4038480" y="6356520"/>
            <a:ext cx="4111560" cy="361800"/>
          </a:xfrm>
        </p:spPr>
        <p:txBody>
          <a:bodyPr/>
          <a:lstStyle/>
          <a:p>
            <a:r>
              <a:rPr lang="en-US"/>
              <a:t>Tab, v4.0</a:t>
            </a:r>
            <a:endParaRPr dirty="0"/>
          </a:p>
        </p:txBody>
      </p:sp>
      <p:sp>
        <p:nvSpPr>
          <p:cNvPr id="3" name="Date Placeholder 2">
            <a:extLst>
              <a:ext uri="{FF2B5EF4-FFF2-40B4-BE49-F238E27FC236}">
                <a16:creationId xmlns:a16="http://schemas.microsoft.com/office/drawing/2014/main" id="{7A3A2B0B-9738-3B70-F7A5-4DB0B041B742}"/>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275B6-9E78-58A9-2CA3-31B8D87F3243}"/>
            </a:ext>
          </a:extLst>
        </p:cNvPr>
        <p:cNvGrpSpPr/>
        <p:nvPr/>
      </p:nvGrpSpPr>
      <p:grpSpPr>
        <a:xfrm>
          <a:off x="0" y="0"/>
          <a:ext cx="0" cy="0"/>
          <a:chOff x="0" y="0"/>
          <a:chExt cx="0" cy="0"/>
        </a:xfrm>
      </p:grpSpPr>
      <p:sp>
        <p:nvSpPr>
          <p:cNvPr id="6" name="PlaceHolder 5">
            <a:extLst>
              <a:ext uri="{FF2B5EF4-FFF2-40B4-BE49-F238E27FC236}">
                <a16:creationId xmlns:a16="http://schemas.microsoft.com/office/drawing/2014/main" id="{DEE273D6-B4A3-BE11-A2BE-EA7D7E24208F}"/>
              </a:ext>
            </a:extLst>
          </p:cNvPr>
          <p:cNvSpPr>
            <a:spLocks noGrp="1"/>
          </p:cNvSpPr>
          <p:nvPr>
            <p:ph type="sldNum" idx="2"/>
          </p:nvPr>
        </p:nvSpPr>
        <p:spPr/>
        <p:txBody>
          <a:bodyPr/>
          <a:lstStyle/>
          <a:p>
            <a:fld id="{4D37C06B-2B80-444E-91D9-E29CAECFF7F7}" type="slidenum">
              <a:rPr/>
              <a:t>32</a:t>
            </a:fld>
            <a:endParaRPr/>
          </a:p>
        </p:txBody>
      </p:sp>
      <p:sp>
        <p:nvSpPr>
          <p:cNvPr id="2" name="PlaceHolder 1">
            <a:extLst>
              <a:ext uri="{FF2B5EF4-FFF2-40B4-BE49-F238E27FC236}">
                <a16:creationId xmlns:a16="http://schemas.microsoft.com/office/drawing/2014/main" id="{1F0C7A23-02CE-267B-BE6D-687FC2E1049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17" name="TextBox 68">
            <a:extLst>
              <a:ext uri="{FF2B5EF4-FFF2-40B4-BE49-F238E27FC236}">
                <a16:creationId xmlns:a16="http://schemas.microsoft.com/office/drawing/2014/main" id="{90F6E6EC-E893-446A-8C31-E4A7AE0F75D9}"/>
              </a:ext>
            </a:extLst>
          </p:cNvPr>
          <p:cNvSpPr/>
          <p:nvPr/>
        </p:nvSpPr>
        <p:spPr>
          <a:xfrm>
            <a:off x="4331632" y="1514134"/>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8" name="TextBox 69">
            <a:extLst>
              <a:ext uri="{FF2B5EF4-FFF2-40B4-BE49-F238E27FC236}">
                <a16:creationId xmlns:a16="http://schemas.microsoft.com/office/drawing/2014/main" id="{0B079563-EF39-7CEC-93E3-9FB63530D0D7}"/>
              </a:ext>
            </a:extLst>
          </p:cNvPr>
          <p:cNvSpPr/>
          <p:nvPr/>
        </p:nvSpPr>
        <p:spPr>
          <a:xfrm>
            <a:off x="4331632" y="3311495"/>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9" name="TextBox 70">
            <a:extLst>
              <a:ext uri="{FF2B5EF4-FFF2-40B4-BE49-F238E27FC236}">
                <a16:creationId xmlns:a16="http://schemas.microsoft.com/office/drawing/2014/main" id="{9AD215D6-F1B7-A6CA-D331-E382A86E16EB}"/>
              </a:ext>
            </a:extLst>
          </p:cNvPr>
          <p:cNvSpPr/>
          <p:nvPr/>
        </p:nvSpPr>
        <p:spPr>
          <a:xfrm>
            <a:off x="4331632" y="5108855"/>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21" name="Picture 20">
            <a:extLst>
              <a:ext uri="{FF2B5EF4-FFF2-40B4-BE49-F238E27FC236}">
                <a16:creationId xmlns:a16="http://schemas.microsoft.com/office/drawing/2014/main" id="{92F21F5B-B820-BE59-63A9-D2F5DCB0B26D}"/>
              </a:ext>
            </a:extLst>
          </p:cNvPr>
          <p:cNvPicPr>
            <a:picLocks noChangeAspect="1"/>
          </p:cNvPicPr>
          <p:nvPr/>
        </p:nvPicPr>
        <p:blipFill>
          <a:blip r:embed="rId3"/>
          <a:stretch>
            <a:fillRect/>
          </a:stretch>
        </p:blipFill>
        <p:spPr>
          <a:xfrm>
            <a:off x="318533" y="1962150"/>
            <a:ext cx="3407815" cy="3578576"/>
          </a:xfrm>
          <a:prstGeom prst="rect">
            <a:avLst/>
          </a:prstGeom>
        </p:spPr>
      </p:pic>
      <p:sp>
        <p:nvSpPr>
          <p:cNvPr id="22" name="TextBox 21">
            <a:extLst>
              <a:ext uri="{FF2B5EF4-FFF2-40B4-BE49-F238E27FC236}">
                <a16:creationId xmlns:a16="http://schemas.microsoft.com/office/drawing/2014/main" id="{C729CA7A-784D-F2CC-C571-BCF4D9DA0501}"/>
              </a:ext>
            </a:extLst>
          </p:cNvPr>
          <p:cNvSpPr txBox="1"/>
          <p:nvPr/>
        </p:nvSpPr>
        <p:spPr>
          <a:xfrm>
            <a:off x="4277781" y="2550587"/>
            <a:ext cx="197682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by diet group</a:t>
            </a:r>
          </a:p>
        </p:txBody>
      </p:sp>
      <p:sp>
        <p:nvSpPr>
          <p:cNvPr id="23" name="TextBox 22">
            <a:extLst>
              <a:ext uri="{FF2B5EF4-FFF2-40B4-BE49-F238E27FC236}">
                <a16:creationId xmlns:a16="http://schemas.microsoft.com/office/drawing/2014/main" id="{A1DF95CE-3AEA-B853-A19E-3822B85B146D}"/>
              </a:ext>
            </a:extLst>
          </p:cNvPr>
          <p:cNvSpPr txBox="1"/>
          <p:nvPr/>
        </p:nvSpPr>
        <p:spPr>
          <a:xfrm>
            <a:off x="3726348" y="4347948"/>
            <a:ext cx="307968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sum() of event counts</a:t>
            </a:r>
          </a:p>
        </p:txBody>
      </p:sp>
      <p:sp>
        <p:nvSpPr>
          <p:cNvPr id="3" name="TextBox 90">
            <a:extLst>
              <a:ext uri="{FF2B5EF4-FFF2-40B4-BE49-F238E27FC236}">
                <a16:creationId xmlns:a16="http://schemas.microsoft.com/office/drawing/2014/main" id="{96048B9F-80CE-5209-4F28-B000DC4DE05D}"/>
              </a:ext>
            </a:extLst>
          </p:cNvPr>
          <p:cNvSpPr/>
          <p:nvPr/>
        </p:nvSpPr>
        <p:spPr>
          <a:xfrm>
            <a:off x="318533" y="535117"/>
            <a:ext cx="1115784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800" dirty="0" err="1">
                <a:solidFill>
                  <a:srgbClr val="000000"/>
                </a:solidFill>
                <a:latin typeface="Consolas"/>
                <a:ea typeface="DejaVu Sans"/>
              </a:rPr>
              <a:t>df_patients</a:t>
            </a:r>
            <a:r>
              <a:rPr lang="en-CH" sz="2800" b="0" u="none" strike="noStrike">
                <a:solidFill>
                  <a:schemeClr val="accent2">
                    <a:lumMod val="75000"/>
                  </a:schemeClr>
                </a:solidFill>
                <a:effectLst/>
                <a:uFillTx/>
                <a:latin typeface="Consolas"/>
                <a:ea typeface="DejaVu Sans"/>
              </a:rPr>
              <a:t>.groupby(‘</a:t>
            </a:r>
            <a:r>
              <a:rPr lang="en-US" sz="2800" dirty="0">
                <a:solidFill>
                  <a:schemeClr val="accent2">
                    <a:lumMod val="75000"/>
                  </a:schemeClr>
                </a:solidFill>
                <a:latin typeface="Consolas"/>
                <a:ea typeface="DejaVu Sans"/>
              </a:rPr>
              <a:t>group</a:t>
            </a:r>
            <a:r>
              <a:rPr lang="en-CH" sz="2800" b="0" u="none" strike="noStrike">
                <a:solidFill>
                  <a:schemeClr val="accent2">
                    <a:lumMod val="75000"/>
                  </a:schemeClr>
                </a:solidFill>
                <a:effectLst/>
                <a:uFillTx/>
                <a:latin typeface="Consolas"/>
                <a:ea typeface="DejaVu Sans"/>
              </a:rPr>
              <a:t>’)</a:t>
            </a:r>
            <a:r>
              <a:rPr lang="en-CH" sz="2800" b="0" u="none" strike="noStrike">
                <a:solidFill>
                  <a:schemeClr val="accent1">
                    <a:lumMod val="75000"/>
                  </a:schemeClr>
                </a:solidFill>
                <a:effectLst/>
                <a:uFillTx/>
                <a:latin typeface="Consolas"/>
                <a:ea typeface="DejaVu Sans"/>
              </a:rPr>
              <a:t>[‘</a:t>
            </a:r>
            <a:r>
              <a:rPr lang="en-US" sz="2800" b="0" u="none" strike="noStrike" dirty="0" err="1">
                <a:solidFill>
                  <a:schemeClr val="accent1">
                    <a:lumMod val="75000"/>
                  </a:schemeClr>
                </a:solidFill>
                <a:effectLst/>
                <a:uFillTx/>
                <a:latin typeface="Consolas"/>
                <a:ea typeface="DejaVu Sans"/>
              </a:rPr>
              <a:t>event_int</a:t>
            </a:r>
            <a:r>
              <a:rPr lang="en-CH" sz="2800" b="0" u="none" strike="noStrike">
                <a:solidFill>
                  <a:schemeClr val="accent1">
                    <a:lumMod val="75000"/>
                  </a:schemeClr>
                </a:solidFill>
                <a:effectLst/>
                <a:uFillTx/>
                <a:latin typeface="Consolas"/>
                <a:ea typeface="DejaVu Sans"/>
              </a:rPr>
              <a:t>’].</a:t>
            </a:r>
            <a:r>
              <a:rPr lang="en-US" sz="2800" b="0" u="none" strike="noStrike" dirty="0">
                <a:solidFill>
                  <a:schemeClr val="accent1">
                    <a:lumMod val="75000"/>
                  </a:schemeClr>
                </a:solidFill>
                <a:effectLst/>
                <a:uFillTx/>
                <a:latin typeface="Consolas"/>
                <a:ea typeface="DejaVu Sans"/>
              </a:rPr>
              <a:t>sum</a:t>
            </a:r>
            <a:r>
              <a:rPr lang="en-CH" sz="2800" b="0" u="none" strike="noStrike">
                <a:solidFill>
                  <a:schemeClr val="accent1">
                    <a:lumMod val="75000"/>
                  </a:schemeClr>
                </a:solidFill>
                <a:effectLst/>
                <a:uFillTx/>
                <a:latin typeface="Consolas"/>
                <a:ea typeface="DejaVu Sans"/>
              </a:rPr>
              <a:t>()</a:t>
            </a:r>
            <a:endParaRPr lang="en-GB" sz="2800" b="0" u="none" strike="noStrike" dirty="0">
              <a:solidFill>
                <a:srgbClr val="000000"/>
              </a:solidFill>
              <a:effectLst/>
              <a:uFillTx/>
              <a:latin typeface="Arial"/>
            </a:endParaRPr>
          </a:p>
        </p:txBody>
      </p:sp>
      <p:sp>
        <p:nvSpPr>
          <p:cNvPr id="11" name="PlaceHolder 2">
            <a:extLst>
              <a:ext uri="{FF2B5EF4-FFF2-40B4-BE49-F238E27FC236}">
                <a16:creationId xmlns:a16="http://schemas.microsoft.com/office/drawing/2014/main" id="{EC1591EA-1806-DD8A-EDB7-B009B609A77E}"/>
              </a:ext>
            </a:extLst>
          </p:cNvPr>
          <p:cNvSpPr>
            <a:spLocks noGrp="1"/>
          </p:cNvSpPr>
          <p:nvPr>
            <p:ph type="ftr" idx="1"/>
          </p:nvPr>
        </p:nvSpPr>
        <p:spPr>
          <a:xfrm>
            <a:off x="4038480" y="6356520"/>
            <a:ext cx="4111560" cy="361800"/>
          </a:xfrm>
        </p:spPr>
        <p:txBody>
          <a:bodyPr/>
          <a:lstStyle/>
          <a:p>
            <a:r>
              <a:rPr lang="en-US"/>
              <a:t>Tab, v4.0</a:t>
            </a:r>
            <a:endParaRPr dirty="0"/>
          </a:p>
        </p:txBody>
      </p:sp>
      <p:sp>
        <p:nvSpPr>
          <p:cNvPr id="4" name="Date Placeholder 3">
            <a:extLst>
              <a:ext uri="{FF2B5EF4-FFF2-40B4-BE49-F238E27FC236}">
                <a16:creationId xmlns:a16="http://schemas.microsoft.com/office/drawing/2014/main" id="{39BD62D9-8C3B-DDF3-C2BC-AEFE509E53E7}"/>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40774557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A5701-F6A5-CCE0-9749-3C5657BA94E6}"/>
            </a:ext>
          </a:extLst>
        </p:cNvPr>
        <p:cNvGrpSpPr/>
        <p:nvPr/>
      </p:nvGrpSpPr>
      <p:grpSpPr>
        <a:xfrm>
          <a:off x="0" y="0"/>
          <a:ext cx="0" cy="0"/>
          <a:chOff x="0" y="0"/>
          <a:chExt cx="0" cy="0"/>
        </a:xfrm>
      </p:grpSpPr>
      <p:sp>
        <p:nvSpPr>
          <p:cNvPr id="352" name="PlaceHolder 1">
            <a:extLst>
              <a:ext uri="{FF2B5EF4-FFF2-40B4-BE49-F238E27FC236}">
                <a16:creationId xmlns:a16="http://schemas.microsoft.com/office/drawing/2014/main" id="{CEA77338-FAB8-EE94-89A9-E29D1BD43816}"/>
              </a:ext>
            </a:extLst>
          </p:cNvPr>
          <p:cNvSpPr>
            <a:spLocks noGrp="1"/>
          </p:cNvSpPr>
          <p:nvPr>
            <p:ph type="body"/>
          </p:nvPr>
        </p:nvSpPr>
        <p:spPr>
          <a:xfrm>
            <a:off x="609480" y="1438860"/>
            <a:ext cx="5486520" cy="4542453"/>
          </a:xfrm>
          <a:prstGeom prst="rect">
            <a:avLst/>
          </a:prstGeom>
          <a:noFill/>
          <a:ln w="0">
            <a:noFill/>
          </a:ln>
        </p:spPr>
        <p:txBody>
          <a:bodyPr lIns="90000" tIns="45000" rIns="90000" bIns="45000" anchor="t">
            <a:noAutofit/>
          </a:bodyPr>
          <a:lstStyle/>
          <a:p>
            <a:pPr marL="457200" indent="-457200">
              <a:spcBef>
                <a:spcPts val="1001"/>
              </a:spcBef>
              <a:buClr>
                <a:srgbClr val="000000"/>
              </a:buClr>
              <a:buFont typeface="Arial" panose="020B0604020202020204" pitchFamily="34" charset="0"/>
              <a:buChar char="•"/>
              <a:tabLst>
                <a:tab pos="0" algn="l"/>
              </a:tabLst>
            </a:pPr>
            <a:r>
              <a:rPr lang="en-GB" sz="2400" dirty="0">
                <a:solidFill>
                  <a:srgbClr val="000000"/>
                </a:solidFill>
                <a:latin typeface="Calibri" panose="020F0502020204030204" pitchFamily="34" charset="0"/>
                <a:cs typeface="Calibri" panose="020F0502020204030204" pitchFamily="34" charset="0"/>
              </a:rPr>
              <a:t>Pt1: Work with the dataset from the previous exercise </a:t>
            </a:r>
            <a:r>
              <a:rPr lang="en-GB" sz="2400" dirty="0">
                <a:solidFill>
                  <a:srgbClr val="000000"/>
                </a:solidFill>
                <a:latin typeface="Calibri" panose="020F0502020204030204" pitchFamily="34" charset="0"/>
                <a:ea typeface="DejaVu Sans"/>
                <a:cs typeface="Calibri" panose="020F0502020204030204" pitchFamily="34" charset="0"/>
              </a:rPr>
              <a:t>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I</a:t>
            </a:r>
            <a:r>
              <a:rPr lang="en-US" sz="2400" b="0" u="sng" strike="noStrike" dirty="0">
                <a:solidFill>
                  <a:srgbClr val="000000"/>
                </a:solidFill>
                <a:effectLst/>
                <a:uFillTx/>
                <a:latin typeface="Calibri" panose="020F0502020204030204" pitchFamily="34" charset="0"/>
                <a:ea typeface="DejaVu Sans"/>
                <a:cs typeface="Calibri" panose="020F0502020204030204" pitchFamily="34" charset="0"/>
              </a:rPr>
              <a:t>s</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 the mediterranean diet associated with less cardiovascular events?</a:t>
            </a:r>
          </a:p>
          <a:p>
            <a:pPr>
              <a:lnSpc>
                <a:spcPct val="90000"/>
              </a:lnSpc>
              <a:spcBef>
                <a:spcPts val="1001"/>
              </a:spcBef>
              <a:buClr>
                <a:srgbClr val="000000"/>
              </a:buClr>
              <a:tabLst>
                <a:tab pos="0" algn="l"/>
              </a:tabLst>
            </a:pPr>
            <a:endParaRPr lang="en-GB" sz="2400" dirty="0">
              <a:solidFill>
                <a:srgbClr val="000000"/>
              </a:solidFill>
              <a:latin typeface="Calibri" panose="020F0502020204030204" pitchFamily="34" charset="0"/>
              <a:ea typeface="DejaVu Sans"/>
              <a:cs typeface="Calibri" panose="020F0502020204030204" pitchFamily="34" charset="0"/>
            </a:endParaRPr>
          </a:p>
          <a:p>
            <a:pPr marL="457200" indent="-457200">
              <a:spcBef>
                <a:spcPts val="1001"/>
              </a:spcBef>
              <a:buClr>
                <a:srgbClr val="000000"/>
              </a:buClr>
              <a:buFont typeface="Arial" panose="020B0604020202020204" pitchFamily="34" charset="0"/>
              <a:buChar char="•"/>
              <a:tabLst>
                <a:tab pos="0" algn="l"/>
              </a:tabLst>
            </a:pP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Pt2: Work with the </a:t>
            </a:r>
            <a:r>
              <a:rPr lang="en-GB" sz="2400" dirty="0" err="1">
                <a:solidFill>
                  <a:srgbClr val="000000"/>
                </a:solidFill>
                <a:latin typeface="Courier New" panose="02070309020205020404" pitchFamily="49" charset="0"/>
                <a:cs typeface="Courier New" panose="02070309020205020404" pitchFamily="49" charset="0"/>
              </a:rPr>
              <a:t>predimed_smokers.csv</a:t>
            </a:r>
            <a:r>
              <a:rPr lang="en-GB" sz="1600" dirty="0">
                <a:solidFill>
                  <a:srgbClr val="000000"/>
                </a:solidFill>
                <a:latin typeface="Courier New" panose="02070309020205020404" pitchFamily="49" charset="0"/>
                <a:cs typeface="Courier New" panose="02070309020205020404" pitchFamily="49" charset="0"/>
              </a:rPr>
              <a:t> </a:t>
            </a:r>
            <a:br>
              <a:rPr lang="en-GB" sz="3200" dirty="0">
                <a:solidFill>
                  <a:srgbClr val="000000"/>
                </a:solidFill>
                <a:latin typeface="Calibri" panose="020F0502020204030204" pitchFamily="34" charset="0"/>
                <a:cs typeface="Calibri" panose="020F0502020204030204" pitchFamily="34" charset="0"/>
              </a:rPr>
            </a:b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dataset 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What is the mean age per diet group?</a:t>
            </a:r>
          </a:p>
        </p:txBody>
      </p:sp>
      <p:sp>
        <p:nvSpPr>
          <p:cNvPr id="6" name="PlaceHolder 5">
            <a:extLst>
              <a:ext uri="{FF2B5EF4-FFF2-40B4-BE49-F238E27FC236}">
                <a16:creationId xmlns:a16="http://schemas.microsoft.com/office/drawing/2014/main" id="{633231D1-2CDC-863A-338F-BA6A43D7E8EA}"/>
              </a:ext>
            </a:extLst>
          </p:cNvPr>
          <p:cNvSpPr>
            <a:spLocks noGrp="1"/>
          </p:cNvSpPr>
          <p:nvPr>
            <p:ph type="sldNum" idx="2"/>
          </p:nvPr>
        </p:nvSpPr>
        <p:spPr/>
        <p:txBody>
          <a:bodyPr/>
          <a:lstStyle/>
          <a:p>
            <a:fld id="{3E148585-ABA2-4DA4-835D-3B33A5959990}" type="slidenum">
              <a:rPr/>
              <a:t>33</a:t>
            </a:fld>
            <a:endParaRPr/>
          </a:p>
        </p:txBody>
      </p:sp>
      <p:sp>
        <p:nvSpPr>
          <p:cNvPr id="357" name="PlaceHolder 3">
            <a:extLst>
              <a:ext uri="{FF2B5EF4-FFF2-40B4-BE49-F238E27FC236}">
                <a16:creationId xmlns:a16="http://schemas.microsoft.com/office/drawing/2014/main" id="{E75F3507-70FA-6089-3885-0D22500D451C}"/>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DF136624-075F-740D-9D13-4EC5B3147B44}"/>
              </a:ext>
            </a:extLst>
          </p:cNvPr>
          <p:cNvGrpSpPr/>
          <p:nvPr/>
        </p:nvGrpSpPr>
        <p:grpSpPr>
          <a:xfrm>
            <a:off x="6542614" y="1438861"/>
            <a:ext cx="5054600" cy="1990139"/>
            <a:chOff x="5812078" y="489442"/>
            <a:chExt cx="4634630" cy="1537721"/>
          </a:xfrm>
        </p:grpSpPr>
        <p:sp>
          <p:nvSpPr>
            <p:cNvPr id="3" name="Rectangle 3">
              <a:extLst>
                <a:ext uri="{FF2B5EF4-FFF2-40B4-BE49-F238E27FC236}">
                  <a16:creationId xmlns:a16="http://schemas.microsoft.com/office/drawing/2014/main" id="{FB394DB4-0A49-30FA-4AC7-641D954E6A18}"/>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4" name="TextBox 79">
              <a:extLst>
                <a:ext uri="{FF2B5EF4-FFF2-40B4-BE49-F238E27FC236}">
                  <a16:creationId xmlns:a16="http://schemas.microsoft.com/office/drawing/2014/main" id="{B387B98A-2164-3930-F082-E1A5DBE6ED2B}"/>
                </a:ext>
              </a:extLst>
            </p:cNvPr>
            <p:cNvSpPr/>
            <p:nvPr/>
          </p:nvSpPr>
          <p:spPr>
            <a:xfrm>
              <a:off x="5812078" y="636145"/>
              <a:ext cx="4634628" cy="30802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1: 15 minutes</a:t>
              </a:r>
              <a:endParaRPr lang="en-GB" sz="2000" b="0" u="none" strike="noStrike" dirty="0">
                <a:solidFill>
                  <a:srgbClr val="000000"/>
                </a:solidFill>
                <a:effectLst/>
                <a:uFillTx/>
                <a:latin typeface="Arial"/>
              </a:endParaRPr>
            </a:p>
          </p:txBody>
        </p:sp>
        <p:pic>
          <p:nvPicPr>
            <p:cNvPr id="7" name="Graphic 9">
              <a:extLst>
                <a:ext uri="{FF2B5EF4-FFF2-40B4-BE49-F238E27FC236}">
                  <a16:creationId xmlns:a16="http://schemas.microsoft.com/office/drawing/2014/main" id="{D34A4644-3899-BE4C-527B-3EB9ABB5CC5C}"/>
                </a:ext>
              </a:extLst>
            </p:cNvPr>
            <p:cNvPicPr/>
            <p:nvPr/>
          </p:nvPicPr>
          <p:blipFill>
            <a:blip r:embed="rId2"/>
            <a:stretch/>
          </p:blipFill>
          <p:spPr>
            <a:xfrm>
              <a:off x="6105134" y="958156"/>
              <a:ext cx="691200" cy="552240"/>
            </a:xfrm>
            <a:prstGeom prst="rect">
              <a:avLst/>
            </a:prstGeom>
            <a:noFill/>
            <a:ln w="0">
              <a:noFill/>
            </a:ln>
          </p:spPr>
        </p:pic>
        <p:sp>
          <p:nvSpPr>
            <p:cNvPr id="8" name="TextBox 80">
              <a:extLst>
                <a:ext uri="{FF2B5EF4-FFF2-40B4-BE49-F238E27FC236}">
                  <a16:creationId xmlns:a16="http://schemas.microsoft.com/office/drawing/2014/main" id="{D8C680F8-5D3D-F88B-5972-888743195B95}"/>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/split_apply_combine_part1.ipynb</a:t>
              </a:r>
              <a:endParaRPr lang="en-GB" b="0" u="none" strike="noStrike" dirty="0">
                <a:solidFill>
                  <a:srgbClr val="000000"/>
                </a:solidFill>
                <a:effectLst/>
                <a:uFillTx/>
                <a:latin typeface="Arial"/>
              </a:endParaRPr>
            </a:p>
          </p:txBody>
        </p:sp>
      </p:grpSp>
      <p:grpSp>
        <p:nvGrpSpPr>
          <p:cNvPr id="10" name="Group 9">
            <a:extLst>
              <a:ext uri="{FF2B5EF4-FFF2-40B4-BE49-F238E27FC236}">
                <a16:creationId xmlns:a16="http://schemas.microsoft.com/office/drawing/2014/main" id="{04091A0F-3EE9-2485-27EC-153930EB10A6}"/>
              </a:ext>
            </a:extLst>
          </p:cNvPr>
          <p:cNvGrpSpPr/>
          <p:nvPr/>
        </p:nvGrpSpPr>
        <p:grpSpPr>
          <a:xfrm>
            <a:off x="6542614" y="4053365"/>
            <a:ext cx="5054601" cy="1927949"/>
            <a:chOff x="5812077" y="489442"/>
            <a:chExt cx="4634631" cy="1537721"/>
          </a:xfrm>
        </p:grpSpPr>
        <p:sp>
          <p:nvSpPr>
            <p:cNvPr id="11" name="Rectangle 3">
              <a:extLst>
                <a:ext uri="{FF2B5EF4-FFF2-40B4-BE49-F238E27FC236}">
                  <a16:creationId xmlns:a16="http://schemas.microsoft.com/office/drawing/2014/main" id="{E22FBDA5-E2C7-C827-9396-AB0D49BCD903}"/>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12" name="TextBox 79">
              <a:extLst>
                <a:ext uri="{FF2B5EF4-FFF2-40B4-BE49-F238E27FC236}">
                  <a16:creationId xmlns:a16="http://schemas.microsoft.com/office/drawing/2014/main" id="{8A50B08D-934D-6B01-F6F8-3C1B91293150}"/>
                </a:ext>
              </a:extLst>
            </p:cNvPr>
            <p:cNvSpPr/>
            <p:nvPr/>
          </p:nvSpPr>
          <p:spPr>
            <a:xfrm>
              <a:off x="5812077" y="636145"/>
              <a:ext cx="4634629" cy="31796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2: 7 minutes</a:t>
              </a:r>
              <a:endParaRPr lang="en-GB" sz="2000" b="0" u="none" strike="noStrike" dirty="0">
                <a:solidFill>
                  <a:srgbClr val="000000"/>
                </a:solidFill>
                <a:effectLst/>
                <a:uFillTx/>
                <a:latin typeface="Arial"/>
              </a:endParaRPr>
            </a:p>
          </p:txBody>
        </p:sp>
        <p:pic>
          <p:nvPicPr>
            <p:cNvPr id="13" name="Graphic 9">
              <a:extLst>
                <a:ext uri="{FF2B5EF4-FFF2-40B4-BE49-F238E27FC236}">
                  <a16:creationId xmlns:a16="http://schemas.microsoft.com/office/drawing/2014/main" id="{834BA98A-6D45-CA65-881B-21C630A4733F}"/>
                </a:ext>
              </a:extLst>
            </p:cNvPr>
            <p:cNvPicPr/>
            <p:nvPr/>
          </p:nvPicPr>
          <p:blipFill>
            <a:blip r:embed="rId2"/>
            <a:stretch/>
          </p:blipFill>
          <p:spPr>
            <a:xfrm>
              <a:off x="6107863" y="958156"/>
              <a:ext cx="691200" cy="552240"/>
            </a:xfrm>
            <a:prstGeom prst="rect">
              <a:avLst/>
            </a:prstGeom>
            <a:noFill/>
            <a:ln w="0">
              <a:noFill/>
            </a:ln>
          </p:spPr>
        </p:pic>
        <p:sp>
          <p:nvSpPr>
            <p:cNvPr id="14" name="TextBox 80">
              <a:extLst>
                <a:ext uri="{FF2B5EF4-FFF2-40B4-BE49-F238E27FC236}">
                  <a16:creationId xmlns:a16="http://schemas.microsoft.com/office/drawing/2014/main" id="{101774A1-1418-1894-71EE-BDC499A18C55}"/>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/split_apply_combine_part2.ipynb</a:t>
              </a:r>
            </a:p>
          </p:txBody>
        </p:sp>
      </p:grpSp>
      <p:sp>
        <p:nvSpPr>
          <p:cNvPr id="9" name="PlaceHolder 1">
            <a:extLst>
              <a:ext uri="{FF2B5EF4-FFF2-40B4-BE49-F238E27FC236}">
                <a16:creationId xmlns:a16="http://schemas.microsoft.com/office/drawing/2014/main" id="{63870C26-0EAC-6E3C-EF63-E911F16149C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19" name="PlaceHolder 2">
            <a:extLst>
              <a:ext uri="{FF2B5EF4-FFF2-40B4-BE49-F238E27FC236}">
                <a16:creationId xmlns:a16="http://schemas.microsoft.com/office/drawing/2014/main" id="{B17B70D3-32AF-39E7-148B-E738EF824FED}"/>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Date Placeholder 4">
            <a:extLst>
              <a:ext uri="{FF2B5EF4-FFF2-40B4-BE49-F238E27FC236}">
                <a16:creationId xmlns:a16="http://schemas.microsoft.com/office/drawing/2014/main" id="{08F55B5A-6FCC-B886-E19E-E7833C7C0439}"/>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15718885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A4751-327C-56EE-41B6-04DB030EBEF2}"/>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182AC840-DA12-C660-E722-9A5F4984D05F}"/>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6005EC16-FB13-F548-DE55-FA5E4548C93D}"/>
              </a:ext>
            </a:extLst>
          </p:cNvPr>
          <p:cNvPicPr/>
          <p:nvPr/>
        </p:nvPicPr>
        <p:blipFill>
          <a:blip r:embed="rId2"/>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2E4D2624-7AE5-982D-3CDB-4290D21E8E09}"/>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28A21321-DEDB-0C4E-E108-36A008B53F6D}"/>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EA101F29-8EB6-1A58-765F-29EB1BD87ED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71CB225D-4633-9275-3DF2-7C040A1EC63B}"/>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PlaceHolder 5">
            <a:extLst>
              <a:ext uri="{FF2B5EF4-FFF2-40B4-BE49-F238E27FC236}">
                <a16:creationId xmlns:a16="http://schemas.microsoft.com/office/drawing/2014/main" id="{ECB4F4B9-08F6-2D6B-0FC7-D2415BDBFE5E}"/>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34</a:t>
            </a:fld>
            <a:endParaRPr>
              <a:latin typeface="Calibri" panose="020F0502020204030204" pitchFamily="34" charset="0"/>
              <a:cs typeface="Calibri" panose="020F0502020204030204" pitchFamily="34" charset="0"/>
            </a:endParaRPr>
          </a:p>
        </p:txBody>
      </p:sp>
      <p:sp>
        <p:nvSpPr>
          <p:cNvPr id="2" name="Date Placeholder 1">
            <a:extLst>
              <a:ext uri="{FF2B5EF4-FFF2-40B4-BE49-F238E27FC236}">
                <a16:creationId xmlns:a16="http://schemas.microsoft.com/office/drawing/2014/main" id="{CB41EA59-974A-94CC-6910-6BD9C15A7B18}"/>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3324745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51FD4-B850-3654-E57F-3BDAF4DDE692}"/>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CC300945-909D-D05E-196B-C49069FA8AF0}"/>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DA59F425-8B87-7C21-6192-F821F190C022}"/>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204C69F5-02A7-C5E9-626A-3F010035F6C0}"/>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F189D5B6-ABD3-2FF9-9A91-F742C6553F7A}"/>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D68C043D-1C81-5C80-8576-0AB0F364639B}"/>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4660E031-3576-DF2F-919B-948AA3BCFBD6}"/>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9244275E-264B-9B39-4266-CC62D6EC9737}"/>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E1285ADA-9F20-0B5B-AB93-15267C6B111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50EEC1A9-98B8-0D6E-C217-7BD4495BA737}"/>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PlaceHolder 5">
            <a:extLst>
              <a:ext uri="{FF2B5EF4-FFF2-40B4-BE49-F238E27FC236}">
                <a16:creationId xmlns:a16="http://schemas.microsoft.com/office/drawing/2014/main" id="{03829C98-2E0A-4F98-2928-93E31F794B1A}"/>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35</a:t>
            </a:fld>
            <a:endParaRPr>
              <a:latin typeface="Calibri" panose="020F0502020204030204" pitchFamily="34" charset="0"/>
              <a:cs typeface="Calibri" panose="020F0502020204030204" pitchFamily="34" charset="0"/>
            </a:endParaRPr>
          </a:p>
        </p:txBody>
      </p:sp>
      <p:sp>
        <p:nvSpPr>
          <p:cNvPr id="2" name="Date Placeholder 1">
            <a:extLst>
              <a:ext uri="{FF2B5EF4-FFF2-40B4-BE49-F238E27FC236}">
                <a16:creationId xmlns:a16="http://schemas.microsoft.com/office/drawing/2014/main" id="{4C08D152-02AF-5F5F-034C-EA59CEB609FB}"/>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40770702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E1176-E904-D02B-13C9-70D02B38B82A}"/>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EC948250-665C-CCE8-26A2-1E4B8927D0FE}"/>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9042F78E-1493-9EA7-35CA-61492BEA365C}"/>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2BE56438-7D1E-E2BE-9496-E8A85CAF0332}"/>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010CAF62-A02F-FC08-FE5F-DC5B79A3BA3A}"/>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77871108-4162-EFF7-DD14-264953C3AA3B}"/>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96EC0567-3C03-395E-552C-7A056BC887B9}"/>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197849D1-B05C-298E-E0D5-37F22D587BE9}"/>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3EDC664B-E066-E1E9-BA70-5B958AE9C1C7}"/>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A2EC170A-EC47-196D-725C-A607FE688EFF}"/>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58820215-DFC1-9CA1-3E9D-84FB20D6111C}"/>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3" name="PlaceHolder 1">
            <a:extLst>
              <a:ext uri="{FF2B5EF4-FFF2-40B4-BE49-F238E27FC236}">
                <a16:creationId xmlns:a16="http://schemas.microsoft.com/office/drawing/2014/main" id="{7181A3F6-EDC7-74C8-C4BE-F65FC7C32BE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97685348-7084-B7C1-2484-6BB1CE9EC21B}"/>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PlaceHolder 5">
            <a:extLst>
              <a:ext uri="{FF2B5EF4-FFF2-40B4-BE49-F238E27FC236}">
                <a16:creationId xmlns:a16="http://schemas.microsoft.com/office/drawing/2014/main" id="{FC286CBE-BCCA-2745-DC4A-065FBC57CEA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36</a:t>
            </a:fld>
            <a:endParaRPr>
              <a:latin typeface="Calibri" panose="020F0502020204030204" pitchFamily="34" charset="0"/>
              <a:cs typeface="Calibri" panose="020F0502020204030204" pitchFamily="34" charset="0"/>
            </a:endParaRPr>
          </a:p>
        </p:txBody>
      </p:sp>
      <p:sp>
        <p:nvSpPr>
          <p:cNvPr id="2" name="Date Placeholder 1">
            <a:extLst>
              <a:ext uri="{FF2B5EF4-FFF2-40B4-BE49-F238E27FC236}">
                <a16:creationId xmlns:a16="http://schemas.microsoft.com/office/drawing/2014/main" id="{21D3D238-5533-66B2-050B-9C2730668816}"/>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21527823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2965E-D8BA-2180-49A4-608B5FA7E6B7}"/>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435792D1-A2C9-C0DD-44DF-D45D7BA27BA7}"/>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BAC429BB-6E1C-54E1-0632-98F85C8F6B13}"/>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7AC300D4-B3FF-112F-2D66-7004C0075925}"/>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4B5F9CDF-A90D-318C-43D2-6E90A1067F9F}"/>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34201322-C61C-64B9-2E8D-FD678DDFBE55}"/>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18D08ADC-1B74-D976-EC4B-48F51A8F6E92}"/>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2239875B-5A1F-3E45-9D1C-DB28F539ED70}"/>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4" name="Picture 14">
            <a:extLst>
              <a:ext uri="{FF2B5EF4-FFF2-40B4-BE49-F238E27FC236}">
                <a16:creationId xmlns:a16="http://schemas.microsoft.com/office/drawing/2014/main" id="{BFCA35AA-B6C5-64FC-8093-6A7BE15C0624}"/>
              </a:ext>
            </a:extLst>
          </p:cNvPr>
          <p:cNvPicPr/>
          <p:nvPr/>
        </p:nvPicPr>
        <p:blipFill>
          <a:blip r:embed="rId4"/>
          <a:stretch/>
        </p:blipFill>
        <p:spPr>
          <a:xfrm>
            <a:off x="9230040" y="4264574"/>
            <a:ext cx="2230920" cy="2170440"/>
          </a:xfrm>
          <a:prstGeom prst="rect">
            <a:avLst/>
          </a:prstGeom>
          <a:noFill/>
          <a:ln w="0">
            <a:noFill/>
          </a:ln>
        </p:spPr>
      </p:pic>
      <p:sp>
        <p:nvSpPr>
          <p:cNvPr id="405" name="TextBox 15">
            <a:extLst>
              <a:ext uri="{FF2B5EF4-FFF2-40B4-BE49-F238E27FC236}">
                <a16:creationId xmlns:a16="http://schemas.microsoft.com/office/drawing/2014/main" id="{98C628D8-B267-1B88-0D93-0555FFC8CD35}"/>
              </a:ext>
            </a:extLst>
          </p:cNvPr>
          <p:cNvSpPr/>
          <p:nvPr/>
        </p:nvSpPr>
        <p:spPr>
          <a:xfrm>
            <a:off x="9227880" y="3073694"/>
            <a:ext cx="190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Multiple variables are stored in one column</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6" name="TextBox 16">
            <a:extLst>
              <a:ext uri="{FF2B5EF4-FFF2-40B4-BE49-F238E27FC236}">
                <a16:creationId xmlns:a16="http://schemas.microsoft.com/office/drawing/2014/main" id="{FDBE715D-9D1B-6E8B-DDF9-DFDA2D399F45}"/>
              </a:ext>
            </a:extLst>
          </p:cNvPr>
          <p:cNvSpPr/>
          <p:nvPr/>
        </p:nvSpPr>
        <p:spPr>
          <a:xfrm>
            <a:off x="11044800" y="324253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1BC1A672-45B3-E605-0BFF-3EC40F6AD34D}"/>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29325EE3-B18A-2751-6BF9-FA8A5861C34B}"/>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073401A9-4F46-E312-223F-0362655D6B7B}"/>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3" name="PlaceHolder 1">
            <a:extLst>
              <a:ext uri="{FF2B5EF4-FFF2-40B4-BE49-F238E27FC236}">
                <a16:creationId xmlns:a16="http://schemas.microsoft.com/office/drawing/2014/main" id="{F624F29A-E9CA-1F86-E8B7-A691C979471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4" name="PlaceHolder 2">
            <a:extLst>
              <a:ext uri="{FF2B5EF4-FFF2-40B4-BE49-F238E27FC236}">
                <a16:creationId xmlns:a16="http://schemas.microsoft.com/office/drawing/2014/main" id="{C6CA7756-4201-3BF0-3D1D-43015BCAB851}"/>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PlaceHolder 5">
            <a:extLst>
              <a:ext uri="{FF2B5EF4-FFF2-40B4-BE49-F238E27FC236}">
                <a16:creationId xmlns:a16="http://schemas.microsoft.com/office/drawing/2014/main" id="{E35DEE80-B165-A0B5-4E6E-73A3833ABE3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37</a:t>
            </a:fld>
            <a:endParaRPr>
              <a:latin typeface="Calibri" panose="020F0502020204030204" pitchFamily="34" charset="0"/>
              <a:cs typeface="Calibri" panose="020F0502020204030204" pitchFamily="34" charset="0"/>
            </a:endParaRPr>
          </a:p>
        </p:txBody>
      </p:sp>
      <p:sp>
        <p:nvSpPr>
          <p:cNvPr id="2" name="Date Placeholder 1">
            <a:extLst>
              <a:ext uri="{FF2B5EF4-FFF2-40B4-BE49-F238E27FC236}">
                <a16:creationId xmlns:a16="http://schemas.microsoft.com/office/drawing/2014/main" id="{A1FC4ACF-6105-27F7-FFD1-6BC3AFEE2BB6}"/>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3437335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D7C3C-0D7B-6BCB-766A-B0BB43942E27}"/>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6D37F24A-71B4-1A41-B58D-E2E44C8C1749}"/>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355F7B3E-2F40-2074-F404-FDE9A094E335}"/>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58819842-CA7D-C151-F6F4-5516B062D518}"/>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C7436E83-767D-5159-3EDE-B658FAEF0863}"/>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9B45D161-0E84-64B8-C387-179204B34289}"/>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7405BD98-158D-63D2-2D8A-C11A657A29B1}"/>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B7D238C4-8F8A-7192-2CFE-A99079CBBE2F}"/>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4" name="Picture 14">
            <a:extLst>
              <a:ext uri="{FF2B5EF4-FFF2-40B4-BE49-F238E27FC236}">
                <a16:creationId xmlns:a16="http://schemas.microsoft.com/office/drawing/2014/main" id="{CCD5E4BA-BE57-B9DA-1023-4C1FCFFA472C}"/>
              </a:ext>
            </a:extLst>
          </p:cNvPr>
          <p:cNvPicPr/>
          <p:nvPr/>
        </p:nvPicPr>
        <p:blipFill>
          <a:blip r:embed="rId4"/>
          <a:stretch/>
        </p:blipFill>
        <p:spPr>
          <a:xfrm>
            <a:off x="9230040" y="4264574"/>
            <a:ext cx="2230920" cy="2170440"/>
          </a:xfrm>
          <a:prstGeom prst="rect">
            <a:avLst/>
          </a:prstGeom>
          <a:noFill/>
          <a:ln w="0">
            <a:noFill/>
          </a:ln>
        </p:spPr>
      </p:pic>
      <p:sp>
        <p:nvSpPr>
          <p:cNvPr id="405" name="TextBox 15">
            <a:extLst>
              <a:ext uri="{FF2B5EF4-FFF2-40B4-BE49-F238E27FC236}">
                <a16:creationId xmlns:a16="http://schemas.microsoft.com/office/drawing/2014/main" id="{760FE2AD-93A6-1C07-E00C-36CD5254D1F6}"/>
              </a:ext>
            </a:extLst>
          </p:cNvPr>
          <p:cNvSpPr/>
          <p:nvPr/>
        </p:nvSpPr>
        <p:spPr>
          <a:xfrm>
            <a:off x="9227880" y="3073694"/>
            <a:ext cx="190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Multiple variables are stored in one column</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6" name="TextBox 16">
            <a:extLst>
              <a:ext uri="{FF2B5EF4-FFF2-40B4-BE49-F238E27FC236}">
                <a16:creationId xmlns:a16="http://schemas.microsoft.com/office/drawing/2014/main" id="{8D7837D4-736D-F52A-6D4C-928DF9DB356A}"/>
              </a:ext>
            </a:extLst>
          </p:cNvPr>
          <p:cNvSpPr/>
          <p:nvPr/>
        </p:nvSpPr>
        <p:spPr>
          <a:xfrm>
            <a:off x="11044800" y="324253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97DDB512-1703-35A2-55D7-8FBC887749C6}"/>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6604B1B4-6D03-42E4-EF3B-0B44159A579E}"/>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A6A20065-C5E3-50EF-621B-25A764431E68}"/>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2" name="TextBox 6">
            <a:extLst>
              <a:ext uri="{FF2B5EF4-FFF2-40B4-BE49-F238E27FC236}">
                <a16:creationId xmlns:a16="http://schemas.microsoft.com/office/drawing/2014/main" id="{1915C82D-E9EB-9A65-0EA7-46DBF0A9C448}"/>
              </a:ext>
            </a:extLst>
          </p:cNvPr>
          <p:cNvSpPr/>
          <p:nvPr/>
        </p:nvSpPr>
        <p:spPr>
          <a:xfrm>
            <a:off x="7094045" y="348735"/>
            <a:ext cx="4414075" cy="1198875"/>
          </a:xfrm>
          <a:prstGeom prst="rect">
            <a:avLst/>
          </a:prstGeom>
          <a:solidFill>
            <a:srgbClr val="F20000">
              <a:alpha val="9000"/>
            </a:srgb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i="1" u="none" strike="noStrike" dirty="0">
                <a:solidFill>
                  <a:srgbClr val="000000"/>
                </a:solidFill>
                <a:effectLst/>
                <a:uFillTx/>
                <a:latin typeface="Baskerville"/>
                <a:ea typeface="Baskerville"/>
              </a:rPr>
              <a:t>“Tidy datasets are all alike but every messy dataset is messy in its own way” </a:t>
            </a:r>
            <a:br>
              <a:rPr sz="2400" dirty="0"/>
            </a:br>
            <a:r>
              <a:rPr lang="en-US" sz="2400" b="0" i="1" u="none" strike="noStrike" dirty="0">
                <a:solidFill>
                  <a:srgbClr val="000000"/>
                </a:solidFill>
                <a:effectLst/>
                <a:uFillTx/>
                <a:latin typeface="Baskerville"/>
                <a:ea typeface="Baskerville"/>
              </a:rPr>
              <a:t>– Hadley Wickham</a:t>
            </a:r>
            <a:endParaRPr lang="en-GB" sz="2400" b="0" u="none" strike="noStrike" dirty="0">
              <a:solidFill>
                <a:srgbClr val="FFFFFF"/>
              </a:solidFill>
              <a:effectLst/>
              <a:uFillTx/>
              <a:latin typeface="Arial"/>
            </a:endParaRPr>
          </a:p>
        </p:txBody>
      </p:sp>
      <p:sp>
        <p:nvSpPr>
          <p:cNvPr id="4" name="PlaceHolder 1">
            <a:extLst>
              <a:ext uri="{FF2B5EF4-FFF2-40B4-BE49-F238E27FC236}">
                <a16:creationId xmlns:a16="http://schemas.microsoft.com/office/drawing/2014/main" id="{170F05B4-0692-6536-81E4-BEBFBB9AFD46}"/>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5" name="PlaceHolder 2">
            <a:extLst>
              <a:ext uri="{FF2B5EF4-FFF2-40B4-BE49-F238E27FC236}">
                <a16:creationId xmlns:a16="http://schemas.microsoft.com/office/drawing/2014/main" id="{CD0F2179-CA15-D2CE-3C18-AEDA438368DB}"/>
              </a:ext>
            </a:extLst>
          </p:cNvPr>
          <p:cNvSpPr>
            <a:spLocks noGrp="1"/>
          </p:cNvSpPr>
          <p:nvPr>
            <p:ph type="ftr" idx="1"/>
          </p:nvPr>
        </p:nvSpPr>
        <p:spPr>
          <a:xfrm>
            <a:off x="4038480" y="6356520"/>
            <a:ext cx="4111560" cy="361800"/>
          </a:xfrm>
        </p:spPr>
        <p:txBody>
          <a:bodyPr/>
          <a:lstStyle/>
          <a:p>
            <a:r>
              <a:rPr lang="en-US"/>
              <a:t>Tab, v4.0</a:t>
            </a:r>
            <a:endParaRPr dirty="0"/>
          </a:p>
        </p:txBody>
      </p:sp>
      <p:sp>
        <p:nvSpPr>
          <p:cNvPr id="6" name="PlaceHolder 5">
            <a:extLst>
              <a:ext uri="{FF2B5EF4-FFF2-40B4-BE49-F238E27FC236}">
                <a16:creationId xmlns:a16="http://schemas.microsoft.com/office/drawing/2014/main" id="{268805C0-3757-EF00-FFB3-907452B7DC86}"/>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38</a:t>
            </a:fld>
            <a:endParaRPr>
              <a:latin typeface="Calibri" panose="020F0502020204030204" pitchFamily="34" charset="0"/>
              <a:cs typeface="Calibri" panose="020F0502020204030204" pitchFamily="34" charset="0"/>
            </a:endParaRPr>
          </a:p>
        </p:txBody>
      </p:sp>
      <p:sp>
        <p:nvSpPr>
          <p:cNvPr id="3" name="Date Placeholder 2">
            <a:extLst>
              <a:ext uri="{FF2B5EF4-FFF2-40B4-BE49-F238E27FC236}">
                <a16:creationId xmlns:a16="http://schemas.microsoft.com/office/drawing/2014/main" id="{90665BEF-5F35-C147-CBB4-6F22D22F4BCF}"/>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6194169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609480" y="2972198"/>
            <a:ext cx="10972080" cy="1144440"/>
          </a:xfrm>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panose="020F0502020204030204" pitchFamily="34" charset="0"/>
                <a:ea typeface="DejaVu Sans"/>
                <a:cs typeface="Calibri" panose="020F0502020204030204" pitchFamily="34" charset="0"/>
              </a:rPr>
              <a:t>Tidy Data</a:t>
            </a:r>
            <a:endParaRPr lang="en-GB" sz="5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F307070E-13F0-B712-36A9-DCC9233DD6C8}"/>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4" name="PlaceHolder 2">
            <a:extLst>
              <a:ext uri="{FF2B5EF4-FFF2-40B4-BE49-F238E27FC236}">
                <a16:creationId xmlns:a16="http://schemas.microsoft.com/office/drawing/2014/main" id="{648A94A3-56CA-BB42-AB9E-81CB70224E66}"/>
              </a:ext>
            </a:extLst>
          </p:cNvPr>
          <p:cNvSpPr>
            <a:spLocks noGrp="1"/>
          </p:cNvSpPr>
          <p:nvPr>
            <p:ph type="ftr" idx="1"/>
          </p:nvPr>
        </p:nvSpPr>
        <p:spPr>
          <a:xfrm>
            <a:off x="4038480" y="6345369"/>
            <a:ext cx="4111560" cy="361800"/>
          </a:xfrm>
        </p:spPr>
        <p:txBody>
          <a:bodyPr/>
          <a:lstStyle/>
          <a:p>
            <a:r>
              <a:rPr lang="en-US"/>
              <a:t>Tab, v4.0</a:t>
            </a:r>
            <a:endParaRPr dirty="0"/>
          </a:p>
        </p:txBody>
      </p:sp>
      <p:sp>
        <p:nvSpPr>
          <p:cNvPr id="5" name="PlaceHolder 5">
            <a:extLst>
              <a:ext uri="{FF2B5EF4-FFF2-40B4-BE49-F238E27FC236}">
                <a16:creationId xmlns:a16="http://schemas.microsoft.com/office/drawing/2014/main" id="{CF3873C0-14A3-1104-4238-0E9593AB4300}"/>
              </a:ext>
            </a:extLst>
          </p:cNvPr>
          <p:cNvSpPr>
            <a:spLocks noGrp="1"/>
          </p:cNvSpPr>
          <p:nvPr>
            <p:ph type="sldNum" idx="2"/>
          </p:nvPr>
        </p:nvSpPr>
        <p:spPr>
          <a:xfrm>
            <a:off x="8610480" y="6345369"/>
            <a:ext cx="2739960" cy="361800"/>
          </a:xfrm>
        </p:spPr>
        <p:txBody>
          <a:bodyPr/>
          <a:lstStyle/>
          <a:p>
            <a:fld id="{D35AB332-6AEC-41D2-9046-0A10834BBC65}" type="slidenum">
              <a:rPr>
                <a:latin typeface="Calibri" panose="020F0502020204030204" pitchFamily="34" charset="0"/>
                <a:cs typeface="Calibri" panose="020F0502020204030204" pitchFamily="34" charset="0"/>
              </a:rPr>
              <a:t>39</a:t>
            </a:fld>
            <a:endParaRPr>
              <a:latin typeface="Calibri" panose="020F0502020204030204" pitchFamily="34" charset="0"/>
              <a:cs typeface="Calibri" panose="020F0502020204030204" pitchFamily="34" charset="0"/>
            </a:endParaRPr>
          </a:p>
        </p:txBody>
      </p:sp>
      <p:sp>
        <p:nvSpPr>
          <p:cNvPr id="3" name="Date Placeholder 2">
            <a:extLst>
              <a:ext uri="{FF2B5EF4-FFF2-40B4-BE49-F238E27FC236}">
                <a16:creationId xmlns:a16="http://schemas.microsoft.com/office/drawing/2014/main" id="{E92F0DBE-FC80-0276-A6D5-B4BCA5882057}"/>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Tidy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graphicFrame>
        <p:nvGraphicFramePr>
          <p:cNvPr id="376" name="Table 8"/>
          <p:cNvGraphicFramePr/>
          <p:nvPr>
            <p:extLst>
              <p:ext uri="{D42A27DB-BD31-4B8C-83A1-F6EECF244321}">
                <p14:modId xmlns:p14="http://schemas.microsoft.com/office/powerpoint/2010/main" val="3554017942"/>
              </p:ext>
            </p:extLst>
          </p:nvPr>
        </p:nvGraphicFramePr>
        <p:xfrm>
          <a:off x="2905200" y="2988000"/>
          <a:ext cx="6795510" cy="1752480"/>
        </p:xfrm>
        <a:graphic>
          <a:graphicData uri="http://schemas.openxmlformats.org/drawingml/2006/table">
            <a:tbl>
              <a:tblPr/>
              <a:tblGrid>
                <a:gridCol w="1357989">
                  <a:extLst>
                    <a:ext uri="{9D8B030D-6E8A-4147-A177-3AD203B41FA5}">
                      <a16:colId xmlns:a16="http://schemas.microsoft.com/office/drawing/2014/main" val="20000"/>
                    </a:ext>
                  </a:extLst>
                </a:gridCol>
                <a:gridCol w="1425893">
                  <a:extLst>
                    <a:ext uri="{9D8B030D-6E8A-4147-A177-3AD203B41FA5}">
                      <a16:colId xmlns:a16="http://schemas.microsoft.com/office/drawing/2014/main" val="20001"/>
                    </a:ext>
                  </a:extLst>
                </a:gridCol>
                <a:gridCol w="1056005">
                  <a:extLst>
                    <a:ext uri="{9D8B030D-6E8A-4147-A177-3AD203B41FA5}">
                      <a16:colId xmlns:a16="http://schemas.microsoft.com/office/drawing/2014/main" val="20002"/>
                    </a:ext>
                  </a:extLst>
                </a:gridCol>
                <a:gridCol w="1278107">
                  <a:extLst>
                    <a:ext uri="{9D8B030D-6E8A-4147-A177-3AD203B41FA5}">
                      <a16:colId xmlns:a16="http://schemas.microsoft.com/office/drawing/2014/main" val="20003"/>
                    </a:ext>
                  </a:extLst>
                </a:gridCol>
                <a:gridCol w="1677516">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rgbClr val="000000"/>
                          </a:solidFill>
                          <a:effectLst/>
                          <a:uFillTx/>
                          <a:latin typeface="Calibri"/>
                          <a:ea typeface="DejaVu Sans"/>
                        </a:rPr>
                        <a:t>Subject ID </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Condition ID</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US" sz="1800" b="1" u="none" strike="noStrike" dirty="0">
                          <a:solidFill>
                            <a:srgbClr val="000000"/>
                          </a:solidFill>
                          <a:effectLst/>
                          <a:uFillTx/>
                          <a:latin typeface="Calibri"/>
                        </a:rPr>
                        <a:t>Date</a:t>
                      </a:r>
                      <a:endParaRPr lang="en-GB" sz="1800" b="0" u="none" strike="noStrike" dirty="0">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Response time (ms)</a:t>
                      </a:r>
                      <a:endParaRPr lang="en-GB" sz="1800" b="0" u="none" strike="noStrike" dirty="0">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Response</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665</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3"/>
                  </a:ext>
                </a:extLst>
              </a:tr>
            </a:tbl>
          </a:graphicData>
        </a:graphic>
      </p:graphicFrame>
      <p:sp>
        <p:nvSpPr>
          <p:cNvPr id="377" name="TextBox 10"/>
          <p:cNvSpPr/>
          <p:nvPr/>
        </p:nvSpPr>
        <p:spPr>
          <a:xfrm>
            <a:off x="2764080" y="2329560"/>
            <a:ext cx="639972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1" u="none" strike="noStrike">
                <a:solidFill>
                  <a:schemeClr val="accent6"/>
                </a:solidFill>
                <a:effectLst/>
                <a:uFillTx/>
                <a:latin typeface="Calibri" panose="020F0502020204030204" pitchFamily="34" charset="0"/>
                <a:ea typeface="DejaVu Sans"/>
                <a:cs typeface="Calibri" panose="020F0502020204030204" pitchFamily="34" charset="0"/>
              </a:rPr>
              <a:t>Variables (or features, attributes)</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78" name="TextBox 11"/>
          <p:cNvSpPr/>
          <p:nvPr/>
        </p:nvSpPr>
        <p:spPr>
          <a:xfrm rot="16200000">
            <a:off x="708480" y="3466574"/>
            <a:ext cx="2372040" cy="95265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1" u="none" strike="noStrike">
                <a:solidFill>
                  <a:schemeClr val="accent5"/>
                </a:solidFill>
                <a:effectLst/>
                <a:uFillTx/>
                <a:latin typeface="Calibri" panose="020F0502020204030204" pitchFamily="34" charset="0"/>
                <a:ea typeface="DejaVu Sans"/>
                <a:cs typeface="Calibri" panose="020F0502020204030204" pitchFamily="34" charset="0"/>
              </a:rPr>
              <a:t>Observations (or samples)</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79" name="TextBox 12"/>
          <p:cNvSpPr/>
          <p:nvPr/>
        </p:nvSpPr>
        <p:spPr>
          <a:xfrm>
            <a:off x="3885677" y="397840"/>
            <a:ext cx="6549480" cy="1568206"/>
          </a:xfrm>
          <a:custGeom>
            <a:avLst/>
            <a:gdLst>
              <a:gd name="textAreaLeft" fmla="*/ 0 w 6549480"/>
              <a:gd name="textAreaRight" fmla="*/ 6552720 w 6549480"/>
              <a:gd name="textAreaTop" fmla="*/ 0 h 1915920"/>
              <a:gd name="textAreaBottom" fmla="*/ 1919160 h 1915920"/>
            </a:gdLst>
            <a:ahLst/>
            <a:cxnLst/>
            <a:rect l="textAreaLeft" t="textAreaTop" r="textAreaRight" b="textAreaBottom"/>
            <a:pathLst>
              <a:path w="6552728" h="1569660" fill="none">
                <a:moveTo>
                  <a:pt x="0" y="0"/>
                </a:moveTo>
                <a:cubicBezTo>
                  <a:pt x="166419" y="-423"/>
                  <a:pt x="359212" y="-15014"/>
                  <a:pt x="524218" y="0"/>
                </a:cubicBezTo>
                <a:cubicBezTo>
                  <a:pt x="689224" y="15014"/>
                  <a:pt x="788676" y="-4207"/>
                  <a:pt x="1048436" y="0"/>
                </a:cubicBezTo>
                <a:cubicBezTo>
                  <a:pt x="1308196" y="4207"/>
                  <a:pt x="1291664" y="14801"/>
                  <a:pt x="1507127" y="0"/>
                </a:cubicBezTo>
                <a:cubicBezTo>
                  <a:pt x="1722590" y="-14801"/>
                  <a:pt x="1966041" y="7224"/>
                  <a:pt x="2293455" y="0"/>
                </a:cubicBezTo>
                <a:cubicBezTo>
                  <a:pt x="2620869" y="-7224"/>
                  <a:pt x="2527916" y="10517"/>
                  <a:pt x="2752146" y="0"/>
                </a:cubicBezTo>
                <a:cubicBezTo>
                  <a:pt x="2976376" y="-10517"/>
                  <a:pt x="3162926" y="28823"/>
                  <a:pt x="3472946" y="0"/>
                </a:cubicBezTo>
                <a:cubicBezTo>
                  <a:pt x="3782966" y="-28823"/>
                  <a:pt x="3740348" y="15487"/>
                  <a:pt x="3931637" y="0"/>
                </a:cubicBezTo>
                <a:cubicBezTo>
                  <a:pt x="4122926" y="-15487"/>
                  <a:pt x="4292237" y="-19151"/>
                  <a:pt x="4652437" y="0"/>
                </a:cubicBezTo>
                <a:cubicBezTo>
                  <a:pt x="5012637" y="19151"/>
                  <a:pt x="5176641" y="-9385"/>
                  <a:pt x="5307710" y="0"/>
                </a:cubicBezTo>
                <a:cubicBezTo>
                  <a:pt x="5438779" y="9385"/>
                  <a:pt x="5635367" y="24036"/>
                  <a:pt x="5831928" y="0"/>
                </a:cubicBezTo>
                <a:cubicBezTo>
                  <a:pt x="6028489" y="-24036"/>
                  <a:pt x="6315045" y="-1572"/>
                  <a:pt x="6552728" y="0"/>
                </a:cubicBezTo>
                <a:cubicBezTo>
                  <a:pt x="6578896" y="167135"/>
                  <a:pt x="6545030" y="433517"/>
                  <a:pt x="6552728" y="554613"/>
                </a:cubicBezTo>
                <a:cubicBezTo>
                  <a:pt x="6560426" y="675709"/>
                  <a:pt x="6558548" y="796698"/>
                  <a:pt x="6552728" y="1030743"/>
                </a:cubicBezTo>
                <a:cubicBezTo>
                  <a:pt x="6546909" y="1264788"/>
                  <a:pt x="6548253" y="1346613"/>
                  <a:pt x="6552728" y="1569660"/>
                </a:cubicBezTo>
                <a:cubicBezTo>
                  <a:pt x="6306048" y="1578089"/>
                  <a:pt x="6257480" y="1588739"/>
                  <a:pt x="6028510" y="1569660"/>
                </a:cubicBezTo>
                <a:cubicBezTo>
                  <a:pt x="5799540" y="1550581"/>
                  <a:pt x="5750000" y="1549130"/>
                  <a:pt x="5569819" y="1569660"/>
                </a:cubicBezTo>
                <a:cubicBezTo>
                  <a:pt x="5389638" y="1590190"/>
                  <a:pt x="5109329" y="1543701"/>
                  <a:pt x="4849019" y="1569660"/>
                </a:cubicBezTo>
                <a:cubicBezTo>
                  <a:pt x="4588709" y="1595619"/>
                  <a:pt x="4435227" y="1569163"/>
                  <a:pt x="4259273" y="1569660"/>
                </a:cubicBezTo>
                <a:cubicBezTo>
                  <a:pt x="4083319" y="1570157"/>
                  <a:pt x="3776601" y="1572099"/>
                  <a:pt x="3538473" y="1569660"/>
                </a:cubicBezTo>
                <a:cubicBezTo>
                  <a:pt x="3300345" y="1567221"/>
                  <a:pt x="3220535" y="1563996"/>
                  <a:pt x="3014255" y="1569660"/>
                </a:cubicBezTo>
                <a:cubicBezTo>
                  <a:pt x="2807975" y="1575324"/>
                  <a:pt x="2680474" y="1586876"/>
                  <a:pt x="2555564" y="1569660"/>
                </a:cubicBezTo>
                <a:cubicBezTo>
                  <a:pt x="2430654" y="1552444"/>
                  <a:pt x="1981924" y="1555011"/>
                  <a:pt x="1834764" y="1569660"/>
                </a:cubicBezTo>
                <a:cubicBezTo>
                  <a:pt x="1687604" y="1584309"/>
                  <a:pt x="1504110" y="1589358"/>
                  <a:pt x="1179491" y="1569660"/>
                </a:cubicBezTo>
                <a:cubicBezTo>
                  <a:pt x="854872" y="1549962"/>
                  <a:pt x="497714" y="1555029"/>
                  <a:pt x="0" y="1569660"/>
                </a:cubicBezTo>
                <a:cubicBezTo>
                  <a:pt x="-16176" y="1418876"/>
                  <a:pt x="23450" y="1211321"/>
                  <a:pt x="0" y="1046440"/>
                </a:cubicBezTo>
                <a:cubicBezTo>
                  <a:pt x="-23450" y="881559"/>
                  <a:pt x="-10584" y="681472"/>
                  <a:pt x="0" y="523220"/>
                </a:cubicBezTo>
                <a:cubicBezTo>
                  <a:pt x="10584" y="364968"/>
                  <a:pt x="8015" y="138700"/>
                  <a:pt x="0" y="0"/>
                </a:cubicBezTo>
                <a:close/>
              </a:path>
              <a:path w="6552728" h="1569660" stroke="0">
                <a:moveTo>
                  <a:pt x="0" y="0"/>
                </a:moveTo>
                <a:cubicBezTo>
                  <a:pt x="237273" y="21323"/>
                  <a:pt x="373062" y="16468"/>
                  <a:pt x="655273" y="0"/>
                </a:cubicBezTo>
                <a:cubicBezTo>
                  <a:pt x="937484" y="-16468"/>
                  <a:pt x="1225304" y="39289"/>
                  <a:pt x="1441600" y="0"/>
                </a:cubicBezTo>
                <a:cubicBezTo>
                  <a:pt x="1657896" y="-39289"/>
                  <a:pt x="1832535" y="-1542"/>
                  <a:pt x="2162400" y="0"/>
                </a:cubicBezTo>
                <a:cubicBezTo>
                  <a:pt x="2492265" y="1542"/>
                  <a:pt x="2728296" y="17429"/>
                  <a:pt x="2883200" y="0"/>
                </a:cubicBezTo>
                <a:cubicBezTo>
                  <a:pt x="3038104" y="-17429"/>
                  <a:pt x="3204829" y="7231"/>
                  <a:pt x="3472946" y="0"/>
                </a:cubicBezTo>
                <a:cubicBezTo>
                  <a:pt x="3741063" y="-7231"/>
                  <a:pt x="3807774" y="-16854"/>
                  <a:pt x="4062691" y="0"/>
                </a:cubicBezTo>
                <a:cubicBezTo>
                  <a:pt x="4317608" y="16854"/>
                  <a:pt x="4387418" y="-764"/>
                  <a:pt x="4521382" y="0"/>
                </a:cubicBezTo>
                <a:cubicBezTo>
                  <a:pt x="4655346" y="764"/>
                  <a:pt x="5016904" y="5362"/>
                  <a:pt x="5242182" y="0"/>
                </a:cubicBezTo>
                <a:cubicBezTo>
                  <a:pt x="5467460" y="-5362"/>
                  <a:pt x="5478829" y="3331"/>
                  <a:pt x="5700873" y="0"/>
                </a:cubicBezTo>
                <a:cubicBezTo>
                  <a:pt x="5922917" y="-3331"/>
                  <a:pt x="6214951" y="-10856"/>
                  <a:pt x="6552728" y="0"/>
                </a:cubicBezTo>
                <a:cubicBezTo>
                  <a:pt x="6548587" y="175294"/>
                  <a:pt x="6536344" y="339906"/>
                  <a:pt x="6552728" y="554613"/>
                </a:cubicBezTo>
                <a:cubicBezTo>
                  <a:pt x="6569112" y="769320"/>
                  <a:pt x="6539640" y="886963"/>
                  <a:pt x="6552728" y="1093530"/>
                </a:cubicBezTo>
                <a:cubicBezTo>
                  <a:pt x="6565816" y="1300097"/>
                  <a:pt x="6544049" y="1466238"/>
                  <a:pt x="6552728" y="1569660"/>
                </a:cubicBezTo>
                <a:cubicBezTo>
                  <a:pt x="6206451" y="1573109"/>
                  <a:pt x="6114152" y="1560077"/>
                  <a:pt x="5766401" y="1569660"/>
                </a:cubicBezTo>
                <a:cubicBezTo>
                  <a:pt x="5418650" y="1579243"/>
                  <a:pt x="5424681" y="1583451"/>
                  <a:pt x="5176655" y="1569660"/>
                </a:cubicBezTo>
                <a:cubicBezTo>
                  <a:pt x="4928629" y="1555869"/>
                  <a:pt x="4667278" y="1597241"/>
                  <a:pt x="4521382" y="1569660"/>
                </a:cubicBezTo>
                <a:cubicBezTo>
                  <a:pt x="4375486" y="1542079"/>
                  <a:pt x="4101707" y="1581799"/>
                  <a:pt x="3931637" y="1569660"/>
                </a:cubicBezTo>
                <a:cubicBezTo>
                  <a:pt x="3761568" y="1557521"/>
                  <a:pt x="3579898" y="1585538"/>
                  <a:pt x="3472946" y="1569660"/>
                </a:cubicBezTo>
                <a:cubicBezTo>
                  <a:pt x="3365994" y="1553782"/>
                  <a:pt x="3009255" y="1569223"/>
                  <a:pt x="2817673" y="1569660"/>
                </a:cubicBezTo>
                <a:cubicBezTo>
                  <a:pt x="2626091" y="1570097"/>
                  <a:pt x="2440158" y="1559255"/>
                  <a:pt x="2227928" y="1569660"/>
                </a:cubicBezTo>
                <a:cubicBezTo>
                  <a:pt x="2015699" y="1580065"/>
                  <a:pt x="1923066" y="1581389"/>
                  <a:pt x="1703709" y="1569660"/>
                </a:cubicBezTo>
                <a:cubicBezTo>
                  <a:pt x="1484352" y="1557931"/>
                  <a:pt x="1166821" y="1567437"/>
                  <a:pt x="982909" y="1569660"/>
                </a:cubicBezTo>
                <a:cubicBezTo>
                  <a:pt x="798997" y="1571883"/>
                  <a:pt x="248179" y="1599336"/>
                  <a:pt x="0" y="1569660"/>
                </a:cubicBezTo>
                <a:cubicBezTo>
                  <a:pt x="-3033" y="1415200"/>
                  <a:pt x="21133" y="1186207"/>
                  <a:pt x="0" y="1062137"/>
                </a:cubicBezTo>
                <a:cubicBezTo>
                  <a:pt x="-21133" y="938067"/>
                  <a:pt x="11829" y="822262"/>
                  <a:pt x="0" y="586006"/>
                </a:cubicBezTo>
                <a:cubicBezTo>
                  <a:pt x="-11829" y="349750"/>
                  <a:pt x="16853" y="271378"/>
                  <a:pt x="0" y="0"/>
                </a:cubicBezTo>
                <a:close/>
              </a:path>
            </a:pathLst>
          </a:custGeom>
          <a:solidFill>
            <a:schemeClr val="bg1">
              <a:lumMod val="95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In tidy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1. Each variable forms a column</a:t>
            </a:r>
            <a:br>
              <a:rPr sz="2400" dirty="0">
                <a:latin typeface="Calibri" panose="020F0502020204030204" pitchFamily="34" charset="0"/>
                <a:cs typeface="Calibri" panose="020F0502020204030204" pitchFamily="34" charset="0"/>
              </a:rPr>
            </a:b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2. Each observation forms a row</a:t>
            </a:r>
            <a:br>
              <a:rPr sz="2400" dirty="0">
                <a:latin typeface="Calibri" panose="020F0502020204030204" pitchFamily="34" charset="0"/>
                <a:cs typeface="Calibri" panose="020F0502020204030204" pitchFamily="34" charset="0"/>
              </a:rPr>
            </a:b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3. Each type of observational unit forms a table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0" name="TextBox 13"/>
          <p:cNvSpPr/>
          <p:nvPr/>
        </p:nvSpPr>
        <p:spPr>
          <a:xfrm>
            <a:off x="1050120" y="5146560"/>
            <a:ext cx="29347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1" u="none" strike="noStrike">
                <a:solidFill>
                  <a:schemeClr val="accent5">
                    <a:lumMod val="75000"/>
                  </a:schemeClr>
                </a:solidFill>
                <a:effectLst/>
                <a:uFillTx/>
                <a:latin typeface="Calibri" panose="020F0502020204030204" pitchFamily="34" charset="0"/>
                <a:ea typeface="DejaVu Sans"/>
                <a:cs typeface="Calibri" panose="020F0502020204030204" pitchFamily="34" charset="0"/>
              </a:rPr>
              <a:t>Observations</a:t>
            </a: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 increase when new units (dates, subjects, …) are measured</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1" name="TextBox 9"/>
          <p:cNvSpPr/>
          <p:nvPr/>
        </p:nvSpPr>
        <p:spPr>
          <a:xfrm>
            <a:off x="9799080" y="2271438"/>
            <a:ext cx="2392920" cy="119887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1" u="none" strike="noStrike">
                <a:solidFill>
                  <a:schemeClr val="accent6"/>
                </a:solidFill>
                <a:effectLst/>
                <a:uFillTx/>
                <a:latin typeface="Calibri" panose="020F0502020204030204" pitchFamily="34" charset="0"/>
                <a:ea typeface="DejaVu Sans"/>
                <a:cs typeface="Calibri" panose="020F0502020204030204" pitchFamily="34" charset="0"/>
              </a:rPr>
              <a:t>Variables</a:t>
            </a: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 increase when new types of measurements are introduced</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02D21888-C3EB-FA03-EB34-41F35D40DCA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B30AE83F-1F82-D1B9-C2CE-3833FE8497A2}"/>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PlaceHolder 5">
            <a:extLst>
              <a:ext uri="{FF2B5EF4-FFF2-40B4-BE49-F238E27FC236}">
                <a16:creationId xmlns:a16="http://schemas.microsoft.com/office/drawing/2014/main" id="{6D21D231-B68E-D792-C877-6F7936C6539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40</a:t>
            </a:fld>
            <a:endParaRPr dirty="0">
              <a:latin typeface="Calibri" panose="020F0502020204030204" pitchFamily="34" charset="0"/>
              <a:cs typeface="Calibri" panose="020F0502020204030204" pitchFamily="34" charset="0"/>
            </a:endParaRPr>
          </a:p>
        </p:txBody>
      </p:sp>
      <p:sp>
        <p:nvSpPr>
          <p:cNvPr id="3" name="Date Placeholder 2">
            <a:extLst>
              <a:ext uri="{FF2B5EF4-FFF2-40B4-BE49-F238E27FC236}">
                <a16:creationId xmlns:a16="http://schemas.microsoft.com/office/drawing/2014/main" id="{685669E1-B851-2A15-05F1-6E2583F38F70}"/>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609480" y="273600"/>
            <a:ext cx="10972080" cy="1508040"/>
          </a:xfrm>
          <a:prstGeom prst="rect">
            <a:avLst/>
          </a:prstGeom>
          <a:noFill/>
          <a:ln w="0">
            <a:noFill/>
          </a:ln>
        </p:spPr>
        <p:txBody>
          <a:bodyPr lIns="0" tIns="0" rIns="0" bIns="0" anchor="ctr">
            <a:normAutofit fontScale="90000"/>
          </a:bodyPr>
          <a:lstStyle/>
          <a:p>
            <a:pPr indent="0">
              <a:lnSpc>
                <a:spcPct val="90000"/>
              </a:lnSpc>
              <a:buNone/>
              <a:tabLst>
                <a:tab pos="0" algn="l"/>
              </a:tabLst>
            </a:pPr>
            <a:r>
              <a:rPr lang="en-US" dirty="0">
                <a:solidFill>
                  <a:srgbClr val="000000"/>
                </a:solidFill>
                <a:latin typeface="Calibri" panose="020F0502020204030204" pitchFamily="34" charset="0"/>
                <a:ea typeface="DejaVu Sans"/>
                <a:cs typeface="Calibri" panose="020F0502020204030204" pitchFamily="34" charset="0"/>
              </a:rPr>
              <a:t>Hands on:</a:t>
            </a:r>
            <a:br>
              <a:rPr lang="en-US" dirty="0">
                <a:solidFill>
                  <a:srgbClr val="000000"/>
                </a:solidFill>
                <a:latin typeface="Calibri" panose="020F0502020204030204" pitchFamily="34" charset="0"/>
                <a:ea typeface="DejaVu Sans"/>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Same data, different organization</a:t>
            </a:r>
            <a:br>
              <a:rPr sz="4400" dirty="0">
                <a:latin typeface="Calibri" panose="020F0502020204030204" pitchFamily="34" charset="0"/>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Which one is best for data analysis?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65" name="Picture 6"/>
          <p:cNvPicPr/>
          <p:nvPr/>
        </p:nvPicPr>
        <p:blipFill>
          <a:blip r:embed="rId2"/>
          <a:stretch/>
        </p:blipFill>
        <p:spPr>
          <a:xfrm>
            <a:off x="6527880" y="3078000"/>
            <a:ext cx="4365720" cy="1508040"/>
          </a:xfrm>
          <a:prstGeom prst="rect">
            <a:avLst/>
          </a:prstGeom>
          <a:noFill/>
          <a:ln w="0">
            <a:noFill/>
          </a:ln>
        </p:spPr>
      </p:pic>
      <p:pic>
        <p:nvPicPr>
          <p:cNvPr id="366" name="Picture 7"/>
          <p:cNvPicPr/>
          <p:nvPr/>
        </p:nvPicPr>
        <p:blipFill>
          <a:blip r:embed="rId3"/>
          <a:stretch/>
        </p:blipFill>
        <p:spPr>
          <a:xfrm>
            <a:off x="551520" y="2119320"/>
            <a:ext cx="5381640" cy="1254240"/>
          </a:xfrm>
          <a:prstGeom prst="rect">
            <a:avLst/>
          </a:prstGeom>
          <a:noFill/>
          <a:ln w="0">
            <a:noFill/>
          </a:ln>
        </p:spPr>
      </p:pic>
      <p:pic>
        <p:nvPicPr>
          <p:cNvPr id="367" name="Picture 8"/>
          <p:cNvPicPr/>
          <p:nvPr/>
        </p:nvPicPr>
        <p:blipFill>
          <a:blip r:embed="rId4"/>
          <a:stretch/>
        </p:blipFill>
        <p:spPr>
          <a:xfrm>
            <a:off x="2927520" y="3944160"/>
            <a:ext cx="2917800" cy="2270160"/>
          </a:xfrm>
          <a:prstGeom prst="rect">
            <a:avLst/>
          </a:prstGeom>
          <a:noFill/>
          <a:ln w="0">
            <a:noFill/>
          </a:ln>
        </p:spPr>
      </p:pic>
      <p:sp>
        <p:nvSpPr>
          <p:cNvPr id="2" name="PlaceHolder 1">
            <a:extLst>
              <a:ext uri="{FF2B5EF4-FFF2-40B4-BE49-F238E27FC236}">
                <a16:creationId xmlns:a16="http://schemas.microsoft.com/office/drawing/2014/main" id="{CADB5DC3-540A-63DB-994C-07E06C3C16C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5">
            <a:extLst>
              <a:ext uri="{FF2B5EF4-FFF2-40B4-BE49-F238E27FC236}">
                <a16:creationId xmlns:a16="http://schemas.microsoft.com/office/drawing/2014/main" id="{8743E3EE-B2AA-2C53-9EED-FD9E15644396}"/>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41</a:t>
            </a:fld>
            <a:endParaRPr dirty="0">
              <a:latin typeface="Calibri" panose="020F0502020204030204" pitchFamily="34" charset="0"/>
              <a:cs typeface="Calibri" panose="020F0502020204030204" pitchFamily="34" charset="0"/>
            </a:endParaRPr>
          </a:p>
        </p:txBody>
      </p:sp>
      <p:sp>
        <p:nvSpPr>
          <p:cNvPr id="5" name="PlaceHolder 2">
            <a:extLst>
              <a:ext uri="{FF2B5EF4-FFF2-40B4-BE49-F238E27FC236}">
                <a16:creationId xmlns:a16="http://schemas.microsoft.com/office/drawing/2014/main" id="{401E1C02-0D22-C833-3DF2-0BBE031E6E72}"/>
              </a:ext>
            </a:extLst>
          </p:cNvPr>
          <p:cNvSpPr>
            <a:spLocks noGrp="1"/>
          </p:cNvSpPr>
          <p:nvPr>
            <p:ph type="ftr" idx="1"/>
          </p:nvPr>
        </p:nvSpPr>
        <p:spPr>
          <a:xfrm>
            <a:off x="4038480" y="6356520"/>
            <a:ext cx="4111560" cy="361800"/>
          </a:xfrm>
        </p:spPr>
        <p:txBody>
          <a:bodyPr/>
          <a:lstStyle/>
          <a:p>
            <a:r>
              <a:rPr lang="en-US"/>
              <a:t>Tab, v4.0</a:t>
            </a:r>
            <a:endParaRPr dirty="0"/>
          </a:p>
        </p:txBody>
      </p:sp>
      <p:sp>
        <p:nvSpPr>
          <p:cNvPr id="3" name="Date Placeholder 2">
            <a:extLst>
              <a:ext uri="{FF2B5EF4-FFF2-40B4-BE49-F238E27FC236}">
                <a16:creationId xmlns:a16="http://schemas.microsoft.com/office/drawing/2014/main" id="{D2079EE4-8AF4-BDFB-1320-716B2ED33A7F}"/>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0" name="Picture 6"/>
          <p:cNvPicPr/>
          <p:nvPr/>
        </p:nvPicPr>
        <p:blipFill>
          <a:blip r:embed="rId2"/>
          <a:stretch/>
        </p:blipFill>
        <p:spPr>
          <a:xfrm>
            <a:off x="6527880" y="3078000"/>
            <a:ext cx="4365720" cy="1508040"/>
          </a:xfrm>
          <a:prstGeom prst="rect">
            <a:avLst/>
          </a:prstGeom>
          <a:noFill/>
          <a:ln w="0">
            <a:noFill/>
          </a:ln>
        </p:spPr>
      </p:pic>
      <p:pic>
        <p:nvPicPr>
          <p:cNvPr id="371" name="Picture 7"/>
          <p:cNvPicPr/>
          <p:nvPr/>
        </p:nvPicPr>
        <p:blipFill>
          <a:blip r:embed="rId3"/>
          <a:stretch/>
        </p:blipFill>
        <p:spPr>
          <a:xfrm>
            <a:off x="551520" y="2119320"/>
            <a:ext cx="5381640" cy="1254240"/>
          </a:xfrm>
          <a:prstGeom prst="rect">
            <a:avLst/>
          </a:prstGeom>
          <a:noFill/>
          <a:ln w="0">
            <a:noFill/>
          </a:ln>
        </p:spPr>
      </p:pic>
      <p:pic>
        <p:nvPicPr>
          <p:cNvPr id="372" name="Picture 8"/>
          <p:cNvPicPr/>
          <p:nvPr/>
        </p:nvPicPr>
        <p:blipFill>
          <a:blip r:embed="rId4"/>
          <a:stretch/>
        </p:blipFill>
        <p:spPr>
          <a:xfrm>
            <a:off x="2927520" y="3944160"/>
            <a:ext cx="2917800" cy="2270160"/>
          </a:xfrm>
          <a:prstGeom prst="rect">
            <a:avLst/>
          </a:prstGeom>
          <a:noFill/>
          <a:ln w="0">
            <a:noFill/>
          </a:ln>
        </p:spPr>
      </p:pic>
      <p:sp>
        <p:nvSpPr>
          <p:cNvPr id="373" name="TextBox 2"/>
          <p:cNvSpPr/>
          <p:nvPr/>
        </p:nvSpPr>
        <p:spPr>
          <a:xfrm>
            <a:off x="1774440" y="2255220"/>
            <a:ext cx="8639640" cy="3377880"/>
          </a:xfrm>
          <a:custGeom>
            <a:avLst/>
            <a:gdLst>
              <a:gd name="textAreaLeft" fmla="*/ 0 w 8639640"/>
              <a:gd name="textAreaRight" fmla="*/ 8643960 w 863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What do we want?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1" u="none" strike="noStrike">
                <a:solidFill>
                  <a:srgbClr val="000000"/>
                </a:solidFill>
                <a:effectLst/>
                <a:uFillTx/>
                <a:latin typeface="Calibri" panose="020F0502020204030204" pitchFamily="34" charset="0"/>
                <a:ea typeface="DejaVu Sans"/>
                <a:cs typeface="Calibri" panose="020F0502020204030204" pitchFamily="34" charset="0"/>
              </a:rPr>
              <a:t>We want data to be in a natural format, such that we can make use of the optimizations already built in the library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1" u="none" strike="noStrike">
                <a:solidFill>
                  <a:srgbClr val="000000"/>
                </a:solidFill>
                <a:effectLst/>
                <a:uFillTx/>
                <a:latin typeface="Calibri" panose="020F0502020204030204" pitchFamily="34" charset="0"/>
                <a:ea typeface="DejaVu Sans"/>
                <a:cs typeface="Calibri" panose="020F0502020204030204" pitchFamily="34" charset="0"/>
              </a:rPr>
              <a:t>(as we have already seen)</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7" name="PlaceHolder 1">
            <a:extLst>
              <a:ext uri="{FF2B5EF4-FFF2-40B4-BE49-F238E27FC236}">
                <a16:creationId xmlns:a16="http://schemas.microsoft.com/office/drawing/2014/main" id="{DCAF7617-8206-6421-B746-5569825F005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5" name="PlaceHolder 2">
            <a:extLst>
              <a:ext uri="{FF2B5EF4-FFF2-40B4-BE49-F238E27FC236}">
                <a16:creationId xmlns:a16="http://schemas.microsoft.com/office/drawing/2014/main" id="{1DB64DED-E735-8195-C8E7-EB5454C403E2}"/>
              </a:ext>
            </a:extLst>
          </p:cNvPr>
          <p:cNvSpPr>
            <a:spLocks noGrp="1"/>
          </p:cNvSpPr>
          <p:nvPr>
            <p:ph type="ftr" idx="1"/>
          </p:nvPr>
        </p:nvSpPr>
        <p:spPr>
          <a:xfrm>
            <a:off x="4038480" y="6356520"/>
            <a:ext cx="4111560" cy="361800"/>
          </a:xfrm>
        </p:spPr>
        <p:txBody>
          <a:bodyPr/>
          <a:lstStyle/>
          <a:p>
            <a:r>
              <a:rPr lang="en-US"/>
              <a:t>Tab, v4.0</a:t>
            </a:r>
            <a:endParaRPr dirty="0"/>
          </a:p>
        </p:txBody>
      </p:sp>
      <p:sp>
        <p:nvSpPr>
          <p:cNvPr id="8" name="PlaceHolder 5">
            <a:extLst>
              <a:ext uri="{FF2B5EF4-FFF2-40B4-BE49-F238E27FC236}">
                <a16:creationId xmlns:a16="http://schemas.microsoft.com/office/drawing/2014/main" id="{886BBD40-9371-9D4F-69C5-0FBAB2C2DF8A}"/>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42</a:t>
            </a:fld>
            <a:endParaRPr>
              <a:latin typeface="Calibri" panose="020F0502020204030204" pitchFamily="34" charset="0"/>
              <a:cs typeface="Calibri" panose="020F0502020204030204" pitchFamily="34" charset="0"/>
            </a:endParaRPr>
          </a:p>
        </p:txBody>
      </p:sp>
      <p:sp>
        <p:nvSpPr>
          <p:cNvPr id="13" name="PlaceHolder 1">
            <a:extLst>
              <a:ext uri="{FF2B5EF4-FFF2-40B4-BE49-F238E27FC236}">
                <a16:creationId xmlns:a16="http://schemas.microsoft.com/office/drawing/2014/main" id="{90C104DE-6EA2-7C7F-7134-F7609427A6E1}"/>
              </a:ext>
            </a:extLst>
          </p:cNvPr>
          <p:cNvSpPr>
            <a:spLocks noGrp="1"/>
          </p:cNvSpPr>
          <p:nvPr>
            <p:ph type="title"/>
          </p:nvPr>
        </p:nvSpPr>
        <p:spPr>
          <a:xfrm>
            <a:off x="609480" y="273600"/>
            <a:ext cx="10972080" cy="1508040"/>
          </a:xfrm>
          <a:prstGeom prst="rect">
            <a:avLst/>
          </a:prstGeom>
          <a:noFill/>
          <a:ln w="0">
            <a:noFill/>
          </a:ln>
        </p:spPr>
        <p:txBody>
          <a:bodyPr lIns="0" tIns="0" rIns="0" bIns="0" anchor="ctr">
            <a:normAutofit fontScale="90000"/>
          </a:bodyPr>
          <a:lstStyle/>
          <a:p>
            <a:pPr indent="0">
              <a:lnSpc>
                <a:spcPct val="90000"/>
              </a:lnSpc>
              <a:buNone/>
              <a:tabLst>
                <a:tab pos="0" algn="l"/>
              </a:tabLst>
            </a:pPr>
            <a:r>
              <a:rPr lang="en-US" dirty="0">
                <a:solidFill>
                  <a:srgbClr val="000000"/>
                </a:solidFill>
                <a:latin typeface="Calibri" panose="020F0502020204030204" pitchFamily="34" charset="0"/>
                <a:ea typeface="DejaVu Sans"/>
                <a:cs typeface="Calibri" panose="020F0502020204030204" pitchFamily="34" charset="0"/>
              </a:rPr>
              <a:t>Hands on:</a:t>
            </a:r>
            <a:br>
              <a:rPr lang="en-US" dirty="0">
                <a:solidFill>
                  <a:srgbClr val="000000"/>
                </a:solidFill>
                <a:latin typeface="Calibri" panose="020F0502020204030204" pitchFamily="34" charset="0"/>
                <a:ea typeface="DejaVu Sans"/>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Same data, different organization</a:t>
            </a:r>
            <a:br>
              <a:rPr sz="4400" dirty="0">
                <a:latin typeface="Calibri" panose="020F0502020204030204" pitchFamily="34" charset="0"/>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Which one is best for data analysis?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Date Placeholder 1">
            <a:extLst>
              <a:ext uri="{FF2B5EF4-FFF2-40B4-BE49-F238E27FC236}">
                <a16:creationId xmlns:a16="http://schemas.microsoft.com/office/drawing/2014/main" id="{0DC8207D-7B6A-25AF-F5C2-0C819900247A}"/>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PlaceHolder 1">
            <a:extLst>
              <a:ext uri="{FF2B5EF4-FFF2-40B4-BE49-F238E27FC236}">
                <a16:creationId xmlns:a16="http://schemas.microsoft.com/office/drawing/2014/main" id="{2E4AB8FC-ECDC-5EEF-97DE-D5E70DD46D2A}"/>
              </a:ext>
            </a:extLst>
          </p:cNvPr>
          <p:cNvSpPr>
            <a:spLocks noGrp="1"/>
          </p:cNvSpPr>
          <p:nvPr>
            <p:ph type="title"/>
          </p:nvPr>
        </p:nvSpPr>
        <p:spPr>
          <a:xfrm>
            <a:off x="609480" y="273600"/>
            <a:ext cx="10972080" cy="114444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dirty="0">
                <a:solidFill>
                  <a:srgbClr val="000000"/>
                </a:solidFill>
                <a:effectLst/>
                <a:uFillTx/>
                <a:latin typeface="Calibri" panose="020F0502020204030204" pitchFamily="34" charset="0"/>
                <a:ea typeface="DejaVu Sans"/>
                <a:cs typeface="Calibri" panose="020F0502020204030204" pitchFamily="34" charset="0"/>
              </a:rPr>
              <a:t>Back to the exercise</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5" name="TextBox 14">
            <a:extLst>
              <a:ext uri="{FF2B5EF4-FFF2-40B4-BE49-F238E27FC236}">
                <a16:creationId xmlns:a16="http://schemas.microsoft.com/office/drawing/2014/main" id="{1EF303D6-1C86-9E87-212A-6598DD83678A}"/>
              </a:ext>
            </a:extLst>
          </p:cNvPr>
          <p:cNvSpPr txBox="1"/>
          <p:nvPr/>
        </p:nvSpPr>
        <p:spPr>
          <a:xfrm>
            <a:off x="711200" y="1233374"/>
            <a:ext cx="3185487" cy="369332"/>
          </a:xfrm>
          <a:prstGeom prst="rect">
            <a:avLst/>
          </a:prstGeom>
          <a:noFill/>
        </p:spPr>
        <p:txBody>
          <a:bodyPr wrap="none" rtlCol="0">
            <a:spAutoFit/>
          </a:bodyPr>
          <a:lstStyle/>
          <a:p>
            <a:r>
              <a:rPr lang="en-US" dirty="0"/>
              <a:t>What is wrong with this data?</a:t>
            </a:r>
          </a:p>
        </p:txBody>
      </p:sp>
      <p:pic>
        <p:nvPicPr>
          <p:cNvPr id="16" name="Picture 15">
            <a:extLst>
              <a:ext uri="{FF2B5EF4-FFF2-40B4-BE49-F238E27FC236}">
                <a16:creationId xmlns:a16="http://schemas.microsoft.com/office/drawing/2014/main" id="{D817E889-B7B2-47EF-D802-589C9759965B}"/>
              </a:ext>
            </a:extLst>
          </p:cNvPr>
          <p:cNvPicPr>
            <a:picLocks noChangeAspect="1"/>
          </p:cNvPicPr>
          <p:nvPr/>
        </p:nvPicPr>
        <p:blipFill>
          <a:blip r:embed="rId2"/>
          <a:stretch>
            <a:fillRect/>
          </a:stretch>
        </p:blipFill>
        <p:spPr>
          <a:xfrm>
            <a:off x="2209320" y="1925320"/>
            <a:ext cx="7772400" cy="4404360"/>
          </a:xfrm>
          <a:prstGeom prst="rect">
            <a:avLst/>
          </a:prstGeom>
        </p:spPr>
      </p:pic>
      <p:sp>
        <p:nvSpPr>
          <p:cNvPr id="2" name="Date Placeholder 1">
            <a:extLst>
              <a:ext uri="{FF2B5EF4-FFF2-40B4-BE49-F238E27FC236}">
                <a16:creationId xmlns:a16="http://schemas.microsoft.com/office/drawing/2014/main" id="{AEE6A2DC-AAF8-35BF-6A2E-CD5C7A47F7CF}"/>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3" name="Footer Placeholder 2">
            <a:extLst>
              <a:ext uri="{FF2B5EF4-FFF2-40B4-BE49-F238E27FC236}">
                <a16:creationId xmlns:a16="http://schemas.microsoft.com/office/drawing/2014/main" id="{E933860E-982A-8085-2789-412C8D695614}"/>
              </a:ext>
            </a:extLst>
          </p:cNvPr>
          <p:cNvSpPr>
            <a:spLocks noGrp="1"/>
          </p:cNvSpPr>
          <p:nvPr>
            <p:ph type="ftr" idx="1"/>
          </p:nvPr>
        </p:nvSpPr>
        <p:spPr/>
        <p:txBody>
          <a:bodyPr/>
          <a:lstStyle/>
          <a:p>
            <a:r>
              <a:rPr lang="en-US"/>
              <a:t>Tab, v4.0</a:t>
            </a:r>
            <a:endParaRPr lang="en-US" dirty="0"/>
          </a:p>
        </p:txBody>
      </p:sp>
      <p:sp>
        <p:nvSpPr>
          <p:cNvPr id="4" name="Slide Number Placeholder 3">
            <a:extLst>
              <a:ext uri="{FF2B5EF4-FFF2-40B4-BE49-F238E27FC236}">
                <a16:creationId xmlns:a16="http://schemas.microsoft.com/office/drawing/2014/main" id="{07E96E36-80F6-F5B9-7EAB-B3CBFD557BA3}"/>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43</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24529288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78FC0-1285-0E02-4A98-A474FEA2DF28}"/>
            </a:ext>
          </a:extLst>
        </p:cNvPr>
        <p:cNvGrpSpPr/>
        <p:nvPr/>
      </p:nvGrpSpPr>
      <p:grpSpPr>
        <a:xfrm>
          <a:off x="0" y="0"/>
          <a:ext cx="0" cy="0"/>
          <a:chOff x="0" y="0"/>
          <a:chExt cx="0" cy="0"/>
        </a:xfrm>
      </p:grpSpPr>
      <p:sp>
        <p:nvSpPr>
          <p:cNvPr id="5" name="PlaceHolder 1">
            <a:extLst>
              <a:ext uri="{FF2B5EF4-FFF2-40B4-BE49-F238E27FC236}">
                <a16:creationId xmlns:a16="http://schemas.microsoft.com/office/drawing/2014/main" id="{442472BC-E2C6-E5BC-D4D9-7E627729D2F5}"/>
              </a:ext>
            </a:extLst>
          </p:cNvPr>
          <p:cNvSpPr>
            <a:spLocks noGrp="1"/>
          </p:cNvSpPr>
          <p:nvPr>
            <p:ph type="body"/>
          </p:nvPr>
        </p:nvSpPr>
        <p:spPr>
          <a:xfrm>
            <a:off x="609480" y="1211233"/>
            <a:ext cx="5054601" cy="1532940"/>
          </a:xfrm>
          <a:prstGeom prst="rect">
            <a:avLst/>
          </a:prstGeom>
          <a:noFill/>
          <a:ln w="0">
            <a:noFill/>
          </a:ln>
        </p:spPr>
        <p:txBody>
          <a:bodyPr lIns="90000" tIns="45000" rIns="90000" bIns="45000" anchor="t">
            <a:noAutofit/>
          </a:bodyPr>
          <a:lstStyle/>
          <a:p>
            <a:pPr>
              <a:spcBef>
                <a:spcPts val="1001"/>
              </a:spcBef>
              <a:buClr>
                <a:srgbClr val="000000"/>
              </a:buClr>
              <a:tabLst>
                <a:tab pos="0" algn="l"/>
              </a:tabLst>
            </a:pP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Pt2: Work with the </a:t>
            </a:r>
            <a:r>
              <a:rPr lang="en-GB" sz="2400" dirty="0" err="1">
                <a:solidFill>
                  <a:srgbClr val="000000"/>
                </a:solidFill>
                <a:latin typeface="Courier New" panose="02070309020205020404" pitchFamily="49" charset="0"/>
                <a:cs typeface="Courier New" panose="02070309020205020404" pitchFamily="49" charset="0"/>
              </a:rPr>
              <a:t>predimed_smokers.csv</a:t>
            </a:r>
            <a:r>
              <a:rPr lang="en-GB" sz="2400" dirty="0">
                <a:solidFill>
                  <a:srgbClr val="000000"/>
                </a:solidFill>
                <a:latin typeface="Courier New" panose="02070309020205020404" pitchFamily="49" charset="0"/>
                <a:cs typeface="Courier New" panose="02070309020205020404" pitchFamily="49" charset="0"/>
              </a:rPr>
              <a:t> </a:t>
            </a:r>
            <a:br>
              <a:rPr lang="en-GB" sz="2400" dirty="0">
                <a:solidFill>
                  <a:srgbClr val="000000"/>
                </a:solidFill>
                <a:latin typeface="Calibri" panose="020F0502020204030204" pitchFamily="34" charset="0"/>
                <a:cs typeface="Calibri" panose="020F0502020204030204" pitchFamily="34" charset="0"/>
              </a:rPr>
            </a:b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dataset to answer the question: </a:t>
            </a:r>
          </a:p>
          <a:p>
            <a:pPr>
              <a:spcBef>
                <a:spcPts val="1001"/>
              </a:spcBef>
              <a:buClr>
                <a:srgbClr val="000000"/>
              </a:buClr>
              <a:tabLst>
                <a:tab pos="0" algn="l"/>
              </a:tabLst>
            </a:pP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What is the mean age per diet group?</a:t>
            </a:r>
          </a:p>
        </p:txBody>
      </p:sp>
      <p:grpSp>
        <p:nvGrpSpPr>
          <p:cNvPr id="6" name="Group 5">
            <a:extLst>
              <a:ext uri="{FF2B5EF4-FFF2-40B4-BE49-F238E27FC236}">
                <a16:creationId xmlns:a16="http://schemas.microsoft.com/office/drawing/2014/main" id="{9C1CF716-23B8-7664-D2CB-789CB90A8769}"/>
              </a:ext>
            </a:extLst>
          </p:cNvPr>
          <p:cNvGrpSpPr/>
          <p:nvPr/>
        </p:nvGrpSpPr>
        <p:grpSpPr>
          <a:xfrm>
            <a:off x="6527919" y="1043852"/>
            <a:ext cx="5054601" cy="1927949"/>
            <a:chOff x="5812077" y="489442"/>
            <a:chExt cx="4634631" cy="1537721"/>
          </a:xfrm>
        </p:grpSpPr>
        <p:sp>
          <p:nvSpPr>
            <p:cNvPr id="7" name="Rectangle 3">
              <a:extLst>
                <a:ext uri="{FF2B5EF4-FFF2-40B4-BE49-F238E27FC236}">
                  <a16:creationId xmlns:a16="http://schemas.microsoft.com/office/drawing/2014/main" id="{B55388FA-EA2D-96D6-075A-7846184B5B27}"/>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8" name="TextBox 79">
              <a:extLst>
                <a:ext uri="{FF2B5EF4-FFF2-40B4-BE49-F238E27FC236}">
                  <a16:creationId xmlns:a16="http://schemas.microsoft.com/office/drawing/2014/main" id="{A87B7FFB-145D-4B23-7840-BA9AAFB52C81}"/>
                </a:ext>
              </a:extLst>
            </p:cNvPr>
            <p:cNvSpPr/>
            <p:nvPr/>
          </p:nvSpPr>
          <p:spPr>
            <a:xfrm>
              <a:off x="5812077" y="636145"/>
              <a:ext cx="4634629" cy="31796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2: 7 minutes</a:t>
              </a:r>
              <a:endParaRPr lang="en-GB" sz="2000" b="0" u="none" strike="noStrike" dirty="0">
                <a:solidFill>
                  <a:srgbClr val="000000"/>
                </a:solidFill>
                <a:effectLst/>
                <a:uFillTx/>
                <a:latin typeface="Arial"/>
              </a:endParaRPr>
            </a:p>
          </p:txBody>
        </p:sp>
        <p:pic>
          <p:nvPicPr>
            <p:cNvPr id="9" name="Graphic 9">
              <a:extLst>
                <a:ext uri="{FF2B5EF4-FFF2-40B4-BE49-F238E27FC236}">
                  <a16:creationId xmlns:a16="http://schemas.microsoft.com/office/drawing/2014/main" id="{0CAC0EA8-4546-0E59-7EB8-0A23EA765DFB}"/>
                </a:ext>
              </a:extLst>
            </p:cNvPr>
            <p:cNvPicPr/>
            <p:nvPr/>
          </p:nvPicPr>
          <p:blipFill>
            <a:blip r:embed="rId2"/>
            <a:stretch/>
          </p:blipFill>
          <p:spPr>
            <a:xfrm>
              <a:off x="6107863" y="958156"/>
              <a:ext cx="691200" cy="552240"/>
            </a:xfrm>
            <a:prstGeom prst="rect">
              <a:avLst/>
            </a:prstGeom>
            <a:noFill/>
            <a:ln w="0">
              <a:noFill/>
            </a:ln>
          </p:spPr>
        </p:pic>
        <p:sp>
          <p:nvSpPr>
            <p:cNvPr id="10" name="TextBox 80">
              <a:extLst>
                <a:ext uri="{FF2B5EF4-FFF2-40B4-BE49-F238E27FC236}">
                  <a16:creationId xmlns:a16="http://schemas.microsoft.com/office/drawing/2014/main" id="{146CFCF6-A9FA-9782-F430-7CAFB793B4D8}"/>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/split_apply_combine_part2.ipynb</a:t>
              </a:r>
            </a:p>
          </p:txBody>
        </p:sp>
      </p:grpSp>
      <p:pic>
        <p:nvPicPr>
          <p:cNvPr id="2" name="Picture 1">
            <a:extLst>
              <a:ext uri="{FF2B5EF4-FFF2-40B4-BE49-F238E27FC236}">
                <a16:creationId xmlns:a16="http://schemas.microsoft.com/office/drawing/2014/main" id="{13E97ABF-8305-F40D-55A7-A540F08002AB}"/>
              </a:ext>
            </a:extLst>
          </p:cNvPr>
          <p:cNvPicPr>
            <a:picLocks noChangeAspect="1"/>
          </p:cNvPicPr>
          <p:nvPr/>
        </p:nvPicPr>
        <p:blipFill>
          <a:blip r:embed="rId3"/>
          <a:stretch>
            <a:fillRect/>
          </a:stretch>
        </p:blipFill>
        <p:spPr>
          <a:xfrm>
            <a:off x="3398489" y="3285200"/>
            <a:ext cx="5395022" cy="3057179"/>
          </a:xfrm>
          <a:prstGeom prst="rect">
            <a:avLst/>
          </a:prstGeom>
        </p:spPr>
      </p:pic>
      <p:sp>
        <p:nvSpPr>
          <p:cNvPr id="3" name="Date Placeholder 2">
            <a:extLst>
              <a:ext uri="{FF2B5EF4-FFF2-40B4-BE49-F238E27FC236}">
                <a16:creationId xmlns:a16="http://schemas.microsoft.com/office/drawing/2014/main" id="{3590D599-F817-6DBC-0368-C38E5A02C30E}"/>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4" name="Footer Placeholder 3">
            <a:extLst>
              <a:ext uri="{FF2B5EF4-FFF2-40B4-BE49-F238E27FC236}">
                <a16:creationId xmlns:a16="http://schemas.microsoft.com/office/drawing/2014/main" id="{40FFFEB9-73A2-FFA1-0946-BD4CDD48FC6F}"/>
              </a:ext>
            </a:extLst>
          </p:cNvPr>
          <p:cNvSpPr>
            <a:spLocks noGrp="1"/>
          </p:cNvSpPr>
          <p:nvPr>
            <p:ph type="ftr" idx="1"/>
          </p:nvPr>
        </p:nvSpPr>
        <p:spPr/>
        <p:txBody>
          <a:bodyPr/>
          <a:lstStyle/>
          <a:p>
            <a:r>
              <a:rPr lang="en-US"/>
              <a:t>Tab, v4.0</a:t>
            </a:r>
            <a:endParaRPr lang="en-US" dirty="0"/>
          </a:p>
        </p:txBody>
      </p:sp>
      <p:sp>
        <p:nvSpPr>
          <p:cNvPr id="11" name="Slide Number Placeholder 10">
            <a:extLst>
              <a:ext uri="{FF2B5EF4-FFF2-40B4-BE49-F238E27FC236}">
                <a16:creationId xmlns:a16="http://schemas.microsoft.com/office/drawing/2014/main" id="{82F3258C-38BD-19B7-DEAA-25F98F067AF4}"/>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44</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7514428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 name="Rectangle 8"/>
          <p:cNvSpPr/>
          <p:nvPr/>
        </p:nvSpPr>
        <p:spPr>
          <a:xfrm>
            <a:off x="7875660" y="778509"/>
            <a:ext cx="3885120" cy="540612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panose="020F0502020204030204" pitchFamily="34" charset="0"/>
              <a:ea typeface="DejaVu Sans"/>
              <a:cs typeface="Calibri" panose="020F0502020204030204" pitchFamily="34" charset="0"/>
            </a:endParaRPr>
          </a:p>
        </p:txBody>
      </p:sp>
      <p:sp>
        <p:nvSpPr>
          <p:cNvPr id="453" name="PlaceHolder 2"/>
          <p:cNvSpPr>
            <a:spLocks noGrp="1"/>
          </p:cNvSpPr>
          <p:nvPr>
            <p:ph type="body"/>
          </p:nvPr>
        </p:nvSpPr>
        <p:spPr>
          <a:xfrm>
            <a:off x="609480" y="1604520"/>
            <a:ext cx="7001160" cy="3976920"/>
          </a:xfrm>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Many analyses require a simple sequence of steps: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Filter by individual variables to discard data that is not needed</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Group and summarize</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Re-arrange (e.g. sort)</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Visualize</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Joining tidy tables is easy! </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One can write generic code that takes tidy data as input. </a:t>
            </a:r>
            <a:br>
              <a:rPr sz="2400" dirty="0">
                <a:latin typeface="Calibri" panose="020F0502020204030204" pitchFamily="34" charset="0"/>
                <a:cs typeface="Calibri" panose="020F0502020204030204" pitchFamily="34" charset="0"/>
              </a:rPr>
            </a:b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For example, </a:t>
            </a:r>
            <a:r>
              <a:rPr lang="en-CH" sz="2400" b="1" u="none" strike="noStrike">
                <a:solidFill>
                  <a:srgbClr val="000000"/>
                </a:solidFill>
                <a:effectLst/>
                <a:uFillTx/>
                <a:latin typeface="Calibri" panose="020F0502020204030204" pitchFamily="34" charset="0"/>
                <a:ea typeface="DejaVu Sans"/>
                <a:cs typeface="Calibri" panose="020F0502020204030204" pitchFamily="34" charset="0"/>
              </a:rPr>
              <a:t>seaborn</a:t>
            </a: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 relies on tidy data to make complex plot</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D35AB332-6AEC-41D2-9046-0A10834BBC65}" type="slidenum">
              <a:rPr>
                <a:latin typeface="Calibri" panose="020F0502020204030204" pitchFamily="34" charset="0"/>
                <a:cs typeface="Calibri" panose="020F0502020204030204" pitchFamily="34" charset="0"/>
              </a:rPr>
              <a:t>45</a:t>
            </a:fld>
            <a:endParaRPr>
              <a:latin typeface="Calibri" panose="020F0502020204030204" pitchFamily="34" charset="0"/>
              <a:cs typeface="Calibri" panose="020F0502020204030204" pitchFamily="34" charset="0"/>
            </a:endParaRPr>
          </a:p>
        </p:txBody>
      </p:sp>
      <p:sp>
        <p:nvSpPr>
          <p:cNvPr id="452"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Why is tidy data good?</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55" name="TextBox 7"/>
          <p:cNvSpPr/>
          <p:nvPr/>
        </p:nvSpPr>
        <p:spPr>
          <a:xfrm>
            <a:off x="8166970" y="1094949"/>
            <a:ext cx="3149570" cy="175287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sns</a:t>
            </a:r>
            <a:r>
              <a:rPr lang="en-US" sz="1800" b="1" u="none" strike="noStrike" dirty="0" err="1">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swarmplot</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data</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df</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x</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4A6991"/>
                </a:solidFill>
                <a:effectLst/>
                <a:uFillTx/>
                <a:latin typeface="Courier New" panose="02070309020205020404" pitchFamily="49" charset="0"/>
                <a:ea typeface="DejaVu Sans"/>
                <a:cs typeface="Courier New" panose="02070309020205020404" pitchFamily="49" charset="0"/>
              </a:rPr>
              <a:t>body_mass_g</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y</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"sex"</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hue</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"species”,</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p:txBody>
      </p:sp>
      <p:pic>
        <p:nvPicPr>
          <p:cNvPr id="456" name="Picture 2"/>
          <p:cNvPicPr/>
          <p:nvPr/>
        </p:nvPicPr>
        <p:blipFill>
          <a:blip r:embed="rId2"/>
          <a:stretch/>
        </p:blipFill>
        <p:spPr>
          <a:xfrm>
            <a:off x="8005620" y="3165309"/>
            <a:ext cx="3625200" cy="2732760"/>
          </a:xfrm>
          <a:prstGeom prst="rect">
            <a:avLst/>
          </a:prstGeom>
          <a:noFill/>
          <a:ln w="0">
            <a:noFill/>
          </a:ln>
        </p:spPr>
      </p:pic>
      <p:sp>
        <p:nvSpPr>
          <p:cNvPr id="2" name="PlaceHolder 1">
            <a:extLst>
              <a:ext uri="{FF2B5EF4-FFF2-40B4-BE49-F238E27FC236}">
                <a16:creationId xmlns:a16="http://schemas.microsoft.com/office/drawing/2014/main" id="{ECF3C97F-7C66-954F-4241-98DC786B974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F4950482-BD6F-11AE-255C-50BC9411165A}"/>
              </a:ext>
            </a:extLst>
          </p:cNvPr>
          <p:cNvSpPr>
            <a:spLocks noGrp="1"/>
          </p:cNvSpPr>
          <p:nvPr>
            <p:ph type="ftr" idx="1"/>
          </p:nvPr>
        </p:nvSpPr>
        <p:spPr>
          <a:xfrm>
            <a:off x="4038480" y="6356520"/>
            <a:ext cx="4111560" cy="361800"/>
          </a:xfrm>
        </p:spPr>
        <p:txBody>
          <a:bodyPr/>
          <a:lstStyle/>
          <a:p>
            <a:r>
              <a:rPr lang="en-US"/>
              <a:t>Tab, v4.0</a:t>
            </a:r>
            <a:endParaRPr dirty="0"/>
          </a:p>
        </p:txBody>
      </p:sp>
      <p:sp>
        <p:nvSpPr>
          <p:cNvPr id="3" name="Date Placeholder 2">
            <a:extLst>
              <a:ext uri="{FF2B5EF4-FFF2-40B4-BE49-F238E27FC236}">
                <a16:creationId xmlns:a16="http://schemas.microsoft.com/office/drawing/2014/main" id="{9EBCE5CA-4E12-F3B2-B4BB-A7085EF19AE3}"/>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953BD-1B17-BD81-D9FE-E42FD3AA5325}"/>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7338684E-1C7E-6EF7-1B9C-F17350B83CCA}"/>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47F8171B-5F70-6B73-AD8A-3431F8C15906}"/>
              </a:ext>
            </a:extLst>
          </p:cNvPr>
          <p:cNvSpPr>
            <a:spLocks noGrp="1"/>
          </p:cNvSpPr>
          <p:nvPr>
            <p:ph type="sldNum" idx="2"/>
          </p:nvPr>
        </p:nvSpPr>
        <p:spPr/>
        <p:txBody>
          <a:bodyPr/>
          <a:lstStyle/>
          <a:p>
            <a:fld id="{9442D02A-9C44-4620-97D6-D10361F3343D}" type="slidenum">
              <a:rPr/>
              <a:t>46</a:t>
            </a:fld>
            <a:endParaRPr/>
          </a:p>
        </p:txBody>
      </p:sp>
      <p:sp>
        <p:nvSpPr>
          <p:cNvPr id="281" name="PlaceHolder 1">
            <a:extLst>
              <a:ext uri="{FF2B5EF4-FFF2-40B4-BE49-F238E27FC236}">
                <a16:creationId xmlns:a16="http://schemas.microsoft.com/office/drawing/2014/main" id="{5B325BCE-A0BB-2248-C593-CDFC4A805C57}"/>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7" name="PlaceHolder 1">
            <a:extLst>
              <a:ext uri="{FF2B5EF4-FFF2-40B4-BE49-F238E27FC236}">
                <a16:creationId xmlns:a16="http://schemas.microsoft.com/office/drawing/2014/main" id="{96AED949-D418-D148-9249-44A385B09C6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5DCC78DF-FDC8-E080-F602-FEB4AB5BC118}"/>
              </a:ext>
            </a:extLst>
          </p:cNvPr>
          <p:cNvSpPr>
            <a:spLocks noGrp="1"/>
          </p:cNvSpPr>
          <p:nvPr>
            <p:ph type="ftr" idx="1"/>
          </p:nvPr>
        </p:nvSpPr>
        <p:spPr>
          <a:xfrm>
            <a:off x="4038480" y="6356520"/>
            <a:ext cx="4111560" cy="361800"/>
          </a:xfrm>
        </p:spPr>
        <p:txBody>
          <a:bodyPr/>
          <a:lstStyle/>
          <a:p>
            <a:r>
              <a:rPr lang="en-US"/>
              <a:t>Tab, v4.0</a:t>
            </a:r>
            <a:endParaRPr dirty="0"/>
          </a:p>
        </p:txBody>
      </p:sp>
      <p:sp>
        <p:nvSpPr>
          <p:cNvPr id="3" name="Date Placeholder 2">
            <a:extLst>
              <a:ext uri="{FF2B5EF4-FFF2-40B4-BE49-F238E27FC236}">
                <a16:creationId xmlns:a16="http://schemas.microsoft.com/office/drawing/2014/main" id="{90F870D0-E8E2-E720-46D5-B0D474206F54}"/>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1349703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D5787-5B98-C2A1-C20F-B1DBD04FEBFF}"/>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F5D7A35C-9FBF-DA8A-2197-32E517259A93}"/>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7BE88C6F-369B-32AA-38B7-ADCAB9F1DC94}"/>
              </a:ext>
            </a:extLst>
          </p:cNvPr>
          <p:cNvSpPr>
            <a:spLocks noGrp="1"/>
          </p:cNvSpPr>
          <p:nvPr>
            <p:ph type="sldNum" idx="2"/>
          </p:nvPr>
        </p:nvSpPr>
        <p:spPr/>
        <p:txBody>
          <a:bodyPr/>
          <a:lstStyle/>
          <a:p>
            <a:fld id="{9442D02A-9C44-4620-97D6-D10361F3343D}" type="slidenum">
              <a:rPr/>
              <a:t>47</a:t>
            </a:fld>
            <a:endParaRPr/>
          </a:p>
        </p:txBody>
      </p:sp>
      <p:sp>
        <p:nvSpPr>
          <p:cNvPr id="281" name="PlaceHolder 1">
            <a:extLst>
              <a:ext uri="{FF2B5EF4-FFF2-40B4-BE49-F238E27FC236}">
                <a16:creationId xmlns:a16="http://schemas.microsoft.com/office/drawing/2014/main" id="{D683D475-F6E6-70E5-3634-780036DCA9C1}"/>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7" name="PlaceHolder 1">
            <a:extLst>
              <a:ext uri="{FF2B5EF4-FFF2-40B4-BE49-F238E27FC236}">
                <a16:creationId xmlns:a16="http://schemas.microsoft.com/office/drawing/2014/main" id="{B158E7E0-BBDC-3C30-EAA1-8BE0F156C2C9}"/>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B63336A9-995E-D99A-9FD7-7E2291DA56E2}"/>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Rounded Rectangle 4">
            <a:extLst>
              <a:ext uri="{FF2B5EF4-FFF2-40B4-BE49-F238E27FC236}">
                <a16:creationId xmlns:a16="http://schemas.microsoft.com/office/drawing/2014/main" id="{DABE2FAC-22CC-23BF-D48D-3572F4015338}"/>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3" name="Date Placeholder 2">
            <a:extLst>
              <a:ext uri="{FF2B5EF4-FFF2-40B4-BE49-F238E27FC236}">
                <a16:creationId xmlns:a16="http://schemas.microsoft.com/office/drawing/2014/main" id="{C8FB3657-EB2E-42E5-8F77-4BD876344D90}"/>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9237402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549E4-3E6C-4DB4-4510-E65A09343653}"/>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CC372318-6142-C6B6-0D87-1763A0553C9E}"/>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F5A4A1AF-56D1-AAAA-BC8B-95D85E6E996B}"/>
              </a:ext>
            </a:extLst>
          </p:cNvPr>
          <p:cNvSpPr>
            <a:spLocks noGrp="1"/>
          </p:cNvSpPr>
          <p:nvPr>
            <p:ph type="sldNum" idx="2"/>
          </p:nvPr>
        </p:nvSpPr>
        <p:spPr/>
        <p:txBody>
          <a:bodyPr/>
          <a:lstStyle/>
          <a:p>
            <a:fld id="{9442D02A-9C44-4620-97D6-D10361F3343D}" type="slidenum">
              <a:rPr/>
              <a:t>48</a:t>
            </a:fld>
            <a:endParaRPr/>
          </a:p>
        </p:txBody>
      </p:sp>
      <p:sp>
        <p:nvSpPr>
          <p:cNvPr id="281" name="PlaceHolder 1">
            <a:extLst>
              <a:ext uri="{FF2B5EF4-FFF2-40B4-BE49-F238E27FC236}">
                <a16:creationId xmlns:a16="http://schemas.microsoft.com/office/drawing/2014/main" id="{0BF64FE3-7196-2A22-A74C-4D1C970B750C}"/>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A18D7F57-3279-7EFA-DCD8-FC390745C832}"/>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2A664044-1345-5A03-8B23-594D0747089D}"/>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50164993-FC86-71DB-AB71-7CE380B38FC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16546E2B-5427-EA24-4AB1-5E44E5C1A51D}"/>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Date Placeholder 4">
            <a:extLst>
              <a:ext uri="{FF2B5EF4-FFF2-40B4-BE49-F238E27FC236}">
                <a16:creationId xmlns:a16="http://schemas.microsoft.com/office/drawing/2014/main" id="{2EE10EDF-C8A1-6D2E-0BBA-A919F88B7187}"/>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34190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2"/>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lnSpcReduction="10000"/>
          </a:bodyPr>
          <a:lstStyle/>
          <a:p>
            <a:pPr marL="214920" indent="-214920">
              <a:lnSpc>
                <a:spcPct val="90000"/>
              </a:lnSpc>
              <a:spcBef>
                <a:spcPts val="1001"/>
              </a:spcBef>
              <a:buClr>
                <a:srgbClr val="000000"/>
              </a:buClr>
              <a:buFont typeface="Arial"/>
              <a:buChar char="•"/>
            </a:pPr>
            <a:r>
              <a:rPr lang="en-CH" sz="2800" b="0" u="none" strike="noStrike" dirty="0">
                <a:solidFill>
                  <a:srgbClr val="000000"/>
                </a:solidFill>
                <a:effectLst/>
                <a:uFillTx/>
                <a:latin typeface="Calibri"/>
                <a:ea typeface="DejaVu Sans"/>
              </a:rPr>
              <a:t>Combine information across tables (</a:t>
            </a:r>
            <a:r>
              <a:rPr lang="en-CH" sz="2800" b="1" u="none" strike="noStrike" dirty="0">
                <a:solidFill>
                  <a:srgbClr val="000000"/>
                </a:solidFill>
                <a:effectLst/>
                <a:uFillTx/>
                <a:latin typeface="Calibri"/>
                <a:ea typeface="DejaVu Sans"/>
              </a:rPr>
              <a:t>join, anti-join</a:t>
            </a:r>
            <a:r>
              <a:rPr lang="en-CH" sz="2800" b="0" u="none" strike="noStrike" dirty="0">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dirty="0">
                <a:solidFill>
                  <a:srgbClr val="000000"/>
                </a:solidFill>
                <a:effectLst/>
                <a:uFillTx/>
                <a:latin typeface="Calibri"/>
                <a:ea typeface="DejaVu Sans"/>
              </a:rPr>
              <a:t>Join</a:t>
            </a:r>
            <a:r>
              <a:rPr lang="en-CH" sz="2200" b="0" u="none" strike="noStrike" dirty="0">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dirty="0">
                <a:solidFill>
                  <a:srgbClr val="000000"/>
                </a:solidFill>
                <a:effectLst/>
                <a:uFillTx/>
                <a:latin typeface="Calibri"/>
                <a:ea typeface="DejaVu Sans"/>
              </a:rPr>
              <a:t>Anti-join</a:t>
            </a:r>
            <a:r>
              <a:rPr lang="en-CH" sz="2200" b="0" u="none" strike="noStrike" dirty="0">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dirty="0">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dirty="0">
                <a:solidFill>
                  <a:srgbClr val="000000"/>
                </a:solidFill>
                <a:effectLst/>
                <a:uFillTx/>
                <a:latin typeface="Calibri"/>
                <a:ea typeface="DejaVu Sans"/>
              </a:rPr>
              <a:t>Summary tables (</a:t>
            </a:r>
            <a:r>
              <a:rPr lang="en-CH" sz="2800" b="1" u="none" strike="noStrike" dirty="0">
                <a:solidFill>
                  <a:srgbClr val="000000"/>
                </a:solidFill>
                <a:effectLst/>
                <a:uFillTx/>
                <a:latin typeface="Calibri"/>
                <a:ea typeface="DejaVu Sans"/>
              </a:rPr>
              <a:t>split-apply-combine</a:t>
            </a:r>
            <a:r>
              <a:rPr lang="en-CH" sz="2800" b="0" u="none" strike="noStrike" dirty="0">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dirty="0">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214920" indent="-214920">
              <a:spcBef>
                <a:spcPts val="1001"/>
              </a:spcBef>
              <a:buClr>
                <a:srgbClr val="000000"/>
              </a:buClr>
              <a:buFont typeface="Arial"/>
              <a:buChar char="•"/>
              <a:tabLst>
                <a:tab pos="0" algn="l"/>
              </a:tabLst>
            </a:pPr>
            <a:r>
              <a:rPr lang="en-CH" sz="2800" b="1" dirty="0">
                <a:solidFill>
                  <a:srgbClr val="000000"/>
                </a:solidFill>
                <a:latin typeface="Calibri"/>
              </a:rPr>
              <a:t>Window functions</a:t>
            </a:r>
            <a:r>
              <a:rPr lang="en-CH" sz="2800" dirty="0">
                <a:solidFill>
                  <a:srgbClr val="000000"/>
                </a:solidFill>
                <a:latin typeface="Calibri"/>
              </a:rPr>
              <a:t> to vectorize complex computations over groups</a:t>
            </a:r>
            <a:endParaRPr lang="en-GB" sz="2800" dirty="0">
              <a:solidFill>
                <a:srgbClr val="000000"/>
              </a:solidFill>
            </a:endParaRPr>
          </a:p>
          <a:p>
            <a:pPr marL="649800" lvl="1" indent="-214920">
              <a:spcBef>
                <a:spcPts val="499"/>
              </a:spcBef>
              <a:buClr>
                <a:srgbClr val="000000"/>
              </a:buClr>
              <a:buFont typeface="Arial"/>
              <a:buChar char="•"/>
              <a:tabLst>
                <a:tab pos="0" algn="l"/>
              </a:tabLst>
            </a:pPr>
            <a:r>
              <a:rPr lang="en-CH" sz="2200" dirty="0">
                <a:solidFill>
                  <a:srgbClr val="000000"/>
                </a:solidFill>
                <a:latin typeface="Calibri"/>
              </a:rPr>
              <a:t>E.g., compute some operation considering more than one row at the time</a:t>
            </a:r>
            <a:endParaRPr lang="en-GB" sz="2200" dirty="0">
              <a:solidFill>
                <a:srgbClr val="000000"/>
              </a:solidFill>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p:cNvSpPr>
            <a:spLocks noGrp="1"/>
          </p:cNvSpPr>
          <p:nvPr>
            <p:ph type="sldNum" idx="2"/>
          </p:nvPr>
        </p:nvSpPr>
        <p:spPr/>
        <p:txBody>
          <a:bodyPr/>
          <a:lstStyle/>
          <a:p>
            <a:fld id="{9442D02A-9C44-4620-97D6-D10361F3343D}" type="slidenum">
              <a:rPr/>
              <a:t>49</a:t>
            </a:fld>
            <a:endParaRPr/>
          </a:p>
        </p:txBody>
      </p:sp>
      <p:sp>
        <p:nvSpPr>
          <p:cNvPr id="281"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93C25E24-31F3-BAF5-3B24-EF32A27113E5}"/>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EFB5D4F9-BBEF-6652-1626-F1A8720A4775}"/>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EE104FF8-6A79-2078-83B2-40627C80301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276B79E9-F0D6-3461-7109-667C11B468A1}"/>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Date Placeholder 4">
            <a:extLst>
              <a:ext uri="{FF2B5EF4-FFF2-40B4-BE49-F238E27FC236}">
                <a16:creationId xmlns:a16="http://schemas.microsoft.com/office/drawing/2014/main" id="{8020CC42-E698-D46F-8834-95D718C9AA97}"/>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 operations</a:t>
            </a:r>
            <a:endParaRPr lang="en-GB" sz="4400" b="0" u="none" strike="noStrike">
              <a:solidFill>
                <a:srgbClr val="000000"/>
              </a:solidFill>
              <a:effectLst/>
              <a:uFillTx/>
              <a:latin typeface="Arial"/>
            </a:endParaRPr>
          </a:p>
        </p:txBody>
      </p:sp>
      <p:cxnSp>
        <p:nvCxnSpPr>
          <p:cNvPr id="627" name="Straight Arrow Connector 19"/>
          <p:cNvCxnSpPr/>
          <p:nvPr/>
        </p:nvCxnSpPr>
        <p:spPr>
          <a:xfrm flipV="1">
            <a:off x="2829600" y="2564640"/>
            <a:ext cx="411480" cy="672840"/>
          </a:xfrm>
          <a:prstGeom prst="straightConnector1">
            <a:avLst/>
          </a:prstGeom>
          <a:ln w="57150">
            <a:solidFill>
              <a:srgbClr val="C55A11"/>
            </a:solidFill>
            <a:round/>
            <a:tailEnd type="triangle" w="med" len="med"/>
          </a:ln>
        </p:spPr>
      </p:cxnSp>
      <p:cxnSp>
        <p:nvCxnSpPr>
          <p:cNvPr id="628" name="Straight Arrow Connector 20"/>
          <p:cNvCxnSpPr/>
          <p:nvPr/>
        </p:nvCxnSpPr>
        <p:spPr>
          <a:xfrm flipV="1">
            <a:off x="2822760" y="3840480"/>
            <a:ext cx="526680" cy="95040"/>
          </a:xfrm>
          <a:prstGeom prst="straightConnector1">
            <a:avLst/>
          </a:prstGeom>
          <a:ln w="57150">
            <a:solidFill>
              <a:srgbClr val="C55A11"/>
            </a:solidFill>
            <a:round/>
            <a:tailEnd type="triangle" w="med" len="med"/>
          </a:ln>
        </p:spPr>
      </p:cxnSp>
      <p:cxnSp>
        <p:nvCxnSpPr>
          <p:cNvPr id="629" name="Straight Arrow Connector 21"/>
          <p:cNvCxnSpPr/>
          <p:nvPr/>
        </p:nvCxnSpPr>
        <p:spPr>
          <a:xfrm>
            <a:off x="2811600" y="4768920"/>
            <a:ext cx="550080" cy="679320"/>
          </a:xfrm>
          <a:prstGeom prst="straightConnector1">
            <a:avLst/>
          </a:prstGeom>
          <a:ln w="57150">
            <a:solidFill>
              <a:srgbClr val="C55A11"/>
            </a:solidFill>
            <a:round/>
            <a:tailEnd type="triangle" w="med" len="med"/>
          </a:ln>
        </p:spPr>
      </p:cxnSp>
      <p:cxnSp>
        <p:nvCxnSpPr>
          <p:cNvPr id="630" name="Straight Arrow Connector 42"/>
          <p:cNvCxnSpPr/>
          <p:nvPr/>
        </p:nvCxnSpPr>
        <p:spPr>
          <a:xfrm>
            <a:off x="8301240" y="2178720"/>
            <a:ext cx="473760" cy="313560"/>
          </a:xfrm>
          <a:prstGeom prst="straightConnector1">
            <a:avLst/>
          </a:prstGeom>
          <a:ln w="57150">
            <a:solidFill>
              <a:srgbClr val="548235"/>
            </a:solidFill>
            <a:round/>
            <a:tailEnd type="triangle" w="med" len="med"/>
          </a:ln>
        </p:spPr>
      </p:cxnSp>
      <p:cxnSp>
        <p:nvCxnSpPr>
          <p:cNvPr id="631" name="Straight Arrow Connector 44"/>
          <p:cNvCxnSpPr/>
          <p:nvPr/>
        </p:nvCxnSpPr>
        <p:spPr>
          <a:xfrm>
            <a:off x="8301240" y="3955320"/>
            <a:ext cx="460440" cy="198720"/>
          </a:xfrm>
          <a:prstGeom prst="straightConnector1">
            <a:avLst/>
          </a:prstGeom>
          <a:ln w="57150">
            <a:solidFill>
              <a:srgbClr val="548235"/>
            </a:solidFill>
            <a:round/>
            <a:tailEnd type="triangle" w="med" len="med"/>
          </a:ln>
        </p:spPr>
      </p:cxnSp>
      <p:cxnSp>
        <p:nvCxnSpPr>
          <p:cNvPr id="632" name="Straight Arrow Connector 48"/>
          <p:cNvCxnSpPr/>
          <p:nvPr/>
        </p:nvCxnSpPr>
        <p:spPr>
          <a:xfrm flipV="1">
            <a:off x="8301240" y="4747320"/>
            <a:ext cx="460440" cy="695520"/>
          </a:xfrm>
          <a:prstGeom prst="straightConnector1">
            <a:avLst/>
          </a:prstGeom>
          <a:ln w="57150">
            <a:solidFill>
              <a:srgbClr val="548235"/>
            </a:solidFill>
            <a:round/>
            <a:tailEnd type="triangle" w="med" len="med"/>
          </a:ln>
        </p:spPr>
      </p:cxnSp>
      <p:sp>
        <p:nvSpPr>
          <p:cNvPr id="633" name="TextBox 2"/>
          <p:cNvSpPr/>
          <p:nvPr/>
        </p:nvSpPr>
        <p:spPr>
          <a:xfrm>
            <a:off x="623520" y="1041120"/>
            <a:ext cx="113324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chemeClr val="accent6">
                    <a:lumMod val="75000"/>
                  </a:schemeClr>
                </a:solidFill>
                <a:effectLst/>
                <a:uFillTx/>
                <a:latin typeface="Consolas"/>
                <a:ea typeface="DejaVu Sans"/>
              </a:rPr>
              <a:t>df['nr_lefts'] </a:t>
            </a:r>
            <a:r>
              <a:rPr lang="en-CH" sz="1800" b="0" u="none" strike="noStrike">
                <a:solidFill>
                  <a:srgbClr val="000000"/>
                </a:solidFill>
                <a:effectLst/>
                <a:uFillTx/>
                <a:latin typeface="Consolas"/>
                <a:ea typeface="DejaVu Sans"/>
              </a:rPr>
              <a:t>= df</a:t>
            </a:r>
            <a:r>
              <a:rPr lang="en-CH" sz="1800" b="0" u="none" strike="noStrike">
                <a:solidFill>
                  <a:schemeClr val="accent2">
                    <a:lumMod val="75000"/>
                  </a:schemeClr>
                </a:solidFill>
                <a:effectLst/>
                <a:uFillTx/>
                <a:latin typeface="Consolas"/>
                <a:ea typeface="DejaVu Sans"/>
              </a:rPr>
              <a:t>.sort_values('time (ms)').groupby('subject_id')</a:t>
            </a:r>
            <a:r>
              <a:rPr lang="en-CH" sz="1800" b="0" u="none" strike="noStrike">
                <a:solidFill>
                  <a:schemeClr val="accent5">
                    <a:lumMod val="50000"/>
                  </a:schemeClr>
                </a:solidFill>
                <a:effectLst/>
                <a:uFillTx/>
                <a:latin typeface="Consolas"/>
                <a:ea typeface="DejaVu Sans"/>
              </a:rPr>
              <a:t>['is_left'].cumsum()</a:t>
            </a:r>
            <a:endParaRPr lang="en-GB" sz="1800" b="0" u="none" strike="noStrike">
              <a:solidFill>
                <a:srgbClr val="000000"/>
              </a:solidFill>
              <a:effectLst/>
              <a:uFillTx/>
              <a:latin typeface="Arial"/>
            </a:endParaRPr>
          </a:p>
        </p:txBody>
      </p:sp>
      <p:pic>
        <p:nvPicPr>
          <p:cNvPr id="634" name="Picture 10"/>
          <p:cNvPicPr/>
          <p:nvPr/>
        </p:nvPicPr>
        <p:blipFill>
          <a:blip r:embed="rId3"/>
          <a:stretch/>
        </p:blipFill>
        <p:spPr>
          <a:xfrm>
            <a:off x="142920" y="2124720"/>
            <a:ext cx="2606760" cy="3428640"/>
          </a:xfrm>
          <a:prstGeom prst="rect">
            <a:avLst/>
          </a:prstGeom>
          <a:noFill/>
          <a:ln w="0">
            <a:noFill/>
          </a:ln>
        </p:spPr>
      </p:pic>
      <p:pic>
        <p:nvPicPr>
          <p:cNvPr id="635" name="Picture 18"/>
          <p:cNvPicPr/>
          <p:nvPr/>
        </p:nvPicPr>
        <p:blipFill>
          <a:blip r:embed="rId4"/>
          <a:stretch/>
        </p:blipFill>
        <p:spPr>
          <a:xfrm>
            <a:off x="3404520" y="1479960"/>
            <a:ext cx="3016800" cy="4873320"/>
          </a:xfrm>
          <a:prstGeom prst="rect">
            <a:avLst/>
          </a:prstGeom>
          <a:noFill/>
          <a:ln w="0">
            <a:noFill/>
          </a:ln>
        </p:spPr>
      </p:pic>
      <p:pic>
        <p:nvPicPr>
          <p:cNvPr id="636" name="Picture 26"/>
          <p:cNvPicPr/>
          <p:nvPr/>
        </p:nvPicPr>
        <p:blipFill>
          <a:blip r:embed="rId5"/>
          <a:stretch/>
        </p:blipFill>
        <p:spPr>
          <a:xfrm>
            <a:off x="7079040" y="1479960"/>
            <a:ext cx="1090800" cy="4915800"/>
          </a:xfrm>
          <a:prstGeom prst="rect">
            <a:avLst/>
          </a:prstGeom>
          <a:noFill/>
          <a:ln w="0">
            <a:noFill/>
          </a:ln>
        </p:spPr>
      </p:pic>
      <p:sp>
        <p:nvSpPr>
          <p:cNvPr id="637" name="Right Arrow 27"/>
          <p:cNvSpPr/>
          <p:nvPr/>
        </p:nvSpPr>
        <p:spPr>
          <a:xfrm>
            <a:off x="6519240" y="342900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pic>
        <p:nvPicPr>
          <p:cNvPr id="638" name="Picture 28"/>
          <p:cNvPicPr/>
          <p:nvPr/>
        </p:nvPicPr>
        <p:blipFill>
          <a:blip r:embed="rId6"/>
          <a:stretch/>
        </p:blipFill>
        <p:spPr>
          <a:xfrm>
            <a:off x="8968680" y="2124720"/>
            <a:ext cx="3100680" cy="3438720"/>
          </a:xfrm>
          <a:prstGeom prst="rect">
            <a:avLst/>
          </a:prstGeom>
          <a:noFill/>
          <a:ln w="0">
            <a:noFill/>
          </a:ln>
        </p:spPr>
      </p:pic>
      <p:sp>
        <p:nvSpPr>
          <p:cNvPr id="2" name="PlaceHolder 1">
            <a:extLst>
              <a:ext uri="{FF2B5EF4-FFF2-40B4-BE49-F238E27FC236}">
                <a16:creationId xmlns:a16="http://schemas.microsoft.com/office/drawing/2014/main" id="{5CBFF3A8-200E-9AFD-446E-9283ED06B2B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E249ED3B-E8DD-48D8-9934-B016CA83BCB5}"/>
              </a:ext>
            </a:extLst>
          </p:cNvPr>
          <p:cNvSpPr>
            <a:spLocks noGrp="1"/>
          </p:cNvSpPr>
          <p:nvPr>
            <p:ph type="ftr" idx="1"/>
          </p:nvPr>
        </p:nvSpPr>
        <p:spPr>
          <a:xfrm>
            <a:off x="4038480" y="6356520"/>
            <a:ext cx="4111560" cy="361800"/>
          </a:xfrm>
        </p:spPr>
        <p:txBody>
          <a:bodyPr/>
          <a:lstStyle/>
          <a:p>
            <a:r>
              <a:rPr lang="en-US"/>
              <a:t>Tab, v4.0</a:t>
            </a:r>
            <a:endParaRPr dirty="0"/>
          </a:p>
        </p:txBody>
      </p:sp>
      <p:sp>
        <p:nvSpPr>
          <p:cNvPr id="3" name="Date Placeholder 2">
            <a:extLst>
              <a:ext uri="{FF2B5EF4-FFF2-40B4-BE49-F238E27FC236}">
                <a16:creationId xmlns:a16="http://schemas.microsoft.com/office/drawing/2014/main" id="{FF9ABC4E-6DCB-EB45-52CC-1A6C0DC02186}"/>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5" name="Slide Number Placeholder 4">
            <a:extLst>
              <a:ext uri="{FF2B5EF4-FFF2-40B4-BE49-F238E27FC236}">
                <a16:creationId xmlns:a16="http://schemas.microsoft.com/office/drawing/2014/main" id="{C5B3A7D3-86D9-5FD2-9C87-5C59D7A453D2}"/>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50</a:t>
            </a:fld>
            <a:endParaRPr lang="en-GB" sz="1200" b="0" u="none" strike="noStrike" dirty="0">
              <a:solidFill>
                <a:srgbClr val="000000"/>
              </a:solidFill>
              <a:effectLst/>
              <a:uFillTx/>
              <a:latin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48EED-F1BD-AB3C-5C0B-53A44BE0C2E8}"/>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9E8625FE-E804-BAD0-06AB-05F254E92FDC}"/>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endParaRPr lang="en-US" sz="2200" dirty="0">
              <a:solidFill>
                <a:srgbClr val="000000"/>
              </a:solidFill>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dirty="0">
              <a:solidFill>
                <a:srgbClr val="000000"/>
              </a:solidFill>
              <a:latin typeface="Calibri"/>
              <a:ea typeface="DejaVu Sans"/>
            </a:endParaRPr>
          </a:p>
          <a:p>
            <a:pPr marL="214920" marR="0" lvl="0" indent="-214920" algn="l" defTabSz="914400" rtl="0" eaLnBrk="1" fontAlgn="auto" latinLnBrk="0" hangingPunct="1">
              <a:lnSpc>
                <a:spcPct val="90000"/>
              </a:lnSpc>
              <a:spcBef>
                <a:spcPts val="1001"/>
              </a:spcBef>
              <a:spcAft>
                <a:spcPts val="0"/>
              </a:spcAft>
              <a:buClr>
                <a:srgbClr val="000000"/>
              </a:buClr>
              <a:buSzTx/>
              <a:buFont typeface="Arial"/>
              <a:buChar char="•"/>
              <a:tabLst>
                <a:tab pos="0" algn="l"/>
              </a:tabLst>
              <a:defRPr/>
            </a:pPr>
            <a:r>
              <a:rPr kumimoji="0" lang="en-CH" sz="2800" b="1" i="0" u="none" strike="noStrike" kern="1200" cap="none" spc="0" normalizeH="0" baseline="0" noProof="0">
                <a:ln>
                  <a:noFill/>
                </a:ln>
                <a:solidFill>
                  <a:srgbClr val="000000"/>
                </a:solidFill>
                <a:effectLst/>
                <a:uLnTx/>
                <a:uFillTx/>
                <a:latin typeface="Calibri"/>
              </a:rPr>
              <a:t>Window functions</a:t>
            </a:r>
            <a:r>
              <a:rPr kumimoji="0" lang="en-CH" sz="2800" b="0" i="0" u="none" strike="noStrike" kern="1200" cap="none" spc="0" normalizeH="0" baseline="0" noProof="0">
                <a:ln>
                  <a:noFill/>
                </a:ln>
                <a:solidFill>
                  <a:srgbClr val="000000"/>
                </a:solidFill>
                <a:effectLst/>
                <a:uLnTx/>
                <a:uFillTx/>
                <a:latin typeface="Calibri"/>
              </a:rPr>
              <a:t> to vectorize complex computations over groups</a:t>
            </a:r>
            <a:endParaRPr kumimoji="0" lang="en-GB" sz="2800" b="0" i="0" u="none" strike="noStrike" kern="1200" cap="none" spc="0" normalizeH="0" baseline="0" noProof="0" dirty="0">
              <a:ln>
                <a:noFill/>
              </a:ln>
              <a:solidFill>
                <a:srgbClr val="000000"/>
              </a:solidFill>
              <a:effectLst/>
              <a:uLnTx/>
              <a:uFillTx/>
              <a:latin typeface="Arial"/>
            </a:endParaRPr>
          </a:p>
          <a:p>
            <a:pPr marL="649800" marR="0" lvl="1" indent="-214920" algn="l" defTabSz="914400" rtl="0" eaLnBrk="1" fontAlgn="auto" latinLnBrk="0" hangingPunct="1">
              <a:lnSpc>
                <a:spcPct val="90000"/>
              </a:lnSpc>
              <a:spcBef>
                <a:spcPts val="499"/>
              </a:spcBef>
              <a:spcAft>
                <a:spcPts val="0"/>
              </a:spcAft>
              <a:buClr>
                <a:srgbClr val="000000"/>
              </a:buClr>
              <a:buSzTx/>
              <a:buFont typeface="Arial"/>
              <a:buChar char="•"/>
              <a:tabLst>
                <a:tab pos="0" algn="l"/>
              </a:tabLst>
              <a:defRPr/>
            </a:pPr>
            <a:r>
              <a:rPr kumimoji="0" lang="en-CH" sz="2200" b="0" i="0" u="none" strike="noStrike" kern="1200" cap="none" spc="0" normalizeH="0" baseline="0" noProof="0">
                <a:ln>
                  <a:noFill/>
                </a:ln>
                <a:solidFill>
                  <a:srgbClr val="000000"/>
                </a:solidFill>
                <a:effectLst/>
                <a:uLnTx/>
                <a:uFillTx/>
                <a:latin typeface="Calibri"/>
              </a:rPr>
              <a:t>E.g., compute some operation considering more than one row at the time</a:t>
            </a:r>
            <a:endParaRPr kumimoji="0" lang="en-GB" sz="2200" b="0" i="0" u="none" strike="noStrike" kern="1200" cap="none" spc="0" normalizeH="0" baseline="0" noProof="0" dirty="0">
              <a:ln>
                <a:noFill/>
              </a:ln>
              <a:solidFill>
                <a:srgbClr val="000000"/>
              </a:solidFill>
              <a:effectLst/>
              <a:uLnTx/>
              <a:uFillTx/>
              <a:latin typeface="Arial"/>
            </a:endParaRPr>
          </a:p>
          <a:p>
            <a:pPr marL="649800" lvl="1" indent="-214920">
              <a:lnSpc>
                <a:spcPct val="90000"/>
              </a:lnSpc>
              <a:spcBef>
                <a:spcPts val="499"/>
              </a:spcBef>
              <a:buClr>
                <a:srgbClr val="000000"/>
              </a:buClr>
              <a:buFont typeface="Arial"/>
              <a:buChar char="•"/>
              <a:tabLst>
                <a:tab pos="0" algn="l"/>
              </a:tabLst>
            </a:pPr>
            <a:endParaRPr lang="en-US" sz="2200" dirty="0">
              <a:solidFill>
                <a:srgbClr val="000000"/>
              </a:solidFill>
              <a:latin typeface="Calibri"/>
              <a:ea typeface="DejaVu Sans"/>
            </a:endParaRPr>
          </a:p>
        </p:txBody>
      </p:sp>
      <p:sp>
        <p:nvSpPr>
          <p:cNvPr id="6" name="PlaceHolder 5">
            <a:extLst>
              <a:ext uri="{FF2B5EF4-FFF2-40B4-BE49-F238E27FC236}">
                <a16:creationId xmlns:a16="http://schemas.microsoft.com/office/drawing/2014/main" id="{3D5AD236-9650-E621-8458-A86C06BEF053}"/>
              </a:ext>
            </a:extLst>
          </p:cNvPr>
          <p:cNvSpPr>
            <a:spLocks noGrp="1"/>
          </p:cNvSpPr>
          <p:nvPr>
            <p:ph type="sldNum" idx="2"/>
          </p:nvPr>
        </p:nvSpPr>
        <p:spPr/>
        <p:txBody>
          <a:bodyPr/>
          <a:lstStyle/>
          <a:p>
            <a:fld id="{9442D02A-9C44-4620-97D6-D10361F3343D}" type="slidenum">
              <a:rPr/>
              <a:t>51</a:t>
            </a:fld>
            <a:endParaRPr/>
          </a:p>
        </p:txBody>
      </p:sp>
      <p:sp>
        <p:nvSpPr>
          <p:cNvPr id="281" name="PlaceHolder 1">
            <a:extLst>
              <a:ext uri="{FF2B5EF4-FFF2-40B4-BE49-F238E27FC236}">
                <a16:creationId xmlns:a16="http://schemas.microsoft.com/office/drawing/2014/main" id="{51B2B822-361C-7B92-7840-703951D68742}"/>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D683F995-EE42-E860-FB0C-651E8BB3F920}"/>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9F458FE6-C3EC-6ACA-4C3A-4582F70B1758}"/>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6545D65C-5C28-005D-7A34-2D0175ED71E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89EF5730-B66B-2C43-E1AC-52D76AFCCC0A}"/>
              </a:ext>
            </a:extLst>
          </p:cNvPr>
          <p:cNvSpPr>
            <a:spLocks noGrp="1"/>
          </p:cNvSpPr>
          <p:nvPr>
            <p:ph type="ftr" idx="1"/>
          </p:nvPr>
        </p:nvSpPr>
        <p:spPr>
          <a:xfrm>
            <a:off x="4038480" y="6356520"/>
            <a:ext cx="4111560" cy="361800"/>
          </a:xfrm>
        </p:spPr>
        <p:txBody>
          <a:bodyPr/>
          <a:lstStyle/>
          <a:p>
            <a:r>
              <a:rPr lang="en-US"/>
              <a:t>Tab, v4.0</a:t>
            </a:r>
            <a:endParaRPr dirty="0"/>
          </a:p>
        </p:txBody>
      </p:sp>
      <p:sp>
        <p:nvSpPr>
          <p:cNvPr id="5" name="Rounded Rectangle 4">
            <a:extLst>
              <a:ext uri="{FF2B5EF4-FFF2-40B4-BE49-F238E27FC236}">
                <a16:creationId xmlns:a16="http://schemas.microsoft.com/office/drawing/2014/main" id="{9CCBA4C6-CE9D-2C7B-DCF2-60B222399BC4}"/>
              </a:ext>
            </a:extLst>
          </p:cNvPr>
          <p:cNvSpPr/>
          <p:nvPr/>
        </p:nvSpPr>
        <p:spPr>
          <a:xfrm>
            <a:off x="540360" y="4629070"/>
            <a:ext cx="10619640" cy="837468"/>
          </a:xfrm>
          <a:prstGeom prst="roundRect">
            <a:avLst>
              <a:gd name="adj" fmla="val 16667"/>
            </a:avLst>
          </a:prstGeom>
          <a:noFill/>
          <a:ln w="72000">
            <a:solidFill>
              <a:srgbClr val="008D18"/>
            </a:solidFill>
            <a:prstDash val="sysDash"/>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a:solidFill>
                <a:srgbClr val="000000"/>
              </a:solidFill>
              <a:effectLst/>
              <a:uFillTx/>
              <a:latin typeface="Arial"/>
              <a:ea typeface="DejaVu Sans"/>
            </a:endParaRPr>
          </a:p>
        </p:txBody>
      </p:sp>
      <p:sp>
        <p:nvSpPr>
          <p:cNvPr id="10" name="TextBox 2">
            <a:extLst>
              <a:ext uri="{FF2B5EF4-FFF2-40B4-BE49-F238E27FC236}">
                <a16:creationId xmlns:a16="http://schemas.microsoft.com/office/drawing/2014/main" id="{B73AD683-FECE-43D7-5E7F-E6F6292C4095}"/>
              </a:ext>
            </a:extLst>
          </p:cNvPr>
          <p:cNvSpPr/>
          <p:nvPr/>
        </p:nvSpPr>
        <p:spPr>
          <a:xfrm>
            <a:off x="1774440" y="2255220"/>
            <a:ext cx="8639640" cy="2763405"/>
          </a:xfrm>
          <a:custGeom>
            <a:avLst/>
            <a:gdLst>
              <a:gd name="textAreaLeft" fmla="*/ 0 w 8639640"/>
              <a:gd name="textAreaRight" fmla="*/ 8643960 w 863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indent="0">
              <a:lnSpc>
                <a:spcPct val="90000"/>
              </a:lnSpc>
              <a:spcBef>
                <a:spcPts val="1417"/>
              </a:spcBef>
              <a:buNone/>
              <a:tabLst>
                <a:tab pos="0" algn="l"/>
              </a:tabLst>
            </a:pPr>
            <a:r>
              <a:rPr lang="en-CH" sz="3600">
                <a:solidFill>
                  <a:srgbClr val="F57A00"/>
                </a:solidFill>
                <a:latin typeface="Calibri" panose="020F0502020204030204" pitchFamily="34" charset="0"/>
                <a:ea typeface="Calibri"/>
                <a:cs typeface="Calibri" panose="020F0502020204030204" pitchFamily="34" charset="0"/>
              </a:rPr>
              <a:t>→ </a:t>
            </a:r>
            <a:r>
              <a:rPr lang="en-CH" sz="3600">
                <a:solidFill>
                  <a:srgbClr val="F57A00"/>
                </a:solidFill>
                <a:latin typeface="Calibri" panose="020F0502020204030204" pitchFamily="34" charset="0"/>
                <a:cs typeface="Calibri" panose="020F0502020204030204" pitchFamily="34" charset="0"/>
              </a:rPr>
              <a:t>Libraries are optimized to operate on tabular data</a:t>
            </a:r>
            <a:endParaRPr lang="en-GB" sz="3600" dirty="0">
              <a:solidFill>
                <a:srgbClr val="F57A00"/>
              </a:solidFill>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r>
              <a:rPr lang="en-CH" sz="3600">
                <a:solidFill>
                  <a:srgbClr val="F57A00"/>
                </a:solidFill>
                <a:latin typeface="Calibri" panose="020F0502020204030204" pitchFamily="34" charset="0"/>
                <a:ea typeface="Calibri"/>
                <a:cs typeface="Calibri" panose="020F0502020204030204" pitchFamily="34" charset="0"/>
              </a:rPr>
              <a:t>→ </a:t>
            </a:r>
            <a:r>
              <a:rPr lang="en-US" sz="3600" dirty="0">
                <a:solidFill>
                  <a:srgbClr val="F57A00"/>
                </a:solidFill>
                <a:latin typeface="Calibri" panose="020F0502020204030204" pitchFamily="34" charset="0"/>
                <a:ea typeface="Calibri"/>
                <a:cs typeface="Calibri" panose="020F0502020204030204" pitchFamily="34" charset="0"/>
              </a:rPr>
              <a:t>The goal of t</a:t>
            </a:r>
            <a:r>
              <a:rPr lang="en-CH" sz="3600">
                <a:solidFill>
                  <a:srgbClr val="F57A00"/>
                </a:solidFill>
                <a:latin typeface="Calibri" panose="020F0502020204030204" pitchFamily="34" charset="0"/>
                <a:cs typeface="Calibri" panose="020F0502020204030204" pitchFamily="34" charset="0"/>
              </a:rPr>
              <a:t>oday </a:t>
            </a:r>
            <a:r>
              <a:rPr lang="en-US" sz="3600" dirty="0">
                <a:solidFill>
                  <a:srgbClr val="F57A00"/>
                </a:solidFill>
                <a:latin typeface="Calibri" panose="020F0502020204030204" pitchFamily="34" charset="0"/>
                <a:cs typeface="Calibri" panose="020F0502020204030204" pitchFamily="34" charset="0"/>
              </a:rPr>
              <a:t>was to introduce some of these vectorized operations and </a:t>
            </a:r>
            <a:r>
              <a:rPr lang="en-CH" sz="3600">
                <a:solidFill>
                  <a:srgbClr val="F57A00"/>
                </a:solidFill>
                <a:latin typeface="Calibri" panose="020F0502020204030204" pitchFamily="34" charset="0"/>
                <a:cs typeface="Calibri" panose="020F0502020204030204" pitchFamily="34" charset="0"/>
              </a:rPr>
              <a:t>why it is important to use </a:t>
            </a:r>
            <a:r>
              <a:rPr lang="en-US" sz="3600" dirty="0">
                <a:solidFill>
                  <a:srgbClr val="F57A00"/>
                </a:solidFill>
                <a:latin typeface="Calibri" panose="020F0502020204030204" pitchFamily="34" charset="0"/>
                <a:cs typeface="Calibri" panose="020F0502020204030204" pitchFamily="34" charset="0"/>
              </a:rPr>
              <a:t>them</a:t>
            </a:r>
            <a:endParaRPr lang="en-GB" sz="3600" dirty="0">
              <a:solidFill>
                <a:srgbClr val="F57A00"/>
              </a:solidFill>
              <a:latin typeface="Calibri" panose="020F0502020204030204" pitchFamily="34" charset="0"/>
              <a:cs typeface="Calibri" panose="020F0502020204030204" pitchFamily="34" charset="0"/>
            </a:endParaRPr>
          </a:p>
        </p:txBody>
      </p:sp>
      <p:sp>
        <p:nvSpPr>
          <p:cNvPr id="8" name="Date Placeholder 7">
            <a:extLst>
              <a:ext uri="{FF2B5EF4-FFF2-40B4-BE49-F238E27FC236}">
                <a16:creationId xmlns:a16="http://schemas.microsoft.com/office/drawing/2014/main" id="{19610F08-6B35-09C2-B16D-41C412EC258E}"/>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28635015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 name="PlaceHolder 2"/>
          <p:cNvSpPr>
            <a:spLocks noGrp="1"/>
          </p:cNvSpPr>
          <p:nvPr>
            <p:ph type="body"/>
          </p:nvPr>
        </p:nvSpPr>
        <p:spPr>
          <a:xfrm>
            <a:off x="609480" y="1418040"/>
            <a:ext cx="10972080" cy="4680785"/>
          </a:xfrm>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There are many different data structures, each specialized in efficiently processing one type of data</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Code performance grows differently with data size: Big-O</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NumPy array efficiently store data in a C-native memory block, interpreted as an array using some metadata</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NumPy operations that only need to change the metadata do so, creating a view of the same memory block. These operations are O(1)!</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Tabular data can also be vectorized using joins, anti-joins, split-apply-combine operations, and window functions</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For these operations to be efficient and painless, data should be stored in a tidy data format</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C80F16BE-5422-4E51-B0B6-DDBD6580356E}" type="slidenum">
              <a:rPr>
                <a:latin typeface="Calibri" panose="020F0502020204030204" pitchFamily="34" charset="0"/>
                <a:cs typeface="Calibri" panose="020F0502020204030204" pitchFamily="34" charset="0"/>
              </a:rPr>
              <a:t>52</a:t>
            </a:fld>
            <a:endParaRPr>
              <a:latin typeface="Calibri" panose="020F0502020204030204" pitchFamily="34" charset="0"/>
              <a:cs typeface="Calibri" panose="020F0502020204030204" pitchFamily="34" charset="0"/>
            </a:endParaRPr>
          </a:p>
        </p:txBody>
      </p:sp>
      <p:sp>
        <p:nvSpPr>
          <p:cNvPr id="45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Global summary</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4D4F15EA-191C-8B26-5699-9525939290D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3" name="PlaceHolder 2">
            <a:extLst>
              <a:ext uri="{FF2B5EF4-FFF2-40B4-BE49-F238E27FC236}">
                <a16:creationId xmlns:a16="http://schemas.microsoft.com/office/drawing/2014/main" id="{BB9A82D5-290A-5861-73F2-89D697821393}"/>
              </a:ext>
            </a:extLst>
          </p:cNvPr>
          <p:cNvSpPr>
            <a:spLocks noGrp="1"/>
          </p:cNvSpPr>
          <p:nvPr>
            <p:ph type="ftr" idx="1"/>
          </p:nvPr>
        </p:nvSpPr>
        <p:spPr>
          <a:xfrm>
            <a:off x="4038480" y="6356520"/>
            <a:ext cx="4111560" cy="361800"/>
          </a:xfrm>
        </p:spPr>
        <p:txBody>
          <a:bodyPr/>
          <a:lstStyle/>
          <a:p>
            <a:r>
              <a:rPr lang="en-US"/>
              <a:t>Tab, v4.0</a:t>
            </a:r>
            <a:endParaRPr dirty="0"/>
          </a:p>
        </p:txBody>
      </p:sp>
      <p:sp>
        <p:nvSpPr>
          <p:cNvPr id="4" name="Date Placeholder 3">
            <a:extLst>
              <a:ext uri="{FF2B5EF4-FFF2-40B4-BE49-F238E27FC236}">
                <a16:creationId xmlns:a16="http://schemas.microsoft.com/office/drawing/2014/main" id="{A10A5974-DE26-22A4-5EF8-BBC5B8F92D4A}"/>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PlaceHolder 2"/>
          <p:cNvSpPr>
            <a:spLocks noGrp="1"/>
          </p:cNvSpPr>
          <p:nvPr>
            <p:ph type="body"/>
          </p:nvPr>
        </p:nvSpPr>
        <p:spPr>
          <a:xfrm>
            <a:off x="742483" y="1425633"/>
            <a:ext cx="10972080" cy="4057331"/>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dirty="0">
                <a:solidFill>
                  <a:srgbClr val="000000"/>
                </a:solidFill>
                <a:effectLst/>
                <a:uFillTx/>
                <a:latin typeface="Calibri" panose="020F0502020204030204" pitchFamily="34" charset="0"/>
                <a:ea typeface="DejaVu Sans"/>
                <a:cs typeface="Calibri" panose="020F0502020204030204" pitchFamily="34" charset="0"/>
              </a:rPr>
              <a:t>Recommendations: </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NEVER overwite a data file. Treat data files as immutable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Use versioning for changes in the data file, and load the latest version for new analyses, old versions to reproduce previous results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(pond is a library </a:t>
            </a:r>
            <a:r>
              <a:rPr lang="en-US" sz="2400" dirty="0">
                <a:solidFill>
                  <a:srgbClr val="000000"/>
                </a:solidFill>
                <a:latin typeface="Calibri" panose="020F0502020204030204" pitchFamily="34" charset="0"/>
                <a:ea typeface="DejaVu Sans"/>
                <a:cs typeface="Calibri" panose="020F0502020204030204" pitchFamily="34" charset="0"/>
              </a:rPr>
              <a:t>Pietro is </a:t>
            </a: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working on to automatize this process)</a:t>
            </a:r>
            <a:endPar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endParaRPr>
          </a:p>
          <a:p>
            <a:pPr marL="457200" lvl="1">
              <a:lnSpc>
                <a:spcPct val="90000"/>
              </a:lnSpc>
              <a:spcBef>
                <a:spcPts val="499"/>
              </a:spcBef>
              <a:buClr>
                <a:srgbClr val="000000"/>
              </a:buClr>
            </a:pP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dirty="0">
                <a:solidFill>
                  <a:srgbClr val="000000"/>
                </a:solidFill>
                <a:effectLst/>
                <a:uFillTx/>
                <a:latin typeface="Calibri" panose="020F0502020204030204" pitchFamily="34" charset="0"/>
                <a:ea typeface="DejaVu Sans"/>
                <a:cs typeface="Calibri" panose="020F0502020204030204" pitchFamily="34" charset="0"/>
              </a:rPr>
              <a:t>Like in computer code:</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Adding new columns / rows is generally ok</a:t>
            </a:r>
            <a:r>
              <a:rPr lang="en-US" sz="2400" b="0" u="none" strike="noStrike" dirty="0" err="1">
                <a:solidFill>
                  <a:srgbClr val="000000"/>
                </a:solidFill>
                <a:effectLst/>
                <a:uFillTx/>
                <a:latin typeface="Calibri" panose="020F0502020204030204" pitchFamily="34" charset="0"/>
                <a:ea typeface="DejaVu Sans"/>
                <a:cs typeface="Calibri" panose="020F0502020204030204" pitchFamily="34" charset="0"/>
              </a:rPr>
              <a:t>ey</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Deleting/changing a column is not! Code will break! Add a new column instead</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4568EEAE-1295-49F4-B8C7-D6F1231F01B9}" type="slidenum">
              <a:rPr>
                <a:latin typeface="Calibri" panose="020F0502020204030204" pitchFamily="34" charset="0"/>
                <a:cs typeface="Calibri" panose="020F0502020204030204" pitchFamily="34" charset="0"/>
              </a:rPr>
              <a:t>53</a:t>
            </a:fld>
            <a:endParaRPr dirty="0">
              <a:latin typeface="Calibri" panose="020F0502020204030204" pitchFamily="34" charset="0"/>
              <a:cs typeface="Calibri" panose="020F0502020204030204" pitchFamily="34" charset="0"/>
            </a:endParaRPr>
          </a:p>
        </p:txBody>
      </p:sp>
      <p:sp>
        <p:nvSpPr>
          <p:cNvPr id="655"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Dealing with changes in the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13F8F20E-E201-F963-BBAA-22CF57C26CE6}"/>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CCB2EC2B-8721-C37E-327E-FF8238E70556}"/>
              </a:ext>
            </a:extLst>
          </p:cNvPr>
          <p:cNvSpPr>
            <a:spLocks noGrp="1"/>
          </p:cNvSpPr>
          <p:nvPr>
            <p:ph type="ftr" idx="1"/>
          </p:nvPr>
        </p:nvSpPr>
        <p:spPr>
          <a:xfrm>
            <a:off x="4038480" y="6356520"/>
            <a:ext cx="4111560" cy="361800"/>
          </a:xfrm>
        </p:spPr>
        <p:txBody>
          <a:bodyPr/>
          <a:lstStyle/>
          <a:p>
            <a:r>
              <a:rPr lang="en-US"/>
              <a:t>Tab, v4.0</a:t>
            </a:r>
            <a:endParaRPr dirty="0"/>
          </a:p>
        </p:txBody>
      </p:sp>
      <p:sp>
        <p:nvSpPr>
          <p:cNvPr id="4" name="Date Placeholder 3">
            <a:extLst>
              <a:ext uri="{FF2B5EF4-FFF2-40B4-BE49-F238E27FC236}">
                <a16:creationId xmlns:a16="http://schemas.microsoft.com/office/drawing/2014/main" id="{796BFDE8-0750-109F-54DF-2CD55B692AF1}"/>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8" name="Picture 35" descr="Image"/>
          <p:cNvPicPr/>
          <p:nvPr/>
        </p:nvPicPr>
        <p:blipFill>
          <a:blip r:embed="rId2"/>
          <a:stretch/>
        </p:blipFill>
        <p:spPr>
          <a:xfrm>
            <a:off x="6672240" y="994320"/>
            <a:ext cx="4865760" cy="4865760"/>
          </a:xfrm>
          <a:prstGeom prst="rect">
            <a:avLst/>
          </a:prstGeom>
          <a:noFill/>
          <a:ln w="0">
            <a:noFill/>
          </a:ln>
        </p:spPr>
      </p:pic>
      <p:sp>
        <p:nvSpPr>
          <p:cNvPr id="466"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7200" b="0" u="none" strike="noStrike">
                <a:solidFill>
                  <a:srgbClr val="000000"/>
                </a:solidFill>
                <a:effectLst/>
                <a:uFillTx/>
                <a:latin typeface="Calibri Light"/>
                <a:ea typeface="DejaVu Sans"/>
              </a:rPr>
              <a:t>Thank you!</a:t>
            </a:r>
            <a:endParaRPr lang="en-GB" sz="7200" b="0" u="none" strike="noStrike">
              <a:solidFill>
                <a:srgbClr val="000000"/>
              </a:solidFill>
              <a:effectLst/>
              <a:uFillTx/>
              <a:latin typeface="Arial"/>
            </a:endParaRPr>
          </a:p>
        </p:txBody>
      </p:sp>
      <p:sp>
        <p:nvSpPr>
          <p:cNvPr id="2" name="PlaceHolder 1">
            <a:extLst>
              <a:ext uri="{FF2B5EF4-FFF2-40B4-BE49-F238E27FC236}">
                <a16:creationId xmlns:a16="http://schemas.microsoft.com/office/drawing/2014/main" id="{29A8FE9F-01B2-4EA0-7964-0431157BC0D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5" name="PlaceHolder 5">
            <a:extLst>
              <a:ext uri="{FF2B5EF4-FFF2-40B4-BE49-F238E27FC236}">
                <a16:creationId xmlns:a16="http://schemas.microsoft.com/office/drawing/2014/main" id="{033E12F2-EAEB-9D0F-D366-4CA7F70020F5}"/>
              </a:ext>
            </a:extLst>
          </p:cNvPr>
          <p:cNvSpPr>
            <a:spLocks noGrp="1"/>
          </p:cNvSpPr>
          <p:nvPr>
            <p:ph type="sldNum" idx="2"/>
          </p:nvPr>
        </p:nvSpPr>
        <p:spPr>
          <a:xfrm>
            <a:off x="8610480" y="6356520"/>
            <a:ext cx="2739960" cy="361800"/>
          </a:xfrm>
        </p:spPr>
        <p:txBody>
          <a:bodyPr/>
          <a:lstStyle/>
          <a:p>
            <a:fld id="{C80F16BE-5422-4E51-B0B6-DDBD6580356E}" type="slidenum">
              <a:rPr>
                <a:latin typeface="Calibri" panose="020F0502020204030204" pitchFamily="34" charset="0"/>
                <a:cs typeface="Calibri" panose="020F0502020204030204" pitchFamily="34" charset="0"/>
              </a:rPr>
              <a:t>54</a:t>
            </a:fld>
            <a:endParaRPr>
              <a:latin typeface="Calibri" panose="020F0502020204030204" pitchFamily="34" charset="0"/>
              <a:cs typeface="Calibri" panose="020F0502020204030204" pitchFamily="34" charset="0"/>
            </a:endParaRPr>
          </a:p>
        </p:txBody>
      </p:sp>
      <p:sp>
        <p:nvSpPr>
          <p:cNvPr id="6" name="PlaceHolder 2">
            <a:extLst>
              <a:ext uri="{FF2B5EF4-FFF2-40B4-BE49-F238E27FC236}">
                <a16:creationId xmlns:a16="http://schemas.microsoft.com/office/drawing/2014/main" id="{02FF4B52-EF81-4085-0BF8-6E838EC4BD6E}"/>
              </a:ext>
            </a:extLst>
          </p:cNvPr>
          <p:cNvSpPr>
            <a:spLocks noGrp="1"/>
          </p:cNvSpPr>
          <p:nvPr>
            <p:ph type="ftr" idx="1"/>
          </p:nvPr>
        </p:nvSpPr>
        <p:spPr>
          <a:xfrm>
            <a:off x="4038480" y="6356520"/>
            <a:ext cx="4111560" cy="361800"/>
          </a:xfrm>
        </p:spPr>
        <p:txBody>
          <a:bodyPr/>
          <a:lstStyle/>
          <a:p>
            <a:r>
              <a:rPr lang="en-US"/>
              <a:t>Tab, v4.0</a:t>
            </a:r>
            <a:endParaRPr dirty="0"/>
          </a:p>
        </p:txBody>
      </p:sp>
      <p:sp>
        <p:nvSpPr>
          <p:cNvPr id="3" name="Date Placeholder 2">
            <a:extLst>
              <a:ext uri="{FF2B5EF4-FFF2-40B4-BE49-F238E27FC236}">
                <a16:creationId xmlns:a16="http://schemas.microsoft.com/office/drawing/2014/main" id="{340F21D7-71D4-02C8-23D4-87E3714D35F2}"/>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D5C631-5C6D-B439-5778-422DB933D8AA}"/>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0FE26974-70BB-2D74-D562-62EBF36D7CE4}"/>
              </a:ext>
            </a:extLst>
          </p:cNvPr>
          <p:cNvSpPr>
            <a:spLocks noGrp="1"/>
          </p:cNvSpPr>
          <p:nvPr>
            <p:ph type="body"/>
          </p:nvPr>
        </p:nvSpPr>
        <p:spPr/>
        <p:txBody>
          <a:bodyPr/>
          <a:lstStyle/>
          <a:p>
            <a:endParaRPr lang="en-US"/>
          </a:p>
        </p:txBody>
      </p:sp>
      <p:sp>
        <p:nvSpPr>
          <p:cNvPr id="2" name="Date Placeholder 1">
            <a:extLst>
              <a:ext uri="{FF2B5EF4-FFF2-40B4-BE49-F238E27FC236}">
                <a16:creationId xmlns:a16="http://schemas.microsoft.com/office/drawing/2014/main" id="{16F151E4-238D-A63F-C284-A6DC00BBAB11}"/>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
        <p:nvSpPr>
          <p:cNvPr id="3" name="Footer Placeholder 2">
            <a:extLst>
              <a:ext uri="{FF2B5EF4-FFF2-40B4-BE49-F238E27FC236}">
                <a16:creationId xmlns:a16="http://schemas.microsoft.com/office/drawing/2014/main" id="{E1EAA5DF-F9CC-7101-18AC-64363DBE21E9}"/>
              </a:ext>
            </a:extLst>
          </p:cNvPr>
          <p:cNvSpPr>
            <a:spLocks noGrp="1"/>
          </p:cNvSpPr>
          <p:nvPr>
            <p:ph type="ftr" idx="1"/>
          </p:nvPr>
        </p:nvSpPr>
        <p:spPr/>
        <p:txBody>
          <a:bodyPr/>
          <a:lstStyle/>
          <a:p>
            <a:r>
              <a:rPr lang="en-US"/>
              <a:t>Tab, v4.0</a:t>
            </a:r>
            <a:endParaRPr lang="en-US" dirty="0"/>
          </a:p>
        </p:txBody>
      </p:sp>
      <p:sp>
        <p:nvSpPr>
          <p:cNvPr id="6" name="Slide Number Placeholder 5">
            <a:extLst>
              <a:ext uri="{FF2B5EF4-FFF2-40B4-BE49-F238E27FC236}">
                <a16:creationId xmlns:a16="http://schemas.microsoft.com/office/drawing/2014/main" id="{9A019D35-AFCE-D770-182D-8A09AABDBC61}"/>
              </a:ext>
            </a:extLst>
          </p:cNvPr>
          <p:cNvSpPr>
            <a:spLocks noGrp="1"/>
          </p:cNvSpPr>
          <p:nvPr>
            <p:ph type="sldNum" idx="2"/>
          </p:nvPr>
        </p:nvSpPr>
        <p:spPr/>
        <p:txBody>
          <a:bodyPr/>
          <a:lstStyle/>
          <a:p>
            <a:pPr indent="0" algn="r">
              <a:lnSpc>
                <a:spcPct val="100000"/>
              </a:lnSpc>
              <a:buNone/>
              <a:tabLst>
                <a:tab pos="0" algn="l"/>
              </a:tabLst>
            </a:pPr>
            <a:fld id="{D26C5790-D993-4051-82AE-D75E25E1987E}" type="slidenum">
              <a:rPr lang="en-US" sz="1200" b="0" u="none" strike="noStrike" smtClean="0">
                <a:solidFill>
                  <a:srgbClr val="8B8B8B"/>
                </a:solidFill>
                <a:effectLst/>
                <a:uFillTx/>
                <a:latin typeface="Calibri"/>
                <a:ea typeface="DejaVu Sans"/>
              </a:rPr>
              <a:t>55</a:t>
            </a:fld>
            <a:endParaRPr lang="en-GB" sz="1200" b="0" u="none" strike="noStrike" dirty="0">
              <a:solidFill>
                <a:srgbClr val="000000"/>
              </a:solidFill>
              <a:effectLst/>
              <a:uFillTx/>
              <a:latin typeface="Times New Roman"/>
            </a:endParaRPr>
          </a:p>
        </p:txBody>
      </p:sp>
    </p:spTree>
    <p:extLst>
      <p:ext uri="{BB962C8B-B14F-4D97-AF65-F5344CB8AC3E}">
        <p14:creationId xmlns:p14="http://schemas.microsoft.com/office/powerpoint/2010/main" val="39122887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0"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OLD SLIDES FROM HERE ONWARDS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rPr lang="en-GB"/>
              <a:t>Tab, v4.0</a:t>
            </a:r>
            <a:endParaRPr/>
          </a:p>
        </p:txBody>
      </p:sp>
      <p:sp>
        <p:nvSpPr>
          <p:cNvPr id="5" name="PlaceHolder 4"/>
          <p:cNvSpPr>
            <a:spLocks noGrp="1"/>
          </p:cNvSpPr>
          <p:nvPr>
            <p:ph type="sldNum" idx="2"/>
          </p:nvPr>
        </p:nvSpPr>
        <p:spPr>
          <a:prstGeom prst="rect">
            <a:avLst/>
          </a:prstGeom>
        </p:spPr>
        <p:txBody>
          <a:bodyPr/>
          <a:lstStyle/>
          <a:p>
            <a:fld id="{FE33B6AA-F469-459E-B22D-C649D3E2E9EA}" type="slidenum">
              <a:rPr/>
              <a:t>56</a:t>
            </a:fld>
            <a:endParaRPr/>
          </a:p>
        </p:txBody>
      </p:sp>
      <p:sp>
        <p:nvSpPr>
          <p:cNvPr id="471"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2EA2E560-A0D2-0838-1B64-D7143030DB79}"/>
              </a:ext>
            </a:extLst>
          </p:cNvPr>
          <p:cNvSpPr>
            <a:spLocks noGrp="1"/>
          </p:cNvSpPr>
          <p:nvPr>
            <p:ph type="body"/>
          </p:nvPr>
        </p:nvSpPr>
        <p:spPr/>
        <p:txBody>
          <a:bodyPr/>
          <a:lstStyle/>
          <a:p>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74"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Join operations: combining informations from multiple tables</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476" name="Picture 5"/>
          <p:cNvPicPr/>
          <p:nvPr/>
        </p:nvPicPr>
        <p:blipFill>
          <a:blip r:embed="rId2"/>
          <a:srcRect r="47418"/>
          <a:stretch/>
        </p:blipFill>
        <p:spPr>
          <a:xfrm>
            <a:off x="2209680" y="1718950"/>
            <a:ext cx="2944440" cy="2062145"/>
          </a:xfrm>
          <a:prstGeom prst="rect">
            <a:avLst/>
          </a:prstGeom>
          <a:noFill/>
          <a:ln w="0">
            <a:noFill/>
          </a:ln>
        </p:spPr>
      </p:pic>
      <p:pic>
        <p:nvPicPr>
          <p:cNvPr id="477" name="Picture 25"/>
          <p:cNvPicPr/>
          <p:nvPr/>
        </p:nvPicPr>
        <p:blipFill>
          <a:blip r:embed="rId2"/>
          <a:stretch/>
        </p:blipFill>
        <p:spPr>
          <a:xfrm>
            <a:off x="3407400" y="4484944"/>
            <a:ext cx="5373720" cy="1978036"/>
          </a:xfrm>
          <a:prstGeom prst="rect">
            <a:avLst/>
          </a:prstGeom>
          <a:noFill/>
          <a:ln w="0">
            <a:noFill/>
          </a:ln>
        </p:spPr>
      </p:pic>
      <p:sp>
        <p:nvSpPr>
          <p:cNvPr id="478" name="TextBox 3"/>
          <p:cNvSpPr/>
          <p:nvPr/>
        </p:nvSpPr>
        <p:spPr>
          <a:xfrm>
            <a:off x="5627880" y="2295064"/>
            <a:ext cx="932760" cy="912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a:lnSpc>
                <a:spcPct val="100000"/>
              </a:lnSpc>
            </a:pPr>
            <a:r>
              <a:rPr lang="en-CH" sz="6000" b="0" u="none" strike="noStrike">
                <a:solidFill>
                  <a:srgbClr val="000000"/>
                </a:solidFill>
                <a:effectLst/>
                <a:uFillTx/>
                <a:latin typeface="Calibri"/>
                <a:ea typeface="DejaVu Sans"/>
              </a:rPr>
              <a:t>+</a:t>
            </a:r>
            <a:endParaRPr lang="en-GB" sz="6000" b="0" u="none" strike="noStrike">
              <a:solidFill>
                <a:srgbClr val="000000"/>
              </a:solidFill>
              <a:effectLst/>
              <a:uFillTx/>
              <a:latin typeface="Arial"/>
            </a:endParaRPr>
          </a:p>
        </p:txBody>
      </p:sp>
      <p:sp>
        <p:nvSpPr>
          <p:cNvPr id="479" name="TextBox 4"/>
          <p:cNvSpPr/>
          <p:nvPr/>
        </p:nvSpPr>
        <p:spPr>
          <a:xfrm>
            <a:off x="2135520" y="5018824"/>
            <a:ext cx="932760" cy="912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a:lnSpc>
                <a:spcPct val="100000"/>
              </a:lnSpc>
            </a:pPr>
            <a:r>
              <a:rPr lang="en-CH" sz="6000" b="0" u="none" strike="noStrike">
                <a:solidFill>
                  <a:srgbClr val="000000"/>
                </a:solidFill>
                <a:effectLst/>
                <a:uFillTx/>
                <a:latin typeface="Calibri"/>
                <a:ea typeface="DejaVu Sans"/>
              </a:rPr>
              <a:t>=</a:t>
            </a:r>
            <a:endParaRPr lang="en-GB" sz="6000" b="0" u="none" strike="noStrike">
              <a:solidFill>
                <a:srgbClr val="000000"/>
              </a:solidFill>
              <a:effectLst/>
              <a:uFillTx/>
              <a:latin typeface="Arial"/>
            </a:endParaRPr>
          </a:p>
        </p:txBody>
      </p:sp>
      <p:pic>
        <p:nvPicPr>
          <p:cNvPr id="480" name="Picture 27"/>
          <p:cNvPicPr/>
          <p:nvPr/>
        </p:nvPicPr>
        <p:blipFill>
          <a:blip r:embed="rId3"/>
          <a:stretch/>
        </p:blipFill>
        <p:spPr>
          <a:xfrm>
            <a:off x="7005240" y="2027224"/>
            <a:ext cx="3333240" cy="1445236"/>
          </a:xfrm>
          <a:prstGeom prst="rect">
            <a:avLst/>
          </a:prstGeom>
          <a:noFill/>
          <a:ln w="0">
            <a:noFill/>
          </a:ln>
        </p:spPr>
      </p:pic>
      <p:sp>
        <p:nvSpPr>
          <p:cNvPr id="2" name="PlaceHolder 1">
            <a:extLst>
              <a:ext uri="{FF2B5EF4-FFF2-40B4-BE49-F238E27FC236}">
                <a16:creationId xmlns:a16="http://schemas.microsoft.com/office/drawing/2014/main" id="{BE3D5881-8732-C11E-B435-936D04673CC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C937BB1F-61DC-E112-364B-C09FF5DAD1E4}"/>
              </a:ext>
            </a:extLst>
          </p:cNvPr>
          <p:cNvSpPr>
            <a:spLocks noGrp="1"/>
          </p:cNvSpPr>
          <p:nvPr>
            <p:ph type="ftr" idx="1"/>
          </p:nvPr>
        </p:nvSpPr>
        <p:spPr>
          <a:xfrm>
            <a:off x="4038480" y="6356520"/>
            <a:ext cx="4111560" cy="361800"/>
          </a:xfrm>
        </p:spPr>
        <p:txBody>
          <a:bodyPr/>
          <a:lstStyle/>
          <a:p>
            <a:r>
              <a:rPr lang="en-US"/>
              <a:t>Tab, v4.0</a:t>
            </a:r>
            <a:endParaRPr dirty="0"/>
          </a:p>
        </p:txBody>
      </p:sp>
      <p:sp>
        <p:nvSpPr>
          <p:cNvPr id="7" name="PlaceHolder 5">
            <a:extLst>
              <a:ext uri="{FF2B5EF4-FFF2-40B4-BE49-F238E27FC236}">
                <a16:creationId xmlns:a16="http://schemas.microsoft.com/office/drawing/2014/main" id="{F4E6E729-77FF-15FC-744B-7BA58B91B730}"/>
              </a:ext>
            </a:extLst>
          </p:cNvPr>
          <p:cNvSpPr>
            <a:spLocks noGrp="1"/>
          </p:cNvSpPr>
          <p:nvPr>
            <p:ph type="sldNum" idx="2"/>
          </p:nvPr>
        </p:nvSpPr>
        <p:spPr>
          <a:xfrm>
            <a:off x="8610480" y="6356520"/>
            <a:ext cx="2739960" cy="361800"/>
          </a:xfrm>
        </p:spPr>
        <p:txBody>
          <a:bodyPr/>
          <a:lstStyle/>
          <a:p>
            <a:fld id="{E2CF6877-FF63-44A7-AB15-0859B560B298}" type="slidenum">
              <a:rPr/>
              <a:t>57</a:t>
            </a:fld>
            <a:endParaRPr dirty="0"/>
          </a:p>
        </p:txBody>
      </p:sp>
      <p:sp>
        <p:nvSpPr>
          <p:cNvPr id="3" name="Date Placeholder 2">
            <a:extLst>
              <a:ext uri="{FF2B5EF4-FFF2-40B4-BE49-F238E27FC236}">
                <a16:creationId xmlns:a16="http://schemas.microsoft.com/office/drawing/2014/main" id="{7FB1B4F6-C200-38C5-B03D-233D111E1180}"/>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Pivoting – we know this one</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82833EB6-854D-4E97-B974-3383025AE555}" type="slidenum">
              <a:rPr/>
              <a:t>58</a:t>
            </a:fld>
            <a:endParaRPr/>
          </a:p>
        </p:txBody>
      </p:sp>
      <p:sp>
        <p:nvSpPr>
          <p:cNvPr id="41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410"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pic>
        <p:nvPicPr>
          <p:cNvPr id="413" name="Picture 6" descr="Image"/>
          <p:cNvPicPr/>
          <p:nvPr/>
        </p:nvPicPr>
        <p:blipFill>
          <a:blip r:embed="rId2"/>
          <a:srcRect l="13464" r="8349"/>
          <a:stretch/>
        </p:blipFill>
        <p:spPr>
          <a:xfrm>
            <a:off x="9264240" y="588240"/>
            <a:ext cx="2718720" cy="3477960"/>
          </a:xfrm>
          <a:prstGeom prst="rect">
            <a:avLst/>
          </a:prstGeom>
          <a:noFill/>
          <a:ln w="0">
            <a:noFill/>
          </a:ln>
        </p:spPr>
      </p:pic>
      <p:sp>
        <p:nvSpPr>
          <p:cNvPr id="414" name="TextBox 7"/>
          <p:cNvSpPr/>
          <p:nvPr/>
        </p:nvSpPr>
        <p:spPr>
          <a:xfrm>
            <a:off x="3180600" y="5094360"/>
            <a:ext cx="6261480" cy="118692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0" u="none" strike="noStrike">
                <a:solidFill>
                  <a:srgbClr val="000000"/>
                </a:solidFill>
                <a:effectLst/>
                <a:uFillTx/>
                <a:latin typeface="Consolas"/>
                <a:ea typeface="DejaVu Sans"/>
              </a:rPr>
              <a:t>df.pivot_table(</a:t>
            </a:r>
            <a:br>
              <a:rPr sz="1800"/>
            </a:br>
            <a:r>
              <a:rPr lang="en-US" sz="1800" b="0" u="none" strike="noStrike">
                <a:solidFill>
                  <a:srgbClr val="000000"/>
                </a:solidFill>
                <a:effectLst/>
                <a:uFillTx/>
                <a:latin typeface="Consolas"/>
                <a:ea typeface="DejaVu Sans"/>
              </a:rPr>
              <a:t>	index=['city', 'date'], columns='type’, </a:t>
            </a:r>
            <a:br>
              <a:rPr sz="1800"/>
            </a:br>
            <a:r>
              <a:rPr lang="en-US" sz="1800" b="0" u="none" strike="noStrike">
                <a:solidFill>
                  <a:srgbClr val="000000"/>
                </a:solidFill>
                <a:effectLst/>
                <a:uFillTx/>
                <a:latin typeface="Consolas"/>
                <a:ea typeface="DejaVu Sans"/>
              </a:rPr>
              <a:t>	values='temperature', aggfunc='max’,</a:t>
            </a:r>
            <a:endParaRPr lang="en-GB"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Consolas"/>
                <a:ea typeface="DejaVu Sans"/>
              </a:rPr>
              <a:t>)</a:t>
            </a:r>
            <a:endParaRPr lang="en-GB" sz="1800" b="0" u="none" strike="noStrike">
              <a:solidFill>
                <a:srgbClr val="000000"/>
              </a:solidFill>
              <a:effectLst/>
              <a:uFillTx/>
              <a:latin typeface="Arial"/>
            </a:endParaRPr>
          </a:p>
        </p:txBody>
      </p:sp>
      <p:pic>
        <p:nvPicPr>
          <p:cNvPr id="415" name="Picture 6"/>
          <p:cNvPicPr/>
          <p:nvPr/>
        </p:nvPicPr>
        <p:blipFill>
          <a:blip r:embed="rId3"/>
          <a:stretch/>
        </p:blipFill>
        <p:spPr>
          <a:xfrm>
            <a:off x="882720" y="2480760"/>
            <a:ext cx="2522160" cy="2349360"/>
          </a:xfrm>
          <a:prstGeom prst="rect">
            <a:avLst/>
          </a:prstGeom>
          <a:noFill/>
          <a:ln w="0">
            <a:noFill/>
          </a:ln>
        </p:spPr>
      </p:pic>
      <p:pic>
        <p:nvPicPr>
          <p:cNvPr id="416" name="Picture 10"/>
          <p:cNvPicPr/>
          <p:nvPr/>
        </p:nvPicPr>
        <p:blipFill>
          <a:blip r:embed="rId4"/>
          <a:stretch/>
        </p:blipFill>
        <p:spPr>
          <a:xfrm>
            <a:off x="6022800" y="2629440"/>
            <a:ext cx="2550240" cy="1822320"/>
          </a:xfrm>
          <a:prstGeom prst="rect">
            <a:avLst/>
          </a:prstGeom>
          <a:noFill/>
          <a:ln w="0">
            <a:noFill/>
          </a:ln>
        </p:spPr>
      </p:pic>
      <p:sp>
        <p:nvSpPr>
          <p:cNvPr id="417" name="TextBox 11"/>
          <p:cNvSpPr/>
          <p:nvPr/>
        </p:nvSpPr>
        <p:spPr>
          <a:xfrm>
            <a:off x="3800880" y="2127600"/>
            <a:ext cx="229932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The “type” column is storing variable names</a:t>
            </a:r>
            <a:endParaRPr lang="en-GB" sz="1800" b="0" u="none" strike="noStrike">
              <a:solidFill>
                <a:srgbClr val="000000"/>
              </a:solidFill>
              <a:effectLst/>
              <a:uFillTx/>
              <a:latin typeface="Arial"/>
            </a:endParaRPr>
          </a:p>
        </p:txBody>
      </p:sp>
      <p:sp>
        <p:nvSpPr>
          <p:cNvPr id="418" name="Right Arrow 13"/>
          <p:cNvSpPr/>
          <p:nvPr/>
        </p:nvSpPr>
        <p:spPr>
          <a:xfrm>
            <a:off x="3945960" y="3754800"/>
            <a:ext cx="1766160" cy="428760"/>
          </a:xfrm>
          <a:prstGeom prst="rightArrow">
            <a:avLst>
              <a:gd name="adj1" fmla="val 50000"/>
              <a:gd name="adj2" fmla="val 50000"/>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a:ea typeface="DejaVu Sans"/>
            </a:endParaRPr>
          </a:p>
        </p:txBody>
      </p:sp>
      <p:sp>
        <p:nvSpPr>
          <p:cNvPr id="419" name="TextBox 14"/>
          <p:cNvSpPr/>
          <p:nvPr/>
        </p:nvSpPr>
        <p:spPr>
          <a:xfrm>
            <a:off x="3963600" y="3465000"/>
            <a:ext cx="16632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pivot</a:t>
            </a:r>
            <a:endParaRPr lang="en-GB" sz="1800" b="0" u="none" strike="noStrike">
              <a:solidFill>
                <a:srgbClr val="000000"/>
              </a:solidFill>
              <a:effectLst/>
              <a:uFillTx/>
              <a:latin typeface="Arial"/>
            </a:endParaRPr>
          </a:p>
        </p:txBody>
      </p:sp>
      <p:sp>
        <p:nvSpPr>
          <p:cNvPr id="420" name="TextBox 8"/>
          <p:cNvSpPr/>
          <p:nvPr/>
        </p:nvSpPr>
        <p:spPr>
          <a:xfrm>
            <a:off x="6018120" y="2161800"/>
            <a:ext cx="926640" cy="699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Google Sans"/>
                <a:ea typeface="DejaVu Sans"/>
              </a:rPr>
              <a:t>😱 </a:t>
            </a:r>
            <a:endParaRPr lang="en-GB" sz="4000" b="0" u="none" strike="noStrike">
              <a:solidFill>
                <a:srgbClr val="000000"/>
              </a:solidFill>
              <a:effectLst/>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A6156-AF0C-B4D7-4812-89D39152BB66}"/>
            </a:ext>
          </a:extLst>
        </p:cNvPr>
        <p:cNvGrpSpPr/>
        <p:nvPr/>
      </p:nvGrpSpPr>
      <p:grpSpPr>
        <a:xfrm>
          <a:off x="0" y="0"/>
          <a:ext cx="0" cy="0"/>
          <a:chOff x="0" y="0"/>
          <a:chExt cx="0" cy="0"/>
        </a:xfrm>
      </p:grpSpPr>
      <p:sp>
        <p:nvSpPr>
          <p:cNvPr id="6" name="PlaceHolder 5">
            <a:extLst>
              <a:ext uri="{FF2B5EF4-FFF2-40B4-BE49-F238E27FC236}">
                <a16:creationId xmlns:a16="http://schemas.microsoft.com/office/drawing/2014/main" id="{FB449E0C-0A73-2C7D-753D-F53D0A977E79}"/>
              </a:ext>
            </a:extLst>
          </p:cNvPr>
          <p:cNvSpPr>
            <a:spLocks noGrp="1"/>
          </p:cNvSpPr>
          <p:nvPr>
            <p:ph type="sldNum" idx="2"/>
          </p:nvPr>
        </p:nvSpPr>
        <p:spPr/>
        <p:txBody>
          <a:bodyPr/>
          <a:lstStyle/>
          <a:p>
            <a:fld id="{84715A79-DF31-4BA5-9F2D-21B8064E297F}" type="slidenum">
              <a:rPr/>
              <a:t>59</a:t>
            </a:fld>
            <a:endParaRPr/>
          </a:p>
        </p:txBody>
      </p:sp>
      <p:sp>
        <p:nvSpPr>
          <p:cNvPr id="33" name="TextBox 7">
            <a:extLst>
              <a:ext uri="{FF2B5EF4-FFF2-40B4-BE49-F238E27FC236}">
                <a16:creationId xmlns:a16="http://schemas.microsoft.com/office/drawing/2014/main" id="{F3B7894D-C2A4-23F9-BE80-181661E7B9D5}"/>
              </a:ext>
            </a:extLst>
          </p:cNvPr>
          <p:cNvSpPr/>
          <p:nvPr/>
        </p:nvSpPr>
        <p:spPr>
          <a:xfrm>
            <a:off x="2691360" y="201861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dirty="0">
                <a:solidFill>
                  <a:schemeClr val="accent2">
                    <a:lumMod val="75000"/>
                  </a:schemeClr>
                </a:solidFill>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on=[‘location-id</a:t>
            </a:r>
            <a:r>
              <a:rPr lang="en-CH" sz="2400" b="0" u="none" strike="noStrike">
                <a:solidFill>
                  <a:schemeClr val="accent1">
                    <a:lumMod val="75000"/>
                  </a:schemeClr>
                </a:solidFill>
                <a:effectLst/>
                <a:uFillTx/>
                <a:latin typeface="Consolas"/>
                <a:ea typeface="DejaVu Sans"/>
              </a:rPr>
              <a:t>’]</a:t>
            </a:r>
            <a:r>
              <a:rPr lang="en-US" sz="2400" b="0" u="none" strike="noStrike" dirty="0">
                <a:solidFill>
                  <a:schemeClr val="accent1">
                    <a:lumMod val="75000"/>
                  </a:schemeClr>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34" name="TextBox 1">
            <a:extLst>
              <a:ext uri="{FF2B5EF4-FFF2-40B4-BE49-F238E27FC236}">
                <a16:creationId xmlns:a16="http://schemas.microsoft.com/office/drawing/2014/main" id="{1240DC40-960D-9F6E-0911-46496C86D25B}"/>
              </a:ext>
            </a:extLst>
          </p:cNvPr>
          <p:cNvSpPr/>
          <p:nvPr/>
        </p:nvSpPr>
        <p:spPr>
          <a:xfrm>
            <a:off x="2722320" y="293409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p>
        </p:txBody>
      </p:sp>
      <p:sp>
        <p:nvSpPr>
          <p:cNvPr id="35" name="TextBox 2">
            <a:extLst>
              <a:ext uri="{FF2B5EF4-FFF2-40B4-BE49-F238E27FC236}">
                <a16:creationId xmlns:a16="http://schemas.microsoft.com/office/drawing/2014/main" id="{4999E92C-81CF-135E-208E-8B68DF22D3C6}"/>
              </a:ext>
            </a:extLst>
          </p:cNvPr>
          <p:cNvSpPr/>
          <p:nvPr/>
        </p:nvSpPr>
        <p:spPr>
          <a:xfrm>
            <a:off x="853200" y="1988018"/>
            <a:ext cx="14151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Pandas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6" name="TextBox 8">
            <a:extLst>
              <a:ext uri="{FF2B5EF4-FFF2-40B4-BE49-F238E27FC236}">
                <a16:creationId xmlns:a16="http://schemas.microsoft.com/office/drawing/2014/main" id="{ADAE94F9-4ACE-8C5A-3CA4-DE0BFDB09A31}"/>
              </a:ext>
            </a:extLst>
          </p:cNvPr>
          <p:cNvSpPr/>
          <p:nvPr/>
        </p:nvSpPr>
        <p:spPr>
          <a:xfrm>
            <a:off x="853200" y="290637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dask</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7" name="TextBox 9">
            <a:extLst>
              <a:ext uri="{FF2B5EF4-FFF2-40B4-BE49-F238E27FC236}">
                <a16:creationId xmlns:a16="http://schemas.microsoft.com/office/drawing/2014/main" id="{BCE15753-43E4-DC05-A244-6FCA15E54CE4}"/>
              </a:ext>
            </a:extLst>
          </p:cNvPr>
          <p:cNvSpPr/>
          <p:nvPr/>
        </p:nvSpPr>
        <p:spPr>
          <a:xfrm>
            <a:off x="2722320" y="385353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join</a:t>
            </a:r>
            <a:r>
              <a:rPr lang="en-US" sz="2400" b="0" u="none" strike="noStrike" dirty="0">
                <a:solidFill>
                  <a:schemeClr val="accent1">
                    <a:lumMod val="75000"/>
                  </a:schemeClr>
                </a:solidFill>
                <a:effectLst/>
                <a:uFillTx/>
                <a:latin typeface="Consolas"/>
                <a:ea typeface="DejaVu Sans"/>
              </a:rPr>
              <a:t>(</a:t>
            </a:r>
            <a:r>
              <a:rPr lang="en-US" sz="2400" dirty="0" err="1">
                <a:solidFill>
                  <a:schemeClr val="accent1">
                    <a:lumMod val="75000"/>
                  </a:schemeClr>
                </a:solidFill>
                <a:latin typeface="Consolas"/>
              </a:rPr>
              <a:t>df_info</a:t>
            </a:r>
            <a:r>
              <a:rPr lang="en-US" sz="2400" dirty="0">
                <a:solidFill>
                  <a:schemeClr val="accent1">
                    <a:lumMod val="75000"/>
                  </a:schemeClr>
                </a:solidFill>
                <a:latin typeface="Consolas"/>
              </a:rPr>
              <a:t>, on = [‘location-id’])</a:t>
            </a:r>
            <a:endParaRPr lang="en-GB" sz="2400" b="0" u="none" strike="noStrike" dirty="0">
              <a:solidFill>
                <a:srgbClr val="000000"/>
              </a:solidFill>
              <a:effectLst/>
              <a:uFillTx/>
              <a:latin typeface="Arial"/>
            </a:endParaRPr>
          </a:p>
        </p:txBody>
      </p:sp>
      <p:sp>
        <p:nvSpPr>
          <p:cNvPr id="38" name="TextBox 10">
            <a:extLst>
              <a:ext uri="{FF2B5EF4-FFF2-40B4-BE49-F238E27FC236}">
                <a16:creationId xmlns:a16="http://schemas.microsoft.com/office/drawing/2014/main" id="{C9375001-4062-9BFD-797C-6A5AD6679BC9}"/>
              </a:ext>
            </a:extLst>
          </p:cNvPr>
          <p:cNvSpPr/>
          <p:nvPr/>
        </p:nvSpPr>
        <p:spPr>
          <a:xfrm>
            <a:off x="853200" y="382509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PySpark</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9" name="TextBox 28">
            <a:extLst>
              <a:ext uri="{FF2B5EF4-FFF2-40B4-BE49-F238E27FC236}">
                <a16:creationId xmlns:a16="http://schemas.microsoft.com/office/drawing/2014/main" id="{2BABCF58-3BF8-5BEE-E025-504F70497546}"/>
              </a:ext>
            </a:extLst>
          </p:cNvPr>
          <p:cNvSpPr/>
          <p:nvPr/>
        </p:nvSpPr>
        <p:spPr>
          <a:xfrm>
            <a:off x="853200" y="474345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SQL</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 name="TextBox 24">
            <a:extLst>
              <a:ext uri="{FF2B5EF4-FFF2-40B4-BE49-F238E27FC236}">
                <a16:creationId xmlns:a16="http://schemas.microsoft.com/office/drawing/2014/main" id="{F0810BAC-67FE-5C9E-4A4E-084FD71806C2}"/>
              </a:ext>
            </a:extLst>
          </p:cNvPr>
          <p:cNvSpPr/>
          <p:nvPr/>
        </p:nvSpPr>
        <p:spPr>
          <a:xfrm>
            <a:off x="2722320" y="4803938"/>
            <a:ext cx="8888040" cy="156820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onsolas"/>
                <a:ea typeface="DejaVu Sans"/>
              </a:rPr>
              <a:t>SELECT </a:t>
            </a:r>
            <a:r>
              <a:rPr lang="en-US" sz="2400" dirty="0">
                <a:solidFill>
                  <a:srgbClr val="000000"/>
                </a:solidFill>
                <a:latin typeface="Consolas"/>
                <a:ea typeface="DejaVu Sans"/>
              </a:rPr>
              <a:t>*</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FROM </a:t>
            </a:r>
            <a:r>
              <a:rPr lang="en-US" sz="2400" b="0" u="none" strike="noStrike" dirty="0" err="1">
                <a:solidFill>
                  <a:srgbClr val="000000"/>
                </a:solidFill>
                <a:effectLst/>
                <a:uFillTx/>
                <a:latin typeface="Consolas"/>
                <a:ea typeface="DejaVu Sans"/>
              </a:rPr>
              <a:t>df</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chemeClr val="accent2">
                    <a:lumMod val="75000"/>
                  </a:schemeClr>
                </a:solidFill>
                <a:effectLst/>
                <a:uFillTx/>
                <a:latin typeface="Consolas"/>
                <a:ea typeface="DejaVu Sans"/>
              </a:rPr>
              <a:t>INNER JOIN </a:t>
            </a:r>
            <a:r>
              <a:rPr lang="en-US" sz="2400" b="0" u="none" strike="noStrike" dirty="0" err="1">
                <a:solidFill>
                  <a:schemeClr val="accent2">
                    <a:lumMod val="75000"/>
                  </a:schemeClr>
                </a:solidFill>
                <a:effectLst/>
                <a:uFillTx/>
                <a:latin typeface="Consolas"/>
                <a:ea typeface="DejaVu Sans"/>
              </a:rPr>
              <a:t>df_info</a:t>
            </a:r>
            <a:endParaRPr lang="en-US" sz="2400" b="0" u="none" strike="noStrike" dirty="0">
              <a:solidFill>
                <a:schemeClr val="accent2">
                  <a:lumMod val="75000"/>
                </a:schemeClr>
              </a:solidFill>
              <a:effectLst/>
              <a:uFillTx/>
              <a:latin typeface="Consolas"/>
              <a:ea typeface="DejaVu Sans"/>
            </a:endParaRPr>
          </a:p>
          <a:p>
            <a:pPr>
              <a:lnSpc>
                <a:spcPct val="100000"/>
              </a:lnSpc>
            </a:pPr>
            <a:r>
              <a:rPr lang="en-US" sz="2400" b="0" u="none" strike="noStrike" dirty="0">
                <a:solidFill>
                  <a:schemeClr val="accent2">
                    <a:lumMod val="75000"/>
                  </a:schemeClr>
                </a:solidFill>
                <a:effectLst/>
                <a:uFillTx/>
                <a:latin typeface="Consolas"/>
                <a:ea typeface="DejaVu Sans"/>
              </a:rPr>
              <a:t>USING (</a:t>
            </a:r>
            <a:r>
              <a:rPr lang="en-US" sz="2400" b="0" u="none" strike="noStrike" dirty="0" err="1">
                <a:solidFill>
                  <a:schemeClr val="accent2">
                    <a:lumMod val="75000"/>
                  </a:schemeClr>
                </a:solidFill>
                <a:effectLst/>
                <a:uFillTx/>
                <a:latin typeface="Consolas"/>
                <a:ea typeface="DejaVu Sans"/>
              </a:rPr>
              <a:t>location_id</a:t>
            </a:r>
            <a:r>
              <a:rPr lang="en-US" sz="2400" b="0" u="none" strike="noStrike" dirty="0">
                <a:solidFill>
                  <a:schemeClr val="accent2">
                    <a:lumMod val="75000"/>
                  </a:schemeClr>
                </a:solidFill>
                <a:effectLst/>
                <a:uFillTx/>
                <a:latin typeface="Consolas"/>
                <a:ea typeface="DejaVu Sans"/>
              </a:rPr>
              <a:t>)</a:t>
            </a: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41" name="PlaceHolder 1">
            <a:extLst>
              <a:ext uri="{FF2B5EF4-FFF2-40B4-BE49-F238E27FC236}">
                <a16:creationId xmlns:a16="http://schemas.microsoft.com/office/drawing/2014/main" id="{E1F89BD6-759E-447B-BD60-E0286425A30B}"/>
              </a:ext>
            </a:extLst>
          </p:cNvPr>
          <p:cNvSpPr txBox="1">
            <a:spLocks/>
          </p:cNvSpPr>
          <p:nvPr/>
        </p:nvSpPr>
        <p:spPr>
          <a:xfrm>
            <a:off x="372900" y="485843"/>
            <a:ext cx="11446200" cy="1108440"/>
          </a:xfrm>
          <a:prstGeom prst="rect">
            <a:avLst/>
          </a:prstGeom>
          <a:noFill/>
          <a:ln w="0">
            <a:noFill/>
          </a:ln>
        </p:spPr>
        <p:txBody>
          <a:bodyPr lIns="0" tIns="0" rIns="0" bIns="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CH">
                <a:solidFill>
                  <a:srgbClr val="000000"/>
                </a:solidFill>
                <a:latin typeface="Calibri Light"/>
                <a:ea typeface="DejaVu Sans"/>
              </a:rPr>
              <a:t>Tabular data ideas and operations</a:t>
            </a:r>
            <a:r>
              <a:rPr lang="en-US" dirty="0">
                <a:solidFill>
                  <a:srgbClr val="000000"/>
                </a:solidFill>
                <a:latin typeface="Calibri Light"/>
                <a:ea typeface="DejaVu Sans"/>
              </a:rPr>
              <a:t> – </a:t>
            </a:r>
            <a:r>
              <a:rPr lang="en-CH">
                <a:solidFill>
                  <a:srgbClr val="000000"/>
                </a:solidFill>
                <a:latin typeface="Calibri Light"/>
                <a:ea typeface="DejaVu Sans"/>
              </a:rPr>
              <a:t>universal for all tabular data tools</a:t>
            </a:r>
            <a:endParaRPr lang="en-GB" dirty="0">
              <a:solidFill>
                <a:srgbClr val="000000"/>
              </a:solidFill>
              <a:latin typeface="Arial"/>
            </a:endParaRPr>
          </a:p>
        </p:txBody>
      </p:sp>
      <p:sp>
        <p:nvSpPr>
          <p:cNvPr id="42" name="PlaceHolder 1">
            <a:extLst>
              <a:ext uri="{FF2B5EF4-FFF2-40B4-BE49-F238E27FC236}">
                <a16:creationId xmlns:a16="http://schemas.microsoft.com/office/drawing/2014/main" id="{F59BA0B8-F01A-DF18-C0B2-54C6086F712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4" name="PlaceHolder 2">
            <a:extLst>
              <a:ext uri="{FF2B5EF4-FFF2-40B4-BE49-F238E27FC236}">
                <a16:creationId xmlns:a16="http://schemas.microsoft.com/office/drawing/2014/main" id="{F6DE5AAA-A661-D734-B33B-98216F90BC1D}"/>
              </a:ext>
            </a:extLst>
          </p:cNvPr>
          <p:cNvSpPr>
            <a:spLocks noGrp="1"/>
          </p:cNvSpPr>
          <p:nvPr>
            <p:ph type="ftr" idx="1"/>
          </p:nvPr>
        </p:nvSpPr>
        <p:spPr>
          <a:xfrm>
            <a:off x="4038480" y="6356520"/>
            <a:ext cx="4111560" cy="361800"/>
          </a:xfrm>
        </p:spPr>
        <p:txBody>
          <a:bodyPr/>
          <a:lstStyle/>
          <a:p>
            <a:r>
              <a:rPr lang="en-US"/>
              <a:t>Tab, v4.0</a:t>
            </a:r>
            <a:endParaRPr dirty="0"/>
          </a:p>
        </p:txBody>
      </p:sp>
      <p:sp>
        <p:nvSpPr>
          <p:cNvPr id="2" name="Date Placeholder 1">
            <a:extLst>
              <a:ext uri="{FF2B5EF4-FFF2-40B4-BE49-F238E27FC236}">
                <a16:creationId xmlns:a16="http://schemas.microsoft.com/office/drawing/2014/main" id="{8FA48F0E-BAF7-2905-F3F2-AD64B69E0B2B}"/>
              </a:ext>
            </a:extLst>
          </p:cNvPr>
          <p:cNvSpPr>
            <a:spLocks noGrp="1"/>
          </p:cNvSpPr>
          <p:nvPr>
            <p:ph type="dt" idx="3"/>
          </p:nvPr>
        </p:nvSpPr>
        <p:spPr/>
        <p:txBody>
          <a:bodyPr/>
          <a:lstStyle/>
          <a:p>
            <a:r>
              <a:rPr lang="de-CH" sz="1400" b="0" u="none" strike="noStrike">
                <a:solidFill>
                  <a:srgbClr val="8B8B8B"/>
                </a:solidFill>
                <a:effectLst/>
                <a:uFillTx/>
                <a:latin typeface="Calibri"/>
                <a:ea typeface="+mn-ea"/>
              </a:rPr>
              <a:t>ASPP, Aug 2026</a:t>
            </a:r>
            <a:endParaRPr lang="de-CH" sz="1400" b="0" u="none" strike="noStrike" dirty="0">
              <a:solidFill>
                <a:srgbClr val="8B8B8B"/>
              </a:solidFill>
              <a:effectLst/>
              <a:uFillTx/>
              <a:latin typeface="Calibri"/>
              <a:ea typeface="+mn-ea"/>
            </a:endParaRPr>
          </a:p>
        </p:txBody>
      </p:sp>
    </p:spTree>
    <p:extLst>
      <p:ext uri="{BB962C8B-B14F-4D97-AF65-F5344CB8AC3E}">
        <p14:creationId xmlns:p14="http://schemas.microsoft.com/office/powerpoint/2010/main" val="37859100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1" name="Picture 4" descr="Image"/>
          <p:cNvPicPr/>
          <p:nvPr/>
        </p:nvPicPr>
        <p:blipFill>
          <a:blip r:embed="rId2"/>
          <a:srcRect l="16022" r="5951"/>
          <a:stretch/>
        </p:blipFill>
        <p:spPr>
          <a:xfrm>
            <a:off x="9262800" y="581040"/>
            <a:ext cx="2718720" cy="3485160"/>
          </a:xfrm>
          <a:prstGeom prst="rect">
            <a:avLst/>
          </a:prstGeom>
          <a:noFill/>
          <a:ln w="0">
            <a:noFill/>
          </a:ln>
        </p:spPr>
      </p:pic>
      <p:sp>
        <p:nvSpPr>
          <p:cNvPr id="423"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Melting – it’s kind of the opposite of pivoting</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E012E134-52C4-4845-9D53-EFC04751F633}" type="slidenum">
              <a:rPr/>
              <a:t>60</a:t>
            </a:fld>
            <a:endParaRPr/>
          </a:p>
        </p:txBody>
      </p:sp>
      <p:sp>
        <p:nvSpPr>
          <p:cNvPr id="424"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422"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pic>
        <p:nvPicPr>
          <p:cNvPr id="425" name="Picture 8"/>
          <p:cNvPicPr/>
          <p:nvPr/>
        </p:nvPicPr>
        <p:blipFill>
          <a:blip r:embed="rId3"/>
          <a:stretch/>
        </p:blipFill>
        <p:spPr>
          <a:xfrm>
            <a:off x="1503000" y="2860200"/>
            <a:ext cx="2074320" cy="1683000"/>
          </a:xfrm>
          <a:prstGeom prst="rect">
            <a:avLst/>
          </a:prstGeom>
          <a:noFill/>
          <a:ln w="0">
            <a:noFill/>
          </a:ln>
        </p:spPr>
      </p:pic>
      <p:pic>
        <p:nvPicPr>
          <p:cNvPr id="426" name="Picture 9"/>
          <p:cNvPicPr/>
          <p:nvPr/>
        </p:nvPicPr>
        <p:blipFill>
          <a:blip r:embed="rId4"/>
          <a:stretch/>
        </p:blipFill>
        <p:spPr>
          <a:xfrm>
            <a:off x="5969880" y="2067120"/>
            <a:ext cx="2867400" cy="2987640"/>
          </a:xfrm>
          <a:prstGeom prst="rect">
            <a:avLst/>
          </a:prstGeom>
          <a:noFill/>
          <a:ln w="0">
            <a:noFill/>
          </a:ln>
        </p:spPr>
      </p:pic>
      <p:sp>
        <p:nvSpPr>
          <p:cNvPr id="427" name="TextBox 7"/>
          <p:cNvSpPr/>
          <p:nvPr/>
        </p:nvSpPr>
        <p:spPr>
          <a:xfrm>
            <a:off x="1379520" y="5172480"/>
            <a:ext cx="9429840" cy="36396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onsolas"/>
                <a:ea typeface="DejaVu Sans"/>
              </a:rPr>
              <a:t>pd.melt(data, id_vars=['subject', 'date'], value_name='response_time')</a:t>
            </a:r>
            <a:endParaRPr lang="en-GB" sz="1800" b="0" u="none" strike="noStrike">
              <a:solidFill>
                <a:srgbClr val="000000"/>
              </a:solidFill>
              <a:effectLst/>
              <a:uFillTx/>
              <a:latin typeface="Arial"/>
            </a:endParaRPr>
          </a:p>
        </p:txBody>
      </p:sp>
      <p:sp>
        <p:nvSpPr>
          <p:cNvPr id="428" name="TextBox 10"/>
          <p:cNvSpPr/>
          <p:nvPr/>
        </p:nvSpPr>
        <p:spPr>
          <a:xfrm>
            <a:off x="857160" y="1937160"/>
            <a:ext cx="213588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The treatment values are stored as a column name</a:t>
            </a:r>
            <a:endParaRPr lang="en-GB" sz="1800" b="0" u="none" strike="noStrike">
              <a:solidFill>
                <a:srgbClr val="000000"/>
              </a:solidFill>
              <a:effectLst/>
              <a:uFillTx/>
              <a:latin typeface="Arial"/>
            </a:endParaRPr>
          </a:p>
        </p:txBody>
      </p:sp>
      <p:sp>
        <p:nvSpPr>
          <p:cNvPr id="429" name="TextBox 11"/>
          <p:cNvSpPr/>
          <p:nvPr/>
        </p:nvSpPr>
        <p:spPr>
          <a:xfrm>
            <a:off x="3024360" y="2192760"/>
            <a:ext cx="713880" cy="515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CH" sz="2800" b="0" u="none" strike="noStrike">
                <a:solidFill>
                  <a:srgbClr val="1F1F1F"/>
                </a:solidFill>
                <a:effectLst/>
                <a:highlight>
                  <a:srgbClr val="FFFFFF"/>
                </a:highlight>
                <a:uFillTx/>
                <a:latin typeface="Google Sans"/>
                <a:ea typeface="DejaVu Sans"/>
              </a:rPr>
              <a:t>😱 </a:t>
            </a:r>
            <a:endParaRPr lang="en-GB" sz="2800" b="0" u="none" strike="noStrike">
              <a:solidFill>
                <a:srgbClr val="000000"/>
              </a:solidFill>
              <a:effectLst/>
              <a:uFillTx/>
              <a:latin typeface="Arial"/>
            </a:endParaRPr>
          </a:p>
        </p:txBody>
      </p:sp>
      <p:sp>
        <p:nvSpPr>
          <p:cNvPr id="430" name="Right Arrow 12"/>
          <p:cNvSpPr/>
          <p:nvPr/>
        </p:nvSpPr>
        <p:spPr>
          <a:xfrm>
            <a:off x="3945960" y="3487320"/>
            <a:ext cx="1766160" cy="428760"/>
          </a:xfrm>
          <a:prstGeom prst="rightArrow">
            <a:avLst>
              <a:gd name="adj1" fmla="val 50000"/>
              <a:gd name="adj2" fmla="val 50000"/>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a:ea typeface="DejaVu Sans"/>
            </a:endParaRPr>
          </a:p>
        </p:txBody>
      </p:sp>
      <p:sp>
        <p:nvSpPr>
          <p:cNvPr id="431" name="TextBox 13"/>
          <p:cNvSpPr/>
          <p:nvPr/>
        </p:nvSpPr>
        <p:spPr>
          <a:xfrm>
            <a:off x="3963600" y="3197520"/>
            <a:ext cx="16632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melt</a:t>
            </a:r>
            <a:endParaRPr lang="en-GB" sz="1800" b="0" u="none" strike="noStrike">
              <a:solidFill>
                <a:srgbClr val="000000"/>
              </a:solidFill>
              <a:effectLst/>
              <a:uFillTx/>
              <a:latin typeface="Arial"/>
            </a:endParaRPr>
          </a:p>
        </p:txBody>
      </p:sp>
      <p:sp>
        <p:nvSpPr>
          <p:cNvPr id="432" name="TextBox 6"/>
          <p:cNvSpPr/>
          <p:nvPr/>
        </p:nvSpPr>
        <p:spPr>
          <a:xfrm>
            <a:off x="1379520" y="5628240"/>
            <a:ext cx="961236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Split the columns in (A) “id_vars” and (B) non-”id_vars”. The column names in (B) are used as new values in a new column “variable”. The values in columns (B) go into a new column, “response_time”.</a:t>
            </a:r>
            <a:endParaRPr lang="en-GB" sz="1800" b="0" u="none" strike="noStrike">
              <a:solidFill>
                <a:srgbClr val="000000"/>
              </a:solidFill>
              <a:effectLst/>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3" name="Picture 2" descr="Image"/>
          <p:cNvPicPr/>
          <p:nvPr/>
        </p:nvPicPr>
        <p:blipFill>
          <a:blip r:embed="rId2"/>
          <a:srcRect l="2154" r="23761" b="5248"/>
          <a:stretch/>
        </p:blipFill>
        <p:spPr>
          <a:xfrm>
            <a:off x="9264240" y="588240"/>
            <a:ext cx="2718720" cy="3477960"/>
          </a:xfrm>
          <a:prstGeom prst="rect">
            <a:avLst/>
          </a:prstGeom>
          <a:noFill/>
          <a:ln w="0">
            <a:noFill/>
          </a:ln>
        </p:spPr>
      </p:pic>
      <p:sp>
        <p:nvSpPr>
          <p:cNvPr id="435"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400" b="0" u="none" strike="noStrike">
                <a:solidFill>
                  <a:srgbClr val="000000"/>
                </a:solidFill>
                <a:effectLst/>
                <a:uFillTx/>
                <a:latin typeface="Consolas"/>
                <a:ea typeface="DejaVu Sans"/>
              </a:rPr>
              <a:t>pd.concat </a:t>
            </a:r>
            <a:r>
              <a:rPr lang="en-CH" sz="2800" b="0" u="none" strike="noStrike">
                <a:solidFill>
                  <a:srgbClr val="000000"/>
                </a:solidFill>
                <a:effectLst/>
                <a:uFillTx/>
                <a:latin typeface="Calibri"/>
                <a:ea typeface="DejaVu Sans"/>
              </a:rPr>
              <a:t>– add together tables with the same variables (columns)</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2838F357-F9B8-4D39-8983-1DE7C9D12F69}" type="slidenum">
              <a:rPr/>
              <a:t>61</a:t>
            </a:fld>
            <a:endParaRPr/>
          </a:p>
        </p:txBody>
      </p:sp>
      <p:sp>
        <p:nvSpPr>
          <p:cNvPr id="436"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434"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sp>
        <p:nvSpPr>
          <p:cNvPr id="437" name="TextBox 6"/>
          <p:cNvSpPr/>
          <p:nvPr/>
        </p:nvSpPr>
        <p:spPr>
          <a:xfrm>
            <a:off x="789120" y="2541600"/>
            <a:ext cx="172512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Some variables are stored in the file names</a:t>
            </a:r>
            <a:endParaRPr lang="en-GB" sz="1800" b="0" u="none" strike="noStrike">
              <a:solidFill>
                <a:srgbClr val="000000"/>
              </a:solidFill>
              <a:effectLst/>
              <a:uFillTx/>
              <a:latin typeface="Arial"/>
            </a:endParaRPr>
          </a:p>
        </p:txBody>
      </p:sp>
      <p:sp>
        <p:nvSpPr>
          <p:cNvPr id="438" name="TextBox 14"/>
          <p:cNvSpPr/>
          <p:nvPr/>
        </p:nvSpPr>
        <p:spPr>
          <a:xfrm>
            <a:off x="2552400" y="2775960"/>
            <a:ext cx="713880" cy="515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CH" sz="2800" b="0" u="none" strike="noStrike">
                <a:solidFill>
                  <a:srgbClr val="1F1F1F"/>
                </a:solidFill>
                <a:effectLst/>
                <a:highlight>
                  <a:srgbClr val="FFFFFF"/>
                </a:highlight>
                <a:uFillTx/>
                <a:latin typeface="Google Sans"/>
                <a:ea typeface="DejaVu Sans"/>
              </a:rPr>
              <a:t>😱 </a:t>
            </a:r>
            <a:endParaRPr lang="en-GB" sz="2800" b="0" u="none" strike="noStrike">
              <a:solidFill>
                <a:srgbClr val="000000"/>
              </a:solidFill>
              <a:effectLst/>
              <a:uFillTx/>
              <a:latin typeface="Arial"/>
            </a:endParaRPr>
          </a:p>
        </p:txBody>
      </p:sp>
      <p:sp>
        <p:nvSpPr>
          <p:cNvPr id="439" name="TextBox 15"/>
          <p:cNvSpPr/>
          <p:nvPr/>
        </p:nvSpPr>
        <p:spPr>
          <a:xfrm>
            <a:off x="838080" y="3530880"/>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a:solidFill>
                  <a:srgbClr val="000000"/>
                </a:solidFill>
                <a:effectLst/>
                <a:uFillTx/>
                <a:latin typeface="Consolas"/>
                <a:ea typeface="DejaVu Sans"/>
              </a:rPr>
              <a:t>2024-01_prices_DE.csv</a:t>
            </a:r>
            <a:br>
              <a:rPr sz="1600"/>
            </a:br>
            <a:r>
              <a:rPr lang="en-US" sz="1600" b="0" u="none" strike="noStrike">
                <a:solidFill>
                  <a:srgbClr val="000000"/>
                </a:solidFill>
                <a:effectLst/>
                <a:uFillTx/>
                <a:latin typeface="Consolas"/>
                <a:ea typeface="DejaVu Sans"/>
              </a:rPr>
              <a:t>2024-01_prices_FR.csv</a:t>
            </a:r>
            <a:br>
              <a:rPr sz="1600"/>
            </a:br>
            <a:r>
              <a:rPr lang="en-US" sz="1600" b="0" u="none" strike="noStrike">
                <a:solidFill>
                  <a:srgbClr val="000000"/>
                </a:solidFill>
                <a:effectLst/>
                <a:uFillTx/>
                <a:latin typeface="Consolas"/>
                <a:ea typeface="DejaVu Sans"/>
              </a:rPr>
              <a:t>2024-02_prices_DE.csv</a:t>
            </a:r>
            <a:br>
              <a:rPr sz="1600"/>
            </a:br>
            <a:r>
              <a:rPr lang="en-US" sz="1600" b="0" u="none" strike="noStrike">
                <a:solidFill>
                  <a:srgbClr val="000000"/>
                </a:solidFill>
                <a:effectLst/>
                <a:uFillTx/>
                <a:latin typeface="Consolas"/>
                <a:ea typeface="DejaVu Sans"/>
              </a:rPr>
              <a:t>2024-02_prices_FR.csv</a:t>
            </a:r>
            <a:endParaRPr lang="en-GB" sz="1600" b="0" u="none" strike="noStrike">
              <a:solidFill>
                <a:srgbClr val="000000"/>
              </a:solidFill>
              <a:effectLst/>
              <a:uFillTx/>
              <a:latin typeface="Arial"/>
            </a:endParaRPr>
          </a:p>
        </p:txBody>
      </p:sp>
      <p:sp>
        <p:nvSpPr>
          <p:cNvPr id="440" name="TextBox 16"/>
          <p:cNvSpPr/>
          <p:nvPr/>
        </p:nvSpPr>
        <p:spPr>
          <a:xfrm>
            <a:off x="4367880" y="2602080"/>
            <a:ext cx="6389280" cy="3495960"/>
          </a:xfrm>
          <a:prstGeom prst="rect">
            <a:avLst/>
          </a:prstGeom>
          <a:solidFill>
            <a:srgbClr val="E2F0D9">
              <a:alpha val="71000"/>
            </a:srgb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a:solidFill>
                  <a:srgbClr val="000000"/>
                </a:solidFill>
                <a:effectLst/>
                <a:uFillTx/>
                <a:latin typeface="Consolas"/>
                <a:ea typeface="DejaVu Sans"/>
              </a:rPr>
              <a:t>tables = []</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for filename in filenames:   </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Parse filename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year_month, _, country = filename[:-4].split('_')</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Read table and add columns for the variables</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df = pd.read_csv(filename)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a:t>
            </a:r>
            <a:r>
              <a:rPr lang="en-US" sz="1600" b="1" u="none" strike="noStrike">
                <a:solidFill>
                  <a:srgbClr val="000000"/>
                </a:solidFill>
                <a:effectLst/>
                <a:uFillTx/>
                <a:latin typeface="Consolas"/>
                <a:ea typeface="DejaVu Sans"/>
              </a:rPr>
              <a:t># Add the variables that were in the filename</a:t>
            </a:r>
            <a:endParaRPr lang="en-GB" sz="16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Consolas"/>
                <a:ea typeface="DejaVu Sans"/>
              </a:rPr>
              <a:t>    df['year_month'] = year_month</a:t>
            </a:r>
            <a:endParaRPr lang="en-GB" sz="16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Consolas"/>
                <a:ea typeface="DejaVu Sans"/>
              </a:rPr>
              <a:t>    df['country’] = country</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Store table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tables.append(df)</a:t>
            </a:r>
            <a:endParaRPr lang="en-GB" sz="1600" b="0" u="none" strike="noStrike">
              <a:solidFill>
                <a:srgbClr val="000000"/>
              </a:solidFill>
              <a:effectLst/>
              <a:uFillTx/>
              <a:latin typeface="Arial"/>
            </a:endParaRPr>
          </a:p>
          <a:p>
            <a:pPr>
              <a:lnSpc>
                <a:spcPct val="100000"/>
              </a:lnSpc>
            </a:pP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Create complete table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tidy_df = </a:t>
            </a:r>
            <a:r>
              <a:rPr lang="en-US" sz="1600" b="1" u="none" strike="noStrike">
                <a:solidFill>
                  <a:srgbClr val="000000"/>
                </a:solidFill>
                <a:effectLst/>
                <a:uFillTx/>
                <a:latin typeface="Consolas"/>
                <a:ea typeface="DejaVu Sans"/>
              </a:rPr>
              <a:t>pd.concat(tables)</a:t>
            </a:r>
            <a:r>
              <a:rPr lang="en-CH" sz="1600" b="1" u="none" strike="noStrike">
                <a:solidFill>
                  <a:srgbClr val="000000"/>
                </a:solidFill>
                <a:effectLst/>
                <a:uFillTx/>
                <a:latin typeface="Consolas"/>
                <a:ea typeface="DejaVu Sans"/>
              </a:rPr>
              <a:t>    </a:t>
            </a:r>
            <a:endParaRPr lang="en-GB" sz="1600" b="0" u="none" strike="noStrike">
              <a:solidFill>
                <a:srgbClr val="000000"/>
              </a:solidFill>
              <a:effectLst/>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 name="Rectangle 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DE" sz="1800" b="0" u="none" strike="noStrike">
              <a:solidFill>
                <a:srgbClr val="000000"/>
              </a:solidFill>
              <a:effectLst/>
              <a:uFillTx/>
              <a:latin typeface="Courier New"/>
              <a:ea typeface="DejaVu Sans"/>
            </a:endParaRPr>
          </a:p>
        </p:txBody>
      </p:sp>
      <p:sp>
        <p:nvSpPr>
          <p:cNvPr id="443"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Tidy up the data set in the tuberculosis exercise</a:t>
            </a:r>
            <a:br>
              <a:rPr sz="2800"/>
            </a:br>
            <a:r>
              <a:rPr lang="en-CH" sz="2800" b="0" u="none" strike="noStrike">
                <a:solidFill>
                  <a:srgbClr val="000000"/>
                </a:solidFill>
                <a:effectLst/>
                <a:uFillTx/>
                <a:latin typeface="Calibri"/>
                <a:ea typeface="DejaVu Sans"/>
              </a:rPr>
              <a:t>and compute the summary stats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a:t>
            </a:r>
            <a:br>
              <a:rPr sz="2800"/>
            </a:br>
            <a:r>
              <a:rPr lang="en-US" sz="2800" b="0" u="none" strike="noStrike">
                <a:solidFill>
                  <a:srgbClr val="000000"/>
                </a:solidFill>
                <a:effectLst/>
                <a:uFillTx/>
                <a:latin typeface="Consolas"/>
                <a:ea typeface="DejaVu Sans"/>
              </a:rPr>
              <a:t>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D57AF0BC-EE76-46B7-BC5A-5C39E2ACACE8}" type="slidenum">
              <a:rPr/>
              <a:t>62</a:t>
            </a:fld>
            <a:endParaRPr/>
          </a:p>
        </p:txBody>
      </p:sp>
      <p:sp>
        <p:nvSpPr>
          <p:cNvPr id="444"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442"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445" name="TextBox 9"/>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446" name="Graphic 10"/>
          <p:cNvPicPr/>
          <p:nvPr/>
        </p:nvPicPr>
        <p:blipFill>
          <a:blip r:embed="rId2"/>
          <a:stretch/>
        </p:blipFill>
        <p:spPr>
          <a:xfrm>
            <a:off x="7474680" y="273960"/>
            <a:ext cx="691200" cy="552240"/>
          </a:xfrm>
          <a:prstGeom prst="rect">
            <a:avLst/>
          </a:prstGeom>
          <a:noFill/>
          <a:ln w="0">
            <a:noFill/>
          </a:ln>
        </p:spPr>
      </p:pic>
      <p:pic>
        <p:nvPicPr>
          <p:cNvPr id="447" name="Picture 1"/>
          <p:cNvPicPr/>
          <p:nvPr/>
        </p:nvPicPr>
        <p:blipFill>
          <a:blip r:embed="rId3"/>
          <a:stretch/>
        </p:blipFill>
        <p:spPr>
          <a:xfrm>
            <a:off x="7506000" y="3141000"/>
            <a:ext cx="2986920" cy="2905920"/>
          </a:xfrm>
          <a:prstGeom prst="rect">
            <a:avLst/>
          </a:prstGeom>
          <a:noFill/>
          <a:ln w="0">
            <a:noFill/>
          </a:ln>
        </p:spPr>
      </p:pic>
      <p:sp>
        <p:nvSpPr>
          <p:cNvPr id="448" name="TextBox 11"/>
          <p:cNvSpPr/>
          <p:nvPr/>
        </p:nvSpPr>
        <p:spPr>
          <a:xfrm>
            <a:off x="7527960" y="2102760"/>
            <a:ext cx="191376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Multiple variables are stored in one column</a:t>
            </a:r>
            <a:endParaRPr lang="en-GB" sz="1800" b="0" u="none" strike="noStrike">
              <a:solidFill>
                <a:srgbClr val="000000"/>
              </a:solidFill>
              <a:effectLst/>
              <a:uFillTx/>
              <a:latin typeface="Arial"/>
            </a:endParaRPr>
          </a:p>
        </p:txBody>
      </p:sp>
      <p:sp>
        <p:nvSpPr>
          <p:cNvPr id="449" name="TextBox 8"/>
          <p:cNvSpPr/>
          <p:nvPr/>
        </p:nvSpPr>
        <p:spPr>
          <a:xfrm>
            <a:off x="8301960" y="542880"/>
            <a:ext cx="3479400" cy="302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exercises/tabular_tidy_data</a:t>
            </a:r>
            <a:endParaRPr lang="en-GB" sz="1400" b="0" u="none" strike="noStrike">
              <a:solidFill>
                <a:srgbClr val="000000"/>
              </a:solidFill>
              <a:effectLst/>
              <a:uFillTx/>
              <a:latin typeface="Arial"/>
            </a:endParaRPr>
          </a:p>
        </p:txBody>
      </p:sp>
      <p:sp>
        <p:nvSpPr>
          <p:cNvPr id="450" name="TextBox 7"/>
          <p:cNvSpPr/>
          <p:nvPr/>
        </p:nvSpPr>
        <p:spPr>
          <a:xfrm>
            <a:off x="9595080" y="2243880"/>
            <a:ext cx="926640" cy="699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Google Sans"/>
                <a:ea typeface="DejaVu Sans"/>
              </a:rPr>
              <a:t>😱 </a:t>
            </a:r>
            <a:endParaRPr lang="en-GB" sz="4000" b="0" u="none" strike="noStrike">
              <a:solidFill>
                <a:srgbClr val="000000"/>
              </a:solidFill>
              <a:effectLst/>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PlaceHolder 2"/>
          <p:cNvSpPr>
            <a:spLocks noGrp="1"/>
          </p:cNvSpPr>
          <p:nvPr>
            <p:ph type="body"/>
          </p:nvPr>
        </p:nvSpPr>
        <p:spPr>
          <a:prstGeom prst="rect">
            <a:avLst/>
          </a:prstGeom>
          <a:noFill/>
          <a:ln w="0">
            <a:noFill/>
          </a:ln>
        </p:spPr>
        <p:txBody>
          <a:bodyPr lIns="90000" tIns="45000" rIns="90000" bIns="45000" anchor="t">
            <a:normAutofit fontScale="40000" lnSpcReduction="20000"/>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Other data structures: graphs, trees, priority queues, …</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Options for working with large data on disk / remotely (instead of in-memory)</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Best practices in data handling: versioning, lineage, sharing</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Organizing a complex data set in multiple tables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 and a lot more!</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97F6AC99-E27B-4FB0-85C2-CF7C34E4DC4D}" type="slidenum">
              <a:t>63</a:t>
            </a:fld>
            <a:endParaRPr/>
          </a:p>
        </p:txBody>
      </p:sp>
      <p:sp>
        <p:nvSpPr>
          <p:cNvPr id="46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460"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What we didn’t talk about</a:t>
            </a:r>
            <a:endParaRPr lang="en-GB" sz="4400" b="0" u="none" strike="noStrike">
              <a:solidFill>
                <a:srgbClr val="000000"/>
              </a:solidFill>
              <a:effectLst/>
              <a:uFillTx/>
              <a:latin typeface="Arial"/>
            </a:endParaRPr>
          </a:p>
        </p:txBody>
      </p:sp>
      <p:pic>
        <p:nvPicPr>
          <p:cNvPr id="463" name="Picture 32" descr="The Data Warehouse Toolkit"/>
          <p:cNvPicPr/>
          <p:nvPr/>
        </p:nvPicPr>
        <p:blipFill>
          <a:blip r:embed="rId2"/>
          <a:stretch/>
        </p:blipFill>
        <p:spPr>
          <a:xfrm>
            <a:off x="9776160" y="3605400"/>
            <a:ext cx="1938600" cy="2444760"/>
          </a:xfrm>
          <a:prstGeom prst="rect">
            <a:avLst/>
          </a:prstGeom>
          <a:noFill/>
          <a:ln w="0">
            <a:noFill/>
          </a:ln>
        </p:spPr>
      </p:pic>
      <p:pic>
        <p:nvPicPr>
          <p:cNvPr id="464" name="Picture 33"/>
          <p:cNvPicPr/>
          <p:nvPr/>
        </p:nvPicPr>
        <p:blipFill>
          <a:blip r:embed="rId3"/>
          <a:stretch/>
        </p:blipFill>
        <p:spPr>
          <a:xfrm>
            <a:off x="473760" y="3863160"/>
            <a:ext cx="4026960" cy="2166480"/>
          </a:xfrm>
          <a:prstGeom prst="rect">
            <a:avLst/>
          </a:prstGeom>
          <a:noFill/>
          <a:ln w="0">
            <a:solidFill>
              <a:srgbClr val="000000"/>
            </a:solidFill>
          </a:ln>
        </p:spPr>
      </p:pic>
      <p:pic>
        <p:nvPicPr>
          <p:cNvPr id="465" name="Picture 34"/>
          <p:cNvPicPr/>
          <p:nvPr/>
        </p:nvPicPr>
        <p:blipFill>
          <a:blip r:embed="rId4"/>
          <a:stretch/>
        </p:blipFill>
        <p:spPr>
          <a:xfrm>
            <a:off x="4816800" y="3867480"/>
            <a:ext cx="4505760" cy="2183040"/>
          </a:xfrm>
          <a:prstGeom prst="rect">
            <a:avLst/>
          </a:prstGeom>
          <a:noFill/>
          <a:ln w="0">
            <a:solidFill>
              <a:srgbClr val="000000"/>
            </a:solid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Joins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rPr lang="en-GB"/>
              <a:t>Tab, v4.0</a:t>
            </a:r>
            <a:endParaRPr/>
          </a:p>
        </p:txBody>
      </p:sp>
      <p:sp>
        <p:nvSpPr>
          <p:cNvPr id="5" name="PlaceHolder 4"/>
          <p:cNvSpPr>
            <a:spLocks noGrp="1"/>
          </p:cNvSpPr>
          <p:nvPr>
            <p:ph type="sldNum" idx="2"/>
          </p:nvPr>
        </p:nvSpPr>
        <p:spPr>
          <a:prstGeom prst="rect">
            <a:avLst/>
          </a:prstGeom>
        </p:spPr>
        <p:txBody>
          <a:bodyPr/>
          <a:lstStyle/>
          <a:p>
            <a:fld id="{2FD0A5AE-35C2-4BC5-86CB-B44ACE1BB078}" type="slidenum">
              <a:t>64</a:t>
            </a:fld>
            <a:endParaRPr/>
          </a:p>
        </p:txBody>
      </p:sp>
      <p:sp>
        <p:nvSpPr>
          <p:cNvPr id="473"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87CE5AE4-0C92-4E27-866E-4AE33ECC9959}"/>
              </a:ext>
            </a:extLst>
          </p:cNvPr>
          <p:cNvSpPr>
            <a:spLocks noGrp="1"/>
          </p:cNvSpPr>
          <p:nvPr>
            <p:ph type="body"/>
          </p:nvPr>
        </p:nvSpPr>
        <p:spPr/>
        <p:txBody>
          <a:bodyPr/>
          <a:lstStyle/>
          <a:p>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Join operations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rPr lang="en-GB"/>
              <a:t>Tab, v4.0</a:t>
            </a:r>
            <a:endParaRPr/>
          </a:p>
        </p:txBody>
      </p:sp>
      <p:sp>
        <p:nvSpPr>
          <p:cNvPr id="5" name="PlaceHolder 4"/>
          <p:cNvSpPr>
            <a:spLocks noGrp="1"/>
          </p:cNvSpPr>
          <p:nvPr>
            <p:ph type="sldNum" idx="2"/>
          </p:nvPr>
        </p:nvSpPr>
        <p:spPr>
          <a:prstGeom prst="rect">
            <a:avLst/>
          </a:prstGeom>
        </p:spPr>
        <p:txBody>
          <a:bodyPr/>
          <a:lstStyle/>
          <a:p>
            <a:fld id="{B73BCEBE-2ACC-4426-8776-3A3157382EA3}" type="slidenum">
              <a:rPr/>
              <a:t>65</a:t>
            </a:fld>
            <a:endParaRPr/>
          </a:p>
        </p:txBody>
      </p:sp>
      <p:sp>
        <p:nvSpPr>
          <p:cNvPr id="48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483" name="Rectangle 4"/>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484" name="Graphic 6"/>
          <p:cNvPicPr/>
          <p:nvPr/>
        </p:nvPicPr>
        <p:blipFill>
          <a:blip r:embed="rId2"/>
          <a:stretch/>
        </p:blipFill>
        <p:spPr>
          <a:xfrm>
            <a:off x="7511040" y="232200"/>
            <a:ext cx="707040" cy="627840"/>
          </a:xfrm>
          <a:prstGeom prst="rect">
            <a:avLst/>
          </a:prstGeom>
          <a:noFill/>
          <a:ln w="0">
            <a:noFill/>
          </a:ln>
        </p:spPr>
      </p:pic>
      <p:sp>
        <p:nvSpPr>
          <p:cNvPr id="485" name="TextBox 62"/>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486" name="TextBox 63"/>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020_join_operations.ipynb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48C65B44-1664-AA97-218F-D2E0F7635868}"/>
              </a:ext>
            </a:extLst>
          </p:cNvPr>
          <p:cNvSpPr>
            <a:spLocks noGrp="1"/>
          </p:cNvSpPr>
          <p:nvPr>
            <p:ph type="body"/>
          </p:nvPr>
        </p:nvSpPr>
        <p:spPr/>
        <p:txBody>
          <a:bodyPr/>
          <a:lstStyle/>
          <a:p>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400" b="0" u="none" strike="noStrike">
                <a:solidFill>
                  <a:srgbClr val="000000"/>
                </a:solidFill>
                <a:effectLst/>
                <a:uFillTx/>
                <a:latin typeface="Calibri"/>
                <a:ea typeface="DejaVu Sans"/>
              </a:rPr>
              <a:t>Join operations can be used to combine two tables using the values of one or m</a:t>
            </a:r>
            <a:r>
              <a:rPr lang="en-US" sz="2400" b="0" u="none" strike="noStrike">
                <a:solidFill>
                  <a:srgbClr val="000000"/>
                </a:solidFill>
                <a:effectLst/>
                <a:uFillTx/>
                <a:latin typeface="Calibri"/>
                <a:ea typeface="DejaVu Sans"/>
              </a:rPr>
              <a:t>ore columns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400" b="0" u="none" strike="noStrike">
                <a:solidFill>
                  <a:srgbClr val="000000"/>
                </a:solidFill>
                <a:effectLst/>
                <a:uFillTx/>
                <a:latin typeface="Calibri"/>
                <a:ea typeface="DejaVu Sans"/>
              </a:rPr>
              <a:t>Different types of join: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left/right: keep all the column values that are present in the first/second table</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inner: keep the column values common to both tables (intersection)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outer: keep all the column values of both tables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CH" sz="2400" b="0" u="none" strike="noStrike">
                <a:solidFill>
                  <a:srgbClr val="000000"/>
                </a:solidFill>
                <a:effectLst/>
                <a:uFillTx/>
                <a:latin typeface="Calibri"/>
                <a:ea typeface="DejaVu Sans"/>
              </a:rPr>
              <a:t>Anti-joins can be used to exclude the values that are present in one, but not the other table (filtering based on arbitrary criteria)</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461DF40B-9E7C-478A-A521-75E47C8A09DF}" type="slidenum">
              <a:t>66</a:t>
            </a:fld>
            <a:endParaRPr/>
          </a:p>
        </p:txBody>
      </p:sp>
      <p:sp>
        <p:nvSpPr>
          <p:cNvPr id="48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48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Join operations – Main points</a:t>
            </a:r>
            <a:endParaRPr lang="en-GB" sz="4400" b="0" u="none" strike="noStrike">
              <a:solidFill>
                <a:srgbClr val="000000"/>
              </a:solidFill>
              <a:effectLst/>
              <a:uFillTx/>
              <a:latin typeface="Arial"/>
            </a:endParaRPr>
          </a:p>
        </p:txBody>
      </p:sp>
      <p:sp>
        <p:nvSpPr>
          <p:cNvPr id="490" name="Rectangle 11"/>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491" name="Graphic 1"/>
          <p:cNvPicPr/>
          <p:nvPr/>
        </p:nvPicPr>
        <p:blipFill>
          <a:blip r:embed="rId2"/>
          <a:stretch/>
        </p:blipFill>
        <p:spPr>
          <a:xfrm>
            <a:off x="7511040" y="232200"/>
            <a:ext cx="707040" cy="627840"/>
          </a:xfrm>
          <a:prstGeom prst="rect">
            <a:avLst/>
          </a:prstGeom>
          <a:noFill/>
          <a:ln w="0">
            <a:noFill/>
          </a:ln>
        </p:spPr>
      </p:pic>
      <p:sp>
        <p:nvSpPr>
          <p:cNvPr id="492" name="TextBox 64"/>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493" name="TextBox 65"/>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020_join_operations.ipynb</a:t>
            </a:r>
            <a:endParaRPr lang="en-GB" sz="1400" b="0" u="none" strike="noStrike">
              <a:solidFill>
                <a:srgbClr val="000000"/>
              </a:solidFill>
              <a:effectLst/>
              <a:uFillTx/>
              <a:latin typeface="Arial"/>
            </a:endParaRPr>
          </a:p>
        </p:txBody>
      </p:sp>
      <p:pic>
        <p:nvPicPr>
          <p:cNvPr id="494" name="Picture 493"/>
          <p:cNvPicPr/>
          <p:nvPr/>
        </p:nvPicPr>
        <p:blipFill>
          <a:blip r:embed="rId3"/>
          <a:stretch/>
        </p:blipFill>
        <p:spPr>
          <a:xfrm>
            <a:off x="6660000" y="1807920"/>
            <a:ext cx="5218560" cy="3230640"/>
          </a:xfrm>
          <a:prstGeom prst="rect">
            <a:avLst/>
          </a:prstGeom>
          <a:noFill/>
          <a:ln w="0">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Research question: Does Mediterranean diet help prevent cardiovascular diseases, such as heart attacks and strokes?</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763EB320-B046-4868-8D4E-7153EBC44CED}" type="slidenum">
              <a:t>67</a:t>
            </a:fld>
            <a:endParaRPr/>
          </a:p>
        </p:txBody>
      </p:sp>
      <p:sp>
        <p:nvSpPr>
          <p:cNvPr id="497"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495"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a:solidFill>
                  <a:srgbClr val="000000"/>
                </a:solidFill>
                <a:effectLst/>
                <a:uFillTx/>
                <a:latin typeface="Calibri Light"/>
                <a:ea typeface="DejaVu Sans"/>
              </a:rPr>
              <a:t>Example of tabular data: “Predimed” study</a:t>
            </a:r>
            <a:endParaRPr lang="en-GB" sz="4400" b="0" u="none" strike="noStrike">
              <a:solidFill>
                <a:srgbClr val="000000"/>
              </a:solidFill>
              <a:effectLst/>
              <a:uFillTx/>
              <a:latin typeface="Arial"/>
            </a:endParaRPr>
          </a:p>
        </p:txBody>
      </p:sp>
      <p:sp>
        <p:nvSpPr>
          <p:cNvPr id="498" name="Content Placeholder 3"/>
          <p:cNvSpPr/>
          <p:nvPr/>
        </p:nvSpPr>
        <p:spPr>
          <a:xfrm>
            <a:off x="838080" y="2160000"/>
            <a:ext cx="6179040" cy="306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Longitudinal study following &gt; 7000 Spanish participants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Three different diets:</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Mediterranean diet + extra virgin olive oil</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Mediterranean diet + nuts</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Control diet (low fat food items)</a:t>
            </a:r>
            <a:br>
              <a:rPr sz="2400"/>
            </a:br>
            <a:r>
              <a:rPr lang="en-US" sz="2400" b="0" u="none" strike="noStrike">
                <a:solidFill>
                  <a:srgbClr val="000000"/>
                </a:solidFill>
                <a:effectLst/>
                <a:uFillTx/>
                <a:latin typeface="Calibri"/>
                <a:ea typeface="DejaVu Sans"/>
              </a:rPr>
              <a:t> </a:t>
            </a:r>
            <a:endParaRPr lang="en-GB" sz="2400" b="0" u="none" strike="noStrike">
              <a:solidFill>
                <a:srgbClr val="000000"/>
              </a:solidFill>
              <a:effectLst/>
              <a:uFillTx/>
              <a:latin typeface="Arial"/>
            </a:endParaRPr>
          </a:p>
        </p:txBody>
      </p:sp>
      <p:pic>
        <p:nvPicPr>
          <p:cNvPr id="499" name="Picture 29"/>
          <p:cNvPicPr/>
          <p:nvPr/>
        </p:nvPicPr>
        <p:blipFill>
          <a:blip r:embed="rId2"/>
          <a:stretch/>
        </p:blipFill>
        <p:spPr>
          <a:xfrm>
            <a:off x="7307280" y="1807200"/>
            <a:ext cx="4917960" cy="3409920"/>
          </a:xfrm>
          <a:prstGeom prst="rect">
            <a:avLst/>
          </a:prstGeom>
          <a:noFill/>
          <a:ln w="0">
            <a:noFill/>
          </a:ln>
        </p:spPr>
      </p:pic>
      <p:sp>
        <p:nvSpPr>
          <p:cNvPr id="500" name="Content Placeholder 4"/>
          <p:cNvSpPr/>
          <p:nvPr/>
        </p:nvSpPr>
        <p:spPr>
          <a:xfrm>
            <a:off x="4992120" y="5852160"/>
            <a:ext cx="7197120" cy="44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28600" indent="-228600">
              <a:lnSpc>
                <a:spcPct val="90000"/>
              </a:lnSpc>
              <a:spcBef>
                <a:spcPts val="1001"/>
              </a:spcBef>
              <a:buClr>
                <a:srgbClr val="000000"/>
              </a:buClr>
              <a:buFont typeface="Arial"/>
              <a:buChar char="•"/>
            </a:pPr>
            <a:r>
              <a:rPr lang="en-US" sz="2400" b="0" u="sng" strike="noStrike">
                <a:solidFill>
                  <a:srgbClr val="0563C1"/>
                </a:solidFill>
                <a:effectLst/>
                <a:uFillTx/>
                <a:latin typeface="Calibri"/>
                <a:ea typeface="DejaVu Sans"/>
                <a:hlinkClick r:id="rId3"/>
              </a:rPr>
              <a:t>Estruch et al. (2018). New England Journal of Medicine</a:t>
            </a:r>
            <a:endParaRPr lang="en-GB" sz="2400" b="0" u="none" strike="noStrike">
              <a:solidFill>
                <a:srgbClr val="000000"/>
              </a:solidFill>
              <a:effectLst/>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a:solidFill>
                  <a:srgbClr val="000000"/>
                </a:solidFill>
                <a:effectLst/>
                <a:uFillTx/>
                <a:latin typeface="Calibri Light"/>
                <a:ea typeface="DejaVu Sans"/>
              </a:rPr>
              <a:t>Example of tabular data: “Predimed” study</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p:txBody>
          <a:bodyPr/>
          <a:lstStyle/>
          <a:p>
            <a:r>
              <a:rPr lang="en-GB"/>
              <a:t>Tab, v4.0</a:t>
            </a:r>
            <a:endParaRPr/>
          </a:p>
        </p:txBody>
      </p:sp>
      <p:sp>
        <p:nvSpPr>
          <p:cNvPr id="5" name="PlaceHolder 4"/>
          <p:cNvSpPr>
            <a:spLocks noGrp="1"/>
          </p:cNvSpPr>
          <p:nvPr>
            <p:ph type="sldNum" idx="2"/>
          </p:nvPr>
        </p:nvSpPr>
        <p:spPr/>
        <p:txBody>
          <a:bodyPr/>
          <a:lstStyle/>
          <a:p>
            <a:fld id="{6EFA0F9C-DCD6-4073-B311-9D0972ED540D}" type="slidenum">
              <a:t>68</a:t>
            </a:fld>
            <a:endParaRPr/>
          </a:p>
        </p:txBody>
      </p:sp>
      <p:sp>
        <p:nvSpPr>
          <p:cNvPr id="50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503" name="Content Placeholder 1"/>
          <p:cNvSpPr/>
          <p:nvPr/>
        </p:nvSpPr>
        <p:spPr>
          <a:xfrm>
            <a:off x="4992120" y="5852160"/>
            <a:ext cx="7197120" cy="44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nSpc>
                <a:spcPct val="90000"/>
              </a:lnSpc>
              <a:spcBef>
                <a:spcPts val="1001"/>
              </a:spcBef>
            </a:pPr>
            <a:r>
              <a:rPr lang="en-US" sz="2400" b="0" u="sng" strike="noStrike">
                <a:solidFill>
                  <a:srgbClr val="0563C1"/>
                </a:solidFill>
                <a:effectLst/>
                <a:uFillTx/>
                <a:latin typeface="Calibri"/>
                <a:ea typeface="DejaVu Sans"/>
                <a:hlinkClick r:id="rId2"/>
              </a:rPr>
              <a:t>Estruch et al. (2018). New England Journal of Medicine</a:t>
            </a:r>
            <a:endParaRPr lang="en-GB" sz="2400" b="0" u="none" strike="noStrike">
              <a:solidFill>
                <a:srgbClr val="000000"/>
              </a:solidFill>
              <a:effectLst/>
              <a:uFillTx/>
              <a:latin typeface="Arial"/>
            </a:endParaRPr>
          </a:p>
        </p:txBody>
      </p:sp>
      <p:pic>
        <p:nvPicPr>
          <p:cNvPr id="504" name="Picture 30"/>
          <p:cNvPicPr/>
          <p:nvPr/>
        </p:nvPicPr>
        <p:blipFill>
          <a:blip r:embed="rId3"/>
          <a:stretch/>
        </p:blipFill>
        <p:spPr>
          <a:xfrm>
            <a:off x="720000" y="1409760"/>
            <a:ext cx="10693800" cy="2187720"/>
          </a:xfrm>
          <a:prstGeom prst="rect">
            <a:avLst/>
          </a:prstGeom>
          <a:noFill/>
          <a:ln w="0">
            <a:noFill/>
          </a:ln>
        </p:spPr>
      </p:pic>
      <p:pic>
        <p:nvPicPr>
          <p:cNvPr id="505" name="Picture 31"/>
          <p:cNvPicPr/>
          <p:nvPr/>
        </p:nvPicPr>
        <p:blipFill>
          <a:blip r:embed="rId4"/>
          <a:stretch/>
        </p:blipFill>
        <p:spPr>
          <a:xfrm>
            <a:off x="1080000" y="3881880"/>
            <a:ext cx="3521520" cy="2235600"/>
          </a:xfrm>
          <a:prstGeom prst="rect">
            <a:avLst/>
          </a:prstGeom>
          <a:noFill/>
          <a:ln w="0">
            <a:noFill/>
          </a:ln>
        </p:spPr>
      </p:pic>
      <p:sp>
        <p:nvSpPr>
          <p:cNvPr id="2" name="Text Placeholder 1">
            <a:extLst>
              <a:ext uri="{FF2B5EF4-FFF2-40B4-BE49-F238E27FC236}">
                <a16:creationId xmlns:a16="http://schemas.microsoft.com/office/drawing/2014/main" id="{4DE90EAC-026F-D08B-34F0-BC754F8941A5}"/>
              </a:ext>
            </a:extLst>
          </p:cNvPr>
          <p:cNvSpPr>
            <a:spLocks noGrp="1"/>
          </p:cNvSpPr>
          <p:nvPr>
            <p:ph type="body"/>
          </p:nvPr>
        </p:nvSpPr>
        <p:spPr/>
        <p:txBody>
          <a:bodyPr/>
          <a:lstStyle/>
          <a:p>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 name="Rectangle 1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07" name="PlaceHolder 1"/>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Use joins to add the experimental information to the 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r>
              <a:rPr lang="en-US" sz="2800" b="0" u="none" strike="noStrike">
                <a:solidFill>
                  <a:srgbClr val="000000"/>
                </a:solidFill>
                <a:effectLst/>
                <a:uFillTx/>
                <a:latin typeface="Calibri"/>
                <a:ea typeface="DejaVu Sans"/>
              </a:rPr>
              <a:t>(who followed which diet)</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Use anti-joins to correct for attrition </a:t>
            </a:r>
            <a:br>
              <a:rPr sz="2800"/>
            </a:br>
            <a:r>
              <a:rPr lang="en-US" sz="2800" b="0" u="none" strike="noStrike">
                <a:solidFill>
                  <a:srgbClr val="000000"/>
                </a:solidFill>
                <a:effectLst/>
                <a:uFillTx/>
                <a:latin typeface="Calibri"/>
                <a:ea typeface="DejaVu Sans"/>
              </a:rPr>
              <a:t>(people who self-reported not following the diet)</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5F95792B-DAC5-4D5D-9092-7D6F95C0B89E}" type="slidenum">
              <a:t>69</a:t>
            </a:fld>
            <a:endParaRPr/>
          </a:p>
        </p:txBody>
      </p:sp>
      <p:sp>
        <p:nvSpPr>
          <p:cNvPr id="508"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512"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09" name="TextBox 66"/>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10" name="Graphic 7"/>
          <p:cNvPicPr/>
          <p:nvPr/>
        </p:nvPicPr>
        <p:blipFill>
          <a:blip r:embed="rId2"/>
          <a:stretch/>
        </p:blipFill>
        <p:spPr>
          <a:xfrm>
            <a:off x="7474680" y="273960"/>
            <a:ext cx="691200" cy="552240"/>
          </a:xfrm>
          <a:prstGeom prst="rect">
            <a:avLst/>
          </a:prstGeom>
          <a:noFill/>
          <a:ln w="0">
            <a:noFill/>
          </a:ln>
        </p:spPr>
      </p:pic>
      <p:sp>
        <p:nvSpPr>
          <p:cNvPr id="511" name="TextBox 67"/>
          <p:cNvSpPr/>
          <p:nvPr/>
        </p:nvSpPr>
        <p:spPr>
          <a:xfrm>
            <a:off x="8301960" y="542880"/>
            <a:ext cx="347940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GB" sz="1400" b="0" u="none" strike="noStrike">
                <a:solidFill>
                  <a:srgbClr val="000000"/>
                </a:solidFill>
                <a:effectLst/>
                <a:uFillTx/>
                <a:latin typeface="Courier New"/>
                <a:ea typeface="DejaVu Sans"/>
              </a:rPr>
              <a:t>exercises/tabular_join</a:t>
            </a:r>
            <a:endParaRPr lang="en-GB" sz="1400" b="0" u="none" strike="noStrike">
              <a:solidFill>
                <a:srgbClr val="000000"/>
              </a:solidFill>
              <a:effectLst/>
              <a:uFillTx/>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3"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Split-apply-combine</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rPr lang="en-GB"/>
              <a:t>Tab, v4.0</a:t>
            </a:r>
            <a:endParaRPr/>
          </a:p>
        </p:txBody>
      </p:sp>
      <p:sp>
        <p:nvSpPr>
          <p:cNvPr id="5" name="PlaceHolder 4"/>
          <p:cNvSpPr>
            <a:spLocks noGrp="1"/>
          </p:cNvSpPr>
          <p:nvPr>
            <p:ph type="sldNum" idx="2"/>
          </p:nvPr>
        </p:nvSpPr>
        <p:spPr>
          <a:prstGeom prst="rect">
            <a:avLst/>
          </a:prstGeom>
        </p:spPr>
        <p:txBody>
          <a:bodyPr/>
          <a:lstStyle/>
          <a:p>
            <a:fld id="{B4C6FD7B-A54C-4E77-81CE-6B35D36EA4A0}" type="slidenum">
              <a:t>70</a:t>
            </a:fld>
            <a:endParaRPr/>
          </a:p>
        </p:txBody>
      </p:sp>
      <p:sp>
        <p:nvSpPr>
          <p:cNvPr id="514"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9C3EE87F-1908-2B11-A384-A6495BA2EC01}"/>
              </a:ext>
            </a:extLst>
          </p:cNvPr>
          <p:cNvSpPr>
            <a:spLocks noGrp="1"/>
          </p:cNvSpPr>
          <p:nvPr>
            <p:ph type="body"/>
          </p:nvPr>
        </p:nvSpPr>
        <p:spPr/>
        <p:txBody>
          <a:bodyPr/>
          <a:lstStyle/>
          <a:p>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basic structure of most numerical analyses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rPr lang="en-GB"/>
              <a:t>Tab, v4.0</a:t>
            </a:r>
            <a:endParaRPr/>
          </a:p>
        </p:txBody>
      </p:sp>
      <p:sp>
        <p:nvSpPr>
          <p:cNvPr id="5" name="PlaceHolder 4"/>
          <p:cNvSpPr>
            <a:spLocks noGrp="1"/>
          </p:cNvSpPr>
          <p:nvPr>
            <p:ph type="sldNum" idx="2"/>
          </p:nvPr>
        </p:nvSpPr>
        <p:spPr>
          <a:prstGeom prst="rect">
            <a:avLst/>
          </a:prstGeom>
        </p:spPr>
        <p:txBody>
          <a:bodyPr/>
          <a:lstStyle/>
          <a:p>
            <a:fld id="{471ED929-9DE4-407A-8692-9E46F64FE790}" type="slidenum">
              <a:t>71</a:t>
            </a:fld>
            <a:endParaRPr/>
          </a:p>
        </p:txBody>
      </p:sp>
      <p:sp>
        <p:nvSpPr>
          <p:cNvPr id="516"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pic>
        <p:nvPicPr>
          <p:cNvPr id="517" name="Picture 13"/>
          <p:cNvPicPr/>
          <p:nvPr/>
        </p:nvPicPr>
        <p:blipFill>
          <a:blip r:embed="rId2"/>
          <a:stretch/>
        </p:blipFill>
        <p:spPr>
          <a:xfrm>
            <a:off x="3935880" y="2162520"/>
            <a:ext cx="2883600" cy="4555800"/>
          </a:xfrm>
          <a:prstGeom prst="rect">
            <a:avLst/>
          </a:prstGeom>
          <a:noFill/>
          <a:ln w="0">
            <a:noFill/>
          </a:ln>
        </p:spPr>
      </p:pic>
      <p:pic>
        <p:nvPicPr>
          <p:cNvPr id="518" name="Picture 15"/>
          <p:cNvPicPr/>
          <p:nvPr/>
        </p:nvPicPr>
        <p:blipFill>
          <a:blip r:embed="rId3"/>
          <a:stretch/>
        </p:blipFill>
        <p:spPr>
          <a:xfrm>
            <a:off x="7584840" y="2500560"/>
            <a:ext cx="1473840" cy="3626280"/>
          </a:xfrm>
          <a:prstGeom prst="rect">
            <a:avLst/>
          </a:prstGeom>
          <a:noFill/>
          <a:ln w="0">
            <a:noFill/>
          </a:ln>
        </p:spPr>
      </p:pic>
      <p:pic>
        <p:nvPicPr>
          <p:cNvPr id="519" name="Picture 16"/>
          <p:cNvPicPr/>
          <p:nvPr/>
        </p:nvPicPr>
        <p:blipFill>
          <a:blip r:embed="rId4"/>
          <a:stretch/>
        </p:blipFill>
        <p:spPr>
          <a:xfrm>
            <a:off x="9859680" y="2999880"/>
            <a:ext cx="1809000" cy="1952280"/>
          </a:xfrm>
          <a:prstGeom prst="rect">
            <a:avLst/>
          </a:prstGeom>
          <a:noFill/>
          <a:ln w="0">
            <a:noFill/>
          </a:ln>
        </p:spPr>
      </p:pic>
      <p:pic>
        <p:nvPicPr>
          <p:cNvPr id="520" name="Picture 17"/>
          <p:cNvPicPr/>
          <p:nvPr/>
        </p:nvPicPr>
        <p:blipFill>
          <a:blip r:embed="rId5"/>
          <a:stretch/>
        </p:blipFill>
        <p:spPr>
          <a:xfrm>
            <a:off x="460080" y="2783880"/>
            <a:ext cx="2661120" cy="2585880"/>
          </a:xfrm>
          <a:prstGeom prst="rect">
            <a:avLst/>
          </a:prstGeom>
          <a:noFill/>
          <a:ln w="0">
            <a:noFill/>
          </a:ln>
        </p:spPr>
      </p:pic>
      <p:sp>
        <p:nvSpPr>
          <p:cNvPr id="521" name="TextBox 29"/>
          <p:cNvSpPr/>
          <p:nvPr/>
        </p:nvSpPr>
        <p:spPr>
          <a:xfrm>
            <a:off x="2617920" y="132192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22" name="TextBox 30"/>
          <p:cNvSpPr/>
          <p:nvPr/>
        </p:nvSpPr>
        <p:spPr>
          <a:xfrm>
            <a:off x="6311880" y="132192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23" name="TextBox 31"/>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524" name="Straight Arrow Connector 1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525" name="Straight Arrow Connector 13"/>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526" name="Straight Arrow Connector 15"/>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527" name="Straight Arrow Connector 17"/>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528" name="Straight Arrow Connector 22"/>
          <p:cNvCxnSpPr/>
          <p:nvPr/>
        </p:nvCxnSpPr>
        <p:spPr>
          <a:xfrm>
            <a:off x="3281400" y="4874760"/>
            <a:ext cx="651240" cy="757080"/>
          </a:xfrm>
          <a:prstGeom prst="straightConnector1">
            <a:avLst/>
          </a:prstGeom>
          <a:ln w="57150">
            <a:solidFill>
              <a:srgbClr val="C55A11"/>
            </a:solidFill>
            <a:round/>
            <a:tailEnd type="triangle" w="med" len="med"/>
          </a:ln>
        </p:spPr>
      </p:cxnSp>
      <p:sp>
        <p:nvSpPr>
          <p:cNvPr id="529" name="TextBox 32"/>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530" name="TextBox 33"/>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531" name="TextBox 34"/>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532" name="TextBox 35"/>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533" name="TextBox 36"/>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534" name="Right Arrow 2"/>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35" name="TextBox 37"/>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536" name="Straight Arrow Connector 23"/>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537" name="Straight Arrow Connector 24"/>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538" name="Straight Arrow Connector 25"/>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539" name="Straight Arrow Connector 26"/>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540" name="Straight Arrow Connector 27"/>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2" name="Text Placeholder 1">
            <a:extLst>
              <a:ext uri="{FF2B5EF4-FFF2-40B4-BE49-F238E27FC236}">
                <a16:creationId xmlns:a16="http://schemas.microsoft.com/office/drawing/2014/main" id="{813047D6-E8A6-EDB7-9564-5EDEAD4FAA4F}"/>
              </a:ext>
            </a:extLst>
          </p:cNvPr>
          <p:cNvSpPr>
            <a:spLocks noGrp="1"/>
          </p:cNvSpPr>
          <p:nvPr>
            <p:ph type="body"/>
          </p:nvPr>
        </p:nvSpPr>
        <p:spPr/>
        <p:txBody>
          <a:bodyPr/>
          <a:lstStyle/>
          <a:p>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1" name="PlaceHolder 1"/>
          <p:cNvSpPr>
            <a:spLocks noGrp="1"/>
          </p:cNvSpPr>
          <p:nvPr>
            <p:ph type="title"/>
          </p:nvPr>
        </p:nvSpPr>
        <p:spPr>
          <a:prstGeom prst="rect">
            <a:avLst/>
          </a:prstGeom>
          <a:noFill/>
          <a:ln w="0">
            <a:noFill/>
          </a:ln>
        </p:spPr>
        <p:txBody>
          <a:bodyPr lIns="0" tIns="0" rIns="0" bIns="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Split-apply-combine </a:t>
            </a:r>
            <a:br>
              <a:rPr sz="4400"/>
            </a:br>
            <a:r>
              <a:rPr lang="en-CH" sz="4400" b="0" u="none" strike="noStrike">
                <a:solidFill>
                  <a:srgbClr val="000000"/>
                </a:solidFill>
                <a:effectLst/>
                <a:uFillTx/>
                <a:latin typeface="Calibri Light"/>
                <a:ea typeface="DejaVu Sans"/>
              </a:rPr>
              <a:t>operations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rPr lang="en-GB"/>
              <a:t>Tab, v4.0</a:t>
            </a:r>
            <a:endParaRPr/>
          </a:p>
        </p:txBody>
      </p:sp>
      <p:sp>
        <p:nvSpPr>
          <p:cNvPr id="5" name="PlaceHolder 4"/>
          <p:cNvSpPr>
            <a:spLocks noGrp="1"/>
          </p:cNvSpPr>
          <p:nvPr>
            <p:ph type="sldNum" idx="2"/>
          </p:nvPr>
        </p:nvSpPr>
        <p:spPr>
          <a:prstGeom prst="rect">
            <a:avLst/>
          </a:prstGeom>
        </p:spPr>
        <p:txBody>
          <a:bodyPr/>
          <a:lstStyle/>
          <a:p>
            <a:fld id="{69A4973D-B3EE-4B82-BD5C-70013BD71CAD}" type="slidenum">
              <a:t>72</a:t>
            </a:fld>
            <a:endParaRPr/>
          </a:p>
        </p:txBody>
      </p:sp>
      <p:sp>
        <p:nvSpPr>
          <p:cNvPr id="54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543" name="Rectangle 5"/>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544" name="Graphic 2"/>
          <p:cNvPicPr/>
          <p:nvPr/>
        </p:nvPicPr>
        <p:blipFill>
          <a:blip r:embed="rId2"/>
          <a:stretch/>
        </p:blipFill>
        <p:spPr>
          <a:xfrm>
            <a:off x="7511040" y="232200"/>
            <a:ext cx="707040" cy="627840"/>
          </a:xfrm>
          <a:prstGeom prst="rect">
            <a:avLst/>
          </a:prstGeom>
          <a:noFill/>
          <a:ln w="0">
            <a:noFill/>
          </a:ln>
        </p:spPr>
      </p:pic>
      <p:sp>
        <p:nvSpPr>
          <p:cNvPr id="545" name="TextBox 38"/>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546" name="TextBox 39"/>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030_tabular_data/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030_split-apply-combine.ipynb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17AFD065-1CBF-7917-B3E1-02D6DA268441}"/>
              </a:ext>
            </a:extLst>
          </p:cNvPr>
          <p:cNvSpPr>
            <a:spLocks noGrp="1"/>
          </p:cNvSpPr>
          <p:nvPr>
            <p:ph type="body"/>
          </p:nvPr>
        </p:nvSpPr>
        <p:spPr/>
        <p:txBody>
          <a:bodyPr/>
          <a:lstStyle/>
          <a:p>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 name="PlaceHolder 2"/>
          <p:cNvSpPr>
            <a:spLocks noGrp="1"/>
          </p:cNvSpPr>
          <p:nvPr>
            <p:ph type="body"/>
          </p:nvPr>
        </p:nvSpPr>
        <p:spPr>
          <a:prstGeom prst="rect">
            <a:avLst/>
          </a:prstGeom>
          <a:noFill/>
          <a:ln w="0">
            <a:noFill/>
          </a:ln>
        </p:spPr>
        <p:txBody>
          <a:bodyPr lIns="90000" tIns="45000" rIns="90000" bIns="45000" anchor="t">
            <a:normAutofit fontScale="55000" lnSpcReduction="20000"/>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Main points: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Tabular data tools have a way to vectorize the standard</a:t>
            </a:r>
            <a:br>
              <a:rPr sz="2800"/>
            </a:br>
            <a:r>
              <a:rPr lang="en-US" sz="2800" b="0" u="none" strike="noStrike">
                <a:solidFill>
                  <a:srgbClr val="000000"/>
                </a:solidFill>
                <a:effectLst/>
                <a:uFillTx/>
                <a:latin typeface="Calibri"/>
                <a:ea typeface="DejaVu Sans"/>
              </a:rPr>
              <a:t>split-apply-combine operations, using a “group-by” command</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In addition, Pandas has got a “pivot-table” command that can be used to simplify the creation of more complex summary tables</a:t>
            </a: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FAD7AAEA-BAAE-4F24-945A-2D970BCAAB3F}" type="slidenum">
              <a:t>73</a:t>
            </a:fld>
            <a:endParaRPr/>
          </a:p>
        </p:txBody>
      </p:sp>
      <p:sp>
        <p:nvSpPr>
          <p:cNvPr id="54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547" name="PlaceHolder 1"/>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Split-apply-combine </a:t>
            </a:r>
            <a:br>
              <a:rPr sz="4400"/>
            </a:br>
            <a:r>
              <a:rPr lang="en-CH" sz="4400" b="0" u="none" strike="noStrike">
                <a:solidFill>
                  <a:srgbClr val="000000"/>
                </a:solidFill>
                <a:effectLst/>
                <a:uFillTx/>
                <a:latin typeface="Calibri Light"/>
                <a:ea typeface="DejaVu Sans"/>
              </a:rPr>
              <a:t>operations</a:t>
            </a:r>
            <a:endParaRPr lang="en-GB" sz="4400" b="0" u="none" strike="noStrike">
              <a:solidFill>
                <a:srgbClr val="000000"/>
              </a:solidFill>
              <a:effectLst/>
              <a:uFillTx/>
              <a:latin typeface="Arial"/>
            </a:endParaRPr>
          </a:p>
        </p:txBody>
      </p:sp>
      <p:sp>
        <p:nvSpPr>
          <p:cNvPr id="550" name="Rectangle 6"/>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551" name="Graphic 3"/>
          <p:cNvPicPr/>
          <p:nvPr/>
        </p:nvPicPr>
        <p:blipFill>
          <a:blip r:embed="rId2"/>
          <a:stretch/>
        </p:blipFill>
        <p:spPr>
          <a:xfrm>
            <a:off x="7511040" y="232200"/>
            <a:ext cx="707040" cy="627840"/>
          </a:xfrm>
          <a:prstGeom prst="rect">
            <a:avLst/>
          </a:prstGeom>
          <a:noFill/>
          <a:ln w="0">
            <a:noFill/>
          </a:ln>
        </p:spPr>
      </p:pic>
      <p:sp>
        <p:nvSpPr>
          <p:cNvPr id="552" name="TextBox 40"/>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553" name="TextBox 41"/>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030_tabular_data/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030_split-apply-combine.ipynb</a:t>
            </a:r>
            <a:endParaRPr lang="en-GB" sz="1400" b="0" u="none" strike="noStrike">
              <a:solidFill>
                <a:srgbClr val="000000"/>
              </a:solidFill>
              <a:effectLst/>
              <a:uFillTx/>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78C0E-2D67-85E3-A04D-CAB7064B2237}"/>
              </a:ext>
            </a:extLst>
          </p:cNvPr>
          <p:cNvSpPr>
            <a:spLocks noGrp="1"/>
          </p:cNvSpPr>
          <p:nvPr>
            <p:ph type="title"/>
          </p:nvPr>
        </p:nvSpPr>
        <p:spPr/>
        <p:txBody>
          <a:bodyPr/>
          <a:lstStyle/>
          <a:p>
            <a:endParaRPr lang="en-US"/>
          </a:p>
        </p:txBody>
      </p:sp>
      <p:sp>
        <p:nvSpPr>
          <p:cNvPr id="3" name="PlaceHolder 2"/>
          <p:cNvSpPr>
            <a:spLocks noGrp="1"/>
          </p:cNvSpPr>
          <p:nvPr>
            <p:ph type="ftr" idx="1"/>
          </p:nvPr>
        </p:nvSpPr>
        <p:spPr>
          <a:prstGeom prst="rect">
            <a:avLst/>
          </a:prstGeom>
        </p:spPr>
        <p:txBody>
          <a:bodyPr/>
          <a:lstStyle/>
          <a:p>
            <a:r>
              <a:rPr lang="en-GB"/>
              <a:t>Tab, v4.0</a:t>
            </a:r>
            <a:endParaRPr/>
          </a:p>
        </p:txBody>
      </p:sp>
      <p:sp>
        <p:nvSpPr>
          <p:cNvPr id="4" name="PlaceHolder 3"/>
          <p:cNvSpPr>
            <a:spLocks noGrp="1"/>
          </p:cNvSpPr>
          <p:nvPr>
            <p:ph type="sldNum" idx="2"/>
          </p:nvPr>
        </p:nvSpPr>
        <p:spPr>
          <a:prstGeom prst="rect">
            <a:avLst/>
          </a:prstGeom>
        </p:spPr>
        <p:txBody>
          <a:bodyPr/>
          <a:lstStyle/>
          <a:p>
            <a:fld id="{BBE9525C-BF74-4B67-8DB3-DC160B7E5EA8}" type="slidenum">
              <a:t>74</a:t>
            </a:fld>
            <a:endParaRPr/>
          </a:p>
        </p:txBody>
      </p:sp>
      <p:sp>
        <p:nvSpPr>
          <p:cNvPr id="554"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pic>
        <p:nvPicPr>
          <p:cNvPr id="555" name="Picture 3"/>
          <p:cNvPicPr/>
          <p:nvPr/>
        </p:nvPicPr>
        <p:blipFill>
          <a:blip r:embed="rId2"/>
          <a:stretch/>
        </p:blipFill>
        <p:spPr>
          <a:xfrm>
            <a:off x="3935880" y="2162520"/>
            <a:ext cx="2883600" cy="4555800"/>
          </a:xfrm>
          <a:prstGeom prst="rect">
            <a:avLst/>
          </a:prstGeom>
          <a:noFill/>
          <a:ln w="0">
            <a:noFill/>
          </a:ln>
        </p:spPr>
      </p:pic>
      <p:pic>
        <p:nvPicPr>
          <p:cNvPr id="556" name="Picture 19"/>
          <p:cNvPicPr/>
          <p:nvPr/>
        </p:nvPicPr>
        <p:blipFill>
          <a:blip r:embed="rId3"/>
          <a:stretch/>
        </p:blipFill>
        <p:spPr>
          <a:xfrm>
            <a:off x="7584840" y="2500560"/>
            <a:ext cx="1473840" cy="3626280"/>
          </a:xfrm>
          <a:prstGeom prst="rect">
            <a:avLst/>
          </a:prstGeom>
          <a:noFill/>
          <a:ln w="0">
            <a:noFill/>
          </a:ln>
        </p:spPr>
      </p:pic>
      <p:pic>
        <p:nvPicPr>
          <p:cNvPr id="557" name="Picture 20"/>
          <p:cNvPicPr/>
          <p:nvPr/>
        </p:nvPicPr>
        <p:blipFill>
          <a:blip r:embed="rId4"/>
          <a:stretch/>
        </p:blipFill>
        <p:spPr>
          <a:xfrm>
            <a:off x="9859680" y="2999880"/>
            <a:ext cx="1809000" cy="1952280"/>
          </a:xfrm>
          <a:prstGeom prst="rect">
            <a:avLst/>
          </a:prstGeom>
          <a:noFill/>
          <a:ln w="0">
            <a:noFill/>
          </a:ln>
        </p:spPr>
      </p:pic>
      <p:pic>
        <p:nvPicPr>
          <p:cNvPr id="558" name="Picture 21"/>
          <p:cNvPicPr/>
          <p:nvPr/>
        </p:nvPicPr>
        <p:blipFill>
          <a:blip r:embed="rId5"/>
          <a:stretch/>
        </p:blipFill>
        <p:spPr>
          <a:xfrm>
            <a:off x="460080" y="2783880"/>
            <a:ext cx="2661120" cy="2585880"/>
          </a:xfrm>
          <a:prstGeom prst="rect">
            <a:avLst/>
          </a:prstGeom>
          <a:noFill/>
          <a:ln w="0">
            <a:noFill/>
          </a:ln>
        </p:spPr>
      </p:pic>
      <p:sp>
        <p:nvSpPr>
          <p:cNvPr id="559" name="TextBox 42"/>
          <p:cNvSpPr/>
          <p:nvPr/>
        </p:nvSpPr>
        <p:spPr>
          <a:xfrm>
            <a:off x="2617920" y="132192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60" name="TextBox 43"/>
          <p:cNvSpPr/>
          <p:nvPr/>
        </p:nvSpPr>
        <p:spPr>
          <a:xfrm>
            <a:off x="6311880" y="132192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61" name="TextBox 44"/>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562" name="Straight Arrow Connector 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563" name="Straight Arrow Connector 2"/>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564" name="Straight Arrow Connector 3"/>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565" name="Straight Arrow Connector 4"/>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566" name="Straight Arrow Connector 5"/>
          <p:cNvCxnSpPr/>
          <p:nvPr/>
        </p:nvCxnSpPr>
        <p:spPr>
          <a:xfrm>
            <a:off x="3281400" y="4874760"/>
            <a:ext cx="651240" cy="757080"/>
          </a:xfrm>
          <a:prstGeom prst="straightConnector1">
            <a:avLst/>
          </a:prstGeom>
          <a:ln w="57150">
            <a:solidFill>
              <a:srgbClr val="C55A11"/>
            </a:solidFill>
            <a:round/>
            <a:tailEnd type="triangle" w="med" len="med"/>
          </a:ln>
        </p:spPr>
      </p:cxnSp>
      <p:sp>
        <p:nvSpPr>
          <p:cNvPr id="567" name="TextBox 45"/>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568" name="TextBox 46"/>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569" name="TextBox 47"/>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570" name="TextBox 48"/>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571" name="TextBox 49"/>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572" name="Right Arrow 1"/>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73" name="TextBox 50"/>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574" name="Straight Arrow Connector 6"/>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575" name="Straight Arrow Connector 7"/>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576" name="Straight Arrow Connector 8"/>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577" name="Straight Arrow Connector 9"/>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578" name="Straight Arrow Connector 28"/>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579" name="TextBox 51"/>
          <p:cNvSpPr/>
          <p:nvPr/>
        </p:nvSpPr>
        <p:spPr>
          <a:xfrm>
            <a:off x="515520" y="293760"/>
            <a:ext cx="1115784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0" u="none" strike="noStrike">
                <a:solidFill>
                  <a:srgbClr val="000000"/>
                </a:solidFill>
                <a:effectLst/>
                <a:uFillTx/>
                <a:latin typeface="Consolas"/>
                <a:ea typeface="DejaVu Sans"/>
              </a:rPr>
              <a:t>df</a:t>
            </a:r>
            <a:r>
              <a:rPr lang="en-CH" sz="2800" b="0" u="none" strike="noStrike">
                <a:solidFill>
                  <a:schemeClr val="accent2">
                    <a:lumMod val="75000"/>
                  </a:schemeClr>
                </a:solidFill>
                <a:effectLst/>
                <a:uFillTx/>
                <a:latin typeface="Consolas"/>
                <a:ea typeface="DejaVu Sans"/>
              </a:rPr>
              <a:t>.groupby(‘condition_id’)</a:t>
            </a:r>
            <a:r>
              <a:rPr lang="en-CH" sz="2800" b="0" u="none" strike="noStrike">
                <a:solidFill>
                  <a:schemeClr val="accent1">
                    <a:lumMod val="75000"/>
                  </a:schemeClr>
                </a:solidFill>
                <a:effectLst/>
                <a:uFillTx/>
                <a:latin typeface="Consolas"/>
                <a:ea typeface="DejaVu Sans"/>
              </a:rPr>
              <a:t>[‘response_time’].mean()</a:t>
            </a:r>
            <a:endParaRPr lang="en-GB" sz="2800" b="0" u="none" strike="noStrike">
              <a:solidFill>
                <a:srgbClr val="000000"/>
              </a:solidFill>
              <a:effectLst/>
              <a:uFillTx/>
              <a:latin typeface="Arial"/>
            </a:endParaRPr>
          </a:p>
        </p:txBody>
      </p:sp>
      <p:sp>
        <p:nvSpPr>
          <p:cNvPr id="5" name="Text Placeholder 4">
            <a:extLst>
              <a:ext uri="{FF2B5EF4-FFF2-40B4-BE49-F238E27FC236}">
                <a16:creationId xmlns:a16="http://schemas.microsoft.com/office/drawing/2014/main" id="{BFB8BC02-5403-5680-E03E-F056B648718E}"/>
              </a:ext>
            </a:extLst>
          </p:cNvPr>
          <p:cNvSpPr>
            <a:spLocks noGrp="1"/>
          </p:cNvSpPr>
          <p:nvPr>
            <p:ph type="body"/>
          </p:nvPr>
        </p:nvSpPr>
        <p:spPr/>
        <p:txBody>
          <a:bodyPr/>
          <a:lstStyle/>
          <a:p>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9647C-E4DB-9717-A215-32123B43E146}"/>
              </a:ext>
            </a:extLst>
          </p:cNvPr>
          <p:cNvSpPr>
            <a:spLocks noGrp="1"/>
          </p:cNvSpPr>
          <p:nvPr>
            <p:ph type="title"/>
          </p:nvPr>
        </p:nvSpPr>
        <p:spPr/>
        <p:txBody>
          <a:bodyPr/>
          <a:lstStyle/>
          <a:p>
            <a:endParaRPr lang="en-US"/>
          </a:p>
        </p:txBody>
      </p:sp>
      <p:sp>
        <p:nvSpPr>
          <p:cNvPr id="3" name="PlaceHolder 2"/>
          <p:cNvSpPr>
            <a:spLocks noGrp="1"/>
          </p:cNvSpPr>
          <p:nvPr>
            <p:ph type="ftr" idx="1"/>
          </p:nvPr>
        </p:nvSpPr>
        <p:spPr>
          <a:prstGeom prst="rect">
            <a:avLst/>
          </a:prstGeom>
        </p:spPr>
        <p:txBody>
          <a:bodyPr/>
          <a:lstStyle/>
          <a:p>
            <a:r>
              <a:rPr lang="en-GB"/>
              <a:t>Tab, v4.0</a:t>
            </a:r>
            <a:endParaRPr/>
          </a:p>
        </p:txBody>
      </p:sp>
      <p:sp>
        <p:nvSpPr>
          <p:cNvPr id="4" name="PlaceHolder 3"/>
          <p:cNvSpPr>
            <a:spLocks noGrp="1"/>
          </p:cNvSpPr>
          <p:nvPr>
            <p:ph type="sldNum" idx="2"/>
          </p:nvPr>
        </p:nvSpPr>
        <p:spPr>
          <a:prstGeom prst="rect">
            <a:avLst/>
          </a:prstGeom>
        </p:spPr>
        <p:txBody>
          <a:bodyPr/>
          <a:lstStyle/>
          <a:p>
            <a:fld id="{CBBC72AC-E0F5-45E0-8F39-A02E4D850350}" type="slidenum">
              <a:t>75</a:t>
            </a:fld>
            <a:endParaRPr/>
          </a:p>
        </p:txBody>
      </p:sp>
      <p:sp>
        <p:nvSpPr>
          <p:cNvPr id="580"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pic>
        <p:nvPicPr>
          <p:cNvPr id="581" name="Picture 22"/>
          <p:cNvPicPr/>
          <p:nvPr/>
        </p:nvPicPr>
        <p:blipFill>
          <a:blip r:embed="rId2"/>
          <a:stretch/>
        </p:blipFill>
        <p:spPr>
          <a:xfrm>
            <a:off x="1775520" y="2645640"/>
            <a:ext cx="3396240" cy="3300480"/>
          </a:xfrm>
          <a:prstGeom prst="rect">
            <a:avLst/>
          </a:prstGeom>
          <a:noFill/>
          <a:ln w="0">
            <a:noFill/>
          </a:ln>
        </p:spPr>
      </p:pic>
      <p:sp>
        <p:nvSpPr>
          <p:cNvPr id="582" name="TextBox 52"/>
          <p:cNvSpPr/>
          <p:nvPr/>
        </p:nvSpPr>
        <p:spPr>
          <a:xfrm>
            <a:off x="9984600" y="47664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83" name="TextBox 53"/>
          <p:cNvSpPr/>
          <p:nvPr/>
        </p:nvSpPr>
        <p:spPr>
          <a:xfrm>
            <a:off x="9984600" y="121428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84" name="TextBox 54"/>
          <p:cNvSpPr/>
          <p:nvPr/>
        </p:nvSpPr>
        <p:spPr>
          <a:xfrm>
            <a:off x="9987480" y="201744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sp>
        <p:nvSpPr>
          <p:cNvPr id="585" name="TextBox 55"/>
          <p:cNvSpPr/>
          <p:nvPr/>
        </p:nvSpPr>
        <p:spPr>
          <a:xfrm>
            <a:off x="515520" y="325800"/>
            <a:ext cx="1115784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800" b="0" u="none" strike="noStrike">
                <a:solidFill>
                  <a:srgbClr val="000000"/>
                </a:solidFill>
                <a:effectLst/>
                <a:uFillTx/>
                <a:latin typeface="Consolas"/>
                <a:ea typeface="DejaVu Sans"/>
              </a:rPr>
              <a:t>data.pivot_table(</a:t>
            </a:r>
            <a:br>
              <a:rPr sz="2800"/>
            </a:br>
            <a:r>
              <a:rPr lang="en-US" sz="2800" b="0" u="none" strike="noStrike">
                <a:solidFill>
                  <a:srgbClr val="000000"/>
                </a:solidFill>
                <a:effectLst/>
                <a:uFillTx/>
                <a:latin typeface="Consolas"/>
                <a:ea typeface="DejaVu Sans"/>
              </a:rPr>
              <a:t>	</a:t>
            </a:r>
            <a:r>
              <a:rPr lang="en-US" sz="2800" b="0" u="none" strike="noStrike">
                <a:solidFill>
                  <a:schemeClr val="accent2">
                    <a:lumMod val="75000"/>
                  </a:schemeClr>
                </a:solidFill>
                <a:effectLst/>
                <a:uFillTx/>
                <a:latin typeface="Consolas"/>
                <a:ea typeface="DejaVu Sans"/>
              </a:rPr>
              <a:t>index='condition_id', columns='response'</a:t>
            </a:r>
            <a:r>
              <a:rPr lang="en-US" sz="2800" b="0" u="none" strike="noStrike">
                <a:solidFill>
                  <a:srgbClr val="000000"/>
                </a:solidFill>
                <a:effectLst/>
                <a:uFillTx/>
                <a:latin typeface="Consolas"/>
                <a:ea typeface="DejaVu Sans"/>
              </a:rPr>
              <a:t>, 	</a:t>
            </a:r>
            <a:r>
              <a:rPr lang="en-US" sz="2800" b="0" u="none" strike="noStrike">
                <a:solidFill>
                  <a:schemeClr val="accent1">
                    <a:lumMod val="75000"/>
                  </a:schemeClr>
                </a:solidFill>
                <a:effectLst/>
                <a:uFillTx/>
                <a:latin typeface="Consolas"/>
                <a:ea typeface="DejaVu Sans"/>
              </a:rPr>
              <a:t>values='response_time', aggfunc='mean',</a:t>
            </a:r>
            <a:endParaRPr lang="en-GB" sz="2800" b="0" u="none" strike="noStrike">
              <a:solidFill>
                <a:srgbClr val="000000"/>
              </a:solidFill>
              <a:effectLst/>
              <a:uFillTx/>
              <a:latin typeface="Arial"/>
            </a:endParaRPr>
          </a:p>
          <a:p>
            <a:pPr>
              <a:lnSpc>
                <a:spcPct val="100000"/>
              </a:lnSpc>
            </a:pPr>
            <a:r>
              <a:rPr lang="en-US" sz="2800" b="0" u="none" strike="noStrike">
                <a:solidFill>
                  <a:srgbClr val="000000"/>
                </a:solidFill>
                <a:effectLst/>
                <a:uFillTx/>
                <a:latin typeface="Consolas"/>
                <a:ea typeface="DejaVu Sans"/>
              </a:rPr>
              <a:t>)</a:t>
            </a:r>
            <a:endParaRPr lang="en-GB" sz="2800" b="0" u="none" strike="noStrike">
              <a:solidFill>
                <a:srgbClr val="000000"/>
              </a:solidFill>
              <a:effectLst/>
              <a:uFillTx/>
              <a:latin typeface="Arial"/>
            </a:endParaRPr>
          </a:p>
        </p:txBody>
      </p:sp>
      <p:pic>
        <p:nvPicPr>
          <p:cNvPr id="586" name="Picture 23"/>
          <p:cNvPicPr/>
          <p:nvPr/>
        </p:nvPicPr>
        <p:blipFill>
          <a:blip r:embed="rId3"/>
          <a:stretch/>
        </p:blipFill>
        <p:spPr>
          <a:xfrm>
            <a:off x="6966000" y="3065400"/>
            <a:ext cx="2371680" cy="2460600"/>
          </a:xfrm>
          <a:prstGeom prst="rect">
            <a:avLst/>
          </a:prstGeom>
          <a:noFill/>
          <a:ln w="0">
            <a:noFill/>
          </a:ln>
        </p:spPr>
      </p:pic>
      <p:sp>
        <p:nvSpPr>
          <p:cNvPr id="587" name="Right Arrow 4"/>
          <p:cNvSpPr/>
          <p:nvPr/>
        </p:nvSpPr>
        <p:spPr>
          <a:xfrm>
            <a:off x="5818320" y="386712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 name="Text Placeholder 4">
            <a:extLst>
              <a:ext uri="{FF2B5EF4-FFF2-40B4-BE49-F238E27FC236}">
                <a16:creationId xmlns:a16="http://schemas.microsoft.com/office/drawing/2014/main" id="{3AE9BED7-2DC3-C8E9-02A1-1E8EF4039FDA}"/>
              </a:ext>
            </a:extLst>
          </p:cNvPr>
          <p:cNvSpPr>
            <a:spLocks noGrp="1"/>
          </p:cNvSpPr>
          <p:nvPr>
            <p:ph type="body"/>
          </p:nvPr>
        </p:nvSpPr>
        <p:spPr/>
        <p:txBody>
          <a:bodyPr/>
          <a:lstStyle/>
          <a:p>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 name="Rectangle 9"/>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89" name="PlaceHolder 1"/>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Compute summary statistics to answer the question:</a:t>
            </a:r>
            <a:br>
              <a:rPr sz="2800"/>
            </a:br>
            <a:r>
              <a:rPr lang="en-US" sz="2800" b="0" u="none" strike="noStrike">
                <a:solidFill>
                  <a:srgbClr val="000000"/>
                </a:solidFill>
                <a:effectLst/>
                <a:uFillTx/>
                <a:latin typeface="Calibri"/>
                <a:ea typeface="DejaVu Sans"/>
              </a:rPr>
              <a:t>Did the Mediterranean diet help prevent cardiovascular events?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EF5659D7-98B2-42FA-9664-B9D0DCA2DF94}" type="slidenum">
              <a:t>76</a:t>
            </a:fld>
            <a:endParaRPr/>
          </a:p>
        </p:txBody>
      </p:sp>
      <p:sp>
        <p:nvSpPr>
          <p:cNvPr id="590"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594"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91" name="TextBox 56"/>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92" name="Graphic 4"/>
          <p:cNvPicPr/>
          <p:nvPr/>
        </p:nvPicPr>
        <p:blipFill>
          <a:blip r:embed="rId2"/>
          <a:stretch/>
        </p:blipFill>
        <p:spPr>
          <a:xfrm>
            <a:off x="7474680" y="273960"/>
            <a:ext cx="691200" cy="552240"/>
          </a:xfrm>
          <a:prstGeom prst="rect">
            <a:avLst/>
          </a:prstGeom>
          <a:noFill/>
          <a:ln w="0">
            <a:noFill/>
          </a:ln>
        </p:spPr>
      </p:pic>
      <p:sp>
        <p:nvSpPr>
          <p:cNvPr id="593" name="TextBox 57"/>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a:t>
            </a:r>
            <a:br>
              <a:rPr sz="1400"/>
            </a:br>
            <a:r>
              <a:rPr lang="en-GB" sz="1400" b="0" u="none" strike="noStrike">
                <a:solidFill>
                  <a:srgbClr val="000000"/>
                </a:solidFill>
                <a:effectLst/>
                <a:uFillTx/>
                <a:latin typeface="Courier New"/>
                <a:ea typeface="DejaVu Sans"/>
              </a:rPr>
              <a:t>tabular_split_apply_combine</a:t>
            </a:r>
            <a:endParaRPr lang="en-GB" sz="1400" b="0" u="none" strike="noStrike">
              <a:solidFill>
                <a:srgbClr val="000000"/>
              </a:solidFill>
              <a:effectLst/>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5" name="Rectangle 10"/>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96" name="PlaceHolder 1"/>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Compute some summary tables for the WHO tuberculosis 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EC4C5E3B-E7D9-437F-A0C8-6024D9D4F3FD}" type="slidenum">
              <a:t>77</a:t>
            </a:fld>
            <a:endParaRPr/>
          </a:p>
        </p:txBody>
      </p:sp>
      <p:sp>
        <p:nvSpPr>
          <p:cNvPr id="597"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601"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98" name="TextBox 58"/>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99" name="Graphic 5"/>
          <p:cNvPicPr/>
          <p:nvPr/>
        </p:nvPicPr>
        <p:blipFill>
          <a:blip r:embed="rId2"/>
          <a:stretch/>
        </p:blipFill>
        <p:spPr>
          <a:xfrm>
            <a:off x="7474680" y="273960"/>
            <a:ext cx="691200" cy="552240"/>
          </a:xfrm>
          <a:prstGeom prst="rect">
            <a:avLst/>
          </a:prstGeom>
          <a:noFill/>
          <a:ln w="0">
            <a:noFill/>
          </a:ln>
        </p:spPr>
      </p:pic>
      <p:sp>
        <p:nvSpPr>
          <p:cNvPr id="600" name="TextBox 59"/>
          <p:cNvSpPr/>
          <p:nvPr/>
        </p:nvSpPr>
        <p:spPr>
          <a:xfrm>
            <a:off x="8301960" y="542880"/>
            <a:ext cx="347940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exercises/tabular_tuberculosis</a:t>
            </a:r>
            <a:endParaRPr lang="en-GB" sz="1400" b="0" u="none" strike="noStrike">
              <a:solidFill>
                <a:srgbClr val="000000"/>
              </a:solidFill>
              <a:effectLst/>
              <a:uFillTx/>
              <a:latin typeface="Arial"/>
            </a:endParaRPr>
          </a:p>
        </p:txBody>
      </p:sp>
      <p:pic>
        <p:nvPicPr>
          <p:cNvPr id="602" name="Picture 24"/>
          <p:cNvPicPr/>
          <p:nvPr/>
        </p:nvPicPr>
        <p:blipFill>
          <a:blip r:embed="rId3"/>
          <a:stretch/>
        </p:blipFill>
        <p:spPr>
          <a:xfrm>
            <a:off x="1559520" y="2781000"/>
            <a:ext cx="8913240" cy="2877120"/>
          </a:xfrm>
          <a:prstGeom prst="rect">
            <a:avLst/>
          </a:prstGeom>
          <a:noFill/>
          <a:ln w="0">
            <a:noFill/>
          </a:ln>
        </p:spPr>
      </p:pic>
      <p:sp>
        <p:nvSpPr>
          <p:cNvPr id="603" name="TextBox 60"/>
          <p:cNvSpPr/>
          <p:nvPr/>
        </p:nvSpPr>
        <p:spPr>
          <a:xfrm>
            <a:off x="4223880" y="2137320"/>
            <a:ext cx="788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Males</a:t>
            </a:r>
            <a:endParaRPr lang="en-GB" sz="1800" b="0" u="none" strike="noStrike">
              <a:solidFill>
                <a:srgbClr val="000000"/>
              </a:solidFill>
              <a:effectLst/>
              <a:uFillTx/>
              <a:latin typeface="Arial"/>
            </a:endParaRPr>
          </a:p>
        </p:txBody>
      </p:sp>
      <p:sp>
        <p:nvSpPr>
          <p:cNvPr id="604" name="TextBox 61"/>
          <p:cNvSpPr/>
          <p:nvPr/>
        </p:nvSpPr>
        <p:spPr>
          <a:xfrm>
            <a:off x="5026320" y="2137320"/>
            <a:ext cx="15134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15-24 years</a:t>
            </a:r>
            <a:endParaRPr lang="en-GB" sz="1800" b="0" u="none" strike="noStrike">
              <a:solidFill>
                <a:srgbClr val="000000"/>
              </a:solidFill>
              <a:effectLst/>
              <a:uFillTx/>
              <a:latin typeface="Arial"/>
            </a:endParaRPr>
          </a:p>
        </p:txBody>
      </p:sp>
      <p:cxnSp>
        <p:nvCxnSpPr>
          <p:cNvPr id="605" name="Straight Arrow Connector 29"/>
          <p:cNvCxnSpPr>
            <a:stCxn id="603" idx="2"/>
          </p:cNvCxnSpPr>
          <p:nvPr/>
        </p:nvCxnSpPr>
        <p:spPr>
          <a:xfrm>
            <a:off x="4618080" y="2501280"/>
            <a:ext cx="256680" cy="354600"/>
          </a:xfrm>
          <a:prstGeom prst="straightConnector1">
            <a:avLst/>
          </a:prstGeom>
          <a:ln w="38100">
            <a:solidFill>
              <a:srgbClr val="000000"/>
            </a:solidFill>
            <a:round/>
            <a:tailEnd type="triangle" w="med" len="med"/>
          </a:ln>
        </p:spPr>
      </p:cxnSp>
      <p:cxnSp>
        <p:nvCxnSpPr>
          <p:cNvPr id="606" name="Straight Arrow Connector 30"/>
          <p:cNvCxnSpPr/>
          <p:nvPr/>
        </p:nvCxnSpPr>
        <p:spPr>
          <a:xfrm flipH="1">
            <a:off x="5159880" y="2423160"/>
            <a:ext cx="242280" cy="432720"/>
          </a:xfrm>
          <a:prstGeom prst="straightConnector1">
            <a:avLst/>
          </a:prstGeom>
          <a:ln w="38100">
            <a:solidFill>
              <a:srgbClr val="000000"/>
            </a:solidFill>
            <a:round/>
            <a:tailEnd type="triangle" w="med" len="med"/>
          </a:ln>
        </p:spPr>
      </p:cxn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7"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Window functions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rPr lang="en-GB"/>
              <a:t>Tab, v4.0</a:t>
            </a:r>
            <a:endParaRPr/>
          </a:p>
        </p:txBody>
      </p:sp>
      <p:sp>
        <p:nvSpPr>
          <p:cNvPr id="5" name="PlaceHolder 4"/>
          <p:cNvSpPr>
            <a:spLocks noGrp="1"/>
          </p:cNvSpPr>
          <p:nvPr>
            <p:ph type="sldNum" idx="2"/>
          </p:nvPr>
        </p:nvSpPr>
        <p:spPr>
          <a:prstGeom prst="rect">
            <a:avLst/>
          </a:prstGeom>
        </p:spPr>
        <p:txBody>
          <a:bodyPr/>
          <a:lstStyle/>
          <a:p>
            <a:fld id="{02C36C7C-1A51-4250-9AFA-00C6E45343E8}" type="slidenum">
              <a:t>78</a:t>
            </a:fld>
            <a:endParaRPr/>
          </a:p>
        </p:txBody>
      </p:sp>
      <p:sp>
        <p:nvSpPr>
          <p:cNvPr id="608"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E6A6A07E-8B5C-27DD-7040-E6BE3FBFC214}"/>
              </a:ext>
            </a:extLst>
          </p:cNvPr>
          <p:cNvSpPr>
            <a:spLocks noGrp="1"/>
          </p:cNvSpPr>
          <p:nvPr>
            <p:ph type="body"/>
          </p:nvPr>
        </p:nvSpPr>
        <p:spPr/>
        <p:txBody>
          <a:bodyPr/>
          <a:lstStyle/>
          <a:p>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“Window functions” are a kind of split-apply-combine operation, but instead of aggregating the data in a group and returning one value per group, they return one value per row</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Examples: ranking all entries in a group; computing the distance between timestamps per group; number the rows by group in chronological order</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In Pandas, most of these operations can be performed with a combination of sorting and grouping-by</a:t>
            </a: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2DE68AB7-D323-4CC5-9B9E-1A50D561F7EF}" type="slidenum">
              <a:t>79</a:t>
            </a:fld>
            <a:endParaRPr/>
          </a:p>
        </p:txBody>
      </p:sp>
      <p:sp>
        <p:nvSpPr>
          <p:cNvPr id="611"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609"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 grouped row-by-row operations</a:t>
            </a:r>
            <a:endParaRPr lang="en-GB" sz="4400" b="0" u="none" strike="noStrike">
              <a:solidFill>
                <a:srgbClr val="000000"/>
              </a:solidFill>
              <a:effectLst/>
              <a:uFillTx/>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2"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rPr lang="en-GB"/>
              <a:t>Tab, v4.0</a:t>
            </a:r>
            <a:endParaRPr/>
          </a:p>
        </p:txBody>
      </p:sp>
      <p:sp>
        <p:nvSpPr>
          <p:cNvPr id="5" name="PlaceHolder 4"/>
          <p:cNvSpPr>
            <a:spLocks noGrp="1"/>
          </p:cNvSpPr>
          <p:nvPr>
            <p:ph type="sldNum" idx="2"/>
          </p:nvPr>
        </p:nvSpPr>
        <p:spPr>
          <a:prstGeom prst="rect">
            <a:avLst/>
          </a:prstGeom>
        </p:spPr>
        <p:txBody>
          <a:bodyPr/>
          <a:lstStyle/>
          <a:p>
            <a:fld id="{3373A216-7700-49CE-A829-3E0D42E21051}" type="slidenum">
              <a:t>80</a:t>
            </a:fld>
            <a:endParaRPr/>
          </a:p>
        </p:txBody>
      </p:sp>
      <p:sp>
        <p:nvSpPr>
          <p:cNvPr id="613"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614" name="Rectangle 7"/>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615" name="Graphic 8"/>
          <p:cNvPicPr/>
          <p:nvPr/>
        </p:nvPicPr>
        <p:blipFill>
          <a:blip r:embed="rId2"/>
          <a:stretch/>
        </p:blipFill>
        <p:spPr>
          <a:xfrm>
            <a:off x="7511040" y="232200"/>
            <a:ext cx="707040" cy="627840"/>
          </a:xfrm>
          <a:prstGeom prst="rect">
            <a:avLst/>
          </a:prstGeom>
          <a:noFill/>
          <a:ln w="0">
            <a:noFill/>
          </a:ln>
        </p:spPr>
      </p:pic>
      <p:sp>
        <p:nvSpPr>
          <p:cNvPr id="616" name="TextBox 9"/>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617" name="TextBox 10"/>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040_window_functions.ipynb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E04DD725-9A11-1136-2C17-2DF506AD17CD}"/>
              </a:ext>
            </a:extLst>
          </p:cNvPr>
          <p:cNvSpPr>
            <a:spLocks noGrp="1"/>
          </p:cNvSpPr>
          <p:nvPr>
            <p:ph type="body"/>
          </p:nvPr>
        </p:nvSpPr>
        <p:spPr/>
        <p:txBody>
          <a:bodyPr/>
          <a:lstStyle/>
          <a:p>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9"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Main points:</a:t>
            </a:r>
            <a:endParaRPr lang="en-GB" sz="28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Window functions perform row-by-row operations on grouped data</a:t>
            </a:r>
            <a:endParaRPr lang="en-GB" sz="24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They are an advanced way of avoiding for loops with tabular data</a:t>
            </a:r>
            <a:endParaRPr lang="en-GB" sz="24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In Pandas, they can be achieved with a combo of sorting and grouping-by</a:t>
            </a:r>
            <a:endParaRPr lang="en-GB" sz="2400" b="0" u="none" strike="noStrike" dirty="0">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5F0B488F-8E2C-4ADD-A73B-F81F6E8E1011}" type="slidenum">
              <a:rPr/>
              <a:t>81</a:t>
            </a:fld>
            <a:endParaRPr/>
          </a:p>
        </p:txBody>
      </p:sp>
      <p:sp>
        <p:nvSpPr>
          <p:cNvPr id="620"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618"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a:t>
            </a:r>
            <a:endParaRPr lang="en-GB" sz="4400" b="0" u="none" strike="noStrike">
              <a:solidFill>
                <a:srgbClr val="000000"/>
              </a:solidFill>
              <a:effectLst/>
              <a:uFillTx/>
              <a:latin typeface="Arial"/>
            </a:endParaRPr>
          </a:p>
        </p:txBody>
      </p:sp>
      <p:sp>
        <p:nvSpPr>
          <p:cNvPr id="621" name="Rectangle 7"/>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622" name="Graphic 8"/>
          <p:cNvPicPr/>
          <p:nvPr/>
        </p:nvPicPr>
        <p:blipFill>
          <a:blip r:embed="rId2"/>
          <a:stretch/>
        </p:blipFill>
        <p:spPr>
          <a:xfrm>
            <a:off x="7511040" y="232200"/>
            <a:ext cx="707040" cy="627840"/>
          </a:xfrm>
          <a:prstGeom prst="rect">
            <a:avLst/>
          </a:prstGeom>
          <a:noFill/>
          <a:ln w="0">
            <a:noFill/>
          </a:ln>
        </p:spPr>
      </p:pic>
      <p:sp>
        <p:nvSpPr>
          <p:cNvPr id="623" name="TextBox 9"/>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624" name="TextBox 10"/>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040_window_functions.ipynb</a:t>
            </a:r>
            <a:endParaRPr lang="en-GB" sz="1400" b="0" u="none" strike="noStrike">
              <a:solidFill>
                <a:srgbClr val="000000"/>
              </a:solidFill>
              <a:effectLst/>
              <a:uFillTx/>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9" name="Rectangle 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64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Compute the cumulative number of cases across time, per diet group</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br>
              <a:rPr sz="2800"/>
            </a:br>
            <a:r>
              <a:rPr lang="en-US" sz="2800" b="0" u="none" strike="noStrike">
                <a:solidFill>
                  <a:srgbClr val="000000"/>
                </a:solidFill>
                <a:effectLst/>
                <a:uFillTx/>
                <a:latin typeface="Consolas"/>
                <a:ea typeface="DejaVu Sans"/>
              </a:rPr>
              <a:t> </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9727DE11-B0FA-4074-9A7A-D2C6E8495C84}" type="slidenum">
              <a:rPr/>
              <a:t>82</a:t>
            </a:fld>
            <a:endParaRPr/>
          </a:p>
        </p:txBody>
      </p:sp>
      <p:sp>
        <p:nvSpPr>
          <p:cNvPr id="64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640"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643" name="TextBox 9"/>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644" name="Graphic 10"/>
          <p:cNvPicPr/>
          <p:nvPr/>
        </p:nvPicPr>
        <p:blipFill>
          <a:blip r:embed="rId2"/>
          <a:stretch/>
        </p:blipFill>
        <p:spPr>
          <a:xfrm>
            <a:off x="7474680" y="273960"/>
            <a:ext cx="691200" cy="552240"/>
          </a:xfrm>
          <a:prstGeom prst="rect">
            <a:avLst/>
          </a:prstGeom>
          <a:noFill/>
          <a:ln w="0">
            <a:noFill/>
          </a:ln>
        </p:spPr>
      </p:pic>
      <p:sp>
        <p:nvSpPr>
          <p:cNvPr id="645" name="TextBox 8"/>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a:t>
            </a:r>
            <a:endParaRPr lang="en-GB" sz="1400" b="0" u="none" strike="noStrike">
              <a:solidFill>
                <a:srgbClr val="000000"/>
              </a:solidFill>
              <a:effectLst/>
              <a:uFillTx/>
              <a:latin typeface="Arial"/>
            </a:endParaRPr>
          </a:p>
          <a:p>
            <a:pPr>
              <a:lnSpc>
                <a:spcPct val="100000"/>
              </a:lnSpc>
            </a:pPr>
            <a:r>
              <a:rPr lang="en-GB" sz="1400" b="0" u="none" strike="noStrike">
                <a:solidFill>
                  <a:srgbClr val="000000"/>
                </a:solidFill>
                <a:effectLst/>
                <a:uFillTx/>
                <a:latin typeface="Courier New"/>
                <a:ea typeface="DejaVu Sans"/>
              </a:rPr>
              <a:t>tabular_window_functions</a:t>
            </a:r>
            <a:endParaRPr lang="en-GB" sz="1400" b="0" u="none" strike="noStrike">
              <a:solidFill>
                <a:srgbClr val="000000"/>
              </a:solidFill>
              <a:effectLst/>
              <a:uFillTx/>
              <a:latin typeface="Arial"/>
            </a:endParaRPr>
          </a:p>
        </p:txBody>
      </p:sp>
      <p:pic>
        <p:nvPicPr>
          <p:cNvPr id="646" name="Picture 645"/>
          <p:cNvPicPr/>
          <p:nvPr/>
        </p:nvPicPr>
        <p:blipFill>
          <a:blip r:embed="rId3"/>
          <a:stretch/>
        </p:blipFill>
        <p:spPr>
          <a:xfrm>
            <a:off x="3696840" y="2955960"/>
            <a:ext cx="5121360" cy="3882240"/>
          </a:xfrm>
          <a:prstGeom prst="rect">
            <a:avLst/>
          </a:prstGeom>
          <a:noFill/>
          <a:ln w="0">
            <a:noFill/>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48"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Data organization concepts:</a:t>
            </a:r>
            <a:endParaRPr lang="en-GB" sz="28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tidy data</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normalized data (star organization)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data science friendly data (denormalized)</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9C8D83F7-A788-4463-8DE3-22D026A0CAF8}" type="slidenum">
              <a:rPr/>
              <a:t>83</a:t>
            </a:fld>
            <a:endParaRPr/>
          </a:p>
        </p:txBody>
      </p:sp>
      <p:sp>
        <p:nvSpPr>
          <p:cNvPr id="64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64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Data organization</a:t>
            </a:r>
            <a:endParaRPr lang="en-GB" sz="4400" b="0" u="none" strike="noStrike">
              <a:solidFill>
                <a:srgbClr val="000000"/>
              </a:solidFill>
              <a:effectLst/>
              <a:uFillTx/>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Dimension vs fact tables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De-normalization (but for data analys flat tables are more convienent)</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rPr lang="en-GB"/>
              <a:t>Tab, v4.0</a:t>
            </a:r>
            <a:endParaRPr/>
          </a:p>
        </p:txBody>
      </p:sp>
      <p:sp>
        <p:nvSpPr>
          <p:cNvPr id="6" name="PlaceHolder 5"/>
          <p:cNvSpPr>
            <a:spLocks noGrp="1"/>
          </p:cNvSpPr>
          <p:nvPr>
            <p:ph type="sldNum" idx="2"/>
          </p:nvPr>
        </p:nvSpPr>
        <p:spPr/>
        <p:txBody>
          <a:bodyPr/>
          <a:lstStyle/>
          <a:p>
            <a:fld id="{60D7AC66-538B-4F53-8420-5FEC4C4FAE15}" type="slidenum">
              <a:rPr/>
              <a:t>84</a:t>
            </a:fld>
            <a:endParaRPr/>
          </a:p>
        </p:txBody>
      </p:sp>
      <p:sp>
        <p:nvSpPr>
          <p:cNvPr id="65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ASPP, Aug 2026</a:t>
            </a:r>
            <a:endParaRPr lang="en-GB" sz="1200" b="0" u="none" strike="noStrike">
              <a:solidFill>
                <a:srgbClr val="000000"/>
              </a:solidFill>
              <a:effectLst/>
              <a:uFillTx/>
              <a:latin typeface="Times New Roman"/>
            </a:endParaRPr>
          </a:p>
        </p:txBody>
      </p:sp>
      <p:sp>
        <p:nvSpPr>
          <p:cNvPr id="650"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Organizing multiple tables</a:t>
            </a:r>
            <a:endParaRPr lang="en-GB" sz="4400" b="0" u="none" strike="noStrike">
              <a:solidFill>
                <a:srgbClr val="000000"/>
              </a:solidFill>
              <a:effectLst/>
              <a:uFillTx/>
              <a:latin typeface="Arial"/>
            </a:endParaRPr>
          </a:p>
        </p:txBody>
      </p:sp>
      <p:pic>
        <p:nvPicPr>
          <p:cNvPr id="653" name="Picture 2" descr="The Data Warehouse Toolkit"/>
          <p:cNvPicPr/>
          <p:nvPr/>
        </p:nvPicPr>
        <p:blipFill>
          <a:blip r:embed="rId2"/>
          <a:stretch/>
        </p:blipFill>
        <p:spPr>
          <a:xfrm>
            <a:off x="8040240" y="3162600"/>
            <a:ext cx="2085120" cy="2629080"/>
          </a:xfrm>
          <a:prstGeom prst="rect">
            <a:avLst/>
          </a:prstGeom>
          <a:noFill/>
          <a:ln w="0">
            <a:noFill/>
          </a:ln>
        </p:spPr>
      </p:pic>
      <p:pic>
        <p:nvPicPr>
          <p:cNvPr id="654" name="Picture 6"/>
          <p:cNvPicPr/>
          <p:nvPr/>
        </p:nvPicPr>
        <p:blipFill>
          <a:blip r:embed="rId3"/>
          <a:stretch/>
        </p:blipFill>
        <p:spPr>
          <a:xfrm>
            <a:off x="551520" y="2951640"/>
            <a:ext cx="5611320" cy="3050640"/>
          </a:xfrm>
          <a:prstGeom prst="rect">
            <a:avLst/>
          </a:prstGeom>
          <a:noFill/>
          <a:ln w="0">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143374</TotalTime>
  <Words>5283</Words>
  <Application>Microsoft Macintosh PowerPoint</Application>
  <PresentationFormat>Widescreen</PresentationFormat>
  <Paragraphs>1006</Paragraphs>
  <Slides>84</Slides>
  <Notes>17</Notes>
  <HiddenSlides>4</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84</vt:i4>
      </vt:variant>
    </vt:vector>
  </HeadingPairs>
  <TitlesOfParts>
    <vt:vector size="96" baseType="lpstr">
      <vt:lpstr>Arial</vt:lpstr>
      <vt:lpstr>Baskerville</vt:lpstr>
      <vt:lpstr>Calibri</vt:lpstr>
      <vt:lpstr>Calibri Light</vt:lpstr>
      <vt:lpstr>Consolas</vt:lpstr>
      <vt:lpstr>Courier New</vt:lpstr>
      <vt:lpstr>Google Sans</vt:lpstr>
      <vt:lpstr>SegoeUI</vt:lpstr>
      <vt:lpstr>Symbol</vt:lpstr>
      <vt:lpstr>Times New Roman</vt:lpstr>
      <vt:lpstr>Wingdings</vt:lpstr>
      <vt:lpstr>Office Theme</vt:lpstr>
      <vt:lpstr>PowerPoint Presentation</vt:lpstr>
      <vt:lpstr>Spreadsheets and databases rule the world!</vt:lpstr>
      <vt:lpstr>What is tabular data?</vt:lpstr>
      <vt:lpstr>What is tabular data?</vt:lpstr>
      <vt:lpstr>What is tabular data?</vt:lpstr>
      <vt:lpstr>What is tabular data?</vt:lpstr>
      <vt:lpstr>PowerPoint Presentation</vt:lpstr>
      <vt:lpstr>PowerPoint Presentation</vt:lpstr>
      <vt:lpstr>Why pandas?</vt:lpstr>
      <vt:lpstr>Hands-on</vt:lpstr>
      <vt:lpstr>Hands-on</vt:lpstr>
      <vt:lpstr>Tabular data join and performance</vt:lpstr>
      <vt:lpstr>Solution</vt:lpstr>
      <vt:lpstr>Solution</vt:lpstr>
      <vt:lpstr>Solution</vt:lpstr>
      <vt:lpstr>Solution O(N*M)</vt:lpstr>
      <vt:lpstr>Solution sort</vt:lpstr>
      <vt:lpstr>PowerPoint Presentation</vt:lpstr>
      <vt:lpstr>PowerPoint Presentation</vt:lpstr>
      <vt:lpstr>PowerPoint Presentation</vt:lpstr>
      <vt:lpstr>Solution join operation</vt:lpstr>
      <vt:lpstr>Solution join operation</vt:lpstr>
      <vt:lpstr>Solution join operation</vt:lpstr>
      <vt:lpstr>Common operations on tabular data</vt:lpstr>
      <vt:lpstr>Common operations on tabular data</vt:lpstr>
      <vt:lpstr>The basic structure of most numerical analyses</vt:lpstr>
      <vt:lpstr>PowerPoint Presentation</vt:lpstr>
      <vt:lpstr>Split-apply-combine </vt:lpstr>
      <vt:lpstr>PowerPoint Presentation</vt:lpstr>
      <vt:lpstr>Hands-on</vt:lpstr>
      <vt:lpstr>Split-apply-combine operations and performance</vt:lpstr>
      <vt:lpstr>PowerPoint Presentation</vt:lpstr>
      <vt:lpstr>Hands-on</vt:lpstr>
      <vt:lpstr>Messy data</vt:lpstr>
      <vt:lpstr>Messy data</vt:lpstr>
      <vt:lpstr>Messy data</vt:lpstr>
      <vt:lpstr>Messy data</vt:lpstr>
      <vt:lpstr>Messy data</vt:lpstr>
      <vt:lpstr>Tidy Data</vt:lpstr>
      <vt:lpstr>Tidy data</vt:lpstr>
      <vt:lpstr>Hands on: Same data, different organization Which one is best for data analysis?</vt:lpstr>
      <vt:lpstr>Hands on: Same data, different organization Which one is best for data analysis?</vt:lpstr>
      <vt:lpstr>Back to the exercise</vt:lpstr>
      <vt:lpstr>PowerPoint Presentation</vt:lpstr>
      <vt:lpstr>Why is tidy data good?</vt:lpstr>
      <vt:lpstr>Common operations on tabular data</vt:lpstr>
      <vt:lpstr>Common operations on tabular data</vt:lpstr>
      <vt:lpstr>Common operations on tabular data</vt:lpstr>
      <vt:lpstr>Common operations on tabular data</vt:lpstr>
      <vt:lpstr>Window functions operations</vt:lpstr>
      <vt:lpstr>Common operations on tabular data</vt:lpstr>
      <vt:lpstr>Global summary</vt:lpstr>
      <vt:lpstr>Dealing with changes in the data</vt:lpstr>
      <vt:lpstr>Thank you!</vt:lpstr>
      <vt:lpstr>PowerPoint Presentation</vt:lpstr>
      <vt:lpstr>OLD SLIDES FROM HERE ONWARDS</vt:lpstr>
      <vt:lpstr>Join operations: combining informations from multiple tables</vt:lpstr>
      <vt:lpstr>The life-changing magic of tidying up data</vt:lpstr>
      <vt:lpstr>PowerPoint Presentation</vt:lpstr>
      <vt:lpstr>The life-changing magic of tidying up data</vt:lpstr>
      <vt:lpstr>The life-changing magic of tidying up data</vt:lpstr>
      <vt:lpstr>Hands-on</vt:lpstr>
      <vt:lpstr>What we didn’t talk about</vt:lpstr>
      <vt:lpstr>Joins</vt:lpstr>
      <vt:lpstr>Join operations</vt:lpstr>
      <vt:lpstr>Join operations – Main points</vt:lpstr>
      <vt:lpstr>Example of tabular data: “Predimed” study</vt:lpstr>
      <vt:lpstr>Example of tabular data: “Predimed” study</vt:lpstr>
      <vt:lpstr>Hands-on </vt:lpstr>
      <vt:lpstr>Split-apply-combine</vt:lpstr>
      <vt:lpstr>The basic structure of most numerical analyses</vt:lpstr>
      <vt:lpstr>Split-apply-combine  operations</vt:lpstr>
      <vt:lpstr>Split-apply-combine  operations</vt:lpstr>
      <vt:lpstr>PowerPoint Presentation</vt:lpstr>
      <vt:lpstr>PowerPoint Presentation</vt:lpstr>
      <vt:lpstr>Hands-on </vt:lpstr>
      <vt:lpstr>Hands-on </vt:lpstr>
      <vt:lpstr>Window functions</vt:lpstr>
      <vt:lpstr>Window functions: grouped row-by-row operations</vt:lpstr>
      <vt:lpstr>Window functions</vt:lpstr>
      <vt:lpstr>Window functions</vt:lpstr>
      <vt:lpstr>Hands-on</vt:lpstr>
      <vt:lpstr>Data organization</vt:lpstr>
      <vt:lpstr>Organizing multiple tables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Pietro Berkes</dc:creator>
  <dc:description/>
  <cp:lastModifiedBy>Pietro Berkes</cp:lastModifiedBy>
  <cp:revision>1960</cp:revision>
  <cp:lastPrinted>2026-06-30T23:36:35Z</cp:lastPrinted>
  <dcterms:created xsi:type="dcterms:W3CDTF">2010-10-01T16:09:12Z</dcterms:created>
  <dcterms:modified xsi:type="dcterms:W3CDTF">2026-08-31T08:50:54Z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2</vt:i4>
  </property>
  <property fmtid="{D5CDD505-2E9C-101B-9397-08002B2CF9AE}" pid="3" name="Notes">
    <vt:i4>1</vt:i4>
  </property>
  <property fmtid="{D5CDD505-2E9C-101B-9397-08002B2CF9AE}" pid="4" name="PresentationFormat">
    <vt:lpwstr>Widescreen</vt:lpwstr>
  </property>
  <property fmtid="{D5CDD505-2E9C-101B-9397-08002B2CF9AE}" pid="5" name="Slides">
    <vt:i4>50</vt:i4>
  </property>
</Properties>
</file>