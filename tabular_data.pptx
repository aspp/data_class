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23.jpeg" ContentType="image/jpeg"/>
  <Override PartName="/ppt/media/image10.png" ContentType="image/png"/>
  <Override PartName="/ppt/media/image21.png" ContentType="image/png"/>
  <Override PartName="/ppt/media/image1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jpeg" ContentType="image/jpeg"/>
  <Override PartName="/ppt/media/image32.png" ContentType="image/png"/>
  <Override PartName="/ppt/media/image40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33.png" ContentType="image/png"/>
  <Override PartName="/ppt/media/image1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30.xml" ContentType="application/vnd.openxmlformats-officedocument.presentationml.comments+xml"/>
  <Override PartName="/ppt/slides/_rels/slide5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4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8.xml.rels" ContentType="application/vnd.openxmlformats-package.relationships+xml"/>
  <Override PartName="/ppt/slides/_rels/slide5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4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52.xml.rels" ContentType="application/vnd.openxmlformats-package.relationships+xml"/>
  <Override PartName="/ppt/slides/_rels/slide53.xml.rels" ContentType="application/vnd.openxmlformats-package.relationships+xml"/>
  <Override PartName="/ppt/slides/slide56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Slides/_rels/notesSlide6.xml.rels" ContentType="application/vnd.openxmlformats-package.relationships+xml"/>
  <Override PartName="/ppt/notesSlides/notesSlide6.xml" ContentType="application/vnd.openxmlformats-officedocument.presentationml.notes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Guillermo Aguilar" initials="G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presProps" Target="presProps.xml"/><Relationship Id="rId67" Type="http://schemas.openxmlformats.org/officeDocument/2006/relationships/commentAuthors" Target="commentAuthors.xml"/>
</Relationships>
</file>

<file path=ppt/comments/comment17.xml><?xml version="1.0" encoding="utf-8"?>
<p:cmLst xmlns:p="http://schemas.openxmlformats.org/presentationml/2006/main">
  <p:cm authorId="0" dt="2026-07-01T00:03:17.000000000" idx="1">
    <p:pos x="0" y="0"/>
    <p:text>Idea of exercise:
Notebook contains already two implementations, one vectorize and the other using for-loops, for a fixed input size N
The instruction indicate that they need to convert to functions that take N as argument,
And run it with increasing N, collecting the runtime on each.
Here they also need to decide on how to store this type of data, for this exercise → discuss with your partner what is the best way to store this simulation data (numpy array? Dataframe? A simple list?) Does it mattter for this case?
In the final part they are prompted to generate some kind of visualization, with N on the x-axis and runtime on the y, for both implementations in color. I think most students wont have issues with this, basic matplotlib knowledge suffices
They should conclude: which one is faster?
Optional: why?  Deduce the O notation on both cases. (similar to first exercise).
Give hints on how pandas does group by and mean().</p:text>
  </p:cm>
</p:cmLst>
</file>

<file path=ppt/comments/comment18.xml><?xml version="1.0" encoding="utf-8"?>
<p:cmLst xmlns:p="http://schemas.openxmlformats.org/presentationml/2006/main">
  <p:cm authorId="0" dt="2026-06-30T23:27:22.000000000" idx="2">
    <p:pos x="0" y="0"/>
    <p:text>Complete this slide</p:text>
  </p:cm>
</p:cmLst>
</file>

<file path=ppt/comments/comment30.xml><?xml version="1.0" encoding="utf-8"?>
<p:cmLst xmlns:p="http://schemas.openxmlformats.org/presentationml/2006/main">
  <p:cm authorId="0" dt="2026-06-30T23:19:54.000000000" idx="3">
    <p:pos x="113" y="88"/>
    <p:text>If we use this exercise, it needs introduction. This is the slide from previous version where this exercise has been already introduced before.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dt" idx="10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ftr" idx="11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sldNum" idx="11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43F2498-5187-42C2-A83F-FE72315DB477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4760" cy="400644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120" cy="480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Message: concepts are not specific to pandas but general. 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Not go into detail but mention that other languages or frameworks use similar concepts (e.g. SQL)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6C5790-D993-4051-82AE-D75E25E1987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C150B1-6756-4C31-884C-0E01967232A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52E963-ECBE-473E-B64B-5059AB86234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D8EDB0-3B72-42CE-AA17-59ECF32E008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7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38E99C-DBB3-4187-97C5-63761EFADFB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0D08A4-AD82-4B10-9BB5-E685FBD0C3A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F1E1C8-8FB2-4AAA-A295-74A62AE45B1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8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9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740B90-E082-4FB8-A2DF-DE1F9D0DD40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10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8DEF4C-CFDD-42FA-985C-7076174ECEC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1F37F2-E4D0-48D8-9D95-3F223F8819C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760986-B67D-429C-BC78-AB746DEDAE7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3E4CFB-319C-40B7-BA33-4F305824F86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684DA5-39D4-4E56-AE89-8DEBA91FF78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375EDC-0408-494A-87E1-35995795E43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8AB9AF-5F33-4CF2-BAD7-29E7B3C50D9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490F45-51A0-4DFC-B3AC-649E672CAE9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7F4F5D-D95D-47AD-8FD5-A38A968E638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849EB8-EBB3-4730-89F3-A86F375F9D1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2D5768-3038-4BD9-BCE0-8A5628A2DFD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8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9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AC4CA6-38F6-49DA-8FAA-685C7F4AFD1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10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941D23-EB23-4992-91FD-FB50EFA15B8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324282-732E-41DF-8CB0-1A5C5E53BAC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E4ACF0-91C9-488F-8050-CA8609CBD28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F4E34B-79B6-47AB-8416-68049D7EA81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10E59A-34C5-49CC-9D7A-80847F3B17C8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98DF48-9A99-4F82-8697-6EC5BD0D1D67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2A6CF5-A421-4A0B-B3CE-F1A1822AAD8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254C3D-C263-4619-ACC2-3F92E2541133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6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DC7CF8-21F0-4ACB-86F2-11463F839EC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7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24C020-BDC1-4C82-8F23-2D6652E956C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6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7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D6A474-D3F1-4237-B29D-E8F9B5890CC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8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8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9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7A8FC9-B845-4320-976C-D9A0AE91286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PlaceHolder 10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A64B6A-492D-4895-ACB2-DCFBE4A5007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F9770C-43F5-42CB-8E2D-02A7B7EA7D4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01D1C9-124E-4D7A-961E-EE98BA12348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&lt;footer&gt;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0F3F41-4DBE-41B1-A113-7CC9690C2C4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<Relationship Id="rId3" Type="http://schemas.openxmlformats.org/officeDocument/2006/relationships/comments" Target="../comments/commen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comments" Target="../comments/commen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2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4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1.xml"/><Relationship Id="rId4" Type="http://schemas.openxmlformats.org/officeDocument/2006/relationships/comments" Target="../comments/comment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2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2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hyperlink" Target="https://www.nejm.org/doi/full/10.1056/NEJMoa1800389" TargetMode="External"/><Relationship Id="rId3" Type="http://schemas.openxmlformats.org/officeDocument/2006/relationships/slideLayout" Target="../slideLayouts/slideLayout2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hyperlink" Target="https://www.nejm.org/doi/full/10.1056/NEJMoa1800389" TargetMode="Externa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2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2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2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2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2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dt" idx="1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2" name="Picture 42" descr="Image"/>
          <p:cNvPicPr/>
          <p:nvPr/>
        </p:nvPicPr>
        <p:blipFill>
          <a:blip r:embed="rId1"/>
          <a:srcRect l="0" t="13533" r="0" b="10643"/>
          <a:stretch/>
        </p:blipFill>
        <p:spPr>
          <a:xfrm>
            <a:off x="1112400" y="2121120"/>
            <a:ext cx="9964080" cy="423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itle 1"/>
          <p:cNvSpPr/>
          <p:nvPr/>
        </p:nvSpPr>
        <p:spPr>
          <a:xfrm>
            <a:off x="263520" y="360000"/>
            <a:ext cx="1192824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90000"/>
              </a:lnSpc>
            </a:pPr>
            <a:r>
              <a:rPr b="0" lang="en-US" sz="80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Tabular data </a:t>
            </a:r>
            <a:endParaRPr b="0" lang="en-GB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A particular type of data structure</a:t>
            </a:r>
            <a:endParaRPr b="0" lang="en-GB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BFA259-BABD-46FB-B7BE-7FC62B61274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What is tabular data?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dt" idx="11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6" name="Table 6"/>
          <p:cNvGraphicFramePr/>
          <p:nvPr/>
        </p:nvGraphicFramePr>
        <p:xfrm>
          <a:off x="1841400" y="2421000"/>
          <a:ext cx="8528040" cy="1434240"/>
        </p:xfrm>
        <a:graphic>
          <a:graphicData uri="http://schemas.openxmlformats.org/drawingml/2006/table">
            <a:tbl>
              <a:tblPr/>
              <a:tblGrid>
                <a:gridCol w="1705680"/>
                <a:gridCol w="1705680"/>
                <a:gridCol w="1705680"/>
                <a:gridCol w="1705680"/>
                <a:gridCol w="1705680"/>
              </a:tblGrid>
              <a:tr h="1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Date (index)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Wind speed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Wind direction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Rain fall (mm)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Hours of sun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8.3.2024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NW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9.3.2024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SE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Table 2"/>
          <p:cNvGraphicFramePr/>
          <p:nvPr/>
        </p:nvGraphicFramePr>
        <p:xfrm>
          <a:off x="1833480" y="4343400"/>
          <a:ext cx="8528040" cy="1664280"/>
        </p:xfrm>
        <a:graphic>
          <a:graphicData uri="http://schemas.openxmlformats.org/drawingml/2006/table">
            <a:tbl>
              <a:tblPr/>
              <a:tblGrid>
                <a:gridCol w="1705680"/>
                <a:gridCol w="1705680"/>
                <a:gridCol w="1705680"/>
                <a:gridCol w="1705680"/>
                <a:gridCol w="17056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Subject ID (index)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Condition 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Presentation nr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 time (ms)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28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RIGHT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PB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665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228" name="TextBox 7"/>
          <p:cNvSpPr/>
          <p:nvPr/>
        </p:nvSpPr>
        <p:spPr>
          <a:xfrm>
            <a:off x="5519880" y="762120"/>
            <a:ext cx="3741120" cy="912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Unlike arrays, each column can represent another type of value, with different data types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Straight Arrow Connector 10"/>
          <p:cNvCxnSpPr/>
          <p:nvPr/>
        </p:nvCxnSpPr>
        <p:spPr>
          <a:xfrm flipH="1">
            <a:off x="5015880" y="1937880"/>
            <a:ext cx="507240" cy="3837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0" name="Straight Arrow Connector 12"/>
          <p:cNvCxnSpPr/>
          <p:nvPr/>
        </p:nvCxnSpPr>
        <p:spPr>
          <a:xfrm flipH="1">
            <a:off x="6167880" y="1829520"/>
            <a:ext cx="147240" cy="49212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1" name="Straight Arrow Connector 14"/>
          <p:cNvCxnSpPr/>
          <p:nvPr/>
        </p:nvCxnSpPr>
        <p:spPr>
          <a:xfrm>
            <a:off x="7679880" y="1849320"/>
            <a:ext cx="75240" cy="47232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2" name="Straight Arrow Connector 16"/>
          <p:cNvCxnSpPr/>
          <p:nvPr/>
        </p:nvCxnSpPr>
        <p:spPr>
          <a:xfrm>
            <a:off x="9120240" y="1851480"/>
            <a:ext cx="251640" cy="4701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233" name="Straight Arrow Connector 18"/>
          <p:cNvCxnSpPr/>
          <p:nvPr/>
        </p:nvCxnSpPr>
        <p:spPr>
          <a:xfrm flipH="1">
            <a:off x="2877840" y="1487880"/>
            <a:ext cx="2141280" cy="83376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A1E596C4-6989-4025-9F10-DAD178BCAE8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What is tabular data?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6" name="Table 6"/>
          <p:cNvGraphicFramePr/>
          <p:nvPr/>
        </p:nvGraphicFramePr>
        <p:xfrm>
          <a:off x="1841400" y="2421000"/>
          <a:ext cx="8528040" cy="1434240"/>
        </p:xfrm>
        <a:graphic>
          <a:graphicData uri="http://schemas.openxmlformats.org/drawingml/2006/table">
            <a:tbl>
              <a:tblPr/>
              <a:tblGrid>
                <a:gridCol w="1705680"/>
                <a:gridCol w="1705680"/>
                <a:gridCol w="1705680"/>
                <a:gridCol w="1705680"/>
                <a:gridCol w="1705680"/>
              </a:tblGrid>
              <a:tr h="124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Date (index)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Wind speed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Wind direction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Rain fall (mm)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Hours of sun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8.3.2024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NW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9.3.2024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1.1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SE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0.3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"/>
          <p:cNvGraphicFramePr/>
          <p:nvPr/>
        </p:nvGraphicFramePr>
        <p:xfrm>
          <a:off x="1833480" y="4343400"/>
          <a:ext cx="8528040" cy="1664280"/>
        </p:xfrm>
        <a:graphic>
          <a:graphicData uri="http://schemas.openxmlformats.org/drawingml/2006/table">
            <a:tbl>
              <a:tblPr/>
              <a:tblGrid>
                <a:gridCol w="1705680"/>
                <a:gridCol w="1705680"/>
                <a:gridCol w="1705680"/>
                <a:gridCol w="1705680"/>
                <a:gridCol w="17056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Subject ID (index)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Condition 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Presentation nr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 time (ms)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28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RIGHT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PB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665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238" name="TextBox 7"/>
          <p:cNvSpPr/>
          <p:nvPr/>
        </p:nvSpPr>
        <p:spPr>
          <a:xfrm>
            <a:off x="695520" y="998280"/>
            <a:ext cx="2733120" cy="11869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Column and rows have meaningful labels (indices) that are attached to the data for each operation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0168CDE-C942-49D8-8ACA-81A3AEF67E64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3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/>
          </p:nvPr>
        </p:nvSpPr>
        <p:spPr>
          <a:xfrm>
            <a:off x="838080" y="108000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Students are asked to implement a merge of two tables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With increasing table size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Visualize run time as a function of input size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Solutions: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- Naive O(n*m)   - two for loops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- (optional) intermediate solution with sort()   ….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- Pandas solution O(n+m)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Goal: provide motivation for pandas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dt" idx="1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TextBox 79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Graphic 9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Box 80"/>
          <p:cNvSpPr/>
          <p:nvPr/>
        </p:nvSpPr>
        <p:spPr>
          <a:xfrm>
            <a:off x="8301960" y="542880"/>
            <a:ext cx="3479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</a:t>
            </a: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….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title"/>
          </p:nvPr>
        </p:nvSpPr>
        <p:spPr>
          <a:xfrm>
            <a:off x="346680" y="365040"/>
            <a:ext cx="689544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br>
              <a:rPr sz="4400"/>
            </a:b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3F6CC6A-DF16-4F88-82E8-D125745032A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Spreadsheets and databases rule the world!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dt" idx="11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7248240" y="6250320"/>
            <a:ext cx="4559760" cy="4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100" strike="noStrike" u="none">
                <a:solidFill>
                  <a:srgbClr val="a6a6a6"/>
                </a:solidFill>
                <a:effectLst/>
                <a:uFillTx/>
                <a:latin typeface="Calibri"/>
                <a:ea typeface="DejaVu Sans"/>
              </a:rPr>
              <a:t>https://techcommunity.microsoft.com/t5/excel-blog/guinness-world-records-the-largest-collection-of-spreadsheet/ba-p/216592</a:t>
            </a:r>
            <a:endParaRPr b="0" lang="en-GB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9" name="Group 11"/>
          <p:cNvGrpSpPr/>
          <p:nvPr/>
        </p:nvGrpSpPr>
        <p:grpSpPr>
          <a:xfrm>
            <a:off x="2446200" y="1184040"/>
            <a:ext cx="7296120" cy="4979160"/>
            <a:chOff x="2446200" y="1184040"/>
            <a:chExt cx="7296120" cy="4979160"/>
          </a:xfrm>
        </p:grpSpPr>
        <p:pic>
          <p:nvPicPr>
            <p:cNvPr id="250" name="Picture 6" descr=""/>
            <p:cNvPicPr/>
            <p:nvPr/>
          </p:nvPicPr>
          <p:blipFill>
            <a:blip r:embed="rId1"/>
            <a:stretch/>
          </p:blipFill>
          <p:spPr>
            <a:xfrm>
              <a:off x="2452680" y="1184040"/>
              <a:ext cx="7093080" cy="4979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51" name="TextBox 7"/>
            <p:cNvSpPr/>
            <p:nvPr/>
          </p:nvSpPr>
          <p:spPr>
            <a:xfrm>
              <a:off x="2446200" y="5589000"/>
              <a:ext cx="7296120" cy="515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i="1" lang="en-CH" sz="1400" strike="noStrike" u="none">
                  <a:solidFill>
                    <a:srgbClr val="ffffff"/>
                  </a:solidFill>
                  <a:effectLst/>
                  <a:uFillTx/>
                  <a:latin typeface="Calibri"/>
                  <a:ea typeface="DejaVu Sans"/>
                </a:rPr>
                <a:t>Ariel </a:t>
              </a:r>
              <a:r>
                <a:rPr b="1" i="1" lang="en-US" sz="1400" strike="noStrike" u="none">
                  <a:solidFill>
                    <a:srgbClr val="ffffff"/>
                  </a:solidFill>
                  <a:effectLst/>
                  <a:uFillTx/>
                  <a:latin typeface="SegoeUI"/>
                  <a:ea typeface="DejaVu Sans"/>
                </a:rPr>
                <a:t>Fischman holds the Guinness World Record for owning the most spreadsheet software (over 500!)</a:t>
              </a:r>
              <a:endPara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EEF759B6-F079-488A-8B0C-EA5A4A8F569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1f2328"/>
                </a:solidFill>
                <a:effectLst/>
                <a:uFillTx/>
                <a:latin typeface="Calibri Light"/>
                <a:ea typeface="DejaVu Sans"/>
              </a:rPr>
              <a:t>Many tools to handle tabular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861560" cy="49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Python tools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pandas: in-memory tabular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dask: on-disk tabular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SQL databases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Optimized for retrieving rows (tree data structure for index)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Transactional: groups of operations are either all executed, or none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Columnar DBs, Spark, Hadoop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Optimized for operations on columns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Ideal for data science tasks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Operations can be automatically distributed over multiple machines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Today we will focus on </a:t>
            </a:r>
            <a:r>
              <a:rPr b="1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pandas</a:t>
            </a: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 one of these tools. But type of operations are general and apply to all of them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4715A79-DF31-4BA5-9F2D-21B8064E297F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7"/>
          <p:cNvSpPr/>
          <p:nvPr/>
        </p:nvSpPr>
        <p:spPr>
          <a:xfrm>
            <a:off x="2691360" y="173052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"/>
          <p:cNvSpPr/>
          <p:nvPr/>
        </p:nvSpPr>
        <p:spPr>
          <a:xfrm>
            <a:off x="2722320" y="264600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853200" y="1699920"/>
            <a:ext cx="14151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Pandas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853200" y="2618280"/>
            <a:ext cx="18597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dask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2722320" y="356544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.avg(‘response_time’)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0"/>
          <p:cNvSpPr/>
          <p:nvPr/>
        </p:nvSpPr>
        <p:spPr>
          <a:xfrm>
            <a:off x="853200" y="3537000"/>
            <a:ext cx="18597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PySpark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8"/>
          <p:cNvSpPr/>
          <p:nvPr/>
        </p:nvSpPr>
        <p:spPr>
          <a:xfrm>
            <a:off x="853200" y="4455360"/>
            <a:ext cx="185976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SQL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110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Tabular data ideas and operations are universal for all tabular data tools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dt" idx="11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TextBox 24"/>
          <p:cNvSpPr/>
          <p:nvPr/>
        </p:nvSpPr>
        <p:spPr>
          <a:xfrm>
            <a:off x="2722320" y="4515840"/>
            <a:ext cx="88880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SELECT condition_id,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       AVG(response_time) AS avg_response_time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FROM df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GROUP BY condition_id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8F8D5B82-489A-4A66-9497-81519E56F98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5"/>
          <p:cNvSpPr/>
          <p:nvPr/>
        </p:nvSpPr>
        <p:spPr>
          <a:xfrm>
            <a:off x="2691360" y="173052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9"/>
          <p:cNvSpPr/>
          <p:nvPr/>
        </p:nvSpPr>
        <p:spPr>
          <a:xfrm>
            <a:off x="2722320" y="264600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853200" y="1699920"/>
            <a:ext cx="1415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Pandas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2"/>
          <p:cNvSpPr/>
          <p:nvPr/>
        </p:nvSpPr>
        <p:spPr>
          <a:xfrm>
            <a:off x="853200" y="2618280"/>
            <a:ext cx="1859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dask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3"/>
          <p:cNvSpPr/>
          <p:nvPr/>
        </p:nvSpPr>
        <p:spPr>
          <a:xfrm>
            <a:off x="2722320" y="3565440"/>
            <a:ext cx="8888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.avg(‘response_time’)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5"/>
          <p:cNvSpPr/>
          <p:nvPr/>
        </p:nvSpPr>
        <p:spPr>
          <a:xfrm>
            <a:off x="853200" y="3537000"/>
            <a:ext cx="1859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PySpark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6"/>
          <p:cNvSpPr/>
          <p:nvPr/>
        </p:nvSpPr>
        <p:spPr>
          <a:xfrm>
            <a:off x="853200" y="4455360"/>
            <a:ext cx="1859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SQL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110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Tabular data ideas and operations are universal for all tabular data tools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dt" idx="11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TextBox 27"/>
          <p:cNvSpPr/>
          <p:nvPr/>
        </p:nvSpPr>
        <p:spPr>
          <a:xfrm>
            <a:off x="2722320" y="4515840"/>
            <a:ext cx="88880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SELECT condition_id,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       AVG(response_time) AS avg_response_time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FROM df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GROUP BY condition_id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78"/>
          <p:cNvSpPr/>
          <p:nvPr/>
        </p:nvSpPr>
        <p:spPr>
          <a:xfrm>
            <a:off x="1620000" y="1830960"/>
            <a:ext cx="9179640" cy="3377880"/>
          </a:xfrm>
          <a:custGeom>
            <a:avLst/>
            <a:gdLst>
              <a:gd name="textAreaLeft" fmla="*/ 0 w 9179640"/>
              <a:gd name="textAreaRight" fmla="*/ 9184320 w 9179640"/>
              <a:gd name="textAreaTop" fmla="*/ 0 h 3377880"/>
              <a:gd name="textAreaBottom" fmla="*/ 3382200 h 3377880"/>
            </a:gdLst>
            <a:ahLst/>
            <a:cxnLst/>
            <a:rect l="textAreaLeft" t="textAreaTop" r="textAreaRight" b="textAreaBottom"/>
            <a:pathLst>
              <a:path fill="none" w="5712296" h="2308324">
                <a:moveTo>
                  <a:pt x="0" y="0"/>
                </a:moveTo>
                <a:cubicBezTo>
                  <a:pt x="170481" y="12395"/>
                  <a:pt x="474495" y="4923"/>
                  <a:pt x="691823" y="0"/>
                </a:cubicBezTo>
                <a:cubicBezTo>
                  <a:pt x="909151" y="-4923"/>
                  <a:pt x="1025161" y="11703"/>
                  <a:pt x="1155153" y="0"/>
                </a:cubicBezTo>
                <a:cubicBezTo>
                  <a:pt x="1285145" y="-11703"/>
                  <a:pt x="1576417" y="299"/>
                  <a:pt x="1732730" y="0"/>
                </a:cubicBezTo>
                <a:cubicBezTo>
                  <a:pt x="1889043" y="-299"/>
                  <a:pt x="2130093" y="16857"/>
                  <a:pt x="2481675" y="0"/>
                </a:cubicBezTo>
                <a:cubicBezTo>
                  <a:pt x="2833257" y="-16857"/>
                  <a:pt x="2873551" y="17793"/>
                  <a:pt x="3116375" y="0"/>
                </a:cubicBezTo>
                <a:cubicBezTo>
                  <a:pt x="3359199" y="-17793"/>
                  <a:pt x="3543615" y="15531"/>
                  <a:pt x="3808197" y="0"/>
                </a:cubicBezTo>
                <a:cubicBezTo>
                  <a:pt x="4072779" y="-15531"/>
                  <a:pt x="4244086" y="-26212"/>
                  <a:pt x="4385774" y="0"/>
                </a:cubicBezTo>
                <a:cubicBezTo>
                  <a:pt x="4527462" y="26212"/>
                  <a:pt x="4804411" y="-17362"/>
                  <a:pt x="5020473" y="0"/>
                </a:cubicBezTo>
                <a:cubicBezTo>
                  <a:pt x="5236535" y="17362"/>
                  <a:pt x="5483850" y="13915"/>
                  <a:pt x="5712296" y="0"/>
                </a:cubicBezTo>
                <a:cubicBezTo>
                  <a:pt x="5698337" y="227921"/>
                  <a:pt x="5726828" y="309662"/>
                  <a:pt x="5712296" y="530915"/>
                </a:cubicBezTo>
                <a:cubicBezTo>
                  <a:pt x="5697764" y="752169"/>
                  <a:pt x="5697572" y="832379"/>
                  <a:pt x="5712296" y="1038746"/>
                </a:cubicBezTo>
                <a:cubicBezTo>
                  <a:pt x="5727020" y="1245113"/>
                  <a:pt x="5718057" y="1350161"/>
                  <a:pt x="5712296" y="1569660"/>
                </a:cubicBezTo>
                <a:cubicBezTo>
                  <a:pt x="5706535" y="1789159"/>
                  <a:pt x="5715761" y="2034313"/>
                  <a:pt x="5712296" y="2308324"/>
                </a:cubicBezTo>
                <a:cubicBezTo>
                  <a:pt x="5427327" y="2287513"/>
                  <a:pt x="5344141" y="2327301"/>
                  <a:pt x="5077596" y="2308324"/>
                </a:cubicBezTo>
                <a:cubicBezTo>
                  <a:pt x="4811051" y="2289347"/>
                  <a:pt x="4588159" y="2292673"/>
                  <a:pt x="4442897" y="2308324"/>
                </a:cubicBezTo>
                <a:cubicBezTo>
                  <a:pt x="4297635" y="2323975"/>
                  <a:pt x="4142033" y="2304319"/>
                  <a:pt x="3922443" y="2308324"/>
                </a:cubicBezTo>
                <a:cubicBezTo>
                  <a:pt x="3702853" y="2312329"/>
                  <a:pt x="3448460" y="2301342"/>
                  <a:pt x="3287744" y="2308324"/>
                </a:cubicBezTo>
                <a:cubicBezTo>
                  <a:pt x="3127028" y="2315306"/>
                  <a:pt x="2908419" y="2286204"/>
                  <a:pt x="2653044" y="2308324"/>
                </a:cubicBezTo>
                <a:cubicBezTo>
                  <a:pt x="2397669" y="2330444"/>
                  <a:pt x="2181981" y="2338620"/>
                  <a:pt x="2018345" y="2308324"/>
                </a:cubicBezTo>
                <a:cubicBezTo>
                  <a:pt x="1854709" y="2278028"/>
                  <a:pt x="1523819" y="2337051"/>
                  <a:pt x="1383645" y="2308324"/>
                </a:cubicBezTo>
                <a:cubicBezTo>
                  <a:pt x="1243471" y="2279597"/>
                  <a:pt x="1031240" y="2304491"/>
                  <a:pt x="806068" y="2308324"/>
                </a:cubicBezTo>
                <a:cubicBezTo>
                  <a:pt x="580896" y="2312157"/>
                  <a:pt x="347967" y="2325492"/>
                  <a:pt x="0" y="2308324"/>
                </a:cubicBezTo>
                <a:cubicBezTo>
                  <a:pt x="9212" y="2185053"/>
                  <a:pt x="-17414" y="1970670"/>
                  <a:pt x="0" y="1731243"/>
                </a:cubicBezTo>
                <a:cubicBezTo>
                  <a:pt x="17414" y="1491816"/>
                  <a:pt x="-10325" y="1313911"/>
                  <a:pt x="0" y="1131079"/>
                </a:cubicBezTo>
                <a:cubicBezTo>
                  <a:pt x="10325" y="948247"/>
                  <a:pt x="-25330" y="680352"/>
                  <a:pt x="0" y="530915"/>
                </a:cubicBezTo>
                <a:cubicBezTo>
                  <a:pt x="25330" y="381478"/>
                  <a:pt x="12113" y="149989"/>
                  <a:pt x="0" y="0"/>
                </a:cubicBezTo>
                <a:close/>
              </a:path>
              <a:path stroke="0" w="5712296" h="2308324">
                <a:moveTo>
                  <a:pt x="0" y="0"/>
                </a:moveTo>
                <a:cubicBezTo>
                  <a:pt x="117366" y="12157"/>
                  <a:pt x="427981" y="-1654"/>
                  <a:pt x="577577" y="0"/>
                </a:cubicBezTo>
                <a:cubicBezTo>
                  <a:pt x="727173" y="1654"/>
                  <a:pt x="919785" y="-10211"/>
                  <a:pt x="1040907" y="0"/>
                </a:cubicBezTo>
                <a:cubicBezTo>
                  <a:pt x="1162029" y="10211"/>
                  <a:pt x="1577922" y="25650"/>
                  <a:pt x="1789853" y="0"/>
                </a:cubicBezTo>
                <a:cubicBezTo>
                  <a:pt x="2001784" y="-25650"/>
                  <a:pt x="2188209" y="-24222"/>
                  <a:pt x="2367429" y="0"/>
                </a:cubicBezTo>
                <a:cubicBezTo>
                  <a:pt x="2546649" y="24222"/>
                  <a:pt x="2756192" y="-23950"/>
                  <a:pt x="2945006" y="0"/>
                </a:cubicBezTo>
                <a:cubicBezTo>
                  <a:pt x="3133820" y="23950"/>
                  <a:pt x="3433459" y="-33367"/>
                  <a:pt x="3693951" y="0"/>
                </a:cubicBezTo>
                <a:cubicBezTo>
                  <a:pt x="3954443" y="33367"/>
                  <a:pt x="4032117" y="-813"/>
                  <a:pt x="4214405" y="0"/>
                </a:cubicBezTo>
                <a:cubicBezTo>
                  <a:pt x="4396693" y="813"/>
                  <a:pt x="4790380" y="18167"/>
                  <a:pt x="4963351" y="0"/>
                </a:cubicBezTo>
                <a:cubicBezTo>
                  <a:pt x="5136322" y="-18167"/>
                  <a:pt x="5355621" y="-34473"/>
                  <a:pt x="5712296" y="0"/>
                </a:cubicBezTo>
                <a:cubicBezTo>
                  <a:pt x="5703245" y="275623"/>
                  <a:pt x="5730046" y="433797"/>
                  <a:pt x="5712296" y="577081"/>
                </a:cubicBezTo>
                <a:cubicBezTo>
                  <a:pt x="5694546" y="720365"/>
                  <a:pt x="5706106" y="925832"/>
                  <a:pt x="5712296" y="1154162"/>
                </a:cubicBezTo>
                <a:cubicBezTo>
                  <a:pt x="5718486" y="1382492"/>
                  <a:pt x="5707131" y="1562931"/>
                  <a:pt x="5712296" y="1754326"/>
                </a:cubicBezTo>
                <a:cubicBezTo>
                  <a:pt x="5717461" y="1945721"/>
                  <a:pt x="5715860" y="2077979"/>
                  <a:pt x="5712296" y="2308324"/>
                </a:cubicBezTo>
                <a:cubicBezTo>
                  <a:pt x="5577581" y="2308670"/>
                  <a:pt x="5224458" y="2290918"/>
                  <a:pt x="5077596" y="2308324"/>
                </a:cubicBezTo>
                <a:cubicBezTo>
                  <a:pt x="4930734" y="2325730"/>
                  <a:pt x="4790654" y="2322770"/>
                  <a:pt x="4557143" y="2308324"/>
                </a:cubicBezTo>
                <a:cubicBezTo>
                  <a:pt x="4323632" y="2293878"/>
                  <a:pt x="4066460" y="2312216"/>
                  <a:pt x="3922443" y="2308324"/>
                </a:cubicBezTo>
                <a:cubicBezTo>
                  <a:pt x="3778426" y="2304432"/>
                  <a:pt x="3352455" y="2286696"/>
                  <a:pt x="3173498" y="2308324"/>
                </a:cubicBezTo>
                <a:cubicBezTo>
                  <a:pt x="2994541" y="2329952"/>
                  <a:pt x="2709991" y="2308489"/>
                  <a:pt x="2538798" y="2308324"/>
                </a:cubicBezTo>
                <a:cubicBezTo>
                  <a:pt x="2367605" y="2308159"/>
                  <a:pt x="2190477" y="2285762"/>
                  <a:pt x="2075468" y="2308324"/>
                </a:cubicBezTo>
                <a:cubicBezTo>
                  <a:pt x="1960459" y="2330887"/>
                  <a:pt x="1781938" y="2316511"/>
                  <a:pt x="1555014" y="2308324"/>
                </a:cubicBezTo>
                <a:cubicBezTo>
                  <a:pt x="1328090" y="2300137"/>
                  <a:pt x="978738" y="2284534"/>
                  <a:pt x="806068" y="2308324"/>
                </a:cubicBezTo>
                <a:cubicBezTo>
                  <a:pt x="633398" y="2332114"/>
                  <a:pt x="358206" y="2331133"/>
                  <a:pt x="0" y="2308324"/>
                </a:cubicBezTo>
                <a:cubicBezTo>
                  <a:pt x="-23618" y="2154219"/>
                  <a:pt x="18177" y="1906591"/>
                  <a:pt x="0" y="1777409"/>
                </a:cubicBezTo>
                <a:cubicBezTo>
                  <a:pt x="-18177" y="1648228"/>
                  <a:pt x="-9736" y="1356449"/>
                  <a:pt x="0" y="1223412"/>
                </a:cubicBezTo>
                <a:cubicBezTo>
                  <a:pt x="9736" y="1090375"/>
                  <a:pt x="16833" y="862591"/>
                  <a:pt x="0" y="715580"/>
                </a:cubicBezTo>
                <a:cubicBezTo>
                  <a:pt x="-16833" y="568569"/>
                  <a:pt x="13966" y="290526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Today we will see an example in </a:t>
            </a:r>
            <a:r>
              <a:rPr b="0" i="1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pandas</a:t>
            </a: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,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but the reasoning we will see are general 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and apply to all of them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87534F9-8C26-4EB1-9163-9D4ED2F3EFE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38080" y="2401200"/>
            <a:ext cx="1051236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TABULAR DATA OPERATIONS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6D1085B-0D73-4D00-9E9D-75AFEB898CD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Common operations on tabular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720000" y="1260000"/>
            <a:ext cx="10512360" cy="50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 information across tables (</a:t>
            </a: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join, anti-join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: e.g., combine table with experiments results with table with experiments metadata (date, location, experimenter, free-form notes, …)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Anti-join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: e.g. student compiles list of outliers, exclude them from 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h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 table of experiments to analyze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Summary tables (</a:t>
            </a: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split-apply-combine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E.g., compute average measurement and standard deviation by experimental condition and treatment dosage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Window functions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to vectorize complex computations over groups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E.g., compute some operation considering more than one row at the time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Libraries are optimized to operate on tabular 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b="0" lang="en-CH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Today we will focus on one of these operations and understand why it is important to use vectorized operations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dt" idx="12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2CF6877-FF63-44A7-AB15-0859B560B29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Common operations on tabular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720000" y="1260000"/>
            <a:ext cx="10512360" cy="50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 information across tables (</a:t>
            </a: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join, anti-join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: e.g., combine table with experiments results with table with experiments metadata (date, location, experimenter, free-form notes, …)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Anti-join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: e.g. student compiles list of outliers, exclude them from t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h</a:t>
            </a: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 table of experiments to analyze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Summary tables (</a:t>
            </a: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split-apply-combine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E.g., compute average measurement and standard deviation by experimental condition and treatment dosage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4920" indent="-214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Window functions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to vectorize complex computations over groups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9800" indent="-214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E.g., compute some operation considering more than one row at the time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Libraries are optimized to operate on tabular data.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→ </a:t>
            </a:r>
            <a:r>
              <a:rPr b="0" lang="en-CH" sz="2800" strike="noStrike" u="none">
                <a:solidFill>
                  <a:srgbClr val="ff0000"/>
                </a:solidFill>
                <a:effectLst/>
                <a:uFillTx/>
                <a:latin typeface="Calibri"/>
                <a:ea typeface="DejaVu Sans"/>
              </a:rPr>
              <a:t>Today we will focus on one of these operations and understand why it is important to use vectorized operations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dt" idx="12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540360" y="2880360"/>
            <a:ext cx="10619640" cy="1079640"/>
          </a:xfrm>
          <a:prstGeom prst="roundRect">
            <a:avLst>
              <a:gd name="adj" fmla="val 16667"/>
            </a:avLst>
          </a:prstGeom>
          <a:noFill/>
          <a:ln w="72000">
            <a:solidFill>
              <a:srgbClr val="f10d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81000" bIns="81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"/>
          <p:cNvSpPr/>
          <p:nvPr/>
        </p:nvSpPr>
        <p:spPr>
          <a:xfrm>
            <a:off x="540360" y="1224000"/>
            <a:ext cx="10619640" cy="1620000"/>
          </a:xfrm>
          <a:prstGeom prst="roundRect">
            <a:avLst>
              <a:gd name="adj" fmla="val 16667"/>
            </a:avLst>
          </a:prstGeom>
          <a:noFill/>
          <a:ln w="72000">
            <a:solidFill>
              <a:srgbClr val="81d4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rIns="126000" tIns="81000" bIns="81000" anchor="ctr">
            <a:noAutofit/>
          </a:bodyPr>
          <a:p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442D02A-9C44-4620-97D6-D10361F3343D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Split-apply-combine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A00A93E-51C3-4AED-924C-903ED2BD4856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The basic structure of most numerical analyses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dt" idx="12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Picture 36" descr=""/>
          <p:cNvPicPr/>
          <p:nvPr/>
        </p:nvPicPr>
        <p:blipFill>
          <a:blip r:embed="rId1"/>
          <a:stretch/>
        </p:blipFill>
        <p:spPr>
          <a:xfrm>
            <a:off x="3935880" y="2162520"/>
            <a:ext cx="2883600" cy="455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37" descr=""/>
          <p:cNvPicPr/>
          <p:nvPr/>
        </p:nvPicPr>
        <p:blipFill>
          <a:blip r:embed="rId2"/>
          <a:stretch/>
        </p:blipFill>
        <p:spPr>
          <a:xfrm>
            <a:off x="7584840" y="2500560"/>
            <a:ext cx="1473840" cy="36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Picture 38" descr=""/>
          <p:cNvPicPr/>
          <p:nvPr/>
        </p:nvPicPr>
        <p:blipFill>
          <a:blip r:embed="rId3"/>
          <a:stretch/>
        </p:blipFill>
        <p:spPr>
          <a:xfrm>
            <a:off x="9859680" y="2999880"/>
            <a:ext cx="180900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Picture 39" descr=""/>
          <p:cNvPicPr/>
          <p:nvPr/>
        </p:nvPicPr>
        <p:blipFill>
          <a:blip r:embed="rId4"/>
          <a:stretch/>
        </p:blipFill>
        <p:spPr>
          <a:xfrm>
            <a:off x="460080" y="2783880"/>
            <a:ext cx="2661120" cy="25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TextBox 68"/>
          <p:cNvSpPr/>
          <p:nvPr/>
        </p:nvSpPr>
        <p:spPr>
          <a:xfrm>
            <a:off x="2617920" y="132192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69"/>
          <p:cNvSpPr/>
          <p:nvPr/>
        </p:nvSpPr>
        <p:spPr>
          <a:xfrm>
            <a:off x="6311880" y="132192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70"/>
          <p:cNvSpPr/>
          <p:nvPr/>
        </p:nvSpPr>
        <p:spPr>
          <a:xfrm>
            <a:off x="9783360" y="132192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Straight Arrow Connector 31"/>
          <p:cNvCxnSpPr/>
          <p:nvPr/>
        </p:nvCxnSpPr>
        <p:spPr>
          <a:xfrm flipV="1">
            <a:off x="3287520" y="2783520"/>
            <a:ext cx="651240" cy="74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298" name="Straight Arrow Connector 32"/>
          <p:cNvCxnSpPr/>
          <p:nvPr/>
        </p:nvCxnSpPr>
        <p:spPr>
          <a:xfrm flipV="1">
            <a:off x="3281400" y="3784320"/>
            <a:ext cx="651240" cy="11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299" name="Straight Arrow Connector 33"/>
          <p:cNvCxnSpPr/>
          <p:nvPr/>
        </p:nvCxnSpPr>
        <p:spPr>
          <a:xfrm>
            <a:off x="3281760" y="4326480"/>
            <a:ext cx="640440" cy="3992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00" name="Straight Arrow Connector 34"/>
          <p:cNvCxnSpPr/>
          <p:nvPr/>
        </p:nvCxnSpPr>
        <p:spPr>
          <a:xfrm>
            <a:off x="3291840" y="5254200"/>
            <a:ext cx="640800" cy="11901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01" name="Straight Arrow Connector 35"/>
          <p:cNvCxnSpPr/>
          <p:nvPr/>
        </p:nvCxnSpPr>
        <p:spPr>
          <a:xfrm>
            <a:off x="3281400" y="4874760"/>
            <a:ext cx="651240" cy="75708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sp>
        <p:nvSpPr>
          <p:cNvPr id="302" name="TextBox 71"/>
          <p:cNvSpPr/>
          <p:nvPr/>
        </p:nvSpPr>
        <p:spPr>
          <a:xfrm>
            <a:off x="3228840" y="273456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72"/>
          <p:cNvSpPr/>
          <p:nvPr/>
        </p:nvSpPr>
        <p:spPr>
          <a:xfrm>
            <a:off x="3223800" y="3516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3"/>
          <p:cNvSpPr/>
          <p:nvPr/>
        </p:nvSpPr>
        <p:spPr>
          <a:xfrm>
            <a:off x="3223800" y="4020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74"/>
          <p:cNvSpPr/>
          <p:nvPr/>
        </p:nvSpPr>
        <p:spPr>
          <a:xfrm>
            <a:off x="3233520" y="475452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75"/>
          <p:cNvSpPr/>
          <p:nvPr/>
        </p:nvSpPr>
        <p:spPr>
          <a:xfrm>
            <a:off x="3233520" y="5244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ight Arrow 3"/>
          <p:cNvSpPr/>
          <p:nvPr/>
        </p:nvSpPr>
        <p:spPr>
          <a:xfrm>
            <a:off x="6996240" y="408924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08" name="TextBox 76"/>
          <p:cNvSpPr/>
          <p:nvPr/>
        </p:nvSpPr>
        <p:spPr>
          <a:xfrm>
            <a:off x="6837120" y="3702960"/>
            <a:ext cx="779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mean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Straight Arrow Connector 36"/>
          <p:cNvCxnSpPr/>
          <p:nvPr/>
        </p:nvCxnSpPr>
        <p:spPr>
          <a:xfrm>
            <a:off x="9076320" y="2923920"/>
            <a:ext cx="710280" cy="5958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10" name="Straight Arrow Connector 37"/>
          <p:cNvCxnSpPr/>
          <p:nvPr/>
        </p:nvCxnSpPr>
        <p:spPr>
          <a:xfrm>
            <a:off x="9076320" y="3645000"/>
            <a:ext cx="710280" cy="1987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11" name="Straight Arrow Connector 38"/>
          <p:cNvCxnSpPr/>
          <p:nvPr/>
        </p:nvCxnSpPr>
        <p:spPr>
          <a:xfrm flipV="1">
            <a:off x="9065520" y="4205160"/>
            <a:ext cx="721080" cy="21996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12" name="Straight Arrow Connector 39"/>
          <p:cNvCxnSpPr/>
          <p:nvPr/>
        </p:nvCxnSpPr>
        <p:spPr>
          <a:xfrm flipV="1">
            <a:off x="9076320" y="4421880"/>
            <a:ext cx="710280" cy="71064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13" name="Straight Arrow Connector 40"/>
          <p:cNvCxnSpPr/>
          <p:nvPr/>
        </p:nvCxnSpPr>
        <p:spPr>
          <a:xfrm flipV="1">
            <a:off x="9076320" y="4775400"/>
            <a:ext cx="710280" cy="11664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534F8FB-E745-438F-911F-F76B83B1383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dt" idx="12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Picture 40" descr=""/>
          <p:cNvPicPr/>
          <p:nvPr/>
        </p:nvPicPr>
        <p:blipFill>
          <a:blip r:embed="rId1"/>
          <a:stretch/>
        </p:blipFill>
        <p:spPr>
          <a:xfrm>
            <a:off x="3935880" y="2162520"/>
            <a:ext cx="2883600" cy="455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Picture 41" descr=""/>
          <p:cNvPicPr/>
          <p:nvPr/>
        </p:nvPicPr>
        <p:blipFill>
          <a:blip r:embed="rId2"/>
          <a:stretch/>
        </p:blipFill>
        <p:spPr>
          <a:xfrm>
            <a:off x="7584840" y="2500560"/>
            <a:ext cx="1473840" cy="36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43" descr=""/>
          <p:cNvPicPr/>
          <p:nvPr/>
        </p:nvPicPr>
        <p:blipFill>
          <a:blip r:embed="rId3"/>
          <a:stretch/>
        </p:blipFill>
        <p:spPr>
          <a:xfrm>
            <a:off x="9859680" y="2999880"/>
            <a:ext cx="180900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Picture 44" descr=""/>
          <p:cNvPicPr/>
          <p:nvPr/>
        </p:nvPicPr>
        <p:blipFill>
          <a:blip r:embed="rId4"/>
          <a:stretch/>
        </p:blipFill>
        <p:spPr>
          <a:xfrm>
            <a:off x="460080" y="2783880"/>
            <a:ext cx="2661120" cy="25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Box 81"/>
          <p:cNvSpPr/>
          <p:nvPr/>
        </p:nvSpPr>
        <p:spPr>
          <a:xfrm>
            <a:off x="2617920" y="132192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82"/>
          <p:cNvSpPr/>
          <p:nvPr/>
        </p:nvSpPr>
        <p:spPr>
          <a:xfrm>
            <a:off x="6311880" y="132192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83"/>
          <p:cNvSpPr/>
          <p:nvPr/>
        </p:nvSpPr>
        <p:spPr>
          <a:xfrm>
            <a:off x="9783360" y="132192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2" name="Straight Arrow Connector 41"/>
          <p:cNvCxnSpPr/>
          <p:nvPr/>
        </p:nvCxnSpPr>
        <p:spPr>
          <a:xfrm flipV="1">
            <a:off x="3287520" y="2783520"/>
            <a:ext cx="651240" cy="74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23" name="Straight Arrow Connector 43"/>
          <p:cNvCxnSpPr/>
          <p:nvPr/>
        </p:nvCxnSpPr>
        <p:spPr>
          <a:xfrm flipV="1">
            <a:off x="3281400" y="3784320"/>
            <a:ext cx="651240" cy="11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24" name="Straight Arrow Connector 45"/>
          <p:cNvCxnSpPr/>
          <p:nvPr/>
        </p:nvCxnSpPr>
        <p:spPr>
          <a:xfrm>
            <a:off x="3281760" y="4326480"/>
            <a:ext cx="640440" cy="3992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25" name="Straight Arrow Connector 46"/>
          <p:cNvCxnSpPr/>
          <p:nvPr/>
        </p:nvCxnSpPr>
        <p:spPr>
          <a:xfrm>
            <a:off x="3291840" y="5254200"/>
            <a:ext cx="640800" cy="11901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326" name="Straight Arrow Connector 47"/>
          <p:cNvCxnSpPr/>
          <p:nvPr/>
        </p:nvCxnSpPr>
        <p:spPr>
          <a:xfrm>
            <a:off x="3281400" y="4874760"/>
            <a:ext cx="651240" cy="75708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sp>
        <p:nvSpPr>
          <p:cNvPr id="327" name="TextBox 84"/>
          <p:cNvSpPr/>
          <p:nvPr/>
        </p:nvSpPr>
        <p:spPr>
          <a:xfrm>
            <a:off x="3228840" y="273456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85"/>
          <p:cNvSpPr/>
          <p:nvPr/>
        </p:nvSpPr>
        <p:spPr>
          <a:xfrm>
            <a:off x="3223800" y="3516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86"/>
          <p:cNvSpPr/>
          <p:nvPr/>
        </p:nvSpPr>
        <p:spPr>
          <a:xfrm>
            <a:off x="3223800" y="4020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87"/>
          <p:cNvSpPr/>
          <p:nvPr/>
        </p:nvSpPr>
        <p:spPr>
          <a:xfrm>
            <a:off x="3233520" y="475452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88"/>
          <p:cNvSpPr/>
          <p:nvPr/>
        </p:nvSpPr>
        <p:spPr>
          <a:xfrm>
            <a:off x="3233520" y="5244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ight Arrow 5"/>
          <p:cNvSpPr/>
          <p:nvPr/>
        </p:nvSpPr>
        <p:spPr>
          <a:xfrm>
            <a:off x="6996240" y="408924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33" name="TextBox 89"/>
          <p:cNvSpPr/>
          <p:nvPr/>
        </p:nvSpPr>
        <p:spPr>
          <a:xfrm>
            <a:off x="6837120" y="3702960"/>
            <a:ext cx="779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mean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4" name="Straight Arrow Connector 49"/>
          <p:cNvCxnSpPr/>
          <p:nvPr/>
        </p:nvCxnSpPr>
        <p:spPr>
          <a:xfrm>
            <a:off x="9076320" y="2923920"/>
            <a:ext cx="710280" cy="5958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35" name="Straight Arrow Connector 50"/>
          <p:cNvCxnSpPr/>
          <p:nvPr/>
        </p:nvCxnSpPr>
        <p:spPr>
          <a:xfrm>
            <a:off x="9076320" y="3645000"/>
            <a:ext cx="710280" cy="1987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36" name="Straight Arrow Connector 51"/>
          <p:cNvCxnSpPr/>
          <p:nvPr/>
        </p:nvCxnSpPr>
        <p:spPr>
          <a:xfrm flipV="1">
            <a:off x="9065520" y="4205160"/>
            <a:ext cx="721080" cy="21996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37" name="Straight Arrow Connector 52"/>
          <p:cNvCxnSpPr/>
          <p:nvPr/>
        </p:nvCxnSpPr>
        <p:spPr>
          <a:xfrm flipV="1">
            <a:off x="9076320" y="4421880"/>
            <a:ext cx="710280" cy="71064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38" name="Straight Arrow Connector 53"/>
          <p:cNvCxnSpPr/>
          <p:nvPr/>
        </p:nvCxnSpPr>
        <p:spPr>
          <a:xfrm flipV="1">
            <a:off x="9076320" y="4775400"/>
            <a:ext cx="710280" cy="11664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339" name="TextBox 90"/>
          <p:cNvSpPr/>
          <p:nvPr/>
        </p:nvSpPr>
        <p:spPr>
          <a:xfrm>
            <a:off x="515520" y="293760"/>
            <a:ext cx="11157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8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907AF710-ED8C-4B5A-B577-7BDDB3C579E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Split-apply-combine 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Tabular data tools have a way to vectorize the standard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split-apply-combine operations, using a “group-by” command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 addition, Pandas has got a “pivot-table” command that can be used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to simplify the creation of more complex summary tables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CFDE064-6D91-4E5A-9FE8-0B536E1E81C6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dt" idx="12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4" name="Picture 45" descr=""/>
          <p:cNvPicPr/>
          <p:nvPr/>
        </p:nvPicPr>
        <p:blipFill>
          <a:blip r:embed="rId1"/>
          <a:stretch/>
        </p:blipFill>
        <p:spPr>
          <a:xfrm>
            <a:off x="1775520" y="2645640"/>
            <a:ext cx="3396240" cy="33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Box 91"/>
          <p:cNvSpPr/>
          <p:nvPr/>
        </p:nvSpPr>
        <p:spPr>
          <a:xfrm>
            <a:off x="9984600" y="47664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92"/>
          <p:cNvSpPr/>
          <p:nvPr/>
        </p:nvSpPr>
        <p:spPr>
          <a:xfrm>
            <a:off x="9984600" y="121428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93"/>
          <p:cNvSpPr/>
          <p:nvPr/>
        </p:nvSpPr>
        <p:spPr>
          <a:xfrm>
            <a:off x="9987480" y="201744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94"/>
          <p:cNvSpPr/>
          <p:nvPr/>
        </p:nvSpPr>
        <p:spPr>
          <a:xfrm>
            <a:off x="515520" y="325800"/>
            <a:ext cx="111578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data.pivot_table(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28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index='condition_id', columns='response'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,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values='response_time', aggfunc='mean',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46" descr=""/>
          <p:cNvPicPr/>
          <p:nvPr/>
        </p:nvPicPr>
        <p:blipFill>
          <a:blip r:embed="rId2"/>
          <a:stretch/>
        </p:blipFill>
        <p:spPr>
          <a:xfrm>
            <a:off x="6966000" y="3065400"/>
            <a:ext cx="2371680" cy="246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Right Arrow 6"/>
          <p:cNvSpPr/>
          <p:nvPr/>
        </p:nvSpPr>
        <p:spPr>
          <a:xfrm>
            <a:off x="5818320" y="386712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78E7C99-3FE5-4AA1-82C6-907B52366A9B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13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Exercise on s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plit-apply-combine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Tuberculosis dataset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Two parts: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First part works well → green sticker when done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Second part doesn’t work because it’s not tidy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Submit a PR on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git.aspp.school/ASPP/...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dt" idx="12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TextBox 95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5" name="Graphic 12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TextBox 96"/>
          <p:cNvSpPr/>
          <p:nvPr/>
        </p:nvSpPr>
        <p:spPr>
          <a:xfrm>
            <a:off x="8301960" y="542880"/>
            <a:ext cx="3479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</a:t>
            </a: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….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title"/>
          </p:nvPr>
        </p:nvSpPr>
        <p:spPr>
          <a:xfrm>
            <a:off x="346680" y="365040"/>
            <a:ext cx="689544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br>
              <a:rPr sz="4400"/>
            </a:b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E148585-ABA2-4DA4-835D-3B33A5959990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Runtime split-apply-combine vs. for-loop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540000" y="1286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(show here graph with runtime as a function of increasing N, for both types of implementations (in colors). Similar to the graphs of the first part of this data lecture)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Derive performance in O notation  for both examples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Conclusion: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Don’t do for-loops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If you’re doing for-loops, you’re doing it wrong.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D37C06B-2B80-444E-91D9-E29CAECFF7F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286D368-3CB7-4613-92C0-BC7B967CCA7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Tidy </a:t>
            </a: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Data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dt" idx="13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99C10AEA-64A4-4DFD-A49F-26A6A7E1F28A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Same data, different organization</a:t>
            </a:r>
            <a:br>
              <a:rPr sz="4400"/>
            </a:b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Which one is best for data analysis?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dt" idx="13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Picture 6" descr=""/>
          <p:cNvPicPr/>
          <p:nvPr/>
        </p:nvPicPr>
        <p:blipFill>
          <a:blip r:embed="rId1"/>
          <a:stretch/>
        </p:blipFill>
        <p:spPr>
          <a:xfrm>
            <a:off x="6527880" y="3078000"/>
            <a:ext cx="4365720" cy="150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Picture 7" descr=""/>
          <p:cNvPicPr/>
          <p:nvPr/>
        </p:nvPicPr>
        <p:blipFill>
          <a:blip r:embed="rId2"/>
          <a:stretch/>
        </p:blipFill>
        <p:spPr>
          <a:xfrm>
            <a:off x="551520" y="2119320"/>
            <a:ext cx="5381640" cy="125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Picture 8" descr=""/>
          <p:cNvPicPr/>
          <p:nvPr/>
        </p:nvPicPr>
        <p:blipFill>
          <a:blip r:embed="rId3"/>
          <a:stretch/>
        </p:blipFill>
        <p:spPr>
          <a:xfrm>
            <a:off x="2927520" y="3944160"/>
            <a:ext cx="2917800" cy="227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569568F-EDE2-4B98-8BDB-D60E46D14B7B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Same data, different organization</a:t>
            </a:r>
            <a:br>
              <a:rPr sz="4400"/>
            </a:b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Which one is best for data analysis?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0" name="Picture 6" descr=""/>
          <p:cNvPicPr/>
          <p:nvPr/>
        </p:nvPicPr>
        <p:blipFill>
          <a:blip r:embed="rId1"/>
          <a:stretch/>
        </p:blipFill>
        <p:spPr>
          <a:xfrm>
            <a:off x="6527880" y="3078000"/>
            <a:ext cx="4365720" cy="150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Picture 7" descr=""/>
          <p:cNvPicPr/>
          <p:nvPr/>
        </p:nvPicPr>
        <p:blipFill>
          <a:blip r:embed="rId2"/>
          <a:stretch/>
        </p:blipFill>
        <p:spPr>
          <a:xfrm>
            <a:off x="551520" y="2119320"/>
            <a:ext cx="5381640" cy="125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Picture 8" descr=""/>
          <p:cNvPicPr/>
          <p:nvPr/>
        </p:nvPicPr>
        <p:blipFill>
          <a:blip r:embed="rId3"/>
          <a:stretch/>
        </p:blipFill>
        <p:spPr>
          <a:xfrm>
            <a:off x="2927520" y="3944160"/>
            <a:ext cx="2917800" cy="227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TextBox 2"/>
          <p:cNvSpPr/>
          <p:nvPr/>
        </p:nvSpPr>
        <p:spPr>
          <a:xfrm>
            <a:off x="1620000" y="1772640"/>
            <a:ext cx="8639640" cy="3377880"/>
          </a:xfrm>
          <a:custGeom>
            <a:avLst/>
            <a:gdLst>
              <a:gd name="textAreaLeft" fmla="*/ 0 w 8639640"/>
              <a:gd name="textAreaRight" fmla="*/ 8643960 w 8639640"/>
              <a:gd name="textAreaTop" fmla="*/ 0 h 3377880"/>
              <a:gd name="textAreaBottom" fmla="*/ 3382200 h 3377880"/>
            </a:gdLst>
            <a:ahLst/>
            <a:cxnLst/>
            <a:rect l="textAreaLeft" t="textAreaTop" r="textAreaRight" b="textAreaBottom"/>
            <a:pathLst>
              <a:path fill="none" w="5712296" h="2308324">
                <a:moveTo>
                  <a:pt x="0" y="0"/>
                </a:moveTo>
                <a:cubicBezTo>
                  <a:pt x="170481" y="12395"/>
                  <a:pt x="474495" y="4923"/>
                  <a:pt x="691823" y="0"/>
                </a:cubicBezTo>
                <a:cubicBezTo>
                  <a:pt x="909151" y="-4923"/>
                  <a:pt x="1025161" y="11703"/>
                  <a:pt x="1155153" y="0"/>
                </a:cubicBezTo>
                <a:cubicBezTo>
                  <a:pt x="1285145" y="-11703"/>
                  <a:pt x="1576417" y="299"/>
                  <a:pt x="1732730" y="0"/>
                </a:cubicBezTo>
                <a:cubicBezTo>
                  <a:pt x="1889043" y="-299"/>
                  <a:pt x="2130093" y="16857"/>
                  <a:pt x="2481675" y="0"/>
                </a:cubicBezTo>
                <a:cubicBezTo>
                  <a:pt x="2833257" y="-16857"/>
                  <a:pt x="2873551" y="17793"/>
                  <a:pt x="3116375" y="0"/>
                </a:cubicBezTo>
                <a:cubicBezTo>
                  <a:pt x="3359199" y="-17793"/>
                  <a:pt x="3543615" y="15531"/>
                  <a:pt x="3808197" y="0"/>
                </a:cubicBezTo>
                <a:cubicBezTo>
                  <a:pt x="4072779" y="-15531"/>
                  <a:pt x="4244086" y="-26212"/>
                  <a:pt x="4385774" y="0"/>
                </a:cubicBezTo>
                <a:cubicBezTo>
                  <a:pt x="4527462" y="26212"/>
                  <a:pt x="4804411" y="-17362"/>
                  <a:pt x="5020473" y="0"/>
                </a:cubicBezTo>
                <a:cubicBezTo>
                  <a:pt x="5236535" y="17362"/>
                  <a:pt x="5483850" y="13915"/>
                  <a:pt x="5712296" y="0"/>
                </a:cubicBezTo>
                <a:cubicBezTo>
                  <a:pt x="5698337" y="227921"/>
                  <a:pt x="5726828" y="309662"/>
                  <a:pt x="5712296" y="530915"/>
                </a:cubicBezTo>
                <a:cubicBezTo>
                  <a:pt x="5697764" y="752169"/>
                  <a:pt x="5697572" y="832379"/>
                  <a:pt x="5712296" y="1038746"/>
                </a:cubicBezTo>
                <a:cubicBezTo>
                  <a:pt x="5727020" y="1245113"/>
                  <a:pt x="5718057" y="1350161"/>
                  <a:pt x="5712296" y="1569660"/>
                </a:cubicBezTo>
                <a:cubicBezTo>
                  <a:pt x="5706535" y="1789159"/>
                  <a:pt x="5715761" y="2034313"/>
                  <a:pt x="5712296" y="2308324"/>
                </a:cubicBezTo>
                <a:cubicBezTo>
                  <a:pt x="5427327" y="2287513"/>
                  <a:pt x="5344141" y="2327301"/>
                  <a:pt x="5077596" y="2308324"/>
                </a:cubicBezTo>
                <a:cubicBezTo>
                  <a:pt x="4811051" y="2289347"/>
                  <a:pt x="4588159" y="2292673"/>
                  <a:pt x="4442897" y="2308324"/>
                </a:cubicBezTo>
                <a:cubicBezTo>
                  <a:pt x="4297635" y="2323975"/>
                  <a:pt x="4142033" y="2304319"/>
                  <a:pt x="3922443" y="2308324"/>
                </a:cubicBezTo>
                <a:cubicBezTo>
                  <a:pt x="3702853" y="2312329"/>
                  <a:pt x="3448460" y="2301342"/>
                  <a:pt x="3287744" y="2308324"/>
                </a:cubicBezTo>
                <a:cubicBezTo>
                  <a:pt x="3127028" y="2315306"/>
                  <a:pt x="2908419" y="2286204"/>
                  <a:pt x="2653044" y="2308324"/>
                </a:cubicBezTo>
                <a:cubicBezTo>
                  <a:pt x="2397669" y="2330444"/>
                  <a:pt x="2181981" y="2338620"/>
                  <a:pt x="2018345" y="2308324"/>
                </a:cubicBezTo>
                <a:cubicBezTo>
                  <a:pt x="1854709" y="2278028"/>
                  <a:pt x="1523819" y="2337051"/>
                  <a:pt x="1383645" y="2308324"/>
                </a:cubicBezTo>
                <a:cubicBezTo>
                  <a:pt x="1243471" y="2279597"/>
                  <a:pt x="1031240" y="2304491"/>
                  <a:pt x="806068" y="2308324"/>
                </a:cubicBezTo>
                <a:cubicBezTo>
                  <a:pt x="580896" y="2312157"/>
                  <a:pt x="347967" y="2325492"/>
                  <a:pt x="0" y="2308324"/>
                </a:cubicBezTo>
                <a:cubicBezTo>
                  <a:pt x="9212" y="2185053"/>
                  <a:pt x="-17414" y="1970670"/>
                  <a:pt x="0" y="1731243"/>
                </a:cubicBezTo>
                <a:cubicBezTo>
                  <a:pt x="17414" y="1491816"/>
                  <a:pt x="-10325" y="1313911"/>
                  <a:pt x="0" y="1131079"/>
                </a:cubicBezTo>
                <a:cubicBezTo>
                  <a:pt x="10325" y="948247"/>
                  <a:pt x="-25330" y="680352"/>
                  <a:pt x="0" y="530915"/>
                </a:cubicBezTo>
                <a:cubicBezTo>
                  <a:pt x="25330" y="381478"/>
                  <a:pt x="12113" y="149989"/>
                  <a:pt x="0" y="0"/>
                </a:cubicBezTo>
                <a:close/>
              </a:path>
              <a:path stroke="0" w="5712296" h="2308324">
                <a:moveTo>
                  <a:pt x="0" y="0"/>
                </a:moveTo>
                <a:cubicBezTo>
                  <a:pt x="117366" y="12157"/>
                  <a:pt x="427981" y="-1654"/>
                  <a:pt x="577577" y="0"/>
                </a:cubicBezTo>
                <a:cubicBezTo>
                  <a:pt x="727173" y="1654"/>
                  <a:pt x="919785" y="-10211"/>
                  <a:pt x="1040907" y="0"/>
                </a:cubicBezTo>
                <a:cubicBezTo>
                  <a:pt x="1162029" y="10211"/>
                  <a:pt x="1577922" y="25650"/>
                  <a:pt x="1789853" y="0"/>
                </a:cubicBezTo>
                <a:cubicBezTo>
                  <a:pt x="2001784" y="-25650"/>
                  <a:pt x="2188209" y="-24222"/>
                  <a:pt x="2367429" y="0"/>
                </a:cubicBezTo>
                <a:cubicBezTo>
                  <a:pt x="2546649" y="24222"/>
                  <a:pt x="2756192" y="-23950"/>
                  <a:pt x="2945006" y="0"/>
                </a:cubicBezTo>
                <a:cubicBezTo>
                  <a:pt x="3133820" y="23950"/>
                  <a:pt x="3433459" y="-33367"/>
                  <a:pt x="3693951" y="0"/>
                </a:cubicBezTo>
                <a:cubicBezTo>
                  <a:pt x="3954443" y="33367"/>
                  <a:pt x="4032117" y="-813"/>
                  <a:pt x="4214405" y="0"/>
                </a:cubicBezTo>
                <a:cubicBezTo>
                  <a:pt x="4396693" y="813"/>
                  <a:pt x="4790380" y="18167"/>
                  <a:pt x="4963351" y="0"/>
                </a:cubicBezTo>
                <a:cubicBezTo>
                  <a:pt x="5136322" y="-18167"/>
                  <a:pt x="5355621" y="-34473"/>
                  <a:pt x="5712296" y="0"/>
                </a:cubicBezTo>
                <a:cubicBezTo>
                  <a:pt x="5703245" y="275623"/>
                  <a:pt x="5730046" y="433797"/>
                  <a:pt x="5712296" y="577081"/>
                </a:cubicBezTo>
                <a:cubicBezTo>
                  <a:pt x="5694546" y="720365"/>
                  <a:pt x="5706106" y="925832"/>
                  <a:pt x="5712296" y="1154162"/>
                </a:cubicBezTo>
                <a:cubicBezTo>
                  <a:pt x="5718486" y="1382492"/>
                  <a:pt x="5707131" y="1562931"/>
                  <a:pt x="5712296" y="1754326"/>
                </a:cubicBezTo>
                <a:cubicBezTo>
                  <a:pt x="5717461" y="1945721"/>
                  <a:pt x="5715860" y="2077979"/>
                  <a:pt x="5712296" y="2308324"/>
                </a:cubicBezTo>
                <a:cubicBezTo>
                  <a:pt x="5577581" y="2308670"/>
                  <a:pt x="5224458" y="2290918"/>
                  <a:pt x="5077596" y="2308324"/>
                </a:cubicBezTo>
                <a:cubicBezTo>
                  <a:pt x="4930734" y="2325730"/>
                  <a:pt x="4790654" y="2322770"/>
                  <a:pt x="4557143" y="2308324"/>
                </a:cubicBezTo>
                <a:cubicBezTo>
                  <a:pt x="4323632" y="2293878"/>
                  <a:pt x="4066460" y="2312216"/>
                  <a:pt x="3922443" y="2308324"/>
                </a:cubicBezTo>
                <a:cubicBezTo>
                  <a:pt x="3778426" y="2304432"/>
                  <a:pt x="3352455" y="2286696"/>
                  <a:pt x="3173498" y="2308324"/>
                </a:cubicBezTo>
                <a:cubicBezTo>
                  <a:pt x="2994541" y="2329952"/>
                  <a:pt x="2709991" y="2308489"/>
                  <a:pt x="2538798" y="2308324"/>
                </a:cubicBezTo>
                <a:cubicBezTo>
                  <a:pt x="2367605" y="2308159"/>
                  <a:pt x="2190477" y="2285762"/>
                  <a:pt x="2075468" y="2308324"/>
                </a:cubicBezTo>
                <a:cubicBezTo>
                  <a:pt x="1960459" y="2330887"/>
                  <a:pt x="1781938" y="2316511"/>
                  <a:pt x="1555014" y="2308324"/>
                </a:cubicBezTo>
                <a:cubicBezTo>
                  <a:pt x="1328090" y="2300137"/>
                  <a:pt x="978738" y="2284534"/>
                  <a:pt x="806068" y="2308324"/>
                </a:cubicBezTo>
                <a:cubicBezTo>
                  <a:pt x="633398" y="2332114"/>
                  <a:pt x="358206" y="2331133"/>
                  <a:pt x="0" y="2308324"/>
                </a:cubicBezTo>
                <a:cubicBezTo>
                  <a:pt x="-23618" y="2154219"/>
                  <a:pt x="18177" y="1906591"/>
                  <a:pt x="0" y="1777409"/>
                </a:cubicBezTo>
                <a:cubicBezTo>
                  <a:pt x="-18177" y="1648228"/>
                  <a:pt x="-9736" y="1356449"/>
                  <a:pt x="0" y="1223412"/>
                </a:cubicBezTo>
                <a:cubicBezTo>
                  <a:pt x="9736" y="1090375"/>
                  <a:pt x="16833" y="862591"/>
                  <a:pt x="0" y="715580"/>
                </a:cubicBezTo>
                <a:cubicBezTo>
                  <a:pt x="-16833" y="568569"/>
                  <a:pt x="13966" y="290526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What do we want?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We want data to be in a natural format, such that we can make use of the optimizations already built in the library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(as we have already seen)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66CB7A7-FE91-4325-82CF-880F32A27C29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Tidy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dt" idx="13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76" name="Table 8"/>
          <p:cNvGraphicFramePr/>
          <p:nvPr/>
        </p:nvGraphicFramePr>
        <p:xfrm>
          <a:off x="2905200" y="2988000"/>
          <a:ext cx="6119640" cy="1664280"/>
        </p:xfrm>
        <a:graphic>
          <a:graphicData uri="http://schemas.openxmlformats.org/drawingml/2006/table">
            <a:tbl>
              <a:tblPr/>
              <a:tblGrid>
                <a:gridCol w="1224000"/>
                <a:gridCol w="1368000"/>
                <a:gridCol w="864000"/>
                <a:gridCol w="1152000"/>
                <a:gridCol w="15120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Subject ID 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Condition 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Trial nr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 time (ms)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CH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Response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28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VM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RIGHT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PB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665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CH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LEFT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77" name="TextBox 10"/>
          <p:cNvSpPr/>
          <p:nvPr/>
        </p:nvSpPr>
        <p:spPr>
          <a:xfrm>
            <a:off x="2764080" y="2329560"/>
            <a:ext cx="63997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2800" strike="noStrike" u="non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Variables (or features, attributes)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1"/>
          <p:cNvSpPr/>
          <p:nvPr/>
        </p:nvSpPr>
        <p:spPr>
          <a:xfrm rot="16200000">
            <a:off x="708480" y="3471840"/>
            <a:ext cx="2372040" cy="9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2800" strike="noStrike" u="none">
                <a:solidFill>
                  <a:schemeClr val="accent5"/>
                </a:solidFill>
                <a:effectLst/>
                <a:uFillTx/>
                <a:latin typeface="Calibri"/>
                <a:ea typeface="DejaVu Sans"/>
              </a:rPr>
              <a:t>Observations (or samples)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2"/>
          <p:cNvSpPr/>
          <p:nvPr/>
        </p:nvSpPr>
        <p:spPr>
          <a:xfrm>
            <a:off x="4223880" y="311400"/>
            <a:ext cx="6549480" cy="1915920"/>
          </a:xfrm>
          <a:custGeom>
            <a:avLst/>
            <a:gdLst>
              <a:gd name="textAreaLeft" fmla="*/ 0 w 6549480"/>
              <a:gd name="textAreaRight" fmla="*/ 6552720 w 6549480"/>
              <a:gd name="textAreaTop" fmla="*/ 0 h 1915920"/>
              <a:gd name="textAreaBottom" fmla="*/ 1919160 h 1915920"/>
            </a:gdLst>
            <a:ahLst/>
            <a:cxnLst/>
            <a:rect l="textAreaLeft" t="textAreaTop" r="textAreaRight" b="textAreaBottom"/>
            <a:pathLst>
              <a:path fill="none" w="6552728" h="1569660">
                <a:moveTo>
                  <a:pt x="0" y="0"/>
                </a:moveTo>
                <a:cubicBezTo>
                  <a:pt x="166419" y="-423"/>
                  <a:pt x="359212" y="-15014"/>
                  <a:pt x="524218" y="0"/>
                </a:cubicBezTo>
                <a:cubicBezTo>
                  <a:pt x="689224" y="15014"/>
                  <a:pt x="788676" y="-4207"/>
                  <a:pt x="1048436" y="0"/>
                </a:cubicBezTo>
                <a:cubicBezTo>
                  <a:pt x="1308196" y="4207"/>
                  <a:pt x="1291664" y="14801"/>
                  <a:pt x="1507127" y="0"/>
                </a:cubicBezTo>
                <a:cubicBezTo>
                  <a:pt x="1722590" y="-14801"/>
                  <a:pt x="1966041" y="7224"/>
                  <a:pt x="2293455" y="0"/>
                </a:cubicBezTo>
                <a:cubicBezTo>
                  <a:pt x="2620869" y="-7224"/>
                  <a:pt x="2527916" y="10517"/>
                  <a:pt x="2752146" y="0"/>
                </a:cubicBezTo>
                <a:cubicBezTo>
                  <a:pt x="2976376" y="-10517"/>
                  <a:pt x="3162926" y="28823"/>
                  <a:pt x="3472946" y="0"/>
                </a:cubicBezTo>
                <a:cubicBezTo>
                  <a:pt x="3782966" y="-28823"/>
                  <a:pt x="3740348" y="15487"/>
                  <a:pt x="3931637" y="0"/>
                </a:cubicBezTo>
                <a:cubicBezTo>
                  <a:pt x="4122926" y="-15487"/>
                  <a:pt x="4292237" y="-19151"/>
                  <a:pt x="4652437" y="0"/>
                </a:cubicBezTo>
                <a:cubicBezTo>
                  <a:pt x="5012637" y="19151"/>
                  <a:pt x="5176641" y="-9385"/>
                  <a:pt x="5307710" y="0"/>
                </a:cubicBezTo>
                <a:cubicBezTo>
                  <a:pt x="5438779" y="9385"/>
                  <a:pt x="5635367" y="24036"/>
                  <a:pt x="5831928" y="0"/>
                </a:cubicBezTo>
                <a:cubicBezTo>
                  <a:pt x="6028489" y="-24036"/>
                  <a:pt x="6315045" y="-1572"/>
                  <a:pt x="6552728" y="0"/>
                </a:cubicBezTo>
                <a:cubicBezTo>
                  <a:pt x="6578896" y="167135"/>
                  <a:pt x="6545030" y="433517"/>
                  <a:pt x="6552728" y="554613"/>
                </a:cubicBezTo>
                <a:cubicBezTo>
                  <a:pt x="6560426" y="675709"/>
                  <a:pt x="6558548" y="796698"/>
                  <a:pt x="6552728" y="1030743"/>
                </a:cubicBezTo>
                <a:cubicBezTo>
                  <a:pt x="6546909" y="1264788"/>
                  <a:pt x="6548253" y="1346613"/>
                  <a:pt x="6552728" y="1569660"/>
                </a:cubicBezTo>
                <a:cubicBezTo>
                  <a:pt x="6306048" y="1578089"/>
                  <a:pt x="6257480" y="1588739"/>
                  <a:pt x="6028510" y="1569660"/>
                </a:cubicBezTo>
                <a:cubicBezTo>
                  <a:pt x="5799540" y="1550581"/>
                  <a:pt x="5750000" y="1549130"/>
                  <a:pt x="5569819" y="1569660"/>
                </a:cubicBezTo>
                <a:cubicBezTo>
                  <a:pt x="5389638" y="1590190"/>
                  <a:pt x="5109329" y="1543701"/>
                  <a:pt x="4849019" y="1569660"/>
                </a:cubicBezTo>
                <a:cubicBezTo>
                  <a:pt x="4588709" y="1595619"/>
                  <a:pt x="4435227" y="1569163"/>
                  <a:pt x="4259273" y="1569660"/>
                </a:cubicBezTo>
                <a:cubicBezTo>
                  <a:pt x="4083319" y="1570157"/>
                  <a:pt x="3776601" y="1572099"/>
                  <a:pt x="3538473" y="1569660"/>
                </a:cubicBezTo>
                <a:cubicBezTo>
                  <a:pt x="3300345" y="1567221"/>
                  <a:pt x="3220535" y="1563996"/>
                  <a:pt x="3014255" y="1569660"/>
                </a:cubicBezTo>
                <a:cubicBezTo>
                  <a:pt x="2807975" y="1575324"/>
                  <a:pt x="2680474" y="1586876"/>
                  <a:pt x="2555564" y="1569660"/>
                </a:cubicBezTo>
                <a:cubicBezTo>
                  <a:pt x="2430654" y="1552444"/>
                  <a:pt x="1981924" y="1555011"/>
                  <a:pt x="1834764" y="1569660"/>
                </a:cubicBezTo>
                <a:cubicBezTo>
                  <a:pt x="1687604" y="1584309"/>
                  <a:pt x="1504110" y="1589358"/>
                  <a:pt x="1179491" y="1569660"/>
                </a:cubicBezTo>
                <a:cubicBezTo>
                  <a:pt x="854872" y="1549962"/>
                  <a:pt x="497714" y="1555029"/>
                  <a:pt x="0" y="1569660"/>
                </a:cubicBezTo>
                <a:cubicBezTo>
                  <a:pt x="-16176" y="1418876"/>
                  <a:pt x="23450" y="1211321"/>
                  <a:pt x="0" y="1046440"/>
                </a:cubicBezTo>
                <a:cubicBezTo>
                  <a:pt x="-23450" y="881559"/>
                  <a:pt x="-10584" y="681472"/>
                  <a:pt x="0" y="523220"/>
                </a:cubicBezTo>
                <a:cubicBezTo>
                  <a:pt x="10584" y="364968"/>
                  <a:pt x="8015" y="138700"/>
                  <a:pt x="0" y="0"/>
                </a:cubicBezTo>
                <a:close/>
              </a:path>
              <a:path stroke="0" w="6552728" h="1569660">
                <a:moveTo>
                  <a:pt x="0" y="0"/>
                </a:moveTo>
                <a:cubicBezTo>
                  <a:pt x="237273" y="21323"/>
                  <a:pt x="373062" y="16468"/>
                  <a:pt x="655273" y="0"/>
                </a:cubicBezTo>
                <a:cubicBezTo>
                  <a:pt x="937484" y="-16468"/>
                  <a:pt x="1225304" y="39289"/>
                  <a:pt x="1441600" y="0"/>
                </a:cubicBezTo>
                <a:cubicBezTo>
                  <a:pt x="1657896" y="-39289"/>
                  <a:pt x="1832535" y="-1542"/>
                  <a:pt x="2162400" y="0"/>
                </a:cubicBezTo>
                <a:cubicBezTo>
                  <a:pt x="2492265" y="1542"/>
                  <a:pt x="2728296" y="17429"/>
                  <a:pt x="2883200" y="0"/>
                </a:cubicBezTo>
                <a:cubicBezTo>
                  <a:pt x="3038104" y="-17429"/>
                  <a:pt x="3204829" y="7231"/>
                  <a:pt x="3472946" y="0"/>
                </a:cubicBezTo>
                <a:cubicBezTo>
                  <a:pt x="3741063" y="-7231"/>
                  <a:pt x="3807774" y="-16854"/>
                  <a:pt x="4062691" y="0"/>
                </a:cubicBezTo>
                <a:cubicBezTo>
                  <a:pt x="4317608" y="16854"/>
                  <a:pt x="4387418" y="-764"/>
                  <a:pt x="4521382" y="0"/>
                </a:cubicBezTo>
                <a:cubicBezTo>
                  <a:pt x="4655346" y="764"/>
                  <a:pt x="5016904" y="5362"/>
                  <a:pt x="5242182" y="0"/>
                </a:cubicBezTo>
                <a:cubicBezTo>
                  <a:pt x="5467460" y="-5362"/>
                  <a:pt x="5478829" y="3331"/>
                  <a:pt x="5700873" y="0"/>
                </a:cubicBezTo>
                <a:cubicBezTo>
                  <a:pt x="5922917" y="-3331"/>
                  <a:pt x="6214951" y="-10856"/>
                  <a:pt x="6552728" y="0"/>
                </a:cubicBezTo>
                <a:cubicBezTo>
                  <a:pt x="6548587" y="175294"/>
                  <a:pt x="6536344" y="339906"/>
                  <a:pt x="6552728" y="554613"/>
                </a:cubicBezTo>
                <a:cubicBezTo>
                  <a:pt x="6569112" y="769320"/>
                  <a:pt x="6539640" y="886963"/>
                  <a:pt x="6552728" y="1093530"/>
                </a:cubicBezTo>
                <a:cubicBezTo>
                  <a:pt x="6565816" y="1300097"/>
                  <a:pt x="6544049" y="1466238"/>
                  <a:pt x="6552728" y="1569660"/>
                </a:cubicBezTo>
                <a:cubicBezTo>
                  <a:pt x="6206451" y="1573109"/>
                  <a:pt x="6114152" y="1560077"/>
                  <a:pt x="5766401" y="1569660"/>
                </a:cubicBezTo>
                <a:cubicBezTo>
                  <a:pt x="5418650" y="1579243"/>
                  <a:pt x="5424681" y="1583451"/>
                  <a:pt x="5176655" y="1569660"/>
                </a:cubicBezTo>
                <a:cubicBezTo>
                  <a:pt x="4928629" y="1555869"/>
                  <a:pt x="4667278" y="1597241"/>
                  <a:pt x="4521382" y="1569660"/>
                </a:cubicBezTo>
                <a:cubicBezTo>
                  <a:pt x="4375486" y="1542079"/>
                  <a:pt x="4101707" y="1581799"/>
                  <a:pt x="3931637" y="1569660"/>
                </a:cubicBezTo>
                <a:cubicBezTo>
                  <a:pt x="3761568" y="1557521"/>
                  <a:pt x="3579898" y="1585538"/>
                  <a:pt x="3472946" y="1569660"/>
                </a:cubicBezTo>
                <a:cubicBezTo>
                  <a:pt x="3365994" y="1553782"/>
                  <a:pt x="3009255" y="1569223"/>
                  <a:pt x="2817673" y="1569660"/>
                </a:cubicBezTo>
                <a:cubicBezTo>
                  <a:pt x="2626091" y="1570097"/>
                  <a:pt x="2440158" y="1559255"/>
                  <a:pt x="2227928" y="1569660"/>
                </a:cubicBezTo>
                <a:cubicBezTo>
                  <a:pt x="2015699" y="1580065"/>
                  <a:pt x="1923066" y="1581389"/>
                  <a:pt x="1703709" y="1569660"/>
                </a:cubicBezTo>
                <a:cubicBezTo>
                  <a:pt x="1484352" y="1557931"/>
                  <a:pt x="1166821" y="1567437"/>
                  <a:pt x="982909" y="1569660"/>
                </a:cubicBezTo>
                <a:cubicBezTo>
                  <a:pt x="798997" y="1571883"/>
                  <a:pt x="248179" y="1599336"/>
                  <a:pt x="0" y="1569660"/>
                </a:cubicBezTo>
                <a:cubicBezTo>
                  <a:pt x="-3033" y="1415200"/>
                  <a:pt x="21133" y="1186207"/>
                  <a:pt x="0" y="1062137"/>
                </a:cubicBezTo>
                <a:cubicBezTo>
                  <a:pt x="-21133" y="938067"/>
                  <a:pt x="11829" y="822262"/>
                  <a:pt x="0" y="586006"/>
                </a:cubicBezTo>
                <a:cubicBezTo>
                  <a:pt x="-11829" y="349750"/>
                  <a:pt x="16853" y="271378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MR10"/>
                <a:ea typeface="DejaVu Sans"/>
              </a:rPr>
              <a:t>In tidy data: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MR10"/>
                <a:ea typeface="DejaVu Sans"/>
              </a:rPr>
              <a:t>1. Each variable forms a column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MR10"/>
                <a:ea typeface="DejaVu Sans"/>
              </a:rPr>
              <a:t>2. Each observation forms a row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MR10"/>
                <a:ea typeface="DejaVu Sans"/>
              </a:rPr>
              <a:t>3. Each type of observational unit forms a table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3"/>
          <p:cNvSpPr/>
          <p:nvPr/>
        </p:nvSpPr>
        <p:spPr>
          <a:xfrm>
            <a:off x="1050120" y="5146560"/>
            <a:ext cx="29347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  <a:ea typeface="DejaVu Sans"/>
              </a:rPr>
              <a:t>Observations</a:t>
            </a: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increase when new units (dates, subjects, …) are measured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9"/>
          <p:cNvSpPr/>
          <p:nvPr/>
        </p:nvSpPr>
        <p:spPr>
          <a:xfrm>
            <a:off x="9388800" y="2387880"/>
            <a:ext cx="2392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CH" sz="1800" strike="noStrike" u="none">
                <a:solidFill>
                  <a:schemeClr val="accent6"/>
                </a:solidFill>
                <a:effectLst/>
                <a:uFillTx/>
                <a:latin typeface="Calibri"/>
                <a:ea typeface="DejaVu Sans"/>
              </a:rPr>
              <a:t>Variables</a:t>
            </a: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increase when new types of measurements are introduced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1D7FD547-8840-4048-B16F-4534D83524A2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dt" idx="13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TextBox 13"/>
          <p:cNvSpPr/>
          <p:nvPr/>
        </p:nvSpPr>
        <p:spPr>
          <a:xfrm>
            <a:off x="386280" y="850680"/>
            <a:ext cx="5973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Identify variables, observations, and values. What would a tidy version look like?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"/>
          <p:cNvSpPr/>
          <p:nvPr/>
        </p:nvSpPr>
        <p:spPr>
          <a:xfrm>
            <a:off x="11052360" y="205920"/>
            <a:ext cx="824760" cy="6994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386" name="Graphic 11" descr=""/>
          <p:cNvPicPr/>
          <p:nvPr/>
        </p:nvPicPr>
        <p:blipFill>
          <a:blip r:embed="rId1"/>
          <a:stretch/>
        </p:blipFill>
        <p:spPr>
          <a:xfrm>
            <a:off x="11119320" y="27972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Picture 12" descr=""/>
          <p:cNvPicPr/>
          <p:nvPr/>
        </p:nvPicPr>
        <p:blipFill>
          <a:blip r:embed="rId2"/>
          <a:stretch/>
        </p:blipFill>
        <p:spPr>
          <a:xfrm>
            <a:off x="318600" y="2106360"/>
            <a:ext cx="7769160" cy="367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E72D642-C58C-43A8-9D24-4D659E2E3080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0" name="Picture 7" descr=""/>
          <p:cNvPicPr/>
          <p:nvPr/>
        </p:nvPicPr>
        <p:blipFill>
          <a:blip r:embed="rId1"/>
          <a:stretch/>
        </p:blipFill>
        <p:spPr>
          <a:xfrm>
            <a:off x="318600" y="2106360"/>
            <a:ext cx="7769160" cy="367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TextBox 13"/>
          <p:cNvSpPr/>
          <p:nvPr/>
        </p:nvSpPr>
        <p:spPr>
          <a:xfrm>
            <a:off x="386280" y="850680"/>
            <a:ext cx="5973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Identify variables, observations, and values. What would a tidy version look like?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Picture 14" descr=""/>
          <p:cNvPicPr/>
          <p:nvPr/>
        </p:nvPicPr>
        <p:blipFill>
          <a:blip r:embed="rId2"/>
          <a:stretch/>
        </p:blipFill>
        <p:spPr>
          <a:xfrm>
            <a:off x="8256240" y="2106360"/>
            <a:ext cx="3473640" cy="326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Rectangle 1"/>
          <p:cNvSpPr/>
          <p:nvPr/>
        </p:nvSpPr>
        <p:spPr>
          <a:xfrm>
            <a:off x="11052360" y="205920"/>
            <a:ext cx="824760" cy="6994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394" name="Graphic 11" descr=""/>
          <p:cNvPicPr/>
          <p:nvPr/>
        </p:nvPicPr>
        <p:blipFill>
          <a:blip r:embed="rId3"/>
          <a:stretch/>
        </p:blipFill>
        <p:spPr>
          <a:xfrm>
            <a:off x="11119320" y="27972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088D11B-DA6E-40A1-B42B-3132BA980F80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Messy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dt" idx="13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TextBox 6"/>
          <p:cNvSpPr/>
          <p:nvPr/>
        </p:nvSpPr>
        <p:spPr>
          <a:xfrm>
            <a:off x="6879600" y="244080"/>
            <a:ext cx="4893480" cy="1552680"/>
          </a:xfrm>
          <a:prstGeom prst="rect">
            <a:avLst/>
          </a:prstGeom>
          <a:solidFill>
            <a:srgbClr val="f20000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Baskerville"/>
                <a:ea typeface="Baskerville"/>
              </a:rPr>
              <a:t>“Tidy datasets are all alike but every messy dataset is messy in its own way” </a:t>
            </a:r>
            <a:br>
              <a:rPr sz="2400"/>
            </a:b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Baskerville"/>
                <a:ea typeface="Baskerville"/>
              </a:rPr>
              <a:t>– Hadley Wickham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Picture 8" descr=""/>
          <p:cNvPicPr/>
          <p:nvPr/>
        </p:nvPicPr>
        <p:blipFill>
          <a:blip r:embed="rId1"/>
          <a:stretch/>
        </p:blipFill>
        <p:spPr>
          <a:xfrm>
            <a:off x="3647880" y="4149000"/>
            <a:ext cx="2074320" cy="168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Box 9"/>
          <p:cNvSpPr/>
          <p:nvPr/>
        </p:nvSpPr>
        <p:spPr>
          <a:xfrm>
            <a:off x="3594600" y="2889360"/>
            <a:ext cx="1725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Column headers are values, not variable names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0"/>
          <p:cNvSpPr/>
          <p:nvPr/>
        </p:nvSpPr>
        <p:spPr>
          <a:xfrm>
            <a:off x="5254200" y="318240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1" name="Picture 11" descr=""/>
          <p:cNvPicPr/>
          <p:nvPr/>
        </p:nvPicPr>
        <p:blipFill>
          <a:blip r:embed="rId2"/>
          <a:stretch/>
        </p:blipFill>
        <p:spPr>
          <a:xfrm>
            <a:off x="565200" y="2919600"/>
            <a:ext cx="2522160" cy="234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Box 12"/>
          <p:cNvSpPr/>
          <p:nvPr/>
        </p:nvSpPr>
        <p:spPr>
          <a:xfrm>
            <a:off x="542880" y="1756440"/>
            <a:ext cx="1949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Variables are stored in both rows and columns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3"/>
          <p:cNvSpPr/>
          <p:nvPr/>
        </p:nvSpPr>
        <p:spPr>
          <a:xfrm>
            <a:off x="2376720" y="201204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4" name="Picture 14" descr=""/>
          <p:cNvPicPr/>
          <p:nvPr/>
        </p:nvPicPr>
        <p:blipFill>
          <a:blip r:embed="rId3"/>
          <a:stretch/>
        </p:blipFill>
        <p:spPr>
          <a:xfrm>
            <a:off x="9230040" y="3901320"/>
            <a:ext cx="2230920" cy="217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Box 15"/>
          <p:cNvSpPr/>
          <p:nvPr/>
        </p:nvSpPr>
        <p:spPr>
          <a:xfrm>
            <a:off x="9227880" y="2710440"/>
            <a:ext cx="1905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Multiple variables are stored in one column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6"/>
          <p:cNvSpPr/>
          <p:nvPr/>
        </p:nvSpPr>
        <p:spPr>
          <a:xfrm>
            <a:off x="11044800" y="287928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7"/>
          <p:cNvSpPr/>
          <p:nvPr/>
        </p:nvSpPr>
        <p:spPr>
          <a:xfrm>
            <a:off x="6187320" y="1749600"/>
            <a:ext cx="1725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Some variables are stored in the file names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8"/>
          <p:cNvSpPr/>
          <p:nvPr/>
        </p:nvSpPr>
        <p:spPr>
          <a:xfrm>
            <a:off x="7915320" y="188424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20"/>
          <p:cNvSpPr/>
          <p:nvPr/>
        </p:nvSpPr>
        <p:spPr>
          <a:xfrm>
            <a:off x="6187320" y="2890440"/>
            <a:ext cx="2687400" cy="106236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2024-01_prices_DE.csv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2024-01_prices_FR.csv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2024-02_prices_DE.csv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2024-02_prices_FR.csv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2A7B275E-41E9-4723-9F5D-79659B417BCB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335520" y="347400"/>
            <a:ext cx="914184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The life-changing magic of tidying up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Pivoting – we know this one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dt" idx="13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3" name="Picture 6" descr="Image"/>
          <p:cNvPicPr/>
          <p:nvPr/>
        </p:nvPicPr>
        <p:blipFill>
          <a:blip r:embed="rId1"/>
          <a:srcRect l="13464" t="0" r="8349" b="0"/>
          <a:stretch/>
        </p:blipFill>
        <p:spPr>
          <a:xfrm>
            <a:off x="9264240" y="588240"/>
            <a:ext cx="2718720" cy="34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Box 7"/>
          <p:cNvSpPr/>
          <p:nvPr/>
        </p:nvSpPr>
        <p:spPr>
          <a:xfrm>
            <a:off x="3180600" y="5094360"/>
            <a:ext cx="6261480" cy="1186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df.pivot_table(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index=['city', 'date'], columns='type’, </a:t>
            </a: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values='temperature', aggfunc='max’,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Picture 6" descr=""/>
          <p:cNvPicPr/>
          <p:nvPr/>
        </p:nvPicPr>
        <p:blipFill>
          <a:blip r:embed="rId2"/>
          <a:stretch/>
        </p:blipFill>
        <p:spPr>
          <a:xfrm>
            <a:off x="882720" y="2480760"/>
            <a:ext cx="2522160" cy="234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Picture 10" descr=""/>
          <p:cNvPicPr/>
          <p:nvPr/>
        </p:nvPicPr>
        <p:blipFill>
          <a:blip r:embed="rId3"/>
          <a:stretch/>
        </p:blipFill>
        <p:spPr>
          <a:xfrm>
            <a:off x="6022800" y="2629440"/>
            <a:ext cx="2550240" cy="182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Box 11"/>
          <p:cNvSpPr/>
          <p:nvPr/>
        </p:nvSpPr>
        <p:spPr>
          <a:xfrm>
            <a:off x="3800880" y="2127600"/>
            <a:ext cx="229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“type” column is storing variable names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ight Arrow 13"/>
          <p:cNvSpPr/>
          <p:nvPr/>
        </p:nvSpPr>
        <p:spPr>
          <a:xfrm>
            <a:off x="3945960" y="3754800"/>
            <a:ext cx="1766160" cy="428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19" name="TextBox 14"/>
          <p:cNvSpPr/>
          <p:nvPr/>
        </p:nvSpPr>
        <p:spPr>
          <a:xfrm>
            <a:off x="3963600" y="3465000"/>
            <a:ext cx="166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pivot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8"/>
          <p:cNvSpPr/>
          <p:nvPr/>
        </p:nvSpPr>
        <p:spPr>
          <a:xfrm>
            <a:off x="6018120" y="216180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2833EB6-854D-4E97-B974-3383025AE555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Picture 4" descr="Image"/>
          <p:cNvPicPr/>
          <p:nvPr/>
        </p:nvPicPr>
        <p:blipFill>
          <a:blip r:embed="rId1"/>
          <a:srcRect l="16022" t="0" r="5951" b="0"/>
          <a:stretch/>
        </p:blipFill>
        <p:spPr>
          <a:xfrm>
            <a:off x="9262800" y="581040"/>
            <a:ext cx="2718720" cy="348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335520" y="347400"/>
            <a:ext cx="914184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The life-changing magic of tidying up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Melting – it’s kind of the opposite of pivoting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5" name="Picture 8" descr=""/>
          <p:cNvPicPr/>
          <p:nvPr/>
        </p:nvPicPr>
        <p:blipFill>
          <a:blip r:embed="rId2"/>
          <a:stretch/>
        </p:blipFill>
        <p:spPr>
          <a:xfrm>
            <a:off x="1503000" y="2860200"/>
            <a:ext cx="2074320" cy="168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6" name="Picture 9" descr=""/>
          <p:cNvPicPr/>
          <p:nvPr/>
        </p:nvPicPr>
        <p:blipFill>
          <a:blip r:embed="rId3"/>
          <a:stretch/>
        </p:blipFill>
        <p:spPr>
          <a:xfrm>
            <a:off x="5969880" y="2067120"/>
            <a:ext cx="2867400" cy="298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Box 7"/>
          <p:cNvSpPr/>
          <p:nvPr/>
        </p:nvSpPr>
        <p:spPr>
          <a:xfrm>
            <a:off x="1379520" y="5172480"/>
            <a:ext cx="9429840" cy="363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pd.melt(data, id_vars=['subject', 'date'], value_name='response_time')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0"/>
          <p:cNvSpPr/>
          <p:nvPr/>
        </p:nvSpPr>
        <p:spPr>
          <a:xfrm>
            <a:off x="857160" y="1937160"/>
            <a:ext cx="21358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treatment values are stored as a column name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1"/>
          <p:cNvSpPr/>
          <p:nvPr/>
        </p:nvSpPr>
        <p:spPr>
          <a:xfrm>
            <a:off x="3024360" y="2192760"/>
            <a:ext cx="7138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8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ight Arrow 12"/>
          <p:cNvSpPr/>
          <p:nvPr/>
        </p:nvSpPr>
        <p:spPr>
          <a:xfrm>
            <a:off x="3945960" y="3487320"/>
            <a:ext cx="1766160" cy="428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31" name="TextBox 13"/>
          <p:cNvSpPr/>
          <p:nvPr/>
        </p:nvSpPr>
        <p:spPr>
          <a:xfrm>
            <a:off x="3963600" y="3197520"/>
            <a:ext cx="166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melt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6"/>
          <p:cNvSpPr/>
          <p:nvPr/>
        </p:nvSpPr>
        <p:spPr>
          <a:xfrm>
            <a:off x="1379520" y="5628240"/>
            <a:ext cx="961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 the columns in (A) “id_vars” and (B) non-”id_vars”. The column names in (B) are used as new values in a new column “variable”. The values in columns (B) go into a new column, “response_time”.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012E134-52C4-4845-9D53-EFC04751F633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Picture 2" descr="Image"/>
          <p:cNvPicPr/>
          <p:nvPr/>
        </p:nvPicPr>
        <p:blipFill>
          <a:blip r:embed="rId1"/>
          <a:srcRect l="2154" t="0" r="23761" b="5248"/>
          <a:stretch/>
        </p:blipFill>
        <p:spPr>
          <a:xfrm>
            <a:off x="9264240" y="588240"/>
            <a:ext cx="2718720" cy="34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335520" y="347400"/>
            <a:ext cx="914184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The life-changing magic of tidying up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813492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pd.concat </a:t>
            </a: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– add together tables with the same variables (columns)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dt" idx="13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789120" y="2541600"/>
            <a:ext cx="1725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Some variables are stored in the file names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4"/>
          <p:cNvSpPr/>
          <p:nvPr/>
        </p:nvSpPr>
        <p:spPr>
          <a:xfrm>
            <a:off x="2552400" y="2775960"/>
            <a:ext cx="7138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28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5"/>
          <p:cNvSpPr/>
          <p:nvPr/>
        </p:nvSpPr>
        <p:spPr>
          <a:xfrm>
            <a:off x="838080" y="3530880"/>
            <a:ext cx="2687400" cy="106236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2024-01_prices_DE.csv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2024-01_prices_FR.csv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2024-02_prices_DE.csv</a:t>
            </a: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2024-02_prices_FR.csv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16"/>
          <p:cNvSpPr/>
          <p:nvPr/>
        </p:nvSpPr>
        <p:spPr>
          <a:xfrm>
            <a:off x="4367880" y="2602080"/>
            <a:ext cx="6389280" cy="3495960"/>
          </a:xfrm>
          <a:prstGeom prst="rect">
            <a:avLst/>
          </a:prstGeom>
          <a:solidFill>
            <a:srgbClr val="e2f0d9">
              <a:alpha val="7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tables = []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for filename in filenames:   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# Parse filename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year_month, _, country = filename[:-4].split('_')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# Read table and add columns for the variables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df = pd.read_csv(filename)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# Add the variables that were in the filename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df['year_month'] = year_month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df['country’] = country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# Store table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tables.append(df)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# Create complete table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tidy_df = </a:t>
            </a: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pd.concat(tables)</a:t>
            </a:r>
            <a:r>
              <a:rPr b="1" lang="en-CH" sz="16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 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838F357-F9B8-4D39-8983-1DE7C9D12F69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2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Tidy up the data set in the tuberculosis exercise</a:t>
            </a:r>
            <a:br>
              <a:rPr sz="2800"/>
            </a:b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and compute the summary stats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Submit a PR on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git.aspp.school/ASPP/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2025-plovdiv-data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dt" idx="14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TextBox 9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6" name="Graphic 10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Picture 1" descr=""/>
          <p:cNvPicPr/>
          <p:nvPr/>
        </p:nvPicPr>
        <p:blipFill>
          <a:blip r:embed="rId2"/>
          <a:stretch/>
        </p:blipFill>
        <p:spPr>
          <a:xfrm>
            <a:off x="7506000" y="3141000"/>
            <a:ext cx="2986920" cy="290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TextBox 11"/>
          <p:cNvSpPr/>
          <p:nvPr/>
        </p:nvSpPr>
        <p:spPr>
          <a:xfrm>
            <a:off x="7527960" y="2102760"/>
            <a:ext cx="1913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Multiple variables are stored in one column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8"/>
          <p:cNvSpPr/>
          <p:nvPr/>
        </p:nvSpPr>
        <p:spPr>
          <a:xfrm>
            <a:off x="8301960" y="542880"/>
            <a:ext cx="34794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exercises/tabular_tidy_data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7"/>
          <p:cNvSpPr/>
          <p:nvPr/>
        </p:nvSpPr>
        <p:spPr>
          <a:xfrm>
            <a:off x="9595080" y="2243880"/>
            <a:ext cx="926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4000" strike="noStrike" u="none">
                <a:solidFill>
                  <a:srgbClr val="1f1f1f"/>
                </a:solidFill>
                <a:effectLst/>
                <a:highlight>
                  <a:srgbClr val="ffffff"/>
                </a:highlight>
                <a:uFillTx/>
                <a:latin typeface="Google Sans"/>
                <a:ea typeface="DejaVu Sans"/>
              </a:rPr>
              <a:t>😱 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57AF0BC-EE76-46B7-BC5A-5C39E2ACACE8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Rectangle 8"/>
          <p:cNvSpPr/>
          <p:nvPr/>
        </p:nvSpPr>
        <p:spPr>
          <a:xfrm>
            <a:off x="7838280" y="1054080"/>
            <a:ext cx="3885120" cy="5406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Why is tidy data good?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62625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Many analyses require a simple sequence of steps: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Filter by individual variables to discard data that is not needed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Group and summarize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Re-arrange (e.g. sort)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Visualize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Joining tidy tables is easy!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One can write generic code that takes tidy data as input. </a:t>
            </a:r>
            <a:br>
              <a:rPr sz="2400"/>
            </a:b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For example, </a:t>
            </a:r>
            <a:r>
              <a:rPr b="1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seaborn</a:t>
            </a: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relies on tidy data to make complex plots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TextBox 7"/>
          <p:cNvSpPr/>
          <p:nvPr/>
        </p:nvSpPr>
        <p:spPr>
          <a:xfrm>
            <a:off x="8449560" y="1370520"/>
            <a:ext cx="26622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sns</a:t>
            </a:r>
            <a:r>
              <a:rPr b="1" lang="en-US" sz="1800" strike="noStrike" u="none">
                <a:solidFill>
                  <a:srgbClr val="dba475"/>
                </a:solidFill>
                <a:effectLst/>
                <a:uFillTx/>
                <a:latin typeface="Consolas"/>
                <a:ea typeface="DejaVu Sans"/>
              </a:rPr>
              <a:t>.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swarmplot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(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data</a:t>
            </a:r>
            <a:r>
              <a:rPr b="1" lang="en-US" sz="1800" strike="noStrike" u="none">
                <a:solidFill>
                  <a:srgbClr val="dba475"/>
                </a:solidFill>
                <a:effectLst/>
                <a:uFillTx/>
                <a:latin typeface="Consolas"/>
                <a:ea typeface="DejaVu Sans"/>
              </a:rPr>
              <a:t>=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,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x</a:t>
            </a:r>
            <a:r>
              <a:rPr b="1" lang="en-US" sz="1800" strike="noStrike" u="none">
                <a:solidFill>
                  <a:srgbClr val="dba475"/>
                </a:solidFill>
                <a:effectLst/>
                <a:uFillTx/>
                <a:latin typeface="Consolas"/>
                <a:ea typeface="DejaVu Sans"/>
              </a:rPr>
              <a:t>=</a:t>
            </a:r>
            <a:r>
              <a:rPr b="0" lang="en-US" sz="1800" strike="noStrike" u="none">
                <a:solidFill>
                  <a:srgbClr val="4a6991"/>
                </a:solidFill>
                <a:effectLst/>
                <a:uFillTx/>
                <a:latin typeface="Consolas"/>
                <a:ea typeface="DejaVu Sans"/>
              </a:rPr>
              <a:t>"body_mass_g"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,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y</a:t>
            </a:r>
            <a:r>
              <a:rPr b="1" lang="en-US" sz="1800" strike="noStrike" u="none">
                <a:solidFill>
                  <a:srgbClr val="dba475"/>
                </a:solidFill>
                <a:effectLst/>
                <a:uFillTx/>
                <a:latin typeface="Consolas"/>
                <a:ea typeface="DejaVu Sans"/>
              </a:rPr>
              <a:t>=</a:t>
            </a:r>
            <a:r>
              <a:rPr b="0" lang="en-US" sz="1800" strike="noStrike" u="none">
                <a:solidFill>
                  <a:srgbClr val="4a6991"/>
                </a:solidFill>
                <a:effectLst/>
                <a:uFillTx/>
                <a:latin typeface="Consolas"/>
                <a:ea typeface="DejaVu Sans"/>
              </a:rPr>
              <a:t>"sex"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,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hue</a:t>
            </a:r>
            <a:r>
              <a:rPr b="1" lang="en-US" sz="1800" strike="noStrike" u="none">
                <a:solidFill>
                  <a:srgbClr val="dba475"/>
                </a:solidFill>
                <a:effectLst/>
                <a:uFillTx/>
                <a:latin typeface="Consolas"/>
                <a:ea typeface="DejaVu Sans"/>
              </a:rPr>
              <a:t>=</a:t>
            </a:r>
            <a:r>
              <a:rPr b="0" lang="en-US" sz="1800" strike="noStrike" u="none">
                <a:solidFill>
                  <a:srgbClr val="4a6991"/>
                </a:solidFill>
                <a:effectLst/>
                <a:uFillTx/>
                <a:latin typeface="Consolas"/>
                <a:ea typeface="DejaVu Sans"/>
              </a:rPr>
              <a:t>"species”,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6" name="Picture 2" descr=""/>
          <p:cNvPicPr/>
          <p:nvPr/>
        </p:nvPicPr>
        <p:blipFill>
          <a:blip r:embed="rId1"/>
          <a:stretch/>
        </p:blipFill>
        <p:spPr>
          <a:xfrm>
            <a:off x="7968240" y="3440880"/>
            <a:ext cx="3625200" cy="273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35AB332-6AEC-41D2-9046-0A10834BBC65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Global summary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There are many different data structures, each specialized in efficiently processing one type of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Code performance grows differently with data size: Big-O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array efficiently store data in a C-native memory block, interpreted as an array using some metadata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NumPy operations that only need to change the metadata do so, creating a view of the same memory block. These operations are O(1)!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Tabular data can also be vectorized using joins, anti-joins, split-apply-combine operations, and window functions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For these operations to be efficient and painless, data should be stored in a tidy data format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dt" idx="14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80F16BE-5422-4E51-B0B6-DDBD6580356E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What we didn’t talk about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Other data structures: graphs, trees, priority queues, …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Options for working with large data on disk / remotely (instead of in-memory)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Best practices in data handling: versioning, lineage, sharing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Organizing a complex data set in multiple tables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… and a lot more!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dt" idx="14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3" name="Picture 32" descr="The Data Warehouse Toolkit"/>
          <p:cNvPicPr/>
          <p:nvPr/>
        </p:nvPicPr>
        <p:blipFill>
          <a:blip r:embed="rId1"/>
          <a:stretch/>
        </p:blipFill>
        <p:spPr>
          <a:xfrm>
            <a:off x="9776160" y="3605400"/>
            <a:ext cx="1938600" cy="244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4" name="Picture 33" descr=""/>
          <p:cNvPicPr/>
          <p:nvPr/>
        </p:nvPicPr>
        <p:blipFill>
          <a:blip r:embed="rId2"/>
          <a:stretch/>
        </p:blipFill>
        <p:spPr>
          <a:xfrm>
            <a:off x="473760" y="3863160"/>
            <a:ext cx="4026960" cy="216648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465" name="Picture 34" descr=""/>
          <p:cNvPicPr/>
          <p:nvPr/>
        </p:nvPicPr>
        <p:blipFill>
          <a:blip r:embed="rId3"/>
          <a:stretch/>
        </p:blipFill>
        <p:spPr>
          <a:xfrm>
            <a:off x="4816800" y="3867480"/>
            <a:ext cx="4505760" cy="2183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7F6AC99-E27B-4FB0-85C2-CF7C34E4DC4D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07520" y="2493000"/>
            <a:ext cx="5254560" cy="18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72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Thank you!</a:t>
            </a:r>
            <a:endParaRPr b="0" lang="en-GB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8" name="Picture 35" descr="Image"/>
          <p:cNvPicPr/>
          <p:nvPr/>
        </p:nvPicPr>
        <p:blipFill>
          <a:blip r:embed="rId1"/>
          <a:stretch/>
        </p:blipFill>
        <p:spPr>
          <a:xfrm>
            <a:off x="6672240" y="994320"/>
            <a:ext cx="4865760" cy="486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FFB19ED-5C96-4CCB-A6BD-B862A5886F75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dt" idx="14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July 2024,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7993A2-7961-4378-8B46-45DD9DBED0AE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OLD SLIDES FROM HERE ONWARDS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dt" idx="14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FE33B6AA-F469-459E-B22D-C649D3E2E9EA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Joins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2FD0A5AE-35C2-4BC5-86CB-B44ACE1BB078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Join operations: combining informations from multiple tables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dt" idx="14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6" name="Picture 5" descr=""/>
          <p:cNvPicPr/>
          <p:nvPr/>
        </p:nvPicPr>
        <p:blipFill>
          <a:blip r:embed="rId1"/>
          <a:srcRect l="0" t="0" r="47418" b="0"/>
          <a:stretch/>
        </p:blipFill>
        <p:spPr>
          <a:xfrm>
            <a:off x="2209680" y="1277640"/>
            <a:ext cx="2944440" cy="226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Picture 25" descr=""/>
          <p:cNvPicPr/>
          <p:nvPr/>
        </p:nvPicPr>
        <p:blipFill>
          <a:blip r:embed="rId2"/>
          <a:stretch/>
        </p:blipFill>
        <p:spPr>
          <a:xfrm>
            <a:off x="3407400" y="4047840"/>
            <a:ext cx="5373720" cy="217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Box 3"/>
          <p:cNvSpPr/>
          <p:nvPr/>
        </p:nvSpPr>
        <p:spPr>
          <a:xfrm>
            <a:off x="5627880" y="1911240"/>
            <a:ext cx="93276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0" lang="en-CH" sz="6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+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4"/>
          <p:cNvSpPr/>
          <p:nvPr/>
        </p:nvSpPr>
        <p:spPr>
          <a:xfrm>
            <a:off x="2135520" y="4635000"/>
            <a:ext cx="93276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0" lang="en-CH" sz="60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=</a:t>
            </a:r>
            <a:endParaRPr b="0" lang="en-GB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0" name="Picture 27" descr=""/>
          <p:cNvPicPr/>
          <p:nvPr/>
        </p:nvPicPr>
        <p:blipFill>
          <a:blip r:embed="rId3"/>
          <a:stretch/>
        </p:blipFill>
        <p:spPr>
          <a:xfrm>
            <a:off x="7005240" y="1616760"/>
            <a:ext cx="3333240" cy="158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D3A42580-0D76-4BCF-A3AD-F2ADF004E035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Join </a:t>
            </a: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operat</a:t>
            </a: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dt" idx="14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Rectangle 4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484" name="Graphic 6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TextBox 62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63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020_join_operations.ipynb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73BCEBE-2ACC-4426-8776-3A3157382EA3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Join operations – Main points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360000" y="1152000"/>
            <a:ext cx="62985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Join operations can be used to combine two tables using the values of one or m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ore columns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Different types of join: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left/right: keep all the column values that are present in the first/second table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inner: keep the column values common to both tables (intersection)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outer: keep all the column values of both tables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Anti-joins can be used to exclude the values that are present in one, but not the other table (filtering based on arbitrary criteria)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Rectangle 11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491" name="Graphic 1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2" name="TextBox 64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65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020_join_operations.ipynb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4" name="" descr=""/>
          <p:cNvPicPr/>
          <p:nvPr/>
        </p:nvPicPr>
        <p:blipFill>
          <a:blip r:embed="rId2"/>
          <a:stretch/>
        </p:blipFill>
        <p:spPr>
          <a:xfrm>
            <a:off x="6660000" y="1807920"/>
            <a:ext cx="5218560" cy="32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61DF40B-9E7C-478A-A521-75E47C8A09DF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Example of tabular data: “Predimed” study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2360" cy="8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Research question: Does Mediterranean diet help prevent cardiovascular diseases, such as heart attacks and strokes?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dt" idx="15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ontent Placeholder 3"/>
          <p:cNvSpPr/>
          <p:nvPr/>
        </p:nvSpPr>
        <p:spPr>
          <a:xfrm>
            <a:off x="838080" y="2160000"/>
            <a:ext cx="6179040" cy="30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Longitudinal study following &gt; 7000 Spanish participants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Three different diets: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Mediterranean diet + extra virgin olive oil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Mediterranean diet + nuts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Control diet (low fat food items)</a:t>
            </a:r>
            <a:br>
              <a:rPr sz="2400"/>
            </a:b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Picture 29" descr=""/>
          <p:cNvPicPr/>
          <p:nvPr/>
        </p:nvPicPr>
        <p:blipFill>
          <a:blip r:embed="rId1"/>
          <a:stretch/>
        </p:blipFill>
        <p:spPr>
          <a:xfrm>
            <a:off x="7307280" y="1807200"/>
            <a:ext cx="4917960" cy="340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Content Placeholder 4"/>
          <p:cNvSpPr/>
          <p:nvPr/>
        </p:nvSpPr>
        <p:spPr>
          <a:xfrm>
            <a:off x="4992120" y="5852160"/>
            <a:ext cx="71971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sng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2"/>
              </a:rPr>
              <a:t>Estruch et al. (2018). New England Journal of Medicine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63EB320-B046-4868-8D4E-7153EBC44CED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Example of tabular data: “Predimed” study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dt" idx="15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Content Placeholder 1"/>
          <p:cNvSpPr/>
          <p:nvPr/>
        </p:nvSpPr>
        <p:spPr>
          <a:xfrm>
            <a:off x="4992120" y="5852160"/>
            <a:ext cx="71971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2400" strike="noStrike" u="sng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1"/>
              </a:rPr>
              <a:t>Estruch et al. (2018). New England Journal of Medicine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Picture 30" descr=""/>
          <p:cNvPicPr/>
          <p:nvPr/>
        </p:nvPicPr>
        <p:blipFill>
          <a:blip r:embed="rId2"/>
          <a:stretch/>
        </p:blipFill>
        <p:spPr>
          <a:xfrm>
            <a:off x="720000" y="1409760"/>
            <a:ext cx="10693800" cy="218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Picture 31" descr=""/>
          <p:cNvPicPr/>
          <p:nvPr/>
        </p:nvPicPr>
        <p:blipFill>
          <a:blip r:embed="rId3"/>
          <a:stretch/>
        </p:blipFill>
        <p:spPr>
          <a:xfrm>
            <a:off x="1080000" y="3881880"/>
            <a:ext cx="3521520" cy="223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EFA0F9C-DCD6-4073-B311-9D0972ED540D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12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/>
          </p:nvPr>
        </p:nvSpPr>
        <p:spPr>
          <a:xfrm>
            <a:off x="838080" y="1496160"/>
            <a:ext cx="10512360" cy="4677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Use joins to add the experimental information to the 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(who followed which diet)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Use anti-joins to correct for attrition 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(people who self-reported not following the diet)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Submit a PR on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git.aspp.school/ASPP/2025-plovdiv-data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TextBox 66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0" name="Graphic 7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TextBox 67"/>
          <p:cNvSpPr/>
          <p:nvPr/>
        </p:nvSpPr>
        <p:spPr>
          <a:xfrm>
            <a:off x="8301960" y="542880"/>
            <a:ext cx="3479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exercises/tabular_join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title"/>
          </p:nvPr>
        </p:nvSpPr>
        <p:spPr>
          <a:xfrm>
            <a:off x="346680" y="365040"/>
            <a:ext cx="596196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br>
              <a:rPr sz="4400"/>
            </a:b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F95792B-DAC5-4D5D-9092-7D6F95C0B89E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Split-apply-combine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dt" idx="15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4C6FD7B-A54C-4E77-81CE-6B35D36EA4A0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The basic structure of most numerical analyses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dt" idx="15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7" name="Picture 13" descr=""/>
          <p:cNvPicPr/>
          <p:nvPr/>
        </p:nvPicPr>
        <p:blipFill>
          <a:blip r:embed="rId1"/>
          <a:stretch/>
        </p:blipFill>
        <p:spPr>
          <a:xfrm>
            <a:off x="3935880" y="2162520"/>
            <a:ext cx="2883600" cy="455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8" name="Picture 15" descr=""/>
          <p:cNvPicPr/>
          <p:nvPr/>
        </p:nvPicPr>
        <p:blipFill>
          <a:blip r:embed="rId2"/>
          <a:stretch/>
        </p:blipFill>
        <p:spPr>
          <a:xfrm>
            <a:off x="7584840" y="2500560"/>
            <a:ext cx="1473840" cy="36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Picture 16" descr=""/>
          <p:cNvPicPr/>
          <p:nvPr/>
        </p:nvPicPr>
        <p:blipFill>
          <a:blip r:embed="rId3"/>
          <a:stretch/>
        </p:blipFill>
        <p:spPr>
          <a:xfrm>
            <a:off x="9859680" y="2999880"/>
            <a:ext cx="180900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Picture 17" descr=""/>
          <p:cNvPicPr/>
          <p:nvPr/>
        </p:nvPicPr>
        <p:blipFill>
          <a:blip r:embed="rId4"/>
          <a:stretch/>
        </p:blipFill>
        <p:spPr>
          <a:xfrm>
            <a:off x="460080" y="2783880"/>
            <a:ext cx="2661120" cy="25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Box 29"/>
          <p:cNvSpPr/>
          <p:nvPr/>
        </p:nvSpPr>
        <p:spPr>
          <a:xfrm>
            <a:off x="2617920" y="132192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30"/>
          <p:cNvSpPr/>
          <p:nvPr/>
        </p:nvSpPr>
        <p:spPr>
          <a:xfrm>
            <a:off x="6311880" y="132192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31"/>
          <p:cNvSpPr/>
          <p:nvPr/>
        </p:nvSpPr>
        <p:spPr>
          <a:xfrm>
            <a:off x="9783360" y="132192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4" name="Straight Arrow Connector 11"/>
          <p:cNvCxnSpPr/>
          <p:nvPr/>
        </p:nvCxnSpPr>
        <p:spPr>
          <a:xfrm flipV="1">
            <a:off x="3287520" y="2783520"/>
            <a:ext cx="651240" cy="74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25" name="Straight Arrow Connector 13"/>
          <p:cNvCxnSpPr/>
          <p:nvPr/>
        </p:nvCxnSpPr>
        <p:spPr>
          <a:xfrm flipV="1">
            <a:off x="3281400" y="3784320"/>
            <a:ext cx="651240" cy="11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26" name="Straight Arrow Connector 15"/>
          <p:cNvCxnSpPr/>
          <p:nvPr/>
        </p:nvCxnSpPr>
        <p:spPr>
          <a:xfrm>
            <a:off x="3281760" y="4326480"/>
            <a:ext cx="640440" cy="3992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27" name="Straight Arrow Connector 17"/>
          <p:cNvCxnSpPr/>
          <p:nvPr/>
        </p:nvCxnSpPr>
        <p:spPr>
          <a:xfrm>
            <a:off x="3291840" y="5254200"/>
            <a:ext cx="640800" cy="11901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28" name="Straight Arrow Connector 22"/>
          <p:cNvCxnSpPr/>
          <p:nvPr/>
        </p:nvCxnSpPr>
        <p:spPr>
          <a:xfrm>
            <a:off x="3281400" y="4874760"/>
            <a:ext cx="651240" cy="75708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sp>
        <p:nvSpPr>
          <p:cNvPr id="529" name="TextBox 32"/>
          <p:cNvSpPr/>
          <p:nvPr/>
        </p:nvSpPr>
        <p:spPr>
          <a:xfrm>
            <a:off x="3228840" y="273456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Box 33"/>
          <p:cNvSpPr/>
          <p:nvPr/>
        </p:nvSpPr>
        <p:spPr>
          <a:xfrm>
            <a:off x="3223800" y="3516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34"/>
          <p:cNvSpPr/>
          <p:nvPr/>
        </p:nvSpPr>
        <p:spPr>
          <a:xfrm>
            <a:off x="3223800" y="4020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35"/>
          <p:cNvSpPr/>
          <p:nvPr/>
        </p:nvSpPr>
        <p:spPr>
          <a:xfrm>
            <a:off x="3233520" y="475452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36"/>
          <p:cNvSpPr/>
          <p:nvPr/>
        </p:nvSpPr>
        <p:spPr>
          <a:xfrm>
            <a:off x="3233520" y="5244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ight Arrow 2"/>
          <p:cNvSpPr/>
          <p:nvPr/>
        </p:nvSpPr>
        <p:spPr>
          <a:xfrm>
            <a:off x="6996240" y="408924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35" name="TextBox 37"/>
          <p:cNvSpPr/>
          <p:nvPr/>
        </p:nvSpPr>
        <p:spPr>
          <a:xfrm>
            <a:off x="6837120" y="3702960"/>
            <a:ext cx="779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mean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6" name="Straight Arrow Connector 23"/>
          <p:cNvCxnSpPr/>
          <p:nvPr/>
        </p:nvCxnSpPr>
        <p:spPr>
          <a:xfrm>
            <a:off x="9076320" y="2923920"/>
            <a:ext cx="710280" cy="5958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37" name="Straight Arrow Connector 24"/>
          <p:cNvCxnSpPr/>
          <p:nvPr/>
        </p:nvCxnSpPr>
        <p:spPr>
          <a:xfrm>
            <a:off x="9076320" y="3645000"/>
            <a:ext cx="710280" cy="1987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38" name="Straight Arrow Connector 25"/>
          <p:cNvCxnSpPr/>
          <p:nvPr/>
        </p:nvCxnSpPr>
        <p:spPr>
          <a:xfrm flipV="1">
            <a:off x="9065520" y="4205160"/>
            <a:ext cx="721080" cy="21996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39" name="Straight Arrow Connector 26"/>
          <p:cNvCxnSpPr/>
          <p:nvPr/>
        </p:nvCxnSpPr>
        <p:spPr>
          <a:xfrm flipV="1">
            <a:off x="9076320" y="4421880"/>
            <a:ext cx="710280" cy="71064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40" name="Straight Arrow Connector 27"/>
          <p:cNvCxnSpPr/>
          <p:nvPr/>
        </p:nvCxnSpPr>
        <p:spPr>
          <a:xfrm flipV="1">
            <a:off x="9076320" y="4775400"/>
            <a:ext cx="710280" cy="11664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471ED929-9DE4-407A-8692-9E46F64FE790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2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Split-apply-combine </a:t>
            </a:r>
            <a:br>
              <a:rPr sz="4400"/>
            </a:b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operations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Rectangle 5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544" name="Graphic 2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Box 38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39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030_tabular_data/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030_split-apply-combine.ipynb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69A4973D-B3EE-4B82-BD5C-70013BD71CAD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75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Split-apply-combine </a:t>
            </a:r>
            <a:br>
              <a:rPr sz="4400"/>
            </a:b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operations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Main points: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Tabular data tools have a way to vectorize the standard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split-apply-combine operations, using a “group-by” command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 addition, Pandas has got a “pivot-table” command that can be used to simplify the creation of more complex summary tables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dt" idx="15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Rectangle 6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551" name="Graphic 3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Box 40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41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030_tabular_data/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030_split-apply-combine.ipynb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AD7AAEA-BAAE-4F24-945A-2D970BCAAB3F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dt" idx="15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5" name="Picture 3" descr=""/>
          <p:cNvPicPr/>
          <p:nvPr/>
        </p:nvPicPr>
        <p:blipFill>
          <a:blip r:embed="rId1"/>
          <a:stretch/>
        </p:blipFill>
        <p:spPr>
          <a:xfrm>
            <a:off x="3935880" y="2162520"/>
            <a:ext cx="2883600" cy="4555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Picture 19" descr=""/>
          <p:cNvPicPr/>
          <p:nvPr/>
        </p:nvPicPr>
        <p:blipFill>
          <a:blip r:embed="rId2"/>
          <a:stretch/>
        </p:blipFill>
        <p:spPr>
          <a:xfrm>
            <a:off x="7584840" y="2500560"/>
            <a:ext cx="1473840" cy="362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Picture 20" descr=""/>
          <p:cNvPicPr/>
          <p:nvPr/>
        </p:nvPicPr>
        <p:blipFill>
          <a:blip r:embed="rId3"/>
          <a:stretch/>
        </p:blipFill>
        <p:spPr>
          <a:xfrm>
            <a:off x="9859680" y="2999880"/>
            <a:ext cx="1809000" cy="195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Picture 21" descr=""/>
          <p:cNvPicPr/>
          <p:nvPr/>
        </p:nvPicPr>
        <p:blipFill>
          <a:blip r:embed="rId4"/>
          <a:stretch/>
        </p:blipFill>
        <p:spPr>
          <a:xfrm>
            <a:off x="460080" y="2783880"/>
            <a:ext cx="2661120" cy="258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9" name="TextBox 42"/>
          <p:cNvSpPr/>
          <p:nvPr/>
        </p:nvSpPr>
        <p:spPr>
          <a:xfrm>
            <a:off x="2617920" y="132192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43"/>
          <p:cNvSpPr/>
          <p:nvPr/>
        </p:nvSpPr>
        <p:spPr>
          <a:xfrm>
            <a:off x="6311880" y="132192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44"/>
          <p:cNvSpPr/>
          <p:nvPr/>
        </p:nvSpPr>
        <p:spPr>
          <a:xfrm>
            <a:off x="9783360" y="132192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2" name="Straight Arrow Connector 1"/>
          <p:cNvCxnSpPr/>
          <p:nvPr/>
        </p:nvCxnSpPr>
        <p:spPr>
          <a:xfrm flipV="1">
            <a:off x="3287520" y="2783520"/>
            <a:ext cx="651240" cy="74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63" name="Straight Arrow Connector 2"/>
          <p:cNvCxnSpPr/>
          <p:nvPr/>
        </p:nvCxnSpPr>
        <p:spPr>
          <a:xfrm flipV="1">
            <a:off x="3281400" y="3784320"/>
            <a:ext cx="651240" cy="1155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64" name="Straight Arrow Connector 3"/>
          <p:cNvCxnSpPr/>
          <p:nvPr/>
        </p:nvCxnSpPr>
        <p:spPr>
          <a:xfrm>
            <a:off x="3281760" y="4326480"/>
            <a:ext cx="640440" cy="3992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65" name="Straight Arrow Connector 4"/>
          <p:cNvCxnSpPr/>
          <p:nvPr/>
        </p:nvCxnSpPr>
        <p:spPr>
          <a:xfrm>
            <a:off x="3291840" y="5254200"/>
            <a:ext cx="640800" cy="119016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566" name="Straight Arrow Connector 5"/>
          <p:cNvCxnSpPr/>
          <p:nvPr/>
        </p:nvCxnSpPr>
        <p:spPr>
          <a:xfrm>
            <a:off x="3281400" y="4874760"/>
            <a:ext cx="651240" cy="75708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sp>
        <p:nvSpPr>
          <p:cNvPr id="567" name="TextBox 45"/>
          <p:cNvSpPr/>
          <p:nvPr/>
        </p:nvSpPr>
        <p:spPr>
          <a:xfrm>
            <a:off x="3228840" y="273456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Box 46"/>
          <p:cNvSpPr/>
          <p:nvPr/>
        </p:nvSpPr>
        <p:spPr>
          <a:xfrm>
            <a:off x="3223800" y="3516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47"/>
          <p:cNvSpPr/>
          <p:nvPr/>
        </p:nvSpPr>
        <p:spPr>
          <a:xfrm>
            <a:off x="3223800" y="4020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B1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Box 48"/>
          <p:cNvSpPr/>
          <p:nvPr/>
        </p:nvSpPr>
        <p:spPr>
          <a:xfrm>
            <a:off x="3233520" y="475452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B2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49"/>
          <p:cNvSpPr/>
          <p:nvPr/>
        </p:nvSpPr>
        <p:spPr>
          <a:xfrm>
            <a:off x="3233520" y="5244480"/>
            <a:ext cx="64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C2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ight Arrow 1"/>
          <p:cNvSpPr/>
          <p:nvPr/>
        </p:nvSpPr>
        <p:spPr>
          <a:xfrm>
            <a:off x="6996240" y="408924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573" name="TextBox 50"/>
          <p:cNvSpPr/>
          <p:nvPr/>
        </p:nvSpPr>
        <p:spPr>
          <a:xfrm>
            <a:off x="6837120" y="3702960"/>
            <a:ext cx="779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mean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4" name="Straight Arrow Connector 6"/>
          <p:cNvCxnSpPr/>
          <p:nvPr/>
        </p:nvCxnSpPr>
        <p:spPr>
          <a:xfrm>
            <a:off x="9076320" y="2923920"/>
            <a:ext cx="710280" cy="5958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75" name="Straight Arrow Connector 7"/>
          <p:cNvCxnSpPr/>
          <p:nvPr/>
        </p:nvCxnSpPr>
        <p:spPr>
          <a:xfrm>
            <a:off x="9076320" y="3645000"/>
            <a:ext cx="710280" cy="1987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76" name="Straight Arrow Connector 8"/>
          <p:cNvCxnSpPr/>
          <p:nvPr/>
        </p:nvCxnSpPr>
        <p:spPr>
          <a:xfrm flipV="1">
            <a:off x="9065520" y="4205160"/>
            <a:ext cx="721080" cy="21996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77" name="Straight Arrow Connector 9"/>
          <p:cNvCxnSpPr/>
          <p:nvPr/>
        </p:nvCxnSpPr>
        <p:spPr>
          <a:xfrm flipV="1">
            <a:off x="9076320" y="4421880"/>
            <a:ext cx="710280" cy="71064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578" name="Straight Arrow Connector 28"/>
          <p:cNvCxnSpPr/>
          <p:nvPr/>
        </p:nvCxnSpPr>
        <p:spPr>
          <a:xfrm flipV="1">
            <a:off x="9076320" y="4775400"/>
            <a:ext cx="710280" cy="116640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579" name="TextBox 51"/>
          <p:cNvSpPr/>
          <p:nvPr/>
        </p:nvSpPr>
        <p:spPr>
          <a:xfrm>
            <a:off x="515520" y="293760"/>
            <a:ext cx="11157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df</a:t>
            </a:r>
            <a:r>
              <a:rPr b="0" lang="en-CH" sz="28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.groupby(‘condition_id’)</a:t>
            </a:r>
            <a:r>
              <a:rPr b="0" lang="en-CH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[‘response_time’].mean()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BE9525C-BF74-4B67-8DB3-DC160B7E5EA8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1" name="Picture 22" descr=""/>
          <p:cNvPicPr/>
          <p:nvPr/>
        </p:nvPicPr>
        <p:blipFill>
          <a:blip r:embed="rId1"/>
          <a:stretch/>
        </p:blipFill>
        <p:spPr>
          <a:xfrm>
            <a:off x="1775520" y="2645640"/>
            <a:ext cx="3396240" cy="330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TextBox 52"/>
          <p:cNvSpPr/>
          <p:nvPr/>
        </p:nvSpPr>
        <p:spPr>
          <a:xfrm>
            <a:off x="9984600" y="476640"/>
            <a:ext cx="1869120" cy="638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split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53"/>
          <p:cNvSpPr/>
          <p:nvPr/>
        </p:nvSpPr>
        <p:spPr>
          <a:xfrm>
            <a:off x="9984600" y="1214280"/>
            <a:ext cx="1869120" cy="638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apply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54"/>
          <p:cNvSpPr/>
          <p:nvPr/>
        </p:nvSpPr>
        <p:spPr>
          <a:xfrm>
            <a:off x="9987480" y="2017440"/>
            <a:ext cx="1869120" cy="638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CH" sz="36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combine</a:t>
            </a:r>
            <a:endParaRPr b="0" lang="en-GB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55"/>
          <p:cNvSpPr/>
          <p:nvPr/>
        </p:nvSpPr>
        <p:spPr>
          <a:xfrm>
            <a:off x="515520" y="325800"/>
            <a:ext cx="1115784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data.pivot_table(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28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index='condition_id', columns='response'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,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US" sz="28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values='response_time', aggfunc='mean',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6" name="Picture 23" descr=""/>
          <p:cNvPicPr/>
          <p:nvPr/>
        </p:nvPicPr>
        <p:blipFill>
          <a:blip r:embed="rId2"/>
          <a:stretch/>
        </p:blipFill>
        <p:spPr>
          <a:xfrm>
            <a:off x="6966000" y="3065400"/>
            <a:ext cx="2371680" cy="246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Right Arrow 4"/>
          <p:cNvSpPr/>
          <p:nvPr/>
        </p:nvSpPr>
        <p:spPr>
          <a:xfrm>
            <a:off x="5818320" y="386712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BBC72AC-E0F5-45E0-8F39-A02E4D850350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Rectangle 9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Compute summary statistics to answer the question: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Did the Mediterranean diet help prevent cardiovascular events?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Submit a PR on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git.aspp.school/ASPP/2025-plovdiv-data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 type="dt" idx="16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TextBox 56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2" name="Graphic 4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TextBox 57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</a:t>
            </a:r>
            <a:br>
              <a:rPr sz="1400"/>
            </a:b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tabular_split_apply_combine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title"/>
          </p:nvPr>
        </p:nvSpPr>
        <p:spPr>
          <a:xfrm>
            <a:off x="346680" y="365040"/>
            <a:ext cx="689544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br>
              <a:rPr sz="4400"/>
            </a:b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F5659D7-98B2-42FA-9664-B9D0DCA2DF94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Rectangle 10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596" name="PlaceHolder 1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Compute some summary tables for the WHO tuberculosis data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dt" idx="16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TextBox 58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Graphic 5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TextBox 59"/>
          <p:cNvSpPr/>
          <p:nvPr/>
        </p:nvSpPr>
        <p:spPr>
          <a:xfrm>
            <a:off x="8301960" y="542880"/>
            <a:ext cx="3479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exercises/tabular_tuberculosis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title"/>
          </p:nvPr>
        </p:nvSpPr>
        <p:spPr>
          <a:xfrm>
            <a:off x="346680" y="365040"/>
            <a:ext cx="5889960" cy="95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70000" lnSpcReduction="1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br>
              <a:rPr sz="4400"/>
            </a:b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Picture 24" descr=""/>
          <p:cNvPicPr/>
          <p:nvPr/>
        </p:nvPicPr>
        <p:blipFill>
          <a:blip r:embed="rId2"/>
          <a:stretch/>
        </p:blipFill>
        <p:spPr>
          <a:xfrm>
            <a:off x="1559520" y="2781000"/>
            <a:ext cx="8913240" cy="287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Box 60"/>
          <p:cNvSpPr/>
          <p:nvPr/>
        </p:nvSpPr>
        <p:spPr>
          <a:xfrm>
            <a:off x="4223880" y="2137320"/>
            <a:ext cx="788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Males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Box 61"/>
          <p:cNvSpPr/>
          <p:nvPr/>
        </p:nvSpPr>
        <p:spPr>
          <a:xfrm>
            <a:off x="5026320" y="2137320"/>
            <a:ext cx="1513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15-24 years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5" name="Straight Arrow Connector 29"/>
          <p:cNvCxnSpPr>
            <a:stCxn id="603" idx="2"/>
          </p:cNvCxnSpPr>
          <p:nvPr/>
        </p:nvCxnSpPr>
        <p:spPr>
          <a:xfrm>
            <a:off x="4618080" y="2501280"/>
            <a:ext cx="256680" cy="35460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606" name="Straight Arrow Connector 30"/>
          <p:cNvCxnSpPr/>
          <p:nvPr/>
        </p:nvCxnSpPr>
        <p:spPr>
          <a:xfrm flipH="1">
            <a:off x="5159880" y="2423160"/>
            <a:ext cx="242280" cy="432720"/>
          </a:xfrm>
          <a:prstGeom prst="straightConnector1">
            <a:avLst/>
          </a:prstGeom>
          <a:ln w="3810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EC4C5E3B-E7D9-437F-A0C8-6024D9D4F3FD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838080" y="2709000"/>
            <a:ext cx="1051236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5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Window functions</a:t>
            </a:r>
            <a:endParaRPr b="0" lang="en-GB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 type="dt" idx="16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02C36C7C-1A51-4250-9AFA-00C6E45343E8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92500"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Window functions: grouped row-by-row operations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“Window functions” are a kind of split-apply-combine operation, but instead of aggregating the data in a group and returning one value per group, they return one value per row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Examples: ranking all entries in a group; computing the distance between timestamps per group; number the rows by group in chronological order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 Pandas, most of these operations can be performed with a combination of sorting and grouping-by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dt" idx="16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DE68AB7-D323-4CC5-9B9E-1A50D561F7EF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Window functions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dt" idx="16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Rectangle 7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615" name="Graphic 8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TextBox 9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10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040_window_functions.ipynb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373A216-7700-49CE-A829-3E0D42E21051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Window functions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Main points: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Window functions perform row-by-row operations on grouped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They are an advanced way of avoiding for loops with tabular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 Pandas, they can be achieved with a combo of sorting and grouping-by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dt" idx="16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Rectangle 7"/>
          <p:cNvSpPr/>
          <p:nvPr/>
        </p:nvSpPr>
        <p:spPr>
          <a:xfrm>
            <a:off x="7430400" y="206640"/>
            <a:ext cx="4535640" cy="987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pic>
        <p:nvPicPr>
          <p:cNvPr id="622" name="Graphic 8" descr=""/>
          <p:cNvPicPr/>
          <p:nvPr/>
        </p:nvPicPr>
        <p:blipFill>
          <a:blip r:embed="rId1"/>
          <a:stretch/>
        </p:blipFill>
        <p:spPr>
          <a:xfrm>
            <a:off x="7511040" y="232200"/>
            <a:ext cx="707040" cy="62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TextBox 9"/>
          <p:cNvSpPr/>
          <p:nvPr/>
        </p:nvSpPr>
        <p:spPr>
          <a:xfrm>
            <a:off x="8163720" y="22536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Live Coding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Box 10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n</a:t>
            </a:r>
            <a:r>
              <a:rPr b="0" lang="en-DE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otebooks/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tabular_data/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040_window_functions.ipynb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5F0B488F-8E2C-4ADD-A73B-F81F6E8E1011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Window functions operations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 type="dt" idx="16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27" name="Straight Arrow Connector 19"/>
          <p:cNvCxnSpPr/>
          <p:nvPr/>
        </p:nvCxnSpPr>
        <p:spPr>
          <a:xfrm flipV="1">
            <a:off x="2829600" y="2564640"/>
            <a:ext cx="411480" cy="6728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628" name="Straight Arrow Connector 20"/>
          <p:cNvCxnSpPr/>
          <p:nvPr/>
        </p:nvCxnSpPr>
        <p:spPr>
          <a:xfrm flipV="1">
            <a:off x="2822760" y="3840480"/>
            <a:ext cx="526680" cy="9504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629" name="Straight Arrow Connector 21"/>
          <p:cNvCxnSpPr/>
          <p:nvPr/>
        </p:nvCxnSpPr>
        <p:spPr>
          <a:xfrm>
            <a:off x="2811600" y="4768920"/>
            <a:ext cx="550080" cy="679320"/>
          </a:xfrm>
          <a:prstGeom prst="straightConnector1">
            <a:avLst/>
          </a:prstGeom>
          <a:ln w="57150">
            <a:solidFill>
              <a:srgbClr val="c55a11"/>
            </a:solidFill>
            <a:round/>
            <a:tailEnd len="med" type="triangle" w="med"/>
          </a:ln>
        </p:spPr>
      </p:cxnSp>
      <p:cxnSp>
        <p:nvCxnSpPr>
          <p:cNvPr id="630" name="Straight Arrow Connector 42"/>
          <p:cNvCxnSpPr/>
          <p:nvPr/>
        </p:nvCxnSpPr>
        <p:spPr>
          <a:xfrm>
            <a:off x="8301240" y="2178720"/>
            <a:ext cx="473760" cy="31356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631" name="Straight Arrow Connector 44"/>
          <p:cNvCxnSpPr/>
          <p:nvPr/>
        </p:nvCxnSpPr>
        <p:spPr>
          <a:xfrm>
            <a:off x="8301240" y="3955320"/>
            <a:ext cx="460440" cy="1987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632" name="Straight Arrow Connector 48"/>
          <p:cNvCxnSpPr/>
          <p:nvPr/>
        </p:nvCxnSpPr>
        <p:spPr>
          <a:xfrm flipV="1">
            <a:off x="8301240" y="4747320"/>
            <a:ext cx="460440" cy="695520"/>
          </a:xfrm>
          <a:prstGeom prst="straightConnector1">
            <a:avLst/>
          </a:prstGeom>
          <a:ln w="5715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633" name="TextBox 2"/>
          <p:cNvSpPr/>
          <p:nvPr/>
        </p:nvSpPr>
        <p:spPr>
          <a:xfrm>
            <a:off x="623520" y="1041120"/>
            <a:ext cx="1133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CH" sz="1800" strike="noStrike" u="non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df['nr_lefts'] </a:t>
            </a:r>
            <a:r>
              <a:rPr b="0" lang="en-CH" sz="1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= df</a:t>
            </a:r>
            <a:r>
              <a:rPr b="0" lang="en-CH" sz="1800" strike="noStrike" u="non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onsolas"/>
                <a:ea typeface="DejaVu Sans"/>
              </a:rPr>
              <a:t>.sort_values('time (ms)').groupby('subject_id')</a:t>
            </a:r>
            <a:r>
              <a:rPr b="0" lang="en-CH" sz="1800" strike="noStrike" u="none"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Consolas"/>
                <a:ea typeface="DejaVu Sans"/>
              </a:rPr>
              <a:t>['is_left'].cumsum()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4" name="Picture 10" descr=""/>
          <p:cNvPicPr/>
          <p:nvPr/>
        </p:nvPicPr>
        <p:blipFill>
          <a:blip r:embed="rId1"/>
          <a:stretch/>
        </p:blipFill>
        <p:spPr>
          <a:xfrm>
            <a:off x="142920" y="2124720"/>
            <a:ext cx="2606760" cy="34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Picture 18" descr=""/>
          <p:cNvPicPr/>
          <p:nvPr/>
        </p:nvPicPr>
        <p:blipFill>
          <a:blip r:embed="rId2"/>
          <a:stretch/>
        </p:blipFill>
        <p:spPr>
          <a:xfrm>
            <a:off x="3404520" y="1479960"/>
            <a:ext cx="3016800" cy="487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Picture 26" descr=""/>
          <p:cNvPicPr/>
          <p:nvPr/>
        </p:nvPicPr>
        <p:blipFill>
          <a:blip r:embed="rId3"/>
          <a:stretch/>
        </p:blipFill>
        <p:spPr>
          <a:xfrm>
            <a:off x="7079040" y="1479960"/>
            <a:ext cx="1090800" cy="491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Right Arrow 27"/>
          <p:cNvSpPr/>
          <p:nvPr/>
        </p:nvSpPr>
        <p:spPr>
          <a:xfrm>
            <a:off x="6519240" y="3429000"/>
            <a:ext cx="500760" cy="85752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CH" sz="1800" strike="noStrike" u="none">
              <a:solidFill>
                <a:schemeClr val="lt1"/>
              </a:solidFill>
              <a:effectLst/>
              <a:uFillTx/>
              <a:latin typeface="Calibri"/>
              <a:ea typeface="DejaVu Sans"/>
            </a:endParaRPr>
          </a:p>
        </p:txBody>
      </p:sp>
      <p:pic>
        <p:nvPicPr>
          <p:cNvPr id="638" name="Picture 28" descr=""/>
          <p:cNvPicPr/>
          <p:nvPr/>
        </p:nvPicPr>
        <p:blipFill>
          <a:blip r:embed="rId4"/>
          <a:stretch/>
        </p:blipFill>
        <p:spPr>
          <a:xfrm>
            <a:off x="8968680" y="2124720"/>
            <a:ext cx="3100680" cy="343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3853A5EE-8EF3-4AEC-A5ED-5D24436C1195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Rectangle 2"/>
          <p:cNvSpPr/>
          <p:nvPr/>
        </p:nvSpPr>
        <p:spPr>
          <a:xfrm>
            <a:off x="7428240" y="205920"/>
            <a:ext cx="4535640" cy="9871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DE" sz="1800" strike="noStrike" u="none">
              <a:solidFill>
                <a:srgbClr val="000000"/>
              </a:solidFill>
              <a:effectLst/>
              <a:uFillTx/>
              <a:latin typeface="Courier New"/>
              <a:ea typeface="DejaVu Sans"/>
            </a:endParaRPr>
          </a:p>
        </p:txBody>
      </p: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Hands-on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Compute the cumulative number of cases across time, per diet group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Submit a PR on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git.aspp.school/ASPP/2025-plovdiv-data</a:t>
            </a:r>
            <a:br>
              <a:rPr sz="2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dt" idx="16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September 2025,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TextBox 9"/>
          <p:cNvSpPr/>
          <p:nvPr/>
        </p:nvSpPr>
        <p:spPr>
          <a:xfrm>
            <a:off x="7930800" y="224640"/>
            <a:ext cx="1776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DE" sz="18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4" name="Graphic 10" descr=""/>
          <p:cNvPicPr/>
          <p:nvPr/>
        </p:nvPicPr>
        <p:blipFill>
          <a:blip r:embed="rId1"/>
          <a:stretch/>
        </p:blipFill>
        <p:spPr>
          <a:xfrm>
            <a:off x="7474680" y="273960"/>
            <a:ext cx="691200" cy="55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TextBox 8"/>
          <p:cNvSpPr/>
          <p:nvPr/>
        </p:nvSpPr>
        <p:spPr>
          <a:xfrm>
            <a:off x="8301960" y="542880"/>
            <a:ext cx="3479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exercises/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Courier New"/>
                <a:ea typeface="DejaVu Sans"/>
              </a:rPr>
              <a:t>tabular_window_functions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6" name="" descr=""/>
          <p:cNvPicPr/>
          <p:nvPr/>
        </p:nvPicPr>
        <p:blipFill>
          <a:blip r:embed="rId2"/>
          <a:stretch/>
        </p:blipFill>
        <p:spPr>
          <a:xfrm>
            <a:off x="3696840" y="2955960"/>
            <a:ext cx="5121360" cy="38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727DE11-B0FA-4074-9A7A-D2C6E8495C84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Data organization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Data organization concepts: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tidy data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normalized data (star organization)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data science friendly data (denormalized)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dt" idx="16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July 2024,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C8D83F7-A788-4463-8DE3-22D026A0CAF8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Organizing multiple tables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Dimension vs fact tables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De-normalization (but for data analys flat tables are more convienent)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dt" idx="16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July 2024,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53" name="Picture 2" descr="The Data Warehouse Toolkit"/>
          <p:cNvPicPr/>
          <p:nvPr/>
        </p:nvPicPr>
        <p:blipFill>
          <a:blip r:embed="rId1"/>
          <a:stretch/>
        </p:blipFill>
        <p:spPr>
          <a:xfrm>
            <a:off x="8040240" y="3162600"/>
            <a:ext cx="2085120" cy="262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Picture 6" descr=""/>
          <p:cNvPicPr/>
          <p:nvPr/>
        </p:nvPicPr>
        <p:blipFill>
          <a:blip r:embed="rId2"/>
          <a:stretch/>
        </p:blipFill>
        <p:spPr>
          <a:xfrm>
            <a:off x="551520" y="2951640"/>
            <a:ext cx="5611320" cy="30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0D7AC66-538B-4F53-8420-5FEC4C4FAE15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335520" y="140400"/>
            <a:ext cx="11446200" cy="90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CH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Dealing with changes in the data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838080" y="1340640"/>
            <a:ext cx="10512360" cy="483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Recommendations: 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NEVER overwite a data file. Treat data files as immutable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Use versioning for changes in the data file, and load the latest version for new analyses, old versions to reproduce previous results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(pond is a library I’m working on to automatize this process)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Like in computer code: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Adding new columns / rows is generally ok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CH" sz="2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Deleting/changing a column is not! Code will break! Add a new column instead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dt" idx="17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CH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July 2024, CC BY-SA 4.0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Data, v1.0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568EEAE-1295-49F4-B8C7-D6F1231F01B9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135205</TotalTime>
  <Application>LibreOffice/25.2.3.2$Linux_X86_64 LibreOffice_project/520$Build-2</Application>
  <AppVersion>15.0000</AppVersion>
  <Words>3182</Words>
  <Paragraphs>572</Paragraphs>
  <Company>University of Pennsylvania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2010-10-01T16:09:12Z</dcterms:created>
  <dc:creator>Pietro Berkes</dc:creator>
  <dc:description/>
  <dc:language>en-GB</dc:language>
  <cp:lastModifiedBy>Guillermo Aguilar</cp:lastModifiedBy>
  <cp:lastPrinted>2026-06-30T23:36:35Z</cp:lastPrinted>
  <dcterms:modified xsi:type="dcterms:W3CDTF">2026-07-08T15:55:04Z</dcterms:modified>
  <cp:revision>1716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50</vt:i4>
  </property>
</Properties>
</file>