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72" r:id="rId1"/>
  </p:sldMasterIdLst>
  <p:notesMasterIdLst>
    <p:notesMasterId r:id="rId33"/>
  </p:notesMasterIdLst>
  <p:handoutMasterIdLst>
    <p:handoutMasterId r:id="rId34"/>
  </p:handoutMasterIdLst>
  <p:sldIdLst>
    <p:sldId id="680" r:id="rId2"/>
    <p:sldId id="656" r:id="rId3"/>
    <p:sldId id="689" r:id="rId4"/>
    <p:sldId id="609" r:id="rId5"/>
    <p:sldId id="664" r:id="rId6"/>
    <p:sldId id="681" r:id="rId7"/>
    <p:sldId id="687" r:id="rId8"/>
    <p:sldId id="688" r:id="rId9"/>
    <p:sldId id="661" r:id="rId10"/>
    <p:sldId id="683" r:id="rId11"/>
    <p:sldId id="684" r:id="rId12"/>
    <p:sldId id="662" r:id="rId13"/>
    <p:sldId id="563" r:id="rId14"/>
    <p:sldId id="571" r:id="rId15"/>
    <p:sldId id="587" r:id="rId16"/>
    <p:sldId id="666" r:id="rId17"/>
    <p:sldId id="588" r:id="rId18"/>
    <p:sldId id="667" r:id="rId19"/>
    <p:sldId id="589" r:id="rId20"/>
    <p:sldId id="671" r:id="rId21"/>
    <p:sldId id="690" r:id="rId22"/>
    <p:sldId id="673" r:id="rId23"/>
    <p:sldId id="674" r:id="rId24"/>
    <p:sldId id="675" r:id="rId25"/>
    <p:sldId id="678" r:id="rId26"/>
    <p:sldId id="658" r:id="rId27"/>
    <p:sldId id="590" r:id="rId28"/>
    <p:sldId id="623" r:id="rId29"/>
    <p:sldId id="627" r:id="rId30"/>
    <p:sldId id="298" r:id="rId31"/>
    <p:sldId id="549" r:id="rId3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BAA15BF6-FE96-3445-86D7-BE737DCC358B}">
          <p14:sldIdLst>
            <p14:sldId id="680"/>
            <p14:sldId id="656"/>
            <p14:sldId id="689"/>
            <p14:sldId id="609"/>
            <p14:sldId id="664"/>
            <p14:sldId id="681"/>
            <p14:sldId id="687"/>
            <p14:sldId id="688"/>
            <p14:sldId id="661"/>
            <p14:sldId id="683"/>
            <p14:sldId id="684"/>
            <p14:sldId id="662"/>
            <p14:sldId id="563"/>
            <p14:sldId id="571"/>
            <p14:sldId id="587"/>
            <p14:sldId id="666"/>
            <p14:sldId id="588"/>
            <p14:sldId id="667"/>
            <p14:sldId id="589"/>
            <p14:sldId id="671"/>
            <p14:sldId id="690"/>
            <p14:sldId id="673"/>
            <p14:sldId id="674"/>
            <p14:sldId id="675"/>
            <p14:sldId id="678"/>
            <p14:sldId id="658"/>
            <p14:sldId id="590"/>
            <p14:sldId id="623"/>
            <p14:sldId id="627"/>
            <p14:sldId id="298"/>
            <p14:sldId id="54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7F7F7"/>
    <a:srgbClr val="F0D0D5"/>
    <a:srgbClr val="E2F0D9"/>
    <a:srgbClr val="EDC196"/>
    <a:srgbClr val="D53DD7"/>
    <a:srgbClr val="FF8CD8"/>
    <a:srgbClr val="0295FF"/>
    <a:srgbClr val="1E76B4"/>
    <a:srgbClr val="FF7F0E"/>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549" autoAdjust="0"/>
    <p:restoredTop sz="90068" autoAdjust="0"/>
  </p:normalViewPr>
  <p:slideViewPr>
    <p:cSldViewPr>
      <p:cViewPr varScale="1">
        <p:scale>
          <a:sx n="114" d="100"/>
          <a:sy n="114" d="100"/>
        </p:scale>
        <p:origin x="256" y="168"/>
      </p:cViewPr>
      <p:guideLst>
        <p:guide orient="horz" pos="2160"/>
        <p:guide pos="3840"/>
      </p:guideLst>
    </p:cSldViewPr>
  </p:slideViewPr>
  <p:outlineViewPr>
    <p:cViewPr>
      <p:scale>
        <a:sx n="33" d="100"/>
        <a:sy n="33" d="100"/>
      </p:scale>
      <p:origin x="0" y="-696"/>
    </p:cViewPr>
  </p:outlineViewPr>
  <p:notesTextViewPr>
    <p:cViewPr>
      <p:scale>
        <a:sx n="100" d="100"/>
        <a:sy n="100" d="100"/>
      </p:scale>
      <p:origin x="0" y="0"/>
    </p:cViewPr>
  </p:notesTextViewPr>
  <p:sorterViewPr>
    <p:cViewPr varScale="1">
      <p:scale>
        <a:sx n="1" d="1"/>
        <a:sy n="1" d="1"/>
      </p:scale>
      <p:origin x="0" y="3417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0AC11AF-147E-0A48-A5B0-8DA858D84551}" type="datetimeFigureOut">
              <a:rPr lang="en-US" smtClean="0"/>
              <a:pPr/>
              <a:t>7/27/26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106F090-DD87-7740-9678-0E1C7887DC6D}" type="slidenum">
              <a:rPr lang="en-US" smtClean="0"/>
              <a:pPr/>
              <a:t>‹#›</a:t>
            </a:fld>
            <a:endParaRPr lang="en-US"/>
          </a:p>
        </p:txBody>
      </p:sp>
    </p:spTree>
    <p:extLst>
      <p:ext uri="{BB962C8B-B14F-4D97-AF65-F5344CB8AC3E}">
        <p14:creationId xmlns:p14="http://schemas.microsoft.com/office/powerpoint/2010/main" val="344125147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386" name="Rectangle 2"/>
          <p:cNvSpPr>
            <a:spLocks noGrp="1" noChangeArrowheads="1"/>
          </p:cNvSpPr>
          <p:nvPr>
            <p:ph type="hdr" sz="quarter"/>
          </p:nvPr>
        </p:nvSpPr>
        <p:spPr bwMode="auto">
          <a:xfrm>
            <a:off x="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16387" name="Rectangle 3"/>
          <p:cNvSpPr>
            <a:spLocks noGrp="1" noChangeArrowheads="1"/>
          </p:cNvSpPr>
          <p:nvPr>
            <p:ph type="dt" idx="1"/>
          </p:nvPr>
        </p:nvSpPr>
        <p:spPr bwMode="auto">
          <a:xfrm>
            <a:off x="388620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defRPr sz="1200"/>
            </a:lvl1pPr>
          </a:lstStyle>
          <a:p>
            <a:endParaRPr lang="en-US"/>
          </a:p>
        </p:txBody>
      </p:sp>
      <p:sp>
        <p:nvSpPr>
          <p:cNvPr id="16388"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p:spPr>
      </p:sp>
      <p:sp>
        <p:nvSpPr>
          <p:cNvPr id="16389"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390"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defRPr sz="1200"/>
            </a:lvl1pPr>
          </a:lstStyle>
          <a:p>
            <a:endParaRPr lang="en-US"/>
          </a:p>
        </p:txBody>
      </p:sp>
      <p:sp>
        <p:nvSpPr>
          <p:cNvPr id="16391"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lgn="r">
              <a:defRPr sz="1200"/>
            </a:lvl1pPr>
          </a:lstStyle>
          <a:p>
            <a:fld id="{99B30722-7DAA-4E93-8206-71F83E275281}" type="slidenum">
              <a:rPr lang="en-US"/>
              <a:pPr/>
              <a:t>‹#›</a:t>
            </a:fld>
            <a:endParaRPr lang="en-US"/>
          </a:p>
        </p:txBody>
      </p:sp>
    </p:spTree>
    <p:extLst>
      <p:ext uri="{BB962C8B-B14F-4D97-AF65-F5344CB8AC3E}">
        <p14:creationId xmlns:p14="http://schemas.microsoft.com/office/powerpoint/2010/main" val="1074340422"/>
      </p:ext>
    </p:extLst>
  </p:cSld>
  <p:clrMap bg1="lt1" tx1="dk1" bg2="lt2" tx2="dk2" accent1="accent1" accent2="accent2" accent3="accent3" accent4="accent4" accent5="accent5" accent6="accent6" hlink="hlink" folHlink="folHlink"/>
  <p:hf hdr="0" ftr="0" dt="0"/>
  <p:notesStyle>
    <a:lvl1pPr algn="l" rtl="0" fontAlgn="base">
      <a:spcBef>
        <a:spcPct val="30000"/>
      </a:spcBef>
      <a:spcAft>
        <a:spcPct val="0"/>
      </a:spcAft>
      <a:defRPr sz="1200" kern="1200">
        <a:solidFill>
          <a:schemeClr val="tx1"/>
        </a:solidFill>
        <a:latin typeface="Arial" charset="0"/>
        <a:ea typeface="ＭＳ Ｐゴシック" pitchFamily="80" charset="-128"/>
        <a:cs typeface="+mn-cs"/>
      </a:defRPr>
    </a:lvl1pPr>
    <a:lvl2pPr marL="457200" algn="l" rtl="0" fontAlgn="base">
      <a:spcBef>
        <a:spcPct val="30000"/>
      </a:spcBef>
      <a:spcAft>
        <a:spcPct val="0"/>
      </a:spcAft>
      <a:defRPr sz="1200" kern="1200">
        <a:solidFill>
          <a:schemeClr val="tx1"/>
        </a:solidFill>
        <a:latin typeface="Arial" charset="0"/>
        <a:ea typeface="ＭＳ Ｐゴシック" pitchFamily="80" charset="-128"/>
        <a:cs typeface="+mn-cs"/>
      </a:defRPr>
    </a:lvl2pPr>
    <a:lvl3pPr marL="914400" algn="l" rtl="0" fontAlgn="base">
      <a:spcBef>
        <a:spcPct val="30000"/>
      </a:spcBef>
      <a:spcAft>
        <a:spcPct val="0"/>
      </a:spcAft>
      <a:defRPr sz="1200" kern="1200">
        <a:solidFill>
          <a:schemeClr val="tx1"/>
        </a:solidFill>
        <a:latin typeface="Arial" charset="0"/>
        <a:ea typeface="ＭＳ Ｐゴシック" pitchFamily="80" charset="-128"/>
        <a:cs typeface="+mn-cs"/>
      </a:defRPr>
    </a:lvl3pPr>
    <a:lvl4pPr marL="1371600" algn="l" rtl="0" fontAlgn="base">
      <a:spcBef>
        <a:spcPct val="30000"/>
      </a:spcBef>
      <a:spcAft>
        <a:spcPct val="0"/>
      </a:spcAft>
      <a:defRPr sz="1200" kern="1200">
        <a:solidFill>
          <a:schemeClr val="tx1"/>
        </a:solidFill>
        <a:latin typeface="Arial" charset="0"/>
        <a:ea typeface="ＭＳ Ｐゴシック" pitchFamily="80" charset="-128"/>
        <a:cs typeface="+mn-cs"/>
      </a:defRPr>
    </a:lvl4pPr>
    <a:lvl5pPr marL="1828800" algn="l" rtl="0" fontAlgn="base">
      <a:spcBef>
        <a:spcPct val="30000"/>
      </a:spcBef>
      <a:spcAft>
        <a:spcPct val="0"/>
      </a:spcAft>
      <a:defRPr sz="1200" kern="1200">
        <a:solidFill>
          <a:schemeClr val="tx1"/>
        </a:solidFill>
        <a:latin typeface="Arial" charset="0"/>
        <a:ea typeface="ＭＳ Ｐゴシック" pitchFamily="8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99B30722-7DAA-4E93-8206-71F83E275281}" type="slidenum">
              <a:rPr lang="en-US" smtClean="0"/>
              <a:pPr/>
              <a:t>1</a:t>
            </a:fld>
            <a:endParaRPr lang="en-US"/>
          </a:p>
        </p:txBody>
      </p:sp>
    </p:spTree>
    <p:extLst>
      <p:ext uri="{BB962C8B-B14F-4D97-AF65-F5344CB8AC3E}">
        <p14:creationId xmlns:p14="http://schemas.microsoft.com/office/powerpoint/2010/main" val="1613313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and code are related. </a:t>
            </a:r>
          </a:p>
          <a:p>
            <a:endParaRPr lang="en-US" dirty="0"/>
          </a:p>
          <a:p>
            <a:r>
              <a:rPr lang="en-US" dirty="0"/>
              <a:t>Nice transition from the last question. In extreme case, when the relations in the graph are dynamic/ changing a lot </a:t>
            </a:r>
            <a:r>
              <a:rPr lang="en-US" dirty="0">
                <a:sym typeface="Wingdings" pitchFamily="2" charset="2"/>
              </a:rPr>
              <a:t>using a dictionary is not a good solution. Instead, when small dataset and we are mainly interested in visualizing the relations, it might be.</a:t>
            </a:r>
          </a:p>
          <a:p>
            <a:r>
              <a:rPr lang="en-US" dirty="0">
                <a:sym typeface="Wingdings" pitchFamily="2" charset="2"/>
              </a:rPr>
              <a:t>The NumPy array solutions, scales much better, in case there are hundreds of dynamically changing relations to inspect.</a:t>
            </a:r>
          </a:p>
        </p:txBody>
      </p:sp>
      <p:sp>
        <p:nvSpPr>
          <p:cNvPr id="4" name="Slide Number Placeholder 3"/>
          <p:cNvSpPr>
            <a:spLocks noGrp="1"/>
          </p:cNvSpPr>
          <p:nvPr>
            <p:ph type="sldNum" sz="quarter" idx="5"/>
          </p:nvPr>
        </p:nvSpPr>
        <p:spPr/>
        <p:txBody>
          <a:bodyPr/>
          <a:lstStyle/>
          <a:p>
            <a:fld id="{99B30722-7DAA-4E93-8206-71F83E275281}" type="slidenum">
              <a:rPr lang="en-US" smtClean="0"/>
              <a:pPr/>
              <a:t>13</a:t>
            </a:fld>
            <a:endParaRPr lang="en-US"/>
          </a:p>
        </p:txBody>
      </p:sp>
    </p:spTree>
    <p:extLst>
      <p:ext uri="{BB962C8B-B14F-4D97-AF65-F5344CB8AC3E}">
        <p14:creationId xmlns:p14="http://schemas.microsoft.com/office/powerpoint/2010/main" val="58700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22</a:t>
            </a:fld>
            <a:endParaRPr lang="en-US"/>
          </a:p>
        </p:txBody>
      </p:sp>
    </p:spTree>
    <p:extLst>
      <p:ext uri="{BB962C8B-B14F-4D97-AF65-F5344CB8AC3E}">
        <p14:creationId xmlns:p14="http://schemas.microsoft.com/office/powerpoint/2010/main" val="14859588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23</a:t>
            </a:fld>
            <a:endParaRPr lang="en-US"/>
          </a:p>
        </p:txBody>
      </p:sp>
    </p:spTree>
    <p:extLst>
      <p:ext uri="{BB962C8B-B14F-4D97-AF65-F5344CB8AC3E}">
        <p14:creationId xmlns:p14="http://schemas.microsoft.com/office/powerpoint/2010/main" val="7822490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24</a:t>
            </a:fld>
            <a:endParaRPr lang="en-US"/>
          </a:p>
        </p:txBody>
      </p:sp>
    </p:spTree>
    <p:extLst>
      <p:ext uri="{BB962C8B-B14F-4D97-AF65-F5344CB8AC3E}">
        <p14:creationId xmlns:p14="http://schemas.microsoft.com/office/powerpoint/2010/main" val="1544522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25</a:t>
            </a:fld>
            <a:endParaRPr lang="en-US"/>
          </a:p>
        </p:txBody>
      </p:sp>
    </p:spTree>
    <p:extLst>
      <p:ext uri="{BB962C8B-B14F-4D97-AF65-F5344CB8AC3E}">
        <p14:creationId xmlns:p14="http://schemas.microsoft.com/office/powerpoint/2010/main" val="9721274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Note that there may be different implementations of these data structures with different complexities, these are for the Python implementation.</a:t>
            </a:r>
          </a:p>
          <a:p>
            <a:endParaRPr lang="en-CH" dirty="0"/>
          </a:p>
          <a:p>
            <a:r>
              <a:rPr lang="en-CH" dirty="0"/>
              <a:t>E.g., if finding an element in a list is important, one could implement it as two dictionaries, one mapping indices to data, one mapping data to indices. Finding out the complexities of all the operations with this implementation is left as a homework.</a:t>
            </a:r>
          </a:p>
          <a:p>
            <a:endParaRPr lang="en-CH"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27</a:t>
            </a:fld>
            <a:endParaRPr lang="en-US"/>
          </a:p>
        </p:txBody>
      </p:sp>
    </p:spTree>
    <p:extLst>
      <p:ext uri="{BB962C8B-B14F-4D97-AF65-F5344CB8AC3E}">
        <p14:creationId xmlns:p14="http://schemas.microsoft.com/office/powerpoint/2010/main" val="3882962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E0D4-3906-5E84-9A66-DB37BEBD61A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C777B22A-8A05-AD52-8CD6-5F2450701F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694885C7-A8EA-280C-CFBA-89A4A205E2F5}"/>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647C72EE-FDE1-C1F3-4957-207508BA3B3E}"/>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67DDE409-FF3D-5A1F-DCB8-2A1521C622F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874263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3B289-AB40-9846-F843-B96332043E98}"/>
              </a:ext>
            </a:extLst>
          </p:cNvPr>
          <p:cNvSpPr>
            <a:spLocks noGrp="1"/>
          </p:cNvSpPr>
          <p:nvPr>
            <p:ph type="title"/>
          </p:nvPr>
        </p:nvSpPr>
        <p:spPr>
          <a:xfrm>
            <a:off x="407368" y="229219"/>
            <a:ext cx="11377264" cy="903635"/>
          </a:xfrm>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7A32DB23-192C-438B-D8F3-D8A1D25927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6B6A9C4-05FD-10D3-FE4B-76DC2AFFDAC6}"/>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6606A97E-49EC-5507-F31A-8468F501929B}"/>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A6260223-066B-A525-B45F-4A4427D4F4C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73253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291EF-8D9D-352A-F2A6-BD2861237B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D4076055-D9A9-9CE9-1AA6-7B4562B1A7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D27972-6FA4-CF11-473A-DD997E31BDCD}"/>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78A8CE54-DDB9-AF26-27D0-3987F176487A}"/>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87F0F92-78DB-2A78-9A43-9F2F501A344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9906296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6131E-9D33-D5F2-A451-A9FAA49A46A2}"/>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0D2941E-A496-3834-EA97-689CF20864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0604C0-AB24-E0A9-4DDF-255BC4244A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59A237F5-1F8D-43F2-27CB-3E0D305071FF}"/>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84262D06-9CA1-5B96-505F-4EC2B7478141}"/>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B9E361F3-6C74-C343-9F66-2607C7CD6210}"/>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073330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2A5BB-68A9-92ED-B0E4-AD639F117EC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00859D9A-BCC6-4F00-12E7-FC7B98169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0AE4DE-A60C-1E47-B575-073B1493F0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3FC32752-23D6-3CDD-042B-A0DA0A60B9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4EF0C3-AE4A-AC37-F13D-6EA3B422D6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904ED2CC-8C47-56B3-0219-30A82DB48EAB}"/>
              </a:ext>
            </a:extLst>
          </p:cNvPr>
          <p:cNvSpPr>
            <a:spLocks noGrp="1"/>
          </p:cNvSpPr>
          <p:nvPr>
            <p:ph type="dt" sz="half" idx="10"/>
          </p:nvPr>
        </p:nvSpPr>
        <p:spPr/>
        <p:txBody>
          <a:bodyPr/>
          <a:lstStyle/>
          <a:p>
            <a:r>
              <a:rPr lang="de-CH"/>
              <a:t>July 2026, CC BY-SA 4.0</a:t>
            </a:r>
            <a:endParaRPr lang="en-US"/>
          </a:p>
        </p:txBody>
      </p:sp>
      <p:sp>
        <p:nvSpPr>
          <p:cNvPr id="8" name="Footer Placeholder 7">
            <a:extLst>
              <a:ext uri="{FF2B5EF4-FFF2-40B4-BE49-F238E27FC236}">
                <a16:creationId xmlns:a16="http://schemas.microsoft.com/office/drawing/2014/main" id="{F6E62C63-AE32-D166-FDFA-942C7FAB4E9D}"/>
              </a:ext>
            </a:extLst>
          </p:cNvPr>
          <p:cNvSpPr>
            <a:spLocks noGrp="1"/>
          </p:cNvSpPr>
          <p:nvPr>
            <p:ph type="ftr" sz="quarter" idx="11"/>
          </p:nvPr>
        </p:nvSpPr>
        <p:spPr/>
        <p:txBody>
          <a:bodyPr/>
          <a:lstStyle/>
          <a:p>
            <a:r>
              <a:rPr lang="en-US"/>
              <a:t>Data, v3.0</a:t>
            </a:r>
          </a:p>
        </p:txBody>
      </p:sp>
      <p:sp>
        <p:nvSpPr>
          <p:cNvPr id="9" name="Slide Number Placeholder 8">
            <a:extLst>
              <a:ext uri="{FF2B5EF4-FFF2-40B4-BE49-F238E27FC236}">
                <a16:creationId xmlns:a16="http://schemas.microsoft.com/office/drawing/2014/main" id="{497C64B2-A0A4-B777-5580-EB5CAFB9084F}"/>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741402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E62AF-FB55-10D2-20BC-6ED7F2F39626}"/>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A2077EB3-EC84-48C9-39A4-AE836F3AA333}"/>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CF7C5FB1-8638-CA18-69ED-E51801C8F020}"/>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B51BA662-99E8-5C9E-0EE1-72A62BD388C2}"/>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40035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3510B7-9A36-B2EE-F43B-2E6DADD6EC51}"/>
              </a:ext>
            </a:extLst>
          </p:cNvPr>
          <p:cNvSpPr>
            <a:spLocks noGrp="1"/>
          </p:cNvSpPr>
          <p:nvPr>
            <p:ph type="dt" sz="half" idx="10"/>
          </p:nvPr>
        </p:nvSpPr>
        <p:spPr/>
        <p:txBody>
          <a:bodyPr/>
          <a:lstStyle/>
          <a:p>
            <a:r>
              <a:rPr lang="de-CH"/>
              <a:t>July 2026, CC BY-SA 4.0</a:t>
            </a:r>
            <a:endParaRPr lang="en-US"/>
          </a:p>
        </p:txBody>
      </p:sp>
      <p:sp>
        <p:nvSpPr>
          <p:cNvPr id="3" name="Footer Placeholder 2">
            <a:extLst>
              <a:ext uri="{FF2B5EF4-FFF2-40B4-BE49-F238E27FC236}">
                <a16:creationId xmlns:a16="http://schemas.microsoft.com/office/drawing/2014/main" id="{DD03A99F-D0DE-3DFF-8075-E31B20756147}"/>
              </a:ext>
            </a:extLst>
          </p:cNvPr>
          <p:cNvSpPr>
            <a:spLocks noGrp="1"/>
          </p:cNvSpPr>
          <p:nvPr>
            <p:ph type="ftr" sz="quarter" idx="11"/>
          </p:nvPr>
        </p:nvSpPr>
        <p:spPr/>
        <p:txBody>
          <a:bodyPr/>
          <a:lstStyle/>
          <a:p>
            <a:r>
              <a:rPr lang="en-US"/>
              <a:t>Data, v3.0</a:t>
            </a:r>
          </a:p>
        </p:txBody>
      </p:sp>
      <p:sp>
        <p:nvSpPr>
          <p:cNvPr id="4" name="Slide Number Placeholder 3">
            <a:extLst>
              <a:ext uri="{FF2B5EF4-FFF2-40B4-BE49-F238E27FC236}">
                <a16:creationId xmlns:a16="http://schemas.microsoft.com/office/drawing/2014/main" id="{37F04033-CFD7-5273-4BFF-CFEA173C4F6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4178493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52616-2FB4-0349-153A-78EC93B317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1979301E-B075-A49D-41D1-7B2E7866DD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34903C4-83F2-7123-E293-EC7B61AF6A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93B7A2-3957-6F98-E6EB-6478DC36FE31}"/>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ED9AA7F2-AE66-8BB8-9043-2077AF0F6233}"/>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E8142501-2BAE-5ADC-8E80-79889635B3A5}"/>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1967826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E30D7-5025-56CE-7573-AB28A2D31E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4375BA7C-0CB7-CD9E-9918-BBB143F047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FD86F301-A243-6206-7894-FDA327B67E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C103FE-41C2-E0C4-9695-65B1712293BF}"/>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D63BF643-E0F9-EDBB-B372-4995A01384DC}"/>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3DB6E0D1-EBAD-C691-0DD4-170EF4A8DC33}"/>
              </a:ext>
            </a:extLst>
          </p:cNvPr>
          <p:cNvSpPr>
            <a:spLocks noGrp="1"/>
          </p:cNvSpPr>
          <p:nvPr>
            <p:ph type="sldNum" sz="quarter" idx="12"/>
          </p:nvPr>
        </p:nvSpPr>
        <p:spPr/>
        <p:txBody>
          <a:bodyPr/>
          <a:lstStyle/>
          <a:p>
            <a:fld id="{231AB8C0-1AFE-4AD2-A399-FC2954A1949B}" type="slidenum">
              <a:rPr lang="en-US" smtClean="0"/>
              <a:pPr/>
              <a:t>‹#›</a:t>
            </a:fld>
            <a:endParaRPr lang="en-US"/>
          </a:p>
        </p:txBody>
      </p:sp>
    </p:spTree>
    <p:extLst>
      <p:ext uri="{BB962C8B-B14F-4D97-AF65-F5344CB8AC3E}">
        <p14:creationId xmlns:p14="http://schemas.microsoft.com/office/powerpoint/2010/main" val="28365172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37998-4DFB-949C-9946-44ABA06DA356}"/>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90AF8318-8086-2300-EBA3-6BD9655BE5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1543218-1C1C-8ECD-A72E-EED3A3D75E02}"/>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B6338D7D-503F-65D1-2659-739E6A188D81}"/>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7739E4B-F73D-F0A8-9E9B-E60A9F31EDDB}"/>
              </a:ext>
            </a:extLst>
          </p:cNvPr>
          <p:cNvSpPr>
            <a:spLocks noGrp="1"/>
          </p:cNvSpPr>
          <p:nvPr>
            <p:ph type="sldNum" sz="quarter" idx="12"/>
          </p:nvPr>
        </p:nvSpPr>
        <p:spPr/>
        <p:txBody>
          <a:bodyPr/>
          <a:lstStyle/>
          <a:p>
            <a:fld id="{FF05A131-7E6B-4BFA-A2D4-3B708019D05F}" type="slidenum">
              <a:rPr lang="en-US" smtClean="0"/>
              <a:pPr/>
              <a:t>‹#›</a:t>
            </a:fld>
            <a:endParaRPr lang="en-US"/>
          </a:p>
        </p:txBody>
      </p:sp>
    </p:spTree>
    <p:extLst>
      <p:ext uri="{BB962C8B-B14F-4D97-AF65-F5344CB8AC3E}">
        <p14:creationId xmlns:p14="http://schemas.microsoft.com/office/powerpoint/2010/main" val="465320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320345-524B-8751-BCE7-58AFCFD2B7E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1847C1A7-E700-E428-197C-BDCDADD7C3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E40B8320-916C-734C-F2BE-F0C29D855489}"/>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9D6AD22D-995A-2177-AEFB-2B97C7188C40}"/>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EA7E489E-1D46-1DD9-1A3C-47EC27CC722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327080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F4ECE4-3DA8-E41F-11D2-43FCEDC7CEA5}"/>
              </a:ext>
            </a:extLst>
          </p:cNvPr>
          <p:cNvSpPr>
            <a:spLocks noGrp="1"/>
          </p:cNvSpPr>
          <p:nvPr>
            <p:ph type="title"/>
          </p:nvPr>
        </p:nvSpPr>
        <p:spPr>
          <a:xfrm>
            <a:off x="407368" y="229219"/>
            <a:ext cx="11305256" cy="903635"/>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D5A1490D-9724-58BB-AD71-515B6AB11E50}"/>
              </a:ext>
            </a:extLst>
          </p:cNvPr>
          <p:cNvSpPr>
            <a:spLocks noGrp="1"/>
          </p:cNvSpPr>
          <p:nvPr>
            <p:ph type="body" idx="1"/>
          </p:nvPr>
        </p:nvSpPr>
        <p:spPr>
          <a:xfrm>
            <a:off x="838200" y="1484784"/>
            <a:ext cx="10515600" cy="469217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13AB7A2D-647B-C07A-70E3-1B633820BD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de-CH"/>
              <a:t>July 2026, CC BY-SA 4.0</a:t>
            </a:r>
            <a:endParaRPr lang="en-US"/>
          </a:p>
        </p:txBody>
      </p:sp>
      <p:sp>
        <p:nvSpPr>
          <p:cNvPr id="5" name="Footer Placeholder 4">
            <a:extLst>
              <a:ext uri="{FF2B5EF4-FFF2-40B4-BE49-F238E27FC236}">
                <a16:creationId xmlns:a16="http://schemas.microsoft.com/office/drawing/2014/main" id="{505343BC-648B-7077-AF70-1F5B996DEC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Data, v3.0</a:t>
            </a:r>
          </a:p>
        </p:txBody>
      </p:sp>
      <p:sp>
        <p:nvSpPr>
          <p:cNvPr id="6" name="Slide Number Placeholder 5">
            <a:extLst>
              <a:ext uri="{FF2B5EF4-FFF2-40B4-BE49-F238E27FC236}">
                <a16:creationId xmlns:a16="http://schemas.microsoft.com/office/drawing/2014/main" id="{532DD780-2E37-97CA-6F6B-10CB932FDB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79ADEA-B933-47CC-A4E9-04E6298B917C}" type="slidenum">
              <a:rPr lang="en-US" smtClean="0"/>
              <a:pPr/>
              <a:t>‹#›</a:t>
            </a:fld>
            <a:endParaRPr lang="en-US"/>
          </a:p>
        </p:txBody>
      </p:sp>
    </p:spTree>
    <p:extLst>
      <p:ext uri="{BB962C8B-B14F-4D97-AF65-F5344CB8AC3E}">
        <p14:creationId xmlns:p14="http://schemas.microsoft.com/office/powerpoint/2010/main" val="366222296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4.png"/><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3.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 name="Picture 10" descr="Image">
            <a:extLst>
              <a:ext uri="{FF2B5EF4-FFF2-40B4-BE49-F238E27FC236}">
                <a16:creationId xmlns:a16="http://schemas.microsoft.com/office/drawing/2014/main" id="{F6E42A27-D61A-A59C-CFE4-ECE6CA77B1E5}"/>
              </a:ext>
            </a:extLst>
          </p:cNvPr>
          <p:cNvPicPr>
            <a:picLocks noChangeAspect="1" noChangeArrowheads="1"/>
          </p:cNvPicPr>
          <p:nvPr/>
        </p:nvPicPr>
        <p:blipFill rotWithShape="1">
          <a:blip r:embed="rId3">
            <a:clrChange>
              <a:clrFrom>
                <a:srgbClr val="FEFFFF"/>
              </a:clrFrom>
              <a:clrTo>
                <a:srgbClr val="FEFFFF">
                  <a:alpha val="0"/>
                </a:srgbClr>
              </a:clrTo>
            </a:clrChange>
            <a:extLst>
              <a:ext uri="{28A0092B-C50C-407E-A947-70E740481C1C}">
                <a14:useLocalDpi xmlns:a14="http://schemas.microsoft.com/office/drawing/2010/main" val="0"/>
              </a:ext>
            </a:extLst>
          </a:blip>
          <a:srcRect l="459" r="-1" b="4762"/>
          <a:stretch/>
        </p:blipFill>
        <p:spPr bwMode="auto">
          <a:xfrm>
            <a:off x="1176772" y="1484784"/>
            <a:ext cx="9838455" cy="5275307"/>
          </a:xfrm>
          <a:prstGeom prst="rect">
            <a:avLst/>
          </a:prstGeom>
          <a:noFill/>
          <a:extLst>
            <a:ext uri="{909E8E84-426E-40DD-AFC4-6F175D3DCCD1}">
              <a14:hiddenFill xmlns:a14="http://schemas.microsoft.com/office/drawing/2010/main">
                <a:solidFill>
                  <a:srgbClr val="FFFFFF"/>
                </a:solidFill>
              </a14:hiddenFill>
            </a:ext>
          </a:extLst>
        </p:spPr>
      </p:pic>
      <p:sp>
        <p:nvSpPr>
          <p:cNvPr id="8" name="Title 1">
            <a:extLst>
              <a:ext uri="{FF2B5EF4-FFF2-40B4-BE49-F238E27FC236}">
                <a16:creationId xmlns:a16="http://schemas.microsoft.com/office/drawing/2014/main" id="{79B30C8B-B7EA-E43D-12A0-28FE49F4C559}"/>
              </a:ext>
            </a:extLst>
          </p:cNvPr>
          <p:cNvSpPr txBox="1">
            <a:spLocks/>
          </p:cNvSpPr>
          <p:nvPr/>
        </p:nvSpPr>
        <p:spPr>
          <a:xfrm>
            <a:off x="263352" y="0"/>
            <a:ext cx="6696744" cy="1484784"/>
          </a:xfrm>
          <a:prstGeom prst="rect">
            <a:avLst/>
          </a:prstGeom>
          <a:noFill/>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8000" b="1" dirty="0"/>
              <a:t>The data class</a:t>
            </a:r>
            <a:endParaRPr lang="en-GB" sz="4000" dirty="0"/>
          </a:p>
        </p:txBody>
      </p:sp>
      <p:sp>
        <p:nvSpPr>
          <p:cNvPr id="10" name="Subtitle 2">
            <a:extLst>
              <a:ext uri="{FF2B5EF4-FFF2-40B4-BE49-F238E27FC236}">
                <a16:creationId xmlns:a16="http://schemas.microsoft.com/office/drawing/2014/main" id="{1B3065C6-8368-ADA9-51D1-56948C3C7FCC}"/>
              </a:ext>
            </a:extLst>
          </p:cNvPr>
          <p:cNvSpPr txBox="1">
            <a:spLocks/>
          </p:cNvSpPr>
          <p:nvPr/>
        </p:nvSpPr>
        <p:spPr>
          <a:xfrm>
            <a:off x="335360" y="1308550"/>
            <a:ext cx="5921896" cy="548285"/>
          </a:xfrm>
          <a:prstGeom prst="rect">
            <a:avLst/>
          </a:prstGeom>
          <a:no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GB" sz="2800" noProof="1"/>
              <a:t>Pietro Berkes &amp; Verjinia Metodieva</a:t>
            </a:r>
          </a:p>
        </p:txBody>
      </p:sp>
      <p:sp>
        <p:nvSpPr>
          <p:cNvPr id="2" name="TextBox 1">
            <a:extLst>
              <a:ext uri="{FF2B5EF4-FFF2-40B4-BE49-F238E27FC236}">
                <a16:creationId xmlns:a16="http://schemas.microsoft.com/office/drawing/2014/main" id="{C5770D2C-CE72-8C97-3885-7C4B621C5DDA}"/>
              </a:ext>
            </a:extLst>
          </p:cNvPr>
          <p:cNvSpPr txBox="1"/>
          <p:nvPr/>
        </p:nvSpPr>
        <p:spPr>
          <a:xfrm>
            <a:off x="8040216" y="196338"/>
            <a:ext cx="3946765" cy="1200329"/>
          </a:xfrm>
          <a:prstGeom prst="rect">
            <a:avLst/>
          </a:prstGeom>
          <a:solidFill>
            <a:srgbClr val="F0D0D5"/>
          </a:solidFill>
        </p:spPr>
        <p:txBody>
          <a:bodyPr wrap="square" rtlCol="0">
            <a:spAutoFit/>
          </a:bodyPr>
          <a:lstStyle/>
          <a:p>
            <a:r>
              <a:rPr lang="en-US" sz="2400" dirty="0"/>
              <a:t>Fork and clone repository</a:t>
            </a:r>
          </a:p>
          <a:p>
            <a:r>
              <a:rPr lang="en-US" sz="2400" dirty="0"/>
              <a:t>https://</a:t>
            </a:r>
            <a:r>
              <a:rPr lang="en-US" sz="2400" dirty="0" err="1"/>
              <a:t>git.aspp.school</a:t>
            </a:r>
            <a:r>
              <a:rPr lang="en-US" sz="2400" dirty="0"/>
              <a:t>/ASPP/2026-latam-data</a:t>
            </a:r>
          </a:p>
        </p:txBody>
      </p:sp>
      <p:sp>
        <p:nvSpPr>
          <p:cNvPr id="3" name="Date Placeholder 2">
            <a:extLst>
              <a:ext uri="{FF2B5EF4-FFF2-40B4-BE49-F238E27FC236}">
                <a16:creationId xmlns:a16="http://schemas.microsoft.com/office/drawing/2014/main" id="{D27A2D24-AC0B-2E08-8D4D-371E44E303C4}"/>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226F1862-EE2B-EEF6-9649-C8F972F24C0A}"/>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619095A5-B693-45CA-16EA-FD77DC459EB9}"/>
              </a:ext>
            </a:extLst>
          </p:cNvPr>
          <p:cNvSpPr>
            <a:spLocks noGrp="1"/>
          </p:cNvSpPr>
          <p:nvPr>
            <p:ph type="sldNum" sz="quarter" idx="12"/>
          </p:nvPr>
        </p:nvSpPr>
        <p:spPr/>
        <p:txBody>
          <a:bodyPr/>
          <a:lstStyle/>
          <a:p>
            <a:fld id="{EF79ADEA-B933-47CC-A4E9-04E6298B917C}" type="slidenum">
              <a:rPr lang="en-US" smtClean="0"/>
              <a:pPr/>
              <a:t>1</a:t>
            </a:fld>
            <a:endParaRPr lang="en-US"/>
          </a:p>
        </p:txBody>
      </p:sp>
    </p:spTree>
    <p:extLst>
      <p:ext uri="{BB962C8B-B14F-4D97-AF65-F5344CB8AC3E}">
        <p14:creationId xmlns:p14="http://schemas.microsoft.com/office/powerpoint/2010/main" val="3891822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B577FDDB-A9EF-6DDD-947A-D655777D4A54}"/>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47D46AEB-0E34-4185-A14F-6B12DC1FC0D4}"/>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11835EFC-8F88-AF0B-16E7-A95ABDD6578B}"/>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2" name="Title 1">
            <a:extLst>
              <a:ext uri="{FF2B5EF4-FFF2-40B4-BE49-F238E27FC236}">
                <a16:creationId xmlns:a16="http://schemas.microsoft.com/office/drawing/2014/main" id="{5BA0FCD9-AF8E-A04C-9FB9-6BD7716CE367}"/>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9C3F6D2C-8568-75B2-5DA6-9D96D5E01790}"/>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5F8ECBDF-014C-301E-2FD7-3574CD7C4F4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22BCDEC-892A-1E58-C606-12D7CD60B8AE}"/>
              </a:ext>
            </a:extLst>
          </p:cNvPr>
          <p:cNvSpPr>
            <a:spLocks noGrp="1"/>
          </p:cNvSpPr>
          <p:nvPr>
            <p:ph type="sldNum" sz="quarter" idx="12"/>
          </p:nvPr>
        </p:nvSpPr>
        <p:spPr>
          <a:xfrm>
            <a:off x="8610600" y="6376243"/>
            <a:ext cx="2743200" cy="365125"/>
          </a:xfrm>
        </p:spPr>
        <p:txBody>
          <a:bodyPr/>
          <a:lstStyle/>
          <a:p>
            <a:fld id="{EF79ADEA-B933-47CC-A4E9-04E6298B917C}" type="slidenum">
              <a:rPr lang="en-US" smtClean="0"/>
              <a:pPr/>
              <a:t>2</a:t>
            </a:fld>
            <a:endParaRPr lang="en-US" dirty="0"/>
          </a:p>
        </p:txBody>
      </p:sp>
      <p:grpSp>
        <p:nvGrpSpPr>
          <p:cNvPr id="3" name="Group 2">
            <a:extLst>
              <a:ext uri="{FF2B5EF4-FFF2-40B4-BE49-F238E27FC236}">
                <a16:creationId xmlns:a16="http://schemas.microsoft.com/office/drawing/2014/main" id="{88551AC0-E64B-10BA-4A93-8095149365A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0FF5F64F-15BA-05FB-1AAB-3FD93F5C034D}"/>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C9B7608A-6067-51DD-3F1D-8BE01A519010}"/>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3AAA0686-1522-D489-C48C-D96E450DA13A}"/>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AFEF5E98-D15A-071E-6FCE-8FC062D2AAD5}"/>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417C9F24-16F9-BD1B-E285-142428502DD8}"/>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Tree>
    <p:extLst>
      <p:ext uri="{BB962C8B-B14F-4D97-AF65-F5344CB8AC3E}">
        <p14:creationId xmlns:p14="http://schemas.microsoft.com/office/powerpoint/2010/main" val="29537760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CC2B-84ED-25DF-E94B-3C5FBFB1E6B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4B91F2F-1B42-9179-DBEA-656FCA1EED4A}"/>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38F8647F-F349-5E7A-9862-98CFC7B87422}"/>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74C4A7EB-0B07-2BEA-A70F-0C7D4F82822F}"/>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9" name="Rectangle 8">
            <a:extLst>
              <a:ext uri="{FF2B5EF4-FFF2-40B4-BE49-F238E27FC236}">
                <a16:creationId xmlns:a16="http://schemas.microsoft.com/office/drawing/2014/main" id="{0F599EBF-7667-EFC2-7798-C8986EA46A63}"/>
              </a:ext>
            </a:extLst>
          </p:cNvPr>
          <p:cNvSpPr/>
          <p:nvPr/>
        </p:nvSpPr>
        <p:spPr>
          <a:xfrm>
            <a:off x="4329487" y="1132854"/>
            <a:ext cx="3528392" cy="4960442"/>
          </a:xfrm>
          <a:prstGeom prst="rect">
            <a:avLst/>
          </a:prstGeom>
          <a:solidFill>
            <a:srgbClr val="FFFF00">
              <a:alpha val="23137"/>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61C9873-ACD3-6EFB-B8A5-D93371019952}"/>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501F9391-DEE2-82DE-F5A0-D1B801300670}"/>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FDA5D7B-0BDE-E18E-59DF-DB9E1CA63B0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8667000-C0E4-BD89-53A1-0E24B027C321}"/>
              </a:ext>
            </a:extLst>
          </p:cNvPr>
          <p:cNvSpPr>
            <a:spLocks noGrp="1"/>
          </p:cNvSpPr>
          <p:nvPr>
            <p:ph type="sldNum" sz="quarter" idx="12"/>
          </p:nvPr>
        </p:nvSpPr>
        <p:spPr/>
        <p:txBody>
          <a:bodyPr/>
          <a:lstStyle/>
          <a:p>
            <a:fld id="{EF79ADEA-B933-47CC-A4E9-04E6298B917C}" type="slidenum">
              <a:rPr lang="en-US" smtClean="0"/>
              <a:pPr/>
              <a:t>3</a:t>
            </a:fld>
            <a:endParaRPr lang="en-US" dirty="0"/>
          </a:p>
        </p:txBody>
      </p:sp>
      <p:grpSp>
        <p:nvGrpSpPr>
          <p:cNvPr id="3" name="Group 2">
            <a:extLst>
              <a:ext uri="{FF2B5EF4-FFF2-40B4-BE49-F238E27FC236}">
                <a16:creationId xmlns:a16="http://schemas.microsoft.com/office/drawing/2014/main" id="{061B40CE-2ABC-025D-A1F8-DF7C6BE4DBB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A03C1DDA-B6BD-A68D-E444-D37F8C969D42}"/>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7DD37CB0-5D48-DCB0-FA7A-D9008557FC7D}"/>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E381C9FC-69E3-DA3E-4B34-9599338C6C25}"/>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8CE2A4E1-D4D6-5609-3282-58044EE482F0}"/>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51674B81-C608-01BE-A62C-86F8D68DB907}"/>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Tree>
    <p:extLst>
      <p:ext uri="{BB962C8B-B14F-4D97-AF65-F5344CB8AC3E}">
        <p14:creationId xmlns:p14="http://schemas.microsoft.com/office/powerpoint/2010/main" val="389396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4</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Tree>
    <p:extLst>
      <p:ext uri="{BB962C8B-B14F-4D97-AF65-F5344CB8AC3E}">
        <p14:creationId xmlns:p14="http://schemas.microsoft.com/office/powerpoint/2010/main" val="658294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5</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811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6</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NumPy array</a:t>
            </a:r>
            <a:endParaRPr lang="en-CH" sz="14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6A5EB302-471C-3A1F-90B7-A0CF11BB263B}"/>
              </a:ext>
            </a:extLst>
          </p:cNvPr>
          <p:cNvPicPr>
            <a:picLocks noChangeAspect="1"/>
          </p:cNvPicPr>
          <p:nvPr/>
        </p:nvPicPr>
        <p:blipFill>
          <a:blip r:embed="rId4"/>
          <a:stretch>
            <a:fillRect/>
          </a:stretch>
        </p:blipFill>
        <p:spPr>
          <a:xfrm>
            <a:off x="6240016" y="2554072"/>
            <a:ext cx="4802090" cy="2696398"/>
          </a:xfrm>
          <a:prstGeom prst="rect">
            <a:avLst/>
          </a:prstGeom>
        </p:spPr>
      </p:pic>
    </p:spTree>
    <p:extLst>
      <p:ext uri="{BB962C8B-B14F-4D97-AF65-F5344CB8AC3E}">
        <p14:creationId xmlns:p14="http://schemas.microsoft.com/office/powerpoint/2010/main" val="996809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7</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656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8</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Dictionary</a:t>
            </a:r>
            <a:endParaRPr lang="en-CH" sz="14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6218BC3-3334-B4E5-E3FF-78034A0812B5}"/>
              </a:ext>
            </a:extLst>
          </p:cNvPr>
          <p:cNvSpPr txBox="1"/>
          <p:nvPr/>
        </p:nvSpPr>
        <p:spPr>
          <a:xfrm>
            <a:off x="6583661" y="2820799"/>
            <a:ext cx="4114800" cy="2031325"/>
          </a:xfrm>
          <a:prstGeom prst="rect">
            <a:avLst/>
          </a:prstGeom>
          <a:noFill/>
        </p:spPr>
        <p:txBody>
          <a:bodyPr wrap="square">
            <a:spAutoFit/>
          </a:bodyPr>
          <a:lstStyle/>
          <a:p>
            <a:r>
              <a:rPr lang="en-US" noProof="1">
                <a:latin typeface="Consolas" panose="020B0609020204030204" pitchFamily="49" charset="0"/>
                <a:cs typeface="Consolas" panose="020B0609020204030204" pitchFamily="49" charset="0"/>
              </a:rPr>
              <a:t>colors_hex = {</a:t>
            </a:r>
            <a:br>
              <a:rPr lang="en-US" noProof="1">
                <a:latin typeface="Consolas" panose="020B0609020204030204" pitchFamily="49" charset="0"/>
                <a:cs typeface="Consolas" panose="020B0609020204030204" pitchFamily="49" charset="0"/>
              </a:rPr>
            </a:br>
            <a:r>
              <a:rPr lang="en-US" noProof="1">
                <a:latin typeface="Consolas" panose="020B0609020204030204" pitchFamily="49" charset="0"/>
                <a:cs typeface="Consolas" panose="020B0609020204030204" pitchFamily="49" charset="0"/>
              </a:rPr>
              <a:t>   "tawny orange": "#CD5700", </a:t>
            </a:r>
          </a:p>
          <a:p>
            <a:r>
              <a:rPr lang="en-US" noProof="1">
                <a:latin typeface="Consolas" panose="020B0609020204030204" pitchFamily="49" charset="0"/>
                <a:cs typeface="Consolas" panose="020B0609020204030204" pitchFamily="49" charset="0"/>
              </a:rPr>
              <a:t>   "very peri": "#6667AB", </a:t>
            </a:r>
          </a:p>
          <a:p>
            <a:r>
              <a:rPr lang="en-US" noProof="1">
                <a:latin typeface="Consolas" panose="020B0609020204030204" pitchFamily="49" charset="0"/>
                <a:cs typeface="Consolas" panose="020B0609020204030204" pitchFamily="49" charset="0"/>
              </a:rPr>
              <a:t>   "iced coffee": "#C5A582”,</a:t>
            </a:r>
          </a:p>
          <a:p>
            <a:r>
              <a:rPr lang="en-US" noProof="1">
                <a:latin typeface="Consolas" panose="020B0609020204030204" pitchFamily="49" charset="0"/>
                <a:cs typeface="Consolas" panose="020B0609020204030204" pitchFamily="49" charset="0"/>
              </a:rPr>
              <a:t>   "pink flambé": "#DC4C8B”,</a:t>
            </a:r>
          </a:p>
          <a:p>
            <a:r>
              <a:rPr lang="en-US" noProof="1">
                <a:latin typeface="Consolas" panose="020B0609020204030204" pitchFamily="49" charset="0"/>
                <a:cs typeface="Consolas" panose="020B0609020204030204" pitchFamily="49" charset="0"/>
              </a:rPr>
              <a:t>   # …</a:t>
            </a:r>
          </a:p>
          <a:p>
            <a:r>
              <a:rPr lang="en-US" noProof="1">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47409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9</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0534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10</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4" name="TextBox 23">
            <a:extLst>
              <a:ext uri="{FF2B5EF4-FFF2-40B4-BE49-F238E27FC236}">
                <a16:creationId xmlns:a16="http://schemas.microsoft.com/office/drawing/2014/main" id="{13610419-F7FB-35C8-B4AA-30A8C342C763}"/>
              </a:ext>
            </a:extLst>
          </p:cNvPr>
          <p:cNvSpPr txBox="1"/>
          <p:nvPr/>
        </p:nvSpPr>
        <p:spPr>
          <a:xfrm>
            <a:off x="7752183" y="1886436"/>
            <a:ext cx="2461055" cy="400110"/>
          </a:xfrm>
          <a:prstGeom prst="rect">
            <a:avLst/>
          </a:prstGeom>
          <a:solidFill>
            <a:schemeClr val="accent6">
              <a:lumMod val="20000"/>
              <a:lumOff val="80000"/>
            </a:schemeClr>
          </a:solidFill>
        </p:spPr>
        <p:txBody>
          <a:bodyPr wrap="square">
            <a:spAutoFit/>
          </a:bodyPr>
          <a:lstStyle/>
          <a:p>
            <a:pPr algn="ctr"/>
            <a:r>
              <a:rPr lang="en-US" sz="2000" dirty="0"/>
              <a:t>Pandas </a:t>
            </a:r>
            <a:r>
              <a:rPr lang="en-US" sz="2000" dirty="0" err="1"/>
              <a:t>DataFrame</a:t>
            </a:r>
            <a:endParaRPr lang="en-CH" sz="1400" dirty="0"/>
          </a:p>
        </p:txBody>
      </p:sp>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0E5F60C-AF66-905E-B474-1AD414558378}"/>
              </a:ext>
            </a:extLst>
          </p:cNvPr>
          <p:cNvPicPr>
            <a:picLocks noChangeAspect="1"/>
          </p:cNvPicPr>
          <p:nvPr/>
        </p:nvPicPr>
        <p:blipFill>
          <a:blip r:embed="rId4"/>
          <a:stretch>
            <a:fillRect/>
          </a:stretch>
        </p:blipFill>
        <p:spPr>
          <a:xfrm>
            <a:off x="6540201" y="2472850"/>
            <a:ext cx="4885020" cy="2001093"/>
          </a:xfrm>
          <a:prstGeom prst="rect">
            <a:avLst/>
          </a:prstGeom>
        </p:spPr>
      </p:pic>
    </p:spTree>
    <p:extLst>
      <p:ext uri="{BB962C8B-B14F-4D97-AF65-F5344CB8AC3E}">
        <p14:creationId xmlns:p14="http://schemas.microsoft.com/office/powerpoint/2010/main" val="2208310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11</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3"/>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4"/>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5"/>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6"/>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7"/>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Tree>
    <p:extLst>
      <p:ext uri="{BB962C8B-B14F-4D97-AF65-F5344CB8AC3E}">
        <p14:creationId xmlns:p14="http://schemas.microsoft.com/office/powerpoint/2010/main" val="185475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12</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10" name="Group 9">
            <a:extLst>
              <a:ext uri="{FF2B5EF4-FFF2-40B4-BE49-F238E27FC236}">
                <a16:creationId xmlns:a16="http://schemas.microsoft.com/office/drawing/2014/main" id="{1A709E09-F4F0-1EA7-3D17-131521DB0BEC}"/>
              </a:ext>
            </a:extLst>
          </p:cNvPr>
          <p:cNvGrpSpPr/>
          <p:nvPr/>
        </p:nvGrpSpPr>
        <p:grpSpPr>
          <a:xfrm>
            <a:off x="8841002" y="1646570"/>
            <a:ext cx="2263552" cy="2445133"/>
            <a:chOff x="3125712" y="1331713"/>
            <a:chExt cx="2263552" cy="2445133"/>
          </a:xfrm>
        </p:grpSpPr>
        <p:pic>
          <p:nvPicPr>
            <p:cNvPr id="15" name="Picture 4" descr="Graphs and Trees">
              <a:extLst>
                <a:ext uri="{FF2B5EF4-FFF2-40B4-BE49-F238E27FC236}">
                  <a16:creationId xmlns:a16="http://schemas.microsoft.com/office/drawing/2014/main" id="{21E050BE-4CE8-CBD1-A7DC-DB3C719D13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883" t="13312" r="3650" b="9432"/>
            <a:stretch/>
          </p:blipFill>
          <p:spPr bwMode="auto">
            <a:xfrm>
              <a:off x="3213372" y="1331713"/>
              <a:ext cx="2088232" cy="1774546"/>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DD54E6D7-5DFE-FBC8-C286-DFB5BA358B0F}"/>
                </a:ext>
              </a:extLst>
            </p:cNvPr>
            <p:cNvSpPr txBox="1"/>
            <p:nvPr/>
          </p:nvSpPr>
          <p:spPr>
            <a:xfrm>
              <a:off x="3125712" y="3068960"/>
              <a:ext cx="2263552" cy="707886"/>
            </a:xfrm>
            <a:prstGeom prst="rect">
              <a:avLst/>
            </a:prstGeom>
            <a:solidFill>
              <a:schemeClr val="accent4">
                <a:lumMod val="40000"/>
                <a:lumOff val="60000"/>
              </a:schemeClr>
            </a:solidFill>
          </p:spPr>
          <p:txBody>
            <a:bodyPr wrap="square">
              <a:spAutoFit/>
            </a:bodyPr>
            <a:lstStyle/>
            <a:p>
              <a:pPr algn="ctr"/>
              <a:r>
                <a:rPr lang="en-US" sz="2000" dirty="0"/>
                <a:t>Adjacency matrix (array)</a:t>
              </a:r>
              <a:endParaRPr lang="en-CH" sz="1400" dirty="0"/>
            </a:p>
          </p:txBody>
        </p:sp>
      </p:grpSp>
      <p:grpSp>
        <p:nvGrpSpPr>
          <p:cNvPr id="18" name="Group 17">
            <a:extLst>
              <a:ext uri="{FF2B5EF4-FFF2-40B4-BE49-F238E27FC236}">
                <a16:creationId xmlns:a16="http://schemas.microsoft.com/office/drawing/2014/main" id="{282FCE45-920A-A901-73BA-AB588EDA95CF}"/>
              </a:ext>
            </a:extLst>
          </p:cNvPr>
          <p:cNvGrpSpPr/>
          <p:nvPr/>
        </p:nvGrpSpPr>
        <p:grpSpPr>
          <a:xfrm>
            <a:off x="9293895" y="4329948"/>
            <a:ext cx="1334346" cy="2009511"/>
            <a:chOff x="8153400" y="1322067"/>
            <a:chExt cx="1334346" cy="2009511"/>
          </a:xfrm>
        </p:grpSpPr>
        <p:pic>
          <p:nvPicPr>
            <p:cNvPr id="19" name="Picture 18">
              <a:extLst>
                <a:ext uri="{FF2B5EF4-FFF2-40B4-BE49-F238E27FC236}">
                  <a16:creationId xmlns:a16="http://schemas.microsoft.com/office/drawing/2014/main" id="{46004093-E567-5794-6169-B0A869476794}"/>
                </a:ext>
              </a:extLst>
            </p:cNvPr>
            <p:cNvPicPr>
              <a:picLocks noChangeAspect="1"/>
            </p:cNvPicPr>
            <p:nvPr/>
          </p:nvPicPr>
          <p:blipFill>
            <a:blip r:embed="rId4"/>
            <a:stretch>
              <a:fillRect/>
            </a:stretch>
          </p:blipFill>
          <p:spPr>
            <a:xfrm>
              <a:off x="8153400" y="1322067"/>
              <a:ext cx="1334346" cy="1509918"/>
            </a:xfrm>
            <a:prstGeom prst="rect">
              <a:avLst/>
            </a:prstGeom>
          </p:spPr>
        </p:pic>
        <p:sp>
          <p:nvSpPr>
            <p:cNvPr id="20" name="TextBox 19">
              <a:extLst>
                <a:ext uri="{FF2B5EF4-FFF2-40B4-BE49-F238E27FC236}">
                  <a16:creationId xmlns:a16="http://schemas.microsoft.com/office/drawing/2014/main" id="{9AA187DE-3E67-222A-5AE7-A9FCDBA1B7E8}"/>
                </a:ext>
              </a:extLst>
            </p:cNvPr>
            <p:cNvSpPr txBox="1"/>
            <p:nvPr/>
          </p:nvSpPr>
          <p:spPr>
            <a:xfrm>
              <a:off x="8153400" y="2931468"/>
              <a:ext cx="1334346" cy="400110"/>
            </a:xfrm>
            <a:prstGeom prst="rect">
              <a:avLst/>
            </a:prstGeom>
            <a:solidFill>
              <a:schemeClr val="accent4">
                <a:lumMod val="40000"/>
                <a:lumOff val="60000"/>
              </a:schemeClr>
            </a:solidFill>
          </p:spPr>
          <p:txBody>
            <a:bodyPr wrap="square">
              <a:spAutoFit/>
            </a:bodyPr>
            <a:lstStyle/>
            <a:p>
              <a:pPr algn="ctr"/>
              <a:r>
                <a:rPr lang="en-US" sz="2000" dirty="0"/>
                <a:t>Dictionary</a:t>
              </a:r>
              <a:endParaRPr lang="en-CH" sz="1400" dirty="0"/>
            </a:p>
          </p:txBody>
        </p:sp>
      </p:grpSp>
      <p:sp>
        <p:nvSpPr>
          <p:cNvPr id="21" name="TextBox 20">
            <a:extLst>
              <a:ext uri="{FF2B5EF4-FFF2-40B4-BE49-F238E27FC236}">
                <a16:creationId xmlns:a16="http://schemas.microsoft.com/office/drawing/2014/main" id="{51F4795F-0E46-712F-0C93-84CFFAE65A2A}"/>
              </a:ext>
            </a:extLst>
          </p:cNvPr>
          <p:cNvSpPr txBox="1"/>
          <p:nvPr/>
        </p:nvSpPr>
        <p:spPr>
          <a:xfrm>
            <a:off x="9025715" y="1238015"/>
            <a:ext cx="1870705" cy="400110"/>
          </a:xfrm>
          <a:prstGeom prst="rect">
            <a:avLst/>
          </a:prstGeom>
          <a:noFill/>
        </p:spPr>
        <p:txBody>
          <a:bodyPr wrap="none" rtlCol="0">
            <a:spAutoFit/>
          </a:bodyPr>
          <a:lstStyle/>
          <a:p>
            <a:pPr algn="ctr"/>
            <a:r>
              <a:rPr lang="en-US" sz="2000" dirty="0"/>
              <a:t>Implemented as</a:t>
            </a:r>
          </a:p>
        </p:txBody>
      </p:sp>
      <p:pic>
        <p:nvPicPr>
          <p:cNvPr id="45" name="Picture 4" descr="Graphs and Trees">
            <a:extLst>
              <a:ext uri="{FF2B5EF4-FFF2-40B4-BE49-F238E27FC236}">
                <a16:creationId xmlns:a16="http://schemas.microsoft.com/office/drawing/2014/main" id="{9D7D42CD-F690-B9D9-DBF1-17DD44EF9E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117"/>
          <a:stretch/>
        </p:blipFill>
        <p:spPr bwMode="auto">
          <a:xfrm>
            <a:off x="5303912" y="2530851"/>
            <a:ext cx="2268016" cy="2050554"/>
          </a:xfrm>
          <a:prstGeom prst="rect">
            <a:avLst/>
          </a:prstGeom>
          <a:noFill/>
          <a:extLst>
            <a:ext uri="{909E8E84-426E-40DD-AFC4-6F175D3DCCD1}">
              <a14:hiddenFill xmlns:a14="http://schemas.microsoft.com/office/drawing/2010/main">
                <a:solidFill>
                  <a:srgbClr val="FFFFFF"/>
                </a:solidFill>
              </a14:hiddenFill>
            </a:ext>
          </a:extLst>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5"/>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6"/>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7"/>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8"/>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9"/>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
        <p:nvSpPr>
          <p:cNvPr id="4096" name="TextBox 4095">
            <a:extLst>
              <a:ext uri="{FF2B5EF4-FFF2-40B4-BE49-F238E27FC236}">
                <a16:creationId xmlns:a16="http://schemas.microsoft.com/office/drawing/2014/main" id="{4A3B416D-97FF-6574-C154-E6C622182AC5}"/>
              </a:ext>
            </a:extLst>
          </p:cNvPr>
          <p:cNvSpPr txBox="1"/>
          <p:nvPr/>
        </p:nvSpPr>
        <p:spPr>
          <a:xfrm>
            <a:off x="5303912" y="1867569"/>
            <a:ext cx="2461055" cy="400110"/>
          </a:xfrm>
          <a:prstGeom prst="rect">
            <a:avLst/>
          </a:prstGeom>
          <a:solidFill>
            <a:schemeClr val="accent6">
              <a:lumMod val="20000"/>
              <a:lumOff val="80000"/>
            </a:schemeClr>
          </a:solidFill>
        </p:spPr>
        <p:txBody>
          <a:bodyPr wrap="square">
            <a:spAutoFit/>
          </a:bodyPr>
          <a:lstStyle/>
          <a:p>
            <a:pPr algn="ctr"/>
            <a:r>
              <a:rPr lang="en-US" sz="2000" dirty="0"/>
              <a:t>Graph</a:t>
            </a:r>
            <a:endParaRPr lang="en-CH" sz="1400" dirty="0"/>
          </a:p>
        </p:txBody>
      </p:sp>
    </p:spTree>
    <p:extLst>
      <p:ext uri="{BB962C8B-B14F-4D97-AF65-F5344CB8AC3E}">
        <p14:creationId xmlns:p14="http://schemas.microsoft.com/office/powerpoint/2010/main" val="2888128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noAutofit/>
          </a:bodyPr>
          <a:lstStyle/>
          <a:p>
            <a:r>
              <a:rPr lang="en-US" sz="3600" dirty="0"/>
              <a:t>You develop your code on a </a:t>
            </a:r>
            <a:r>
              <a:rPr lang="en-CH" sz="3600" dirty="0"/>
              <a:t>small data set, how is it going to scale to the complete data set?</a:t>
            </a:r>
            <a:r>
              <a:rPr lang="en-US" sz="3600" dirty="0"/>
              <a:t> </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July 2026, CC BY-SA 4.0</a:t>
            </a:r>
            <a:endParaRPr lang="en-US" dirty="0"/>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13</a:t>
            </a:fld>
            <a:endParaRPr lang="en-US"/>
          </a:p>
        </p:txBody>
      </p:sp>
      <p:graphicFrame>
        <p:nvGraphicFramePr>
          <p:cNvPr id="10" name="Table 9">
            <a:extLst>
              <a:ext uri="{FF2B5EF4-FFF2-40B4-BE49-F238E27FC236}">
                <a16:creationId xmlns:a16="http://schemas.microsoft.com/office/drawing/2014/main" id="{4192A762-AB0A-B599-3CFD-A8BED3E0955B}"/>
              </a:ext>
            </a:extLst>
          </p:cNvPr>
          <p:cNvGraphicFramePr>
            <a:graphicFrameLocks noGrp="1"/>
          </p:cNvGraphicFramePr>
          <p:nvPr>
            <p:extLst>
              <p:ext uri="{D42A27DB-BD31-4B8C-83A1-F6EECF244321}">
                <p14:modId xmlns:p14="http://schemas.microsoft.com/office/powerpoint/2010/main" val="2666301468"/>
              </p:ext>
            </p:extLst>
          </p:nvPr>
        </p:nvGraphicFramePr>
        <p:xfrm>
          <a:off x="2622162" y="2340969"/>
          <a:ext cx="899004" cy="907644"/>
        </p:xfrm>
        <a:graphic>
          <a:graphicData uri="http://schemas.openxmlformats.org/drawingml/2006/table">
            <a:tbl>
              <a:tblPr firstRow="1" bandRow="1">
                <a:tableStyleId>{5C22544A-7EE6-4342-B048-85BDC9FD1C3A}</a:tableStyleId>
              </a:tblPr>
              <a:tblGrid>
                <a:gridCol w="299668">
                  <a:extLst>
                    <a:ext uri="{9D8B030D-6E8A-4147-A177-3AD203B41FA5}">
                      <a16:colId xmlns:a16="http://schemas.microsoft.com/office/drawing/2014/main" val="271409997"/>
                    </a:ext>
                  </a:extLst>
                </a:gridCol>
                <a:gridCol w="299668">
                  <a:extLst>
                    <a:ext uri="{9D8B030D-6E8A-4147-A177-3AD203B41FA5}">
                      <a16:colId xmlns:a16="http://schemas.microsoft.com/office/drawing/2014/main" val="3628711874"/>
                    </a:ext>
                  </a:extLst>
                </a:gridCol>
                <a:gridCol w="299668">
                  <a:extLst>
                    <a:ext uri="{9D8B030D-6E8A-4147-A177-3AD203B41FA5}">
                      <a16:colId xmlns:a16="http://schemas.microsoft.com/office/drawing/2014/main" val="418691767"/>
                    </a:ext>
                  </a:extLst>
                </a:gridCol>
              </a:tblGrid>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301781">
                <a:tc>
                  <a:txBody>
                    <a:bodyPr/>
                    <a:lstStyle/>
                    <a:p>
                      <a:endParaRPr lang="en-CH" sz="150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bl>
          </a:graphicData>
        </a:graphic>
      </p:graphicFrame>
      <p:graphicFrame>
        <p:nvGraphicFramePr>
          <p:cNvPr id="11" name="Table 10">
            <a:extLst>
              <a:ext uri="{FF2B5EF4-FFF2-40B4-BE49-F238E27FC236}">
                <a16:creationId xmlns:a16="http://schemas.microsoft.com/office/drawing/2014/main" id="{27C1F86E-32F0-FD2D-643E-317A1CCBFC89}"/>
              </a:ext>
            </a:extLst>
          </p:cNvPr>
          <p:cNvGraphicFramePr>
            <a:graphicFrameLocks noGrp="1"/>
          </p:cNvGraphicFramePr>
          <p:nvPr>
            <p:extLst>
              <p:ext uri="{D42A27DB-BD31-4B8C-83A1-F6EECF244321}">
                <p14:modId xmlns:p14="http://schemas.microsoft.com/office/powerpoint/2010/main" val="1367180532"/>
              </p:ext>
            </p:extLst>
          </p:nvPr>
        </p:nvGraphicFramePr>
        <p:xfrm>
          <a:off x="6157048" y="2340969"/>
          <a:ext cx="4486419" cy="1793616"/>
        </p:xfrm>
        <a:graphic>
          <a:graphicData uri="http://schemas.openxmlformats.org/drawingml/2006/table">
            <a:tbl>
              <a:tblPr firstRow="1" bandRow="1">
                <a:tableStyleId>{5C22544A-7EE6-4342-B048-85BDC9FD1C3A}</a:tableStyleId>
              </a:tblPr>
              <a:tblGrid>
                <a:gridCol w="311003">
                  <a:extLst>
                    <a:ext uri="{9D8B030D-6E8A-4147-A177-3AD203B41FA5}">
                      <a16:colId xmlns:a16="http://schemas.microsoft.com/office/drawing/2014/main" val="271409997"/>
                    </a:ext>
                  </a:extLst>
                </a:gridCol>
                <a:gridCol w="298244">
                  <a:extLst>
                    <a:ext uri="{9D8B030D-6E8A-4147-A177-3AD203B41FA5}">
                      <a16:colId xmlns:a16="http://schemas.microsoft.com/office/drawing/2014/main" val="3628711874"/>
                    </a:ext>
                  </a:extLst>
                </a:gridCol>
                <a:gridCol w="298244">
                  <a:extLst>
                    <a:ext uri="{9D8B030D-6E8A-4147-A177-3AD203B41FA5}">
                      <a16:colId xmlns:a16="http://schemas.microsoft.com/office/drawing/2014/main" val="418691767"/>
                    </a:ext>
                  </a:extLst>
                </a:gridCol>
                <a:gridCol w="298244">
                  <a:extLst>
                    <a:ext uri="{9D8B030D-6E8A-4147-A177-3AD203B41FA5}">
                      <a16:colId xmlns:a16="http://schemas.microsoft.com/office/drawing/2014/main" val="3545934758"/>
                    </a:ext>
                  </a:extLst>
                </a:gridCol>
                <a:gridCol w="298244">
                  <a:extLst>
                    <a:ext uri="{9D8B030D-6E8A-4147-A177-3AD203B41FA5}">
                      <a16:colId xmlns:a16="http://schemas.microsoft.com/office/drawing/2014/main" val="3047711499"/>
                    </a:ext>
                  </a:extLst>
                </a:gridCol>
                <a:gridCol w="298244">
                  <a:extLst>
                    <a:ext uri="{9D8B030D-6E8A-4147-A177-3AD203B41FA5}">
                      <a16:colId xmlns:a16="http://schemas.microsoft.com/office/drawing/2014/main" val="3472330921"/>
                    </a:ext>
                  </a:extLst>
                </a:gridCol>
                <a:gridCol w="298244">
                  <a:extLst>
                    <a:ext uri="{9D8B030D-6E8A-4147-A177-3AD203B41FA5}">
                      <a16:colId xmlns:a16="http://schemas.microsoft.com/office/drawing/2014/main" val="1921929230"/>
                    </a:ext>
                  </a:extLst>
                </a:gridCol>
                <a:gridCol w="298244">
                  <a:extLst>
                    <a:ext uri="{9D8B030D-6E8A-4147-A177-3AD203B41FA5}">
                      <a16:colId xmlns:a16="http://schemas.microsoft.com/office/drawing/2014/main" val="1391632754"/>
                    </a:ext>
                  </a:extLst>
                </a:gridCol>
                <a:gridCol w="298244">
                  <a:extLst>
                    <a:ext uri="{9D8B030D-6E8A-4147-A177-3AD203B41FA5}">
                      <a16:colId xmlns:a16="http://schemas.microsoft.com/office/drawing/2014/main" val="3428786151"/>
                    </a:ext>
                  </a:extLst>
                </a:gridCol>
                <a:gridCol w="298244">
                  <a:extLst>
                    <a:ext uri="{9D8B030D-6E8A-4147-A177-3AD203B41FA5}">
                      <a16:colId xmlns:a16="http://schemas.microsoft.com/office/drawing/2014/main" val="1694490787"/>
                    </a:ext>
                  </a:extLst>
                </a:gridCol>
                <a:gridCol w="298244">
                  <a:extLst>
                    <a:ext uri="{9D8B030D-6E8A-4147-A177-3AD203B41FA5}">
                      <a16:colId xmlns:a16="http://schemas.microsoft.com/office/drawing/2014/main" val="3706367088"/>
                    </a:ext>
                  </a:extLst>
                </a:gridCol>
                <a:gridCol w="298244">
                  <a:extLst>
                    <a:ext uri="{9D8B030D-6E8A-4147-A177-3AD203B41FA5}">
                      <a16:colId xmlns:a16="http://schemas.microsoft.com/office/drawing/2014/main" val="828271367"/>
                    </a:ext>
                  </a:extLst>
                </a:gridCol>
                <a:gridCol w="298244">
                  <a:extLst>
                    <a:ext uri="{9D8B030D-6E8A-4147-A177-3AD203B41FA5}">
                      <a16:colId xmlns:a16="http://schemas.microsoft.com/office/drawing/2014/main" val="434137152"/>
                    </a:ext>
                  </a:extLst>
                </a:gridCol>
                <a:gridCol w="298244">
                  <a:extLst>
                    <a:ext uri="{9D8B030D-6E8A-4147-A177-3AD203B41FA5}">
                      <a16:colId xmlns:a16="http://schemas.microsoft.com/office/drawing/2014/main" val="3268435576"/>
                    </a:ext>
                  </a:extLst>
                </a:gridCol>
                <a:gridCol w="298244">
                  <a:extLst>
                    <a:ext uri="{9D8B030D-6E8A-4147-A177-3AD203B41FA5}">
                      <a16:colId xmlns:a16="http://schemas.microsoft.com/office/drawing/2014/main" val="19851295"/>
                    </a:ext>
                  </a:extLst>
                </a:gridCol>
              </a:tblGrid>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7090437"/>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034491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263683157"/>
                  </a:ext>
                </a:extLst>
              </a:tr>
            </a:tbl>
          </a:graphicData>
        </a:graphic>
      </p:graphicFrame>
      <p:sp>
        <p:nvSpPr>
          <p:cNvPr id="12" name="TextBox 11">
            <a:extLst>
              <a:ext uri="{FF2B5EF4-FFF2-40B4-BE49-F238E27FC236}">
                <a16:creationId xmlns:a16="http://schemas.microsoft.com/office/drawing/2014/main" id="{BADA8640-351D-8CBB-70A8-A935F570E2EA}"/>
              </a:ext>
            </a:extLst>
          </p:cNvPr>
          <p:cNvSpPr txBox="1"/>
          <p:nvPr/>
        </p:nvSpPr>
        <p:spPr>
          <a:xfrm>
            <a:off x="1487488" y="4404638"/>
            <a:ext cx="3168352" cy="830997"/>
          </a:xfrm>
          <a:prstGeom prst="rect">
            <a:avLst/>
          </a:prstGeom>
          <a:noFill/>
        </p:spPr>
        <p:txBody>
          <a:bodyPr wrap="square" rtlCol="0">
            <a:spAutoFit/>
          </a:bodyPr>
          <a:lstStyle/>
          <a:p>
            <a:pPr algn="ctr"/>
            <a:r>
              <a:rPr lang="en-CH" sz="2400" dirty="0"/>
              <a:t>N data points,</a:t>
            </a:r>
          </a:p>
          <a:p>
            <a:pPr algn="ctr"/>
            <a:r>
              <a:rPr lang="en-CH" sz="2400" dirty="0"/>
              <a:t>Processing time T</a:t>
            </a:r>
          </a:p>
        </p:txBody>
      </p:sp>
      <p:sp>
        <p:nvSpPr>
          <p:cNvPr id="13" name="TextBox 12">
            <a:extLst>
              <a:ext uri="{FF2B5EF4-FFF2-40B4-BE49-F238E27FC236}">
                <a16:creationId xmlns:a16="http://schemas.microsoft.com/office/drawing/2014/main" id="{3DE94A0F-6552-2155-D875-E374F36AB29E}"/>
              </a:ext>
            </a:extLst>
          </p:cNvPr>
          <p:cNvSpPr txBox="1"/>
          <p:nvPr/>
        </p:nvSpPr>
        <p:spPr>
          <a:xfrm>
            <a:off x="6816080" y="4404638"/>
            <a:ext cx="3168352" cy="830997"/>
          </a:xfrm>
          <a:prstGeom prst="rect">
            <a:avLst/>
          </a:prstGeom>
          <a:noFill/>
        </p:spPr>
        <p:txBody>
          <a:bodyPr wrap="square" rtlCol="0">
            <a:spAutoFit/>
          </a:bodyPr>
          <a:lstStyle/>
          <a:p>
            <a:pPr algn="ctr"/>
            <a:r>
              <a:rPr lang="en-CH" sz="2400" dirty="0"/>
              <a:t>10x N data points</a:t>
            </a:r>
          </a:p>
          <a:p>
            <a:pPr algn="ctr"/>
            <a:r>
              <a:rPr lang="en-CH" sz="2400" b="1" dirty="0">
                <a:solidFill>
                  <a:srgbClr val="FF0000"/>
                </a:solidFill>
              </a:rPr>
              <a:t>Processing time -&gt; ?</a:t>
            </a:r>
          </a:p>
        </p:txBody>
      </p:sp>
      <p:sp>
        <p:nvSpPr>
          <p:cNvPr id="15" name="TextBox 14">
            <a:extLst>
              <a:ext uri="{FF2B5EF4-FFF2-40B4-BE49-F238E27FC236}">
                <a16:creationId xmlns:a16="http://schemas.microsoft.com/office/drawing/2014/main" id="{BF67523E-0FCA-52E8-61C0-0C8B25400F0B}"/>
              </a:ext>
            </a:extLst>
          </p:cNvPr>
          <p:cNvSpPr txBox="1"/>
          <p:nvPr/>
        </p:nvSpPr>
        <p:spPr>
          <a:xfrm>
            <a:off x="1216662" y="1730348"/>
            <a:ext cx="3710004" cy="523220"/>
          </a:xfrm>
          <a:prstGeom prst="rect">
            <a:avLst/>
          </a:prstGeom>
          <a:noFill/>
        </p:spPr>
        <p:txBody>
          <a:bodyPr wrap="square">
            <a:spAutoFit/>
          </a:bodyPr>
          <a:lstStyle/>
          <a:p>
            <a:pPr algn="ctr"/>
            <a:r>
              <a:rPr lang="en-CH" sz="2800" b="1" dirty="0"/>
              <a:t>Development data </a:t>
            </a:r>
          </a:p>
        </p:txBody>
      </p:sp>
      <p:sp>
        <p:nvSpPr>
          <p:cNvPr id="17" name="TextBox 16">
            <a:extLst>
              <a:ext uri="{FF2B5EF4-FFF2-40B4-BE49-F238E27FC236}">
                <a16:creationId xmlns:a16="http://schemas.microsoft.com/office/drawing/2014/main" id="{9E652F59-3A23-6A14-3781-82043BCF40C4}"/>
              </a:ext>
            </a:extLst>
          </p:cNvPr>
          <p:cNvSpPr txBox="1"/>
          <p:nvPr/>
        </p:nvSpPr>
        <p:spPr>
          <a:xfrm>
            <a:off x="7073990" y="1730348"/>
            <a:ext cx="2652533" cy="523220"/>
          </a:xfrm>
          <a:prstGeom prst="rect">
            <a:avLst/>
          </a:prstGeom>
          <a:noFill/>
        </p:spPr>
        <p:txBody>
          <a:bodyPr wrap="square">
            <a:spAutoFit/>
          </a:bodyPr>
          <a:lstStyle/>
          <a:p>
            <a:pPr algn="ctr"/>
            <a:r>
              <a:rPr lang="en-CH" sz="2800" b="1" dirty="0"/>
              <a:t>Real data</a:t>
            </a:r>
          </a:p>
        </p:txBody>
      </p:sp>
      <p:sp>
        <p:nvSpPr>
          <p:cNvPr id="14" name="TextBox 13">
            <a:extLst>
              <a:ext uri="{FF2B5EF4-FFF2-40B4-BE49-F238E27FC236}">
                <a16:creationId xmlns:a16="http://schemas.microsoft.com/office/drawing/2014/main" id="{FE4BE662-AB81-D24A-BC1E-6FF7C5E758B1}"/>
              </a:ext>
            </a:extLst>
          </p:cNvPr>
          <p:cNvSpPr txBox="1"/>
          <p:nvPr/>
        </p:nvSpPr>
        <p:spPr>
          <a:xfrm>
            <a:off x="3008750" y="5733256"/>
            <a:ext cx="6102492" cy="461665"/>
          </a:xfrm>
          <a:custGeom>
            <a:avLst/>
            <a:gdLst>
              <a:gd name="csX0" fmla="*/ 0 w 6102492"/>
              <a:gd name="csY0" fmla="*/ 0 h 461665"/>
              <a:gd name="csX1" fmla="*/ 556005 w 6102492"/>
              <a:gd name="csY1" fmla="*/ 0 h 461665"/>
              <a:gd name="csX2" fmla="*/ 1173035 w 6102492"/>
              <a:gd name="csY2" fmla="*/ 0 h 461665"/>
              <a:gd name="csX3" fmla="*/ 1729039 w 6102492"/>
              <a:gd name="csY3" fmla="*/ 0 h 461665"/>
              <a:gd name="csX4" fmla="*/ 2468119 w 6102492"/>
              <a:gd name="csY4" fmla="*/ 0 h 461665"/>
              <a:gd name="csX5" fmla="*/ 3146174 w 6102492"/>
              <a:gd name="csY5" fmla="*/ 0 h 461665"/>
              <a:gd name="csX6" fmla="*/ 3824228 w 6102492"/>
              <a:gd name="csY6" fmla="*/ 0 h 461665"/>
              <a:gd name="csX7" fmla="*/ 4624333 w 6102492"/>
              <a:gd name="csY7" fmla="*/ 0 h 461665"/>
              <a:gd name="csX8" fmla="*/ 5363412 w 6102492"/>
              <a:gd name="csY8" fmla="*/ 0 h 461665"/>
              <a:gd name="csX9" fmla="*/ 6102492 w 6102492"/>
              <a:gd name="csY9" fmla="*/ 0 h 461665"/>
              <a:gd name="csX10" fmla="*/ 6102492 w 6102492"/>
              <a:gd name="csY10" fmla="*/ 461665 h 461665"/>
              <a:gd name="csX11" fmla="*/ 5607512 w 6102492"/>
              <a:gd name="csY11" fmla="*/ 461665 h 461665"/>
              <a:gd name="csX12" fmla="*/ 5051507 w 6102492"/>
              <a:gd name="csY12" fmla="*/ 461665 h 461665"/>
              <a:gd name="csX13" fmla="*/ 4312428 w 6102492"/>
              <a:gd name="csY13" fmla="*/ 461665 h 461665"/>
              <a:gd name="csX14" fmla="*/ 3512323 w 6102492"/>
              <a:gd name="csY14" fmla="*/ 461665 h 461665"/>
              <a:gd name="csX15" fmla="*/ 2895293 w 6102492"/>
              <a:gd name="csY15" fmla="*/ 461665 h 461665"/>
              <a:gd name="csX16" fmla="*/ 2095189 w 6102492"/>
              <a:gd name="csY16" fmla="*/ 461665 h 461665"/>
              <a:gd name="csX17" fmla="*/ 1539184 w 6102492"/>
              <a:gd name="csY17" fmla="*/ 461665 h 461665"/>
              <a:gd name="csX18" fmla="*/ 1044204 w 6102492"/>
              <a:gd name="csY18" fmla="*/ 461665 h 461665"/>
              <a:gd name="csX19" fmla="*/ 0 w 6102492"/>
              <a:gd name="csY19" fmla="*/ 461665 h 461665"/>
              <a:gd name="csX20" fmla="*/ 0 w 6102492"/>
              <a:gd name="csY20" fmla="*/ 0 h 461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102492" h="461665" fill="none" extrusionOk="0">
                <a:moveTo>
                  <a:pt x="0" y="0"/>
                </a:moveTo>
                <a:cubicBezTo>
                  <a:pt x="243709" y="22296"/>
                  <a:pt x="300093" y="-1042"/>
                  <a:pt x="556005" y="0"/>
                </a:cubicBezTo>
                <a:cubicBezTo>
                  <a:pt x="811917" y="1042"/>
                  <a:pt x="981497" y="-12440"/>
                  <a:pt x="1173035" y="0"/>
                </a:cubicBezTo>
                <a:cubicBezTo>
                  <a:pt x="1364573" y="12440"/>
                  <a:pt x="1593685" y="6200"/>
                  <a:pt x="1729039" y="0"/>
                </a:cubicBezTo>
                <a:cubicBezTo>
                  <a:pt x="1864393" y="-6200"/>
                  <a:pt x="2204293" y="29298"/>
                  <a:pt x="2468119" y="0"/>
                </a:cubicBezTo>
                <a:cubicBezTo>
                  <a:pt x="2731945" y="-29298"/>
                  <a:pt x="2829813" y="107"/>
                  <a:pt x="3146174" y="0"/>
                </a:cubicBezTo>
                <a:cubicBezTo>
                  <a:pt x="3462535" y="-107"/>
                  <a:pt x="3568265" y="9801"/>
                  <a:pt x="3824228" y="0"/>
                </a:cubicBezTo>
                <a:cubicBezTo>
                  <a:pt x="4080191" y="-9801"/>
                  <a:pt x="4242359" y="-23072"/>
                  <a:pt x="4624333" y="0"/>
                </a:cubicBezTo>
                <a:cubicBezTo>
                  <a:pt x="5006308" y="23072"/>
                  <a:pt x="5033932" y="-23009"/>
                  <a:pt x="5363412" y="0"/>
                </a:cubicBezTo>
                <a:cubicBezTo>
                  <a:pt x="5692892" y="23009"/>
                  <a:pt x="5842200" y="-32297"/>
                  <a:pt x="6102492" y="0"/>
                </a:cubicBezTo>
                <a:cubicBezTo>
                  <a:pt x="6122671" y="157204"/>
                  <a:pt x="6091518" y="315611"/>
                  <a:pt x="6102492" y="461665"/>
                </a:cubicBezTo>
                <a:cubicBezTo>
                  <a:pt x="5958930" y="482370"/>
                  <a:pt x="5776034" y="485946"/>
                  <a:pt x="5607512" y="461665"/>
                </a:cubicBezTo>
                <a:cubicBezTo>
                  <a:pt x="5438990" y="437384"/>
                  <a:pt x="5165024" y="456927"/>
                  <a:pt x="5051507" y="461665"/>
                </a:cubicBezTo>
                <a:cubicBezTo>
                  <a:pt x="4937991" y="466403"/>
                  <a:pt x="4572247" y="491013"/>
                  <a:pt x="4312428" y="461665"/>
                </a:cubicBezTo>
                <a:cubicBezTo>
                  <a:pt x="4052609" y="432317"/>
                  <a:pt x="3739662" y="490303"/>
                  <a:pt x="3512323" y="461665"/>
                </a:cubicBezTo>
                <a:cubicBezTo>
                  <a:pt x="3284985" y="433027"/>
                  <a:pt x="3124496" y="465146"/>
                  <a:pt x="2895293" y="461665"/>
                </a:cubicBezTo>
                <a:cubicBezTo>
                  <a:pt x="2666090" y="458185"/>
                  <a:pt x="2451658" y="451648"/>
                  <a:pt x="2095189" y="461665"/>
                </a:cubicBezTo>
                <a:cubicBezTo>
                  <a:pt x="1738720" y="471682"/>
                  <a:pt x="1713597" y="439450"/>
                  <a:pt x="1539184" y="461665"/>
                </a:cubicBezTo>
                <a:cubicBezTo>
                  <a:pt x="1364772" y="483880"/>
                  <a:pt x="1161495" y="485897"/>
                  <a:pt x="1044204" y="461665"/>
                </a:cubicBezTo>
                <a:cubicBezTo>
                  <a:pt x="926913" y="437433"/>
                  <a:pt x="302746" y="419328"/>
                  <a:pt x="0" y="461665"/>
                </a:cubicBezTo>
                <a:cubicBezTo>
                  <a:pt x="4108" y="252334"/>
                  <a:pt x="-5091" y="225359"/>
                  <a:pt x="0" y="0"/>
                </a:cubicBezTo>
                <a:close/>
              </a:path>
              <a:path w="6102492" h="461665" stroke="0" extrusionOk="0">
                <a:moveTo>
                  <a:pt x="0" y="0"/>
                </a:moveTo>
                <a:cubicBezTo>
                  <a:pt x="230651" y="2535"/>
                  <a:pt x="422907" y="-22708"/>
                  <a:pt x="617030" y="0"/>
                </a:cubicBezTo>
                <a:cubicBezTo>
                  <a:pt x="811153" y="22708"/>
                  <a:pt x="918338" y="12720"/>
                  <a:pt x="1112010" y="0"/>
                </a:cubicBezTo>
                <a:cubicBezTo>
                  <a:pt x="1305682" y="-12720"/>
                  <a:pt x="1542123" y="-867"/>
                  <a:pt x="1912114" y="0"/>
                </a:cubicBezTo>
                <a:cubicBezTo>
                  <a:pt x="2282105" y="867"/>
                  <a:pt x="2375580" y="-15658"/>
                  <a:pt x="2529144" y="0"/>
                </a:cubicBezTo>
                <a:cubicBezTo>
                  <a:pt x="2682708" y="15658"/>
                  <a:pt x="2963309" y="-19412"/>
                  <a:pt x="3146174" y="0"/>
                </a:cubicBezTo>
                <a:cubicBezTo>
                  <a:pt x="3329039" y="19412"/>
                  <a:pt x="3622179" y="14660"/>
                  <a:pt x="3946278" y="0"/>
                </a:cubicBezTo>
                <a:cubicBezTo>
                  <a:pt x="4270377" y="-14660"/>
                  <a:pt x="4339224" y="-22070"/>
                  <a:pt x="4502283" y="0"/>
                </a:cubicBezTo>
                <a:cubicBezTo>
                  <a:pt x="4665342" y="22070"/>
                  <a:pt x="4977686" y="33390"/>
                  <a:pt x="5302387" y="0"/>
                </a:cubicBezTo>
                <a:cubicBezTo>
                  <a:pt x="5627088" y="-33390"/>
                  <a:pt x="5869885" y="-29837"/>
                  <a:pt x="6102492" y="0"/>
                </a:cubicBezTo>
                <a:cubicBezTo>
                  <a:pt x="6089142" y="178584"/>
                  <a:pt x="6092500" y="304996"/>
                  <a:pt x="6102492" y="461665"/>
                </a:cubicBezTo>
                <a:cubicBezTo>
                  <a:pt x="5963416" y="438609"/>
                  <a:pt x="5752403" y="428331"/>
                  <a:pt x="5424437" y="461665"/>
                </a:cubicBezTo>
                <a:cubicBezTo>
                  <a:pt x="5096471" y="494999"/>
                  <a:pt x="4958208" y="469976"/>
                  <a:pt x="4807408" y="461665"/>
                </a:cubicBezTo>
                <a:cubicBezTo>
                  <a:pt x="4656608" y="453354"/>
                  <a:pt x="4303168" y="453800"/>
                  <a:pt x="4007303" y="461665"/>
                </a:cubicBezTo>
                <a:cubicBezTo>
                  <a:pt x="3711438" y="469530"/>
                  <a:pt x="3477611" y="472908"/>
                  <a:pt x="3207199" y="461665"/>
                </a:cubicBezTo>
                <a:cubicBezTo>
                  <a:pt x="2936787" y="450422"/>
                  <a:pt x="2768222" y="489090"/>
                  <a:pt x="2651194" y="461665"/>
                </a:cubicBezTo>
                <a:cubicBezTo>
                  <a:pt x="2534167" y="434240"/>
                  <a:pt x="2154934" y="459907"/>
                  <a:pt x="1973139" y="461665"/>
                </a:cubicBezTo>
                <a:cubicBezTo>
                  <a:pt x="1791344" y="463423"/>
                  <a:pt x="1404080" y="471029"/>
                  <a:pt x="1173035" y="461665"/>
                </a:cubicBezTo>
                <a:cubicBezTo>
                  <a:pt x="941990" y="452301"/>
                  <a:pt x="306306" y="431118"/>
                  <a:pt x="0" y="461665"/>
                </a:cubicBezTo>
                <a:cubicBezTo>
                  <a:pt x="-2462" y="300802"/>
                  <a:pt x="-2149" y="122032"/>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pPr algn="ctr"/>
            <a:r>
              <a:rPr lang="en-CH" sz="2400" dirty="0"/>
              <a:t>We’re interested in orders of magnitude</a:t>
            </a:r>
          </a:p>
        </p:txBody>
      </p:sp>
    </p:spTree>
    <p:extLst>
      <p:ext uri="{BB962C8B-B14F-4D97-AF65-F5344CB8AC3E}">
        <p14:creationId xmlns:p14="http://schemas.microsoft.com/office/powerpoint/2010/main" val="1621340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Example: Find common words</a:t>
            </a:r>
          </a:p>
        </p:txBody>
      </p:sp>
      <p:sp>
        <p:nvSpPr>
          <p:cNvPr id="3" name="Content Placeholder 2">
            <a:extLst>
              <a:ext uri="{FF2B5EF4-FFF2-40B4-BE49-F238E27FC236}">
                <a16:creationId xmlns:a16="http://schemas.microsoft.com/office/drawing/2014/main" id="{E93096AB-3E1B-8BD5-B098-628CCF7902AB}"/>
              </a:ext>
            </a:extLst>
          </p:cNvPr>
          <p:cNvSpPr>
            <a:spLocks noGrp="1"/>
          </p:cNvSpPr>
          <p:nvPr>
            <p:ph idx="1"/>
          </p:nvPr>
        </p:nvSpPr>
        <p:spPr>
          <a:xfrm>
            <a:off x="838200" y="1607027"/>
            <a:ext cx="10515600" cy="4692179"/>
          </a:xfrm>
        </p:spPr>
        <p:txBody>
          <a:bodyPr>
            <a:normAutofit/>
          </a:bodyPr>
          <a:lstStyle/>
          <a:p>
            <a:pPr marL="0" indent="0">
              <a:buNone/>
            </a:pPr>
            <a:r>
              <a:rPr lang="en-CH" dirty="0"/>
              <a:t>Given two lists of words, extract all the words that are in common</a:t>
            </a:r>
            <a:br>
              <a:rPr lang="en-CH" dirty="0"/>
            </a:br>
            <a:endParaRPr lang="en-CH" dirty="0"/>
          </a:p>
          <a:p>
            <a:endParaRPr lang="en-CH" dirty="0"/>
          </a:p>
          <a:p>
            <a:endParaRPr lang="en-CH" dirty="0"/>
          </a:p>
          <a:p>
            <a:endParaRPr lang="en-CH" dirty="0"/>
          </a:p>
          <a:p>
            <a:endParaRPr lang="en-CH" dirty="0"/>
          </a:p>
          <a:p>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14</a:t>
            </a:fld>
            <a:endParaRPr lang="en-US"/>
          </a:p>
        </p:txBody>
      </p:sp>
      <p:pic>
        <p:nvPicPr>
          <p:cNvPr id="17" name="Picture 16">
            <a:extLst>
              <a:ext uri="{FF2B5EF4-FFF2-40B4-BE49-F238E27FC236}">
                <a16:creationId xmlns:a16="http://schemas.microsoft.com/office/drawing/2014/main" id="{AFEEF298-37F3-520E-558F-3EF9D4F027D6}"/>
              </a:ext>
            </a:extLst>
          </p:cNvPr>
          <p:cNvPicPr>
            <a:picLocks noChangeAspect="1"/>
          </p:cNvPicPr>
          <p:nvPr/>
        </p:nvPicPr>
        <p:blipFill>
          <a:blip r:embed="rId2"/>
          <a:stretch>
            <a:fillRect/>
          </a:stretch>
        </p:blipFill>
        <p:spPr>
          <a:xfrm>
            <a:off x="1703512" y="2636912"/>
            <a:ext cx="8784976" cy="648072"/>
          </a:xfrm>
          <a:prstGeom prst="rect">
            <a:avLst/>
          </a:prstGeom>
        </p:spPr>
      </p:pic>
      <p:sp>
        <p:nvSpPr>
          <p:cNvPr id="9" name="TextBox 8">
            <a:extLst>
              <a:ext uri="{FF2B5EF4-FFF2-40B4-BE49-F238E27FC236}">
                <a16:creationId xmlns:a16="http://schemas.microsoft.com/office/drawing/2014/main" id="{B59B32F1-3A78-3E01-9EE6-FC7FF356AD8B}"/>
              </a:ext>
            </a:extLst>
          </p:cNvPr>
          <p:cNvSpPr txBox="1"/>
          <p:nvPr/>
        </p:nvSpPr>
        <p:spPr>
          <a:xfrm>
            <a:off x="1559496" y="3429000"/>
            <a:ext cx="7560840" cy="461665"/>
          </a:xfrm>
          <a:prstGeom prst="rect">
            <a:avLst/>
          </a:prstGeom>
          <a:noFill/>
        </p:spPr>
        <p:txBody>
          <a:bodyPr wrap="square" rtlCol="0">
            <a:spAutoFit/>
          </a:bodyPr>
          <a:lstStyle/>
          <a:p>
            <a:r>
              <a:rPr lang="en-CH" sz="2400" dirty="0"/>
              <a:t>Expected result: </a:t>
            </a:r>
            <a:r>
              <a:rPr lang="en-US" sz="2400" dirty="0">
                <a:latin typeface="Consolas" panose="020B0609020204030204" pitchFamily="49" charset="0"/>
                <a:cs typeface="Consolas" panose="020B0609020204030204" pitchFamily="49" charset="0"/>
              </a:rPr>
              <a:t>['apple', 'orange', 'banana']</a:t>
            </a:r>
            <a:endParaRPr lang="en-CH" sz="2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90334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15</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2"/>
          <a:stretch>
            <a:fillRect/>
          </a:stretch>
        </p:blipFill>
        <p:spPr>
          <a:xfrm>
            <a:off x="551384" y="1841500"/>
            <a:ext cx="6235700" cy="1587500"/>
          </a:xfrm>
          <a:prstGeom prst="rect">
            <a:avLst/>
          </a:prstGeom>
        </p:spPr>
      </p:pic>
      <p:sp>
        <p:nvSpPr>
          <p:cNvPr id="12" name="TextBox 11">
            <a:extLst>
              <a:ext uri="{FF2B5EF4-FFF2-40B4-BE49-F238E27FC236}">
                <a16:creationId xmlns:a16="http://schemas.microsoft.com/office/drawing/2014/main" id="{D5D19004-863D-BC80-19B1-16582CF786DC}"/>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Tree>
    <p:extLst>
      <p:ext uri="{BB962C8B-B14F-4D97-AF65-F5344CB8AC3E}">
        <p14:creationId xmlns:p14="http://schemas.microsoft.com/office/powerpoint/2010/main" val="3805309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5CD3A75-B76C-DFC8-68AB-018F37ABF99F}"/>
              </a:ext>
            </a:extLst>
          </p:cNvPr>
          <p:cNvPicPr>
            <a:picLocks noChangeAspect="1"/>
          </p:cNvPicPr>
          <p:nvPr/>
        </p:nvPicPr>
        <p:blipFill>
          <a:blip r:embed="rId2"/>
          <a:stretch>
            <a:fillRect/>
          </a:stretch>
        </p:blipFill>
        <p:spPr>
          <a:xfrm>
            <a:off x="7829509" y="1132854"/>
            <a:ext cx="4027131" cy="3780572"/>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16</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3"/>
          <a:stretch>
            <a:fillRect/>
          </a:stretch>
        </p:blipFill>
        <p:spPr>
          <a:xfrm>
            <a:off x="551384" y="1841500"/>
            <a:ext cx="6235700" cy="1587500"/>
          </a:xfrm>
          <a:prstGeom prst="rect">
            <a:avLst/>
          </a:prstGeom>
        </p:spPr>
      </p:pic>
      <p:sp>
        <p:nvSpPr>
          <p:cNvPr id="14" name="TextBox 13">
            <a:extLst>
              <a:ext uri="{FF2B5EF4-FFF2-40B4-BE49-F238E27FC236}">
                <a16:creationId xmlns:a16="http://schemas.microsoft.com/office/drawing/2014/main" id="{508622A7-1C3A-3458-8ABF-345406BFB37B}"/>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 N  =&gt; 10x more data ~= 100x more time</a:t>
            </a:r>
          </a:p>
        </p:txBody>
      </p:sp>
      <p:sp>
        <p:nvSpPr>
          <p:cNvPr id="3" name="TextBox 2">
            <a:extLst>
              <a:ext uri="{FF2B5EF4-FFF2-40B4-BE49-F238E27FC236}">
                <a16:creationId xmlns:a16="http://schemas.microsoft.com/office/drawing/2014/main" id="{AD6BEDE2-4B85-2EDC-855B-7797E6DF14B7}"/>
              </a:ext>
            </a:extLst>
          </p:cNvPr>
          <p:cNvSpPr txBox="1"/>
          <p:nvPr/>
        </p:nvSpPr>
        <p:spPr>
          <a:xfrm>
            <a:off x="3287688" y="2635250"/>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 (1 operation)</a:t>
            </a:r>
          </a:p>
        </p:txBody>
      </p:sp>
    </p:spTree>
    <p:extLst>
      <p:ext uri="{BB962C8B-B14F-4D97-AF65-F5344CB8AC3E}">
        <p14:creationId xmlns:p14="http://schemas.microsoft.com/office/powerpoint/2010/main" val="24904410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17</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spTree>
    <p:extLst>
      <p:ext uri="{BB962C8B-B14F-4D97-AF65-F5344CB8AC3E}">
        <p14:creationId xmlns:p14="http://schemas.microsoft.com/office/powerpoint/2010/main" val="1625295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18</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8073954" cy="954107"/>
          </a:xfrm>
          <a:prstGeom prst="rect">
            <a:avLst/>
          </a:prstGeom>
          <a:noFill/>
        </p:spPr>
        <p:txBody>
          <a:bodyPr wrap="square" rtlCol="0">
            <a:spAutoFit/>
          </a:bodyPr>
          <a:lstStyle/>
          <a:p>
            <a:r>
              <a:rPr lang="en-CH" sz="2800" dirty="0"/>
              <a:t>How does this implementation scale?</a:t>
            </a:r>
          </a:p>
          <a:p>
            <a:r>
              <a:rPr lang="en-CH" sz="2800" dirty="0"/>
              <a:t>N * log(N) =&gt; 10x more data ~= 23x more time</a:t>
            </a:r>
            <a:endParaRPr lang="en-CH" sz="2800" b="1" dirty="0"/>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pic>
        <p:nvPicPr>
          <p:cNvPr id="9" name="Picture 8">
            <a:extLst>
              <a:ext uri="{FF2B5EF4-FFF2-40B4-BE49-F238E27FC236}">
                <a16:creationId xmlns:a16="http://schemas.microsoft.com/office/drawing/2014/main" id="{D8251C76-F828-4571-D8A2-B98952587F94}"/>
              </a:ext>
            </a:extLst>
          </p:cNvPr>
          <p:cNvPicPr>
            <a:picLocks noChangeAspect="1"/>
          </p:cNvPicPr>
          <p:nvPr/>
        </p:nvPicPr>
        <p:blipFill>
          <a:blip r:embed="rId4"/>
          <a:stretch>
            <a:fillRect/>
          </a:stretch>
        </p:blipFill>
        <p:spPr>
          <a:xfrm>
            <a:off x="7748586" y="1108296"/>
            <a:ext cx="4124497" cy="3858852"/>
          </a:xfrm>
          <a:prstGeom prst="rect">
            <a:avLst/>
          </a:prstGeom>
        </p:spPr>
      </p:pic>
      <p:pic>
        <p:nvPicPr>
          <p:cNvPr id="12" name="Picture 11">
            <a:extLst>
              <a:ext uri="{FF2B5EF4-FFF2-40B4-BE49-F238E27FC236}">
                <a16:creationId xmlns:a16="http://schemas.microsoft.com/office/drawing/2014/main" id="{822CAEE9-9100-1F79-6A32-542F10970CFB}"/>
              </a:ext>
            </a:extLst>
          </p:cNvPr>
          <p:cNvPicPr>
            <a:picLocks noChangeAspect="1"/>
          </p:cNvPicPr>
          <p:nvPr/>
        </p:nvPicPr>
        <p:blipFill>
          <a:blip r:embed="rId5"/>
          <a:stretch>
            <a:fillRect/>
          </a:stretch>
        </p:blipFill>
        <p:spPr>
          <a:xfrm>
            <a:off x="8638862" y="1339564"/>
            <a:ext cx="1727324" cy="558840"/>
          </a:xfrm>
          <a:prstGeom prst="rect">
            <a:avLst/>
          </a:prstGeom>
        </p:spPr>
      </p:pic>
      <p:pic>
        <p:nvPicPr>
          <p:cNvPr id="3" name="Picture 2">
            <a:extLst>
              <a:ext uri="{FF2B5EF4-FFF2-40B4-BE49-F238E27FC236}">
                <a16:creationId xmlns:a16="http://schemas.microsoft.com/office/drawing/2014/main" id="{1F6F4E27-F463-E601-C8EE-7EB44BF2D9D6}"/>
              </a:ext>
            </a:extLst>
          </p:cNvPr>
          <p:cNvPicPr>
            <a:picLocks noChangeAspect="1"/>
          </p:cNvPicPr>
          <p:nvPr/>
        </p:nvPicPr>
        <p:blipFill rotWithShape="1">
          <a:blip r:embed="rId6"/>
          <a:srcRect l="-1" r="23183"/>
          <a:stretch>
            <a:fillRect/>
          </a:stretch>
        </p:blipFill>
        <p:spPr>
          <a:xfrm>
            <a:off x="561951" y="1816650"/>
            <a:ext cx="7027203" cy="2692469"/>
          </a:xfrm>
          <a:prstGeom prst="rect">
            <a:avLst/>
          </a:prstGeom>
        </p:spPr>
      </p:pic>
      <p:sp>
        <p:nvSpPr>
          <p:cNvPr id="8" name="TextBox 7">
            <a:extLst>
              <a:ext uri="{FF2B5EF4-FFF2-40B4-BE49-F238E27FC236}">
                <a16:creationId xmlns:a16="http://schemas.microsoft.com/office/drawing/2014/main" id="{88BBE109-A84B-2AB0-783B-62C6CD1382BC}"/>
              </a:ext>
            </a:extLst>
          </p:cNvPr>
          <p:cNvSpPr txBox="1"/>
          <p:nvPr/>
        </p:nvSpPr>
        <p:spPr>
          <a:xfrm>
            <a:off x="3073337" y="1789394"/>
            <a:ext cx="3168352" cy="523220"/>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p:txBody>
      </p:sp>
      <p:sp>
        <p:nvSpPr>
          <p:cNvPr id="13" name="TextBox 12">
            <a:extLst>
              <a:ext uri="{FF2B5EF4-FFF2-40B4-BE49-F238E27FC236}">
                <a16:creationId xmlns:a16="http://schemas.microsoft.com/office/drawing/2014/main" id="{9FC68568-C80A-E5C7-9356-02BE56D1F5DD}"/>
              </a:ext>
            </a:extLst>
          </p:cNvPr>
          <p:cNvSpPr txBox="1"/>
          <p:nvPr/>
        </p:nvSpPr>
        <p:spPr>
          <a:xfrm>
            <a:off x="5303912" y="2679929"/>
            <a:ext cx="2234819" cy="738664"/>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We traverse both </a:t>
            </a:r>
          </a:p>
          <a:p>
            <a:r>
              <a:rPr lang="en-CH" sz="1400" i="1" dirty="0">
                <a:solidFill>
                  <a:schemeClr val="accent6">
                    <a:lumMod val="75000"/>
                  </a:schemeClr>
                </a:solidFill>
                <a:latin typeface="Consolas" panose="020B0609020204030204" pitchFamily="49" charset="0"/>
                <a:cs typeface="Consolas" panose="020B0609020204030204" pitchFamily="49" charset="0"/>
              </a:rPr>
              <a:t># lists once: </a:t>
            </a:r>
          </a:p>
          <a:p>
            <a:r>
              <a:rPr lang="en-CH" sz="1400" i="1" dirty="0">
                <a:solidFill>
                  <a:schemeClr val="accent6">
                    <a:lumMod val="75000"/>
                  </a:schemeClr>
                </a:solidFill>
                <a:latin typeface="Consolas" panose="020B0609020204030204" pitchFamily="49" charset="0"/>
                <a:cs typeface="Consolas" panose="020B0609020204030204" pitchFamily="49" charset="0"/>
              </a:rPr>
              <a:t># N + N operations</a:t>
            </a:r>
          </a:p>
        </p:txBody>
      </p:sp>
      <p:sp>
        <p:nvSpPr>
          <p:cNvPr id="14" name="TextBox 13">
            <a:extLst>
              <a:ext uri="{FF2B5EF4-FFF2-40B4-BE49-F238E27FC236}">
                <a16:creationId xmlns:a16="http://schemas.microsoft.com/office/drawing/2014/main" id="{E199E252-AAA0-8FD5-95E1-158FC8D0F5CF}"/>
              </a:ext>
            </a:extLst>
          </p:cNvPr>
          <p:cNvSpPr txBox="1"/>
          <p:nvPr/>
        </p:nvSpPr>
        <p:spPr>
          <a:xfrm>
            <a:off x="3073337" y="3443109"/>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
        <p:nvSpPr>
          <p:cNvPr id="15" name="TextBox 14">
            <a:extLst>
              <a:ext uri="{FF2B5EF4-FFF2-40B4-BE49-F238E27FC236}">
                <a16:creationId xmlns:a16="http://schemas.microsoft.com/office/drawing/2014/main" id="{166E774F-6C50-DC41-6987-71CE7B199EEF}"/>
              </a:ext>
            </a:extLst>
          </p:cNvPr>
          <p:cNvSpPr txBox="1"/>
          <p:nvPr/>
        </p:nvSpPr>
        <p:spPr>
          <a:xfrm>
            <a:off x="3073337" y="4011718"/>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76129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19</a:t>
            </a:fld>
            <a:endParaRPr lang="en-US"/>
          </a:p>
        </p:txBody>
      </p:sp>
      <p:pic>
        <p:nvPicPr>
          <p:cNvPr id="12" name="Picture 11">
            <a:extLst>
              <a:ext uri="{FF2B5EF4-FFF2-40B4-BE49-F238E27FC236}">
                <a16:creationId xmlns:a16="http://schemas.microsoft.com/office/drawing/2014/main" id="{B144A70E-3E75-9841-9803-8CFD99245E3C}"/>
              </a:ext>
            </a:extLst>
          </p:cNvPr>
          <p:cNvPicPr>
            <a:picLocks noChangeAspect="1"/>
          </p:cNvPicPr>
          <p:nvPr/>
        </p:nvPicPr>
        <p:blipFill rotWithShape="1">
          <a:blip r:embed="rId2"/>
          <a:srcRect l="216"/>
          <a:stretch/>
        </p:blipFill>
        <p:spPr>
          <a:xfrm>
            <a:off x="564908" y="1311377"/>
            <a:ext cx="6247576" cy="2095500"/>
          </a:xfrm>
          <a:prstGeom prst="rect">
            <a:avLst/>
          </a:prstGeom>
        </p:spPr>
      </p:pic>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
        <p:nvSpPr>
          <p:cNvPr id="3" name="TextBox 2">
            <a:extLst>
              <a:ext uri="{FF2B5EF4-FFF2-40B4-BE49-F238E27FC236}">
                <a16:creationId xmlns:a16="http://schemas.microsoft.com/office/drawing/2014/main" id="{88EF601B-D8DF-764B-5579-12236BBBF59B}"/>
              </a:ext>
            </a:extLst>
          </p:cNvPr>
          <p:cNvSpPr txBox="1"/>
          <p:nvPr/>
        </p:nvSpPr>
        <p:spPr>
          <a:xfrm>
            <a:off x="3287688" y="2598003"/>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7" name="TextBox 6">
            <a:extLst>
              <a:ext uri="{FF2B5EF4-FFF2-40B4-BE49-F238E27FC236}">
                <a16:creationId xmlns:a16="http://schemas.microsoft.com/office/drawing/2014/main" id="{7D82D2C3-8DBB-7FCB-ED09-015BFADDCA4F}"/>
              </a:ext>
            </a:extLst>
          </p:cNvPr>
          <p:cNvSpPr txBox="1"/>
          <p:nvPr/>
        </p:nvSpPr>
        <p:spPr>
          <a:xfrm>
            <a:off x="3287688" y="1943628"/>
            <a:ext cx="3168352" cy="338554"/>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spTree>
    <p:extLst>
      <p:ext uri="{BB962C8B-B14F-4D97-AF65-F5344CB8AC3E}">
        <p14:creationId xmlns:p14="http://schemas.microsoft.com/office/powerpoint/2010/main" val="2212569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7DA803-8BE6-6F02-036F-24B087F40167}"/>
              </a:ext>
            </a:extLst>
          </p:cNvPr>
          <p:cNvPicPr>
            <a:picLocks noChangeAspect="1"/>
          </p:cNvPicPr>
          <p:nvPr/>
        </p:nvPicPr>
        <p:blipFill>
          <a:blip r:embed="rId2"/>
          <a:stretch>
            <a:fillRect/>
          </a:stretch>
        </p:blipFill>
        <p:spPr>
          <a:xfrm>
            <a:off x="7748585" y="1102940"/>
            <a:ext cx="4146511" cy="3858851"/>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20</a:t>
            </a:fld>
            <a:endParaRPr lang="en-US"/>
          </a:p>
        </p:txBody>
      </p:sp>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=&gt; 10x more data ~= 10x more time</a:t>
            </a:r>
            <a:endParaRPr lang="en-CH" sz="2800" b="1" dirty="0"/>
          </a:p>
        </p:txBody>
      </p:sp>
      <p:pic>
        <p:nvPicPr>
          <p:cNvPr id="3" name="Picture 2">
            <a:extLst>
              <a:ext uri="{FF2B5EF4-FFF2-40B4-BE49-F238E27FC236}">
                <a16:creationId xmlns:a16="http://schemas.microsoft.com/office/drawing/2014/main" id="{FA818456-8998-58CC-848D-F631BF4B62FA}"/>
              </a:ext>
            </a:extLst>
          </p:cNvPr>
          <p:cNvPicPr>
            <a:picLocks noChangeAspect="1"/>
          </p:cNvPicPr>
          <p:nvPr/>
        </p:nvPicPr>
        <p:blipFill>
          <a:blip r:embed="rId3"/>
          <a:stretch>
            <a:fillRect/>
          </a:stretch>
        </p:blipFill>
        <p:spPr>
          <a:xfrm>
            <a:off x="8621654" y="1311142"/>
            <a:ext cx="1675388" cy="809771"/>
          </a:xfrm>
          <a:prstGeom prst="rect">
            <a:avLst/>
          </a:prstGeom>
        </p:spPr>
      </p:pic>
      <p:pic>
        <p:nvPicPr>
          <p:cNvPr id="8" name="Picture 7">
            <a:extLst>
              <a:ext uri="{FF2B5EF4-FFF2-40B4-BE49-F238E27FC236}">
                <a16:creationId xmlns:a16="http://schemas.microsoft.com/office/drawing/2014/main" id="{0804C377-8D83-80FD-D7CF-7B23C74FB774}"/>
              </a:ext>
            </a:extLst>
          </p:cNvPr>
          <p:cNvPicPr>
            <a:picLocks noChangeAspect="1"/>
          </p:cNvPicPr>
          <p:nvPr/>
        </p:nvPicPr>
        <p:blipFill rotWithShape="1">
          <a:blip r:embed="rId4"/>
          <a:srcRect l="216"/>
          <a:stretch/>
        </p:blipFill>
        <p:spPr>
          <a:xfrm>
            <a:off x="564908" y="1311377"/>
            <a:ext cx="6247576" cy="2095500"/>
          </a:xfrm>
          <a:prstGeom prst="rect">
            <a:avLst/>
          </a:prstGeom>
        </p:spPr>
      </p:pic>
      <p:sp>
        <p:nvSpPr>
          <p:cNvPr id="11" name="TextBox 10">
            <a:extLst>
              <a:ext uri="{FF2B5EF4-FFF2-40B4-BE49-F238E27FC236}">
                <a16:creationId xmlns:a16="http://schemas.microsoft.com/office/drawing/2014/main" id="{04B82839-FF45-60CD-F3A0-EA882FDCD9DF}"/>
              </a:ext>
            </a:extLst>
          </p:cNvPr>
          <p:cNvSpPr txBox="1"/>
          <p:nvPr/>
        </p:nvSpPr>
        <p:spPr>
          <a:xfrm>
            <a:off x="3287688" y="2598003"/>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2" name="TextBox 11">
            <a:extLst>
              <a:ext uri="{FF2B5EF4-FFF2-40B4-BE49-F238E27FC236}">
                <a16:creationId xmlns:a16="http://schemas.microsoft.com/office/drawing/2014/main" id="{6FA1302A-6057-E546-4200-1D9570E0F97B}"/>
              </a:ext>
            </a:extLst>
          </p:cNvPr>
          <p:cNvSpPr txBox="1"/>
          <p:nvPr/>
        </p:nvSpPr>
        <p:spPr>
          <a:xfrm>
            <a:off x="3287688" y="1943628"/>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spTree>
    <p:extLst>
      <p:ext uri="{BB962C8B-B14F-4D97-AF65-F5344CB8AC3E}">
        <p14:creationId xmlns:p14="http://schemas.microsoft.com/office/powerpoint/2010/main" val="141140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8A7BC-1ABB-0700-8C5F-C6A9608C6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FFD25-7D00-5B29-F029-46078E8B48AB}"/>
              </a:ext>
            </a:extLst>
          </p:cNvPr>
          <p:cNvSpPr>
            <a:spLocks noGrp="1"/>
          </p:cNvSpPr>
          <p:nvPr>
            <p:ph type="title"/>
          </p:nvPr>
        </p:nvSpPr>
        <p:spPr/>
        <p:txBody>
          <a:bodyPr>
            <a:normAutofit/>
          </a:bodyPr>
          <a:lstStyle/>
          <a:p>
            <a:r>
              <a:rPr lang="en-CH" dirty="0"/>
              <a:t>What difference does it make? N = 1’000’000</a:t>
            </a:r>
          </a:p>
        </p:txBody>
      </p:sp>
      <p:sp>
        <p:nvSpPr>
          <p:cNvPr id="4" name="Date Placeholder 3">
            <a:extLst>
              <a:ext uri="{FF2B5EF4-FFF2-40B4-BE49-F238E27FC236}">
                <a16:creationId xmlns:a16="http://schemas.microsoft.com/office/drawing/2014/main" id="{B4C73719-50EA-A6BB-977F-63B24D60C6F5}"/>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EE6CF9C9-2926-2CA5-8DFE-45BAC628A94C}"/>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57E4E7DD-0E3C-5EFF-084F-6E09E91848F7}"/>
              </a:ext>
            </a:extLst>
          </p:cNvPr>
          <p:cNvSpPr>
            <a:spLocks noGrp="1"/>
          </p:cNvSpPr>
          <p:nvPr>
            <p:ph type="sldNum" sz="quarter" idx="12"/>
          </p:nvPr>
        </p:nvSpPr>
        <p:spPr/>
        <p:txBody>
          <a:bodyPr/>
          <a:lstStyle/>
          <a:p>
            <a:fld id="{EF79ADEA-B933-47CC-A4E9-04E6298B917C}" type="slidenum">
              <a:rPr lang="en-US" smtClean="0"/>
              <a:pPr/>
              <a:t>21</a:t>
            </a:fld>
            <a:endParaRPr lang="en-US"/>
          </a:p>
        </p:txBody>
      </p:sp>
      <p:pic>
        <p:nvPicPr>
          <p:cNvPr id="13" name="Picture 12">
            <a:extLst>
              <a:ext uri="{FF2B5EF4-FFF2-40B4-BE49-F238E27FC236}">
                <a16:creationId xmlns:a16="http://schemas.microsoft.com/office/drawing/2014/main" id="{F40DD0B5-B229-AA84-EF92-A0CF59FDDB3B}"/>
              </a:ext>
            </a:extLst>
          </p:cNvPr>
          <p:cNvPicPr>
            <a:picLocks noChangeAspect="1"/>
          </p:cNvPicPr>
          <p:nvPr/>
        </p:nvPicPr>
        <p:blipFill rotWithShape="1">
          <a:blip r:embed="rId2"/>
          <a:srcRect l="216"/>
          <a:stretch/>
        </p:blipFill>
        <p:spPr>
          <a:xfrm>
            <a:off x="564908" y="3859490"/>
            <a:ext cx="6247576" cy="2095500"/>
          </a:xfrm>
          <a:prstGeom prst="rect">
            <a:avLst/>
          </a:prstGeom>
        </p:spPr>
      </p:pic>
      <p:pic>
        <p:nvPicPr>
          <p:cNvPr id="14" name="Picture 13">
            <a:extLst>
              <a:ext uri="{FF2B5EF4-FFF2-40B4-BE49-F238E27FC236}">
                <a16:creationId xmlns:a16="http://schemas.microsoft.com/office/drawing/2014/main" id="{61401886-267B-7659-6204-5787DC6439F8}"/>
              </a:ext>
            </a:extLst>
          </p:cNvPr>
          <p:cNvPicPr>
            <a:picLocks noChangeAspect="1"/>
          </p:cNvPicPr>
          <p:nvPr/>
        </p:nvPicPr>
        <p:blipFill rotWithShape="1">
          <a:blip r:embed="rId3"/>
          <a:srcRect t="1893"/>
          <a:stretch/>
        </p:blipFill>
        <p:spPr>
          <a:xfrm>
            <a:off x="564908" y="4545244"/>
            <a:ext cx="3802900" cy="1418962"/>
          </a:xfrm>
          <a:prstGeom prst="rect">
            <a:avLst/>
          </a:prstGeom>
        </p:spPr>
      </p:pic>
      <p:sp>
        <p:nvSpPr>
          <p:cNvPr id="15" name="TextBox 14">
            <a:extLst>
              <a:ext uri="{FF2B5EF4-FFF2-40B4-BE49-F238E27FC236}">
                <a16:creationId xmlns:a16="http://schemas.microsoft.com/office/drawing/2014/main" id="{A7F72004-B5BE-1751-EA9D-B70D7893178F}"/>
              </a:ext>
            </a:extLst>
          </p:cNvPr>
          <p:cNvSpPr txBox="1"/>
          <p:nvPr/>
        </p:nvSpPr>
        <p:spPr>
          <a:xfrm>
            <a:off x="3287688" y="5146116"/>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6" name="TextBox 15">
            <a:extLst>
              <a:ext uri="{FF2B5EF4-FFF2-40B4-BE49-F238E27FC236}">
                <a16:creationId xmlns:a16="http://schemas.microsoft.com/office/drawing/2014/main" id="{29226FCE-34E7-DE91-18C6-5013AD63DB42}"/>
              </a:ext>
            </a:extLst>
          </p:cNvPr>
          <p:cNvSpPr txBox="1"/>
          <p:nvPr/>
        </p:nvSpPr>
        <p:spPr>
          <a:xfrm>
            <a:off x="3287688" y="4491741"/>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pic>
        <p:nvPicPr>
          <p:cNvPr id="17" name="Picture 16">
            <a:extLst>
              <a:ext uri="{FF2B5EF4-FFF2-40B4-BE49-F238E27FC236}">
                <a16:creationId xmlns:a16="http://schemas.microsoft.com/office/drawing/2014/main" id="{11CFBDE9-BE0A-E9AC-4205-0FA65D23B82E}"/>
              </a:ext>
            </a:extLst>
          </p:cNvPr>
          <p:cNvPicPr>
            <a:picLocks noChangeAspect="1"/>
          </p:cNvPicPr>
          <p:nvPr/>
        </p:nvPicPr>
        <p:blipFill>
          <a:blip r:embed="rId4"/>
          <a:stretch>
            <a:fillRect/>
          </a:stretch>
        </p:blipFill>
        <p:spPr>
          <a:xfrm>
            <a:off x="561685" y="1561389"/>
            <a:ext cx="6235700" cy="1587500"/>
          </a:xfrm>
          <a:prstGeom prst="rect">
            <a:avLst/>
          </a:prstGeom>
        </p:spPr>
      </p:pic>
      <p:sp>
        <p:nvSpPr>
          <p:cNvPr id="18" name="TextBox 17">
            <a:extLst>
              <a:ext uri="{FF2B5EF4-FFF2-40B4-BE49-F238E27FC236}">
                <a16:creationId xmlns:a16="http://schemas.microsoft.com/office/drawing/2014/main" id="{AD419BEB-9023-7979-959B-F915CE53BB4E}"/>
              </a:ext>
            </a:extLst>
          </p:cNvPr>
          <p:cNvSpPr txBox="1"/>
          <p:nvPr/>
        </p:nvSpPr>
        <p:spPr>
          <a:xfrm>
            <a:off x="3297989" y="2355139"/>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9" name="TextBox 18">
            <a:extLst>
              <a:ext uri="{FF2B5EF4-FFF2-40B4-BE49-F238E27FC236}">
                <a16:creationId xmlns:a16="http://schemas.microsoft.com/office/drawing/2014/main" id="{BE69DB25-1C02-D99E-F971-2664DC772CCE}"/>
              </a:ext>
            </a:extLst>
          </p:cNvPr>
          <p:cNvSpPr txBox="1"/>
          <p:nvPr/>
        </p:nvSpPr>
        <p:spPr>
          <a:xfrm>
            <a:off x="7608167" y="1534214"/>
            <a:ext cx="4022147" cy="1569660"/>
          </a:xfrm>
          <a:prstGeom prst="rect">
            <a:avLst/>
          </a:prstGeom>
          <a:noFill/>
        </p:spPr>
        <p:txBody>
          <a:bodyPr wrap="square" rtlCol="0">
            <a:spAutoFit/>
          </a:bodyPr>
          <a:lstStyle/>
          <a:p>
            <a:r>
              <a:rPr lang="en-GB" sz="2400" b="1" dirty="0"/>
              <a:t>t</a:t>
            </a:r>
            <a:r>
              <a:rPr lang="en-CH" sz="2400" b="1" dirty="0"/>
              <a:t>ime x 1’000’000 x 1’000’000</a:t>
            </a:r>
          </a:p>
          <a:p>
            <a:r>
              <a:rPr lang="en-GB" sz="2400" dirty="0"/>
              <a:t>This w</a:t>
            </a:r>
            <a:r>
              <a:rPr lang="en-CH" sz="2400" dirty="0"/>
              <a:t>ill never complete, even if you parallelize on 1’000 machines</a:t>
            </a:r>
          </a:p>
        </p:txBody>
      </p:sp>
      <p:sp>
        <p:nvSpPr>
          <p:cNvPr id="20" name="TextBox 19">
            <a:extLst>
              <a:ext uri="{FF2B5EF4-FFF2-40B4-BE49-F238E27FC236}">
                <a16:creationId xmlns:a16="http://schemas.microsoft.com/office/drawing/2014/main" id="{357DB084-DAB3-E3FE-599F-7BFF424EB74B}"/>
              </a:ext>
            </a:extLst>
          </p:cNvPr>
          <p:cNvSpPr txBox="1"/>
          <p:nvPr/>
        </p:nvSpPr>
        <p:spPr>
          <a:xfrm>
            <a:off x="7608168" y="3822139"/>
            <a:ext cx="4018924" cy="830997"/>
          </a:xfrm>
          <a:prstGeom prst="rect">
            <a:avLst/>
          </a:prstGeom>
          <a:noFill/>
        </p:spPr>
        <p:txBody>
          <a:bodyPr wrap="square" rtlCol="0">
            <a:spAutoFit/>
          </a:bodyPr>
          <a:lstStyle/>
          <a:p>
            <a:r>
              <a:rPr lang="en-GB" sz="2400" b="1" dirty="0"/>
              <a:t>t</a:t>
            </a:r>
            <a:r>
              <a:rPr lang="en-CH" sz="2400" b="1" dirty="0"/>
              <a:t>ime x 1’000’000</a:t>
            </a:r>
          </a:p>
          <a:p>
            <a:r>
              <a:rPr lang="en-GB" sz="2400" dirty="0"/>
              <a:t>Whis will</a:t>
            </a:r>
            <a:r>
              <a:rPr lang="en-CH" sz="2400" dirty="0"/>
              <a:t> complete in seconds</a:t>
            </a:r>
          </a:p>
        </p:txBody>
      </p:sp>
    </p:spTree>
    <p:extLst>
      <p:ext uri="{BB962C8B-B14F-4D97-AF65-F5344CB8AC3E}">
        <p14:creationId xmlns:p14="http://schemas.microsoft.com/office/powerpoint/2010/main" val="28300568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lang="en-CH" dirty="0"/>
              <a:t>H</a:t>
            </a:r>
            <a:r>
              <a:rPr lang="en-CH" sz="4400" dirty="0"/>
              <a:t>ow does parallelizing change the performance?</a:t>
            </a:r>
            <a:br>
              <a:rPr lang="en-CH" sz="4400" dirty="0"/>
            </a:br>
            <a:r>
              <a:rPr lang="en-CH" sz="3100" dirty="0"/>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22</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8" name="TextBox 7">
            <a:extLst>
              <a:ext uri="{FF2B5EF4-FFF2-40B4-BE49-F238E27FC236}">
                <a16:creationId xmlns:a16="http://schemas.microsoft.com/office/drawing/2014/main" id="{C7971566-3187-BA1E-C09B-A41ADED985F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pic>
        <p:nvPicPr>
          <p:cNvPr id="3" name="Picture 2">
            <a:extLst>
              <a:ext uri="{FF2B5EF4-FFF2-40B4-BE49-F238E27FC236}">
                <a16:creationId xmlns:a16="http://schemas.microsoft.com/office/drawing/2014/main" id="{19992BFF-0069-6745-6E0A-1835196DE632}"/>
              </a:ext>
            </a:extLst>
          </p:cNvPr>
          <p:cNvPicPr>
            <a:picLocks noChangeAspect="1"/>
          </p:cNvPicPr>
          <p:nvPr/>
        </p:nvPicPr>
        <p:blipFill>
          <a:blip r:embed="rId4"/>
          <a:stretch>
            <a:fillRect/>
          </a:stretch>
        </p:blipFill>
        <p:spPr>
          <a:xfrm>
            <a:off x="986246" y="1484784"/>
            <a:ext cx="4656221" cy="4365697"/>
          </a:xfrm>
          <a:prstGeom prst="rect">
            <a:avLst/>
          </a:prstGeom>
        </p:spPr>
      </p:pic>
    </p:spTree>
    <p:extLst>
      <p:ext uri="{BB962C8B-B14F-4D97-AF65-F5344CB8AC3E}">
        <p14:creationId xmlns:p14="http://schemas.microsoft.com/office/powerpoint/2010/main" val="953904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0BACC5-0DED-E5BA-9C97-D932693C0117}"/>
              </a:ext>
            </a:extLst>
          </p:cNvPr>
          <p:cNvPicPr>
            <a:picLocks noChangeAspect="1"/>
          </p:cNvPicPr>
          <p:nvPr/>
        </p:nvPicPr>
        <p:blipFill>
          <a:blip r:embed="rId3"/>
          <a:stretch>
            <a:fillRect/>
          </a:stretch>
        </p:blipFill>
        <p:spPr>
          <a:xfrm>
            <a:off x="986246" y="1484784"/>
            <a:ext cx="4656221"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23</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14" name="Down Arrow 13">
            <a:extLst>
              <a:ext uri="{FF2B5EF4-FFF2-40B4-BE49-F238E27FC236}">
                <a16:creationId xmlns:a16="http://schemas.microsoft.com/office/drawing/2014/main" id="{CAB6235C-D02E-237C-2CAF-17D54EEACB99}"/>
              </a:ext>
            </a:extLst>
          </p:cNvPr>
          <p:cNvSpPr/>
          <p:nvPr/>
        </p:nvSpPr>
        <p:spPr>
          <a:xfrm>
            <a:off x="4439816" y="3256025"/>
            <a:ext cx="274118" cy="588473"/>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5" name="Down Arrow 14">
            <a:extLst>
              <a:ext uri="{FF2B5EF4-FFF2-40B4-BE49-F238E27FC236}">
                <a16:creationId xmlns:a16="http://schemas.microsoft.com/office/drawing/2014/main" id="{C5B012DB-0F8A-48E4-0D7D-D992331FE85C}"/>
              </a:ext>
            </a:extLst>
          </p:cNvPr>
          <p:cNvSpPr/>
          <p:nvPr/>
        </p:nvSpPr>
        <p:spPr>
          <a:xfrm>
            <a:off x="3901541" y="3933056"/>
            <a:ext cx="274118" cy="383087"/>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6" name="Down Arrow 15">
            <a:extLst>
              <a:ext uri="{FF2B5EF4-FFF2-40B4-BE49-F238E27FC236}">
                <a16:creationId xmlns:a16="http://schemas.microsoft.com/office/drawing/2014/main" id="{62E9110D-1431-CD67-6F7C-2896D2689A02}"/>
              </a:ext>
            </a:extLst>
          </p:cNvPr>
          <p:cNvSpPr/>
          <p:nvPr/>
        </p:nvSpPr>
        <p:spPr>
          <a:xfrm>
            <a:off x="4934783" y="2564904"/>
            <a:ext cx="274118" cy="810899"/>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3" name="TextBox 2">
            <a:extLst>
              <a:ext uri="{FF2B5EF4-FFF2-40B4-BE49-F238E27FC236}">
                <a16:creationId xmlns:a16="http://schemas.microsoft.com/office/drawing/2014/main" id="{8D626128-704D-A703-00B1-C2DDFB95C5E6}"/>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9" name="TextBox 8">
            <a:extLst>
              <a:ext uri="{FF2B5EF4-FFF2-40B4-BE49-F238E27FC236}">
                <a16:creationId xmlns:a16="http://schemas.microsoft.com/office/drawing/2014/main" id="{E90B8732-E905-12A7-164C-5624E027F382}"/>
              </a:ext>
            </a:extLst>
          </p:cNvPr>
          <p:cNvSpPr txBox="1"/>
          <p:nvPr/>
        </p:nvSpPr>
        <p:spPr>
          <a:xfrm>
            <a:off x="5205635" y="1977092"/>
            <a:ext cx="1615008" cy="1077218"/>
          </a:xfrm>
          <a:prstGeom prst="rect">
            <a:avLst/>
          </a:prstGeom>
          <a:noFill/>
        </p:spPr>
        <p:txBody>
          <a:bodyPr wrap="square" rtlCol="0">
            <a:spAutoFit/>
          </a:bodyPr>
          <a:lstStyle/>
          <a:p>
            <a:pPr algn="ctr"/>
            <a:r>
              <a:rPr lang="en-CH" sz="1600" b="1" dirty="0">
                <a:solidFill>
                  <a:srgbClr val="1E76B4"/>
                </a:solidFill>
              </a:rPr>
              <a:t>Parallelization</a:t>
            </a:r>
          </a:p>
          <a:p>
            <a:pPr algn="ctr"/>
            <a:r>
              <a:rPr lang="en-CH" sz="1600" b="1" dirty="0">
                <a:solidFill>
                  <a:srgbClr val="1E76B4"/>
                </a:solidFill>
              </a:rPr>
              <a:t>increases performance for fixed N</a:t>
            </a:r>
          </a:p>
        </p:txBody>
      </p:sp>
    </p:spTree>
    <p:extLst>
      <p:ext uri="{BB962C8B-B14F-4D97-AF65-F5344CB8AC3E}">
        <p14:creationId xmlns:p14="http://schemas.microsoft.com/office/powerpoint/2010/main" val="395237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24</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2" name="TextBox 1">
            <a:extLst>
              <a:ext uri="{FF2B5EF4-FFF2-40B4-BE49-F238E27FC236}">
                <a16:creationId xmlns:a16="http://schemas.microsoft.com/office/drawing/2014/main" id="{863FFC43-3EE6-C89C-0DDC-BF26C3998C5D}"/>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3" name="Rectangle 2">
            <a:extLst>
              <a:ext uri="{FF2B5EF4-FFF2-40B4-BE49-F238E27FC236}">
                <a16:creationId xmlns:a16="http://schemas.microsoft.com/office/drawing/2014/main" id="{9B92A623-8289-4D9D-C2FB-7FA7B0F98CA6}"/>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 name="Down Arrow 7">
            <a:extLst>
              <a:ext uri="{FF2B5EF4-FFF2-40B4-BE49-F238E27FC236}">
                <a16:creationId xmlns:a16="http://schemas.microsoft.com/office/drawing/2014/main" id="{BA139292-EDCB-EF3B-2297-BB3428EDCF45}"/>
              </a:ext>
            </a:extLst>
          </p:cNvPr>
          <p:cNvSpPr/>
          <p:nvPr/>
        </p:nvSpPr>
        <p:spPr>
          <a:xfrm>
            <a:off x="3066464" y="4725143"/>
            <a:ext cx="221224" cy="216025"/>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9" name="Down Arrow 8">
            <a:extLst>
              <a:ext uri="{FF2B5EF4-FFF2-40B4-BE49-F238E27FC236}">
                <a16:creationId xmlns:a16="http://schemas.microsoft.com/office/drawing/2014/main" id="{17B0767F-81FB-FADC-CD7A-03349369E489}"/>
              </a:ext>
            </a:extLst>
          </p:cNvPr>
          <p:cNvSpPr/>
          <p:nvPr/>
        </p:nvSpPr>
        <p:spPr>
          <a:xfrm>
            <a:off x="3463137" y="4365104"/>
            <a:ext cx="221224" cy="288032"/>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29424976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25</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3" name="TextBox 2">
            <a:extLst>
              <a:ext uri="{FF2B5EF4-FFF2-40B4-BE49-F238E27FC236}">
                <a16:creationId xmlns:a16="http://schemas.microsoft.com/office/drawing/2014/main" id="{1D33A5E3-17A0-6084-EC79-5CDACAB78D2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8" name="Rectangle 7">
            <a:extLst>
              <a:ext uri="{FF2B5EF4-FFF2-40B4-BE49-F238E27FC236}">
                <a16:creationId xmlns:a16="http://schemas.microsoft.com/office/drawing/2014/main" id="{36EDFED0-F92E-7DA3-18EA-239BC6A86CAE}"/>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2" name="TextBox 1">
            <a:extLst>
              <a:ext uri="{FF2B5EF4-FFF2-40B4-BE49-F238E27FC236}">
                <a16:creationId xmlns:a16="http://schemas.microsoft.com/office/drawing/2014/main" id="{5F39213B-463F-647D-5E38-3C452A037080}"/>
              </a:ext>
            </a:extLst>
          </p:cNvPr>
          <p:cNvSpPr txBox="1"/>
          <p:nvPr/>
        </p:nvSpPr>
        <p:spPr>
          <a:xfrm>
            <a:off x="2563219" y="2132856"/>
            <a:ext cx="3234271" cy="2380332"/>
          </a:xfrm>
          <a:custGeom>
            <a:avLst/>
            <a:gdLst>
              <a:gd name="csX0" fmla="*/ 0 w 3234271"/>
              <a:gd name="csY0" fmla="*/ 0 h 2380332"/>
              <a:gd name="csX1" fmla="*/ 582169 w 3234271"/>
              <a:gd name="csY1" fmla="*/ 0 h 2380332"/>
              <a:gd name="csX2" fmla="*/ 1261366 w 3234271"/>
              <a:gd name="csY2" fmla="*/ 0 h 2380332"/>
              <a:gd name="csX3" fmla="*/ 1875877 w 3234271"/>
              <a:gd name="csY3" fmla="*/ 0 h 2380332"/>
              <a:gd name="csX4" fmla="*/ 2458046 w 3234271"/>
              <a:gd name="csY4" fmla="*/ 0 h 2380332"/>
              <a:gd name="csX5" fmla="*/ 3234271 w 3234271"/>
              <a:gd name="csY5" fmla="*/ 0 h 2380332"/>
              <a:gd name="csX6" fmla="*/ 3234271 w 3234271"/>
              <a:gd name="csY6" fmla="*/ 595083 h 2380332"/>
              <a:gd name="csX7" fmla="*/ 3234271 w 3234271"/>
              <a:gd name="csY7" fmla="*/ 1190166 h 2380332"/>
              <a:gd name="csX8" fmla="*/ 3234271 w 3234271"/>
              <a:gd name="csY8" fmla="*/ 1737642 h 2380332"/>
              <a:gd name="csX9" fmla="*/ 3234271 w 3234271"/>
              <a:gd name="csY9" fmla="*/ 2380332 h 2380332"/>
              <a:gd name="csX10" fmla="*/ 2652102 w 3234271"/>
              <a:gd name="csY10" fmla="*/ 2380332 h 2380332"/>
              <a:gd name="csX11" fmla="*/ 2102276 w 3234271"/>
              <a:gd name="csY11" fmla="*/ 2380332 h 2380332"/>
              <a:gd name="csX12" fmla="*/ 1423079 w 3234271"/>
              <a:gd name="csY12" fmla="*/ 2380332 h 2380332"/>
              <a:gd name="csX13" fmla="*/ 840910 w 3234271"/>
              <a:gd name="csY13" fmla="*/ 2380332 h 2380332"/>
              <a:gd name="csX14" fmla="*/ 0 w 3234271"/>
              <a:gd name="csY14" fmla="*/ 2380332 h 2380332"/>
              <a:gd name="csX15" fmla="*/ 0 w 3234271"/>
              <a:gd name="csY15" fmla="*/ 1737642 h 2380332"/>
              <a:gd name="csX16" fmla="*/ 0 w 3234271"/>
              <a:gd name="csY16" fmla="*/ 1190166 h 2380332"/>
              <a:gd name="csX17" fmla="*/ 0 w 3234271"/>
              <a:gd name="csY17" fmla="*/ 571280 h 2380332"/>
              <a:gd name="csX18" fmla="*/ 0 w 3234271"/>
              <a:gd name="csY18" fmla="*/ 0 h 2380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234271" h="2380332" fill="none" extrusionOk="0">
                <a:moveTo>
                  <a:pt x="0" y="0"/>
                </a:moveTo>
                <a:cubicBezTo>
                  <a:pt x="141820" y="6212"/>
                  <a:pt x="399183" y="10531"/>
                  <a:pt x="582169" y="0"/>
                </a:cubicBezTo>
                <a:cubicBezTo>
                  <a:pt x="765155" y="-10531"/>
                  <a:pt x="944164" y="-14576"/>
                  <a:pt x="1261366" y="0"/>
                </a:cubicBezTo>
                <a:cubicBezTo>
                  <a:pt x="1578568" y="14576"/>
                  <a:pt x="1718422" y="-25452"/>
                  <a:pt x="1875877" y="0"/>
                </a:cubicBezTo>
                <a:cubicBezTo>
                  <a:pt x="2033332" y="25452"/>
                  <a:pt x="2176506" y="6714"/>
                  <a:pt x="2458046" y="0"/>
                </a:cubicBezTo>
                <a:cubicBezTo>
                  <a:pt x="2739586" y="-6714"/>
                  <a:pt x="2933680" y="-9318"/>
                  <a:pt x="3234271" y="0"/>
                </a:cubicBezTo>
                <a:cubicBezTo>
                  <a:pt x="3205438" y="121495"/>
                  <a:pt x="3241329" y="423799"/>
                  <a:pt x="3234271" y="595083"/>
                </a:cubicBezTo>
                <a:cubicBezTo>
                  <a:pt x="3227213" y="766367"/>
                  <a:pt x="3224714" y="1069953"/>
                  <a:pt x="3234271" y="1190166"/>
                </a:cubicBezTo>
                <a:cubicBezTo>
                  <a:pt x="3243828" y="1310379"/>
                  <a:pt x="3260495" y="1567629"/>
                  <a:pt x="3234271" y="1737642"/>
                </a:cubicBezTo>
                <a:cubicBezTo>
                  <a:pt x="3208047" y="1907655"/>
                  <a:pt x="3209416" y="2064839"/>
                  <a:pt x="3234271" y="2380332"/>
                </a:cubicBezTo>
                <a:cubicBezTo>
                  <a:pt x="3083979" y="2374067"/>
                  <a:pt x="2821818" y="2354162"/>
                  <a:pt x="2652102" y="2380332"/>
                </a:cubicBezTo>
                <a:cubicBezTo>
                  <a:pt x="2482386" y="2406502"/>
                  <a:pt x="2324165" y="2385213"/>
                  <a:pt x="2102276" y="2380332"/>
                </a:cubicBezTo>
                <a:cubicBezTo>
                  <a:pt x="1880387" y="2375451"/>
                  <a:pt x="1754755" y="2381412"/>
                  <a:pt x="1423079" y="2380332"/>
                </a:cubicBezTo>
                <a:cubicBezTo>
                  <a:pt x="1091403" y="2379252"/>
                  <a:pt x="1026233" y="2407988"/>
                  <a:pt x="840910" y="2380332"/>
                </a:cubicBezTo>
                <a:cubicBezTo>
                  <a:pt x="655587" y="2352676"/>
                  <a:pt x="391831" y="2403014"/>
                  <a:pt x="0" y="2380332"/>
                </a:cubicBezTo>
                <a:cubicBezTo>
                  <a:pt x="-19650" y="2220379"/>
                  <a:pt x="8283" y="2016283"/>
                  <a:pt x="0" y="1737642"/>
                </a:cubicBezTo>
                <a:cubicBezTo>
                  <a:pt x="-8283" y="1459001"/>
                  <a:pt x="-4408" y="1387841"/>
                  <a:pt x="0" y="1190166"/>
                </a:cubicBezTo>
                <a:cubicBezTo>
                  <a:pt x="4408" y="992491"/>
                  <a:pt x="29513" y="802698"/>
                  <a:pt x="0" y="571280"/>
                </a:cubicBezTo>
                <a:cubicBezTo>
                  <a:pt x="-29513" y="339862"/>
                  <a:pt x="20335" y="190159"/>
                  <a:pt x="0" y="0"/>
                </a:cubicBezTo>
                <a:close/>
              </a:path>
              <a:path w="3234271" h="2380332" stroke="0" extrusionOk="0">
                <a:moveTo>
                  <a:pt x="0" y="0"/>
                </a:moveTo>
                <a:cubicBezTo>
                  <a:pt x="161645" y="17740"/>
                  <a:pt x="391222" y="-12056"/>
                  <a:pt x="614511" y="0"/>
                </a:cubicBezTo>
                <a:cubicBezTo>
                  <a:pt x="837800" y="12056"/>
                  <a:pt x="915682" y="-18068"/>
                  <a:pt x="1164338" y="0"/>
                </a:cubicBezTo>
                <a:cubicBezTo>
                  <a:pt x="1412994" y="18068"/>
                  <a:pt x="1707949" y="29967"/>
                  <a:pt x="1875877" y="0"/>
                </a:cubicBezTo>
                <a:cubicBezTo>
                  <a:pt x="2043805" y="-29967"/>
                  <a:pt x="2296864" y="28030"/>
                  <a:pt x="2490389" y="0"/>
                </a:cubicBezTo>
                <a:cubicBezTo>
                  <a:pt x="2683914" y="-28030"/>
                  <a:pt x="3034064" y="25786"/>
                  <a:pt x="3234271" y="0"/>
                </a:cubicBezTo>
                <a:cubicBezTo>
                  <a:pt x="3228434" y="262458"/>
                  <a:pt x="3203608" y="440216"/>
                  <a:pt x="3234271" y="642690"/>
                </a:cubicBezTo>
                <a:cubicBezTo>
                  <a:pt x="3264935" y="845164"/>
                  <a:pt x="3209277" y="1051895"/>
                  <a:pt x="3234271" y="1237773"/>
                </a:cubicBezTo>
                <a:cubicBezTo>
                  <a:pt x="3259265" y="1423651"/>
                  <a:pt x="3208960" y="1617586"/>
                  <a:pt x="3234271" y="1832856"/>
                </a:cubicBezTo>
                <a:cubicBezTo>
                  <a:pt x="3259582" y="2048126"/>
                  <a:pt x="3212211" y="2138186"/>
                  <a:pt x="3234271" y="2380332"/>
                </a:cubicBezTo>
                <a:cubicBezTo>
                  <a:pt x="3069336" y="2396615"/>
                  <a:pt x="2929223" y="2398413"/>
                  <a:pt x="2652102" y="2380332"/>
                </a:cubicBezTo>
                <a:cubicBezTo>
                  <a:pt x="2374981" y="2362251"/>
                  <a:pt x="2189830" y="2371468"/>
                  <a:pt x="2005248" y="2380332"/>
                </a:cubicBezTo>
                <a:cubicBezTo>
                  <a:pt x="1820666" y="2389196"/>
                  <a:pt x="1545412" y="2381858"/>
                  <a:pt x="1390737" y="2380332"/>
                </a:cubicBezTo>
                <a:cubicBezTo>
                  <a:pt x="1236062" y="2378806"/>
                  <a:pt x="955329" y="2409241"/>
                  <a:pt x="679197" y="2380332"/>
                </a:cubicBezTo>
                <a:cubicBezTo>
                  <a:pt x="403065" y="2351423"/>
                  <a:pt x="181539" y="2392730"/>
                  <a:pt x="0" y="2380332"/>
                </a:cubicBezTo>
                <a:cubicBezTo>
                  <a:pt x="-25526" y="2163408"/>
                  <a:pt x="-16296" y="1968065"/>
                  <a:pt x="0" y="1832856"/>
                </a:cubicBezTo>
                <a:cubicBezTo>
                  <a:pt x="16296" y="1697647"/>
                  <a:pt x="8461" y="1492598"/>
                  <a:pt x="0" y="1237773"/>
                </a:cubicBezTo>
                <a:cubicBezTo>
                  <a:pt x="-8461" y="982948"/>
                  <a:pt x="-22828" y="846559"/>
                  <a:pt x="0" y="666493"/>
                </a:cubicBezTo>
                <a:cubicBezTo>
                  <a:pt x="22828" y="486427"/>
                  <a:pt x="-27514" y="325933"/>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r>
              <a:rPr lang="en-CH" sz="2400" dirty="0"/>
              <a:t>We need to distinguish between “fast” in absolute terms for a fixed problem size, and “fast” in the sense of how well it scales</a:t>
            </a:r>
          </a:p>
        </p:txBody>
      </p:sp>
    </p:spTree>
    <p:extLst>
      <p:ext uri="{BB962C8B-B14F-4D97-AF65-F5344CB8AC3E}">
        <p14:creationId xmlns:p14="http://schemas.microsoft.com/office/powerpoint/2010/main" val="18294346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lstStyle/>
          <a:p>
            <a:r>
              <a:rPr lang="en-CH" dirty="0"/>
              <a:t>How performance scales: big-O</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26</a:t>
            </a:fld>
            <a:endParaRPr lang="en-US"/>
          </a:p>
        </p:txBody>
      </p:sp>
      <p:graphicFrame>
        <p:nvGraphicFramePr>
          <p:cNvPr id="8" name="Table 7">
            <a:extLst>
              <a:ext uri="{FF2B5EF4-FFF2-40B4-BE49-F238E27FC236}">
                <a16:creationId xmlns:a16="http://schemas.microsoft.com/office/drawing/2014/main" id="{9F4D7767-8D38-9EC2-E9DE-CB44B2A754DB}"/>
              </a:ext>
            </a:extLst>
          </p:cNvPr>
          <p:cNvGraphicFramePr>
            <a:graphicFrameLocks noGrp="1"/>
          </p:cNvGraphicFramePr>
          <p:nvPr/>
        </p:nvGraphicFramePr>
        <p:xfrm>
          <a:off x="751384" y="1258760"/>
          <a:ext cx="5632648" cy="2123440"/>
        </p:xfrm>
        <a:graphic>
          <a:graphicData uri="http://schemas.openxmlformats.org/drawingml/2006/table">
            <a:tbl>
              <a:tblPr firstRow="1" bandRow="1">
                <a:tableStyleId>{5C22544A-7EE6-4342-B048-85BDC9FD1C3A}</a:tableStyleId>
              </a:tblPr>
              <a:tblGrid>
                <a:gridCol w="1401770">
                  <a:extLst>
                    <a:ext uri="{9D8B030D-6E8A-4147-A177-3AD203B41FA5}">
                      <a16:colId xmlns:a16="http://schemas.microsoft.com/office/drawing/2014/main" val="2060215517"/>
                    </a:ext>
                  </a:extLst>
                </a:gridCol>
                <a:gridCol w="1638590">
                  <a:extLst>
                    <a:ext uri="{9D8B030D-6E8A-4147-A177-3AD203B41FA5}">
                      <a16:colId xmlns:a16="http://schemas.microsoft.com/office/drawing/2014/main" val="3200531112"/>
                    </a:ext>
                  </a:extLst>
                </a:gridCol>
                <a:gridCol w="2592288">
                  <a:extLst>
                    <a:ext uri="{9D8B030D-6E8A-4147-A177-3AD203B41FA5}">
                      <a16:colId xmlns:a16="http://schemas.microsoft.com/office/drawing/2014/main" val="1401730132"/>
                    </a:ext>
                  </a:extLst>
                </a:gridCol>
              </a:tblGrid>
              <a:tr h="419521">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What we call it</a:t>
                      </a:r>
                      <a:endParaRPr lang="en-CH" dirty="0">
                        <a:solidFill>
                          <a:schemeClr val="bg2">
                            <a:lumMod val="2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T</a:t>
                      </a:r>
                      <a:r>
                        <a:rPr lang="en-CH" dirty="0">
                          <a:solidFill>
                            <a:schemeClr val="bg2">
                              <a:lumMod val="25000"/>
                            </a:schemeClr>
                          </a:solidFill>
                        </a:rPr>
                        <a:t>ime increase</a:t>
                      </a:r>
                      <a:r>
                        <a:rPr lang="en-US" dirty="0">
                          <a:solidFill>
                            <a:schemeClr val="bg2">
                              <a:lumMod val="25000"/>
                            </a:schemeClr>
                          </a:solidFill>
                        </a:rPr>
                        <a:t>,</a:t>
                      </a:r>
                      <a:r>
                        <a:rPr lang="en-CH" dirty="0">
                          <a:solidFill>
                            <a:schemeClr val="bg2">
                              <a:lumMod val="25000"/>
                            </a:schemeClr>
                          </a:solidFill>
                        </a:rPr>
                        <a:t> </a:t>
                      </a:r>
                      <a:r>
                        <a:rPr lang="en-US" dirty="0">
                          <a:solidFill>
                            <a:schemeClr val="bg2">
                              <a:lumMod val="25000"/>
                            </a:schemeClr>
                          </a:solidFill>
                        </a:rPr>
                        <a:t>when</a:t>
                      </a:r>
                      <a:r>
                        <a:rPr lang="en-CH" dirty="0">
                          <a:solidFill>
                            <a:schemeClr val="bg2">
                              <a:lumMod val="25000"/>
                            </a:schemeClr>
                          </a:solidFill>
                        </a:rPr>
                        <a:t> data increases 10x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constant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992344"/>
                  </a:ext>
                </a:extLst>
              </a:tr>
              <a:tr h="370840">
                <a:tc>
                  <a:txBody>
                    <a:bodyPr/>
                    <a:lstStyle/>
                    <a:p>
                      <a:r>
                        <a:rPr lang="en-CH" b="1" dirty="0">
                          <a:solidFill>
                            <a:srgbClr val="FF8B00"/>
                          </a:solidFill>
                        </a:rPr>
                        <a:t>O(n</a:t>
                      </a:r>
                      <a:r>
                        <a:rPr lang="en-CH" b="1" baseline="30000" dirty="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quadratic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~10-20x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22769138"/>
                  </a:ext>
                </a:extLst>
              </a:tr>
            </a:tbl>
          </a:graphicData>
        </a:graphic>
      </p:graphicFrame>
      <p:grpSp>
        <p:nvGrpSpPr>
          <p:cNvPr id="17" name="Group 16">
            <a:extLst>
              <a:ext uri="{FF2B5EF4-FFF2-40B4-BE49-F238E27FC236}">
                <a16:creationId xmlns:a16="http://schemas.microsoft.com/office/drawing/2014/main" id="{D393E11A-0940-7F3E-8EF2-42DBDBE2BA36}"/>
              </a:ext>
            </a:extLst>
          </p:cNvPr>
          <p:cNvGrpSpPr/>
          <p:nvPr/>
        </p:nvGrpSpPr>
        <p:grpSpPr>
          <a:xfrm>
            <a:off x="7032103" y="1216973"/>
            <a:ext cx="4968553" cy="4423960"/>
            <a:chOff x="7032103" y="1216973"/>
            <a:chExt cx="4968553" cy="4423960"/>
          </a:xfrm>
        </p:grpSpPr>
        <p:pic>
          <p:nvPicPr>
            <p:cNvPr id="11" name="Picture 4" descr="Big O notation- What is it good for? – The Craft of Coding">
              <a:extLst>
                <a:ext uri="{FF2B5EF4-FFF2-40B4-BE49-F238E27FC236}">
                  <a16:creationId xmlns:a16="http://schemas.microsoft.com/office/drawing/2014/main" id="{88B64CF8-480D-6156-D60C-0F8D5DCC0C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6120" y="1216973"/>
              <a:ext cx="4464496" cy="42528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B3CB49A-07A0-C3B9-4A2C-A7BA1017B6E3}"/>
                </a:ext>
              </a:extLst>
            </p:cNvPr>
            <p:cNvSpPr txBox="1"/>
            <p:nvPr/>
          </p:nvSpPr>
          <p:spPr>
            <a:xfrm rot="16200000">
              <a:off x="6095392" y="3112559"/>
              <a:ext cx="2335088" cy="461665"/>
            </a:xfrm>
            <a:prstGeom prst="rect">
              <a:avLst/>
            </a:prstGeom>
            <a:solidFill>
              <a:schemeClr val="bg1"/>
            </a:solidFill>
          </p:spPr>
          <p:txBody>
            <a:bodyPr wrap="square" rtlCol="0">
              <a:spAutoFit/>
            </a:bodyPr>
            <a:lstStyle/>
            <a:p>
              <a:pPr algn="ctr"/>
              <a:r>
                <a:rPr lang="en-CH" sz="2400" dirty="0"/>
                <a:t>Time</a:t>
              </a:r>
            </a:p>
          </p:txBody>
        </p:sp>
        <p:sp>
          <p:nvSpPr>
            <p:cNvPr id="7" name="TextBox 6">
              <a:extLst>
                <a:ext uri="{FF2B5EF4-FFF2-40B4-BE49-F238E27FC236}">
                  <a16:creationId xmlns:a16="http://schemas.microsoft.com/office/drawing/2014/main" id="{4FD25CA8-C5A0-9846-314B-26B0FE7E72DC}"/>
                </a:ext>
              </a:extLst>
            </p:cNvPr>
            <p:cNvSpPr txBox="1"/>
            <p:nvPr/>
          </p:nvSpPr>
          <p:spPr>
            <a:xfrm>
              <a:off x="8240824" y="5179268"/>
              <a:ext cx="2335088" cy="461665"/>
            </a:xfrm>
            <a:prstGeom prst="rect">
              <a:avLst/>
            </a:prstGeom>
            <a:solidFill>
              <a:schemeClr val="bg1"/>
            </a:solidFill>
          </p:spPr>
          <p:txBody>
            <a:bodyPr wrap="square" rtlCol="0">
              <a:spAutoFit/>
            </a:bodyPr>
            <a:lstStyle/>
            <a:p>
              <a:pPr algn="ctr"/>
              <a:r>
                <a:rPr lang="en-CH" sz="2400" dirty="0"/>
                <a:t>Input size, n</a:t>
              </a:r>
            </a:p>
          </p:txBody>
        </p:sp>
        <p:sp>
          <p:nvSpPr>
            <p:cNvPr id="9" name="TextBox 8">
              <a:extLst>
                <a:ext uri="{FF2B5EF4-FFF2-40B4-BE49-F238E27FC236}">
                  <a16:creationId xmlns:a16="http://schemas.microsoft.com/office/drawing/2014/main" id="{2426D3F2-FE80-E41C-D58F-6AB0CA6BD5CF}"/>
                </a:ext>
              </a:extLst>
            </p:cNvPr>
            <p:cNvSpPr txBox="1"/>
            <p:nvPr/>
          </p:nvSpPr>
          <p:spPr>
            <a:xfrm>
              <a:off x="10920536" y="2917700"/>
              <a:ext cx="799120" cy="400110"/>
            </a:xfrm>
            <a:prstGeom prst="rect">
              <a:avLst/>
            </a:prstGeom>
            <a:solidFill>
              <a:schemeClr val="bg1"/>
            </a:solidFill>
          </p:spPr>
          <p:txBody>
            <a:bodyPr wrap="square" rtlCol="0">
              <a:spAutoFit/>
            </a:bodyPr>
            <a:lstStyle/>
            <a:p>
              <a:r>
                <a:rPr lang="en-CH" sz="2000" dirty="0">
                  <a:solidFill>
                    <a:srgbClr val="56D72C"/>
                  </a:solidFill>
                </a:rPr>
                <a:t>O(n)</a:t>
              </a:r>
            </a:p>
          </p:txBody>
        </p:sp>
        <p:sp>
          <p:nvSpPr>
            <p:cNvPr id="10" name="TextBox 9">
              <a:extLst>
                <a:ext uri="{FF2B5EF4-FFF2-40B4-BE49-F238E27FC236}">
                  <a16:creationId xmlns:a16="http://schemas.microsoft.com/office/drawing/2014/main" id="{6E13CADC-8927-73E6-4D6C-9FB7B0F77DE8}"/>
                </a:ext>
              </a:extLst>
            </p:cNvPr>
            <p:cNvSpPr txBox="1"/>
            <p:nvPr/>
          </p:nvSpPr>
          <p:spPr>
            <a:xfrm>
              <a:off x="10920536" y="3993700"/>
              <a:ext cx="1080120" cy="400110"/>
            </a:xfrm>
            <a:prstGeom prst="rect">
              <a:avLst/>
            </a:prstGeom>
            <a:solidFill>
              <a:schemeClr val="bg1"/>
            </a:solidFill>
          </p:spPr>
          <p:txBody>
            <a:bodyPr wrap="square" rtlCol="0">
              <a:spAutoFit/>
            </a:bodyPr>
            <a:lstStyle/>
            <a:p>
              <a:r>
                <a:rPr lang="en-CH" sz="2000" dirty="0">
                  <a:solidFill>
                    <a:srgbClr val="0295FF"/>
                  </a:solidFill>
                </a:rPr>
                <a:t>O(log n)</a:t>
              </a:r>
            </a:p>
          </p:txBody>
        </p:sp>
        <p:sp>
          <p:nvSpPr>
            <p:cNvPr id="12" name="TextBox 11">
              <a:extLst>
                <a:ext uri="{FF2B5EF4-FFF2-40B4-BE49-F238E27FC236}">
                  <a16:creationId xmlns:a16="http://schemas.microsoft.com/office/drawing/2014/main" id="{567A70DA-9496-138C-D0A3-9DEAEA3CB351}"/>
                </a:ext>
              </a:extLst>
            </p:cNvPr>
            <p:cNvSpPr txBox="1"/>
            <p:nvPr/>
          </p:nvSpPr>
          <p:spPr>
            <a:xfrm>
              <a:off x="10920536" y="4491468"/>
              <a:ext cx="1080120" cy="400110"/>
            </a:xfrm>
            <a:prstGeom prst="rect">
              <a:avLst/>
            </a:prstGeom>
            <a:solidFill>
              <a:schemeClr val="bg1"/>
            </a:solidFill>
          </p:spPr>
          <p:txBody>
            <a:bodyPr wrap="square" rtlCol="0">
              <a:spAutoFit/>
            </a:bodyPr>
            <a:lstStyle/>
            <a:p>
              <a:r>
                <a:rPr lang="en-CH" sz="2000" dirty="0">
                  <a:solidFill>
                    <a:srgbClr val="0020FF"/>
                  </a:solidFill>
                </a:rPr>
                <a:t>O(1)</a:t>
              </a:r>
            </a:p>
          </p:txBody>
        </p:sp>
        <p:sp>
          <p:nvSpPr>
            <p:cNvPr id="13" name="TextBox 12">
              <a:extLst>
                <a:ext uri="{FF2B5EF4-FFF2-40B4-BE49-F238E27FC236}">
                  <a16:creationId xmlns:a16="http://schemas.microsoft.com/office/drawing/2014/main" id="{00748C42-37AD-707B-F64F-928FD7CA0E45}"/>
                </a:ext>
              </a:extLst>
            </p:cNvPr>
            <p:cNvSpPr txBox="1"/>
            <p:nvPr/>
          </p:nvSpPr>
          <p:spPr>
            <a:xfrm>
              <a:off x="10380476" y="1425112"/>
              <a:ext cx="1260140" cy="400110"/>
            </a:xfrm>
            <a:prstGeom prst="rect">
              <a:avLst/>
            </a:prstGeom>
            <a:solidFill>
              <a:schemeClr val="bg1"/>
            </a:solidFill>
          </p:spPr>
          <p:txBody>
            <a:bodyPr wrap="square" rtlCol="0">
              <a:spAutoFit/>
            </a:bodyPr>
            <a:lstStyle/>
            <a:p>
              <a:r>
                <a:rPr lang="en-CH" sz="2000" dirty="0">
                  <a:solidFill>
                    <a:srgbClr val="FF8CD8"/>
                  </a:solidFill>
                </a:rPr>
                <a:t>O(n log n)</a:t>
              </a:r>
            </a:p>
          </p:txBody>
        </p:sp>
        <p:sp>
          <p:nvSpPr>
            <p:cNvPr id="15" name="TextBox 14">
              <a:extLst>
                <a:ext uri="{FF2B5EF4-FFF2-40B4-BE49-F238E27FC236}">
                  <a16:creationId xmlns:a16="http://schemas.microsoft.com/office/drawing/2014/main" id="{F894B366-E44B-9EA6-ECA3-B761A26C4317}"/>
                </a:ext>
              </a:extLst>
            </p:cNvPr>
            <p:cNvSpPr txBox="1"/>
            <p:nvPr/>
          </p:nvSpPr>
          <p:spPr>
            <a:xfrm>
              <a:off x="9412267" y="1357742"/>
              <a:ext cx="788189" cy="400110"/>
            </a:xfrm>
            <a:prstGeom prst="rect">
              <a:avLst/>
            </a:prstGeom>
            <a:solidFill>
              <a:schemeClr val="bg1"/>
            </a:solidFill>
          </p:spPr>
          <p:txBody>
            <a:bodyPr wrap="square" rtlCol="0">
              <a:spAutoFit/>
            </a:bodyPr>
            <a:lstStyle/>
            <a:p>
              <a:r>
                <a:rPr lang="en-CH" sz="2000" dirty="0">
                  <a:solidFill>
                    <a:srgbClr val="FF8B00"/>
                  </a:solidFill>
                </a:rPr>
                <a:t>O(n</a:t>
              </a:r>
              <a:r>
                <a:rPr lang="en-CH" sz="2000" baseline="30000" dirty="0">
                  <a:solidFill>
                    <a:srgbClr val="FF8B00"/>
                  </a:solidFill>
                </a:rPr>
                <a:t>2</a:t>
              </a:r>
              <a:r>
                <a:rPr lang="en-CH" sz="2000" dirty="0">
                  <a:solidFill>
                    <a:srgbClr val="FF8B00"/>
                  </a:solidFill>
                </a:rPr>
                <a:t>)</a:t>
              </a:r>
            </a:p>
          </p:txBody>
        </p:sp>
        <p:sp>
          <p:nvSpPr>
            <p:cNvPr id="16" name="TextBox 15">
              <a:extLst>
                <a:ext uri="{FF2B5EF4-FFF2-40B4-BE49-F238E27FC236}">
                  <a16:creationId xmlns:a16="http://schemas.microsoft.com/office/drawing/2014/main" id="{DD61754C-FB6E-5DBD-79EF-0027219F702E}"/>
                </a:ext>
              </a:extLst>
            </p:cNvPr>
            <p:cNvSpPr txBox="1"/>
            <p:nvPr/>
          </p:nvSpPr>
          <p:spPr>
            <a:xfrm>
              <a:off x="8294757" y="1357742"/>
              <a:ext cx="788189" cy="400110"/>
            </a:xfrm>
            <a:prstGeom prst="rect">
              <a:avLst/>
            </a:prstGeom>
            <a:solidFill>
              <a:schemeClr val="bg1"/>
            </a:solidFill>
          </p:spPr>
          <p:txBody>
            <a:bodyPr wrap="square" rtlCol="0">
              <a:spAutoFit/>
            </a:bodyPr>
            <a:lstStyle/>
            <a:p>
              <a:r>
                <a:rPr lang="en-CH" sz="2000" dirty="0">
                  <a:solidFill>
                    <a:srgbClr val="FF0000"/>
                  </a:solidFill>
                </a:rPr>
                <a:t>O(2</a:t>
              </a:r>
              <a:r>
                <a:rPr lang="en-CH" sz="2000" baseline="30000" dirty="0">
                  <a:solidFill>
                    <a:srgbClr val="FF0000"/>
                  </a:solidFill>
                </a:rPr>
                <a:t>n</a:t>
              </a:r>
              <a:r>
                <a:rPr lang="en-CH" sz="2000" dirty="0">
                  <a:solidFill>
                    <a:srgbClr val="FF0000"/>
                  </a:solidFill>
                </a:rPr>
                <a:t>)</a:t>
              </a:r>
            </a:p>
          </p:txBody>
        </p:sp>
      </p:grpSp>
    </p:spTree>
    <p:extLst>
      <p:ext uri="{BB962C8B-B14F-4D97-AF65-F5344CB8AC3E}">
        <p14:creationId xmlns:p14="http://schemas.microsoft.com/office/powerpoint/2010/main" val="7924658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AC27B-1D47-E39D-6546-CF0FC38B137E}"/>
              </a:ext>
            </a:extLst>
          </p:cNvPr>
          <p:cNvSpPr>
            <a:spLocks noGrp="1"/>
          </p:cNvSpPr>
          <p:nvPr>
            <p:ph type="title"/>
          </p:nvPr>
        </p:nvSpPr>
        <p:spPr/>
        <p:txBody>
          <a:bodyPr>
            <a:normAutofit fontScale="90000"/>
          </a:bodyPr>
          <a:lstStyle/>
          <a:p>
            <a:r>
              <a:rPr lang="en-CH" dirty="0"/>
              <a:t>Basic reference sheet about Python data structures </a:t>
            </a:r>
          </a:p>
        </p:txBody>
      </p:sp>
      <p:sp>
        <p:nvSpPr>
          <p:cNvPr id="4" name="Date Placeholder 3">
            <a:extLst>
              <a:ext uri="{FF2B5EF4-FFF2-40B4-BE49-F238E27FC236}">
                <a16:creationId xmlns:a16="http://schemas.microsoft.com/office/drawing/2014/main" id="{19E5C14D-DDBE-16B6-8D1D-1F2CF1B17DA5}"/>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9F13B8E0-4B28-E234-E0F8-CDB4CC6AC703}"/>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85AFFD0B-66E6-6176-3B92-998E3AFB5B4C}"/>
              </a:ext>
            </a:extLst>
          </p:cNvPr>
          <p:cNvSpPr>
            <a:spLocks noGrp="1"/>
          </p:cNvSpPr>
          <p:nvPr>
            <p:ph type="sldNum" sz="quarter" idx="12"/>
          </p:nvPr>
        </p:nvSpPr>
        <p:spPr/>
        <p:txBody>
          <a:bodyPr/>
          <a:lstStyle/>
          <a:p>
            <a:fld id="{EF79ADEA-B933-47CC-A4E9-04E6298B917C}" type="slidenum">
              <a:rPr lang="en-US" smtClean="0"/>
              <a:pPr/>
              <a:t>27</a:t>
            </a:fld>
            <a:endParaRPr lang="en-US"/>
          </a:p>
        </p:txBody>
      </p:sp>
      <p:sp>
        <p:nvSpPr>
          <p:cNvPr id="8" name="TextBox 7">
            <a:extLst>
              <a:ext uri="{FF2B5EF4-FFF2-40B4-BE49-F238E27FC236}">
                <a16:creationId xmlns:a16="http://schemas.microsoft.com/office/drawing/2014/main" id="{569F19D1-8CCA-3700-3F5F-91DF92543041}"/>
              </a:ext>
            </a:extLst>
          </p:cNvPr>
          <p:cNvSpPr txBox="1"/>
          <p:nvPr/>
        </p:nvSpPr>
        <p:spPr>
          <a:xfrm>
            <a:off x="6672064" y="6021226"/>
            <a:ext cx="5688632" cy="369332"/>
          </a:xfrm>
          <a:prstGeom prst="rect">
            <a:avLst/>
          </a:prstGeom>
          <a:noFill/>
        </p:spPr>
        <p:txBody>
          <a:bodyPr wrap="square">
            <a:spAutoFit/>
          </a:bodyPr>
          <a:lstStyle/>
          <a:p>
            <a:r>
              <a:rPr lang="en-CH" dirty="0"/>
              <a:t>See also: https://wiki.python.org/moin/TimeComplexity</a:t>
            </a:r>
          </a:p>
        </p:txBody>
      </p:sp>
      <p:graphicFrame>
        <p:nvGraphicFramePr>
          <p:cNvPr id="9" name="Table 8">
            <a:extLst>
              <a:ext uri="{FF2B5EF4-FFF2-40B4-BE49-F238E27FC236}">
                <a16:creationId xmlns:a16="http://schemas.microsoft.com/office/drawing/2014/main" id="{41AC80FD-AE39-8B91-97E1-F61B7CFA57D2}"/>
              </a:ext>
            </a:extLst>
          </p:cNvPr>
          <p:cNvGraphicFramePr>
            <a:graphicFrameLocks noGrp="1"/>
          </p:cNvGraphicFramePr>
          <p:nvPr>
            <p:extLst>
              <p:ext uri="{D42A27DB-BD31-4B8C-83A1-F6EECF244321}">
                <p14:modId xmlns:p14="http://schemas.microsoft.com/office/powerpoint/2010/main" val="2348167205"/>
              </p:ext>
            </p:extLst>
          </p:nvPr>
        </p:nvGraphicFramePr>
        <p:xfrm>
          <a:off x="551384" y="2344857"/>
          <a:ext cx="5256584" cy="3336433"/>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578315">
                <a:tc>
                  <a:txBody>
                    <a:bodyPr/>
                    <a:lstStyle/>
                    <a:p>
                      <a:r>
                        <a:rPr lang="en-CH" sz="2000" b="0" dirty="0">
                          <a:solidFill>
                            <a:schemeClr val="tx1"/>
                          </a:solidFill>
                        </a:rPr>
                        <a:t>Getting an element by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578315">
                <a:tc>
                  <a:txBody>
                    <a:bodyPr/>
                    <a:lstStyle/>
                    <a:p>
                      <a:r>
                        <a:rPr lang="en-CH" sz="2000" b="0" dirty="0">
                          <a:solidFill>
                            <a:schemeClr val="tx1"/>
                          </a:solidFill>
                        </a:rPr>
                        <a:t>Appending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21647670"/>
                  </a:ext>
                </a:extLst>
              </a:tr>
              <a:tr h="578315">
                <a:tc>
                  <a:txBody>
                    <a:bodyPr/>
                    <a:lstStyle/>
                    <a:p>
                      <a:r>
                        <a:rPr lang="en-CH" sz="2000" b="0" dirty="0">
                          <a:solidFill>
                            <a:schemeClr val="tx1"/>
                          </a:solidFill>
                        </a:rPr>
                        <a:t>Inserting an element at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619153"/>
                  </a:ext>
                </a:extLst>
              </a:tr>
              <a:tr h="578315">
                <a:tc>
                  <a:txBody>
                    <a:bodyPr/>
                    <a:lstStyle/>
                    <a:p>
                      <a:r>
                        <a:rPr lang="en-CH" sz="2000" b="0" dirty="0">
                          <a:solidFill>
                            <a:schemeClr val="tx1"/>
                          </a:solidFill>
                        </a:rPr>
                        <a:t>Sorting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n log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11291073"/>
                  </a:ext>
                </a:extLst>
              </a:tr>
              <a:tr h="1023173">
                <a:tc>
                  <a:txBody>
                    <a:bodyPr/>
                    <a:lstStyle/>
                    <a:p>
                      <a:r>
                        <a:rPr lang="en-CH" sz="2000" b="0" dirty="0">
                          <a:solidFill>
                            <a:schemeClr val="tx1"/>
                          </a:solidFill>
                        </a:rPr>
                        <a:t>Finding an element</a:t>
                      </a:r>
                      <a:br>
                        <a:rPr lang="en-CH" sz="2000" b="0" dirty="0">
                          <a:solidFill>
                            <a:schemeClr val="tx1"/>
                          </a:solidFill>
                        </a:rPr>
                      </a:br>
                      <a:r>
                        <a:rPr lang="en-CH" sz="2000" b="0" dirty="0">
                          <a:solidFill>
                            <a:schemeClr val="tx1"/>
                          </a:solidFill>
                        </a:rPr>
                        <a:t>(e.g., “if element in my_list: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linear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1" name="TextBox 10">
            <a:extLst>
              <a:ext uri="{FF2B5EF4-FFF2-40B4-BE49-F238E27FC236}">
                <a16:creationId xmlns:a16="http://schemas.microsoft.com/office/drawing/2014/main" id="{55CAB7A3-C29E-B358-1016-89BD96C28AB6}"/>
              </a:ext>
            </a:extLst>
          </p:cNvPr>
          <p:cNvSpPr txBox="1"/>
          <p:nvPr/>
        </p:nvSpPr>
        <p:spPr>
          <a:xfrm>
            <a:off x="434540" y="1270824"/>
            <a:ext cx="5013388" cy="954107"/>
          </a:xfrm>
          <a:prstGeom prst="rect">
            <a:avLst/>
          </a:prstGeom>
          <a:noFill/>
        </p:spPr>
        <p:txBody>
          <a:bodyPr wrap="square">
            <a:spAutoFit/>
          </a:bodyPr>
          <a:lstStyle/>
          <a:p>
            <a:r>
              <a:rPr lang="en-CH" sz="2800" dirty="0"/>
              <a:t>Lists: collection of ordered, arbitrary data</a:t>
            </a:r>
          </a:p>
        </p:txBody>
      </p:sp>
      <p:graphicFrame>
        <p:nvGraphicFramePr>
          <p:cNvPr id="12" name="Table 11">
            <a:extLst>
              <a:ext uri="{FF2B5EF4-FFF2-40B4-BE49-F238E27FC236}">
                <a16:creationId xmlns:a16="http://schemas.microsoft.com/office/drawing/2014/main" id="{F0DC731C-E9DA-1AAF-00C1-F5E27E1410EF}"/>
              </a:ext>
            </a:extLst>
          </p:cNvPr>
          <p:cNvGraphicFramePr>
            <a:graphicFrameLocks noGrp="1"/>
          </p:cNvGraphicFramePr>
          <p:nvPr>
            <p:extLst>
              <p:ext uri="{D42A27DB-BD31-4B8C-83A1-F6EECF244321}">
                <p14:modId xmlns:p14="http://schemas.microsoft.com/office/powerpoint/2010/main" val="1166875626"/>
              </p:ext>
            </p:extLst>
          </p:nvPr>
        </p:nvGraphicFramePr>
        <p:xfrm>
          <a:off x="6312024" y="1971558"/>
          <a:ext cx="5256584" cy="1097280"/>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my_dict: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graphicFrame>
        <p:nvGraphicFramePr>
          <p:cNvPr id="13" name="Table 12">
            <a:extLst>
              <a:ext uri="{FF2B5EF4-FFF2-40B4-BE49-F238E27FC236}">
                <a16:creationId xmlns:a16="http://schemas.microsoft.com/office/drawing/2014/main" id="{2D1302DB-2769-C2C3-D3E9-1844EA82FD80}"/>
              </a:ext>
            </a:extLst>
          </p:cNvPr>
          <p:cNvGraphicFramePr>
            <a:graphicFrameLocks noGrp="1"/>
          </p:cNvGraphicFramePr>
          <p:nvPr>
            <p:extLst>
              <p:ext uri="{D42A27DB-BD31-4B8C-83A1-F6EECF244321}">
                <p14:modId xmlns:p14="http://schemas.microsoft.com/office/powerpoint/2010/main" val="1830630465"/>
              </p:ext>
            </p:extLst>
          </p:nvPr>
        </p:nvGraphicFramePr>
        <p:xfrm>
          <a:off x="6312024" y="4195632"/>
          <a:ext cx="5256584" cy="1097280"/>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my_set: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4" name="TextBox 13">
            <a:extLst>
              <a:ext uri="{FF2B5EF4-FFF2-40B4-BE49-F238E27FC236}">
                <a16:creationId xmlns:a16="http://schemas.microsoft.com/office/drawing/2014/main" id="{0044821F-7BCB-8BE0-FEA6-781383B6DAE8}"/>
              </a:ext>
            </a:extLst>
          </p:cNvPr>
          <p:cNvSpPr txBox="1"/>
          <p:nvPr/>
        </p:nvSpPr>
        <p:spPr>
          <a:xfrm>
            <a:off x="6240016" y="1331723"/>
            <a:ext cx="5013388" cy="523220"/>
          </a:xfrm>
          <a:prstGeom prst="rect">
            <a:avLst/>
          </a:prstGeom>
          <a:noFill/>
        </p:spPr>
        <p:txBody>
          <a:bodyPr wrap="square">
            <a:spAutoFit/>
          </a:bodyPr>
          <a:lstStyle/>
          <a:p>
            <a:r>
              <a:rPr lang="en-CH" sz="2800" dirty="0"/>
              <a:t>Dictionaries (“hashmaps”)</a:t>
            </a:r>
          </a:p>
        </p:txBody>
      </p:sp>
      <p:sp>
        <p:nvSpPr>
          <p:cNvPr id="15" name="TextBox 14">
            <a:extLst>
              <a:ext uri="{FF2B5EF4-FFF2-40B4-BE49-F238E27FC236}">
                <a16:creationId xmlns:a16="http://schemas.microsoft.com/office/drawing/2014/main" id="{4A3EAB94-DEBE-222C-2E6B-A5E1579EE7BC}"/>
              </a:ext>
            </a:extLst>
          </p:cNvPr>
          <p:cNvSpPr txBox="1"/>
          <p:nvPr/>
        </p:nvSpPr>
        <p:spPr>
          <a:xfrm>
            <a:off x="6240016" y="3627669"/>
            <a:ext cx="5688632" cy="523220"/>
          </a:xfrm>
          <a:prstGeom prst="rect">
            <a:avLst/>
          </a:prstGeom>
          <a:noFill/>
        </p:spPr>
        <p:txBody>
          <a:bodyPr wrap="square">
            <a:spAutoFit/>
          </a:bodyPr>
          <a:lstStyle/>
          <a:p>
            <a:r>
              <a:rPr lang="en-CH" sz="2800" dirty="0"/>
              <a:t>Sets: </a:t>
            </a:r>
            <a:r>
              <a:rPr lang="en-US" sz="2800" dirty="0"/>
              <a:t>it’s dictionaries without values</a:t>
            </a:r>
            <a:endParaRPr lang="en-CH" sz="2800" dirty="0"/>
          </a:p>
        </p:txBody>
      </p:sp>
    </p:spTree>
    <p:extLst>
      <p:ext uri="{BB962C8B-B14F-4D97-AF65-F5344CB8AC3E}">
        <p14:creationId xmlns:p14="http://schemas.microsoft.com/office/powerpoint/2010/main" val="9142070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7428258" y="205950"/>
            <a:ext cx="4539047" cy="990187"/>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3" name="Content Placeholder 2">
            <a:extLst>
              <a:ext uri="{FF2B5EF4-FFF2-40B4-BE49-F238E27FC236}">
                <a16:creationId xmlns:a16="http://schemas.microsoft.com/office/drawing/2014/main" id="{5ECD4441-6525-41C6-BE74-BF0FD43E7305}"/>
              </a:ext>
            </a:extLst>
          </p:cNvPr>
          <p:cNvSpPr>
            <a:spLocks noGrp="1"/>
          </p:cNvSpPr>
          <p:nvPr>
            <p:ph idx="1"/>
          </p:nvPr>
        </p:nvSpPr>
        <p:spPr>
          <a:xfrm>
            <a:off x="838200" y="1772816"/>
            <a:ext cx="10515600" cy="4404147"/>
          </a:xfrm>
        </p:spPr>
        <p:txBody>
          <a:bodyPr/>
          <a:lstStyle/>
          <a:p>
            <a:r>
              <a:rPr lang="en-CH" dirty="0"/>
              <a:t>Open the notebook </a:t>
            </a:r>
            <a:r>
              <a:rPr lang="en-CH" dirty="0">
                <a:latin typeface="Consolas" panose="020B0609020204030204" pitchFamily="49" charset="0"/>
                <a:cs typeface="Consolas" panose="020B0609020204030204" pitchFamily="49" charset="0"/>
              </a:rPr>
              <a:t>match_tarots</a:t>
            </a:r>
            <a:r>
              <a:rPr lang="en-CH" dirty="0"/>
              <a:t>, and follow the instructions!</a:t>
            </a:r>
          </a:p>
          <a:p>
            <a:pPr marL="0" indent="0">
              <a:buNone/>
            </a:pPr>
            <a:endParaRPr lang="en-CH" dirty="0"/>
          </a:p>
          <a:p>
            <a:r>
              <a:rPr lang="en-US" dirty="0"/>
              <a:t>Submit a PR for Issue #1 on </a:t>
            </a:r>
            <a:br>
              <a:rPr lang="en-US" dirty="0"/>
            </a:br>
            <a:r>
              <a:rPr lang="en-US" noProof="1">
                <a:latin typeface="Consolas" panose="020B0609020204030204" pitchFamily="49" charset="0"/>
                <a:cs typeface="Consolas" panose="020B0609020204030204" pitchFamily="49" charset="0"/>
              </a:rPr>
              <a:t>git.aspp.school</a:t>
            </a:r>
            <a:r>
              <a:rPr lang="en-US" dirty="0">
                <a:latin typeface="Consolas" panose="020B0609020204030204" pitchFamily="49" charset="0"/>
                <a:cs typeface="Consolas" panose="020B0609020204030204" pitchFamily="49" charset="0"/>
              </a:rPr>
              <a:t>/ASPP/2026-latam-data</a:t>
            </a:r>
          </a:p>
          <a:p>
            <a:pPr marL="0" indent="0">
              <a:buNone/>
            </a:pPr>
            <a:endParaRPr lang="en-CH" dirty="0"/>
          </a:p>
          <a:p>
            <a:endParaRPr lang="en-US" dirty="0"/>
          </a:p>
          <a:p>
            <a:endParaRPr lang="en-CH"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28</a:t>
            </a:fld>
            <a:endParaRPr lang="en-US"/>
          </a:p>
        </p:txBody>
      </p:sp>
      <p:sp>
        <p:nvSpPr>
          <p:cNvPr id="9" name="TextBox 8">
            <a:extLst>
              <a:ext uri="{FF2B5EF4-FFF2-40B4-BE49-F238E27FC236}">
                <a16:creationId xmlns:a16="http://schemas.microsoft.com/office/drawing/2014/main" id="{BB65695B-C9BD-A37B-E7AA-E696393008D2}"/>
              </a:ext>
            </a:extLst>
          </p:cNvPr>
          <p:cNvSpPr txBox="1"/>
          <p:nvPr/>
        </p:nvSpPr>
        <p:spPr>
          <a:xfrm>
            <a:off x="7930760" y="224587"/>
            <a:ext cx="1779374" cy="369332"/>
          </a:xfrm>
          <a:prstGeom prst="rect">
            <a:avLst/>
          </a:prstGeom>
          <a:noFill/>
        </p:spPr>
        <p:txBody>
          <a:bodyPr wrap="square">
            <a:spAutoFit/>
          </a:bodyPr>
          <a:lstStyle/>
          <a:p>
            <a:pPr algn="ctr"/>
            <a:r>
              <a:rPr lang="en-DE" b="1">
                <a:solidFill>
                  <a:schemeClr val="tx1"/>
                </a:solidFill>
                <a:latin typeface="Courier New" panose="02070309020205020404" pitchFamily="49" charset="0"/>
                <a:cs typeface="Courier New" panose="02070309020205020404" pitchFamily="49" charset="0"/>
              </a:rPr>
              <a:t>Exercise</a:t>
            </a:r>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74831" y="274016"/>
            <a:ext cx="694459" cy="555568"/>
          </a:xfrm>
          <a:prstGeom prst="rect">
            <a:avLst/>
          </a:prstGeom>
        </p:spPr>
      </p:pic>
      <p:sp>
        <p:nvSpPr>
          <p:cNvPr id="13" name="TextBox 12">
            <a:extLst>
              <a:ext uri="{FF2B5EF4-FFF2-40B4-BE49-F238E27FC236}">
                <a16:creationId xmlns:a16="http://schemas.microsoft.com/office/drawing/2014/main" id="{53320516-5013-5786-E680-1CD41D26764D}"/>
              </a:ext>
            </a:extLst>
          </p:cNvPr>
          <p:cNvSpPr txBox="1"/>
          <p:nvPr/>
        </p:nvSpPr>
        <p:spPr>
          <a:xfrm>
            <a:off x="8302028" y="542883"/>
            <a:ext cx="3482604" cy="307777"/>
          </a:xfrm>
          <a:prstGeom prst="rect">
            <a:avLst/>
          </a:prstGeom>
          <a:noFill/>
        </p:spPr>
        <p:txBody>
          <a:bodyPr wrap="square">
            <a:spAutoFit/>
          </a:bodyPr>
          <a:lstStyle/>
          <a:p>
            <a:pPr algn="ctr"/>
            <a:r>
              <a:rPr lang="en-GB" sz="1400" dirty="0">
                <a:solidFill>
                  <a:schemeClr val="tx1"/>
                </a:solidFill>
                <a:latin typeface="Courier New" panose="02070309020205020404" pitchFamily="49" charset="0"/>
                <a:cs typeface="Courier New" panose="02070309020205020404" pitchFamily="49" charset="0"/>
              </a:rPr>
              <a:t>exercises/</a:t>
            </a:r>
            <a:r>
              <a:rPr lang="en-GB" sz="1400" dirty="0" err="1">
                <a:solidFill>
                  <a:schemeClr val="tx1"/>
                </a:solidFill>
                <a:latin typeface="Courier New" panose="02070309020205020404" pitchFamily="49" charset="0"/>
                <a:cs typeface="Courier New" panose="02070309020205020404" pitchFamily="49" charset="0"/>
              </a:rPr>
              <a:t>match_tarots</a:t>
            </a:r>
            <a:endParaRPr lang="en-DE" sz="1400">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a:xfrm>
            <a:off x="346841" y="365126"/>
            <a:ext cx="6757271" cy="953312"/>
          </a:xfrm>
        </p:spPr>
        <p:txBody>
          <a:bodyPr>
            <a:normAutofit fontScale="90000"/>
          </a:bodyPr>
          <a:lstStyle/>
          <a:p>
            <a:r>
              <a:rPr lang="en-US" b="1" dirty="0"/>
              <a:t>Hands-on</a:t>
            </a:r>
            <a:br>
              <a:rPr lang="en-US" b="1" dirty="0"/>
            </a:br>
            <a:endParaRPr lang="en-CH" sz="3600" dirty="0"/>
          </a:p>
        </p:txBody>
      </p:sp>
    </p:spTree>
    <p:extLst>
      <p:ext uri="{BB962C8B-B14F-4D97-AF65-F5344CB8AC3E}">
        <p14:creationId xmlns:p14="http://schemas.microsoft.com/office/powerpoint/2010/main" val="25719864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98EA9-22F5-16DF-63A1-0180EF71D553}"/>
              </a:ext>
            </a:extLst>
          </p:cNvPr>
          <p:cNvSpPr>
            <a:spLocks noGrp="1"/>
          </p:cNvSpPr>
          <p:nvPr>
            <p:ph type="title"/>
          </p:nvPr>
        </p:nvSpPr>
        <p:spPr>
          <a:xfrm>
            <a:off x="838200" y="2708920"/>
            <a:ext cx="10515600" cy="903635"/>
          </a:xfrm>
        </p:spPr>
        <p:txBody>
          <a:bodyPr>
            <a:normAutofit fontScale="90000"/>
          </a:bodyPr>
          <a:lstStyle/>
          <a:p>
            <a:pPr algn="ctr"/>
            <a:r>
              <a:rPr lang="en-CH" sz="5400" dirty="0"/>
              <a:t>COMING UP NEXT: </a:t>
            </a:r>
            <a:br>
              <a:rPr lang="en-CH" sz="5400" dirty="0"/>
            </a:br>
            <a:r>
              <a:rPr lang="en-CH" sz="5400" dirty="0"/>
              <a:t>NumPy and the array data structure</a:t>
            </a:r>
          </a:p>
        </p:txBody>
      </p:sp>
      <p:sp>
        <p:nvSpPr>
          <p:cNvPr id="3" name="Date Placeholder 2">
            <a:extLst>
              <a:ext uri="{FF2B5EF4-FFF2-40B4-BE49-F238E27FC236}">
                <a16:creationId xmlns:a16="http://schemas.microsoft.com/office/drawing/2014/main" id="{F459BBE2-A2A2-7EE1-1120-58A5181C884B}"/>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3FCE048C-7643-4E0F-0055-1AF14D9F2051}"/>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397B6057-C196-6FBD-FEB5-531621B24D79}"/>
              </a:ext>
            </a:extLst>
          </p:cNvPr>
          <p:cNvSpPr>
            <a:spLocks noGrp="1"/>
          </p:cNvSpPr>
          <p:nvPr>
            <p:ph type="sldNum" sz="quarter" idx="12"/>
          </p:nvPr>
        </p:nvSpPr>
        <p:spPr/>
        <p:txBody>
          <a:bodyPr/>
          <a:lstStyle/>
          <a:p>
            <a:fld id="{EF79ADEA-B933-47CC-A4E9-04E6298B917C}" type="slidenum">
              <a:rPr lang="en-US" smtClean="0"/>
              <a:pPr/>
              <a:t>29</a:t>
            </a:fld>
            <a:endParaRPr lang="en-US"/>
          </a:p>
        </p:txBody>
      </p:sp>
    </p:spTree>
    <p:extLst>
      <p:ext uri="{BB962C8B-B14F-4D97-AF65-F5344CB8AC3E}">
        <p14:creationId xmlns:p14="http://schemas.microsoft.com/office/powerpoint/2010/main" val="2356265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de-CH"/>
              <a:t>July 2026, CC BY-SA 4.0</a:t>
            </a:r>
            <a:endParaRPr lang="en-US"/>
          </a:p>
        </p:txBody>
      </p:sp>
      <p:sp>
        <p:nvSpPr>
          <p:cNvPr id="3" name="Footer Placeholder 2"/>
          <p:cNvSpPr>
            <a:spLocks noGrp="1"/>
          </p:cNvSpPr>
          <p:nvPr>
            <p:ph type="ftr" sz="quarter" idx="11"/>
          </p:nvPr>
        </p:nvSpPr>
        <p:spPr/>
        <p:txBody>
          <a:bodyPr/>
          <a:lstStyle/>
          <a:p>
            <a:r>
              <a:rPr lang="en-US"/>
              <a:t>Data, v3.0</a:t>
            </a:r>
          </a:p>
        </p:txBody>
      </p:sp>
      <p:sp>
        <p:nvSpPr>
          <p:cNvPr id="4" name="Slide Number Placeholder 3">
            <a:extLst>
              <a:ext uri="{FF2B5EF4-FFF2-40B4-BE49-F238E27FC236}">
                <a16:creationId xmlns:a16="http://schemas.microsoft.com/office/drawing/2014/main" id="{BFDC436E-642E-707E-1798-D9059C4A6AFE}"/>
              </a:ext>
            </a:extLst>
          </p:cNvPr>
          <p:cNvSpPr>
            <a:spLocks noGrp="1"/>
          </p:cNvSpPr>
          <p:nvPr>
            <p:ph type="sldNum" sz="quarter" idx="12"/>
          </p:nvPr>
        </p:nvSpPr>
        <p:spPr/>
        <p:txBody>
          <a:bodyPr/>
          <a:lstStyle/>
          <a:p>
            <a:fld id="{EF79ADEA-B933-47CC-A4E9-04E6298B917C}" type="slidenum">
              <a:rPr lang="en-US" smtClean="0"/>
              <a:pPr/>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9515C-7D99-9023-9C3D-5CBBCFA211A2}"/>
              </a:ext>
            </a:extLst>
          </p:cNvPr>
          <p:cNvSpPr>
            <a:spLocks noGrp="1"/>
          </p:cNvSpPr>
          <p:nvPr>
            <p:ph type="title"/>
          </p:nvPr>
        </p:nvSpPr>
        <p:spPr/>
        <p:txBody>
          <a:bodyPr/>
          <a:lstStyle/>
          <a:p>
            <a:r>
              <a:rPr lang="en-CH" dirty="0"/>
              <a:t>Some data structures</a:t>
            </a:r>
          </a:p>
        </p:txBody>
      </p:sp>
      <p:sp>
        <p:nvSpPr>
          <p:cNvPr id="3" name="Content Placeholder 2">
            <a:extLst>
              <a:ext uri="{FF2B5EF4-FFF2-40B4-BE49-F238E27FC236}">
                <a16:creationId xmlns:a16="http://schemas.microsoft.com/office/drawing/2014/main" id="{E22AC8BC-2D2E-EE2F-1BF8-004DFDC990AC}"/>
              </a:ext>
            </a:extLst>
          </p:cNvPr>
          <p:cNvSpPr>
            <a:spLocks noGrp="1"/>
          </p:cNvSpPr>
          <p:nvPr>
            <p:ph idx="1"/>
          </p:nvPr>
        </p:nvSpPr>
        <p:spPr/>
        <p:txBody>
          <a:bodyPr>
            <a:normAutofit fontScale="92500" lnSpcReduction="20000"/>
          </a:bodyPr>
          <a:lstStyle/>
          <a:p>
            <a:r>
              <a:rPr lang="en-CH" dirty="0"/>
              <a:t>list: ordered, heterogeneous storage, stack/queue, fast access by index, slow search</a:t>
            </a:r>
          </a:p>
          <a:p>
            <a:r>
              <a:rPr lang="en-CH" dirty="0"/>
              <a:t>set: unordered</a:t>
            </a:r>
          </a:p>
          <a:p>
            <a:r>
              <a:rPr lang="en-CH" dirty="0"/>
              <a:t>dictionary</a:t>
            </a:r>
          </a:p>
          <a:p>
            <a:r>
              <a:rPr lang="en-CH" dirty="0"/>
              <a:t>arrays: e.g. numpy, HDF5</a:t>
            </a:r>
          </a:p>
          <a:p>
            <a:r>
              <a:rPr lang="en-CH" dirty="0"/>
              <a:t>tables: e.g. pandas, dask, spark, SQL</a:t>
            </a:r>
          </a:p>
          <a:p>
            <a:r>
              <a:rPr lang="en-CH" dirty="0"/>
              <a:t>graph: social network structure</a:t>
            </a:r>
          </a:p>
          <a:p>
            <a:r>
              <a:rPr lang="en-CH" dirty="0"/>
              <a:t>tree: to rapidly search a dataset</a:t>
            </a:r>
          </a:p>
          <a:p>
            <a:r>
              <a:rPr lang="en-CH" dirty="0"/>
              <a:t>heap</a:t>
            </a:r>
          </a:p>
          <a:p>
            <a:r>
              <a:rPr lang="en-CH" dirty="0"/>
              <a:t>stack</a:t>
            </a:r>
          </a:p>
          <a:p>
            <a:r>
              <a:rPr lang="en-CH" dirty="0"/>
              <a:t>queue</a:t>
            </a:r>
          </a:p>
          <a:p>
            <a:r>
              <a:rPr lang="en-CH" dirty="0"/>
              <a:t>priority  queue</a:t>
            </a:r>
          </a:p>
          <a:p>
            <a:endParaRPr lang="en-CH" dirty="0"/>
          </a:p>
        </p:txBody>
      </p:sp>
      <p:sp>
        <p:nvSpPr>
          <p:cNvPr id="4" name="Date Placeholder 3">
            <a:extLst>
              <a:ext uri="{FF2B5EF4-FFF2-40B4-BE49-F238E27FC236}">
                <a16:creationId xmlns:a16="http://schemas.microsoft.com/office/drawing/2014/main" id="{D4EE8F24-C040-069D-3781-7A64F9F50CE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8EF72508-C792-BDB2-E7F2-9A730516205B}"/>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BA7EFFF3-AA8D-50AA-184B-7C58AC566301}"/>
              </a:ext>
            </a:extLst>
          </p:cNvPr>
          <p:cNvSpPr>
            <a:spLocks noGrp="1"/>
          </p:cNvSpPr>
          <p:nvPr>
            <p:ph type="sldNum" sz="quarter" idx="12"/>
          </p:nvPr>
        </p:nvSpPr>
        <p:spPr/>
        <p:txBody>
          <a:bodyPr/>
          <a:lstStyle/>
          <a:p>
            <a:fld id="{EF79ADEA-B933-47CC-A4E9-04E6298B917C}" type="slidenum">
              <a:rPr lang="en-US" smtClean="0"/>
              <a:pPr/>
              <a:t>31</a:t>
            </a:fld>
            <a:endParaRPr lang="en-US"/>
          </a:p>
        </p:txBody>
      </p:sp>
    </p:spTree>
    <p:extLst>
      <p:ext uri="{BB962C8B-B14F-4D97-AF65-F5344CB8AC3E}">
        <p14:creationId xmlns:p14="http://schemas.microsoft.com/office/powerpoint/2010/main" val="3263027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103238</TotalTime>
  <Words>1710</Words>
  <Application>Microsoft Macintosh PowerPoint</Application>
  <PresentationFormat>Widescreen</PresentationFormat>
  <Paragraphs>328</Paragraphs>
  <Slides>31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Calibri Light</vt:lpstr>
      <vt:lpstr>Consolas</vt:lpstr>
      <vt:lpstr>Courier New</vt:lpstr>
      <vt:lpstr>Wingdings</vt:lpstr>
      <vt:lpstr>Office Theme</vt:lpstr>
      <vt:lpstr>PowerPoint Presentation</vt:lpstr>
      <vt:lpstr>Things one thinks about when thinking about data</vt:lpstr>
      <vt:lpstr>Things one thinks about when thinking about data</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You develop your code on a small data set, how is it going to scale to the complete data set? </vt:lpstr>
      <vt:lpstr>Example: Find common words</vt:lpstr>
      <vt:lpstr>Implementation with two for-loops</vt:lpstr>
      <vt:lpstr>Implementation with two for-loops</vt:lpstr>
      <vt:lpstr>Implementation with sorted lists</vt:lpstr>
      <vt:lpstr>Implementation with sorted lists</vt:lpstr>
      <vt:lpstr>Implementation with sets</vt:lpstr>
      <vt:lpstr>Implementation with sets</vt:lpstr>
      <vt:lpstr>What difference does it make? N = 1’000’000</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performance scales: big-O</vt:lpstr>
      <vt:lpstr>Basic reference sheet about Python data structures </vt:lpstr>
      <vt:lpstr>Hands-on </vt:lpstr>
      <vt:lpstr>COMING UP NEXT:  NumPy and the array data structure</vt:lpstr>
      <vt:lpstr>PowerPoint Presentation</vt:lpstr>
      <vt:lpstr>Some data structures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Pietro Berkes</dc:creator>
  <cp:lastModifiedBy>Pietro Berkes</cp:lastModifiedBy>
  <cp:revision>1683</cp:revision>
  <cp:lastPrinted>2017-08-28T05:46:03Z</cp:lastPrinted>
  <dcterms:created xsi:type="dcterms:W3CDTF">2010-10-01T16:09:12Z</dcterms:created>
  <dcterms:modified xsi:type="dcterms:W3CDTF">2026-07-28T01:19:30Z</dcterms:modified>
</cp:coreProperties>
</file>