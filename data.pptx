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72" r:id="rId1"/>
  </p:sldMasterIdLst>
  <p:notesMasterIdLst>
    <p:notesMasterId r:id="rId34"/>
  </p:notesMasterIdLst>
  <p:handoutMasterIdLst>
    <p:handoutMasterId r:id="rId35"/>
  </p:handoutMasterIdLst>
  <p:sldIdLst>
    <p:sldId id="680" r:id="rId2"/>
    <p:sldId id="656" r:id="rId3"/>
    <p:sldId id="689" r:id="rId4"/>
    <p:sldId id="609" r:id="rId5"/>
    <p:sldId id="664" r:id="rId6"/>
    <p:sldId id="681" r:id="rId7"/>
    <p:sldId id="687" r:id="rId8"/>
    <p:sldId id="688" r:id="rId9"/>
    <p:sldId id="661" r:id="rId10"/>
    <p:sldId id="683" r:id="rId11"/>
    <p:sldId id="684" r:id="rId12"/>
    <p:sldId id="662" r:id="rId13"/>
    <p:sldId id="563" r:id="rId14"/>
    <p:sldId id="658" r:id="rId15"/>
    <p:sldId id="669" r:id="rId16"/>
    <p:sldId id="670" r:id="rId17"/>
    <p:sldId id="571" r:id="rId18"/>
    <p:sldId id="587" r:id="rId19"/>
    <p:sldId id="666" r:id="rId20"/>
    <p:sldId id="588" r:id="rId21"/>
    <p:sldId id="667" r:id="rId22"/>
    <p:sldId id="589" r:id="rId23"/>
    <p:sldId id="671" r:id="rId24"/>
    <p:sldId id="590" r:id="rId25"/>
    <p:sldId id="623" r:id="rId26"/>
    <p:sldId id="673" r:id="rId27"/>
    <p:sldId id="674" r:id="rId28"/>
    <p:sldId id="675" r:id="rId29"/>
    <p:sldId id="678" r:id="rId30"/>
    <p:sldId id="627" r:id="rId31"/>
    <p:sldId id="298" r:id="rId32"/>
    <p:sldId id="549" r:id="rId33"/>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BAA15BF6-FE96-3445-86D7-BE737DCC358B}">
          <p14:sldIdLst>
            <p14:sldId id="680"/>
            <p14:sldId id="656"/>
            <p14:sldId id="689"/>
            <p14:sldId id="609"/>
            <p14:sldId id="664"/>
            <p14:sldId id="681"/>
            <p14:sldId id="687"/>
            <p14:sldId id="688"/>
            <p14:sldId id="661"/>
            <p14:sldId id="683"/>
            <p14:sldId id="684"/>
            <p14:sldId id="662"/>
            <p14:sldId id="563"/>
            <p14:sldId id="658"/>
            <p14:sldId id="669"/>
            <p14:sldId id="670"/>
            <p14:sldId id="571"/>
            <p14:sldId id="587"/>
            <p14:sldId id="666"/>
            <p14:sldId id="588"/>
            <p14:sldId id="667"/>
            <p14:sldId id="589"/>
            <p14:sldId id="671"/>
            <p14:sldId id="590"/>
            <p14:sldId id="623"/>
            <p14:sldId id="673"/>
            <p14:sldId id="674"/>
            <p14:sldId id="675"/>
            <p14:sldId id="678"/>
            <p14:sldId id="627"/>
            <p14:sldId id="298"/>
            <p14:sldId id="54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0D0D5"/>
    <a:srgbClr val="E2F0D9"/>
    <a:srgbClr val="EDC196"/>
    <a:srgbClr val="D53DD7"/>
    <a:srgbClr val="FF8CD8"/>
    <a:srgbClr val="0295FF"/>
    <a:srgbClr val="1E76B4"/>
    <a:srgbClr val="FF7F0E"/>
    <a:srgbClr val="FFFF00"/>
    <a:srgbClr val="2076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93" autoAdjust="0"/>
    <p:restoredTop sz="96638" autoAdjust="0"/>
  </p:normalViewPr>
  <p:slideViewPr>
    <p:cSldViewPr>
      <p:cViewPr varScale="1">
        <p:scale>
          <a:sx n="141" d="100"/>
          <a:sy n="141" d="100"/>
        </p:scale>
        <p:origin x="616" y="17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3417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0AC11AF-147E-0A48-A5B0-8DA858D84551}" type="datetimeFigureOut">
              <a:rPr lang="en-US" smtClean="0"/>
              <a:pPr/>
              <a:t>7/17/26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106F090-DD87-7740-9678-0E1C7887DC6D}" type="slidenum">
              <a:rPr lang="en-US" smtClean="0"/>
              <a:pPr/>
              <a:t>‹#›</a:t>
            </a:fld>
            <a:endParaRPr lang="en-US"/>
          </a:p>
        </p:txBody>
      </p:sp>
    </p:spTree>
    <p:extLst>
      <p:ext uri="{BB962C8B-B14F-4D97-AF65-F5344CB8AC3E}">
        <p14:creationId xmlns:p14="http://schemas.microsoft.com/office/powerpoint/2010/main" val="344125147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16387"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638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1638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39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1639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99B30722-7DAA-4E93-8206-71F83E275281}" type="slidenum">
              <a:rPr lang="en-US"/>
              <a:pPr/>
              <a:t>‹#›</a:t>
            </a:fld>
            <a:endParaRPr lang="en-US"/>
          </a:p>
        </p:txBody>
      </p:sp>
    </p:spTree>
    <p:extLst>
      <p:ext uri="{BB962C8B-B14F-4D97-AF65-F5344CB8AC3E}">
        <p14:creationId xmlns:p14="http://schemas.microsoft.com/office/powerpoint/2010/main" val="1074340422"/>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Arial" charset="0"/>
        <a:ea typeface="ＭＳ Ｐゴシック" pitchFamily="80" charset="-128"/>
        <a:cs typeface="+mn-cs"/>
      </a:defRPr>
    </a:lvl1pPr>
    <a:lvl2pPr marL="457200" algn="l" rtl="0" fontAlgn="base">
      <a:spcBef>
        <a:spcPct val="30000"/>
      </a:spcBef>
      <a:spcAft>
        <a:spcPct val="0"/>
      </a:spcAft>
      <a:defRPr sz="1200" kern="1200">
        <a:solidFill>
          <a:schemeClr val="tx1"/>
        </a:solidFill>
        <a:latin typeface="Arial" charset="0"/>
        <a:ea typeface="ＭＳ Ｐゴシック" pitchFamily="80" charset="-128"/>
        <a:cs typeface="+mn-cs"/>
      </a:defRPr>
    </a:lvl2pPr>
    <a:lvl3pPr marL="914400" algn="l" rtl="0" fontAlgn="base">
      <a:spcBef>
        <a:spcPct val="30000"/>
      </a:spcBef>
      <a:spcAft>
        <a:spcPct val="0"/>
      </a:spcAft>
      <a:defRPr sz="1200" kern="1200">
        <a:solidFill>
          <a:schemeClr val="tx1"/>
        </a:solidFill>
        <a:latin typeface="Arial" charset="0"/>
        <a:ea typeface="ＭＳ Ｐゴシック" pitchFamily="80" charset="-128"/>
        <a:cs typeface="+mn-cs"/>
      </a:defRPr>
    </a:lvl3pPr>
    <a:lvl4pPr marL="1371600" algn="l" rtl="0" fontAlgn="base">
      <a:spcBef>
        <a:spcPct val="30000"/>
      </a:spcBef>
      <a:spcAft>
        <a:spcPct val="0"/>
      </a:spcAft>
      <a:defRPr sz="1200" kern="1200">
        <a:solidFill>
          <a:schemeClr val="tx1"/>
        </a:solidFill>
        <a:latin typeface="Arial" charset="0"/>
        <a:ea typeface="ＭＳ Ｐゴシック" pitchFamily="80" charset="-128"/>
        <a:cs typeface="+mn-cs"/>
      </a:defRPr>
    </a:lvl4pPr>
    <a:lvl5pPr marL="1828800" algn="l" rtl="0" fontAlgn="base">
      <a:spcBef>
        <a:spcPct val="30000"/>
      </a:spcBef>
      <a:spcAft>
        <a:spcPct val="0"/>
      </a:spcAft>
      <a:defRPr sz="1200" kern="1200">
        <a:solidFill>
          <a:schemeClr val="tx1"/>
        </a:solidFill>
        <a:latin typeface="Arial" charset="0"/>
        <a:ea typeface="ＭＳ Ｐゴシック" pitchFamily="8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99B30722-7DAA-4E93-8206-71F83E275281}" type="slidenum">
              <a:rPr lang="en-US" smtClean="0"/>
              <a:pPr/>
              <a:t>1</a:t>
            </a:fld>
            <a:endParaRPr lang="en-US"/>
          </a:p>
        </p:txBody>
      </p:sp>
    </p:spTree>
    <p:extLst>
      <p:ext uri="{BB962C8B-B14F-4D97-AF65-F5344CB8AC3E}">
        <p14:creationId xmlns:p14="http://schemas.microsoft.com/office/powerpoint/2010/main" val="1613313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and code are related. </a:t>
            </a:r>
          </a:p>
          <a:p>
            <a:endParaRPr lang="en-US" dirty="0"/>
          </a:p>
          <a:p>
            <a:r>
              <a:rPr lang="en-US" dirty="0"/>
              <a:t>Nice transition from the last question. In extreme case, when the relations in the graph are dynamic/ changing a lot </a:t>
            </a:r>
            <a:r>
              <a:rPr lang="en-US" dirty="0">
                <a:sym typeface="Wingdings" pitchFamily="2" charset="2"/>
              </a:rPr>
              <a:t>using a dictionary is not a good solution. Instead, when small dataset and we are mainly interested in visualizing the relations, it might be.</a:t>
            </a:r>
          </a:p>
          <a:p>
            <a:r>
              <a:rPr lang="en-US" dirty="0">
                <a:sym typeface="Wingdings" pitchFamily="2" charset="2"/>
              </a:rPr>
              <a:t>The NumPy array solutions, scales much better, in case there are hundreds of dynamically changing relations to inspect.</a:t>
            </a:r>
          </a:p>
        </p:txBody>
      </p:sp>
      <p:sp>
        <p:nvSpPr>
          <p:cNvPr id="4" name="Slide Number Placeholder 3"/>
          <p:cNvSpPr>
            <a:spLocks noGrp="1"/>
          </p:cNvSpPr>
          <p:nvPr>
            <p:ph type="sldNum" sz="quarter" idx="5"/>
          </p:nvPr>
        </p:nvSpPr>
        <p:spPr/>
        <p:txBody>
          <a:bodyPr/>
          <a:lstStyle/>
          <a:p>
            <a:fld id="{99B30722-7DAA-4E93-8206-71F83E275281}" type="slidenum">
              <a:rPr lang="en-US" smtClean="0"/>
              <a:pPr/>
              <a:t>13</a:t>
            </a:fld>
            <a:endParaRPr lang="en-US"/>
          </a:p>
        </p:txBody>
      </p:sp>
    </p:spTree>
    <p:extLst>
      <p:ext uri="{BB962C8B-B14F-4D97-AF65-F5344CB8AC3E}">
        <p14:creationId xmlns:p14="http://schemas.microsoft.com/office/powerpoint/2010/main" val="587009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Note that there may be different implementations of these data structures with different complexities, these are for the Python implementation.</a:t>
            </a:r>
          </a:p>
          <a:p>
            <a:endParaRPr lang="en-CH" dirty="0"/>
          </a:p>
          <a:p>
            <a:r>
              <a:rPr lang="en-CH" dirty="0"/>
              <a:t>E.g., if finding an element in a list is important, one could implement it as two dictionaries, one mapping indices to data, one mapping data to indices. Finding out the complexities of all the operations with this implementation is left as a homework.</a:t>
            </a:r>
          </a:p>
          <a:p>
            <a:endParaRPr lang="en-CH" dirty="0"/>
          </a:p>
        </p:txBody>
      </p:sp>
      <p:sp>
        <p:nvSpPr>
          <p:cNvPr id="4" name="Slide Number Placeholder 3"/>
          <p:cNvSpPr>
            <a:spLocks noGrp="1"/>
          </p:cNvSpPr>
          <p:nvPr>
            <p:ph type="sldNum" sz="quarter" idx="5"/>
          </p:nvPr>
        </p:nvSpPr>
        <p:spPr/>
        <p:txBody>
          <a:bodyPr/>
          <a:lstStyle/>
          <a:p>
            <a:fld id="{99B30722-7DAA-4E93-8206-71F83E275281}" type="slidenum">
              <a:rPr lang="en-US" smtClean="0"/>
              <a:pPr/>
              <a:t>24</a:t>
            </a:fld>
            <a:endParaRPr lang="en-US"/>
          </a:p>
        </p:txBody>
      </p:sp>
    </p:spTree>
    <p:extLst>
      <p:ext uri="{BB962C8B-B14F-4D97-AF65-F5344CB8AC3E}">
        <p14:creationId xmlns:p14="http://schemas.microsoft.com/office/powerpoint/2010/main" val="388296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Parallelization lowers the curves. </a:t>
            </a:r>
          </a:p>
          <a:p>
            <a:r>
              <a:rPr lang="en-US" dirty="0"/>
              <a:t>For a fixed code, linear code is no necessarily faster. </a:t>
            </a:r>
          </a:p>
          <a:p>
            <a:r>
              <a:rPr lang="en-US" dirty="0"/>
              <a:t>Important when n is growing</a:t>
            </a:r>
          </a:p>
          <a:p>
            <a:r>
              <a:rPr lang="en-US" dirty="0"/>
              <a:t>Parallelization/ optimization </a:t>
            </a:r>
            <a:r>
              <a:rPr lang="en-US" dirty="0">
                <a:sym typeface="Wingdings" pitchFamily="2" charset="2"/>
              </a:rPr>
              <a:t> you can make the code faster for any fixed N, but the shape (of growth) can never change</a:t>
            </a:r>
            <a:endParaRPr lang="en-US" dirty="0"/>
          </a:p>
        </p:txBody>
      </p:sp>
      <p:sp>
        <p:nvSpPr>
          <p:cNvPr id="4" name="Slide Number Placeholder 3"/>
          <p:cNvSpPr>
            <a:spLocks noGrp="1"/>
          </p:cNvSpPr>
          <p:nvPr>
            <p:ph type="sldNum" sz="quarter" idx="5"/>
          </p:nvPr>
        </p:nvSpPr>
        <p:spPr/>
        <p:txBody>
          <a:bodyPr/>
          <a:lstStyle/>
          <a:p>
            <a:fld id="{99B30722-7DAA-4E93-8206-71F83E275281}" type="slidenum">
              <a:rPr lang="en-US" smtClean="0"/>
              <a:pPr/>
              <a:t>26</a:t>
            </a:fld>
            <a:endParaRPr lang="en-US"/>
          </a:p>
        </p:txBody>
      </p:sp>
    </p:spTree>
    <p:extLst>
      <p:ext uri="{BB962C8B-B14F-4D97-AF65-F5344CB8AC3E}">
        <p14:creationId xmlns:p14="http://schemas.microsoft.com/office/powerpoint/2010/main" val="1485958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Parallelization lowers the curves. </a:t>
            </a:r>
          </a:p>
          <a:p>
            <a:r>
              <a:rPr lang="en-US" dirty="0"/>
              <a:t>For a fixed code, linear code is no necessarily faster. </a:t>
            </a:r>
          </a:p>
          <a:p>
            <a:r>
              <a:rPr lang="en-US" dirty="0"/>
              <a:t>Important when n is growing</a:t>
            </a:r>
          </a:p>
          <a:p>
            <a:r>
              <a:rPr lang="en-US" dirty="0"/>
              <a:t>Parallelization/ optimization </a:t>
            </a:r>
            <a:r>
              <a:rPr lang="en-US" dirty="0">
                <a:sym typeface="Wingdings" pitchFamily="2" charset="2"/>
              </a:rPr>
              <a:t> you can make the code faster for any fixed N, but the shape (of growth) can never change</a:t>
            </a:r>
            <a:endParaRPr lang="en-US" dirty="0"/>
          </a:p>
        </p:txBody>
      </p:sp>
      <p:sp>
        <p:nvSpPr>
          <p:cNvPr id="4" name="Slide Number Placeholder 3"/>
          <p:cNvSpPr>
            <a:spLocks noGrp="1"/>
          </p:cNvSpPr>
          <p:nvPr>
            <p:ph type="sldNum" sz="quarter" idx="5"/>
          </p:nvPr>
        </p:nvSpPr>
        <p:spPr/>
        <p:txBody>
          <a:bodyPr/>
          <a:lstStyle/>
          <a:p>
            <a:fld id="{99B30722-7DAA-4E93-8206-71F83E275281}" type="slidenum">
              <a:rPr lang="en-US" smtClean="0"/>
              <a:pPr/>
              <a:t>27</a:t>
            </a:fld>
            <a:endParaRPr lang="en-US"/>
          </a:p>
        </p:txBody>
      </p:sp>
    </p:spTree>
    <p:extLst>
      <p:ext uri="{BB962C8B-B14F-4D97-AF65-F5344CB8AC3E}">
        <p14:creationId xmlns:p14="http://schemas.microsoft.com/office/powerpoint/2010/main" val="35551923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Parallelization lowers the curves. </a:t>
            </a:r>
          </a:p>
          <a:p>
            <a:r>
              <a:rPr lang="en-US" dirty="0"/>
              <a:t>For a fixed code, linear code is no necessarily faster. </a:t>
            </a:r>
          </a:p>
          <a:p>
            <a:r>
              <a:rPr lang="en-US" dirty="0"/>
              <a:t>Important when n is growing</a:t>
            </a:r>
          </a:p>
          <a:p>
            <a:r>
              <a:rPr lang="en-US" dirty="0"/>
              <a:t>Parallelization/ optimization </a:t>
            </a:r>
            <a:r>
              <a:rPr lang="en-US" dirty="0">
                <a:sym typeface="Wingdings" pitchFamily="2" charset="2"/>
              </a:rPr>
              <a:t> you can make the code faster for any fixed N, but the shape (of growth) can never change</a:t>
            </a:r>
            <a:endParaRPr lang="en-US" dirty="0"/>
          </a:p>
        </p:txBody>
      </p:sp>
      <p:sp>
        <p:nvSpPr>
          <p:cNvPr id="4" name="Slide Number Placeholder 3"/>
          <p:cNvSpPr>
            <a:spLocks noGrp="1"/>
          </p:cNvSpPr>
          <p:nvPr>
            <p:ph type="sldNum" sz="quarter" idx="5"/>
          </p:nvPr>
        </p:nvSpPr>
        <p:spPr/>
        <p:txBody>
          <a:bodyPr/>
          <a:lstStyle/>
          <a:p>
            <a:fld id="{99B30722-7DAA-4E93-8206-71F83E275281}" type="slidenum">
              <a:rPr lang="en-US" smtClean="0"/>
              <a:pPr/>
              <a:t>28</a:t>
            </a:fld>
            <a:endParaRPr lang="en-US"/>
          </a:p>
        </p:txBody>
      </p:sp>
    </p:spTree>
    <p:extLst>
      <p:ext uri="{BB962C8B-B14F-4D97-AF65-F5344CB8AC3E}">
        <p14:creationId xmlns:p14="http://schemas.microsoft.com/office/powerpoint/2010/main" val="1867264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Parallelization lowers the curves. </a:t>
            </a:r>
          </a:p>
          <a:p>
            <a:r>
              <a:rPr lang="en-US" dirty="0"/>
              <a:t>For a fixed code, linear code is no necessarily faster. </a:t>
            </a:r>
          </a:p>
          <a:p>
            <a:r>
              <a:rPr lang="en-US" dirty="0"/>
              <a:t>Important when n is growing</a:t>
            </a:r>
          </a:p>
          <a:p>
            <a:r>
              <a:rPr lang="en-US" dirty="0"/>
              <a:t>Parallelization/ optimization </a:t>
            </a:r>
            <a:r>
              <a:rPr lang="en-US" dirty="0">
                <a:sym typeface="Wingdings" pitchFamily="2" charset="2"/>
              </a:rPr>
              <a:t> you can make the code faster for any fixed N, but the shape (of growth) can never change</a:t>
            </a:r>
            <a:endParaRPr lang="en-US" dirty="0"/>
          </a:p>
        </p:txBody>
      </p:sp>
      <p:sp>
        <p:nvSpPr>
          <p:cNvPr id="4" name="Slide Number Placeholder 3"/>
          <p:cNvSpPr>
            <a:spLocks noGrp="1"/>
          </p:cNvSpPr>
          <p:nvPr>
            <p:ph type="sldNum" sz="quarter" idx="5"/>
          </p:nvPr>
        </p:nvSpPr>
        <p:spPr/>
        <p:txBody>
          <a:bodyPr/>
          <a:lstStyle/>
          <a:p>
            <a:fld id="{99B30722-7DAA-4E93-8206-71F83E275281}" type="slidenum">
              <a:rPr lang="en-US" smtClean="0"/>
              <a:pPr/>
              <a:t>29</a:t>
            </a:fld>
            <a:endParaRPr lang="en-US"/>
          </a:p>
        </p:txBody>
      </p:sp>
    </p:spTree>
    <p:extLst>
      <p:ext uri="{BB962C8B-B14F-4D97-AF65-F5344CB8AC3E}">
        <p14:creationId xmlns:p14="http://schemas.microsoft.com/office/powerpoint/2010/main" val="2592835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8E0D4-3906-5E84-9A66-DB37BEBD61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H"/>
          </a:p>
        </p:txBody>
      </p:sp>
      <p:sp>
        <p:nvSpPr>
          <p:cNvPr id="3" name="Subtitle 2">
            <a:extLst>
              <a:ext uri="{FF2B5EF4-FFF2-40B4-BE49-F238E27FC236}">
                <a16:creationId xmlns:a16="http://schemas.microsoft.com/office/drawing/2014/main" id="{C777B22A-8A05-AD52-8CD6-5F2450701F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H"/>
          </a:p>
        </p:txBody>
      </p:sp>
      <p:sp>
        <p:nvSpPr>
          <p:cNvPr id="4" name="Date Placeholder 3">
            <a:extLst>
              <a:ext uri="{FF2B5EF4-FFF2-40B4-BE49-F238E27FC236}">
                <a16:creationId xmlns:a16="http://schemas.microsoft.com/office/drawing/2014/main" id="{694885C7-A8EA-280C-CFBA-89A4A205E2F5}"/>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647C72EE-FDE1-C1F3-4957-207508BA3B3E}"/>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67DDE409-FF3D-5A1F-DCB8-2A1521C622F8}"/>
              </a:ext>
            </a:extLst>
          </p:cNvPr>
          <p:cNvSpPr>
            <a:spLocks noGrp="1"/>
          </p:cNvSpPr>
          <p:nvPr>
            <p:ph type="sldNum" sz="quarter" idx="12"/>
          </p:nvPr>
        </p:nvSpPr>
        <p:spPr/>
        <p:txBody>
          <a:bodyPr/>
          <a:lstStyle/>
          <a:p>
            <a:fld id="{EF79ADEA-B933-47CC-A4E9-04E6298B917C}" type="slidenum">
              <a:rPr lang="en-US" smtClean="0"/>
              <a:pPr/>
              <a:t>‹#›</a:t>
            </a:fld>
            <a:endParaRPr lang="en-US"/>
          </a:p>
        </p:txBody>
      </p:sp>
    </p:spTree>
    <p:extLst>
      <p:ext uri="{BB962C8B-B14F-4D97-AF65-F5344CB8AC3E}">
        <p14:creationId xmlns:p14="http://schemas.microsoft.com/office/powerpoint/2010/main" val="2874263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3B289-AB40-9846-F843-B96332043E98}"/>
              </a:ext>
            </a:extLst>
          </p:cNvPr>
          <p:cNvSpPr>
            <a:spLocks noGrp="1"/>
          </p:cNvSpPr>
          <p:nvPr>
            <p:ph type="title"/>
          </p:nvPr>
        </p:nvSpPr>
        <p:spPr>
          <a:xfrm>
            <a:off x="407368" y="229219"/>
            <a:ext cx="11377264" cy="903635"/>
          </a:xfrm>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7A32DB23-192C-438B-D8F3-D8A1D25927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86B6A9C4-05FD-10D3-FE4B-76DC2AFFDAC6}"/>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6606A97E-49EC-5507-F31A-8468F501929B}"/>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A6260223-066B-A525-B45F-4A4427D4F4C1}"/>
              </a:ext>
            </a:extLst>
          </p:cNvPr>
          <p:cNvSpPr>
            <a:spLocks noGrp="1"/>
          </p:cNvSpPr>
          <p:nvPr>
            <p:ph type="sldNum" sz="quarter" idx="12"/>
          </p:nvPr>
        </p:nvSpPr>
        <p:spPr/>
        <p:txBody>
          <a:bodyPr/>
          <a:lstStyle/>
          <a:p>
            <a:fld id="{EF79ADEA-B933-47CC-A4E9-04E6298B917C}" type="slidenum">
              <a:rPr lang="en-US" smtClean="0"/>
              <a:pPr/>
              <a:t>‹#›</a:t>
            </a:fld>
            <a:endParaRPr lang="en-US"/>
          </a:p>
        </p:txBody>
      </p:sp>
    </p:spTree>
    <p:extLst>
      <p:ext uri="{BB962C8B-B14F-4D97-AF65-F5344CB8AC3E}">
        <p14:creationId xmlns:p14="http://schemas.microsoft.com/office/powerpoint/2010/main" val="1473253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291EF-8D9D-352A-F2A6-BD2861237B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H"/>
          </a:p>
        </p:txBody>
      </p:sp>
      <p:sp>
        <p:nvSpPr>
          <p:cNvPr id="3" name="Text Placeholder 2">
            <a:extLst>
              <a:ext uri="{FF2B5EF4-FFF2-40B4-BE49-F238E27FC236}">
                <a16:creationId xmlns:a16="http://schemas.microsoft.com/office/drawing/2014/main" id="{D4076055-D9A9-9CE9-1AA6-7B4562B1A7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D27972-6FA4-CF11-473A-DD997E31BDCD}"/>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78A8CE54-DDB9-AF26-27D0-3987F176487A}"/>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987F0F92-78DB-2A78-9A43-9F2F501A3448}"/>
              </a:ext>
            </a:extLst>
          </p:cNvPr>
          <p:cNvSpPr>
            <a:spLocks noGrp="1"/>
          </p:cNvSpPr>
          <p:nvPr>
            <p:ph type="sldNum" sz="quarter" idx="12"/>
          </p:nvPr>
        </p:nvSpPr>
        <p:spPr/>
        <p:txBody>
          <a:bodyPr/>
          <a:lstStyle/>
          <a:p>
            <a:fld id="{EF79ADEA-B933-47CC-A4E9-04E6298B917C}" type="slidenum">
              <a:rPr lang="en-US" smtClean="0"/>
              <a:pPr/>
              <a:t>‹#›</a:t>
            </a:fld>
            <a:endParaRPr lang="en-US"/>
          </a:p>
        </p:txBody>
      </p:sp>
    </p:spTree>
    <p:extLst>
      <p:ext uri="{BB962C8B-B14F-4D97-AF65-F5344CB8AC3E}">
        <p14:creationId xmlns:p14="http://schemas.microsoft.com/office/powerpoint/2010/main" val="1990629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6131E-9D33-D5F2-A451-A9FAA49A46A2}"/>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E0D2941E-A496-3834-EA97-689CF20864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Content Placeholder 3">
            <a:extLst>
              <a:ext uri="{FF2B5EF4-FFF2-40B4-BE49-F238E27FC236}">
                <a16:creationId xmlns:a16="http://schemas.microsoft.com/office/drawing/2014/main" id="{B30604C0-AB24-E0A9-4DDF-255BC4244A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Date Placeholder 4">
            <a:extLst>
              <a:ext uri="{FF2B5EF4-FFF2-40B4-BE49-F238E27FC236}">
                <a16:creationId xmlns:a16="http://schemas.microsoft.com/office/drawing/2014/main" id="{59A237F5-1F8D-43F2-27CB-3E0D305071FF}"/>
              </a:ext>
            </a:extLst>
          </p:cNvPr>
          <p:cNvSpPr>
            <a:spLocks noGrp="1"/>
          </p:cNvSpPr>
          <p:nvPr>
            <p:ph type="dt" sz="half" idx="10"/>
          </p:nvPr>
        </p:nvSpPr>
        <p:spPr/>
        <p:txBody>
          <a:bodyPr/>
          <a:lstStyle/>
          <a:p>
            <a:r>
              <a:rPr lang="de-CH"/>
              <a:t>July 2026, CC BY-SA 4.0</a:t>
            </a:r>
            <a:endParaRPr lang="en-US"/>
          </a:p>
        </p:txBody>
      </p:sp>
      <p:sp>
        <p:nvSpPr>
          <p:cNvPr id="6" name="Footer Placeholder 5">
            <a:extLst>
              <a:ext uri="{FF2B5EF4-FFF2-40B4-BE49-F238E27FC236}">
                <a16:creationId xmlns:a16="http://schemas.microsoft.com/office/drawing/2014/main" id="{84262D06-9CA1-5B96-505F-4EC2B7478141}"/>
              </a:ext>
            </a:extLst>
          </p:cNvPr>
          <p:cNvSpPr>
            <a:spLocks noGrp="1"/>
          </p:cNvSpPr>
          <p:nvPr>
            <p:ph type="ftr" sz="quarter" idx="11"/>
          </p:nvPr>
        </p:nvSpPr>
        <p:spPr/>
        <p:txBody>
          <a:bodyPr/>
          <a:lstStyle/>
          <a:p>
            <a:r>
              <a:rPr lang="en-US"/>
              <a:t>Data, v3.0</a:t>
            </a:r>
          </a:p>
        </p:txBody>
      </p:sp>
      <p:sp>
        <p:nvSpPr>
          <p:cNvPr id="7" name="Slide Number Placeholder 6">
            <a:extLst>
              <a:ext uri="{FF2B5EF4-FFF2-40B4-BE49-F238E27FC236}">
                <a16:creationId xmlns:a16="http://schemas.microsoft.com/office/drawing/2014/main" id="{B9E361F3-6C74-C343-9F66-2607C7CD6210}"/>
              </a:ext>
            </a:extLst>
          </p:cNvPr>
          <p:cNvSpPr>
            <a:spLocks noGrp="1"/>
          </p:cNvSpPr>
          <p:nvPr>
            <p:ph type="sldNum" sz="quarter" idx="12"/>
          </p:nvPr>
        </p:nvSpPr>
        <p:spPr/>
        <p:txBody>
          <a:bodyPr/>
          <a:lstStyle/>
          <a:p>
            <a:fld id="{EF79ADEA-B933-47CC-A4E9-04E6298B917C}" type="slidenum">
              <a:rPr lang="en-US" smtClean="0"/>
              <a:pPr/>
              <a:t>‹#›</a:t>
            </a:fld>
            <a:endParaRPr lang="en-US"/>
          </a:p>
        </p:txBody>
      </p:sp>
    </p:spTree>
    <p:extLst>
      <p:ext uri="{BB962C8B-B14F-4D97-AF65-F5344CB8AC3E}">
        <p14:creationId xmlns:p14="http://schemas.microsoft.com/office/powerpoint/2010/main" val="2073330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2A5BB-68A9-92ED-B0E4-AD639F117ECF}"/>
              </a:ext>
            </a:extLst>
          </p:cNvPr>
          <p:cNvSpPr>
            <a:spLocks noGrp="1"/>
          </p:cNvSpPr>
          <p:nvPr>
            <p:ph type="title"/>
          </p:nvPr>
        </p:nvSpPr>
        <p:spPr>
          <a:xfrm>
            <a:off x="839788" y="365125"/>
            <a:ext cx="10515600" cy="1325563"/>
          </a:xfrm>
        </p:spPr>
        <p:txBody>
          <a:bodyPr/>
          <a:lstStyle/>
          <a:p>
            <a:r>
              <a:rPr lang="en-US"/>
              <a:t>Click to edit Master title style</a:t>
            </a:r>
            <a:endParaRPr lang="en-CH"/>
          </a:p>
        </p:txBody>
      </p:sp>
      <p:sp>
        <p:nvSpPr>
          <p:cNvPr id="3" name="Text Placeholder 2">
            <a:extLst>
              <a:ext uri="{FF2B5EF4-FFF2-40B4-BE49-F238E27FC236}">
                <a16:creationId xmlns:a16="http://schemas.microsoft.com/office/drawing/2014/main" id="{00859D9A-BCC6-4F00-12E7-FC7B981692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0AE4DE-A60C-1E47-B575-073B1493F0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Text Placeholder 4">
            <a:extLst>
              <a:ext uri="{FF2B5EF4-FFF2-40B4-BE49-F238E27FC236}">
                <a16:creationId xmlns:a16="http://schemas.microsoft.com/office/drawing/2014/main" id="{3FC32752-23D6-3CDD-042B-A0DA0A60B9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4EF0C3-AE4A-AC37-F13D-6EA3B422D6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7" name="Date Placeholder 6">
            <a:extLst>
              <a:ext uri="{FF2B5EF4-FFF2-40B4-BE49-F238E27FC236}">
                <a16:creationId xmlns:a16="http://schemas.microsoft.com/office/drawing/2014/main" id="{904ED2CC-8C47-56B3-0219-30A82DB48EAB}"/>
              </a:ext>
            </a:extLst>
          </p:cNvPr>
          <p:cNvSpPr>
            <a:spLocks noGrp="1"/>
          </p:cNvSpPr>
          <p:nvPr>
            <p:ph type="dt" sz="half" idx="10"/>
          </p:nvPr>
        </p:nvSpPr>
        <p:spPr/>
        <p:txBody>
          <a:bodyPr/>
          <a:lstStyle/>
          <a:p>
            <a:r>
              <a:rPr lang="de-CH"/>
              <a:t>July 2026, CC BY-SA 4.0</a:t>
            </a:r>
            <a:endParaRPr lang="en-US"/>
          </a:p>
        </p:txBody>
      </p:sp>
      <p:sp>
        <p:nvSpPr>
          <p:cNvPr id="8" name="Footer Placeholder 7">
            <a:extLst>
              <a:ext uri="{FF2B5EF4-FFF2-40B4-BE49-F238E27FC236}">
                <a16:creationId xmlns:a16="http://schemas.microsoft.com/office/drawing/2014/main" id="{F6E62C63-AE32-D166-FDFA-942C7FAB4E9D}"/>
              </a:ext>
            </a:extLst>
          </p:cNvPr>
          <p:cNvSpPr>
            <a:spLocks noGrp="1"/>
          </p:cNvSpPr>
          <p:nvPr>
            <p:ph type="ftr" sz="quarter" idx="11"/>
          </p:nvPr>
        </p:nvSpPr>
        <p:spPr/>
        <p:txBody>
          <a:bodyPr/>
          <a:lstStyle/>
          <a:p>
            <a:r>
              <a:rPr lang="en-US"/>
              <a:t>Data, v3.0</a:t>
            </a:r>
          </a:p>
        </p:txBody>
      </p:sp>
      <p:sp>
        <p:nvSpPr>
          <p:cNvPr id="9" name="Slide Number Placeholder 8">
            <a:extLst>
              <a:ext uri="{FF2B5EF4-FFF2-40B4-BE49-F238E27FC236}">
                <a16:creationId xmlns:a16="http://schemas.microsoft.com/office/drawing/2014/main" id="{497C64B2-A0A4-B777-5580-EB5CAFB9084F}"/>
              </a:ext>
            </a:extLst>
          </p:cNvPr>
          <p:cNvSpPr>
            <a:spLocks noGrp="1"/>
          </p:cNvSpPr>
          <p:nvPr>
            <p:ph type="sldNum" sz="quarter" idx="12"/>
          </p:nvPr>
        </p:nvSpPr>
        <p:spPr/>
        <p:txBody>
          <a:bodyPr/>
          <a:lstStyle/>
          <a:p>
            <a:fld id="{EF79ADEA-B933-47CC-A4E9-04E6298B917C}" type="slidenum">
              <a:rPr lang="en-US" smtClean="0"/>
              <a:pPr/>
              <a:t>‹#›</a:t>
            </a:fld>
            <a:endParaRPr lang="en-US"/>
          </a:p>
        </p:txBody>
      </p:sp>
    </p:spTree>
    <p:extLst>
      <p:ext uri="{BB962C8B-B14F-4D97-AF65-F5344CB8AC3E}">
        <p14:creationId xmlns:p14="http://schemas.microsoft.com/office/powerpoint/2010/main" val="741402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E62AF-FB55-10D2-20BC-6ED7F2F39626}"/>
              </a:ext>
            </a:extLst>
          </p:cNvPr>
          <p:cNvSpPr>
            <a:spLocks noGrp="1"/>
          </p:cNvSpPr>
          <p:nvPr>
            <p:ph type="title"/>
          </p:nvPr>
        </p:nvSpPr>
        <p:spPr/>
        <p:txBody>
          <a:bodyPr/>
          <a:lstStyle/>
          <a:p>
            <a:r>
              <a:rPr lang="en-US"/>
              <a:t>Click to edit Master title style</a:t>
            </a:r>
            <a:endParaRPr lang="en-CH"/>
          </a:p>
        </p:txBody>
      </p:sp>
      <p:sp>
        <p:nvSpPr>
          <p:cNvPr id="3" name="Date Placeholder 2">
            <a:extLst>
              <a:ext uri="{FF2B5EF4-FFF2-40B4-BE49-F238E27FC236}">
                <a16:creationId xmlns:a16="http://schemas.microsoft.com/office/drawing/2014/main" id="{A2077EB3-EC84-48C9-39A4-AE836F3AA333}"/>
              </a:ext>
            </a:extLst>
          </p:cNvPr>
          <p:cNvSpPr>
            <a:spLocks noGrp="1"/>
          </p:cNvSpPr>
          <p:nvPr>
            <p:ph type="dt" sz="half" idx="10"/>
          </p:nvPr>
        </p:nvSpPr>
        <p:spPr/>
        <p:txBody>
          <a:bodyPr/>
          <a:lstStyle/>
          <a:p>
            <a:r>
              <a:rPr lang="de-CH"/>
              <a:t>July 2026, CC BY-SA 4.0</a:t>
            </a:r>
            <a:endParaRPr lang="en-US"/>
          </a:p>
        </p:txBody>
      </p:sp>
      <p:sp>
        <p:nvSpPr>
          <p:cNvPr id="4" name="Footer Placeholder 3">
            <a:extLst>
              <a:ext uri="{FF2B5EF4-FFF2-40B4-BE49-F238E27FC236}">
                <a16:creationId xmlns:a16="http://schemas.microsoft.com/office/drawing/2014/main" id="{CF7C5FB1-8638-CA18-69ED-E51801C8F020}"/>
              </a:ext>
            </a:extLst>
          </p:cNvPr>
          <p:cNvSpPr>
            <a:spLocks noGrp="1"/>
          </p:cNvSpPr>
          <p:nvPr>
            <p:ph type="ftr" sz="quarter" idx="11"/>
          </p:nvPr>
        </p:nvSpPr>
        <p:spPr/>
        <p:txBody>
          <a:bodyPr/>
          <a:lstStyle/>
          <a:p>
            <a:r>
              <a:rPr lang="en-US"/>
              <a:t>Data, v3.0</a:t>
            </a:r>
          </a:p>
        </p:txBody>
      </p:sp>
      <p:sp>
        <p:nvSpPr>
          <p:cNvPr id="5" name="Slide Number Placeholder 4">
            <a:extLst>
              <a:ext uri="{FF2B5EF4-FFF2-40B4-BE49-F238E27FC236}">
                <a16:creationId xmlns:a16="http://schemas.microsoft.com/office/drawing/2014/main" id="{B51BA662-99E8-5C9E-0EE1-72A62BD388C2}"/>
              </a:ext>
            </a:extLst>
          </p:cNvPr>
          <p:cNvSpPr>
            <a:spLocks noGrp="1"/>
          </p:cNvSpPr>
          <p:nvPr>
            <p:ph type="sldNum" sz="quarter" idx="12"/>
          </p:nvPr>
        </p:nvSpPr>
        <p:spPr/>
        <p:txBody>
          <a:bodyPr/>
          <a:lstStyle/>
          <a:p>
            <a:fld id="{EF79ADEA-B933-47CC-A4E9-04E6298B917C}" type="slidenum">
              <a:rPr lang="en-US" smtClean="0"/>
              <a:pPr/>
              <a:t>‹#›</a:t>
            </a:fld>
            <a:endParaRPr lang="en-US"/>
          </a:p>
        </p:txBody>
      </p:sp>
    </p:spTree>
    <p:extLst>
      <p:ext uri="{BB962C8B-B14F-4D97-AF65-F5344CB8AC3E}">
        <p14:creationId xmlns:p14="http://schemas.microsoft.com/office/powerpoint/2010/main" val="1440035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3510B7-9A36-B2EE-F43B-2E6DADD6EC51}"/>
              </a:ext>
            </a:extLst>
          </p:cNvPr>
          <p:cNvSpPr>
            <a:spLocks noGrp="1"/>
          </p:cNvSpPr>
          <p:nvPr>
            <p:ph type="dt" sz="half" idx="10"/>
          </p:nvPr>
        </p:nvSpPr>
        <p:spPr/>
        <p:txBody>
          <a:bodyPr/>
          <a:lstStyle/>
          <a:p>
            <a:r>
              <a:rPr lang="de-CH"/>
              <a:t>July 2026, CC BY-SA 4.0</a:t>
            </a:r>
            <a:endParaRPr lang="en-US"/>
          </a:p>
        </p:txBody>
      </p:sp>
      <p:sp>
        <p:nvSpPr>
          <p:cNvPr id="3" name="Footer Placeholder 2">
            <a:extLst>
              <a:ext uri="{FF2B5EF4-FFF2-40B4-BE49-F238E27FC236}">
                <a16:creationId xmlns:a16="http://schemas.microsoft.com/office/drawing/2014/main" id="{DD03A99F-D0DE-3DFF-8075-E31B20756147}"/>
              </a:ext>
            </a:extLst>
          </p:cNvPr>
          <p:cNvSpPr>
            <a:spLocks noGrp="1"/>
          </p:cNvSpPr>
          <p:nvPr>
            <p:ph type="ftr" sz="quarter" idx="11"/>
          </p:nvPr>
        </p:nvSpPr>
        <p:spPr/>
        <p:txBody>
          <a:bodyPr/>
          <a:lstStyle/>
          <a:p>
            <a:r>
              <a:rPr lang="en-US"/>
              <a:t>Data, v3.0</a:t>
            </a:r>
          </a:p>
        </p:txBody>
      </p:sp>
      <p:sp>
        <p:nvSpPr>
          <p:cNvPr id="4" name="Slide Number Placeholder 3">
            <a:extLst>
              <a:ext uri="{FF2B5EF4-FFF2-40B4-BE49-F238E27FC236}">
                <a16:creationId xmlns:a16="http://schemas.microsoft.com/office/drawing/2014/main" id="{37F04033-CFD7-5273-4BFF-CFEA173C4F61}"/>
              </a:ext>
            </a:extLst>
          </p:cNvPr>
          <p:cNvSpPr>
            <a:spLocks noGrp="1"/>
          </p:cNvSpPr>
          <p:nvPr>
            <p:ph type="sldNum" sz="quarter" idx="12"/>
          </p:nvPr>
        </p:nvSpPr>
        <p:spPr/>
        <p:txBody>
          <a:bodyPr/>
          <a:lstStyle/>
          <a:p>
            <a:fld id="{EF79ADEA-B933-47CC-A4E9-04E6298B917C}" type="slidenum">
              <a:rPr lang="en-US" smtClean="0"/>
              <a:pPr/>
              <a:t>‹#›</a:t>
            </a:fld>
            <a:endParaRPr lang="en-US"/>
          </a:p>
        </p:txBody>
      </p:sp>
    </p:spTree>
    <p:extLst>
      <p:ext uri="{BB962C8B-B14F-4D97-AF65-F5344CB8AC3E}">
        <p14:creationId xmlns:p14="http://schemas.microsoft.com/office/powerpoint/2010/main" val="4178493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52616-2FB4-0349-153A-78EC93B317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H"/>
          </a:p>
        </p:txBody>
      </p:sp>
      <p:sp>
        <p:nvSpPr>
          <p:cNvPr id="3" name="Content Placeholder 2">
            <a:extLst>
              <a:ext uri="{FF2B5EF4-FFF2-40B4-BE49-F238E27FC236}">
                <a16:creationId xmlns:a16="http://schemas.microsoft.com/office/drawing/2014/main" id="{1979301E-B075-A49D-41D1-7B2E7866DD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Text Placeholder 3">
            <a:extLst>
              <a:ext uri="{FF2B5EF4-FFF2-40B4-BE49-F238E27FC236}">
                <a16:creationId xmlns:a16="http://schemas.microsoft.com/office/drawing/2014/main" id="{834903C4-83F2-7123-E293-EC7B61AF6A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93B7A2-3957-6F98-E6EB-6478DC36FE31}"/>
              </a:ext>
            </a:extLst>
          </p:cNvPr>
          <p:cNvSpPr>
            <a:spLocks noGrp="1"/>
          </p:cNvSpPr>
          <p:nvPr>
            <p:ph type="dt" sz="half" idx="10"/>
          </p:nvPr>
        </p:nvSpPr>
        <p:spPr/>
        <p:txBody>
          <a:bodyPr/>
          <a:lstStyle/>
          <a:p>
            <a:r>
              <a:rPr lang="de-CH"/>
              <a:t>July 2026, CC BY-SA 4.0</a:t>
            </a:r>
            <a:endParaRPr lang="en-US"/>
          </a:p>
        </p:txBody>
      </p:sp>
      <p:sp>
        <p:nvSpPr>
          <p:cNvPr id="6" name="Footer Placeholder 5">
            <a:extLst>
              <a:ext uri="{FF2B5EF4-FFF2-40B4-BE49-F238E27FC236}">
                <a16:creationId xmlns:a16="http://schemas.microsoft.com/office/drawing/2014/main" id="{ED9AA7F2-AE66-8BB8-9043-2077AF0F6233}"/>
              </a:ext>
            </a:extLst>
          </p:cNvPr>
          <p:cNvSpPr>
            <a:spLocks noGrp="1"/>
          </p:cNvSpPr>
          <p:nvPr>
            <p:ph type="ftr" sz="quarter" idx="11"/>
          </p:nvPr>
        </p:nvSpPr>
        <p:spPr/>
        <p:txBody>
          <a:bodyPr/>
          <a:lstStyle/>
          <a:p>
            <a:r>
              <a:rPr lang="en-US"/>
              <a:t>Data, v3.0</a:t>
            </a:r>
          </a:p>
        </p:txBody>
      </p:sp>
      <p:sp>
        <p:nvSpPr>
          <p:cNvPr id="7" name="Slide Number Placeholder 6">
            <a:extLst>
              <a:ext uri="{FF2B5EF4-FFF2-40B4-BE49-F238E27FC236}">
                <a16:creationId xmlns:a16="http://schemas.microsoft.com/office/drawing/2014/main" id="{E8142501-2BAE-5ADC-8E80-79889635B3A5}"/>
              </a:ext>
            </a:extLst>
          </p:cNvPr>
          <p:cNvSpPr>
            <a:spLocks noGrp="1"/>
          </p:cNvSpPr>
          <p:nvPr>
            <p:ph type="sldNum" sz="quarter" idx="12"/>
          </p:nvPr>
        </p:nvSpPr>
        <p:spPr/>
        <p:txBody>
          <a:bodyPr/>
          <a:lstStyle/>
          <a:p>
            <a:fld id="{EF79ADEA-B933-47CC-A4E9-04E6298B917C}" type="slidenum">
              <a:rPr lang="en-US" smtClean="0"/>
              <a:pPr/>
              <a:t>‹#›</a:t>
            </a:fld>
            <a:endParaRPr lang="en-US"/>
          </a:p>
        </p:txBody>
      </p:sp>
    </p:spTree>
    <p:extLst>
      <p:ext uri="{BB962C8B-B14F-4D97-AF65-F5344CB8AC3E}">
        <p14:creationId xmlns:p14="http://schemas.microsoft.com/office/powerpoint/2010/main" val="2196782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E30D7-5025-56CE-7573-AB28A2D31E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H"/>
          </a:p>
        </p:txBody>
      </p:sp>
      <p:sp>
        <p:nvSpPr>
          <p:cNvPr id="3" name="Picture Placeholder 2">
            <a:extLst>
              <a:ext uri="{FF2B5EF4-FFF2-40B4-BE49-F238E27FC236}">
                <a16:creationId xmlns:a16="http://schemas.microsoft.com/office/drawing/2014/main" id="{4375BA7C-0CB7-CD9E-9918-BBB143F047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H"/>
          </a:p>
        </p:txBody>
      </p:sp>
      <p:sp>
        <p:nvSpPr>
          <p:cNvPr id="4" name="Text Placeholder 3">
            <a:extLst>
              <a:ext uri="{FF2B5EF4-FFF2-40B4-BE49-F238E27FC236}">
                <a16:creationId xmlns:a16="http://schemas.microsoft.com/office/drawing/2014/main" id="{FD86F301-A243-6206-7894-FDA327B67E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C103FE-41C2-E0C4-9695-65B1712293BF}"/>
              </a:ext>
            </a:extLst>
          </p:cNvPr>
          <p:cNvSpPr>
            <a:spLocks noGrp="1"/>
          </p:cNvSpPr>
          <p:nvPr>
            <p:ph type="dt" sz="half" idx="10"/>
          </p:nvPr>
        </p:nvSpPr>
        <p:spPr/>
        <p:txBody>
          <a:bodyPr/>
          <a:lstStyle/>
          <a:p>
            <a:r>
              <a:rPr lang="de-CH"/>
              <a:t>July 2026, CC BY-SA 4.0</a:t>
            </a:r>
            <a:endParaRPr lang="en-US"/>
          </a:p>
        </p:txBody>
      </p:sp>
      <p:sp>
        <p:nvSpPr>
          <p:cNvPr id="6" name="Footer Placeholder 5">
            <a:extLst>
              <a:ext uri="{FF2B5EF4-FFF2-40B4-BE49-F238E27FC236}">
                <a16:creationId xmlns:a16="http://schemas.microsoft.com/office/drawing/2014/main" id="{D63BF643-E0F9-EDBB-B372-4995A01384DC}"/>
              </a:ext>
            </a:extLst>
          </p:cNvPr>
          <p:cNvSpPr>
            <a:spLocks noGrp="1"/>
          </p:cNvSpPr>
          <p:nvPr>
            <p:ph type="ftr" sz="quarter" idx="11"/>
          </p:nvPr>
        </p:nvSpPr>
        <p:spPr/>
        <p:txBody>
          <a:bodyPr/>
          <a:lstStyle/>
          <a:p>
            <a:r>
              <a:rPr lang="en-US"/>
              <a:t>Data, v3.0</a:t>
            </a:r>
          </a:p>
        </p:txBody>
      </p:sp>
      <p:sp>
        <p:nvSpPr>
          <p:cNvPr id="7" name="Slide Number Placeholder 6">
            <a:extLst>
              <a:ext uri="{FF2B5EF4-FFF2-40B4-BE49-F238E27FC236}">
                <a16:creationId xmlns:a16="http://schemas.microsoft.com/office/drawing/2014/main" id="{3DB6E0D1-EBAD-C691-0DD4-170EF4A8DC33}"/>
              </a:ext>
            </a:extLst>
          </p:cNvPr>
          <p:cNvSpPr>
            <a:spLocks noGrp="1"/>
          </p:cNvSpPr>
          <p:nvPr>
            <p:ph type="sldNum" sz="quarter" idx="12"/>
          </p:nvPr>
        </p:nvSpPr>
        <p:spPr/>
        <p:txBody>
          <a:bodyPr/>
          <a:lstStyle/>
          <a:p>
            <a:fld id="{231AB8C0-1AFE-4AD2-A399-FC2954A1949B}" type="slidenum">
              <a:rPr lang="en-US" smtClean="0"/>
              <a:pPr/>
              <a:t>‹#›</a:t>
            </a:fld>
            <a:endParaRPr lang="en-US"/>
          </a:p>
        </p:txBody>
      </p:sp>
    </p:spTree>
    <p:extLst>
      <p:ext uri="{BB962C8B-B14F-4D97-AF65-F5344CB8AC3E}">
        <p14:creationId xmlns:p14="http://schemas.microsoft.com/office/powerpoint/2010/main" val="2836517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37998-4DFB-949C-9946-44ABA06DA356}"/>
              </a:ext>
            </a:extLst>
          </p:cNvPr>
          <p:cNvSpPr>
            <a:spLocks noGrp="1"/>
          </p:cNvSpPr>
          <p:nvPr>
            <p:ph type="title"/>
          </p:nvPr>
        </p:nvSpPr>
        <p:spPr/>
        <p:txBody>
          <a:bodyPr/>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90AF8318-8086-2300-EBA3-6BD9655BE5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61543218-1C1C-8ECD-A72E-EED3A3D75E02}"/>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B6338D7D-503F-65D1-2659-739E6A188D81}"/>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77739E4B-F73D-F0A8-9E9B-E60A9F31EDDB}"/>
              </a:ext>
            </a:extLst>
          </p:cNvPr>
          <p:cNvSpPr>
            <a:spLocks noGrp="1"/>
          </p:cNvSpPr>
          <p:nvPr>
            <p:ph type="sldNum" sz="quarter" idx="12"/>
          </p:nvPr>
        </p:nvSpPr>
        <p:spPr/>
        <p:txBody>
          <a:bodyPr/>
          <a:lstStyle/>
          <a:p>
            <a:fld id="{FF05A131-7E6B-4BFA-A2D4-3B708019D05F}" type="slidenum">
              <a:rPr lang="en-US" smtClean="0"/>
              <a:pPr/>
              <a:t>‹#›</a:t>
            </a:fld>
            <a:endParaRPr lang="en-US"/>
          </a:p>
        </p:txBody>
      </p:sp>
    </p:spTree>
    <p:extLst>
      <p:ext uri="{BB962C8B-B14F-4D97-AF65-F5344CB8AC3E}">
        <p14:creationId xmlns:p14="http://schemas.microsoft.com/office/powerpoint/2010/main" val="465320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320345-524B-8751-BCE7-58AFCFD2B7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1847C1A7-E700-E428-197C-BDCDADD7C3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E40B8320-916C-734C-F2BE-F0C29D855489}"/>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9D6AD22D-995A-2177-AEFB-2B97C7188C40}"/>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EA7E489E-1D46-1DD9-1A3C-47EC27CC7221}"/>
              </a:ext>
            </a:extLst>
          </p:cNvPr>
          <p:cNvSpPr>
            <a:spLocks noGrp="1"/>
          </p:cNvSpPr>
          <p:nvPr>
            <p:ph type="sldNum" sz="quarter" idx="12"/>
          </p:nvPr>
        </p:nvSpPr>
        <p:spPr/>
        <p:txBody>
          <a:bodyPr/>
          <a:lstStyle/>
          <a:p>
            <a:fld id="{EF79ADEA-B933-47CC-A4E9-04E6298B917C}" type="slidenum">
              <a:rPr lang="en-US" smtClean="0"/>
              <a:pPr/>
              <a:t>‹#›</a:t>
            </a:fld>
            <a:endParaRPr lang="en-US"/>
          </a:p>
        </p:txBody>
      </p:sp>
    </p:spTree>
    <p:extLst>
      <p:ext uri="{BB962C8B-B14F-4D97-AF65-F5344CB8AC3E}">
        <p14:creationId xmlns:p14="http://schemas.microsoft.com/office/powerpoint/2010/main" val="2327080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F4ECE4-3DA8-E41F-11D2-43FCEDC7CEA5}"/>
              </a:ext>
            </a:extLst>
          </p:cNvPr>
          <p:cNvSpPr>
            <a:spLocks noGrp="1"/>
          </p:cNvSpPr>
          <p:nvPr>
            <p:ph type="title"/>
          </p:nvPr>
        </p:nvSpPr>
        <p:spPr>
          <a:xfrm>
            <a:off x="407368" y="229219"/>
            <a:ext cx="11305256" cy="903635"/>
          </a:xfrm>
          <a:prstGeom prst="rect">
            <a:avLst/>
          </a:prstGeom>
        </p:spPr>
        <p:txBody>
          <a:bodyPr vert="horz" lIns="91440" tIns="45720" rIns="91440" bIns="45720" rtlCol="0" anchor="ctr">
            <a:normAutofit/>
          </a:bodyPr>
          <a:lstStyle/>
          <a:p>
            <a:r>
              <a:rPr lang="en-US"/>
              <a:t>Click to edit Master title style</a:t>
            </a:r>
            <a:endParaRPr lang="en-CH"/>
          </a:p>
        </p:txBody>
      </p:sp>
      <p:sp>
        <p:nvSpPr>
          <p:cNvPr id="3" name="Text Placeholder 2">
            <a:extLst>
              <a:ext uri="{FF2B5EF4-FFF2-40B4-BE49-F238E27FC236}">
                <a16:creationId xmlns:a16="http://schemas.microsoft.com/office/drawing/2014/main" id="{D5A1490D-9724-58BB-AD71-515B6AB11E50}"/>
              </a:ext>
            </a:extLst>
          </p:cNvPr>
          <p:cNvSpPr>
            <a:spLocks noGrp="1"/>
          </p:cNvSpPr>
          <p:nvPr>
            <p:ph type="body" idx="1"/>
          </p:nvPr>
        </p:nvSpPr>
        <p:spPr>
          <a:xfrm>
            <a:off x="838200" y="1484784"/>
            <a:ext cx="10515600" cy="46921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13AB7A2D-647B-C07A-70E3-1B633820BD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de-CH"/>
              <a:t>July 2026, CC BY-SA 4.0</a:t>
            </a:r>
            <a:endParaRPr lang="en-US"/>
          </a:p>
        </p:txBody>
      </p:sp>
      <p:sp>
        <p:nvSpPr>
          <p:cNvPr id="5" name="Footer Placeholder 4">
            <a:extLst>
              <a:ext uri="{FF2B5EF4-FFF2-40B4-BE49-F238E27FC236}">
                <a16:creationId xmlns:a16="http://schemas.microsoft.com/office/drawing/2014/main" id="{505343BC-648B-7077-AF70-1F5B996DEC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Data, v3.0</a:t>
            </a:r>
          </a:p>
        </p:txBody>
      </p:sp>
      <p:sp>
        <p:nvSpPr>
          <p:cNvPr id="6" name="Slide Number Placeholder 5">
            <a:extLst>
              <a:ext uri="{FF2B5EF4-FFF2-40B4-BE49-F238E27FC236}">
                <a16:creationId xmlns:a16="http://schemas.microsoft.com/office/drawing/2014/main" id="{532DD780-2E37-97CA-6F6B-10CB932FDB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79ADEA-B933-47CC-A4E9-04E6298B917C}" type="slidenum">
              <a:rPr lang="en-US" smtClean="0"/>
              <a:pPr/>
              <a:t>‹#›</a:t>
            </a:fld>
            <a:endParaRPr lang="en-US"/>
          </a:p>
        </p:txBody>
      </p:sp>
    </p:spTree>
    <p:extLst>
      <p:ext uri="{BB962C8B-B14F-4D97-AF65-F5344CB8AC3E}">
        <p14:creationId xmlns:p14="http://schemas.microsoft.com/office/powerpoint/2010/main" val="366222296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sv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sv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2.svg"/><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3.png"/><Relationship Id="rId7"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4.png"/><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Image">
            <a:extLst>
              <a:ext uri="{FF2B5EF4-FFF2-40B4-BE49-F238E27FC236}">
                <a16:creationId xmlns:a16="http://schemas.microsoft.com/office/drawing/2014/main" id="{F6E42A27-D61A-A59C-CFE4-ECE6CA77B1E5}"/>
              </a:ext>
            </a:extLst>
          </p:cNvPr>
          <p:cNvPicPr>
            <a:picLocks noChangeAspect="1" noChangeArrowheads="1"/>
          </p:cNvPicPr>
          <p:nvPr/>
        </p:nvPicPr>
        <p:blipFill rotWithShape="1">
          <a:blip r:embed="rId3">
            <a:clrChange>
              <a:clrFrom>
                <a:srgbClr val="FEFFFF"/>
              </a:clrFrom>
              <a:clrTo>
                <a:srgbClr val="FEFFFF">
                  <a:alpha val="0"/>
                </a:srgbClr>
              </a:clrTo>
            </a:clrChange>
            <a:extLst>
              <a:ext uri="{28A0092B-C50C-407E-A947-70E740481C1C}">
                <a14:useLocalDpi xmlns:a14="http://schemas.microsoft.com/office/drawing/2010/main" val="0"/>
              </a:ext>
            </a:extLst>
          </a:blip>
          <a:srcRect l="459" r="-1" b="4762"/>
          <a:stretch/>
        </p:blipFill>
        <p:spPr bwMode="auto">
          <a:xfrm>
            <a:off x="1176772" y="1484784"/>
            <a:ext cx="9838455" cy="5275307"/>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79B30C8B-B7EA-E43D-12A0-28FE49F4C559}"/>
              </a:ext>
            </a:extLst>
          </p:cNvPr>
          <p:cNvSpPr txBox="1">
            <a:spLocks/>
          </p:cNvSpPr>
          <p:nvPr/>
        </p:nvSpPr>
        <p:spPr>
          <a:xfrm>
            <a:off x="263352" y="0"/>
            <a:ext cx="6696744" cy="1484784"/>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8000" b="1" dirty="0"/>
              <a:t>The data class</a:t>
            </a:r>
            <a:endParaRPr lang="en-GB" sz="4000" dirty="0"/>
          </a:p>
        </p:txBody>
      </p:sp>
      <p:sp>
        <p:nvSpPr>
          <p:cNvPr id="10" name="Subtitle 2">
            <a:extLst>
              <a:ext uri="{FF2B5EF4-FFF2-40B4-BE49-F238E27FC236}">
                <a16:creationId xmlns:a16="http://schemas.microsoft.com/office/drawing/2014/main" id="{1B3065C6-8368-ADA9-51D1-56948C3C7FCC}"/>
              </a:ext>
            </a:extLst>
          </p:cNvPr>
          <p:cNvSpPr txBox="1">
            <a:spLocks/>
          </p:cNvSpPr>
          <p:nvPr/>
        </p:nvSpPr>
        <p:spPr>
          <a:xfrm>
            <a:off x="335360" y="1308550"/>
            <a:ext cx="5921896" cy="548285"/>
          </a:xfrm>
          <a:prstGeom prst="rect">
            <a:avLst/>
          </a:prstGeom>
          <a:no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800" noProof="1"/>
              <a:t>Pietro Berkes &amp; Verjinia Metodieva</a:t>
            </a:r>
          </a:p>
        </p:txBody>
      </p:sp>
      <p:sp>
        <p:nvSpPr>
          <p:cNvPr id="2" name="TextBox 1">
            <a:extLst>
              <a:ext uri="{FF2B5EF4-FFF2-40B4-BE49-F238E27FC236}">
                <a16:creationId xmlns:a16="http://schemas.microsoft.com/office/drawing/2014/main" id="{C5770D2C-CE72-8C97-3885-7C4B621C5DDA}"/>
              </a:ext>
            </a:extLst>
          </p:cNvPr>
          <p:cNvSpPr txBox="1"/>
          <p:nvPr/>
        </p:nvSpPr>
        <p:spPr>
          <a:xfrm>
            <a:off x="8040216" y="196338"/>
            <a:ext cx="3946765" cy="1200329"/>
          </a:xfrm>
          <a:prstGeom prst="rect">
            <a:avLst/>
          </a:prstGeom>
          <a:solidFill>
            <a:srgbClr val="F0D0D5"/>
          </a:solidFill>
        </p:spPr>
        <p:txBody>
          <a:bodyPr wrap="square" rtlCol="0">
            <a:spAutoFit/>
          </a:bodyPr>
          <a:lstStyle/>
          <a:p>
            <a:r>
              <a:rPr lang="en-US" sz="2400" dirty="0"/>
              <a:t>Fork and clone repository</a:t>
            </a:r>
          </a:p>
          <a:p>
            <a:r>
              <a:rPr lang="en-US" sz="2400" dirty="0"/>
              <a:t>https://</a:t>
            </a:r>
            <a:r>
              <a:rPr lang="en-US" sz="2400" dirty="0" err="1"/>
              <a:t>git.aspp.school</a:t>
            </a:r>
            <a:r>
              <a:rPr lang="en-US" sz="2400" dirty="0"/>
              <a:t>/ASPP/2024-heraklion-data.git</a:t>
            </a:r>
          </a:p>
        </p:txBody>
      </p:sp>
      <p:sp>
        <p:nvSpPr>
          <p:cNvPr id="3" name="Date Placeholder 2">
            <a:extLst>
              <a:ext uri="{FF2B5EF4-FFF2-40B4-BE49-F238E27FC236}">
                <a16:creationId xmlns:a16="http://schemas.microsoft.com/office/drawing/2014/main" id="{D27A2D24-AC0B-2E08-8D4D-371E44E303C4}"/>
              </a:ext>
            </a:extLst>
          </p:cNvPr>
          <p:cNvSpPr>
            <a:spLocks noGrp="1"/>
          </p:cNvSpPr>
          <p:nvPr>
            <p:ph type="dt" sz="half" idx="10"/>
          </p:nvPr>
        </p:nvSpPr>
        <p:spPr/>
        <p:txBody>
          <a:bodyPr/>
          <a:lstStyle/>
          <a:p>
            <a:r>
              <a:rPr lang="de-CH"/>
              <a:t>July 2026, CC BY-SA 4.0</a:t>
            </a:r>
            <a:endParaRPr lang="en-US"/>
          </a:p>
        </p:txBody>
      </p:sp>
      <p:sp>
        <p:nvSpPr>
          <p:cNvPr id="4" name="Footer Placeholder 3">
            <a:extLst>
              <a:ext uri="{FF2B5EF4-FFF2-40B4-BE49-F238E27FC236}">
                <a16:creationId xmlns:a16="http://schemas.microsoft.com/office/drawing/2014/main" id="{226F1862-EE2B-EEF6-9649-C8F972F24C0A}"/>
              </a:ext>
            </a:extLst>
          </p:cNvPr>
          <p:cNvSpPr>
            <a:spLocks noGrp="1"/>
          </p:cNvSpPr>
          <p:nvPr>
            <p:ph type="ftr" sz="quarter" idx="11"/>
          </p:nvPr>
        </p:nvSpPr>
        <p:spPr/>
        <p:txBody>
          <a:bodyPr/>
          <a:lstStyle/>
          <a:p>
            <a:r>
              <a:rPr lang="en-US"/>
              <a:t>Data, v3.0</a:t>
            </a:r>
          </a:p>
        </p:txBody>
      </p:sp>
      <p:sp>
        <p:nvSpPr>
          <p:cNvPr id="5" name="Slide Number Placeholder 4">
            <a:extLst>
              <a:ext uri="{FF2B5EF4-FFF2-40B4-BE49-F238E27FC236}">
                <a16:creationId xmlns:a16="http://schemas.microsoft.com/office/drawing/2014/main" id="{619095A5-B693-45CA-16EA-FD77DC459EB9}"/>
              </a:ext>
            </a:extLst>
          </p:cNvPr>
          <p:cNvSpPr>
            <a:spLocks noGrp="1"/>
          </p:cNvSpPr>
          <p:nvPr>
            <p:ph type="sldNum" sz="quarter" idx="12"/>
          </p:nvPr>
        </p:nvSpPr>
        <p:spPr/>
        <p:txBody>
          <a:bodyPr/>
          <a:lstStyle/>
          <a:p>
            <a:fld id="{EF79ADEA-B933-47CC-A4E9-04E6298B917C}" type="slidenum">
              <a:rPr lang="en-US" smtClean="0"/>
              <a:pPr/>
              <a:t>1</a:t>
            </a:fld>
            <a:endParaRPr lang="en-US"/>
          </a:p>
        </p:txBody>
      </p:sp>
    </p:spTree>
    <p:extLst>
      <p:ext uri="{BB962C8B-B14F-4D97-AF65-F5344CB8AC3E}">
        <p14:creationId xmlns:p14="http://schemas.microsoft.com/office/powerpoint/2010/main" val="3891822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B577FDDB-A9EF-6DDD-947A-D655777D4A54}"/>
              </a:ext>
            </a:extLst>
          </p:cNvPr>
          <p:cNvGrpSpPr/>
          <p:nvPr/>
        </p:nvGrpSpPr>
        <p:grpSpPr>
          <a:xfrm>
            <a:off x="4674077" y="1440014"/>
            <a:ext cx="2839213" cy="4303548"/>
            <a:chOff x="2370668" y="2025135"/>
            <a:chExt cx="2362200" cy="2572266"/>
          </a:xfrm>
        </p:grpSpPr>
        <p:sp>
          <p:nvSpPr>
            <p:cNvPr id="19" name="Rectangle 18">
              <a:extLst>
                <a:ext uri="{FF2B5EF4-FFF2-40B4-BE49-F238E27FC236}">
                  <a16:creationId xmlns:a16="http://schemas.microsoft.com/office/drawing/2014/main" id="{47D46AEB-0E34-4185-A14F-6B12DC1FC0D4}"/>
                </a:ext>
              </a:extLst>
            </p:cNvPr>
            <p:cNvSpPr/>
            <p:nvPr/>
          </p:nvSpPr>
          <p:spPr>
            <a:xfrm>
              <a:off x="2370668" y="2531534"/>
              <a:ext cx="2362200" cy="2065867"/>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44" indent="-285744">
                <a:buFont typeface="Arial" panose="020B0604020202020204" pitchFamily="34" charset="0"/>
                <a:buChar char="•"/>
              </a:pPr>
              <a:r>
                <a:rPr lang="en-US" sz="2400" dirty="0">
                  <a:solidFill>
                    <a:schemeClr val="tx1"/>
                  </a:solidFill>
                </a:rPr>
                <a:t>Efficient processing </a:t>
              </a:r>
              <a:br>
                <a:rPr lang="en-US" sz="2400" dirty="0">
                  <a:solidFill>
                    <a:schemeClr val="tx1"/>
                  </a:solidFill>
                </a:rPr>
              </a:br>
              <a:r>
                <a:rPr lang="en-US" sz="2400" dirty="0">
                  <a:solidFill>
                    <a:schemeClr val="tx1"/>
                  </a:solidFill>
                </a:rPr>
                <a:t>(no for-loops!)</a:t>
              </a:r>
              <a:br>
                <a:rPr lang="en-US" sz="2400" dirty="0">
                  <a:solidFill>
                    <a:schemeClr val="tx1"/>
                  </a:solidFill>
                </a:rPr>
              </a:br>
              <a:endParaRPr lang="en-US" sz="2400" dirty="0">
                <a:solidFill>
                  <a:schemeClr val="tx1"/>
                </a:solidFill>
              </a:endParaRPr>
            </a:p>
            <a:p>
              <a:pPr marL="285744" indent="-285744">
                <a:buFont typeface="Arial" panose="020B0604020202020204" pitchFamily="34" charset="0"/>
                <a:buChar char="•"/>
              </a:pPr>
              <a:r>
                <a:rPr lang="en-US" sz="2400" dirty="0">
                  <a:solidFill>
                    <a:schemeClr val="tx1"/>
                  </a:solidFill>
                </a:rPr>
                <a:t>Organizing data so that analyses are easy</a:t>
              </a:r>
            </a:p>
          </p:txBody>
        </p:sp>
        <p:sp>
          <p:nvSpPr>
            <p:cNvPr id="20" name="Rectangle 19">
              <a:extLst>
                <a:ext uri="{FF2B5EF4-FFF2-40B4-BE49-F238E27FC236}">
                  <a16:creationId xmlns:a16="http://schemas.microsoft.com/office/drawing/2014/main" id="{11835EFC-8F88-AF0B-16E7-A95ABDD6578B}"/>
                </a:ext>
              </a:extLst>
            </p:cNvPr>
            <p:cNvSpPr/>
            <p:nvPr/>
          </p:nvSpPr>
          <p:spPr>
            <a:xfrm>
              <a:off x="2370668" y="2025135"/>
              <a:ext cx="2362200" cy="506400"/>
            </a:xfrm>
            <a:prstGeom prst="rect">
              <a:avLst/>
            </a:prstGeom>
            <a:solidFill>
              <a:schemeClr val="accent6">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CH" sz="2400" b="1" dirty="0">
                  <a:solidFill>
                    <a:schemeClr val="tx1"/>
                  </a:solidFill>
                </a:rPr>
                <a:t>Processing</a:t>
              </a:r>
              <a:endParaRPr lang="en-CH" b="1" dirty="0">
                <a:solidFill>
                  <a:schemeClr val="tx1"/>
                </a:solidFill>
              </a:endParaRPr>
            </a:p>
          </p:txBody>
        </p:sp>
      </p:grpSp>
      <p:sp>
        <p:nvSpPr>
          <p:cNvPr id="2" name="Title 1">
            <a:extLst>
              <a:ext uri="{FF2B5EF4-FFF2-40B4-BE49-F238E27FC236}">
                <a16:creationId xmlns:a16="http://schemas.microsoft.com/office/drawing/2014/main" id="{5BA0FCD9-AF8E-A04C-9FB9-6BD7716CE367}"/>
              </a:ext>
            </a:extLst>
          </p:cNvPr>
          <p:cNvSpPr>
            <a:spLocks noGrp="1"/>
          </p:cNvSpPr>
          <p:nvPr>
            <p:ph type="title"/>
          </p:nvPr>
        </p:nvSpPr>
        <p:spPr/>
        <p:txBody>
          <a:bodyPr>
            <a:normAutofit fontScale="90000"/>
          </a:bodyPr>
          <a:lstStyle/>
          <a:p>
            <a:r>
              <a:rPr lang="en-CH" dirty="0"/>
              <a:t>Things one thinks about when thinking about data</a:t>
            </a:r>
          </a:p>
        </p:txBody>
      </p:sp>
      <p:sp>
        <p:nvSpPr>
          <p:cNvPr id="4" name="Date Placeholder 3">
            <a:extLst>
              <a:ext uri="{FF2B5EF4-FFF2-40B4-BE49-F238E27FC236}">
                <a16:creationId xmlns:a16="http://schemas.microsoft.com/office/drawing/2014/main" id="{9C3F6D2C-8568-75B2-5DA6-9D96D5E01790}"/>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5F8ECBDF-014C-301E-2FD7-3574CD7C4F47}"/>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722BCDEC-892A-1E58-C606-12D7CD60B8AE}"/>
              </a:ext>
            </a:extLst>
          </p:cNvPr>
          <p:cNvSpPr>
            <a:spLocks noGrp="1"/>
          </p:cNvSpPr>
          <p:nvPr>
            <p:ph type="sldNum" sz="quarter" idx="12"/>
          </p:nvPr>
        </p:nvSpPr>
        <p:spPr/>
        <p:txBody>
          <a:bodyPr/>
          <a:lstStyle/>
          <a:p>
            <a:fld id="{EF79ADEA-B933-47CC-A4E9-04E6298B917C}" type="slidenum">
              <a:rPr lang="en-US" smtClean="0"/>
              <a:pPr/>
              <a:t>2</a:t>
            </a:fld>
            <a:endParaRPr lang="en-US" dirty="0"/>
          </a:p>
        </p:txBody>
      </p:sp>
      <p:grpSp>
        <p:nvGrpSpPr>
          <p:cNvPr id="3" name="Group 2">
            <a:extLst>
              <a:ext uri="{FF2B5EF4-FFF2-40B4-BE49-F238E27FC236}">
                <a16:creationId xmlns:a16="http://schemas.microsoft.com/office/drawing/2014/main" id="{88551AC0-E64B-10BA-4A93-8095149365AE}"/>
              </a:ext>
            </a:extLst>
          </p:cNvPr>
          <p:cNvGrpSpPr/>
          <p:nvPr/>
        </p:nvGrpSpPr>
        <p:grpSpPr>
          <a:xfrm>
            <a:off x="1078229" y="1440014"/>
            <a:ext cx="2839213" cy="4303548"/>
            <a:chOff x="1701801" y="2008201"/>
            <a:chExt cx="2362200" cy="2572266"/>
          </a:xfrm>
        </p:grpSpPr>
        <p:sp>
          <p:nvSpPr>
            <p:cNvPr id="7" name="Rectangle 6">
              <a:extLst>
                <a:ext uri="{FF2B5EF4-FFF2-40B4-BE49-F238E27FC236}">
                  <a16:creationId xmlns:a16="http://schemas.microsoft.com/office/drawing/2014/main" id="{0FF5F64F-15BA-05FB-1AAB-3FD93F5C034D}"/>
                </a:ext>
              </a:extLst>
            </p:cNvPr>
            <p:cNvSpPr/>
            <p:nvPr/>
          </p:nvSpPr>
          <p:spPr>
            <a:xfrm>
              <a:off x="1701801" y="2514600"/>
              <a:ext cx="2362200" cy="2065867"/>
            </a:xfrm>
            <a:prstGeom prst="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44" indent="-285744">
                <a:buFont typeface="Arial" panose="020B0604020202020204" pitchFamily="34" charset="0"/>
                <a:buChar char="•"/>
              </a:pPr>
              <a:r>
                <a:rPr lang="en-CH" sz="2400" dirty="0">
                  <a:solidFill>
                    <a:schemeClr val="tx1"/>
                  </a:solidFill>
                </a:rPr>
                <a:t>Size</a:t>
              </a:r>
            </a:p>
            <a:p>
              <a:pPr marL="285744" indent="-285744">
                <a:buFont typeface="Arial" panose="020B0604020202020204" pitchFamily="34" charset="0"/>
                <a:buChar char="•"/>
              </a:pPr>
              <a:r>
                <a:rPr lang="en-CH" sz="2400" dirty="0">
                  <a:solidFill>
                    <a:schemeClr val="tx1"/>
                  </a:solidFill>
                </a:rPr>
                <a:t>Access ease</a:t>
              </a:r>
            </a:p>
            <a:p>
              <a:pPr marL="285744" indent="-285744">
                <a:buFont typeface="Arial" panose="020B0604020202020204" pitchFamily="34" charset="0"/>
                <a:buChar char="•"/>
              </a:pPr>
              <a:r>
                <a:rPr lang="en-CH" sz="2400" dirty="0">
                  <a:solidFill>
                    <a:schemeClr val="tx1"/>
                  </a:solidFill>
                </a:rPr>
                <a:t>Access time</a:t>
              </a:r>
            </a:p>
            <a:p>
              <a:endParaRPr lang="en-CH" sz="2400" dirty="0">
                <a:solidFill>
                  <a:schemeClr val="tx1"/>
                </a:solidFill>
              </a:endParaRPr>
            </a:p>
            <a:p>
              <a:pPr marL="285744" indent="-285744">
                <a:buFont typeface="Arial" panose="020B0604020202020204" pitchFamily="34" charset="0"/>
                <a:buChar char="•"/>
              </a:pPr>
              <a:endParaRPr lang="en-CH" sz="2400" dirty="0">
                <a:solidFill>
                  <a:schemeClr val="tx1"/>
                </a:solidFill>
              </a:endParaRPr>
            </a:p>
          </p:txBody>
        </p:sp>
        <p:sp>
          <p:nvSpPr>
            <p:cNvPr id="8" name="Rectangle 7">
              <a:extLst>
                <a:ext uri="{FF2B5EF4-FFF2-40B4-BE49-F238E27FC236}">
                  <a16:creationId xmlns:a16="http://schemas.microsoft.com/office/drawing/2014/main" id="{C9B7608A-6067-51DD-3F1D-8BE01A519010}"/>
                </a:ext>
              </a:extLst>
            </p:cNvPr>
            <p:cNvSpPr/>
            <p:nvPr/>
          </p:nvSpPr>
          <p:spPr>
            <a:xfrm>
              <a:off x="1701801" y="2008201"/>
              <a:ext cx="2362200" cy="506399"/>
            </a:xfrm>
            <a:prstGeom prst="rect">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CH" sz="2400" b="1" dirty="0">
                  <a:solidFill>
                    <a:schemeClr val="tx1"/>
                  </a:solidFill>
                </a:rPr>
                <a:t>Storage</a:t>
              </a:r>
            </a:p>
          </p:txBody>
        </p:sp>
      </p:grpSp>
      <p:grpSp>
        <p:nvGrpSpPr>
          <p:cNvPr id="21" name="Group 20">
            <a:extLst>
              <a:ext uri="{FF2B5EF4-FFF2-40B4-BE49-F238E27FC236}">
                <a16:creationId xmlns:a16="http://schemas.microsoft.com/office/drawing/2014/main" id="{3AAA0686-1522-D489-C48C-D96E450DA13A}"/>
              </a:ext>
            </a:extLst>
          </p:cNvPr>
          <p:cNvGrpSpPr/>
          <p:nvPr/>
        </p:nvGrpSpPr>
        <p:grpSpPr>
          <a:xfrm>
            <a:off x="8274558" y="1440014"/>
            <a:ext cx="2839213" cy="4303548"/>
            <a:chOff x="5283201" y="2074335"/>
            <a:chExt cx="2362200" cy="2523066"/>
          </a:xfrm>
        </p:grpSpPr>
        <p:sp>
          <p:nvSpPr>
            <p:cNvPr id="22" name="Rectangle 21">
              <a:extLst>
                <a:ext uri="{FF2B5EF4-FFF2-40B4-BE49-F238E27FC236}">
                  <a16:creationId xmlns:a16="http://schemas.microsoft.com/office/drawing/2014/main" id="{AFEF5E98-D15A-071E-6FCE-8FC062D2AAD5}"/>
                </a:ext>
              </a:extLst>
            </p:cNvPr>
            <p:cNvSpPr/>
            <p:nvPr/>
          </p:nvSpPr>
          <p:spPr>
            <a:xfrm>
              <a:off x="5283201" y="2531534"/>
              <a:ext cx="2362200" cy="2065867"/>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44" indent="-285744">
                <a:buFont typeface="Arial" panose="020B0604020202020204" pitchFamily="34" charset="0"/>
                <a:buChar char="•"/>
              </a:pPr>
              <a:r>
                <a:rPr lang="en-US" sz="2400" dirty="0">
                  <a:solidFill>
                    <a:schemeClr val="tx1"/>
                  </a:solidFill>
                </a:rPr>
                <a:t>Versioning</a:t>
              </a:r>
            </a:p>
            <a:p>
              <a:pPr marL="285744" indent="-285744">
                <a:buFont typeface="Arial" panose="020B0604020202020204" pitchFamily="34" charset="0"/>
                <a:buChar char="•"/>
              </a:pPr>
              <a:r>
                <a:rPr lang="en-US" sz="2400" dirty="0">
                  <a:solidFill>
                    <a:schemeClr val="tx1"/>
                  </a:solidFill>
                </a:rPr>
                <a:t>Lineage tracing (which script / other data was used to generate this?)</a:t>
              </a:r>
            </a:p>
            <a:p>
              <a:pPr marL="285744" indent="-285744">
                <a:buFont typeface="Arial" panose="020B0604020202020204" pitchFamily="34" charset="0"/>
                <a:buChar char="•"/>
              </a:pPr>
              <a:r>
                <a:rPr lang="en-US" sz="2400" dirty="0">
                  <a:solidFill>
                    <a:schemeClr val="tx1"/>
                  </a:solidFill>
                </a:rPr>
                <a:t>Ease of sharing</a:t>
              </a:r>
            </a:p>
          </p:txBody>
        </p:sp>
        <p:sp>
          <p:nvSpPr>
            <p:cNvPr id="23" name="Rectangle 22">
              <a:extLst>
                <a:ext uri="{FF2B5EF4-FFF2-40B4-BE49-F238E27FC236}">
                  <a16:creationId xmlns:a16="http://schemas.microsoft.com/office/drawing/2014/main" id="{417C9F24-16F9-BD1B-E285-142428502DD8}"/>
                </a:ext>
              </a:extLst>
            </p:cNvPr>
            <p:cNvSpPr/>
            <p:nvPr/>
          </p:nvSpPr>
          <p:spPr>
            <a:xfrm>
              <a:off x="5283201" y="2074335"/>
              <a:ext cx="2362200" cy="457200"/>
            </a:xfrm>
            <a:prstGeom prst="rect">
              <a:avLst/>
            </a:prstGeom>
            <a:solidFill>
              <a:schemeClr val="accent2">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CH" sz="2400" b="1" dirty="0">
                  <a:solidFill>
                    <a:schemeClr val="tx1"/>
                  </a:solidFill>
                </a:rPr>
                <a:t>Reproducibility and collaboration</a:t>
              </a:r>
              <a:endParaRPr lang="en-CH" b="1" dirty="0">
                <a:solidFill>
                  <a:schemeClr val="tx1"/>
                </a:solidFill>
              </a:endParaRPr>
            </a:p>
          </p:txBody>
        </p:sp>
      </p:grpSp>
    </p:spTree>
    <p:extLst>
      <p:ext uri="{BB962C8B-B14F-4D97-AF65-F5344CB8AC3E}">
        <p14:creationId xmlns:p14="http://schemas.microsoft.com/office/powerpoint/2010/main" val="2953776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BCC2B-84ED-25DF-E94B-3C5FBFB1E6BC}"/>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74B91F2F-1B42-9179-DBEA-656FCA1EED4A}"/>
              </a:ext>
            </a:extLst>
          </p:cNvPr>
          <p:cNvGrpSpPr/>
          <p:nvPr/>
        </p:nvGrpSpPr>
        <p:grpSpPr>
          <a:xfrm>
            <a:off x="4674077" y="1440014"/>
            <a:ext cx="2839213" cy="4303548"/>
            <a:chOff x="2370668" y="2025135"/>
            <a:chExt cx="2362200" cy="2572266"/>
          </a:xfrm>
        </p:grpSpPr>
        <p:sp>
          <p:nvSpPr>
            <p:cNvPr id="19" name="Rectangle 18">
              <a:extLst>
                <a:ext uri="{FF2B5EF4-FFF2-40B4-BE49-F238E27FC236}">
                  <a16:creationId xmlns:a16="http://schemas.microsoft.com/office/drawing/2014/main" id="{38F8647F-F349-5E7A-9862-98CFC7B87422}"/>
                </a:ext>
              </a:extLst>
            </p:cNvPr>
            <p:cNvSpPr/>
            <p:nvPr/>
          </p:nvSpPr>
          <p:spPr>
            <a:xfrm>
              <a:off x="2370668" y="2531534"/>
              <a:ext cx="2362200" cy="2065867"/>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44" indent="-285744">
                <a:buFont typeface="Arial" panose="020B0604020202020204" pitchFamily="34" charset="0"/>
                <a:buChar char="•"/>
              </a:pPr>
              <a:r>
                <a:rPr lang="en-US" sz="2400" dirty="0">
                  <a:solidFill>
                    <a:schemeClr val="tx1"/>
                  </a:solidFill>
                </a:rPr>
                <a:t>Efficient processing </a:t>
              </a:r>
              <a:br>
                <a:rPr lang="en-US" sz="2400" dirty="0">
                  <a:solidFill>
                    <a:schemeClr val="tx1"/>
                  </a:solidFill>
                </a:rPr>
              </a:br>
              <a:r>
                <a:rPr lang="en-US" sz="2400" dirty="0">
                  <a:solidFill>
                    <a:schemeClr val="tx1"/>
                  </a:solidFill>
                </a:rPr>
                <a:t>(no for-loops!)</a:t>
              </a:r>
              <a:br>
                <a:rPr lang="en-US" sz="2400" dirty="0">
                  <a:solidFill>
                    <a:schemeClr val="tx1"/>
                  </a:solidFill>
                </a:rPr>
              </a:br>
              <a:endParaRPr lang="en-US" sz="2400" dirty="0">
                <a:solidFill>
                  <a:schemeClr val="tx1"/>
                </a:solidFill>
              </a:endParaRPr>
            </a:p>
            <a:p>
              <a:pPr marL="285744" indent="-285744">
                <a:buFont typeface="Arial" panose="020B0604020202020204" pitchFamily="34" charset="0"/>
                <a:buChar char="•"/>
              </a:pPr>
              <a:r>
                <a:rPr lang="en-US" sz="2400" dirty="0">
                  <a:solidFill>
                    <a:schemeClr val="tx1"/>
                  </a:solidFill>
                </a:rPr>
                <a:t>Organizing data so that analyses are easy</a:t>
              </a:r>
            </a:p>
          </p:txBody>
        </p:sp>
        <p:sp>
          <p:nvSpPr>
            <p:cNvPr id="20" name="Rectangle 19">
              <a:extLst>
                <a:ext uri="{FF2B5EF4-FFF2-40B4-BE49-F238E27FC236}">
                  <a16:creationId xmlns:a16="http://schemas.microsoft.com/office/drawing/2014/main" id="{74C4A7EB-0B07-2BEA-A70F-0C7D4F82822F}"/>
                </a:ext>
              </a:extLst>
            </p:cNvPr>
            <p:cNvSpPr/>
            <p:nvPr/>
          </p:nvSpPr>
          <p:spPr>
            <a:xfrm>
              <a:off x="2370668" y="2025135"/>
              <a:ext cx="2362200" cy="506400"/>
            </a:xfrm>
            <a:prstGeom prst="rect">
              <a:avLst/>
            </a:prstGeom>
            <a:solidFill>
              <a:schemeClr val="accent6">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CH" sz="2400" b="1" dirty="0">
                  <a:solidFill>
                    <a:schemeClr val="tx1"/>
                  </a:solidFill>
                </a:rPr>
                <a:t>Processing</a:t>
              </a:r>
              <a:endParaRPr lang="en-CH" b="1" dirty="0">
                <a:solidFill>
                  <a:schemeClr val="tx1"/>
                </a:solidFill>
              </a:endParaRPr>
            </a:p>
          </p:txBody>
        </p:sp>
      </p:grpSp>
      <p:sp>
        <p:nvSpPr>
          <p:cNvPr id="2" name="Title 1">
            <a:extLst>
              <a:ext uri="{FF2B5EF4-FFF2-40B4-BE49-F238E27FC236}">
                <a16:creationId xmlns:a16="http://schemas.microsoft.com/office/drawing/2014/main" id="{C61C9873-ACD3-6EFB-B8A5-D93371019952}"/>
              </a:ext>
            </a:extLst>
          </p:cNvPr>
          <p:cNvSpPr>
            <a:spLocks noGrp="1"/>
          </p:cNvSpPr>
          <p:nvPr>
            <p:ph type="title"/>
          </p:nvPr>
        </p:nvSpPr>
        <p:spPr/>
        <p:txBody>
          <a:bodyPr>
            <a:normAutofit fontScale="90000"/>
          </a:bodyPr>
          <a:lstStyle/>
          <a:p>
            <a:r>
              <a:rPr lang="en-CH" dirty="0"/>
              <a:t>Things one thinks about when thinking about data</a:t>
            </a:r>
          </a:p>
        </p:txBody>
      </p:sp>
      <p:sp>
        <p:nvSpPr>
          <p:cNvPr id="4" name="Date Placeholder 3">
            <a:extLst>
              <a:ext uri="{FF2B5EF4-FFF2-40B4-BE49-F238E27FC236}">
                <a16:creationId xmlns:a16="http://schemas.microsoft.com/office/drawing/2014/main" id="{501F9391-DEE2-82DE-F5A0-D1B801300670}"/>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0FDA5D7B-0BDE-E18E-59DF-DB9E1CA63B07}"/>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78667000-C0E4-BD89-53A1-0E24B027C321}"/>
              </a:ext>
            </a:extLst>
          </p:cNvPr>
          <p:cNvSpPr>
            <a:spLocks noGrp="1"/>
          </p:cNvSpPr>
          <p:nvPr>
            <p:ph type="sldNum" sz="quarter" idx="12"/>
          </p:nvPr>
        </p:nvSpPr>
        <p:spPr/>
        <p:txBody>
          <a:bodyPr/>
          <a:lstStyle/>
          <a:p>
            <a:fld id="{EF79ADEA-B933-47CC-A4E9-04E6298B917C}" type="slidenum">
              <a:rPr lang="en-US" smtClean="0"/>
              <a:pPr/>
              <a:t>3</a:t>
            </a:fld>
            <a:endParaRPr lang="en-US" dirty="0"/>
          </a:p>
        </p:txBody>
      </p:sp>
      <p:grpSp>
        <p:nvGrpSpPr>
          <p:cNvPr id="3" name="Group 2">
            <a:extLst>
              <a:ext uri="{FF2B5EF4-FFF2-40B4-BE49-F238E27FC236}">
                <a16:creationId xmlns:a16="http://schemas.microsoft.com/office/drawing/2014/main" id="{061B40CE-2ABC-025D-A1F8-DF7C6BE4DBBE}"/>
              </a:ext>
            </a:extLst>
          </p:cNvPr>
          <p:cNvGrpSpPr/>
          <p:nvPr/>
        </p:nvGrpSpPr>
        <p:grpSpPr>
          <a:xfrm>
            <a:off x="1078229" y="1440014"/>
            <a:ext cx="2839213" cy="4303548"/>
            <a:chOff x="1701801" y="2008201"/>
            <a:chExt cx="2362200" cy="2572266"/>
          </a:xfrm>
        </p:grpSpPr>
        <p:sp>
          <p:nvSpPr>
            <p:cNvPr id="7" name="Rectangle 6">
              <a:extLst>
                <a:ext uri="{FF2B5EF4-FFF2-40B4-BE49-F238E27FC236}">
                  <a16:creationId xmlns:a16="http://schemas.microsoft.com/office/drawing/2014/main" id="{A03C1DDA-B6BD-A68D-E444-D37F8C969D42}"/>
                </a:ext>
              </a:extLst>
            </p:cNvPr>
            <p:cNvSpPr/>
            <p:nvPr/>
          </p:nvSpPr>
          <p:spPr>
            <a:xfrm>
              <a:off x="1701801" y="2514600"/>
              <a:ext cx="2362200" cy="2065867"/>
            </a:xfrm>
            <a:prstGeom prst="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44" indent="-285744">
                <a:buFont typeface="Arial" panose="020B0604020202020204" pitchFamily="34" charset="0"/>
                <a:buChar char="•"/>
              </a:pPr>
              <a:r>
                <a:rPr lang="en-CH" sz="2400" dirty="0">
                  <a:solidFill>
                    <a:schemeClr val="tx1"/>
                  </a:solidFill>
                </a:rPr>
                <a:t>Size</a:t>
              </a:r>
            </a:p>
            <a:p>
              <a:pPr marL="285744" indent="-285744">
                <a:buFont typeface="Arial" panose="020B0604020202020204" pitchFamily="34" charset="0"/>
                <a:buChar char="•"/>
              </a:pPr>
              <a:r>
                <a:rPr lang="en-CH" sz="2400" dirty="0">
                  <a:solidFill>
                    <a:schemeClr val="tx1"/>
                  </a:solidFill>
                </a:rPr>
                <a:t>Access ease</a:t>
              </a:r>
            </a:p>
            <a:p>
              <a:pPr marL="285744" indent="-285744">
                <a:buFont typeface="Arial" panose="020B0604020202020204" pitchFamily="34" charset="0"/>
                <a:buChar char="•"/>
              </a:pPr>
              <a:r>
                <a:rPr lang="en-CH" sz="2400" dirty="0">
                  <a:solidFill>
                    <a:schemeClr val="tx1"/>
                  </a:solidFill>
                </a:rPr>
                <a:t>Access time</a:t>
              </a:r>
            </a:p>
            <a:p>
              <a:endParaRPr lang="en-CH" sz="2400" dirty="0">
                <a:solidFill>
                  <a:schemeClr val="tx1"/>
                </a:solidFill>
              </a:endParaRPr>
            </a:p>
            <a:p>
              <a:pPr marL="285744" indent="-285744">
                <a:buFont typeface="Arial" panose="020B0604020202020204" pitchFamily="34" charset="0"/>
                <a:buChar char="•"/>
              </a:pPr>
              <a:endParaRPr lang="en-CH" sz="2400" dirty="0">
                <a:solidFill>
                  <a:schemeClr val="tx1"/>
                </a:solidFill>
              </a:endParaRPr>
            </a:p>
          </p:txBody>
        </p:sp>
        <p:sp>
          <p:nvSpPr>
            <p:cNvPr id="8" name="Rectangle 7">
              <a:extLst>
                <a:ext uri="{FF2B5EF4-FFF2-40B4-BE49-F238E27FC236}">
                  <a16:creationId xmlns:a16="http://schemas.microsoft.com/office/drawing/2014/main" id="{7DD37CB0-5D48-DCB0-FA7A-D9008557FC7D}"/>
                </a:ext>
              </a:extLst>
            </p:cNvPr>
            <p:cNvSpPr/>
            <p:nvPr/>
          </p:nvSpPr>
          <p:spPr>
            <a:xfrm>
              <a:off x="1701801" y="2008201"/>
              <a:ext cx="2362200" cy="506399"/>
            </a:xfrm>
            <a:prstGeom prst="rect">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CH" sz="2400" b="1" dirty="0">
                  <a:solidFill>
                    <a:schemeClr val="tx1"/>
                  </a:solidFill>
                </a:rPr>
                <a:t>Storage</a:t>
              </a:r>
            </a:p>
          </p:txBody>
        </p:sp>
      </p:grpSp>
      <p:grpSp>
        <p:nvGrpSpPr>
          <p:cNvPr id="21" name="Group 20">
            <a:extLst>
              <a:ext uri="{FF2B5EF4-FFF2-40B4-BE49-F238E27FC236}">
                <a16:creationId xmlns:a16="http://schemas.microsoft.com/office/drawing/2014/main" id="{E381C9FC-69E3-DA3E-4B34-9599338C6C25}"/>
              </a:ext>
            </a:extLst>
          </p:cNvPr>
          <p:cNvGrpSpPr/>
          <p:nvPr/>
        </p:nvGrpSpPr>
        <p:grpSpPr>
          <a:xfrm>
            <a:off x="8274558" y="1440014"/>
            <a:ext cx="2839213" cy="4303548"/>
            <a:chOff x="5283201" y="2074335"/>
            <a:chExt cx="2362200" cy="2523066"/>
          </a:xfrm>
        </p:grpSpPr>
        <p:sp>
          <p:nvSpPr>
            <p:cNvPr id="22" name="Rectangle 21">
              <a:extLst>
                <a:ext uri="{FF2B5EF4-FFF2-40B4-BE49-F238E27FC236}">
                  <a16:creationId xmlns:a16="http://schemas.microsoft.com/office/drawing/2014/main" id="{8CE2A4E1-D4D6-5609-3282-58044EE482F0}"/>
                </a:ext>
              </a:extLst>
            </p:cNvPr>
            <p:cNvSpPr/>
            <p:nvPr/>
          </p:nvSpPr>
          <p:spPr>
            <a:xfrm>
              <a:off x="5283201" y="2531534"/>
              <a:ext cx="2362200" cy="2065867"/>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44" indent="-285744">
                <a:buFont typeface="Arial" panose="020B0604020202020204" pitchFamily="34" charset="0"/>
                <a:buChar char="•"/>
              </a:pPr>
              <a:r>
                <a:rPr lang="en-US" sz="2400" dirty="0">
                  <a:solidFill>
                    <a:schemeClr val="tx1"/>
                  </a:solidFill>
                </a:rPr>
                <a:t>Versioning</a:t>
              </a:r>
            </a:p>
            <a:p>
              <a:pPr marL="285744" indent="-285744">
                <a:buFont typeface="Arial" panose="020B0604020202020204" pitchFamily="34" charset="0"/>
                <a:buChar char="•"/>
              </a:pPr>
              <a:r>
                <a:rPr lang="en-US" sz="2400" dirty="0">
                  <a:solidFill>
                    <a:schemeClr val="tx1"/>
                  </a:solidFill>
                </a:rPr>
                <a:t>Lineage tracing (which script / other data was used to generate this?)</a:t>
              </a:r>
            </a:p>
            <a:p>
              <a:pPr marL="285744" indent="-285744">
                <a:buFont typeface="Arial" panose="020B0604020202020204" pitchFamily="34" charset="0"/>
                <a:buChar char="•"/>
              </a:pPr>
              <a:r>
                <a:rPr lang="en-US" sz="2400" dirty="0">
                  <a:solidFill>
                    <a:schemeClr val="tx1"/>
                  </a:solidFill>
                </a:rPr>
                <a:t>Ease of sharing</a:t>
              </a:r>
            </a:p>
          </p:txBody>
        </p:sp>
        <p:sp>
          <p:nvSpPr>
            <p:cNvPr id="23" name="Rectangle 22">
              <a:extLst>
                <a:ext uri="{FF2B5EF4-FFF2-40B4-BE49-F238E27FC236}">
                  <a16:creationId xmlns:a16="http://schemas.microsoft.com/office/drawing/2014/main" id="{51674B81-C608-01BE-A62C-86F8D68DB907}"/>
                </a:ext>
              </a:extLst>
            </p:cNvPr>
            <p:cNvSpPr/>
            <p:nvPr/>
          </p:nvSpPr>
          <p:spPr>
            <a:xfrm>
              <a:off x="5283201" y="2074335"/>
              <a:ext cx="2362200" cy="457200"/>
            </a:xfrm>
            <a:prstGeom prst="rect">
              <a:avLst/>
            </a:prstGeom>
            <a:solidFill>
              <a:schemeClr val="accent2">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CH" sz="2400" b="1" dirty="0">
                  <a:solidFill>
                    <a:schemeClr val="tx1"/>
                  </a:solidFill>
                </a:rPr>
                <a:t>Reproducibility and collaboration</a:t>
              </a:r>
              <a:endParaRPr lang="en-CH" b="1" dirty="0">
                <a:solidFill>
                  <a:schemeClr val="tx1"/>
                </a:solidFill>
              </a:endParaRPr>
            </a:p>
          </p:txBody>
        </p:sp>
      </p:grpSp>
      <p:sp>
        <p:nvSpPr>
          <p:cNvPr id="9" name="Rectangle 8">
            <a:extLst>
              <a:ext uri="{FF2B5EF4-FFF2-40B4-BE49-F238E27FC236}">
                <a16:creationId xmlns:a16="http://schemas.microsoft.com/office/drawing/2014/main" id="{0F599EBF-7667-EFC2-7798-C8986EA46A63}"/>
              </a:ext>
            </a:extLst>
          </p:cNvPr>
          <p:cNvSpPr/>
          <p:nvPr/>
        </p:nvSpPr>
        <p:spPr>
          <a:xfrm>
            <a:off x="4329487" y="1132854"/>
            <a:ext cx="3528392" cy="4960442"/>
          </a:xfrm>
          <a:prstGeom prst="rect">
            <a:avLst/>
          </a:prstGeom>
          <a:solidFill>
            <a:srgbClr val="FFFF00">
              <a:alpha val="23137"/>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396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8DFBD88-A407-BCCE-86D5-035B157D4265}"/>
              </a:ext>
            </a:extLst>
          </p:cNvPr>
          <p:cNvSpPr/>
          <p:nvPr/>
        </p:nvSpPr>
        <p:spPr>
          <a:xfrm>
            <a:off x="11052383" y="205950"/>
            <a:ext cx="827981" cy="702769"/>
          </a:xfrm>
          <a:prstGeom prst="rect">
            <a:avLst/>
          </a:prstGeom>
          <a:solidFill>
            <a:schemeClr val="accent6">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latin typeface="Courier New" panose="02070309020205020404" pitchFamily="49" charset="0"/>
              <a:cs typeface="Courier New" panose="02070309020205020404" pitchFamily="49" charset="0"/>
            </a:endParaRPr>
          </a:p>
        </p:txBody>
      </p:sp>
      <p:sp>
        <p:nvSpPr>
          <p:cNvPr id="17" name="Title 3">
            <a:extLst>
              <a:ext uri="{FF2B5EF4-FFF2-40B4-BE49-F238E27FC236}">
                <a16:creationId xmlns:a16="http://schemas.microsoft.com/office/drawing/2014/main" id="{0082FB03-B5BF-D4F7-5592-04D6D43828A1}"/>
              </a:ext>
            </a:extLst>
          </p:cNvPr>
          <p:cNvSpPr>
            <a:spLocks noGrp="1"/>
          </p:cNvSpPr>
          <p:nvPr>
            <p:ph type="title"/>
          </p:nvPr>
        </p:nvSpPr>
        <p:spPr/>
        <p:txBody>
          <a:bodyPr>
            <a:normAutofit fontScale="90000"/>
          </a:bodyPr>
          <a:lstStyle/>
          <a:p>
            <a:r>
              <a:rPr lang="en-US" b="1" dirty="0"/>
              <a:t>Hands-on</a:t>
            </a:r>
            <a:br>
              <a:rPr lang="en-US" b="1" dirty="0"/>
            </a:br>
            <a:r>
              <a:rPr lang="en-US" sz="3600" dirty="0"/>
              <a:t>What data structure would you use to represent…</a:t>
            </a:r>
            <a:endParaRPr lang="en-CH" sz="3600" dirty="0"/>
          </a:p>
        </p:txBody>
      </p:sp>
      <p:sp>
        <p:nvSpPr>
          <p:cNvPr id="4" name="Date Placeholder 3">
            <a:extLst>
              <a:ext uri="{FF2B5EF4-FFF2-40B4-BE49-F238E27FC236}">
                <a16:creationId xmlns:a16="http://schemas.microsoft.com/office/drawing/2014/main" id="{E8C84DEF-DCEF-7DAB-2DDF-ACBFCD4688DC}"/>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2C3C5D9D-450C-CD41-DC4B-A75684895E79}"/>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9F61D35E-DD39-AE70-A8D5-44192757D511}"/>
              </a:ext>
            </a:extLst>
          </p:cNvPr>
          <p:cNvSpPr>
            <a:spLocks noGrp="1"/>
          </p:cNvSpPr>
          <p:nvPr>
            <p:ph type="sldNum" sz="quarter" idx="12"/>
          </p:nvPr>
        </p:nvSpPr>
        <p:spPr/>
        <p:txBody>
          <a:bodyPr/>
          <a:lstStyle/>
          <a:p>
            <a:fld id="{EF79ADEA-B933-47CC-A4E9-04E6298B917C}" type="slidenum">
              <a:rPr lang="en-US" smtClean="0"/>
              <a:pPr/>
              <a:t>4</a:t>
            </a:fld>
            <a:endParaRPr lang="en-US"/>
          </a:p>
        </p:txBody>
      </p:sp>
      <p:pic>
        <p:nvPicPr>
          <p:cNvPr id="11" name="Graphic 10">
            <a:extLst>
              <a:ext uri="{FF2B5EF4-FFF2-40B4-BE49-F238E27FC236}">
                <a16:creationId xmlns:a16="http://schemas.microsoft.com/office/drawing/2014/main" id="{4100A633-F8F2-E59B-7BE8-C5F21118AEF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9144" y="279550"/>
            <a:ext cx="694459" cy="555568"/>
          </a:xfrm>
          <a:prstGeom prst="rect">
            <a:avLst/>
          </a:prstGeom>
        </p:spPr>
      </p:pic>
    </p:spTree>
    <p:extLst>
      <p:ext uri="{BB962C8B-B14F-4D97-AF65-F5344CB8AC3E}">
        <p14:creationId xmlns:p14="http://schemas.microsoft.com/office/powerpoint/2010/main" val="658294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8DFBD88-A407-BCCE-86D5-035B157D4265}"/>
              </a:ext>
            </a:extLst>
          </p:cNvPr>
          <p:cNvSpPr/>
          <p:nvPr/>
        </p:nvSpPr>
        <p:spPr>
          <a:xfrm>
            <a:off x="11052383" y="205950"/>
            <a:ext cx="827981" cy="702769"/>
          </a:xfrm>
          <a:prstGeom prst="rect">
            <a:avLst/>
          </a:prstGeom>
          <a:solidFill>
            <a:schemeClr val="accent6">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latin typeface="Courier New" panose="02070309020205020404" pitchFamily="49" charset="0"/>
              <a:cs typeface="Courier New" panose="02070309020205020404" pitchFamily="49" charset="0"/>
            </a:endParaRPr>
          </a:p>
        </p:txBody>
      </p:sp>
      <p:sp>
        <p:nvSpPr>
          <p:cNvPr id="17" name="Title 3">
            <a:extLst>
              <a:ext uri="{FF2B5EF4-FFF2-40B4-BE49-F238E27FC236}">
                <a16:creationId xmlns:a16="http://schemas.microsoft.com/office/drawing/2014/main" id="{0082FB03-B5BF-D4F7-5592-04D6D43828A1}"/>
              </a:ext>
            </a:extLst>
          </p:cNvPr>
          <p:cNvSpPr>
            <a:spLocks noGrp="1"/>
          </p:cNvSpPr>
          <p:nvPr>
            <p:ph type="title"/>
          </p:nvPr>
        </p:nvSpPr>
        <p:spPr/>
        <p:txBody>
          <a:bodyPr>
            <a:normAutofit fontScale="90000"/>
          </a:bodyPr>
          <a:lstStyle/>
          <a:p>
            <a:r>
              <a:rPr lang="en-US" b="1" dirty="0"/>
              <a:t>Hands-on</a:t>
            </a:r>
            <a:br>
              <a:rPr lang="en-US" b="1" dirty="0"/>
            </a:br>
            <a:r>
              <a:rPr lang="en-US" sz="3600" dirty="0"/>
              <a:t>What data structure would you use to represent…</a:t>
            </a:r>
            <a:endParaRPr lang="en-CH" sz="3600" dirty="0"/>
          </a:p>
        </p:txBody>
      </p:sp>
      <p:sp>
        <p:nvSpPr>
          <p:cNvPr id="4" name="Date Placeholder 3">
            <a:extLst>
              <a:ext uri="{FF2B5EF4-FFF2-40B4-BE49-F238E27FC236}">
                <a16:creationId xmlns:a16="http://schemas.microsoft.com/office/drawing/2014/main" id="{E8C84DEF-DCEF-7DAB-2DDF-ACBFCD4688DC}"/>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2C3C5D9D-450C-CD41-DC4B-A75684895E79}"/>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9F61D35E-DD39-AE70-A8D5-44192757D511}"/>
              </a:ext>
            </a:extLst>
          </p:cNvPr>
          <p:cNvSpPr>
            <a:spLocks noGrp="1"/>
          </p:cNvSpPr>
          <p:nvPr>
            <p:ph type="sldNum" sz="quarter" idx="12"/>
          </p:nvPr>
        </p:nvSpPr>
        <p:spPr/>
        <p:txBody>
          <a:bodyPr/>
          <a:lstStyle/>
          <a:p>
            <a:fld id="{EF79ADEA-B933-47CC-A4E9-04E6298B917C}" type="slidenum">
              <a:rPr lang="en-US" smtClean="0"/>
              <a:pPr/>
              <a:t>5</a:t>
            </a:fld>
            <a:endParaRPr lang="en-US"/>
          </a:p>
        </p:txBody>
      </p:sp>
      <p:pic>
        <p:nvPicPr>
          <p:cNvPr id="11" name="Graphic 10">
            <a:extLst>
              <a:ext uri="{FF2B5EF4-FFF2-40B4-BE49-F238E27FC236}">
                <a16:creationId xmlns:a16="http://schemas.microsoft.com/office/drawing/2014/main" id="{4100A633-F8F2-E59B-7BE8-C5F21118AEF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9144" y="279550"/>
            <a:ext cx="694459" cy="555568"/>
          </a:xfrm>
          <a:prstGeom prst="rect">
            <a:avLst/>
          </a:prstGeom>
        </p:spPr>
      </p:pic>
      <p:sp>
        <p:nvSpPr>
          <p:cNvPr id="16" name="TextBox 15">
            <a:extLst>
              <a:ext uri="{FF2B5EF4-FFF2-40B4-BE49-F238E27FC236}">
                <a16:creationId xmlns:a16="http://schemas.microsoft.com/office/drawing/2014/main" id="{8FA08EE9-A1C8-13B0-D6B0-E8AD7454C69E}"/>
              </a:ext>
            </a:extLst>
          </p:cNvPr>
          <p:cNvSpPr txBox="1"/>
          <p:nvPr/>
        </p:nvSpPr>
        <p:spPr>
          <a:xfrm>
            <a:off x="2109005" y="1828691"/>
            <a:ext cx="2501322" cy="400110"/>
          </a:xfrm>
          <a:prstGeom prst="rect">
            <a:avLst/>
          </a:prstGeom>
          <a:solidFill>
            <a:srgbClr val="F0D0D5"/>
          </a:solidFill>
        </p:spPr>
        <p:txBody>
          <a:bodyPr wrap="square" rtlCol="0">
            <a:spAutoFit/>
          </a:bodyPr>
          <a:lstStyle/>
          <a:p>
            <a:pPr algn="ctr"/>
            <a:r>
              <a:rPr lang="en-US" sz="2000" dirty="0"/>
              <a:t>A sound wave?</a:t>
            </a:r>
            <a:endParaRPr lang="en-CH" sz="2000" dirty="0"/>
          </a:p>
        </p:txBody>
      </p:sp>
      <p:pic>
        <p:nvPicPr>
          <p:cNvPr id="1026" name="Picture 2">
            <a:extLst>
              <a:ext uri="{FF2B5EF4-FFF2-40B4-BE49-F238E27FC236}">
                <a16:creationId xmlns:a16="http://schemas.microsoft.com/office/drawing/2014/main" id="{8BBD0FAD-1848-E607-9694-5E7BF65249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9973" y="2469653"/>
            <a:ext cx="4259386" cy="2865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7811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8DFBD88-A407-BCCE-86D5-035B157D4265}"/>
              </a:ext>
            </a:extLst>
          </p:cNvPr>
          <p:cNvSpPr/>
          <p:nvPr/>
        </p:nvSpPr>
        <p:spPr>
          <a:xfrm>
            <a:off x="11052383" y="205950"/>
            <a:ext cx="827981" cy="702769"/>
          </a:xfrm>
          <a:prstGeom prst="rect">
            <a:avLst/>
          </a:prstGeom>
          <a:solidFill>
            <a:schemeClr val="accent6">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latin typeface="Courier New" panose="02070309020205020404" pitchFamily="49" charset="0"/>
              <a:cs typeface="Courier New" panose="02070309020205020404" pitchFamily="49" charset="0"/>
            </a:endParaRPr>
          </a:p>
        </p:txBody>
      </p:sp>
      <p:sp>
        <p:nvSpPr>
          <p:cNvPr id="17" name="Title 3">
            <a:extLst>
              <a:ext uri="{FF2B5EF4-FFF2-40B4-BE49-F238E27FC236}">
                <a16:creationId xmlns:a16="http://schemas.microsoft.com/office/drawing/2014/main" id="{0082FB03-B5BF-D4F7-5592-04D6D43828A1}"/>
              </a:ext>
            </a:extLst>
          </p:cNvPr>
          <p:cNvSpPr>
            <a:spLocks noGrp="1"/>
          </p:cNvSpPr>
          <p:nvPr>
            <p:ph type="title"/>
          </p:nvPr>
        </p:nvSpPr>
        <p:spPr/>
        <p:txBody>
          <a:bodyPr>
            <a:normAutofit fontScale="90000"/>
          </a:bodyPr>
          <a:lstStyle/>
          <a:p>
            <a:r>
              <a:rPr lang="en-US" b="1" dirty="0"/>
              <a:t>Hands-on</a:t>
            </a:r>
            <a:br>
              <a:rPr lang="en-US" b="1" dirty="0"/>
            </a:br>
            <a:r>
              <a:rPr lang="en-US" sz="3600" dirty="0"/>
              <a:t>What data structure would you use to represent…</a:t>
            </a:r>
            <a:endParaRPr lang="en-CH" sz="3600" dirty="0"/>
          </a:p>
        </p:txBody>
      </p:sp>
      <p:sp>
        <p:nvSpPr>
          <p:cNvPr id="4" name="Date Placeholder 3">
            <a:extLst>
              <a:ext uri="{FF2B5EF4-FFF2-40B4-BE49-F238E27FC236}">
                <a16:creationId xmlns:a16="http://schemas.microsoft.com/office/drawing/2014/main" id="{E8C84DEF-DCEF-7DAB-2DDF-ACBFCD4688DC}"/>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2C3C5D9D-450C-CD41-DC4B-A75684895E79}"/>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9F61D35E-DD39-AE70-A8D5-44192757D511}"/>
              </a:ext>
            </a:extLst>
          </p:cNvPr>
          <p:cNvSpPr>
            <a:spLocks noGrp="1"/>
          </p:cNvSpPr>
          <p:nvPr>
            <p:ph type="sldNum" sz="quarter" idx="12"/>
          </p:nvPr>
        </p:nvSpPr>
        <p:spPr/>
        <p:txBody>
          <a:bodyPr/>
          <a:lstStyle/>
          <a:p>
            <a:fld id="{EF79ADEA-B933-47CC-A4E9-04E6298B917C}" type="slidenum">
              <a:rPr lang="en-US" smtClean="0"/>
              <a:pPr/>
              <a:t>6</a:t>
            </a:fld>
            <a:endParaRPr lang="en-US"/>
          </a:p>
        </p:txBody>
      </p:sp>
      <p:pic>
        <p:nvPicPr>
          <p:cNvPr id="11" name="Graphic 10">
            <a:extLst>
              <a:ext uri="{FF2B5EF4-FFF2-40B4-BE49-F238E27FC236}">
                <a16:creationId xmlns:a16="http://schemas.microsoft.com/office/drawing/2014/main" id="{4100A633-F8F2-E59B-7BE8-C5F21118AEF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9144" y="279550"/>
            <a:ext cx="694459" cy="555568"/>
          </a:xfrm>
          <a:prstGeom prst="rect">
            <a:avLst/>
          </a:prstGeom>
        </p:spPr>
      </p:pic>
      <p:sp>
        <p:nvSpPr>
          <p:cNvPr id="16" name="TextBox 15">
            <a:extLst>
              <a:ext uri="{FF2B5EF4-FFF2-40B4-BE49-F238E27FC236}">
                <a16:creationId xmlns:a16="http://schemas.microsoft.com/office/drawing/2014/main" id="{8FA08EE9-A1C8-13B0-D6B0-E8AD7454C69E}"/>
              </a:ext>
            </a:extLst>
          </p:cNvPr>
          <p:cNvSpPr txBox="1"/>
          <p:nvPr/>
        </p:nvSpPr>
        <p:spPr>
          <a:xfrm>
            <a:off x="2109005" y="1828691"/>
            <a:ext cx="2501322" cy="400110"/>
          </a:xfrm>
          <a:prstGeom prst="rect">
            <a:avLst/>
          </a:prstGeom>
          <a:solidFill>
            <a:srgbClr val="F0D0D5"/>
          </a:solidFill>
        </p:spPr>
        <p:txBody>
          <a:bodyPr wrap="square" rtlCol="0">
            <a:spAutoFit/>
          </a:bodyPr>
          <a:lstStyle/>
          <a:p>
            <a:pPr algn="ctr"/>
            <a:r>
              <a:rPr lang="en-US" sz="2000" dirty="0"/>
              <a:t>A sound wave?</a:t>
            </a:r>
            <a:endParaRPr lang="en-CH" sz="2000" dirty="0"/>
          </a:p>
        </p:txBody>
      </p:sp>
      <p:sp>
        <p:nvSpPr>
          <p:cNvPr id="20" name="TextBox 19">
            <a:extLst>
              <a:ext uri="{FF2B5EF4-FFF2-40B4-BE49-F238E27FC236}">
                <a16:creationId xmlns:a16="http://schemas.microsoft.com/office/drawing/2014/main" id="{CD933E50-6498-7AF2-901E-B9DFAACAAF4F}"/>
              </a:ext>
            </a:extLst>
          </p:cNvPr>
          <p:cNvSpPr txBox="1"/>
          <p:nvPr/>
        </p:nvSpPr>
        <p:spPr>
          <a:xfrm>
            <a:off x="7376450" y="1828691"/>
            <a:ext cx="2529222" cy="400110"/>
          </a:xfrm>
          <a:prstGeom prst="rect">
            <a:avLst/>
          </a:prstGeom>
          <a:solidFill>
            <a:schemeClr val="accent6">
              <a:lumMod val="20000"/>
              <a:lumOff val="80000"/>
            </a:schemeClr>
          </a:solidFill>
        </p:spPr>
        <p:txBody>
          <a:bodyPr wrap="square">
            <a:spAutoFit/>
          </a:bodyPr>
          <a:lstStyle/>
          <a:p>
            <a:pPr algn="ctr"/>
            <a:r>
              <a:rPr lang="en-US" sz="2000" dirty="0"/>
              <a:t>NumPy array</a:t>
            </a:r>
            <a:endParaRPr lang="en-CH" sz="1400" dirty="0"/>
          </a:p>
        </p:txBody>
      </p:sp>
      <p:pic>
        <p:nvPicPr>
          <p:cNvPr id="1026" name="Picture 2">
            <a:extLst>
              <a:ext uri="{FF2B5EF4-FFF2-40B4-BE49-F238E27FC236}">
                <a16:creationId xmlns:a16="http://schemas.microsoft.com/office/drawing/2014/main" id="{8BBD0FAD-1848-E607-9694-5E7BF65249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9973" y="2469653"/>
            <a:ext cx="4259386" cy="286523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6A5EB302-471C-3A1F-90B7-A0CF11BB263B}"/>
              </a:ext>
            </a:extLst>
          </p:cNvPr>
          <p:cNvPicPr>
            <a:picLocks noChangeAspect="1"/>
          </p:cNvPicPr>
          <p:nvPr/>
        </p:nvPicPr>
        <p:blipFill>
          <a:blip r:embed="rId4"/>
          <a:stretch>
            <a:fillRect/>
          </a:stretch>
        </p:blipFill>
        <p:spPr>
          <a:xfrm>
            <a:off x="6240016" y="2554072"/>
            <a:ext cx="4802090" cy="2696398"/>
          </a:xfrm>
          <a:prstGeom prst="rect">
            <a:avLst/>
          </a:prstGeom>
        </p:spPr>
      </p:pic>
    </p:spTree>
    <p:extLst>
      <p:ext uri="{BB962C8B-B14F-4D97-AF65-F5344CB8AC3E}">
        <p14:creationId xmlns:p14="http://schemas.microsoft.com/office/powerpoint/2010/main" val="996809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8DFBD88-A407-BCCE-86D5-035B157D4265}"/>
              </a:ext>
            </a:extLst>
          </p:cNvPr>
          <p:cNvSpPr/>
          <p:nvPr/>
        </p:nvSpPr>
        <p:spPr>
          <a:xfrm>
            <a:off x="11052383" y="205950"/>
            <a:ext cx="827981" cy="702769"/>
          </a:xfrm>
          <a:prstGeom prst="rect">
            <a:avLst/>
          </a:prstGeom>
          <a:solidFill>
            <a:schemeClr val="accent6">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latin typeface="Courier New" panose="02070309020205020404" pitchFamily="49" charset="0"/>
              <a:cs typeface="Courier New" panose="02070309020205020404" pitchFamily="49" charset="0"/>
            </a:endParaRPr>
          </a:p>
        </p:txBody>
      </p:sp>
      <p:sp>
        <p:nvSpPr>
          <p:cNvPr id="17" name="Title 3">
            <a:extLst>
              <a:ext uri="{FF2B5EF4-FFF2-40B4-BE49-F238E27FC236}">
                <a16:creationId xmlns:a16="http://schemas.microsoft.com/office/drawing/2014/main" id="{0082FB03-B5BF-D4F7-5592-04D6D43828A1}"/>
              </a:ext>
            </a:extLst>
          </p:cNvPr>
          <p:cNvSpPr>
            <a:spLocks noGrp="1"/>
          </p:cNvSpPr>
          <p:nvPr>
            <p:ph type="title"/>
          </p:nvPr>
        </p:nvSpPr>
        <p:spPr/>
        <p:txBody>
          <a:bodyPr>
            <a:normAutofit fontScale="90000"/>
          </a:bodyPr>
          <a:lstStyle/>
          <a:p>
            <a:r>
              <a:rPr lang="en-US" b="1" dirty="0"/>
              <a:t>Hands-on</a:t>
            </a:r>
            <a:br>
              <a:rPr lang="en-US" b="1" dirty="0"/>
            </a:br>
            <a:r>
              <a:rPr lang="en-US" sz="3600" dirty="0"/>
              <a:t>What data structure would you use to represent…</a:t>
            </a:r>
            <a:endParaRPr lang="en-CH" sz="3600" dirty="0"/>
          </a:p>
        </p:txBody>
      </p:sp>
      <p:sp>
        <p:nvSpPr>
          <p:cNvPr id="4" name="Date Placeholder 3">
            <a:extLst>
              <a:ext uri="{FF2B5EF4-FFF2-40B4-BE49-F238E27FC236}">
                <a16:creationId xmlns:a16="http://schemas.microsoft.com/office/drawing/2014/main" id="{E8C84DEF-DCEF-7DAB-2DDF-ACBFCD4688DC}"/>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2C3C5D9D-450C-CD41-DC4B-A75684895E79}"/>
              </a:ext>
            </a:extLst>
          </p:cNvPr>
          <p:cNvSpPr>
            <a:spLocks noGrp="1"/>
          </p:cNvSpPr>
          <p:nvPr>
            <p:ph type="ftr" sz="quarter" idx="11"/>
          </p:nvPr>
        </p:nvSpPr>
        <p:spPr/>
        <p:txBody>
          <a:bodyPr/>
          <a:lstStyle/>
          <a:p>
            <a:r>
              <a:rPr lang="en-US"/>
              <a:t>Data, v3.0</a:t>
            </a:r>
            <a:endParaRPr lang="en-US" dirty="0"/>
          </a:p>
        </p:txBody>
      </p:sp>
      <p:sp>
        <p:nvSpPr>
          <p:cNvPr id="6" name="Slide Number Placeholder 5">
            <a:extLst>
              <a:ext uri="{FF2B5EF4-FFF2-40B4-BE49-F238E27FC236}">
                <a16:creationId xmlns:a16="http://schemas.microsoft.com/office/drawing/2014/main" id="{9F61D35E-DD39-AE70-A8D5-44192757D511}"/>
              </a:ext>
            </a:extLst>
          </p:cNvPr>
          <p:cNvSpPr>
            <a:spLocks noGrp="1"/>
          </p:cNvSpPr>
          <p:nvPr>
            <p:ph type="sldNum" sz="quarter" idx="12"/>
          </p:nvPr>
        </p:nvSpPr>
        <p:spPr/>
        <p:txBody>
          <a:bodyPr/>
          <a:lstStyle/>
          <a:p>
            <a:fld id="{EF79ADEA-B933-47CC-A4E9-04E6298B917C}" type="slidenum">
              <a:rPr lang="en-US" smtClean="0"/>
              <a:pPr/>
              <a:t>7</a:t>
            </a:fld>
            <a:endParaRPr lang="en-US"/>
          </a:p>
        </p:txBody>
      </p:sp>
      <p:pic>
        <p:nvPicPr>
          <p:cNvPr id="11" name="Graphic 10">
            <a:extLst>
              <a:ext uri="{FF2B5EF4-FFF2-40B4-BE49-F238E27FC236}">
                <a16:creationId xmlns:a16="http://schemas.microsoft.com/office/drawing/2014/main" id="{4100A633-F8F2-E59B-7BE8-C5F21118AEF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9144" y="279550"/>
            <a:ext cx="694459" cy="555568"/>
          </a:xfrm>
          <a:prstGeom prst="rect">
            <a:avLst/>
          </a:prstGeom>
        </p:spPr>
      </p:pic>
      <p:sp>
        <p:nvSpPr>
          <p:cNvPr id="16" name="TextBox 15">
            <a:extLst>
              <a:ext uri="{FF2B5EF4-FFF2-40B4-BE49-F238E27FC236}">
                <a16:creationId xmlns:a16="http://schemas.microsoft.com/office/drawing/2014/main" id="{8FA08EE9-A1C8-13B0-D6B0-E8AD7454C69E}"/>
              </a:ext>
            </a:extLst>
          </p:cNvPr>
          <p:cNvSpPr txBox="1"/>
          <p:nvPr/>
        </p:nvSpPr>
        <p:spPr>
          <a:xfrm>
            <a:off x="1474379" y="1846186"/>
            <a:ext cx="3960440" cy="707886"/>
          </a:xfrm>
          <a:prstGeom prst="rect">
            <a:avLst/>
          </a:prstGeom>
          <a:solidFill>
            <a:srgbClr val="F0D0D5"/>
          </a:solidFill>
        </p:spPr>
        <p:txBody>
          <a:bodyPr wrap="square" rtlCol="0">
            <a:spAutoFit/>
          </a:bodyPr>
          <a:lstStyle/>
          <a:p>
            <a:pPr algn="ctr"/>
            <a:r>
              <a:rPr lang="en-US" sz="2000" dirty="0"/>
              <a:t>A map between color names and RGB values? </a:t>
            </a:r>
            <a:endParaRPr lang="en-CH" sz="2000" dirty="0"/>
          </a:p>
        </p:txBody>
      </p:sp>
      <p:pic>
        <p:nvPicPr>
          <p:cNvPr id="3" name="Picture 2" descr="PANTONE® USA | Pantone Color of the Year 2022 / Palette Exploration">
            <a:extLst>
              <a:ext uri="{FF2B5EF4-FFF2-40B4-BE49-F238E27FC236}">
                <a16:creationId xmlns:a16="http://schemas.microsoft.com/office/drawing/2014/main" id="{F0C06A53-B43D-6C0F-5313-2B2161A9C1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1464" y="2820799"/>
            <a:ext cx="4366270" cy="2943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656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8DFBD88-A407-BCCE-86D5-035B157D4265}"/>
              </a:ext>
            </a:extLst>
          </p:cNvPr>
          <p:cNvSpPr/>
          <p:nvPr/>
        </p:nvSpPr>
        <p:spPr>
          <a:xfrm>
            <a:off x="11052383" y="205950"/>
            <a:ext cx="827981" cy="702769"/>
          </a:xfrm>
          <a:prstGeom prst="rect">
            <a:avLst/>
          </a:prstGeom>
          <a:solidFill>
            <a:schemeClr val="accent6">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latin typeface="Courier New" panose="02070309020205020404" pitchFamily="49" charset="0"/>
              <a:cs typeface="Courier New" panose="02070309020205020404" pitchFamily="49" charset="0"/>
            </a:endParaRPr>
          </a:p>
        </p:txBody>
      </p:sp>
      <p:sp>
        <p:nvSpPr>
          <p:cNvPr id="17" name="Title 3">
            <a:extLst>
              <a:ext uri="{FF2B5EF4-FFF2-40B4-BE49-F238E27FC236}">
                <a16:creationId xmlns:a16="http://schemas.microsoft.com/office/drawing/2014/main" id="{0082FB03-B5BF-D4F7-5592-04D6D43828A1}"/>
              </a:ext>
            </a:extLst>
          </p:cNvPr>
          <p:cNvSpPr>
            <a:spLocks noGrp="1"/>
          </p:cNvSpPr>
          <p:nvPr>
            <p:ph type="title"/>
          </p:nvPr>
        </p:nvSpPr>
        <p:spPr/>
        <p:txBody>
          <a:bodyPr>
            <a:normAutofit fontScale="90000"/>
          </a:bodyPr>
          <a:lstStyle/>
          <a:p>
            <a:r>
              <a:rPr lang="en-US" b="1" dirty="0"/>
              <a:t>Hands-on</a:t>
            </a:r>
            <a:br>
              <a:rPr lang="en-US" b="1" dirty="0"/>
            </a:br>
            <a:r>
              <a:rPr lang="en-US" sz="3600" dirty="0"/>
              <a:t>What data structure would you use to represent…</a:t>
            </a:r>
            <a:endParaRPr lang="en-CH" sz="3600" dirty="0"/>
          </a:p>
        </p:txBody>
      </p:sp>
      <p:sp>
        <p:nvSpPr>
          <p:cNvPr id="4" name="Date Placeholder 3">
            <a:extLst>
              <a:ext uri="{FF2B5EF4-FFF2-40B4-BE49-F238E27FC236}">
                <a16:creationId xmlns:a16="http://schemas.microsoft.com/office/drawing/2014/main" id="{E8C84DEF-DCEF-7DAB-2DDF-ACBFCD4688DC}"/>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2C3C5D9D-450C-CD41-DC4B-A75684895E79}"/>
              </a:ext>
            </a:extLst>
          </p:cNvPr>
          <p:cNvSpPr>
            <a:spLocks noGrp="1"/>
          </p:cNvSpPr>
          <p:nvPr>
            <p:ph type="ftr" sz="quarter" idx="11"/>
          </p:nvPr>
        </p:nvSpPr>
        <p:spPr/>
        <p:txBody>
          <a:bodyPr/>
          <a:lstStyle/>
          <a:p>
            <a:r>
              <a:rPr lang="en-US"/>
              <a:t>Data, v3.0</a:t>
            </a:r>
            <a:endParaRPr lang="en-US" dirty="0"/>
          </a:p>
        </p:txBody>
      </p:sp>
      <p:sp>
        <p:nvSpPr>
          <p:cNvPr id="6" name="Slide Number Placeholder 5">
            <a:extLst>
              <a:ext uri="{FF2B5EF4-FFF2-40B4-BE49-F238E27FC236}">
                <a16:creationId xmlns:a16="http://schemas.microsoft.com/office/drawing/2014/main" id="{9F61D35E-DD39-AE70-A8D5-44192757D511}"/>
              </a:ext>
            </a:extLst>
          </p:cNvPr>
          <p:cNvSpPr>
            <a:spLocks noGrp="1"/>
          </p:cNvSpPr>
          <p:nvPr>
            <p:ph type="sldNum" sz="quarter" idx="12"/>
          </p:nvPr>
        </p:nvSpPr>
        <p:spPr/>
        <p:txBody>
          <a:bodyPr/>
          <a:lstStyle/>
          <a:p>
            <a:fld id="{EF79ADEA-B933-47CC-A4E9-04E6298B917C}" type="slidenum">
              <a:rPr lang="en-US" smtClean="0"/>
              <a:pPr/>
              <a:t>8</a:t>
            </a:fld>
            <a:endParaRPr lang="en-US"/>
          </a:p>
        </p:txBody>
      </p:sp>
      <p:pic>
        <p:nvPicPr>
          <p:cNvPr id="11" name="Graphic 10">
            <a:extLst>
              <a:ext uri="{FF2B5EF4-FFF2-40B4-BE49-F238E27FC236}">
                <a16:creationId xmlns:a16="http://schemas.microsoft.com/office/drawing/2014/main" id="{4100A633-F8F2-E59B-7BE8-C5F21118AEF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9144" y="279550"/>
            <a:ext cx="694459" cy="555568"/>
          </a:xfrm>
          <a:prstGeom prst="rect">
            <a:avLst/>
          </a:prstGeom>
        </p:spPr>
      </p:pic>
      <p:sp>
        <p:nvSpPr>
          <p:cNvPr id="16" name="TextBox 15">
            <a:extLst>
              <a:ext uri="{FF2B5EF4-FFF2-40B4-BE49-F238E27FC236}">
                <a16:creationId xmlns:a16="http://schemas.microsoft.com/office/drawing/2014/main" id="{8FA08EE9-A1C8-13B0-D6B0-E8AD7454C69E}"/>
              </a:ext>
            </a:extLst>
          </p:cNvPr>
          <p:cNvSpPr txBox="1"/>
          <p:nvPr/>
        </p:nvSpPr>
        <p:spPr>
          <a:xfrm>
            <a:off x="1474379" y="1846186"/>
            <a:ext cx="3960440" cy="707886"/>
          </a:xfrm>
          <a:prstGeom prst="rect">
            <a:avLst/>
          </a:prstGeom>
          <a:solidFill>
            <a:srgbClr val="F0D0D5"/>
          </a:solidFill>
        </p:spPr>
        <p:txBody>
          <a:bodyPr wrap="square" rtlCol="0">
            <a:spAutoFit/>
          </a:bodyPr>
          <a:lstStyle/>
          <a:p>
            <a:pPr algn="ctr"/>
            <a:r>
              <a:rPr lang="en-US" sz="2000" dirty="0"/>
              <a:t>A map between color names and RGB values? </a:t>
            </a:r>
            <a:endParaRPr lang="en-CH" sz="2000" dirty="0"/>
          </a:p>
        </p:txBody>
      </p:sp>
      <p:sp>
        <p:nvSpPr>
          <p:cNvPr id="20" name="TextBox 19">
            <a:extLst>
              <a:ext uri="{FF2B5EF4-FFF2-40B4-BE49-F238E27FC236}">
                <a16:creationId xmlns:a16="http://schemas.microsoft.com/office/drawing/2014/main" id="{CD933E50-6498-7AF2-901E-B9DFAACAAF4F}"/>
              </a:ext>
            </a:extLst>
          </p:cNvPr>
          <p:cNvSpPr txBox="1"/>
          <p:nvPr/>
        </p:nvSpPr>
        <p:spPr>
          <a:xfrm>
            <a:off x="7376450" y="1828691"/>
            <a:ext cx="2529222" cy="400110"/>
          </a:xfrm>
          <a:prstGeom prst="rect">
            <a:avLst/>
          </a:prstGeom>
          <a:solidFill>
            <a:schemeClr val="accent6">
              <a:lumMod val="20000"/>
              <a:lumOff val="80000"/>
            </a:schemeClr>
          </a:solidFill>
        </p:spPr>
        <p:txBody>
          <a:bodyPr wrap="square">
            <a:spAutoFit/>
          </a:bodyPr>
          <a:lstStyle/>
          <a:p>
            <a:pPr algn="ctr"/>
            <a:r>
              <a:rPr lang="en-US" sz="2000" dirty="0"/>
              <a:t>Dictionary</a:t>
            </a:r>
            <a:endParaRPr lang="en-CH" sz="1400" dirty="0"/>
          </a:p>
        </p:txBody>
      </p:sp>
      <p:pic>
        <p:nvPicPr>
          <p:cNvPr id="3" name="Picture 2" descr="PANTONE® USA | Pantone Color of the Year 2022 / Palette Exploration">
            <a:extLst>
              <a:ext uri="{FF2B5EF4-FFF2-40B4-BE49-F238E27FC236}">
                <a16:creationId xmlns:a16="http://schemas.microsoft.com/office/drawing/2014/main" id="{F0C06A53-B43D-6C0F-5313-2B2161A9C1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1464" y="2820799"/>
            <a:ext cx="4366270" cy="294355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6218BC3-3334-B4E5-E3FF-78034A0812B5}"/>
              </a:ext>
            </a:extLst>
          </p:cNvPr>
          <p:cNvSpPr txBox="1"/>
          <p:nvPr/>
        </p:nvSpPr>
        <p:spPr>
          <a:xfrm>
            <a:off x="6583661" y="2820799"/>
            <a:ext cx="4114800" cy="2031325"/>
          </a:xfrm>
          <a:prstGeom prst="rect">
            <a:avLst/>
          </a:prstGeom>
          <a:noFill/>
        </p:spPr>
        <p:txBody>
          <a:bodyPr wrap="square">
            <a:spAutoFit/>
          </a:bodyPr>
          <a:lstStyle/>
          <a:p>
            <a:r>
              <a:rPr lang="en-US" noProof="1">
                <a:latin typeface="Consolas" panose="020B0609020204030204" pitchFamily="49" charset="0"/>
                <a:cs typeface="Consolas" panose="020B0609020204030204" pitchFamily="49" charset="0"/>
              </a:rPr>
              <a:t>colors_hex = {</a:t>
            </a:r>
            <a:br>
              <a:rPr lang="en-US" noProof="1">
                <a:latin typeface="Consolas" panose="020B0609020204030204" pitchFamily="49" charset="0"/>
                <a:cs typeface="Consolas" panose="020B0609020204030204" pitchFamily="49" charset="0"/>
              </a:rPr>
            </a:br>
            <a:r>
              <a:rPr lang="en-US" noProof="1">
                <a:latin typeface="Consolas" panose="020B0609020204030204" pitchFamily="49" charset="0"/>
                <a:cs typeface="Consolas" panose="020B0609020204030204" pitchFamily="49" charset="0"/>
              </a:rPr>
              <a:t>   "tawny orange": "#CD5700", </a:t>
            </a:r>
          </a:p>
          <a:p>
            <a:r>
              <a:rPr lang="en-US" noProof="1">
                <a:latin typeface="Consolas" panose="020B0609020204030204" pitchFamily="49" charset="0"/>
                <a:cs typeface="Consolas" panose="020B0609020204030204" pitchFamily="49" charset="0"/>
              </a:rPr>
              <a:t>   "very peri": "#6667AB", </a:t>
            </a:r>
          </a:p>
          <a:p>
            <a:r>
              <a:rPr lang="en-US" noProof="1">
                <a:latin typeface="Consolas" panose="020B0609020204030204" pitchFamily="49" charset="0"/>
                <a:cs typeface="Consolas" panose="020B0609020204030204" pitchFamily="49" charset="0"/>
              </a:rPr>
              <a:t>   "iced coffee": "#C5A582”,</a:t>
            </a:r>
          </a:p>
          <a:p>
            <a:r>
              <a:rPr lang="en-US" noProof="1">
                <a:latin typeface="Consolas" panose="020B0609020204030204" pitchFamily="49" charset="0"/>
                <a:cs typeface="Consolas" panose="020B0609020204030204" pitchFamily="49" charset="0"/>
              </a:rPr>
              <a:t>   "pink flambé": "#DC4C8B”,</a:t>
            </a:r>
          </a:p>
          <a:p>
            <a:r>
              <a:rPr lang="en-US" noProof="1">
                <a:latin typeface="Consolas" panose="020B0609020204030204" pitchFamily="49" charset="0"/>
                <a:cs typeface="Consolas" panose="020B0609020204030204" pitchFamily="49" charset="0"/>
              </a:rPr>
              <a:t>   # …</a:t>
            </a:r>
          </a:p>
          <a:p>
            <a:r>
              <a:rPr lang="en-US" noProof="1">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647409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8DFBD88-A407-BCCE-86D5-035B157D4265}"/>
              </a:ext>
            </a:extLst>
          </p:cNvPr>
          <p:cNvSpPr/>
          <p:nvPr/>
        </p:nvSpPr>
        <p:spPr>
          <a:xfrm>
            <a:off x="11052383" y="205950"/>
            <a:ext cx="827981" cy="702769"/>
          </a:xfrm>
          <a:prstGeom prst="rect">
            <a:avLst/>
          </a:prstGeom>
          <a:solidFill>
            <a:schemeClr val="accent6">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latin typeface="Courier New" panose="02070309020205020404" pitchFamily="49" charset="0"/>
              <a:cs typeface="Courier New" panose="02070309020205020404" pitchFamily="49" charset="0"/>
            </a:endParaRPr>
          </a:p>
        </p:txBody>
      </p:sp>
      <p:sp>
        <p:nvSpPr>
          <p:cNvPr id="17" name="Title 3">
            <a:extLst>
              <a:ext uri="{FF2B5EF4-FFF2-40B4-BE49-F238E27FC236}">
                <a16:creationId xmlns:a16="http://schemas.microsoft.com/office/drawing/2014/main" id="{0082FB03-B5BF-D4F7-5592-04D6D43828A1}"/>
              </a:ext>
            </a:extLst>
          </p:cNvPr>
          <p:cNvSpPr>
            <a:spLocks noGrp="1"/>
          </p:cNvSpPr>
          <p:nvPr>
            <p:ph type="title"/>
          </p:nvPr>
        </p:nvSpPr>
        <p:spPr/>
        <p:txBody>
          <a:bodyPr>
            <a:normAutofit fontScale="90000"/>
          </a:bodyPr>
          <a:lstStyle/>
          <a:p>
            <a:r>
              <a:rPr lang="en-US" b="1" dirty="0"/>
              <a:t>Hands-on</a:t>
            </a:r>
            <a:br>
              <a:rPr lang="en-US" b="1" dirty="0"/>
            </a:br>
            <a:r>
              <a:rPr lang="en-US" sz="3600" dirty="0"/>
              <a:t>What data structure would you use to represent…</a:t>
            </a:r>
            <a:endParaRPr lang="en-CH" sz="3600" dirty="0"/>
          </a:p>
        </p:txBody>
      </p:sp>
      <p:sp>
        <p:nvSpPr>
          <p:cNvPr id="4" name="Date Placeholder 3">
            <a:extLst>
              <a:ext uri="{FF2B5EF4-FFF2-40B4-BE49-F238E27FC236}">
                <a16:creationId xmlns:a16="http://schemas.microsoft.com/office/drawing/2014/main" id="{E8C84DEF-DCEF-7DAB-2DDF-ACBFCD4688DC}"/>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2C3C5D9D-450C-CD41-DC4B-A75684895E79}"/>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9F61D35E-DD39-AE70-A8D5-44192757D511}"/>
              </a:ext>
            </a:extLst>
          </p:cNvPr>
          <p:cNvSpPr>
            <a:spLocks noGrp="1"/>
          </p:cNvSpPr>
          <p:nvPr>
            <p:ph type="sldNum" sz="quarter" idx="12"/>
          </p:nvPr>
        </p:nvSpPr>
        <p:spPr/>
        <p:txBody>
          <a:bodyPr/>
          <a:lstStyle/>
          <a:p>
            <a:fld id="{EF79ADEA-B933-47CC-A4E9-04E6298B917C}" type="slidenum">
              <a:rPr lang="en-US" smtClean="0"/>
              <a:pPr/>
              <a:t>9</a:t>
            </a:fld>
            <a:endParaRPr lang="en-US"/>
          </a:p>
        </p:txBody>
      </p:sp>
      <p:pic>
        <p:nvPicPr>
          <p:cNvPr id="11" name="Graphic 10">
            <a:extLst>
              <a:ext uri="{FF2B5EF4-FFF2-40B4-BE49-F238E27FC236}">
                <a16:creationId xmlns:a16="http://schemas.microsoft.com/office/drawing/2014/main" id="{4100A633-F8F2-E59B-7BE8-C5F21118AEF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9144" y="279550"/>
            <a:ext cx="694459" cy="555568"/>
          </a:xfrm>
          <a:prstGeom prst="rect">
            <a:avLst/>
          </a:prstGeom>
        </p:spPr>
      </p:pic>
      <p:sp>
        <p:nvSpPr>
          <p:cNvPr id="26" name="TextBox 25">
            <a:extLst>
              <a:ext uri="{FF2B5EF4-FFF2-40B4-BE49-F238E27FC236}">
                <a16:creationId xmlns:a16="http://schemas.microsoft.com/office/drawing/2014/main" id="{171D3103-EDD5-BFED-1F53-7E642923253A}"/>
              </a:ext>
            </a:extLst>
          </p:cNvPr>
          <p:cNvSpPr txBox="1"/>
          <p:nvPr/>
        </p:nvSpPr>
        <p:spPr>
          <a:xfrm>
            <a:off x="1585111" y="1886436"/>
            <a:ext cx="3681662" cy="400110"/>
          </a:xfrm>
          <a:prstGeom prst="rect">
            <a:avLst/>
          </a:prstGeom>
          <a:solidFill>
            <a:srgbClr val="F0D0D5"/>
          </a:solidFill>
        </p:spPr>
        <p:txBody>
          <a:bodyPr wrap="square" rtlCol="0">
            <a:spAutoFit/>
          </a:bodyPr>
          <a:lstStyle/>
          <a:p>
            <a:pPr algn="ctr"/>
            <a:r>
              <a:rPr lang="en-US" sz="2000" dirty="0"/>
              <a:t>Phone book entries?</a:t>
            </a:r>
            <a:endParaRPr lang="en-CH" sz="2000" dirty="0"/>
          </a:p>
        </p:txBody>
      </p:sp>
      <p:pic>
        <p:nvPicPr>
          <p:cNvPr id="27" name="Picture 2" descr="Local US telephone directory - Fonts In Use">
            <a:extLst>
              <a:ext uri="{FF2B5EF4-FFF2-40B4-BE49-F238E27FC236}">
                <a16:creationId xmlns:a16="http://schemas.microsoft.com/office/drawing/2014/main" id="{D5123390-ACB2-9891-CFF1-F217D2A0F5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23" t="44928" r="34134" b="27385"/>
          <a:stretch/>
        </p:blipFill>
        <p:spPr bwMode="auto">
          <a:xfrm>
            <a:off x="983432" y="2708920"/>
            <a:ext cx="4885020" cy="1528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053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8DFBD88-A407-BCCE-86D5-035B157D4265}"/>
              </a:ext>
            </a:extLst>
          </p:cNvPr>
          <p:cNvSpPr/>
          <p:nvPr/>
        </p:nvSpPr>
        <p:spPr>
          <a:xfrm>
            <a:off x="11052383" y="205950"/>
            <a:ext cx="827981" cy="702769"/>
          </a:xfrm>
          <a:prstGeom prst="rect">
            <a:avLst/>
          </a:prstGeom>
          <a:solidFill>
            <a:schemeClr val="accent6">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latin typeface="Courier New" panose="02070309020205020404" pitchFamily="49" charset="0"/>
              <a:cs typeface="Courier New" panose="02070309020205020404" pitchFamily="49" charset="0"/>
            </a:endParaRPr>
          </a:p>
        </p:txBody>
      </p:sp>
      <p:sp>
        <p:nvSpPr>
          <p:cNvPr id="17" name="Title 3">
            <a:extLst>
              <a:ext uri="{FF2B5EF4-FFF2-40B4-BE49-F238E27FC236}">
                <a16:creationId xmlns:a16="http://schemas.microsoft.com/office/drawing/2014/main" id="{0082FB03-B5BF-D4F7-5592-04D6D43828A1}"/>
              </a:ext>
            </a:extLst>
          </p:cNvPr>
          <p:cNvSpPr>
            <a:spLocks noGrp="1"/>
          </p:cNvSpPr>
          <p:nvPr>
            <p:ph type="title"/>
          </p:nvPr>
        </p:nvSpPr>
        <p:spPr/>
        <p:txBody>
          <a:bodyPr>
            <a:normAutofit fontScale="90000"/>
          </a:bodyPr>
          <a:lstStyle/>
          <a:p>
            <a:r>
              <a:rPr lang="en-US" b="1" dirty="0"/>
              <a:t>Hands-on</a:t>
            </a:r>
            <a:br>
              <a:rPr lang="en-US" b="1" dirty="0"/>
            </a:br>
            <a:r>
              <a:rPr lang="en-US" sz="3600" dirty="0"/>
              <a:t>What data structure would you use to represent…</a:t>
            </a:r>
            <a:endParaRPr lang="en-CH" sz="3600" dirty="0"/>
          </a:p>
        </p:txBody>
      </p:sp>
      <p:sp>
        <p:nvSpPr>
          <p:cNvPr id="4" name="Date Placeholder 3">
            <a:extLst>
              <a:ext uri="{FF2B5EF4-FFF2-40B4-BE49-F238E27FC236}">
                <a16:creationId xmlns:a16="http://schemas.microsoft.com/office/drawing/2014/main" id="{E8C84DEF-DCEF-7DAB-2DDF-ACBFCD4688DC}"/>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2C3C5D9D-450C-CD41-DC4B-A75684895E79}"/>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9F61D35E-DD39-AE70-A8D5-44192757D511}"/>
              </a:ext>
            </a:extLst>
          </p:cNvPr>
          <p:cNvSpPr>
            <a:spLocks noGrp="1"/>
          </p:cNvSpPr>
          <p:nvPr>
            <p:ph type="sldNum" sz="quarter" idx="12"/>
          </p:nvPr>
        </p:nvSpPr>
        <p:spPr/>
        <p:txBody>
          <a:bodyPr/>
          <a:lstStyle/>
          <a:p>
            <a:fld id="{EF79ADEA-B933-47CC-A4E9-04E6298B917C}" type="slidenum">
              <a:rPr lang="en-US" smtClean="0"/>
              <a:pPr/>
              <a:t>10</a:t>
            </a:fld>
            <a:endParaRPr lang="en-US"/>
          </a:p>
        </p:txBody>
      </p:sp>
      <p:pic>
        <p:nvPicPr>
          <p:cNvPr id="11" name="Graphic 10">
            <a:extLst>
              <a:ext uri="{FF2B5EF4-FFF2-40B4-BE49-F238E27FC236}">
                <a16:creationId xmlns:a16="http://schemas.microsoft.com/office/drawing/2014/main" id="{4100A633-F8F2-E59B-7BE8-C5F21118AEF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9144" y="279550"/>
            <a:ext cx="694459" cy="555568"/>
          </a:xfrm>
          <a:prstGeom prst="rect">
            <a:avLst/>
          </a:prstGeom>
        </p:spPr>
      </p:pic>
      <p:sp>
        <p:nvSpPr>
          <p:cNvPr id="24" name="TextBox 23">
            <a:extLst>
              <a:ext uri="{FF2B5EF4-FFF2-40B4-BE49-F238E27FC236}">
                <a16:creationId xmlns:a16="http://schemas.microsoft.com/office/drawing/2014/main" id="{13610419-F7FB-35C8-B4AA-30A8C342C763}"/>
              </a:ext>
            </a:extLst>
          </p:cNvPr>
          <p:cNvSpPr txBox="1"/>
          <p:nvPr/>
        </p:nvSpPr>
        <p:spPr>
          <a:xfrm>
            <a:off x="7752183" y="1886436"/>
            <a:ext cx="2461055" cy="400110"/>
          </a:xfrm>
          <a:prstGeom prst="rect">
            <a:avLst/>
          </a:prstGeom>
          <a:solidFill>
            <a:schemeClr val="accent6">
              <a:lumMod val="20000"/>
              <a:lumOff val="80000"/>
            </a:schemeClr>
          </a:solidFill>
        </p:spPr>
        <p:txBody>
          <a:bodyPr wrap="square">
            <a:spAutoFit/>
          </a:bodyPr>
          <a:lstStyle/>
          <a:p>
            <a:pPr algn="ctr"/>
            <a:r>
              <a:rPr lang="en-US" sz="2000" dirty="0"/>
              <a:t>Pandas </a:t>
            </a:r>
            <a:r>
              <a:rPr lang="en-US" sz="2000" dirty="0" err="1"/>
              <a:t>DataFrame</a:t>
            </a:r>
            <a:endParaRPr lang="en-CH" sz="1400" dirty="0"/>
          </a:p>
        </p:txBody>
      </p:sp>
      <p:sp>
        <p:nvSpPr>
          <p:cNvPr id="26" name="TextBox 25">
            <a:extLst>
              <a:ext uri="{FF2B5EF4-FFF2-40B4-BE49-F238E27FC236}">
                <a16:creationId xmlns:a16="http://schemas.microsoft.com/office/drawing/2014/main" id="{171D3103-EDD5-BFED-1F53-7E642923253A}"/>
              </a:ext>
            </a:extLst>
          </p:cNvPr>
          <p:cNvSpPr txBox="1"/>
          <p:nvPr/>
        </p:nvSpPr>
        <p:spPr>
          <a:xfrm>
            <a:off x="1585111" y="1886436"/>
            <a:ext cx="3681662" cy="400110"/>
          </a:xfrm>
          <a:prstGeom prst="rect">
            <a:avLst/>
          </a:prstGeom>
          <a:solidFill>
            <a:srgbClr val="F0D0D5"/>
          </a:solidFill>
        </p:spPr>
        <p:txBody>
          <a:bodyPr wrap="square" rtlCol="0">
            <a:spAutoFit/>
          </a:bodyPr>
          <a:lstStyle/>
          <a:p>
            <a:pPr algn="ctr"/>
            <a:r>
              <a:rPr lang="en-US" sz="2000" dirty="0"/>
              <a:t>Phone book entries?</a:t>
            </a:r>
            <a:endParaRPr lang="en-CH" sz="2000" dirty="0"/>
          </a:p>
        </p:txBody>
      </p:sp>
      <p:pic>
        <p:nvPicPr>
          <p:cNvPr id="27" name="Picture 2" descr="Local US telephone directory - Fonts In Use">
            <a:extLst>
              <a:ext uri="{FF2B5EF4-FFF2-40B4-BE49-F238E27FC236}">
                <a16:creationId xmlns:a16="http://schemas.microsoft.com/office/drawing/2014/main" id="{D5123390-ACB2-9891-CFF1-F217D2A0F5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23" t="44928" r="34134" b="27385"/>
          <a:stretch/>
        </p:blipFill>
        <p:spPr bwMode="auto">
          <a:xfrm>
            <a:off x="983432" y="2708920"/>
            <a:ext cx="4885020" cy="152895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0E5F60C-AF66-905E-B474-1AD414558378}"/>
              </a:ext>
            </a:extLst>
          </p:cNvPr>
          <p:cNvPicPr>
            <a:picLocks noChangeAspect="1"/>
          </p:cNvPicPr>
          <p:nvPr/>
        </p:nvPicPr>
        <p:blipFill>
          <a:blip r:embed="rId4"/>
          <a:stretch>
            <a:fillRect/>
          </a:stretch>
        </p:blipFill>
        <p:spPr>
          <a:xfrm>
            <a:off x="6540201" y="2472850"/>
            <a:ext cx="4885020" cy="2001093"/>
          </a:xfrm>
          <a:prstGeom prst="rect">
            <a:avLst/>
          </a:prstGeom>
        </p:spPr>
      </p:pic>
    </p:spTree>
    <p:extLst>
      <p:ext uri="{BB962C8B-B14F-4D97-AF65-F5344CB8AC3E}">
        <p14:creationId xmlns:p14="http://schemas.microsoft.com/office/powerpoint/2010/main" val="2208310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8DFBD88-A407-BCCE-86D5-035B157D4265}"/>
              </a:ext>
            </a:extLst>
          </p:cNvPr>
          <p:cNvSpPr/>
          <p:nvPr/>
        </p:nvSpPr>
        <p:spPr>
          <a:xfrm>
            <a:off x="11052383" y="205950"/>
            <a:ext cx="827981" cy="702769"/>
          </a:xfrm>
          <a:prstGeom prst="rect">
            <a:avLst/>
          </a:prstGeom>
          <a:solidFill>
            <a:schemeClr val="accent6">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latin typeface="Courier New" panose="02070309020205020404" pitchFamily="49" charset="0"/>
              <a:cs typeface="Courier New" panose="02070309020205020404" pitchFamily="49" charset="0"/>
            </a:endParaRPr>
          </a:p>
        </p:txBody>
      </p:sp>
      <p:sp>
        <p:nvSpPr>
          <p:cNvPr id="17" name="Title 3">
            <a:extLst>
              <a:ext uri="{FF2B5EF4-FFF2-40B4-BE49-F238E27FC236}">
                <a16:creationId xmlns:a16="http://schemas.microsoft.com/office/drawing/2014/main" id="{0082FB03-B5BF-D4F7-5592-04D6D43828A1}"/>
              </a:ext>
            </a:extLst>
          </p:cNvPr>
          <p:cNvSpPr>
            <a:spLocks noGrp="1"/>
          </p:cNvSpPr>
          <p:nvPr>
            <p:ph type="title"/>
          </p:nvPr>
        </p:nvSpPr>
        <p:spPr/>
        <p:txBody>
          <a:bodyPr>
            <a:normAutofit fontScale="90000"/>
          </a:bodyPr>
          <a:lstStyle/>
          <a:p>
            <a:r>
              <a:rPr lang="en-US" b="1" dirty="0"/>
              <a:t>Hands-on</a:t>
            </a:r>
            <a:br>
              <a:rPr lang="en-US" b="1" dirty="0"/>
            </a:br>
            <a:r>
              <a:rPr lang="en-US" sz="3600" dirty="0"/>
              <a:t>What data structure would you use to represent…</a:t>
            </a:r>
            <a:endParaRPr lang="en-CH" sz="3600" dirty="0"/>
          </a:p>
        </p:txBody>
      </p:sp>
      <p:sp>
        <p:nvSpPr>
          <p:cNvPr id="4" name="Date Placeholder 3">
            <a:extLst>
              <a:ext uri="{FF2B5EF4-FFF2-40B4-BE49-F238E27FC236}">
                <a16:creationId xmlns:a16="http://schemas.microsoft.com/office/drawing/2014/main" id="{E8C84DEF-DCEF-7DAB-2DDF-ACBFCD4688DC}"/>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2C3C5D9D-450C-CD41-DC4B-A75684895E79}"/>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9F61D35E-DD39-AE70-A8D5-44192757D511}"/>
              </a:ext>
            </a:extLst>
          </p:cNvPr>
          <p:cNvSpPr>
            <a:spLocks noGrp="1"/>
          </p:cNvSpPr>
          <p:nvPr>
            <p:ph type="sldNum" sz="quarter" idx="12"/>
          </p:nvPr>
        </p:nvSpPr>
        <p:spPr/>
        <p:txBody>
          <a:bodyPr/>
          <a:lstStyle/>
          <a:p>
            <a:fld id="{EF79ADEA-B933-47CC-A4E9-04E6298B917C}" type="slidenum">
              <a:rPr lang="en-US" smtClean="0"/>
              <a:pPr/>
              <a:t>11</a:t>
            </a:fld>
            <a:endParaRPr lang="en-US"/>
          </a:p>
        </p:txBody>
      </p:sp>
      <p:pic>
        <p:nvPicPr>
          <p:cNvPr id="11" name="Graphic 10">
            <a:extLst>
              <a:ext uri="{FF2B5EF4-FFF2-40B4-BE49-F238E27FC236}">
                <a16:creationId xmlns:a16="http://schemas.microsoft.com/office/drawing/2014/main" id="{4100A633-F8F2-E59B-7BE8-C5F21118AEF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9144" y="279550"/>
            <a:ext cx="694459" cy="555568"/>
          </a:xfrm>
          <a:prstGeom prst="rect">
            <a:avLst/>
          </a:prstGeom>
        </p:spPr>
      </p:pic>
      <p:grpSp>
        <p:nvGrpSpPr>
          <p:cNvPr id="63" name="Group 62">
            <a:extLst>
              <a:ext uri="{FF2B5EF4-FFF2-40B4-BE49-F238E27FC236}">
                <a16:creationId xmlns:a16="http://schemas.microsoft.com/office/drawing/2014/main" id="{F5D280C4-15D0-1A23-0BE8-78C174B75831}"/>
              </a:ext>
            </a:extLst>
          </p:cNvPr>
          <p:cNvGrpSpPr/>
          <p:nvPr/>
        </p:nvGrpSpPr>
        <p:grpSpPr>
          <a:xfrm>
            <a:off x="1538289" y="2737705"/>
            <a:ext cx="2322314" cy="1843700"/>
            <a:chOff x="896055" y="1934422"/>
            <a:chExt cx="2322314" cy="1843700"/>
          </a:xfrm>
        </p:grpSpPr>
        <p:pic>
          <p:nvPicPr>
            <p:cNvPr id="22" name="Picture 21">
              <a:extLst>
                <a:ext uri="{FF2B5EF4-FFF2-40B4-BE49-F238E27FC236}">
                  <a16:creationId xmlns:a16="http://schemas.microsoft.com/office/drawing/2014/main" id="{40EABA42-504D-040F-2F4D-EAFCE2233D0E}"/>
                </a:ext>
              </a:extLst>
            </p:cNvPr>
            <p:cNvPicPr>
              <a:picLocks noChangeAspect="1"/>
            </p:cNvPicPr>
            <p:nvPr/>
          </p:nvPicPr>
          <p:blipFill>
            <a:blip r:embed="rId3"/>
            <a:stretch>
              <a:fillRect/>
            </a:stretch>
          </p:blipFill>
          <p:spPr>
            <a:xfrm>
              <a:off x="896055" y="2584517"/>
              <a:ext cx="557316" cy="569301"/>
            </a:xfrm>
            <a:prstGeom prst="rect">
              <a:avLst/>
            </a:prstGeom>
          </p:spPr>
        </p:pic>
        <p:pic>
          <p:nvPicPr>
            <p:cNvPr id="23" name="Picture 22">
              <a:extLst>
                <a:ext uri="{FF2B5EF4-FFF2-40B4-BE49-F238E27FC236}">
                  <a16:creationId xmlns:a16="http://schemas.microsoft.com/office/drawing/2014/main" id="{0065ABCE-CF01-1953-BF4E-607AF9C2B97C}"/>
                </a:ext>
              </a:extLst>
            </p:cNvPr>
            <p:cNvPicPr>
              <a:picLocks noChangeAspect="1"/>
            </p:cNvPicPr>
            <p:nvPr/>
          </p:nvPicPr>
          <p:blipFill>
            <a:blip r:embed="rId4"/>
            <a:stretch>
              <a:fillRect/>
            </a:stretch>
          </p:blipFill>
          <p:spPr>
            <a:xfrm>
              <a:off x="1703512" y="1934422"/>
              <a:ext cx="557316" cy="569432"/>
            </a:xfrm>
            <a:prstGeom prst="rect">
              <a:avLst/>
            </a:prstGeom>
          </p:spPr>
        </p:pic>
        <p:pic>
          <p:nvPicPr>
            <p:cNvPr id="24" name="Picture 23">
              <a:extLst>
                <a:ext uri="{FF2B5EF4-FFF2-40B4-BE49-F238E27FC236}">
                  <a16:creationId xmlns:a16="http://schemas.microsoft.com/office/drawing/2014/main" id="{729BB2E1-3FE2-F851-EF24-B07E9ACE5BC7}"/>
                </a:ext>
              </a:extLst>
            </p:cNvPr>
            <p:cNvPicPr>
              <a:picLocks noChangeAspect="1"/>
            </p:cNvPicPr>
            <p:nvPr/>
          </p:nvPicPr>
          <p:blipFill>
            <a:blip r:embed="rId5"/>
            <a:stretch>
              <a:fillRect/>
            </a:stretch>
          </p:blipFill>
          <p:spPr>
            <a:xfrm>
              <a:off x="1703512" y="3208690"/>
              <a:ext cx="557316" cy="569432"/>
            </a:xfrm>
            <a:prstGeom prst="rect">
              <a:avLst/>
            </a:prstGeom>
          </p:spPr>
        </p:pic>
        <p:pic>
          <p:nvPicPr>
            <p:cNvPr id="25" name="Picture 24">
              <a:extLst>
                <a:ext uri="{FF2B5EF4-FFF2-40B4-BE49-F238E27FC236}">
                  <a16:creationId xmlns:a16="http://schemas.microsoft.com/office/drawing/2014/main" id="{D16687D0-09B4-1C8B-C64E-8EB9BFE04517}"/>
                </a:ext>
              </a:extLst>
            </p:cNvPr>
            <p:cNvPicPr>
              <a:picLocks noChangeAspect="1"/>
            </p:cNvPicPr>
            <p:nvPr/>
          </p:nvPicPr>
          <p:blipFill>
            <a:blip r:embed="rId6"/>
            <a:stretch>
              <a:fillRect/>
            </a:stretch>
          </p:blipFill>
          <p:spPr>
            <a:xfrm>
              <a:off x="2653563" y="1990743"/>
              <a:ext cx="557568" cy="600458"/>
            </a:xfrm>
            <a:prstGeom prst="rect">
              <a:avLst/>
            </a:prstGeom>
          </p:spPr>
        </p:pic>
        <p:pic>
          <p:nvPicPr>
            <p:cNvPr id="27" name="Picture 26">
              <a:extLst>
                <a:ext uri="{FF2B5EF4-FFF2-40B4-BE49-F238E27FC236}">
                  <a16:creationId xmlns:a16="http://schemas.microsoft.com/office/drawing/2014/main" id="{5BA6A656-3C7C-1CB8-A483-EAEBF4A6A330}"/>
                </a:ext>
              </a:extLst>
            </p:cNvPr>
            <p:cNvPicPr>
              <a:picLocks noChangeAspect="1"/>
            </p:cNvPicPr>
            <p:nvPr/>
          </p:nvPicPr>
          <p:blipFill>
            <a:blip r:embed="rId7"/>
            <a:stretch>
              <a:fillRect/>
            </a:stretch>
          </p:blipFill>
          <p:spPr>
            <a:xfrm>
              <a:off x="2661052" y="2879977"/>
              <a:ext cx="557317" cy="613049"/>
            </a:xfrm>
            <a:prstGeom prst="rect">
              <a:avLst/>
            </a:prstGeom>
          </p:spPr>
        </p:pic>
        <p:cxnSp>
          <p:nvCxnSpPr>
            <p:cNvPr id="30" name="Straight Arrow Connector 29">
              <a:extLst>
                <a:ext uri="{FF2B5EF4-FFF2-40B4-BE49-F238E27FC236}">
                  <a16:creationId xmlns:a16="http://schemas.microsoft.com/office/drawing/2014/main" id="{ABCDD4EB-5B91-1C44-FF95-142778105BAD}"/>
                </a:ext>
              </a:extLst>
            </p:cNvPr>
            <p:cNvCxnSpPr>
              <a:cxnSpLocks/>
            </p:cNvCxnSpPr>
            <p:nvPr/>
          </p:nvCxnSpPr>
          <p:spPr>
            <a:xfrm flipV="1">
              <a:off x="1353185" y="2342543"/>
              <a:ext cx="350327" cy="3377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89413D4-7EAC-CB5E-EBFB-541E71358E95}"/>
                </a:ext>
              </a:extLst>
            </p:cNvPr>
            <p:cNvCxnSpPr>
              <a:cxnSpLocks/>
            </p:cNvCxnSpPr>
            <p:nvPr/>
          </p:nvCxnSpPr>
          <p:spPr>
            <a:xfrm>
              <a:off x="1403278" y="3025161"/>
              <a:ext cx="372242" cy="2802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4A8E8F9-86B0-DC4A-939F-F4015001F599}"/>
                </a:ext>
              </a:extLst>
            </p:cNvPr>
            <p:cNvCxnSpPr>
              <a:cxnSpLocks/>
              <a:stCxn id="23" idx="2"/>
              <a:endCxn id="24" idx="0"/>
            </p:cNvCxnSpPr>
            <p:nvPr/>
          </p:nvCxnSpPr>
          <p:spPr>
            <a:xfrm>
              <a:off x="1982170" y="2503854"/>
              <a:ext cx="0" cy="7048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678F6202-5B2A-8CB4-BFB1-118AEE6337CE}"/>
                </a:ext>
              </a:extLst>
            </p:cNvPr>
            <p:cNvCxnSpPr>
              <a:cxnSpLocks/>
              <a:endCxn id="25" idx="1"/>
            </p:cNvCxnSpPr>
            <p:nvPr/>
          </p:nvCxnSpPr>
          <p:spPr>
            <a:xfrm>
              <a:off x="2260828" y="2219138"/>
              <a:ext cx="392735" cy="718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2AE2E09-644E-5139-806A-4906C5922DE4}"/>
                </a:ext>
              </a:extLst>
            </p:cNvPr>
            <p:cNvCxnSpPr>
              <a:cxnSpLocks/>
              <a:endCxn id="27" idx="1"/>
            </p:cNvCxnSpPr>
            <p:nvPr/>
          </p:nvCxnSpPr>
          <p:spPr>
            <a:xfrm flipV="1">
              <a:off x="2256095" y="3186502"/>
              <a:ext cx="404957" cy="30652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FA255DA8-EA99-1B72-FFCA-2854B161529D}"/>
                </a:ext>
              </a:extLst>
            </p:cNvPr>
            <p:cNvCxnSpPr>
              <a:cxnSpLocks/>
              <a:stCxn id="27" idx="0"/>
              <a:endCxn id="25" idx="2"/>
            </p:cNvCxnSpPr>
            <p:nvPr/>
          </p:nvCxnSpPr>
          <p:spPr>
            <a:xfrm flipH="1" flipV="1">
              <a:off x="2932347" y="2591201"/>
              <a:ext cx="7364" cy="28877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6" name="TextBox 55">
            <a:extLst>
              <a:ext uri="{FF2B5EF4-FFF2-40B4-BE49-F238E27FC236}">
                <a16:creationId xmlns:a16="http://schemas.microsoft.com/office/drawing/2014/main" id="{5DBF2BB3-DE17-A327-0B6B-0A32211A3414}"/>
              </a:ext>
            </a:extLst>
          </p:cNvPr>
          <p:cNvSpPr txBox="1"/>
          <p:nvPr/>
        </p:nvSpPr>
        <p:spPr>
          <a:xfrm>
            <a:off x="1387734" y="1907458"/>
            <a:ext cx="2473339" cy="400110"/>
          </a:xfrm>
          <a:prstGeom prst="rect">
            <a:avLst/>
          </a:prstGeom>
          <a:solidFill>
            <a:srgbClr val="F0D0D5"/>
          </a:solidFill>
        </p:spPr>
        <p:txBody>
          <a:bodyPr wrap="square" rtlCol="0">
            <a:spAutoFit/>
          </a:bodyPr>
          <a:lstStyle/>
          <a:p>
            <a:pPr algn="ctr"/>
            <a:r>
              <a:rPr lang="en-US" sz="2000" dirty="0"/>
              <a:t>Friendship relations?</a:t>
            </a:r>
            <a:endParaRPr lang="en-CH" sz="2000" dirty="0"/>
          </a:p>
        </p:txBody>
      </p:sp>
    </p:spTree>
    <p:extLst>
      <p:ext uri="{BB962C8B-B14F-4D97-AF65-F5344CB8AC3E}">
        <p14:creationId xmlns:p14="http://schemas.microsoft.com/office/powerpoint/2010/main" val="185475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8DFBD88-A407-BCCE-86D5-035B157D4265}"/>
              </a:ext>
            </a:extLst>
          </p:cNvPr>
          <p:cNvSpPr/>
          <p:nvPr/>
        </p:nvSpPr>
        <p:spPr>
          <a:xfrm>
            <a:off x="11052383" y="205950"/>
            <a:ext cx="827981" cy="702769"/>
          </a:xfrm>
          <a:prstGeom prst="rect">
            <a:avLst/>
          </a:prstGeom>
          <a:solidFill>
            <a:schemeClr val="accent6">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latin typeface="Courier New" panose="02070309020205020404" pitchFamily="49" charset="0"/>
              <a:cs typeface="Courier New" panose="02070309020205020404" pitchFamily="49" charset="0"/>
            </a:endParaRPr>
          </a:p>
        </p:txBody>
      </p:sp>
      <p:sp>
        <p:nvSpPr>
          <p:cNvPr id="17" name="Title 3">
            <a:extLst>
              <a:ext uri="{FF2B5EF4-FFF2-40B4-BE49-F238E27FC236}">
                <a16:creationId xmlns:a16="http://schemas.microsoft.com/office/drawing/2014/main" id="{0082FB03-B5BF-D4F7-5592-04D6D43828A1}"/>
              </a:ext>
            </a:extLst>
          </p:cNvPr>
          <p:cNvSpPr>
            <a:spLocks noGrp="1"/>
          </p:cNvSpPr>
          <p:nvPr>
            <p:ph type="title"/>
          </p:nvPr>
        </p:nvSpPr>
        <p:spPr/>
        <p:txBody>
          <a:bodyPr>
            <a:normAutofit fontScale="90000"/>
          </a:bodyPr>
          <a:lstStyle/>
          <a:p>
            <a:r>
              <a:rPr lang="en-US" b="1" dirty="0"/>
              <a:t>Hands-on</a:t>
            </a:r>
            <a:br>
              <a:rPr lang="en-US" b="1" dirty="0"/>
            </a:br>
            <a:r>
              <a:rPr lang="en-US" sz="3600" dirty="0"/>
              <a:t>What data structure would you use to represent…</a:t>
            </a:r>
            <a:endParaRPr lang="en-CH" sz="3600" dirty="0"/>
          </a:p>
        </p:txBody>
      </p:sp>
      <p:sp>
        <p:nvSpPr>
          <p:cNvPr id="4" name="Date Placeholder 3">
            <a:extLst>
              <a:ext uri="{FF2B5EF4-FFF2-40B4-BE49-F238E27FC236}">
                <a16:creationId xmlns:a16="http://schemas.microsoft.com/office/drawing/2014/main" id="{E8C84DEF-DCEF-7DAB-2DDF-ACBFCD4688DC}"/>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2C3C5D9D-450C-CD41-DC4B-A75684895E79}"/>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9F61D35E-DD39-AE70-A8D5-44192757D511}"/>
              </a:ext>
            </a:extLst>
          </p:cNvPr>
          <p:cNvSpPr>
            <a:spLocks noGrp="1"/>
          </p:cNvSpPr>
          <p:nvPr>
            <p:ph type="sldNum" sz="quarter" idx="12"/>
          </p:nvPr>
        </p:nvSpPr>
        <p:spPr/>
        <p:txBody>
          <a:bodyPr/>
          <a:lstStyle/>
          <a:p>
            <a:fld id="{EF79ADEA-B933-47CC-A4E9-04E6298B917C}" type="slidenum">
              <a:rPr lang="en-US" smtClean="0"/>
              <a:pPr/>
              <a:t>12</a:t>
            </a:fld>
            <a:endParaRPr lang="en-US"/>
          </a:p>
        </p:txBody>
      </p:sp>
      <p:pic>
        <p:nvPicPr>
          <p:cNvPr id="11" name="Graphic 10">
            <a:extLst>
              <a:ext uri="{FF2B5EF4-FFF2-40B4-BE49-F238E27FC236}">
                <a16:creationId xmlns:a16="http://schemas.microsoft.com/office/drawing/2014/main" id="{4100A633-F8F2-E59B-7BE8-C5F21118AEF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9144" y="279550"/>
            <a:ext cx="694459" cy="555568"/>
          </a:xfrm>
          <a:prstGeom prst="rect">
            <a:avLst/>
          </a:prstGeom>
        </p:spPr>
      </p:pic>
      <p:grpSp>
        <p:nvGrpSpPr>
          <p:cNvPr id="10" name="Group 9">
            <a:extLst>
              <a:ext uri="{FF2B5EF4-FFF2-40B4-BE49-F238E27FC236}">
                <a16:creationId xmlns:a16="http://schemas.microsoft.com/office/drawing/2014/main" id="{1A709E09-F4F0-1EA7-3D17-131521DB0BEC}"/>
              </a:ext>
            </a:extLst>
          </p:cNvPr>
          <p:cNvGrpSpPr/>
          <p:nvPr/>
        </p:nvGrpSpPr>
        <p:grpSpPr>
          <a:xfrm>
            <a:off x="8841002" y="1646570"/>
            <a:ext cx="2263552" cy="2445133"/>
            <a:chOff x="3125712" y="1331713"/>
            <a:chExt cx="2263552" cy="2445133"/>
          </a:xfrm>
        </p:grpSpPr>
        <p:pic>
          <p:nvPicPr>
            <p:cNvPr id="15" name="Picture 4" descr="Graphs and Trees">
              <a:extLst>
                <a:ext uri="{FF2B5EF4-FFF2-40B4-BE49-F238E27FC236}">
                  <a16:creationId xmlns:a16="http://schemas.microsoft.com/office/drawing/2014/main" id="{21E050BE-4CE8-CBD1-A7DC-DB3C719D13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2883" t="13312" r="3650" b="9432"/>
            <a:stretch/>
          </p:blipFill>
          <p:spPr bwMode="auto">
            <a:xfrm>
              <a:off x="3213372" y="1331713"/>
              <a:ext cx="2088232" cy="1774546"/>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DD54E6D7-5DFE-FBC8-C286-DFB5BA358B0F}"/>
                </a:ext>
              </a:extLst>
            </p:cNvPr>
            <p:cNvSpPr txBox="1"/>
            <p:nvPr/>
          </p:nvSpPr>
          <p:spPr>
            <a:xfrm>
              <a:off x="3125712" y="3068960"/>
              <a:ext cx="2263552" cy="707886"/>
            </a:xfrm>
            <a:prstGeom prst="rect">
              <a:avLst/>
            </a:prstGeom>
            <a:solidFill>
              <a:schemeClr val="accent4">
                <a:lumMod val="40000"/>
                <a:lumOff val="60000"/>
              </a:schemeClr>
            </a:solidFill>
          </p:spPr>
          <p:txBody>
            <a:bodyPr wrap="square">
              <a:spAutoFit/>
            </a:bodyPr>
            <a:lstStyle/>
            <a:p>
              <a:pPr algn="ctr"/>
              <a:r>
                <a:rPr lang="en-US" sz="2000" dirty="0"/>
                <a:t>Adjacency matrix (array)</a:t>
              </a:r>
              <a:endParaRPr lang="en-CH" sz="1400" dirty="0"/>
            </a:p>
          </p:txBody>
        </p:sp>
      </p:grpSp>
      <p:grpSp>
        <p:nvGrpSpPr>
          <p:cNvPr id="18" name="Group 17">
            <a:extLst>
              <a:ext uri="{FF2B5EF4-FFF2-40B4-BE49-F238E27FC236}">
                <a16:creationId xmlns:a16="http://schemas.microsoft.com/office/drawing/2014/main" id="{282FCE45-920A-A901-73BA-AB588EDA95CF}"/>
              </a:ext>
            </a:extLst>
          </p:cNvPr>
          <p:cNvGrpSpPr/>
          <p:nvPr/>
        </p:nvGrpSpPr>
        <p:grpSpPr>
          <a:xfrm>
            <a:off x="9293895" y="4329948"/>
            <a:ext cx="1334346" cy="2009511"/>
            <a:chOff x="8153400" y="1322067"/>
            <a:chExt cx="1334346" cy="2009511"/>
          </a:xfrm>
        </p:grpSpPr>
        <p:pic>
          <p:nvPicPr>
            <p:cNvPr id="19" name="Picture 18">
              <a:extLst>
                <a:ext uri="{FF2B5EF4-FFF2-40B4-BE49-F238E27FC236}">
                  <a16:creationId xmlns:a16="http://schemas.microsoft.com/office/drawing/2014/main" id="{46004093-E567-5794-6169-B0A869476794}"/>
                </a:ext>
              </a:extLst>
            </p:cNvPr>
            <p:cNvPicPr>
              <a:picLocks noChangeAspect="1"/>
            </p:cNvPicPr>
            <p:nvPr/>
          </p:nvPicPr>
          <p:blipFill>
            <a:blip r:embed="rId4"/>
            <a:stretch>
              <a:fillRect/>
            </a:stretch>
          </p:blipFill>
          <p:spPr>
            <a:xfrm>
              <a:off x="8153400" y="1322067"/>
              <a:ext cx="1334346" cy="1509918"/>
            </a:xfrm>
            <a:prstGeom prst="rect">
              <a:avLst/>
            </a:prstGeom>
          </p:spPr>
        </p:pic>
        <p:sp>
          <p:nvSpPr>
            <p:cNvPr id="20" name="TextBox 19">
              <a:extLst>
                <a:ext uri="{FF2B5EF4-FFF2-40B4-BE49-F238E27FC236}">
                  <a16:creationId xmlns:a16="http://schemas.microsoft.com/office/drawing/2014/main" id="{9AA187DE-3E67-222A-5AE7-A9FCDBA1B7E8}"/>
                </a:ext>
              </a:extLst>
            </p:cNvPr>
            <p:cNvSpPr txBox="1"/>
            <p:nvPr/>
          </p:nvSpPr>
          <p:spPr>
            <a:xfrm>
              <a:off x="8153400" y="2931468"/>
              <a:ext cx="1334346" cy="400110"/>
            </a:xfrm>
            <a:prstGeom prst="rect">
              <a:avLst/>
            </a:prstGeom>
            <a:solidFill>
              <a:schemeClr val="accent4">
                <a:lumMod val="40000"/>
                <a:lumOff val="60000"/>
              </a:schemeClr>
            </a:solidFill>
          </p:spPr>
          <p:txBody>
            <a:bodyPr wrap="square">
              <a:spAutoFit/>
            </a:bodyPr>
            <a:lstStyle/>
            <a:p>
              <a:pPr algn="ctr"/>
              <a:r>
                <a:rPr lang="en-US" sz="2000" dirty="0"/>
                <a:t>Dictionary</a:t>
              </a:r>
              <a:endParaRPr lang="en-CH" sz="1400" dirty="0"/>
            </a:p>
          </p:txBody>
        </p:sp>
      </p:grpSp>
      <p:sp>
        <p:nvSpPr>
          <p:cNvPr id="21" name="TextBox 20">
            <a:extLst>
              <a:ext uri="{FF2B5EF4-FFF2-40B4-BE49-F238E27FC236}">
                <a16:creationId xmlns:a16="http://schemas.microsoft.com/office/drawing/2014/main" id="{51F4795F-0E46-712F-0C93-84CFFAE65A2A}"/>
              </a:ext>
            </a:extLst>
          </p:cNvPr>
          <p:cNvSpPr txBox="1"/>
          <p:nvPr/>
        </p:nvSpPr>
        <p:spPr>
          <a:xfrm>
            <a:off x="9025715" y="1238015"/>
            <a:ext cx="1870705" cy="400110"/>
          </a:xfrm>
          <a:prstGeom prst="rect">
            <a:avLst/>
          </a:prstGeom>
          <a:noFill/>
        </p:spPr>
        <p:txBody>
          <a:bodyPr wrap="none" rtlCol="0">
            <a:spAutoFit/>
          </a:bodyPr>
          <a:lstStyle/>
          <a:p>
            <a:pPr algn="ctr"/>
            <a:r>
              <a:rPr lang="en-US" sz="2000" dirty="0"/>
              <a:t>Implemented as</a:t>
            </a:r>
          </a:p>
        </p:txBody>
      </p:sp>
      <p:pic>
        <p:nvPicPr>
          <p:cNvPr id="45" name="Picture 4" descr="Graphs and Trees">
            <a:extLst>
              <a:ext uri="{FF2B5EF4-FFF2-40B4-BE49-F238E27FC236}">
                <a16:creationId xmlns:a16="http://schemas.microsoft.com/office/drawing/2014/main" id="{9D7D42CD-F690-B9D9-DBF1-17DD44EF9E2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117"/>
          <a:stretch/>
        </p:blipFill>
        <p:spPr bwMode="auto">
          <a:xfrm>
            <a:off x="5303912" y="2530851"/>
            <a:ext cx="2268016" cy="2050554"/>
          </a:xfrm>
          <a:prstGeom prst="rect">
            <a:avLst/>
          </a:prstGeom>
          <a:noFill/>
          <a:extLst>
            <a:ext uri="{909E8E84-426E-40DD-AFC4-6F175D3DCCD1}">
              <a14:hiddenFill xmlns:a14="http://schemas.microsoft.com/office/drawing/2010/main">
                <a:solidFill>
                  <a:srgbClr val="FFFFFF"/>
                </a:solidFill>
              </a14:hiddenFill>
            </a:ext>
          </a:extLst>
        </p:spPr>
      </p:pic>
      <p:grpSp>
        <p:nvGrpSpPr>
          <p:cNvPr id="63" name="Group 62">
            <a:extLst>
              <a:ext uri="{FF2B5EF4-FFF2-40B4-BE49-F238E27FC236}">
                <a16:creationId xmlns:a16="http://schemas.microsoft.com/office/drawing/2014/main" id="{F5D280C4-15D0-1A23-0BE8-78C174B75831}"/>
              </a:ext>
            </a:extLst>
          </p:cNvPr>
          <p:cNvGrpSpPr/>
          <p:nvPr/>
        </p:nvGrpSpPr>
        <p:grpSpPr>
          <a:xfrm>
            <a:off x="1538289" y="2737705"/>
            <a:ext cx="2322314" cy="1843700"/>
            <a:chOff x="896055" y="1934422"/>
            <a:chExt cx="2322314" cy="1843700"/>
          </a:xfrm>
        </p:grpSpPr>
        <p:pic>
          <p:nvPicPr>
            <p:cNvPr id="22" name="Picture 21">
              <a:extLst>
                <a:ext uri="{FF2B5EF4-FFF2-40B4-BE49-F238E27FC236}">
                  <a16:creationId xmlns:a16="http://schemas.microsoft.com/office/drawing/2014/main" id="{40EABA42-504D-040F-2F4D-EAFCE2233D0E}"/>
                </a:ext>
              </a:extLst>
            </p:cNvPr>
            <p:cNvPicPr>
              <a:picLocks noChangeAspect="1"/>
            </p:cNvPicPr>
            <p:nvPr/>
          </p:nvPicPr>
          <p:blipFill>
            <a:blip r:embed="rId5"/>
            <a:stretch>
              <a:fillRect/>
            </a:stretch>
          </p:blipFill>
          <p:spPr>
            <a:xfrm>
              <a:off x="896055" y="2584517"/>
              <a:ext cx="557316" cy="569301"/>
            </a:xfrm>
            <a:prstGeom prst="rect">
              <a:avLst/>
            </a:prstGeom>
          </p:spPr>
        </p:pic>
        <p:pic>
          <p:nvPicPr>
            <p:cNvPr id="23" name="Picture 22">
              <a:extLst>
                <a:ext uri="{FF2B5EF4-FFF2-40B4-BE49-F238E27FC236}">
                  <a16:creationId xmlns:a16="http://schemas.microsoft.com/office/drawing/2014/main" id="{0065ABCE-CF01-1953-BF4E-607AF9C2B97C}"/>
                </a:ext>
              </a:extLst>
            </p:cNvPr>
            <p:cNvPicPr>
              <a:picLocks noChangeAspect="1"/>
            </p:cNvPicPr>
            <p:nvPr/>
          </p:nvPicPr>
          <p:blipFill>
            <a:blip r:embed="rId6"/>
            <a:stretch>
              <a:fillRect/>
            </a:stretch>
          </p:blipFill>
          <p:spPr>
            <a:xfrm>
              <a:off x="1703512" y="1934422"/>
              <a:ext cx="557316" cy="569432"/>
            </a:xfrm>
            <a:prstGeom prst="rect">
              <a:avLst/>
            </a:prstGeom>
          </p:spPr>
        </p:pic>
        <p:pic>
          <p:nvPicPr>
            <p:cNvPr id="24" name="Picture 23">
              <a:extLst>
                <a:ext uri="{FF2B5EF4-FFF2-40B4-BE49-F238E27FC236}">
                  <a16:creationId xmlns:a16="http://schemas.microsoft.com/office/drawing/2014/main" id="{729BB2E1-3FE2-F851-EF24-B07E9ACE5BC7}"/>
                </a:ext>
              </a:extLst>
            </p:cNvPr>
            <p:cNvPicPr>
              <a:picLocks noChangeAspect="1"/>
            </p:cNvPicPr>
            <p:nvPr/>
          </p:nvPicPr>
          <p:blipFill>
            <a:blip r:embed="rId7"/>
            <a:stretch>
              <a:fillRect/>
            </a:stretch>
          </p:blipFill>
          <p:spPr>
            <a:xfrm>
              <a:off x="1703512" y="3208690"/>
              <a:ext cx="557316" cy="569432"/>
            </a:xfrm>
            <a:prstGeom prst="rect">
              <a:avLst/>
            </a:prstGeom>
          </p:spPr>
        </p:pic>
        <p:pic>
          <p:nvPicPr>
            <p:cNvPr id="25" name="Picture 24">
              <a:extLst>
                <a:ext uri="{FF2B5EF4-FFF2-40B4-BE49-F238E27FC236}">
                  <a16:creationId xmlns:a16="http://schemas.microsoft.com/office/drawing/2014/main" id="{D16687D0-09B4-1C8B-C64E-8EB9BFE04517}"/>
                </a:ext>
              </a:extLst>
            </p:cNvPr>
            <p:cNvPicPr>
              <a:picLocks noChangeAspect="1"/>
            </p:cNvPicPr>
            <p:nvPr/>
          </p:nvPicPr>
          <p:blipFill>
            <a:blip r:embed="rId8"/>
            <a:stretch>
              <a:fillRect/>
            </a:stretch>
          </p:blipFill>
          <p:spPr>
            <a:xfrm>
              <a:off x="2653563" y="1990743"/>
              <a:ext cx="557568" cy="600458"/>
            </a:xfrm>
            <a:prstGeom prst="rect">
              <a:avLst/>
            </a:prstGeom>
          </p:spPr>
        </p:pic>
        <p:pic>
          <p:nvPicPr>
            <p:cNvPr id="27" name="Picture 26">
              <a:extLst>
                <a:ext uri="{FF2B5EF4-FFF2-40B4-BE49-F238E27FC236}">
                  <a16:creationId xmlns:a16="http://schemas.microsoft.com/office/drawing/2014/main" id="{5BA6A656-3C7C-1CB8-A483-EAEBF4A6A330}"/>
                </a:ext>
              </a:extLst>
            </p:cNvPr>
            <p:cNvPicPr>
              <a:picLocks noChangeAspect="1"/>
            </p:cNvPicPr>
            <p:nvPr/>
          </p:nvPicPr>
          <p:blipFill>
            <a:blip r:embed="rId9"/>
            <a:stretch>
              <a:fillRect/>
            </a:stretch>
          </p:blipFill>
          <p:spPr>
            <a:xfrm>
              <a:off x="2661052" y="2879977"/>
              <a:ext cx="557317" cy="613049"/>
            </a:xfrm>
            <a:prstGeom prst="rect">
              <a:avLst/>
            </a:prstGeom>
          </p:spPr>
        </p:pic>
        <p:cxnSp>
          <p:nvCxnSpPr>
            <p:cNvPr id="30" name="Straight Arrow Connector 29">
              <a:extLst>
                <a:ext uri="{FF2B5EF4-FFF2-40B4-BE49-F238E27FC236}">
                  <a16:creationId xmlns:a16="http://schemas.microsoft.com/office/drawing/2014/main" id="{ABCDD4EB-5B91-1C44-FF95-142778105BAD}"/>
                </a:ext>
              </a:extLst>
            </p:cNvPr>
            <p:cNvCxnSpPr>
              <a:cxnSpLocks/>
            </p:cNvCxnSpPr>
            <p:nvPr/>
          </p:nvCxnSpPr>
          <p:spPr>
            <a:xfrm flipV="1">
              <a:off x="1353185" y="2342543"/>
              <a:ext cx="350327" cy="3377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89413D4-7EAC-CB5E-EBFB-541E71358E95}"/>
                </a:ext>
              </a:extLst>
            </p:cNvPr>
            <p:cNvCxnSpPr>
              <a:cxnSpLocks/>
            </p:cNvCxnSpPr>
            <p:nvPr/>
          </p:nvCxnSpPr>
          <p:spPr>
            <a:xfrm>
              <a:off x="1403278" y="3025161"/>
              <a:ext cx="372242" cy="2802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4A8E8F9-86B0-DC4A-939F-F4015001F599}"/>
                </a:ext>
              </a:extLst>
            </p:cNvPr>
            <p:cNvCxnSpPr>
              <a:cxnSpLocks/>
              <a:stCxn id="23" idx="2"/>
              <a:endCxn id="24" idx="0"/>
            </p:cNvCxnSpPr>
            <p:nvPr/>
          </p:nvCxnSpPr>
          <p:spPr>
            <a:xfrm>
              <a:off x="1982170" y="2503854"/>
              <a:ext cx="0" cy="7048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678F6202-5B2A-8CB4-BFB1-118AEE6337CE}"/>
                </a:ext>
              </a:extLst>
            </p:cNvPr>
            <p:cNvCxnSpPr>
              <a:cxnSpLocks/>
              <a:endCxn id="25" idx="1"/>
            </p:cNvCxnSpPr>
            <p:nvPr/>
          </p:nvCxnSpPr>
          <p:spPr>
            <a:xfrm>
              <a:off x="2260828" y="2219138"/>
              <a:ext cx="392735" cy="718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2AE2E09-644E-5139-806A-4906C5922DE4}"/>
                </a:ext>
              </a:extLst>
            </p:cNvPr>
            <p:cNvCxnSpPr>
              <a:cxnSpLocks/>
              <a:endCxn id="27" idx="1"/>
            </p:cNvCxnSpPr>
            <p:nvPr/>
          </p:nvCxnSpPr>
          <p:spPr>
            <a:xfrm flipV="1">
              <a:off x="2256095" y="3186502"/>
              <a:ext cx="404957" cy="30652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FA255DA8-EA99-1B72-FFCA-2854B161529D}"/>
                </a:ext>
              </a:extLst>
            </p:cNvPr>
            <p:cNvCxnSpPr>
              <a:cxnSpLocks/>
              <a:stCxn id="27" idx="0"/>
              <a:endCxn id="25" idx="2"/>
            </p:cNvCxnSpPr>
            <p:nvPr/>
          </p:nvCxnSpPr>
          <p:spPr>
            <a:xfrm flipH="1" flipV="1">
              <a:off x="2932347" y="2591201"/>
              <a:ext cx="7364" cy="28877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6" name="TextBox 55">
            <a:extLst>
              <a:ext uri="{FF2B5EF4-FFF2-40B4-BE49-F238E27FC236}">
                <a16:creationId xmlns:a16="http://schemas.microsoft.com/office/drawing/2014/main" id="{5DBF2BB3-DE17-A327-0B6B-0A32211A3414}"/>
              </a:ext>
            </a:extLst>
          </p:cNvPr>
          <p:cNvSpPr txBox="1"/>
          <p:nvPr/>
        </p:nvSpPr>
        <p:spPr>
          <a:xfrm>
            <a:off x="1387734" y="1907458"/>
            <a:ext cx="2473339" cy="400110"/>
          </a:xfrm>
          <a:prstGeom prst="rect">
            <a:avLst/>
          </a:prstGeom>
          <a:solidFill>
            <a:srgbClr val="F0D0D5"/>
          </a:solidFill>
        </p:spPr>
        <p:txBody>
          <a:bodyPr wrap="square" rtlCol="0">
            <a:spAutoFit/>
          </a:bodyPr>
          <a:lstStyle/>
          <a:p>
            <a:pPr algn="ctr"/>
            <a:r>
              <a:rPr lang="en-US" sz="2000" dirty="0"/>
              <a:t>Friendship relations?</a:t>
            </a:r>
            <a:endParaRPr lang="en-CH" sz="2000" dirty="0"/>
          </a:p>
        </p:txBody>
      </p:sp>
      <p:sp>
        <p:nvSpPr>
          <p:cNvPr id="4096" name="TextBox 4095">
            <a:extLst>
              <a:ext uri="{FF2B5EF4-FFF2-40B4-BE49-F238E27FC236}">
                <a16:creationId xmlns:a16="http://schemas.microsoft.com/office/drawing/2014/main" id="{4A3B416D-97FF-6574-C154-E6C622182AC5}"/>
              </a:ext>
            </a:extLst>
          </p:cNvPr>
          <p:cNvSpPr txBox="1"/>
          <p:nvPr/>
        </p:nvSpPr>
        <p:spPr>
          <a:xfrm>
            <a:off x="5303912" y="1867569"/>
            <a:ext cx="2461055" cy="400110"/>
          </a:xfrm>
          <a:prstGeom prst="rect">
            <a:avLst/>
          </a:prstGeom>
          <a:solidFill>
            <a:schemeClr val="accent6">
              <a:lumMod val="20000"/>
              <a:lumOff val="80000"/>
            </a:schemeClr>
          </a:solidFill>
        </p:spPr>
        <p:txBody>
          <a:bodyPr wrap="square">
            <a:spAutoFit/>
          </a:bodyPr>
          <a:lstStyle/>
          <a:p>
            <a:pPr algn="ctr"/>
            <a:r>
              <a:rPr lang="en-US" sz="2000" dirty="0"/>
              <a:t>Graph</a:t>
            </a:r>
            <a:endParaRPr lang="en-CH" sz="1400" dirty="0"/>
          </a:p>
        </p:txBody>
      </p:sp>
    </p:spTree>
    <p:extLst>
      <p:ext uri="{BB962C8B-B14F-4D97-AF65-F5344CB8AC3E}">
        <p14:creationId xmlns:p14="http://schemas.microsoft.com/office/powerpoint/2010/main" val="2888128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F7877-5F5B-84D0-CEB7-C01C57A494FB}"/>
              </a:ext>
            </a:extLst>
          </p:cNvPr>
          <p:cNvSpPr>
            <a:spLocks noGrp="1"/>
          </p:cNvSpPr>
          <p:nvPr>
            <p:ph type="title"/>
          </p:nvPr>
        </p:nvSpPr>
        <p:spPr/>
        <p:txBody>
          <a:bodyPr>
            <a:noAutofit/>
          </a:bodyPr>
          <a:lstStyle/>
          <a:p>
            <a:r>
              <a:rPr lang="en-US" sz="3600" dirty="0"/>
              <a:t>You develop your code on a </a:t>
            </a:r>
            <a:r>
              <a:rPr lang="en-CH" sz="3600" dirty="0"/>
              <a:t>small data set, how is it going to scale to the complete data set?</a:t>
            </a:r>
            <a:r>
              <a:rPr lang="en-US" sz="3600" dirty="0"/>
              <a:t> </a:t>
            </a:r>
          </a:p>
        </p:txBody>
      </p:sp>
      <p:sp>
        <p:nvSpPr>
          <p:cNvPr id="4" name="Date Placeholder 3">
            <a:extLst>
              <a:ext uri="{FF2B5EF4-FFF2-40B4-BE49-F238E27FC236}">
                <a16:creationId xmlns:a16="http://schemas.microsoft.com/office/drawing/2014/main" id="{7E704AA7-E172-E202-BF28-C2A93195BF34}"/>
              </a:ext>
            </a:extLst>
          </p:cNvPr>
          <p:cNvSpPr>
            <a:spLocks noGrp="1"/>
          </p:cNvSpPr>
          <p:nvPr>
            <p:ph type="dt" sz="half" idx="10"/>
          </p:nvPr>
        </p:nvSpPr>
        <p:spPr/>
        <p:txBody>
          <a:bodyPr/>
          <a:lstStyle/>
          <a:p>
            <a:r>
              <a:rPr lang="de-CH"/>
              <a:t>July 2026, CC BY-SA 4.0</a:t>
            </a:r>
            <a:endParaRPr lang="en-US" dirty="0"/>
          </a:p>
        </p:txBody>
      </p:sp>
      <p:sp>
        <p:nvSpPr>
          <p:cNvPr id="5" name="Footer Placeholder 4">
            <a:extLst>
              <a:ext uri="{FF2B5EF4-FFF2-40B4-BE49-F238E27FC236}">
                <a16:creationId xmlns:a16="http://schemas.microsoft.com/office/drawing/2014/main" id="{D55C74D7-9954-B6EE-29AD-33296B345ECB}"/>
              </a:ext>
            </a:extLst>
          </p:cNvPr>
          <p:cNvSpPr>
            <a:spLocks noGrp="1"/>
          </p:cNvSpPr>
          <p:nvPr>
            <p:ph type="ftr" sz="quarter" idx="11"/>
          </p:nvPr>
        </p:nvSpPr>
        <p:spPr/>
        <p:txBody>
          <a:bodyPr/>
          <a:lstStyle/>
          <a:p>
            <a:r>
              <a:rPr lang="en-US"/>
              <a:t>Data, v3.0</a:t>
            </a:r>
            <a:endParaRPr lang="en-US" dirty="0"/>
          </a:p>
        </p:txBody>
      </p:sp>
      <p:sp>
        <p:nvSpPr>
          <p:cNvPr id="6" name="Slide Number Placeholder 5">
            <a:extLst>
              <a:ext uri="{FF2B5EF4-FFF2-40B4-BE49-F238E27FC236}">
                <a16:creationId xmlns:a16="http://schemas.microsoft.com/office/drawing/2014/main" id="{AFEE3AA8-4168-EDB7-48CB-5C264024277E}"/>
              </a:ext>
            </a:extLst>
          </p:cNvPr>
          <p:cNvSpPr>
            <a:spLocks noGrp="1"/>
          </p:cNvSpPr>
          <p:nvPr>
            <p:ph type="sldNum" sz="quarter" idx="12"/>
          </p:nvPr>
        </p:nvSpPr>
        <p:spPr/>
        <p:txBody>
          <a:bodyPr/>
          <a:lstStyle/>
          <a:p>
            <a:fld id="{EF79ADEA-B933-47CC-A4E9-04E6298B917C}" type="slidenum">
              <a:rPr lang="en-US" smtClean="0"/>
              <a:pPr/>
              <a:t>13</a:t>
            </a:fld>
            <a:endParaRPr lang="en-US"/>
          </a:p>
        </p:txBody>
      </p:sp>
      <p:graphicFrame>
        <p:nvGraphicFramePr>
          <p:cNvPr id="10" name="Table 9">
            <a:extLst>
              <a:ext uri="{FF2B5EF4-FFF2-40B4-BE49-F238E27FC236}">
                <a16:creationId xmlns:a16="http://schemas.microsoft.com/office/drawing/2014/main" id="{4192A762-AB0A-B599-3CFD-A8BED3E0955B}"/>
              </a:ext>
            </a:extLst>
          </p:cNvPr>
          <p:cNvGraphicFramePr>
            <a:graphicFrameLocks noGrp="1"/>
          </p:cNvGraphicFramePr>
          <p:nvPr>
            <p:extLst>
              <p:ext uri="{D42A27DB-BD31-4B8C-83A1-F6EECF244321}">
                <p14:modId xmlns:p14="http://schemas.microsoft.com/office/powerpoint/2010/main" val="2666301468"/>
              </p:ext>
            </p:extLst>
          </p:nvPr>
        </p:nvGraphicFramePr>
        <p:xfrm>
          <a:off x="2622162" y="2340969"/>
          <a:ext cx="899004" cy="907644"/>
        </p:xfrm>
        <a:graphic>
          <a:graphicData uri="http://schemas.openxmlformats.org/drawingml/2006/table">
            <a:tbl>
              <a:tblPr firstRow="1" bandRow="1">
                <a:tableStyleId>{5C22544A-7EE6-4342-B048-85BDC9FD1C3A}</a:tableStyleId>
              </a:tblPr>
              <a:tblGrid>
                <a:gridCol w="299668">
                  <a:extLst>
                    <a:ext uri="{9D8B030D-6E8A-4147-A177-3AD203B41FA5}">
                      <a16:colId xmlns:a16="http://schemas.microsoft.com/office/drawing/2014/main" val="271409997"/>
                    </a:ext>
                  </a:extLst>
                </a:gridCol>
                <a:gridCol w="299668">
                  <a:extLst>
                    <a:ext uri="{9D8B030D-6E8A-4147-A177-3AD203B41FA5}">
                      <a16:colId xmlns:a16="http://schemas.microsoft.com/office/drawing/2014/main" val="3628711874"/>
                    </a:ext>
                  </a:extLst>
                </a:gridCol>
                <a:gridCol w="299668">
                  <a:extLst>
                    <a:ext uri="{9D8B030D-6E8A-4147-A177-3AD203B41FA5}">
                      <a16:colId xmlns:a16="http://schemas.microsoft.com/office/drawing/2014/main" val="418691767"/>
                    </a:ext>
                  </a:extLst>
                </a:gridCol>
              </a:tblGrid>
              <a:tr h="301781">
                <a:tc>
                  <a:txBody>
                    <a:bodyPr/>
                    <a:lstStyle/>
                    <a:p>
                      <a:endParaRPr lang="en-CH" sz="1500" dirty="0"/>
                    </a:p>
                  </a:txBody>
                  <a:tcPr marL="73948" marR="73948" marT="36974" marB="36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3948" marR="73948" marT="36974" marB="36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3948" marR="73948" marT="36974" marB="36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796856282"/>
                  </a:ext>
                </a:extLst>
              </a:tr>
              <a:tr h="301781">
                <a:tc>
                  <a:txBody>
                    <a:bodyPr/>
                    <a:lstStyle/>
                    <a:p>
                      <a:endParaRPr lang="en-CH" sz="1500" dirty="0"/>
                    </a:p>
                  </a:txBody>
                  <a:tcPr marL="73948" marR="73948" marT="36974" marB="36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3948" marR="73948" marT="36974" marB="36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3948" marR="73948" marT="36974" marB="36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6687898"/>
                  </a:ext>
                </a:extLst>
              </a:tr>
              <a:tr h="301781">
                <a:tc>
                  <a:txBody>
                    <a:bodyPr/>
                    <a:lstStyle/>
                    <a:p>
                      <a:endParaRPr lang="en-CH" sz="1500"/>
                    </a:p>
                  </a:txBody>
                  <a:tcPr marL="73948" marR="73948" marT="36974" marB="36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3948" marR="73948" marT="36974" marB="36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3948" marR="73948" marT="36974" marB="36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960825043"/>
                  </a:ext>
                </a:extLst>
              </a:tr>
            </a:tbl>
          </a:graphicData>
        </a:graphic>
      </p:graphicFrame>
      <p:graphicFrame>
        <p:nvGraphicFramePr>
          <p:cNvPr id="11" name="Table 10">
            <a:extLst>
              <a:ext uri="{FF2B5EF4-FFF2-40B4-BE49-F238E27FC236}">
                <a16:creationId xmlns:a16="http://schemas.microsoft.com/office/drawing/2014/main" id="{27C1F86E-32F0-FD2D-643E-317A1CCBFC89}"/>
              </a:ext>
            </a:extLst>
          </p:cNvPr>
          <p:cNvGraphicFramePr>
            <a:graphicFrameLocks noGrp="1"/>
          </p:cNvGraphicFramePr>
          <p:nvPr>
            <p:extLst>
              <p:ext uri="{D42A27DB-BD31-4B8C-83A1-F6EECF244321}">
                <p14:modId xmlns:p14="http://schemas.microsoft.com/office/powerpoint/2010/main" val="1367180532"/>
              </p:ext>
            </p:extLst>
          </p:nvPr>
        </p:nvGraphicFramePr>
        <p:xfrm>
          <a:off x="6157048" y="2340969"/>
          <a:ext cx="4486419" cy="1793616"/>
        </p:xfrm>
        <a:graphic>
          <a:graphicData uri="http://schemas.openxmlformats.org/drawingml/2006/table">
            <a:tbl>
              <a:tblPr firstRow="1" bandRow="1">
                <a:tableStyleId>{5C22544A-7EE6-4342-B048-85BDC9FD1C3A}</a:tableStyleId>
              </a:tblPr>
              <a:tblGrid>
                <a:gridCol w="311003">
                  <a:extLst>
                    <a:ext uri="{9D8B030D-6E8A-4147-A177-3AD203B41FA5}">
                      <a16:colId xmlns:a16="http://schemas.microsoft.com/office/drawing/2014/main" val="271409997"/>
                    </a:ext>
                  </a:extLst>
                </a:gridCol>
                <a:gridCol w="298244">
                  <a:extLst>
                    <a:ext uri="{9D8B030D-6E8A-4147-A177-3AD203B41FA5}">
                      <a16:colId xmlns:a16="http://schemas.microsoft.com/office/drawing/2014/main" val="3628711874"/>
                    </a:ext>
                  </a:extLst>
                </a:gridCol>
                <a:gridCol w="298244">
                  <a:extLst>
                    <a:ext uri="{9D8B030D-6E8A-4147-A177-3AD203B41FA5}">
                      <a16:colId xmlns:a16="http://schemas.microsoft.com/office/drawing/2014/main" val="418691767"/>
                    </a:ext>
                  </a:extLst>
                </a:gridCol>
                <a:gridCol w="298244">
                  <a:extLst>
                    <a:ext uri="{9D8B030D-6E8A-4147-A177-3AD203B41FA5}">
                      <a16:colId xmlns:a16="http://schemas.microsoft.com/office/drawing/2014/main" val="3545934758"/>
                    </a:ext>
                  </a:extLst>
                </a:gridCol>
                <a:gridCol w="298244">
                  <a:extLst>
                    <a:ext uri="{9D8B030D-6E8A-4147-A177-3AD203B41FA5}">
                      <a16:colId xmlns:a16="http://schemas.microsoft.com/office/drawing/2014/main" val="3047711499"/>
                    </a:ext>
                  </a:extLst>
                </a:gridCol>
                <a:gridCol w="298244">
                  <a:extLst>
                    <a:ext uri="{9D8B030D-6E8A-4147-A177-3AD203B41FA5}">
                      <a16:colId xmlns:a16="http://schemas.microsoft.com/office/drawing/2014/main" val="3472330921"/>
                    </a:ext>
                  </a:extLst>
                </a:gridCol>
                <a:gridCol w="298244">
                  <a:extLst>
                    <a:ext uri="{9D8B030D-6E8A-4147-A177-3AD203B41FA5}">
                      <a16:colId xmlns:a16="http://schemas.microsoft.com/office/drawing/2014/main" val="1921929230"/>
                    </a:ext>
                  </a:extLst>
                </a:gridCol>
                <a:gridCol w="298244">
                  <a:extLst>
                    <a:ext uri="{9D8B030D-6E8A-4147-A177-3AD203B41FA5}">
                      <a16:colId xmlns:a16="http://schemas.microsoft.com/office/drawing/2014/main" val="1391632754"/>
                    </a:ext>
                  </a:extLst>
                </a:gridCol>
                <a:gridCol w="298244">
                  <a:extLst>
                    <a:ext uri="{9D8B030D-6E8A-4147-A177-3AD203B41FA5}">
                      <a16:colId xmlns:a16="http://schemas.microsoft.com/office/drawing/2014/main" val="3428786151"/>
                    </a:ext>
                  </a:extLst>
                </a:gridCol>
                <a:gridCol w="298244">
                  <a:extLst>
                    <a:ext uri="{9D8B030D-6E8A-4147-A177-3AD203B41FA5}">
                      <a16:colId xmlns:a16="http://schemas.microsoft.com/office/drawing/2014/main" val="1694490787"/>
                    </a:ext>
                  </a:extLst>
                </a:gridCol>
                <a:gridCol w="298244">
                  <a:extLst>
                    <a:ext uri="{9D8B030D-6E8A-4147-A177-3AD203B41FA5}">
                      <a16:colId xmlns:a16="http://schemas.microsoft.com/office/drawing/2014/main" val="3706367088"/>
                    </a:ext>
                  </a:extLst>
                </a:gridCol>
                <a:gridCol w="298244">
                  <a:extLst>
                    <a:ext uri="{9D8B030D-6E8A-4147-A177-3AD203B41FA5}">
                      <a16:colId xmlns:a16="http://schemas.microsoft.com/office/drawing/2014/main" val="828271367"/>
                    </a:ext>
                  </a:extLst>
                </a:gridCol>
                <a:gridCol w="298244">
                  <a:extLst>
                    <a:ext uri="{9D8B030D-6E8A-4147-A177-3AD203B41FA5}">
                      <a16:colId xmlns:a16="http://schemas.microsoft.com/office/drawing/2014/main" val="434137152"/>
                    </a:ext>
                  </a:extLst>
                </a:gridCol>
                <a:gridCol w="298244">
                  <a:extLst>
                    <a:ext uri="{9D8B030D-6E8A-4147-A177-3AD203B41FA5}">
                      <a16:colId xmlns:a16="http://schemas.microsoft.com/office/drawing/2014/main" val="3268435576"/>
                    </a:ext>
                  </a:extLst>
                </a:gridCol>
                <a:gridCol w="298244">
                  <a:extLst>
                    <a:ext uri="{9D8B030D-6E8A-4147-A177-3AD203B41FA5}">
                      <a16:colId xmlns:a16="http://schemas.microsoft.com/office/drawing/2014/main" val="19851295"/>
                    </a:ext>
                  </a:extLst>
                </a:gridCol>
              </a:tblGrid>
              <a:tr h="294190">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796856282"/>
                  </a:ext>
                </a:extLst>
              </a:tr>
              <a:tr h="294190">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6687898"/>
                  </a:ext>
                </a:extLst>
              </a:tr>
              <a:tr h="294190">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960825043"/>
                  </a:ext>
                </a:extLst>
              </a:tr>
              <a:tr h="294190">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7090437"/>
                  </a:ext>
                </a:extLst>
              </a:tr>
              <a:tr h="294190">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0344918"/>
                  </a:ext>
                </a:extLst>
              </a:tr>
              <a:tr h="294190">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CH" sz="1500" dirty="0"/>
                    </a:p>
                  </a:txBody>
                  <a:tcPr marL="70334" marR="70334" marT="35168" marB="351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63683157"/>
                  </a:ext>
                </a:extLst>
              </a:tr>
            </a:tbl>
          </a:graphicData>
        </a:graphic>
      </p:graphicFrame>
      <p:sp>
        <p:nvSpPr>
          <p:cNvPr id="12" name="TextBox 11">
            <a:extLst>
              <a:ext uri="{FF2B5EF4-FFF2-40B4-BE49-F238E27FC236}">
                <a16:creationId xmlns:a16="http://schemas.microsoft.com/office/drawing/2014/main" id="{BADA8640-351D-8CBB-70A8-A935F570E2EA}"/>
              </a:ext>
            </a:extLst>
          </p:cNvPr>
          <p:cNvSpPr txBox="1"/>
          <p:nvPr/>
        </p:nvSpPr>
        <p:spPr>
          <a:xfrm>
            <a:off x="1487488" y="4404638"/>
            <a:ext cx="3168352" cy="830997"/>
          </a:xfrm>
          <a:prstGeom prst="rect">
            <a:avLst/>
          </a:prstGeom>
          <a:noFill/>
        </p:spPr>
        <p:txBody>
          <a:bodyPr wrap="square" rtlCol="0">
            <a:spAutoFit/>
          </a:bodyPr>
          <a:lstStyle/>
          <a:p>
            <a:pPr algn="ctr"/>
            <a:r>
              <a:rPr lang="en-CH" sz="2400" dirty="0"/>
              <a:t>N data points,</a:t>
            </a:r>
          </a:p>
          <a:p>
            <a:pPr algn="ctr"/>
            <a:r>
              <a:rPr lang="en-CH" sz="2400" dirty="0"/>
              <a:t>Processing time T</a:t>
            </a:r>
          </a:p>
        </p:txBody>
      </p:sp>
      <p:sp>
        <p:nvSpPr>
          <p:cNvPr id="13" name="TextBox 12">
            <a:extLst>
              <a:ext uri="{FF2B5EF4-FFF2-40B4-BE49-F238E27FC236}">
                <a16:creationId xmlns:a16="http://schemas.microsoft.com/office/drawing/2014/main" id="{3DE94A0F-6552-2155-D875-E374F36AB29E}"/>
              </a:ext>
            </a:extLst>
          </p:cNvPr>
          <p:cNvSpPr txBox="1"/>
          <p:nvPr/>
        </p:nvSpPr>
        <p:spPr>
          <a:xfrm>
            <a:off x="6816080" y="4404638"/>
            <a:ext cx="3168352" cy="830997"/>
          </a:xfrm>
          <a:prstGeom prst="rect">
            <a:avLst/>
          </a:prstGeom>
          <a:noFill/>
        </p:spPr>
        <p:txBody>
          <a:bodyPr wrap="square" rtlCol="0">
            <a:spAutoFit/>
          </a:bodyPr>
          <a:lstStyle/>
          <a:p>
            <a:pPr algn="ctr"/>
            <a:r>
              <a:rPr lang="en-CH" sz="2400" dirty="0"/>
              <a:t>10x N data points</a:t>
            </a:r>
          </a:p>
          <a:p>
            <a:pPr algn="ctr"/>
            <a:r>
              <a:rPr lang="en-CH" sz="2400" b="1" dirty="0">
                <a:solidFill>
                  <a:srgbClr val="FF0000"/>
                </a:solidFill>
              </a:rPr>
              <a:t>Processing time -&gt; ?</a:t>
            </a:r>
          </a:p>
        </p:txBody>
      </p:sp>
      <p:sp>
        <p:nvSpPr>
          <p:cNvPr id="15" name="TextBox 14">
            <a:extLst>
              <a:ext uri="{FF2B5EF4-FFF2-40B4-BE49-F238E27FC236}">
                <a16:creationId xmlns:a16="http://schemas.microsoft.com/office/drawing/2014/main" id="{BF67523E-0FCA-52E8-61C0-0C8B25400F0B}"/>
              </a:ext>
            </a:extLst>
          </p:cNvPr>
          <p:cNvSpPr txBox="1"/>
          <p:nvPr/>
        </p:nvSpPr>
        <p:spPr>
          <a:xfrm>
            <a:off x="1216662" y="1730348"/>
            <a:ext cx="3710004" cy="523220"/>
          </a:xfrm>
          <a:prstGeom prst="rect">
            <a:avLst/>
          </a:prstGeom>
          <a:noFill/>
        </p:spPr>
        <p:txBody>
          <a:bodyPr wrap="square">
            <a:spAutoFit/>
          </a:bodyPr>
          <a:lstStyle/>
          <a:p>
            <a:pPr algn="ctr"/>
            <a:r>
              <a:rPr lang="en-CH" sz="2800" b="1" dirty="0"/>
              <a:t>Development data </a:t>
            </a:r>
          </a:p>
        </p:txBody>
      </p:sp>
      <p:sp>
        <p:nvSpPr>
          <p:cNvPr id="17" name="TextBox 16">
            <a:extLst>
              <a:ext uri="{FF2B5EF4-FFF2-40B4-BE49-F238E27FC236}">
                <a16:creationId xmlns:a16="http://schemas.microsoft.com/office/drawing/2014/main" id="{9E652F59-3A23-6A14-3781-82043BCF40C4}"/>
              </a:ext>
            </a:extLst>
          </p:cNvPr>
          <p:cNvSpPr txBox="1"/>
          <p:nvPr/>
        </p:nvSpPr>
        <p:spPr>
          <a:xfrm>
            <a:off x="7073990" y="1730348"/>
            <a:ext cx="2652533" cy="523220"/>
          </a:xfrm>
          <a:prstGeom prst="rect">
            <a:avLst/>
          </a:prstGeom>
          <a:noFill/>
        </p:spPr>
        <p:txBody>
          <a:bodyPr wrap="square">
            <a:spAutoFit/>
          </a:bodyPr>
          <a:lstStyle/>
          <a:p>
            <a:pPr algn="ctr"/>
            <a:r>
              <a:rPr lang="en-CH" sz="2800" b="1" dirty="0"/>
              <a:t>Real data</a:t>
            </a:r>
          </a:p>
        </p:txBody>
      </p:sp>
      <p:sp>
        <p:nvSpPr>
          <p:cNvPr id="14" name="TextBox 13">
            <a:extLst>
              <a:ext uri="{FF2B5EF4-FFF2-40B4-BE49-F238E27FC236}">
                <a16:creationId xmlns:a16="http://schemas.microsoft.com/office/drawing/2014/main" id="{FE4BE662-AB81-D24A-BC1E-6FF7C5E758B1}"/>
              </a:ext>
            </a:extLst>
          </p:cNvPr>
          <p:cNvSpPr txBox="1"/>
          <p:nvPr/>
        </p:nvSpPr>
        <p:spPr>
          <a:xfrm>
            <a:off x="3008750" y="5733256"/>
            <a:ext cx="6102492" cy="461665"/>
          </a:xfrm>
          <a:custGeom>
            <a:avLst/>
            <a:gdLst>
              <a:gd name="csX0" fmla="*/ 0 w 6102492"/>
              <a:gd name="csY0" fmla="*/ 0 h 461665"/>
              <a:gd name="csX1" fmla="*/ 556005 w 6102492"/>
              <a:gd name="csY1" fmla="*/ 0 h 461665"/>
              <a:gd name="csX2" fmla="*/ 1173035 w 6102492"/>
              <a:gd name="csY2" fmla="*/ 0 h 461665"/>
              <a:gd name="csX3" fmla="*/ 1729039 w 6102492"/>
              <a:gd name="csY3" fmla="*/ 0 h 461665"/>
              <a:gd name="csX4" fmla="*/ 2468119 w 6102492"/>
              <a:gd name="csY4" fmla="*/ 0 h 461665"/>
              <a:gd name="csX5" fmla="*/ 3146174 w 6102492"/>
              <a:gd name="csY5" fmla="*/ 0 h 461665"/>
              <a:gd name="csX6" fmla="*/ 3824228 w 6102492"/>
              <a:gd name="csY6" fmla="*/ 0 h 461665"/>
              <a:gd name="csX7" fmla="*/ 4624333 w 6102492"/>
              <a:gd name="csY7" fmla="*/ 0 h 461665"/>
              <a:gd name="csX8" fmla="*/ 5363412 w 6102492"/>
              <a:gd name="csY8" fmla="*/ 0 h 461665"/>
              <a:gd name="csX9" fmla="*/ 6102492 w 6102492"/>
              <a:gd name="csY9" fmla="*/ 0 h 461665"/>
              <a:gd name="csX10" fmla="*/ 6102492 w 6102492"/>
              <a:gd name="csY10" fmla="*/ 461665 h 461665"/>
              <a:gd name="csX11" fmla="*/ 5607512 w 6102492"/>
              <a:gd name="csY11" fmla="*/ 461665 h 461665"/>
              <a:gd name="csX12" fmla="*/ 5051507 w 6102492"/>
              <a:gd name="csY12" fmla="*/ 461665 h 461665"/>
              <a:gd name="csX13" fmla="*/ 4312428 w 6102492"/>
              <a:gd name="csY13" fmla="*/ 461665 h 461665"/>
              <a:gd name="csX14" fmla="*/ 3512323 w 6102492"/>
              <a:gd name="csY14" fmla="*/ 461665 h 461665"/>
              <a:gd name="csX15" fmla="*/ 2895293 w 6102492"/>
              <a:gd name="csY15" fmla="*/ 461665 h 461665"/>
              <a:gd name="csX16" fmla="*/ 2095189 w 6102492"/>
              <a:gd name="csY16" fmla="*/ 461665 h 461665"/>
              <a:gd name="csX17" fmla="*/ 1539184 w 6102492"/>
              <a:gd name="csY17" fmla="*/ 461665 h 461665"/>
              <a:gd name="csX18" fmla="*/ 1044204 w 6102492"/>
              <a:gd name="csY18" fmla="*/ 461665 h 461665"/>
              <a:gd name="csX19" fmla="*/ 0 w 6102492"/>
              <a:gd name="csY19" fmla="*/ 461665 h 461665"/>
              <a:gd name="csX20" fmla="*/ 0 w 6102492"/>
              <a:gd name="csY20" fmla="*/ 0 h 4616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102492" h="461665" fill="none" extrusionOk="0">
                <a:moveTo>
                  <a:pt x="0" y="0"/>
                </a:moveTo>
                <a:cubicBezTo>
                  <a:pt x="243709" y="22296"/>
                  <a:pt x="300093" y="-1042"/>
                  <a:pt x="556005" y="0"/>
                </a:cubicBezTo>
                <a:cubicBezTo>
                  <a:pt x="811917" y="1042"/>
                  <a:pt x="981497" y="-12440"/>
                  <a:pt x="1173035" y="0"/>
                </a:cubicBezTo>
                <a:cubicBezTo>
                  <a:pt x="1364573" y="12440"/>
                  <a:pt x="1593685" y="6200"/>
                  <a:pt x="1729039" y="0"/>
                </a:cubicBezTo>
                <a:cubicBezTo>
                  <a:pt x="1864393" y="-6200"/>
                  <a:pt x="2204293" y="29298"/>
                  <a:pt x="2468119" y="0"/>
                </a:cubicBezTo>
                <a:cubicBezTo>
                  <a:pt x="2731945" y="-29298"/>
                  <a:pt x="2829813" y="107"/>
                  <a:pt x="3146174" y="0"/>
                </a:cubicBezTo>
                <a:cubicBezTo>
                  <a:pt x="3462535" y="-107"/>
                  <a:pt x="3568265" y="9801"/>
                  <a:pt x="3824228" y="0"/>
                </a:cubicBezTo>
                <a:cubicBezTo>
                  <a:pt x="4080191" y="-9801"/>
                  <a:pt x="4242359" y="-23072"/>
                  <a:pt x="4624333" y="0"/>
                </a:cubicBezTo>
                <a:cubicBezTo>
                  <a:pt x="5006308" y="23072"/>
                  <a:pt x="5033932" y="-23009"/>
                  <a:pt x="5363412" y="0"/>
                </a:cubicBezTo>
                <a:cubicBezTo>
                  <a:pt x="5692892" y="23009"/>
                  <a:pt x="5842200" y="-32297"/>
                  <a:pt x="6102492" y="0"/>
                </a:cubicBezTo>
                <a:cubicBezTo>
                  <a:pt x="6122671" y="157204"/>
                  <a:pt x="6091518" y="315611"/>
                  <a:pt x="6102492" y="461665"/>
                </a:cubicBezTo>
                <a:cubicBezTo>
                  <a:pt x="5958930" y="482370"/>
                  <a:pt x="5776034" y="485946"/>
                  <a:pt x="5607512" y="461665"/>
                </a:cubicBezTo>
                <a:cubicBezTo>
                  <a:pt x="5438990" y="437384"/>
                  <a:pt x="5165024" y="456927"/>
                  <a:pt x="5051507" y="461665"/>
                </a:cubicBezTo>
                <a:cubicBezTo>
                  <a:pt x="4937991" y="466403"/>
                  <a:pt x="4572247" y="491013"/>
                  <a:pt x="4312428" y="461665"/>
                </a:cubicBezTo>
                <a:cubicBezTo>
                  <a:pt x="4052609" y="432317"/>
                  <a:pt x="3739662" y="490303"/>
                  <a:pt x="3512323" y="461665"/>
                </a:cubicBezTo>
                <a:cubicBezTo>
                  <a:pt x="3284985" y="433027"/>
                  <a:pt x="3124496" y="465146"/>
                  <a:pt x="2895293" y="461665"/>
                </a:cubicBezTo>
                <a:cubicBezTo>
                  <a:pt x="2666090" y="458185"/>
                  <a:pt x="2451658" y="451648"/>
                  <a:pt x="2095189" y="461665"/>
                </a:cubicBezTo>
                <a:cubicBezTo>
                  <a:pt x="1738720" y="471682"/>
                  <a:pt x="1713597" y="439450"/>
                  <a:pt x="1539184" y="461665"/>
                </a:cubicBezTo>
                <a:cubicBezTo>
                  <a:pt x="1364772" y="483880"/>
                  <a:pt x="1161495" y="485897"/>
                  <a:pt x="1044204" y="461665"/>
                </a:cubicBezTo>
                <a:cubicBezTo>
                  <a:pt x="926913" y="437433"/>
                  <a:pt x="302746" y="419328"/>
                  <a:pt x="0" y="461665"/>
                </a:cubicBezTo>
                <a:cubicBezTo>
                  <a:pt x="4108" y="252334"/>
                  <a:pt x="-5091" y="225359"/>
                  <a:pt x="0" y="0"/>
                </a:cubicBezTo>
                <a:close/>
              </a:path>
              <a:path w="6102492" h="461665" stroke="0" extrusionOk="0">
                <a:moveTo>
                  <a:pt x="0" y="0"/>
                </a:moveTo>
                <a:cubicBezTo>
                  <a:pt x="230651" y="2535"/>
                  <a:pt x="422907" y="-22708"/>
                  <a:pt x="617030" y="0"/>
                </a:cubicBezTo>
                <a:cubicBezTo>
                  <a:pt x="811153" y="22708"/>
                  <a:pt x="918338" y="12720"/>
                  <a:pt x="1112010" y="0"/>
                </a:cubicBezTo>
                <a:cubicBezTo>
                  <a:pt x="1305682" y="-12720"/>
                  <a:pt x="1542123" y="-867"/>
                  <a:pt x="1912114" y="0"/>
                </a:cubicBezTo>
                <a:cubicBezTo>
                  <a:pt x="2282105" y="867"/>
                  <a:pt x="2375580" y="-15658"/>
                  <a:pt x="2529144" y="0"/>
                </a:cubicBezTo>
                <a:cubicBezTo>
                  <a:pt x="2682708" y="15658"/>
                  <a:pt x="2963309" y="-19412"/>
                  <a:pt x="3146174" y="0"/>
                </a:cubicBezTo>
                <a:cubicBezTo>
                  <a:pt x="3329039" y="19412"/>
                  <a:pt x="3622179" y="14660"/>
                  <a:pt x="3946278" y="0"/>
                </a:cubicBezTo>
                <a:cubicBezTo>
                  <a:pt x="4270377" y="-14660"/>
                  <a:pt x="4339224" y="-22070"/>
                  <a:pt x="4502283" y="0"/>
                </a:cubicBezTo>
                <a:cubicBezTo>
                  <a:pt x="4665342" y="22070"/>
                  <a:pt x="4977686" y="33390"/>
                  <a:pt x="5302387" y="0"/>
                </a:cubicBezTo>
                <a:cubicBezTo>
                  <a:pt x="5627088" y="-33390"/>
                  <a:pt x="5869885" y="-29837"/>
                  <a:pt x="6102492" y="0"/>
                </a:cubicBezTo>
                <a:cubicBezTo>
                  <a:pt x="6089142" y="178584"/>
                  <a:pt x="6092500" y="304996"/>
                  <a:pt x="6102492" y="461665"/>
                </a:cubicBezTo>
                <a:cubicBezTo>
                  <a:pt x="5963416" y="438609"/>
                  <a:pt x="5752403" y="428331"/>
                  <a:pt x="5424437" y="461665"/>
                </a:cubicBezTo>
                <a:cubicBezTo>
                  <a:pt x="5096471" y="494999"/>
                  <a:pt x="4958208" y="469976"/>
                  <a:pt x="4807408" y="461665"/>
                </a:cubicBezTo>
                <a:cubicBezTo>
                  <a:pt x="4656608" y="453354"/>
                  <a:pt x="4303168" y="453800"/>
                  <a:pt x="4007303" y="461665"/>
                </a:cubicBezTo>
                <a:cubicBezTo>
                  <a:pt x="3711438" y="469530"/>
                  <a:pt x="3477611" y="472908"/>
                  <a:pt x="3207199" y="461665"/>
                </a:cubicBezTo>
                <a:cubicBezTo>
                  <a:pt x="2936787" y="450422"/>
                  <a:pt x="2768222" y="489090"/>
                  <a:pt x="2651194" y="461665"/>
                </a:cubicBezTo>
                <a:cubicBezTo>
                  <a:pt x="2534167" y="434240"/>
                  <a:pt x="2154934" y="459907"/>
                  <a:pt x="1973139" y="461665"/>
                </a:cubicBezTo>
                <a:cubicBezTo>
                  <a:pt x="1791344" y="463423"/>
                  <a:pt x="1404080" y="471029"/>
                  <a:pt x="1173035" y="461665"/>
                </a:cubicBezTo>
                <a:cubicBezTo>
                  <a:pt x="941990" y="452301"/>
                  <a:pt x="306306" y="431118"/>
                  <a:pt x="0" y="461665"/>
                </a:cubicBezTo>
                <a:cubicBezTo>
                  <a:pt x="-2462" y="300802"/>
                  <a:pt x="-2149" y="122032"/>
                  <a:pt x="0" y="0"/>
                </a:cubicBezTo>
                <a:close/>
              </a:path>
            </a:pathLst>
          </a:custGeom>
          <a:solidFill>
            <a:schemeClr val="bg2"/>
          </a:solidFill>
          <a:ln w="38100">
            <a:solidFill>
              <a:schemeClr val="tx1"/>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txBody>
          <a:bodyPr wrap="square">
            <a:spAutoFit/>
          </a:bodyPr>
          <a:lstStyle/>
          <a:p>
            <a:pPr algn="ctr"/>
            <a:r>
              <a:rPr lang="en-CH" sz="2400" dirty="0"/>
              <a:t>We’re interested in orders of magnitude</a:t>
            </a:r>
          </a:p>
        </p:txBody>
      </p:sp>
    </p:spTree>
    <p:extLst>
      <p:ext uri="{BB962C8B-B14F-4D97-AF65-F5344CB8AC3E}">
        <p14:creationId xmlns:p14="http://schemas.microsoft.com/office/powerpoint/2010/main" val="162134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F7877-5F5B-84D0-CEB7-C01C57A494FB}"/>
              </a:ext>
            </a:extLst>
          </p:cNvPr>
          <p:cNvSpPr>
            <a:spLocks noGrp="1"/>
          </p:cNvSpPr>
          <p:nvPr>
            <p:ph type="title"/>
          </p:nvPr>
        </p:nvSpPr>
        <p:spPr/>
        <p:txBody>
          <a:bodyPr/>
          <a:lstStyle/>
          <a:p>
            <a:r>
              <a:rPr lang="en-CH" dirty="0"/>
              <a:t>How performance scales: big-O</a:t>
            </a:r>
          </a:p>
        </p:txBody>
      </p:sp>
      <p:sp>
        <p:nvSpPr>
          <p:cNvPr id="4" name="Date Placeholder 3">
            <a:extLst>
              <a:ext uri="{FF2B5EF4-FFF2-40B4-BE49-F238E27FC236}">
                <a16:creationId xmlns:a16="http://schemas.microsoft.com/office/drawing/2014/main" id="{7E704AA7-E172-E202-BF28-C2A93195BF34}"/>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D55C74D7-9954-B6EE-29AD-33296B345ECB}"/>
              </a:ext>
            </a:extLst>
          </p:cNvPr>
          <p:cNvSpPr>
            <a:spLocks noGrp="1"/>
          </p:cNvSpPr>
          <p:nvPr>
            <p:ph type="ftr" sz="quarter" idx="11"/>
          </p:nvPr>
        </p:nvSpPr>
        <p:spPr/>
        <p:txBody>
          <a:bodyPr/>
          <a:lstStyle/>
          <a:p>
            <a:r>
              <a:rPr lang="en-US"/>
              <a:t>Data, v3.0</a:t>
            </a:r>
            <a:endParaRPr lang="en-US" dirty="0"/>
          </a:p>
        </p:txBody>
      </p:sp>
      <p:sp>
        <p:nvSpPr>
          <p:cNvPr id="6" name="Slide Number Placeholder 5">
            <a:extLst>
              <a:ext uri="{FF2B5EF4-FFF2-40B4-BE49-F238E27FC236}">
                <a16:creationId xmlns:a16="http://schemas.microsoft.com/office/drawing/2014/main" id="{AFEE3AA8-4168-EDB7-48CB-5C264024277E}"/>
              </a:ext>
            </a:extLst>
          </p:cNvPr>
          <p:cNvSpPr>
            <a:spLocks noGrp="1"/>
          </p:cNvSpPr>
          <p:nvPr>
            <p:ph type="sldNum" sz="quarter" idx="12"/>
          </p:nvPr>
        </p:nvSpPr>
        <p:spPr/>
        <p:txBody>
          <a:bodyPr/>
          <a:lstStyle/>
          <a:p>
            <a:fld id="{EF79ADEA-B933-47CC-A4E9-04E6298B917C}" type="slidenum">
              <a:rPr lang="en-US" smtClean="0"/>
              <a:pPr/>
              <a:t>14</a:t>
            </a:fld>
            <a:endParaRPr lang="en-US"/>
          </a:p>
        </p:txBody>
      </p:sp>
      <p:graphicFrame>
        <p:nvGraphicFramePr>
          <p:cNvPr id="8" name="Table 7">
            <a:extLst>
              <a:ext uri="{FF2B5EF4-FFF2-40B4-BE49-F238E27FC236}">
                <a16:creationId xmlns:a16="http://schemas.microsoft.com/office/drawing/2014/main" id="{9F4D7767-8D38-9EC2-E9DE-CB44B2A754DB}"/>
              </a:ext>
            </a:extLst>
          </p:cNvPr>
          <p:cNvGraphicFramePr>
            <a:graphicFrameLocks noGrp="1"/>
          </p:cNvGraphicFramePr>
          <p:nvPr>
            <p:extLst>
              <p:ext uri="{D42A27DB-BD31-4B8C-83A1-F6EECF244321}">
                <p14:modId xmlns:p14="http://schemas.microsoft.com/office/powerpoint/2010/main" val="1191527091"/>
              </p:ext>
            </p:extLst>
          </p:nvPr>
        </p:nvGraphicFramePr>
        <p:xfrm>
          <a:off x="751384" y="1258760"/>
          <a:ext cx="5632648" cy="2494280"/>
        </p:xfrm>
        <a:graphic>
          <a:graphicData uri="http://schemas.openxmlformats.org/drawingml/2006/table">
            <a:tbl>
              <a:tblPr firstRow="1" bandRow="1">
                <a:tableStyleId>{5C22544A-7EE6-4342-B048-85BDC9FD1C3A}</a:tableStyleId>
              </a:tblPr>
              <a:tblGrid>
                <a:gridCol w="1401770">
                  <a:extLst>
                    <a:ext uri="{9D8B030D-6E8A-4147-A177-3AD203B41FA5}">
                      <a16:colId xmlns:a16="http://schemas.microsoft.com/office/drawing/2014/main" val="2060215517"/>
                    </a:ext>
                  </a:extLst>
                </a:gridCol>
                <a:gridCol w="1638590">
                  <a:extLst>
                    <a:ext uri="{9D8B030D-6E8A-4147-A177-3AD203B41FA5}">
                      <a16:colId xmlns:a16="http://schemas.microsoft.com/office/drawing/2014/main" val="3200531112"/>
                    </a:ext>
                  </a:extLst>
                </a:gridCol>
                <a:gridCol w="2592288">
                  <a:extLst>
                    <a:ext uri="{9D8B030D-6E8A-4147-A177-3AD203B41FA5}">
                      <a16:colId xmlns:a16="http://schemas.microsoft.com/office/drawing/2014/main" val="1401730132"/>
                    </a:ext>
                  </a:extLst>
                </a:gridCol>
              </a:tblGrid>
              <a:tr h="419521">
                <a:tc>
                  <a:txBody>
                    <a:bodyPr/>
                    <a:lstStyle/>
                    <a:p>
                      <a:r>
                        <a:rPr lang="en-US" dirty="0">
                          <a:solidFill>
                            <a:schemeClr val="bg2">
                              <a:lumMod val="25000"/>
                            </a:schemeClr>
                          </a:solidFill>
                        </a:rPr>
                        <a:t>B</a:t>
                      </a:r>
                      <a:r>
                        <a:rPr lang="en-CH" dirty="0">
                          <a:solidFill>
                            <a:schemeClr val="bg2">
                              <a:lumMod val="25000"/>
                            </a:schemeClr>
                          </a:solidFill>
                        </a:rPr>
                        <a:t>ig-O 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bg2">
                              <a:lumMod val="25000"/>
                            </a:schemeClr>
                          </a:solidFill>
                        </a:rPr>
                        <a:t>What we call it</a:t>
                      </a:r>
                      <a:endParaRPr lang="en-CH"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bg2">
                              <a:lumMod val="25000"/>
                            </a:schemeClr>
                          </a:solidFill>
                        </a:rPr>
                        <a:t>T</a:t>
                      </a:r>
                      <a:r>
                        <a:rPr lang="en-CH" dirty="0">
                          <a:solidFill>
                            <a:schemeClr val="bg2">
                              <a:lumMod val="25000"/>
                            </a:schemeClr>
                          </a:solidFill>
                        </a:rPr>
                        <a:t>ime increase</a:t>
                      </a:r>
                      <a:r>
                        <a:rPr lang="en-US" dirty="0">
                          <a:solidFill>
                            <a:schemeClr val="bg2">
                              <a:lumMod val="25000"/>
                            </a:schemeClr>
                          </a:solidFill>
                        </a:rPr>
                        <a:t>,</a:t>
                      </a:r>
                      <a:r>
                        <a:rPr lang="en-CH" dirty="0">
                          <a:solidFill>
                            <a:schemeClr val="bg2">
                              <a:lumMod val="25000"/>
                            </a:schemeClr>
                          </a:solidFill>
                        </a:rPr>
                        <a:t> </a:t>
                      </a:r>
                      <a:r>
                        <a:rPr lang="en-US" dirty="0">
                          <a:solidFill>
                            <a:schemeClr val="bg2">
                              <a:lumMod val="25000"/>
                            </a:schemeClr>
                          </a:solidFill>
                        </a:rPr>
                        <a:t>when</a:t>
                      </a:r>
                      <a:r>
                        <a:rPr lang="en-CH" dirty="0">
                          <a:solidFill>
                            <a:schemeClr val="bg2">
                              <a:lumMod val="25000"/>
                            </a:schemeClr>
                          </a:solidFill>
                        </a:rPr>
                        <a:t> data increases 10x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16493350"/>
                  </a:ext>
                </a:extLst>
              </a:tr>
              <a:tr h="370840">
                <a:tc>
                  <a:txBody>
                    <a:bodyPr/>
                    <a:lstStyle/>
                    <a:p>
                      <a:r>
                        <a:rPr lang="en-CH" b="1" dirty="0">
                          <a:solidFill>
                            <a:srgbClr val="1F45FF"/>
                          </a:solidFill>
                        </a:rPr>
                        <a:t>O(1)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constant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1x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0070366"/>
                  </a:ext>
                </a:extLst>
              </a:tr>
              <a:tr h="370840">
                <a:tc>
                  <a:txBody>
                    <a:bodyPr/>
                    <a:lstStyle/>
                    <a:p>
                      <a:r>
                        <a:rPr lang="en-CH" b="1" dirty="0">
                          <a:solidFill>
                            <a:srgbClr val="56D72C"/>
                          </a:solidFill>
                        </a:rPr>
                        <a: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linear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10x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7992344"/>
                  </a:ext>
                </a:extLst>
              </a:tr>
              <a:tr h="370840">
                <a:tc>
                  <a:txBody>
                    <a:bodyPr/>
                    <a:lstStyle/>
                    <a:p>
                      <a:r>
                        <a:rPr lang="en-CH" b="1" dirty="0">
                          <a:solidFill>
                            <a:srgbClr val="FF8B00"/>
                          </a:solidFill>
                        </a:rPr>
                        <a:t>O(n</a:t>
                      </a:r>
                      <a:r>
                        <a:rPr lang="en-CH" b="1" baseline="30000" dirty="0">
                          <a:solidFill>
                            <a:srgbClr val="FF8B00"/>
                          </a:solidFill>
                        </a:rPr>
                        <a:t>2</a:t>
                      </a:r>
                      <a:r>
                        <a:rPr lang="en-CH" b="1" dirty="0">
                          <a:solidFill>
                            <a:srgbClr val="FF8B0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quadratic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100x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7025948"/>
                  </a:ext>
                </a:extLst>
              </a:tr>
              <a:tr h="370840">
                <a:tc>
                  <a:txBody>
                    <a:bodyPr/>
                    <a:lstStyle/>
                    <a:p>
                      <a:r>
                        <a:rPr lang="en-CH" b="1" dirty="0">
                          <a:solidFill>
                            <a:srgbClr val="FF8CD8"/>
                          </a:solidFill>
                        </a:rPr>
                        <a:t>O(n * log 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linearithmic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~10-20x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2769138"/>
                  </a:ext>
                </a:extLst>
              </a:tr>
              <a:tr h="370840">
                <a:tc>
                  <a:txBody>
                    <a:bodyPr/>
                    <a:lstStyle/>
                    <a:p>
                      <a:r>
                        <a:rPr lang="en-CH" b="1" dirty="0">
                          <a:solidFill>
                            <a:srgbClr val="0092FF"/>
                          </a:solidFill>
                        </a:rPr>
                        <a:t>O(log 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logarithmic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~1-2x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1720873"/>
                  </a:ext>
                </a:extLst>
              </a:tr>
            </a:tbl>
          </a:graphicData>
        </a:graphic>
      </p:graphicFrame>
      <p:grpSp>
        <p:nvGrpSpPr>
          <p:cNvPr id="17" name="Group 16">
            <a:extLst>
              <a:ext uri="{FF2B5EF4-FFF2-40B4-BE49-F238E27FC236}">
                <a16:creationId xmlns:a16="http://schemas.microsoft.com/office/drawing/2014/main" id="{D393E11A-0940-7F3E-8EF2-42DBDBE2BA36}"/>
              </a:ext>
            </a:extLst>
          </p:cNvPr>
          <p:cNvGrpSpPr/>
          <p:nvPr/>
        </p:nvGrpSpPr>
        <p:grpSpPr>
          <a:xfrm>
            <a:off x="7032103" y="1216973"/>
            <a:ext cx="4968553" cy="4423960"/>
            <a:chOff x="7032103" y="1216973"/>
            <a:chExt cx="4968553" cy="4423960"/>
          </a:xfrm>
        </p:grpSpPr>
        <p:pic>
          <p:nvPicPr>
            <p:cNvPr id="11" name="Picture 4" descr="Big O notation- What is it good for? – The Craft of Coding">
              <a:extLst>
                <a:ext uri="{FF2B5EF4-FFF2-40B4-BE49-F238E27FC236}">
                  <a16:creationId xmlns:a16="http://schemas.microsoft.com/office/drawing/2014/main" id="{88B64CF8-480D-6156-D60C-0F8D5DCC0C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6120" y="1216973"/>
              <a:ext cx="4464496" cy="42528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B3CB49A-07A0-C3B9-4A2C-A7BA1017B6E3}"/>
                </a:ext>
              </a:extLst>
            </p:cNvPr>
            <p:cNvSpPr txBox="1"/>
            <p:nvPr/>
          </p:nvSpPr>
          <p:spPr>
            <a:xfrm rot="16200000">
              <a:off x="6095392" y="3112559"/>
              <a:ext cx="2335088" cy="461665"/>
            </a:xfrm>
            <a:prstGeom prst="rect">
              <a:avLst/>
            </a:prstGeom>
            <a:solidFill>
              <a:schemeClr val="bg1"/>
            </a:solidFill>
          </p:spPr>
          <p:txBody>
            <a:bodyPr wrap="square" rtlCol="0">
              <a:spAutoFit/>
            </a:bodyPr>
            <a:lstStyle/>
            <a:p>
              <a:pPr algn="ctr"/>
              <a:r>
                <a:rPr lang="en-CH" sz="2400" dirty="0"/>
                <a:t>Time</a:t>
              </a:r>
            </a:p>
          </p:txBody>
        </p:sp>
        <p:sp>
          <p:nvSpPr>
            <p:cNvPr id="7" name="TextBox 6">
              <a:extLst>
                <a:ext uri="{FF2B5EF4-FFF2-40B4-BE49-F238E27FC236}">
                  <a16:creationId xmlns:a16="http://schemas.microsoft.com/office/drawing/2014/main" id="{4FD25CA8-C5A0-9846-314B-26B0FE7E72DC}"/>
                </a:ext>
              </a:extLst>
            </p:cNvPr>
            <p:cNvSpPr txBox="1"/>
            <p:nvPr/>
          </p:nvSpPr>
          <p:spPr>
            <a:xfrm>
              <a:off x="8240824" y="5179268"/>
              <a:ext cx="2335088" cy="461665"/>
            </a:xfrm>
            <a:prstGeom prst="rect">
              <a:avLst/>
            </a:prstGeom>
            <a:solidFill>
              <a:schemeClr val="bg1"/>
            </a:solidFill>
          </p:spPr>
          <p:txBody>
            <a:bodyPr wrap="square" rtlCol="0">
              <a:spAutoFit/>
            </a:bodyPr>
            <a:lstStyle/>
            <a:p>
              <a:pPr algn="ctr"/>
              <a:r>
                <a:rPr lang="en-CH" sz="2400" dirty="0"/>
                <a:t>Input size, n</a:t>
              </a:r>
            </a:p>
          </p:txBody>
        </p:sp>
        <p:sp>
          <p:nvSpPr>
            <p:cNvPr id="9" name="TextBox 8">
              <a:extLst>
                <a:ext uri="{FF2B5EF4-FFF2-40B4-BE49-F238E27FC236}">
                  <a16:creationId xmlns:a16="http://schemas.microsoft.com/office/drawing/2014/main" id="{2426D3F2-FE80-E41C-D58F-6AB0CA6BD5CF}"/>
                </a:ext>
              </a:extLst>
            </p:cNvPr>
            <p:cNvSpPr txBox="1"/>
            <p:nvPr/>
          </p:nvSpPr>
          <p:spPr>
            <a:xfrm>
              <a:off x="10920536" y="2917700"/>
              <a:ext cx="799120" cy="400110"/>
            </a:xfrm>
            <a:prstGeom prst="rect">
              <a:avLst/>
            </a:prstGeom>
            <a:solidFill>
              <a:schemeClr val="bg1"/>
            </a:solidFill>
          </p:spPr>
          <p:txBody>
            <a:bodyPr wrap="square" rtlCol="0">
              <a:spAutoFit/>
            </a:bodyPr>
            <a:lstStyle/>
            <a:p>
              <a:r>
                <a:rPr lang="en-CH" sz="2000" dirty="0">
                  <a:solidFill>
                    <a:srgbClr val="56D72C"/>
                  </a:solidFill>
                </a:rPr>
                <a:t>O(n)</a:t>
              </a:r>
            </a:p>
          </p:txBody>
        </p:sp>
        <p:sp>
          <p:nvSpPr>
            <p:cNvPr id="10" name="TextBox 9">
              <a:extLst>
                <a:ext uri="{FF2B5EF4-FFF2-40B4-BE49-F238E27FC236}">
                  <a16:creationId xmlns:a16="http://schemas.microsoft.com/office/drawing/2014/main" id="{6E13CADC-8927-73E6-4D6C-9FB7B0F77DE8}"/>
                </a:ext>
              </a:extLst>
            </p:cNvPr>
            <p:cNvSpPr txBox="1"/>
            <p:nvPr/>
          </p:nvSpPr>
          <p:spPr>
            <a:xfrm>
              <a:off x="10920536" y="3993700"/>
              <a:ext cx="1080120" cy="400110"/>
            </a:xfrm>
            <a:prstGeom prst="rect">
              <a:avLst/>
            </a:prstGeom>
            <a:solidFill>
              <a:schemeClr val="bg1"/>
            </a:solidFill>
          </p:spPr>
          <p:txBody>
            <a:bodyPr wrap="square" rtlCol="0">
              <a:spAutoFit/>
            </a:bodyPr>
            <a:lstStyle/>
            <a:p>
              <a:r>
                <a:rPr lang="en-CH" sz="2000" dirty="0">
                  <a:solidFill>
                    <a:srgbClr val="0295FF"/>
                  </a:solidFill>
                </a:rPr>
                <a:t>O(log n)</a:t>
              </a:r>
            </a:p>
          </p:txBody>
        </p:sp>
        <p:sp>
          <p:nvSpPr>
            <p:cNvPr id="12" name="TextBox 11">
              <a:extLst>
                <a:ext uri="{FF2B5EF4-FFF2-40B4-BE49-F238E27FC236}">
                  <a16:creationId xmlns:a16="http://schemas.microsoft.com/office/drawing/2014/main" id="{567A70DA-9496-138C-D0A3-9DEAEA3CB351}"/>
                </a:ext>
              </a:extLst>
            </p:cNvPr>
            <p:cNvSpPr txBox="1"/>
            <p:nvPr/>
          </p:nvSpPr>
          <p:spPr>
            <a:xfrm>
              <a:off x="10920536" y="4491468"/>
              <a:ext cx="1080120" cy="400110"/>
            </a:xfrm>
            <a:prstGeom prst="rect">
              <a:avLst/>
            </a:prstGeom>
            <a:solidFill>
              <a:schemeClr val="bg1"/>
            </a:solidFill>
          </p:spPr>
          <p:txBody>
            <a:bodyPr wrap="square" rtlCol="0">
              <a:spAutoFit/>
            </a:bodyPr>
            <a:lstStyle/>
            <a:p>
              <a:r>
                <a:rPr lang="en-CH" sz="2000" dirty="0">
                  <a:solidFill>
                    <a:srgbClr val="0020FF"/>
                  </a:solidFill>
                </a:rPr>
                <a:t>O(1)</a:t>
              </a:r>
            </a:p>
          </p:txBody>
        </p:sp>
        <p:sp>
          <p:nvSpPr>
            <p:cNvPr id="13" name="TextBox 12">
              <a:extLst>
                <a:ext uri="{FF2B5EF4-FFF2-40B4-BE49-F238E27FC236}">
                  <a16:creationId xmlns:a16="http://schemas.microsoft.com/office/drawing/2014/main" id="{00748C42-37AD-707B-F64F-928FD7CA0E45}"/>
                </a:ext>
              </a:extLst>
            </p:cNvPr>
            <p:cNvSpPr txBox="1"/>
            <p:nvPr/>
          </p:nvSpPr>
          <p:spPr>
            <a:xfrm>
              <a:off x="10380476" y="1425112"/>
              <a:ext cx="1260140" cy="400110"/>
            </a:xfrm>
            <a:prstGeom prst="rect">
              <a:avLst/>
            </a:prstGeom>
            <a:solidFill>
              <a:schemeClr val="bg1"/>
            </a:solidFill>
          </p:spPr>
          <p:txBody>
            <a:bodyPr wrap="square" rtlCol="0">
              <a:spAutoFit/>
            </a:bodyPr>
            <a:lstStyle/>
            <a:p>
              <a:r>
                <a:rPr lang="en-CH" sz="2000" dirty="0">
                  <a:solidFill>
                    <a:srgbClr val="FF8CD8"/>
                  </a:solidFill>
                </a:rPr>
                <a:t>O(n log n)</a:t>
              </a:r>
            </a:p>
          </p:txBody>
        </p:sp>
        <p:sp>
          <p:nvSpPr>
            <p:cNvPr id="15" name="TextBox 14">
              <a:extLst>
                <a:ext uri="{FF2B5EF4-FFF2-40B4-BE49-F238E27FC236}">
                  <a16:creationId xmlns:a16="http://schemas.microsoft.com/office/drawing/2014/main" id="{F894B366-E44B-9EA6-ECA3-B761A26C4317}"/>
                </a:ext>
              </a:extLst>
            </p:cNvPr>
            <p:cNvSpPr txBox="1"/>
            <p:nvPr/>
          </p:nvSpPr>
          <p:spPr>
            <a:xfrm>
              <a:off x="9412267" y="1357742"/>
              <a:ext cx="788189" cy="400110"/>
            </a:xfrm>
            <a:prstGeom prst="rect">
              <a:avLst/>
            </a:prstGeom>
            <a:solidFill>
              <a:schemeClr val="bg1"/>
            </a:solidFill>
          </p:spPr>
          <p:txBody>
            <a:bodyPr wrap="square" rtlCol="0">
              <a:spAutoFit/>
            </a:bodyPr>
            <a:lstStyle/>
            <a:p>
              <a:r>
                <a:rPr lang="en-CH" sz="2000" dirty="0">
                  <a:solidFill>
                    <a:srgbClr val="FF8B00"/>
                  </a:solidFill>
                </a:rPr>
                <a:t>O(n</a:t>
              </a:r>
              <a:r>
                <a:rPr lang="en-CH" sz="2000" baseline="30000" dirty="0">
                  <a:solidFill>
                    <a:srgbClr val="FF8B00"/>
                  </a:solidFill>
                </a:rPr>
                <a:t>2</a:t>
              </a:r>
              <a:r>
                <a:rPr lang="en-CH" sz="2000" dirty="0">
                  <a:solidFill>
                    <a:srgbClr val="FF8B00"/>
                  </a:solidFill>
                </a:rPr>
                <a:t>)</a:t>
              </a:r>
            </a:p>
          </p:txBody>
        </p:sp>
        <p:sp>
          <p:nvSpPr>
            <p:cNvPr id="16" name="TextBox 15">
              <a:extLst>
                <a:ext uri="{FF2B5EF4-FFF2-40B4-BE49-F238E27FC236}">
                  <a16:creationId xmlns:a16="http://schemas.microsoft.com/office/drawing/2014/main" id="{DD61754C-FB6E-5DBD-79EF-0027219F702E}"/>
                </a:ext>
              </a:extLst>
            </p:cNvPr>
            <p:cNvSpPr txBox="1"/>
            <p:nvPr/>
          </p:nvSpPr>
          <p:spPr>
            <a:xfrm>
              <a:off x="8294757" y="1357742"/>
              <a:ext cx="788189" cy="400110"/>
            </a:xfrm>
            <a:prstGeom prst="rect">
              <a:avLst/>
            </a:prstGeom>
            <a:solidFill>
              <a:schemeClr val="bg1"/>
            </a:solidFill>
          </p:spPr>
          <p:txBody>
            <a:bodyPr wrap="square" rtlCol="0">
              <a:spAutoFit/>
            </a:bodyPr>
            <a:lstStyle/>
            <a:p>
              <a:r>
                <a:rPr lang="en-CH" sz="2000" dirty="0">
                  <a:solidFill>
                    <a:srgbClr val="FF0000"/>
                  </a:solidFill>
                </a:rPr>
                <a:t>O(2</a:t>
              </a:r>
              <a:r>
                <a:rPr lang="en-CH" sz="2000" baseline="30000" dirty="0">
                  <a:solidFill>
                    <a:srgbClr val="FF0000"/>
                  </a:solidFill>
                </a:rPr>
                <a:t>n</a:t>
              </a:r>
              <a:r>
                <a:rPr lang="en-CH" sz="2000" dirty="0">
                  <a:solidFill>
                    <a:srgbClr val="FF0000"/>
                  </a:solidFill>
                </a:rPr>
                <a:t>)</a:t>
              </a:r>
            </a:p>
          </p:txBody>
        </p:sp>
      </p:grpSp>
    </p:spTree>
    <p:extLst>
      <p:ext uri="{BB962C8B-B14F-4D97-AF65-F5344CB8AC3E}">
        <p14:creationId xmlns:p14="http://schemas.microsoft.com/office/powerpoint/2010/main" val="4212533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F7877-5F5B-84D0-CEB7-C01C57A494FB}"/>
              </a:ext>
            </a:extLst>
          </p:cNvPr>
          <p:cNvSpPr>
            <a:spLocks noGrp="1"/>
          </p:cNvSpPr>
          <p:nvPr>
            <p:ph type="title"/>
          </p:nvPr>
        </p:nvSpPr>
        <p:spPr/>
        <p:txBody>
          <a:bodyPr/>
          <a:lstStyle/>
          <a:p>
            <a:r>
              <a:rPr lang="en-CH" dirty="0"/>
              <a:t>Hands-on: Operations on lists</a:t>
            </a:r>
          </a:p>
        </p:txBody>
      </p:sp>
      <p:sp>
        <p:nvSpPr>
          <p:cNvPr id="4" name="Date Placeholder 3">
            <a:extLst>
              <a:ext uri="{FF2B5EF4-FFF2-40B4-BE49-F238E27FC236}">
                <a16:creationId xmlns:a16="http://schemas.microsoft.com/office/drawing/2014/main" id="{7E704AA7-E172-E202-BF28-C2A93195BF34}"/>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D55C74D7-9954-B6EE-29AD-33296B345ECB}"/>
              </a:ext>
            </a:extLst>
          </p:cNvPr>
          <p:cNvSpPr>
            <a:spLocks noGrp="1"/>
          </p:cNvSpPr>
          <p:nvPr>
            <p:ph type="ftr" sz="quarter" idx="11"/>
          </p:nvPr>
        </p:nvSpPr>
        <p:spPr/>
        <p:txBody>
          <a:bodyPr/>
          <a:lstStyle/>
          <a:p>
            <a:r>
              <a:rPr lang="en-US"/>
              <a:t>Data, v3.0</a:t>
            </a:r>
            <a:endParaRPr lang="en-US" dirty="0"/>
          </a:p>
        </p:txBody>
      </p:sp>
      <p:sp>
        <p:nvSpPr>
          <p:cNvPr id="6" name="Slide Number Placeholder 5">
            <a:extLst>
              <a:ext uri="{FF2B5EF4-FFF2-40B4-BE49-F238E27FC236}">
                <a16:creationId xmlns:a16="http://schemas.microsoft.com/office/drawing/2014/main" id="{AFEE3AA8-4168-EDB7-48CB-5C264024277E}"/>
              </a:ext>
            </a:extLst>
          </p:cNvPr>
          <p:cNvSpPr>
            <a:spLocks noGrp="1"/>
          </p:cNvSpPr>
          <p:nvPr>
            <p:ph type="sldNum" sz="quarter" idx="12"/>
          </p:nvPr>
        </p:nvSpPr>
        <p:spPr/>
        <p:txBody>
          <a:bodyPr/>
          <a:lstStyle/>
          <a:p>
            <a:fld id="{EF79ADEA-B933-47CC-A4E9-04E6298B917C}" type="slidenum">
              <a:rPr lang="en-US" smtClean="0"/>
              <a:pPr/>
              <a:t>15</a:t>
            </a:fld>
            <a:endParaRPr lang="en-US"/>
          </a:p>
        </p:txBody>
      </p:sp>
      <p:graphicFrame>
        <p:nvGraphicFramePr>
          <p:cNvPr id="8" name="Table 7">
            <a:extLst>
              <a:ext uri="{FF2B5EF4-FFF2-40B4-BE49-F238E27FC236}">
                <a16:creationId xmlns:a16="http://schemas.microsoft.com/office/drawing/2014/main" id="{9F4D7767-8D38-9EC2-E9DE-CB44B2A754DB}"/>
              </a:ext>
            </a:extLst>
          </p:cNvPr>
          <p:cNvGraphicFramePr>
            <a:graphicFrameLocks noGrp="1"/>
          </p:cNvGraphicFramePr>
          <p:nvPr/>
        </p:nvGraphicFramePr>
        <p:xfrm>
          <a:off x="751384" y="1258760"/>
          <a:ext cx="5632648" cy="2494280"/>
        </p:xfrm>
        <a:graphic>
          <a:graphicData uri="http://schemas.openxmlformats.org/drawingml/2006/table">
            <a:tbl>
              <a:tblPr firstRow="1" bandRow="1">
                <a:tableStyleId>{5C22544A-7EE6-4342-B048-85BDC9FD1C3A}</a:tableStyleId>
              </a:tblPr>
              <a:tblGrid>
                <a:gridCol w="1401770">
                  <a:extLst>
                    <a:ext uri="{9D8B030D-6E8A-4147-A177-3AD203B41FA5}">
                      <a16:colId xmlns:a16="http://schemas.microsoft.com/office/drawing/2014/main" val="2060215517"/>
                    </a:ext>
                  </a:extLst>
                </a:gridCol>
                <a:gridCol w="1638590">
                  <a:extLst>
                    <a:ext uri="{9D8B030D-6E8A-4147-A177-3AD203B41FA5}">
                      <a16:colId xmlns:a16="http://schemas.microsoft.com/office/drawing/2014/main" val="3200531112"/>
                    </a:ext>
                  </a:extLst>
                </a:gridCol>
                <a:gridCol w="2592288">
                  <a:extLst>
                    <a:ext uri="{9D8B030D-6E8A-4147-A177-3AD203B41FA5}">
                      <a16:colId xmlns:a16="http://schemas.microsoft.com/office/drawing/2014/main" val="1401730132"/>
                    </a:ext>
                  </a:extLst>
                </a:gridCol>
              </a:tblGrid>
              <a:tr h="419521">
                <a:tc>
                  <a:txBody>
                    <a:bodyPr/>
                    <a:lstStyle/>
                    <a:p>
                      <a:r>
                        <a:rPr lang="en-US" dirty="0">
                          <a:solidFill>
                            <a:schemeClr val="bg2">
                              <a:lumMod val="25000"/>
                            </a:schemeClr>
                          </a:solidFill>
                        </a:rPr>
                        <a:t>B</a:t>
                      </a:r>
                      <a:r>
                        <a:rPr lang="en-CH" dirty="0">
                          <a:solidFill>
                            <a:schemeClr val="bg2">
                              <a:lumMod val="25000"/>
                            </a:schemeClr>
                          </a:solidFill>
                        </a:rPr>
                        <a:t>ig-O 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bg2">
                              <a:lumMod val="25000"/>
                            </a:schemeClr>
                          </a:solidFill>
                        </a:rPr>
                        <a:t>What we call it</a:t>
                      </a:r>
                      <a:endParaRPr lang="en-CH"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bg2">
                              <a:lumMod val="25000"/>
                            </a:schemeClr>
                          </a:solidFill>
                        </a:rPr>
                        <a:t>T</a:t>
                      </a:r>
                      <a:r>
                        <a:rPr lang="en-CH" dirty="0">
                          <a:solidFill>
                            <a:schemeClr val="bg2">
                              <a:lumMod val="25000"/>
                            </a:schemeClr>
                          </a:solidFill>
                        </a:rPr>
                        <a:t>ime increase</a:t>
                      </a:r>
                      <a:r>
                        <a:rPr lang="en-US" dirty="0">
                          <a:solidFill>
                            <a:schemeClr val="bg2">
                              <a:lumMod val="25000"/>
                            </a:schemeClr>
                          </a:solidFill>
                        </a:rPr>
                        <a:t>,</a:t>
                      </a:r>
                      <a:r>
                        <a:rPr lang="en-CH" dirty="0">
                          <a:solidFill>
                            <a:schemeClr val="bg2">
                              <a:lumMod val="25000"/>
                            </a:schemeClr>
                          </a:solidFill>
                        </a:rPr>
                        <a:t> </a:t>
                      </a:r>
                      <a:r>
                        <a:rPr lang="en-US" dirty="0">
                          <a:solidFill>
                            <a:schemeClr val="bg2">
                              <a:lumMod val="25000"/>
                            </a:schemeClr>
                          </a:solidFill>
                        </a:rPr>
                        <a:t>when</a:t>
                      </a:r>
                      <a:r>
                        <a:rPr lang="en-CH" dirty="0">
                          <a:solidFill>
                            <a:schemeClr val="bg2">
                              <a:lumMod val="25000"/>
                            </a:schemeClr>
                          </a:solidFill>
                        </a:rPr>
                        <a:t> data increases 10x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16493350"/>
                  </a:ext>
                </a:extLst>
              </a:tr>
              <a:tr h="370840">
                <a:tc>
                  <a:txBody>
                    <a:bodyPr/>
                    <a:lstStyle/>
                    <a:p>
                      <a:r>
                        <a:rPr lang="en-CH" b="1" dirty="0">
                          <a:solidFill>
                            <a:srgbClr val="1F45FF"/>
                          </a:solidFill>
                        </a:rPr>
                        <a:t>O(1)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constant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1x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0070366"/>
                  </a:ext>
                </a:extLst>
              </a:tr>
              <a:tr h="370840">
                <a:tc>
                  <a:txBody>
                    <a:bodyPr/>
                    <a:lstStyle/>
                    <a:p>
                      <a:r>
                        <a:rPr lang="en-CH" b="1" dirty="0">
                          <a:solidFill>
                            <a:srgbClr val="56D72C"/>
                          </a:solidFill>
                        </a:rPr>
                        <a: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linear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10x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7992344"/>
                  </a:ext>
                </a:extLst>
              </a:tr>
              <a:tr h="370840">
                <a:tc>
                  <a:txBody>
                    <a:bodyPr/>
                    <a:lstStyle/>
                    <a:p>
                      <a:r>
                        <a:rPr lang="en-CH" b="1" dirty="0">
                          <a:solidFill>
                            <a:srgbClr val="FF8B00"/>
                          </a:solidFill>
                        </a:rPr>
                        <a:t>O</a:t>
                      </a:r>
                      <a:r>
                        <a:rPr lang="en-CH" b="1">
                          <a:solidFill>
                            <a:srgbClr val="FF8B00"/>
                          </a:solidFill>
                        </a:rPr>
                        <a:t>(n</a:t>
                      </a:r>
                      <a:r>
                        <a:rPr lang="en-CH" b="1" baseline="30000">
                          <a:solidFill>
                            <a:srgbClr val="FF8B00"/>
                          </a:solidFill>
                        </a:rPr>
                        <a:t>2</a:t>
                      </a:r>
                      <a:r>
                        <a:rPr lang="en-CH" b="1" dirty="0">
                          <a:solidFill>
                            <a:srgbClr val="FF8B0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quadratic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100x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7025948"/>
                  </a:ext>
                </a:extLst>
              </a:tr>
              <a:tr h="370840">
                <a:tc>
                  <a:txBody>
                    <a:bodyPr/>
                    <a:lstStyle/>
                    <a:p>
                      <a:r>
                        <a:rPr lang="en-CH" b="1" dirty="0">
                          <a:solidFill>
                            <a:srgbClr val="FF8CD8"/>
                          </a:solidFill>
                        </a:rPr>
                        <a:t>O(n * log 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linearithmic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~10-20x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2769138"/>
                  </a:ext>
                </a:extLst>
              </a:tr>
              <a:tr h="370840">
                <a:tc>
                  <a:txBody>
                    <a:bodyPr/>
                    <a:lstStyle/>
                    <a:p>
                      <a:r>
                        <a:rPr lang="en-CH" b="1" dirty="0">
                          <a:solidFill>
                            <a:srgbClr val="0092FF"/>
                          </a:solidFill>
                        </a:rPr>
                        <a:t>O(log 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logarithmic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~1-2x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1720873"/>
                  </a:ext>
                </a:extLst>
              </a:tr>
            </a:tbl>
          </a:graphicData>
        </a:graphic>
      </p:graphicFrame>
      <p:grpSp>
        <p:nvGrpSpPr>
          <p:cNvPr id="17" name="Group 16">
            <a:extLst>
              <a:ext uri="{FF2B5EF4-FFF2-40B4-BE49-F238E27FC236}">
                <a16:creationId xmlns:a16="http://schemas.microsoft.com/office/drawing/2014/main" id="{D393E11A-0940-7F3E-8EF2-42DBDBE2BA36}"/>
              </a:ext>
            </a:extLst>
          </p:cNvPr>
          <p:cNvGrpSpPr/>
          <p:nvPr/>
        </p:nvGrpSpPr>
        <p:grpSpPr>
          <a:xfrm>
            <a:off x="7032103" y="1216973"/>
            <a:ext cx="4968553" cy="4423960"/>
            <a:chOff x="7032103" y="1216973"/>
            <a:chExt cx="4968553" cy="4423960"/>
          </a:xfrm>
        </p:grpSpPr>
        <p:pic>
          <p:nvPicPr>
            <p:cNvPr id="11" name="Picture 4" descr="Big O notation- What is it good for? – The Craft of Coding">
              <a:extLst>
                <a:ext uri="{FF2B5EF4-FFF2-40B4-BE49-F238E27FC236}">
                  <a16:creationId xmlns:a16="http://schemas.microsoft.com/office/drawing/2014/main" id="{88B64CF8-480D-6156-D60C-0F8D5DCC0C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6120" y="1216973"/>
              <a:ext cx="4464496" cy="42528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B3CB49A-07A0-C3B9-4A2C-A7BA1017B6E3}"/>
                </a:ext>
              </a:extLst>
            </p:cNvPr>
            <p:cNvSpPr txBox="1"/>
            <p:nvPr/>
          </p:nvSpPr>
          <p:spPr>
            <a:xfrm rot="16200000">
              <a:off x="6095392" y="3112559"/>
              <a:ext cx="2335088" cy="461665"/>
            </a:xfrm>
            <a:prstGeom prst="rect">
              <a:avLst/>
            </a:prstGeom>
            <a:solidFill>
              <a:schemeClr val="bg1"/>
            </a:solidFill>
          </p:spPr>
          <p:txBody>
            <a:bodyPr wrap="square" rtlCol="0">
              <a:spAutoFit/>
            </a:bodyPr>
            <a:lstStyle/>
            <a:p>
              <a:pPr algn="ctr"/>
              <a:r>
                <a:rPr lang="en-CH" sz="2400" dirty="0"/>
                <a:t>Time</a:t>
              </a:r>
            </a:p>
          </p:txBody>
        </p:sp>
        <p:sp>
          <p:nvSpPr>
            <p:cNvPr id="7" name="TextBox 6">
              <a:extLst>
                <a:ext uri="{FF2B5EF4-FFF2-40B4-BE49-F238E27FC236}">
                  <a16:creationId xmlns:a16="http://schemas.microsoft.com/office/drawing/2014/main" id="{4FD25CA8-C5A0-9846-314B-26B0FE7E72DC}"/>
                </a:ext>
              </a:extLst>
            </p:cNvPr>
            <p:cNvSpPr txBox="1"/>
            <p:nvPr/>
          </p:nvSpPr>
          <p:spPr>
            <a:xfrm>
              <a:off x="8240824" y="5179268"/>
              <a:ext cx="2335088" cy="461665"/>
            </a:xfrm>
            <a:prstGeom prst="rect">
              <a:avLst/>
            </a:prstGeom>
            <a:solidFill>
              <a:schemeClr val="bg1"/>
            </a:solidFill>
          </p:spPr>
          <p:txBody>
            <a:bodyPr wrap="square" rtlCol="0">
              <a:spAutoFit/>
            </a:bodyPr>
            <a:lstStyle/>
            <a:p>
              <a:pPr algn="ctr"/>
              <a:r>
                <a:rPr lang="en-CH" sz="2400" dirty="0"/>
                <a:t>Input size, n</a:t>
              </a:r>
            </a:p>
          </p:txBody>
        </p:sp>
        <p:sp>
          <p:nvSpPr>
            <p:cNvPr id="9" name="TextBox 8">
              <a:extLst>
                <a:ext uri="{FF2B5EF4-FFF2-40B4-BE49-F238E27FC236}">
                  <a16:creationId xmlns:a16="http://schemas.microsoft.com/office/drawing/2014/main" id="{2426D3F2-FE80-E41C-D58F-6AB0CA6BD5CF}"/>
                </a:ext>
              </a:extLst>
            </p:cNvPr>
            <p:cNvSpPr txBox="1"/>
            <p:nvPr/>
          </p:nvSpPr>
          <p:spPr>
            <a:xfrm>
              <a:off x="10920536" y="2917700"/>
              <a:ext cx="799120" cy="400110"/>
            </a:xfrm>
            <a:prstGeom prst="rect">
              <a:avLst/>
            </a:prstGeom>
            <a:solidFill>
              <a:schemeClr val="bg1"/>
            </a:solidFill>
          </p:spPr>
          <p:txBody>
            <a:bodyPr wrap="square" rtlCol="0">
              <a:spAutoFit/>
            </a:bodyPr>
            <a:lstStyle/>
            <a:p>
              <a:r>
                <a:rPr lang="en-CH" sz="2000" dirty="0">
                  <a:solidFill>
                    <a:srgbClr val="56D72C"/>
                  </a:solidFill>
                </a:rPr>
                <a:t>O(n)</a:t>
              </a:r>
            </a:p>
          </p:txBody>
        </p:sp>
        <p:sp>
          <p:nvSpPr>
            <p:cNvPr id="10" name="TextBox 9">
              <a:extLst>
                <a:ext uri="{FF2B5EF4-FFF2-40B4-BE49-F238E27FC236}">
                  <a16:creationId xmlns:a16="http://schemas.microsoft.com/office/drawing/2014/main" id="{6E13CADC-8927-73E6-4D6C-9FB7B0F77DE8}"/>
                </a:ext>
              </a:extLst>
            </p:cNvPr>
            <p:cNvSpPr txBox="1"/>
            <p:nvPr/>
          </p:nvSpPr>
          <p:spPr>
            <a:xfrm>
              <a:off x="10920536" y="3993700"/>
              <a:ext cx="1080120" cy="400110"/>
            </a:xfrm>
            <a:prstGeom prst="rect">
              <a:avLst/>
            </a:prstGeom>
            <a:solidFill>
              <a:schemeClr val="bg1"/>
            </a:solidFill>
          </p:spPr>
          <p:txBody>
            <a:bodyPr wrap="square" rtlCol="0">
              <a:spAutoFit/>
            </a:bodyPr>
            <a:lstStyle/>
            <a:p>
              <a:r>
                <a:rPr lang="en-CH" sz="2000" dirty="0">
                  <a:solidFill>
                    <a:srgbClr val="0295FF"/>
                  </a:solidFill>
                </a:rPr>
                <a:t>O(log n)</a:t>
              </a:r>
            </a:p>
          </p:txBody>
        </p:sp>
        <p:sp>
          <p:nvSpPr>
            <p:cNvPr id="12" name="TextBox 11">
              <a:extLst>
                <a:ext uri="{FF2B5EF4-FFF2-40B4-BE49-F238E27FC236}">
                  <a16:creationId xmlns:a16="http://schemas.microsoft.com/office/drawing/2014/main" id="{567A70DA-9496-138C-D0A3-9DEAEA3CB351}"/>
                </a:ext>
              </a:extLst>
            </p:cNvPr>
            <p:cNvSpPr txBox="1"/>
            <p:nvPr/>
          </p:nvSpPr>
          <p:spPr>
            <a:xfrm>
              <a:off x="10920536" y="4491468"/>
              <a:ext cx="1080120" cy="400110"/>
            </a:xfrm>
            <a:prstGeom prst="rect">
              <a:avLst/>
            </a:prstGeom>
            <a:solidFill>
              <a:schemeClr val="bg1"/>
            </a:solidFill>
          </p:spPr>
          <p:txBody>
            <a:bodyPr wrap="square" rtlCol="0">
              <a:spAutoFit/>
            </a:bodyPr>
            <a:lstStyle/>
            <a:p>
              <a:r>
                <a:rPr lang="en-CH" sz="2000" dirty="0">
                  <a:solidFill>
                    <a:srgbClr val="0020FF"/>
                  </a:solidFill>
                </a:rPr>
                <a:t>O(1)</a:t>
              </a:r>
            </a:p>
          </p:txBody>
        </p:sp>
        <p:sp>
          <p:nvSpPr>
            <p:cNvPr id="13" name="TextBox 12">
              <a:extLst>
                <a:ext uri="{FF2B5EF4-FFF2-40B4-BE49-F238E27FC236}">
                  <a16:creationId xmlns:a16="http://schemas.microsoft.com/office/drawing/2014/main" id="{00748C42-37AD-707B-F64F-928FD7CA0E45}"/>
                </a:ext>
              </a:extLst>
            </p:cNvPr>
            <p:cNvSpPr txBox="1"/>
            <p:nvPr/>
          </p:nvSpPr>
          <p:spPr>
            <a:xfrm>
              <a:off x="10380476" y="1425112"/>
              <a:ext cx="1260140" cy="400110"/>
            </a:xfrm>
            <a:prstGeom prst="rect">
              <a:avLst/>
            </a:prstGeom>
            <a:solidFill>
              <a:schemeClr val="bg1"/>
            </a:solidFill>
          </p:spPr>
          <p:txBody>
            <a:bodyPr wrap="square" rtlCol="0">
              <a:spAutoFit/>
            </a:bodyPr>
            <a:lstStyle/>
            <a:p>
              <a:r>
                <a:rPr lang="en-CH" sz="2000" dirty="0">
                  <a:solidFill>
                    <a:srgbClr val="FF8CD8"/>
                  </a:solidFill>
                </a:rPr>
                <a:t>O(n log n)</a:t>
              </a:r>
            </a:p>
          </p:txBody>
        </p:sp>
        <p:sp>
          <p:nvSpPr>
            <p:cNvPr id="15" name="TextBox 14">
              <a:extLst>
                <a:ext uri="{FF2B5EF4-FFF2-40B4-BE49-F238E27FC236}">
                  <a16:creationId xmlns:a16="http://schemas.microsoft.com/office/drawing/2014/main" id="{F894B366-E44B-9EA6-ECA3-B761A26C4317}"/>
                </a:ext>
              </a:extLst>
            </p:cNvPr>
            <p:cNvSpPr txBox="1"/>
            <p:nvPr/>
          </p:nvSpPr>
          <p:spPr>
            <a:xfrm>
              <a:off x="9412267" y="1357742"/>
              <a:ext cx="788189" cy="400110"/>
            </a:xfrm>
            <a:prstGeom prst="rect">
              <a:avLst/>
            </a:prstGeom>
            <a:solidFill>
              <a:schemeClr val="bg1"/>
            </a:solidFill>
          </p:spPr>
          <p:txBody>
            <a:bodyPr wrap="square" rtlCol="0">
              <a:spAutoFit/>
            </a:bodyPr>
            <a:lstStyle/>
            <a:p>
              <a:r>
                <a:rPr lang="en-CH" sz="2000" dirty="0">
                  <a:solidFill>
                    <a:srgbClr val="FF8B00"/>
                  </a:solidFill>
                </a:rPr>
                <a:t>O(n</a:t>
              </a:r>
              <a:r>
                <a:rPr lang="en-CH" sz="2000" baseline="30000" dirty="0">
                  <a:solidFill>
                    <a:srgbClr val="FF8B00"/>
                  </a:solidFill>
                </a:rPr>
                <a:t>2</a:t>
              </a:r>
              <a:r>
                <a:rPr lang="en-CH" sz="2000" dirty="0">
                  <a:solidFill>
                    <a:srgbClr val="FF8B00"/>
                  </a:solidFill>
                </a:rPr>
                <a:t>)</a:t>
              </a:r>
            </a:p>
          </p:txBody>
        </p:sp>
        <p:sp>
          <p:nvSpPr>
            <p:cNvPr id="16" name="TextBox 15">
              <a:extLst>
                <a:ext uri="{FF2B5EF4-FFF2-40B4-BE49-F238E27FC236}">
                  <a16:creationId xmlns:a16="http://schemas.microsoft.com/office/drawing/2014/main" id="{DD61754C-FB6E-5DBD-79EF-0027219F702E}"/>
                </a:ext>
              </a:extLst>
            </p:cNvPr>
            <p:cNvSpPr txBox="1"/>
            <p:nvPr/>
          </p:nvSpPr>
          <p:spPr>
            <a:xfrm>
              <a:off x="8294757" y="1357742"/>
              <a:ext cx="788189" cy="400110"/>
            </a:xfrm>
            <a:prstGeom prst="rect">
              <a:avLst/>
            </a:prstGeom>
            <a:solidFill>
              <a:schemeClr val="bg1"/>
            </a:solidFill>
          </p:spPr>
          <p:txBody>
            <a:bodyPr wrap="square" rtlCol="0">
              <a:spAutoFit/>
            </a:bodyPr>
            <a:lstStyle/>
            <a:p>
              <a:r>
                <a:rPr lang="en-CH" sz="2000" dirty="0">
                  <a:solidFill>
                    <a:srgbClr val="FF0000"/>
                  </a:solidFill>
                </a:rPr>
                <a:t>O(2</a:t>
              </a:r>
              <a:r>
                <a:rPr lang="en-CH" sz="2000" baseline="30000" dirty="0">
                  <a:solidFill>
                    <a:srgbClr val="FF0000"/>
                  </a:solidFill>
                </a:rPr>
                <a:t>n</a:t>
              </a:r>
              <a:r>
                <a:rPr lang="en-CH" sz="2000" dirty="0">
                  <a:solidFill>
                    <a:srgbClr val="FF0000"/>
                  </a:solidFill>
                </a:rPr>
                <a:t>)</a:t>
              </a:r>
            </a:p>
          </p:txBody>
        </p:sp>
      </p:grpSp>
      <p:graphicFrame>
        <p:nvGraphicFramePr>
          <p:cNvPr id="14" name="Table 13">
            <a:extLst>
              <a:ext uri="{FF2B5EF4-FFF2-40B4-BE49-F238E27FC236}">
                <a16:creationId xmlns:a16="http://schemas.microsoft.com/office/drawing/2014/main" id="{7653617D-61E3-4589-3DD8-3CBB47B50DCA}"/>
              </a:ext>
            </a:extLst>
          </p:cNvPr>
          <p:cNvGraphicFramePr>
            <a:graphicFrameLocks noGrp="1"/>
          </p:cNvGraphicFramePr>
          <p:nvPr>
            <p:extLst>
              <p:ext uri="{D42A27DB-BD31-4B8C-83A1-F6EECF244321}">
                <p14:modId xmlns:p14="http://schemas.microsoft.com/office/powerpoint/2010/main" val="1592027028"/>
              </p:ext>
            </p:extLst>
          </p:nvPr>
        </p:nvGraphicFramePr>
        <p:xfrm>
          <a:off x="751384" y="3957955"/>
          <a:ext cx="5632648" cy="2261020"/>
        </p:xfrm>
        <a:graphic>
          <a:graphicData uri="http://schemas.openxmlformats.org/drawingml/2006/table">
            <a:tbl>
              <a:tblPr firstRow="1" bandRow="1">
                <a:tableStyleId>{5C22544A-7EE6-4342-B048-85BDC9FD1C3A}</a:tableStyleId>
              </a:tblPr>
              <a:tblGrid>
                <a:gridCol w="1408471">
                  <a:extLst>
                    <a:ext uri="{9D8B030D-6E8A-4147-A177-3AD203B41FA5}">
                      <a16:colId xmlns:a16="http://schemas.microsoft.com/office/drawing/2014/main" val="2060215517"/>
                    </a:ext>
                  </a:extLst>
                </a:gridCol>
                <a:gridCol w="4224177">
                  <a:extLst>
                    <a:ext uri="{9D8B030D-6E8A-4147-A177-3AD203B41FA5}">
                      <a16:colId xmlns:a16="http://schemas.microsoft.com/office/drawing/2014/main" val="3738325131"/>
                    </a:ext>
                  </a:extLst>
                </a:gridCol>
              </a:tblGrid>
              <a:tr h="411900">
                <a:tc>
                  <a:txBody>
                    <a:bodyPr/>
                    <a:lstStyle/>
                    <a:p>
                      <a:r>
                        <a:rPr lang="en-US" dirty="0">
                          <a:solidFill>
                            <a:schemeClr val="bg2">
                              <a:lumMod val="25000"/>
                            </a:schemeClr>
                          </a:solidFill>
                        </a:rPr>
                        <a:t>B</a:t>
                      </a:r>
                      <a:r>
                        <a:rPr lang="en-CH" dirty="0">
                          <a:solidFill>
                            <a:schemeClr val="bg2">
                              <a:lumMod val="25000"/>
                            </a:schemeClr>
                          </a:solidFill>
                        </a:rPr>
                        <a:t>ig-O 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CH" dirty="0">
                          <a:solidFill>
                            <a:schemeClr val="bg2">
                              <a:lumMod val="25000"/>
                            </a:schemeClr>
                          </a:solidFill>
                        </a:rPr>
                        <a:t>Operation on lists that scales this way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16493350"/>
                  </a:ext>
                </a:extLst>
              </a:tr>
              <a:tr h="370840">
                <a:tc>
                  <a:txBody>
                    <a:bodyPr/>
                    <a:lstStyle/>
                    <a:p>
                      <a:r>
                        <a:rPr lang="en-CH" b="1" dirty="0">
                          <a:solidFill>
                            <a:srgbClr val="1F45FF"/>
                          </a:solidFill>
                        </a:rPr>
                        <a:t>O(1)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CH"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0070366"/>
                  </a:ext>
                </a:extLst>
              </a:tr>
              <a:tr h="370840">
                <a:tc>
                  <a:txBody>
                    <a:bodyPr/>
                    <a:lstStyle/>
                    <a:p>
                      <a:r>
                        <a:rPr lang="en-CH" b="1" dirty="0">
                          <a:solidFill>
                            <a:srgbClr val="56D72C"/>
                          </a:solidFill>
                        </a:rPr>
                        <a: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CH"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7992344"/>
                  </a:ext>
                </a:extLst>
              </a:tr>
              <a:tr h="370840">
                <a:tc>
                  <a:txBody>
                    <a:bodyPr/>
                    <a:lstStyle/>
                    <a:p>
                      <a:r>
                        <a:rPr lang="en-CH" b="1" dirty="0">
                          <a:solidFill>
                            <a:srgbClr val="FF8B00"/>
                          </a:solidFill>
                        </a:rPr>
                        <a:t>O</a:t>
                      </a:r>
                      <a:r>
                        <a:rPr lang="en-CH" b="1">
                          <a:solidFill>
                            <a:srgbClr val="FF8B00"/>
                          </a:solidFill>
                        </a:rPr>
                        <a:t>(n</a:t>
                      </a:r>
                      <a:r>
                        <a:rPr lang="en-CH" b="1" baseline="30000">
                          <a:solidFill>
                            <a:srgbClr val="FF8B00"/>
                          </a:solidFill>
                        </a:rPr>
                        <a:t>2</a:t>
                      </a:r>
                      <a:r>
                        <a:rPr lang="en-CH" b="1" dirty="0">
                          <a:solidFill>
                            <a:srgbClr val="FF8B0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H"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67025948"/>
                  </a:ext>
                </a:extLst>
              </a:tr>
              <a:tr h="370840">
                <a:tc>
                  <a:txBody>
                    <a:bodyPr/>
                    <a:lstStyle/>
                    <a:p>
                      <a:r>
                        <a:rPr lang="en-CH" b="1" dirty="0">
                          <a:solidFill>
                            <a:srgbClr val="FF8CD8"/>
                          </a:solidFill>
                        </a:rPr>
                        <a:t>O(n * log 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CH"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2769138"/>
                  </a:ext>
                </a:extLst>
              </a:tr>
              <a:tr h="0">
                <a:tc>
                  <a:txBody>
                    <a:bodyPr/>
                    <a:lstStyle/>
                    <a:p>
                      <a:r>
                        <a:rPr lang="en-CH" b="1" dirty="0">
                          <a:solidFill>
                            <a:srgbClr val="0092FF"/>
                          </a:solidFill>
                        </a:rPr>
                        <a:t>O(log 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CH"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21720873"/>
                  </a:ext>
                </a:extLst>
              </a:tr>
            </a:tbl>
          </a:graphicData>
        </a:graphic>
      </p:graphicFrame>
      <p:sp>
        <p:nvSpPr>
          <p:cNvPr id="19" name="Rectangle 18">
            <a:extLst>
              <a:ext uri="{FF2B5EF4-FFF2-40B4-BE49-F238E27FC236}">
                <a16:creationId xmlns:a16="http://schemas.microsoft.com/office/drawing/2014/main" id="{4BC7B416-592F-8FE2-1250-AEF3B02D7DDE}"/>
              </a:ext>
            </a:extLst>
          </p:cNvPr>
          <p:cNvSpPr/>
          <p:nvPr/>
        </p:nvSpPr>
        <p:spPr>
          <a:xfrm>
            <a:off x="11052383" y="205950"/>
            <a:ext cx="827981" cy="702769"/>
          </a:xfrm>
          <a:prstGeom prst="rect">
            <a:avLst/>
          </a:prstGeom>
          <a:solidFill>
            <a:schemeClr val="accent6">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latin typeface="Courier New" panose="02070309020205020404" pitchFamily="49" charset="0"/>
              <a:cs typeface="Courier New" panose="02070309020205020404" pitchFamily="49" charset="0"/>
            </a:endParaRPr>
          </a:p>
        </p:txBody>
      </p:sp>
      <p:pic>
        <p:nvPicPr>
          <p:cNvPr id="20" name="Graphic 19">
            <a:extLst>
              <a:ext uri="{FF2B5EF4-FFF2-40B4-BE49-F238E27FC236}">
                <a16:creationId xmlns:a16="http://schemas.microsoft.com/office/drawing/2014/main" id="{4153C0E7-C1EC-3A3A-9D5E-ADBF371D36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19144" y="279550"/>
            <a:ext cx="694459" cy="555568"/>
          </a:xfrm>
          <a:prstGeom prst="rect">
            <a:avLst/>
          </a:prstGeom>
        </p:spPr>
      </p:pic>
    </p:spTree>
    <p:extLst>
      <p:ext uri="{BB962C8B-B14F-4D97-AF65-F5344CB8AC3E}">
        <p14:creationId xmlns:p14="http://schemas.microsoft.com/office/powerpoint/2010/main" val="1287350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F7877-5F5B-84D0-CEB7-C01C57A494FB}"/>
              </a:ext>
            </a:extLst>
          </p:cNvPr>
          <p:cNvSpPr>
            <a:spLocks noGrp="1"/>
          </p:cNvSpPr>
          <p:nvPr>
            <p:ph type="title"/>
          </p:nvPr>
        </p:nvSpPr>
        <p:spPr/>
        <p:txBody>
          <a:bodyPr/>
          <a:lstStyle/>
          <a:p>
            <a:r>
              <a:rPr lang="en-CH" dirty="0"/>
              <a:t>Hands-on: Operations on lists</a:t>
            </a:r>
          </a:p>
        </p:txBody>
      </p:sp>
      <p:sp>
        <p:nvSpPr>
          <p:cNvPr id="4" name="Date Placeholder 3">
            <a:extLst>
              <a:ext uri="{FF2B5EF4-FFF2-40B4-BE49-F238E27FC236}">
                <a16:creationId xmlns:a16="http://schemas.microsoft.com/office/drawing/2014/main" id="{7E704AA7-E172-E202-BF28-C2A93195BF34}"/>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D55C74D7-9954-B6EE-29AD-33296B345ECB}"/>
              </a:ext>
            </a:extLst>
          </p:cNvPr>
          <p:cNvSpPr>
            <a:spLocks noGrp="1"/>
          </p:cNvSpPr>
          <p:nvPr>
            <p:ph type="ftr" sz="quarter" idx="11"/>
          </p:nvPr>
        </p:nvSpPr>
        <p:spPr/>
        <p:txBody>
          <a:bodyPr/>
          <a:lstStyle/>
          <a:p>
            <a:r>
              <a:rPr lang="en-US"/>
              <a:t>Data, v3.0</a:t>
            </a:r>
            <a:endParaRPr lang="en-US" dirty="0"/>
          </a:p>
        </p:txBody>
      </p:sp>
      <p:sp>
        <p:nvSpPr>
          <p:cNvPr id="6" name="Slide Number Placeholder 5">
            <a:extLst>
              <a:ext uri="{FF2B5EF4-FFF2-40B4-BE49-F238E27FC236}">
                <a16:creationId xmlns:a16="http://schemas.microsoft.com/office/drawing/2014/main" id="{AFEE3AA8-4168-EDB7-48CB-5C264024277E}"/>
              </a:ext>
            </a:extLst>
          </p:cNvPr>
          <p:cNvSpPr>
            <a:spLocks noGrp="1"/>
          </p:cNvSpPr>
          <p:nvPr>
            <p:ph type="sldNum" sz="quarter" idx="12"/>
          </p:nvPr>
        </p:nvSpPr>
        <p:spPr/>
        <p:txBody>
          <a:bodyPr/>
          <a:lstStyle/>
          <a:p>
            <a:fld id="{EF79ADEA-B933-47CC-A4E9-04E6298B917C}" type="slidenum">
              <a:rPr lang="en-US" smtClean="0"/>
              <a:pPr/>
              <a:t>16</a:t>
            </a:fld>
            <a:endParaRPr lang="en-US"/>
          </a:p>
        </p:txBody>
      </p:sp>
      <p:graphicFrame>
        <p:nvGraphicFramePr>
          <p:cNvPr id="8" name="Table 7">
            <a:extLst>
              <a:ext uri="{FF2B5EF4-FFF2-40B4-BE49-F238E27FC236}">
                <a16:creationId xmlns:a16="http://schemas.microsoft.com/office/drawing/2014/main" id="{9F4D7767-8D38-9EC2-E9DE-CB44B2A754DB}"/>
              </a:ext>
            </a:extLst>
          </p:cNvPr>
          <p:cNvGraphicFramePr>
            <a:graphicFrameLocks noGrp="1"/>
          </p:cNvGraphicFramePr>
          <p:nvPr/>
        </p:nvGraphicFramePr>
        <p:xfrm>
          <a:off x="751384" y="1258760"/>
          <a:ext cx="5632648" cy="2494280"/>
        </p:xfrm>
        <a:graphic>
          <a:graphicData uri="http://schemas.openxmlformats.org/drawingml/2006/table">
            <a:tbl>
              <a:tblPr firstRow="1" bandRow="1">
                <a:tableStyleId>{5C22544A-7EE6-4342-B048-85BDC9FD1C3A}</a:tableStyleId>
              </a:tblPr>
              <a:tblGrid>
                <a:gridCol w="1401770">
                  <a:extLst>
                    <a:ext uri="{9D8B030D-6E8A-4147-A177-3AD203B41FA5}">
                      <a16:colId xmlns:a16="http://schemas.microsoft.com/office/drawing/2014/main" val="2060215517"/>
                    </a:ext>
                  </a:extLst>
                </a:gridCol>
                <a:gridCol w="1638590">
                  <a:extLst>
                    <a:ext uri="{9D8B030D-6E8A-4147-A177-3AD203B41FA5}">
                      <a16:colId xmlns:a16="http://schemas.microsoft.com/office/drawing/2014/main" val="3200531112"/>
                    </a:ext>
                  </a:extLst>
                </a:gridCol>
                <a:gridCol w="2592288">
                  <a:extLst>
                    <a:ext uri="{9D8B030D-6E8A-4147-A177-3AD203B41FA5}">
                      <a16:colId xmlns:a16="http://schemas.microsoft.com/office/drawing/2014/main" val="1401730132"/>
                    </a:ext>
                  </a:extLst>
                </a:gridCol>
              </a:tblGrid>
              <a:tr h="419521">
                <a:tc>
                  <a:txBody>
                    <a:bodyPr/>
                    <a:lstStyle/>
                    <a:p>
                      <a:r>
                        <a:rPr lang="en-US" dirty="0">
                          <a:solidFill>
                            <a:schemeClr val="bg2">
                              <a:lumMod val="25000"/>
                            </a:schemeClr>
                          </a:solidFill>
                        </a:rPr>
                        <a:t>B</a:t>
                      </a:r>
                      <a:r>
                        <a:rPr lang="en-CH" dirty="0">
                          <a:solidFill>
                            <a:schemeClr val="bg2">
                              <a:lumMod val="25000"/>
                            </a:schemeClr>
                          </a:solidFill>
                        </a:rPr>
                        <a:t>ig-O 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bg2">
                              <a:lumMod val="25000"/>
                            </a:schemeClr>
                          </a:solidFill>
                        </a:rPr>
                        <a:t>What we call it</a:t>
                      </a:r>
                      <a:endParaRPr lang="en-CH"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bg2">
                              <a:lumMod val="25000"/>
                            </a:schemeClr>
                          </a:solidFill>
                        </a:rPr>
                        <a:t>T</a:t>
                      </a:r>
                      <a:r>
                        <a:rPr lang="en-CH" dirty="0">
                          <a:solidFill>
                            <a:schemeClr val="bg2">
                              <a:lumMod val="25000"/>
                            </a:schemeClr>
                          </a:solidFill>
                        </a:rPr>
                        <a:t>ime increase</a:t>
                      </a:r>
                      <a:r>
                        <a:rPr lang="en-US" dirty="0">
                          <a:solidFill>
                            <a:schemeClr val="bg2">
                              <a:lumMod val="25000"/>
                            </a:schemeClr>
                          </a:solidFill>
                        </a:rPr>
                        <a:t>,</a:t>
                      </a:r>
                      <a:r>
                        <a:rPr lang="en-CH" dirty="0">
                          <a:solidFill>
                            <a:schemeClr val="bg2">
                              <a:lumMod val="25000"/>
                            </a:schemeClr>
                          </a:solidFill>
                        </a:rPr>
                        <a:t> </a:t>
                      </a:r>
                      <a:r>
                        <a:rPr lang="en-US" dirty="0">
                          <a:solidFill>
                            <a:schemeClr val="bg2">
                              <a:lumMod val="25000"/>
                            </a:schemeClr>
                          </a:solidFill>
                        </a:rPr>
                        <a:t>when</a:t>
                      </a:r>
                      <a:r>
                        <a:rPr lang="en-CH" dirty="0">
                          <a:solidFill>
                            <a:schemeClr val="bg2">
                              <a:lumMod val="25000"/>
                            </a:schemeClr>
                          </a:solidFill>
                        </a:rPr>
                        <a:t> data increases 10x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16493350"/>
                  </a:ext>
                </a:extLst>
              </a:tr>
              <a:tr h="370840">
                <a:tc>
                  <a:txBody>
                    <a:bodyPr/>
                    <a:lstStyle/>
                    <a:p>
                      <a:r>
                        <a:rPr lang="en-CH" b="1" dirty="0">
                          <a:solidFill>
                            <a:srgbClr val="1F45FF"/>
                          </a:solidFill>
                        </a:rPr>
                        <a:t>O(1)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constant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1x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0070366"/>
                  </a:ext>
                </a:extLst>
              </a:tr>
              <a:tr h="370840">
                <a:tc>
                  <a:txBody>
                    <a:bodyPr/>
                    <a:lstStyle/>
                    <a:p>
                      <a:r>
                        <a:rPr lang="en-CH" b="1" dirty="0">
                          <a:solidFill>
                            <a:srgbClr val="56D72C"/>
                          </a:solidFill>
                        </a:rPr>
                        <a: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linear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10x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7992344"/>
                  </a:ext>
                </a:extLst>
              </a:tr>
              <a:tr h="370840">
                <a:tc>
                  <a:txBody>
                    <a:bodyPr/>
                    <a:lstStyle/>
                    <a:p>
                      <a:r>
                        <a:rPr lang="en-CH" b="1" dirty="0">
                          <a:solidFill>
                            <a:srgbClr val="FF8B00"/>
                          </a:solidFill>
                        </a:rPr>
                        <a:t>O</a:t>
                      </a:r>
                      <a:r>
                        <a:rPr lang="en-CH" b="1">
                          <a:solidFill>
                            <a:srgbClr val="FF8B00"/>
                          </a:solidFill>
                        </a:rPr>
                        <a:t>(n</a:t>
                      </a:r>
                      <a:r>
                        <a:rPr lang="en-CH" b="1" baseline="30000">
                          <a:solidFill>
                            <a:srgbClr val="FF8B00"/>
                          </a:solidFill>
                        </a:rPr>
                        <a:t>2</a:t>
                      </a:r>
                      <a:r>
                        <a:rPr lang="en-CH" b="1" dirty="0">
                          <a:solidFill>
                            <a:srgbClr val="FF8B0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quadratic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100x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7025948"/>
                  </a:ext>
                </a:extLst>
              </a:tr>
              <a:tr h="370840">
                <a:tc>
                  <a:txBody>
                    <a:bodyPr/>
                    <a:lstStyle/>
                    <a:p>
                      <a:r>
                        <a:rPr lang="en-CH" b="1" dirty="0">
                          <a:solidFill>
                            <a:srgbClr val="FF8CD8"/>
                          </a:solidFill>
                        </a:rPr>
                        <a:t>O(n * log 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linearithmic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~10-20x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2769138"/>
                  </a:ext>
                </a:extLst>
              </a:tr>
              <a:tr h="370840">
                <a:tc>
                  <a:txBody>
                    <a:bodyPr/>
                    <a:lstStyle/>
                    <a:p>
                      <a:r>
                        <a:rPr lang="en-CH" b="1" dirty="0">
                          <a:solidFill>
                            <a:srgbClr val="0092FF"/>
                          </a:solidFill>
                        </a:rPr>
                        <a:t>O(log 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logarithmic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H" dirty="0"/>
                        <a:t>~1-2x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1720873"/>
                  </a:ext>
                </a:extLst>
              </a:tr>
            </a:tbl>
          </a:graphicData>
        </a:graphic>
      </p:graphicFrame>
      <p:grpSp>
        <p:nvGrpSpPr>
          <p:cNvPr id="17" name="Group 16">
            <a:extLst>
              <a:ext uri="{FF2B5EF4-FFF2-40B4-BE49-F238E27FC236}">
                <a16:creationId xmlns:a16="http://schemas.microsoft.com/office/drawing/2014/main" id="{D393E11A-0940-7F3E-8EF2-42DBDBE2BA36}"/>
              </a:ext>
            </a:extLst>
          </p:cNvPr>
          <p:cNvGrpSpPr/>
          <p:nvPr/>
        </p:nvGrpSpPr>
        <p:grpSpPr>
          <a:xfrm>
            <a:off x="7032103" y="1216973"/>
            <a:ext cx="4968553" cy="4423960"/>
            <a:chOff x="7032103" y="1216973"/>
            <a:chExt cx="4968553" cy="4423960"/>
          </a:xfrm>
        </p:grpSpPr>
        <p:pic>
          <p:nvPicPr>
            <p:cNvPr id="11" name="Picture 4" descr="Big O notation- What is it good for? – The Craft of Coding">
              <a:extLst>
                <a:ext uri="{FF2B5EF4-FFF2-40B4-BE49-F238E27FC236}">
                  <a16:creationId xmlns:a16="http://schemas.microsoft.com/office/drawing/2014/main" id="{88B64CF8-480D-6156-D60C-0F8D5DCC0C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6120" y="1216973"/>
              <a:ext cx="4464496" cy="42528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B3CB49A-07A0-C3B9-4A2C-A7BA1017B6E3}"/>
                </a:ext>
              </a:extLst>
            </p:cNvPr>
            <p:cNvSpPr txBox="1"/>
            <p:nvPr/>
          </p:nvSpPr>
          <p:spPr>
            <a:xfrm rot="16200000">
              <a:off x="6095392" y="3112559"/>
              <a:ext cx="2335088" cy="461665"/>
            </a:xfrm>
            <a:prstGeom prst="rect">
              <a:avLst/>
            </a:prstGeom>
            <a:solidFill>
              <a:schemeClr val="bg1"/>
            </a:solidFill>
          </p:spPr>
          <p:txBody>
            <a:bodyPr wrap="square" rtlCol="0">
              <a:spAutoFit/>
            </a:bodyPr>
            <a:lstStyle/>
            <a:p>
              <a:pPr algn="ctr"/>
              <a:r>
                <a:rPr lang="en-CH" sz="2400" dirty="0"/>
                <a:t>Time</a:t>
              </a:r>
            </a:p>
          </p:txBody>
        </p:sp>
        <p:sp>
          <p:nvSpPr>
            <p:cNvPr id="7" name="TextBox 6">
              <a:extLst>
                <a:ext uri="{FF2B5EF4-FFF2-40B4-BE49-F238E27FC236}">
                  <a16:creationId xmlns:a16="http://schemas.microsoft.com/office/drawing/2014/main" id="{4FD25CA8-C5A0-9846-314B-26B0FE7E72DC}"/>
                </a:ext>
              </a:extLst>
            </p:cNvPr>
            <p:cNvSpPr txBox="1"/>
            <p:nvPr/>
          </p:nvSpPr>
          <p:spPr>
            <a:xfrm>
              <a:off x="8240824" y="5179268"/>
              <a:ext cx="2335088" cy="461665"/>
            </a:xfrm>
            <a:prstGeom prst="rect">
              <a:avLst/>
            </a:prstGeom>
            <a:solidFill>
              <a:schemeClr val="bg1"/>
            </a:solidFill>
          </p:spPr>
          <p:txBody>
            <a:bodyPr wrap="square" rtlCol="0">
              <a:spAutoFit/>
            </a:bodyPr>
            <a:lstStyle/>
            <a:p>
              <a:pPr algn="ctr"/>
              <a:r>
                <a:rPr lang="en-CH" sz="2400" dirty="0"/>
                <a:t>Input size, n</a:t>
              </a:r>
            </a:p>
          </p:txBody>
        </p:sp>
        <p:sp>
          <p:nvSpPr>
            <p:cNvPr id="9" name="TextBox 8">
              <a:extLst>
                <a:ext uri="{FF2B5EF4-FFF2-40B4-BE49-F238E27FC236}">
                  <a16:creationId xmlns:a16="http://schemas.microsoft.com/office/drawing/2014/main" id="{2426D3F2-FE80-E41C-D58F-6AB0CA6BD5CF}"/>
                </a:ext>
              </a:extLst>
            </p:cNvPr>
            <p:cNvSpPr txBox="1"/>
            <p:nvPr/>
          </p:nvSpPr>
          <p:spPr>
            <a:xfrm>
              <a:off x="10920536" y="2917700"/>
              <a:ext cx="799120" cy="400110"/>
            </a:xfrm>
            <a:prstGeom prst="rect">
              <a:avLst/>
            </a:prstGeom>
            <a:solidFill>
              <a:schemeClr val="bg1"/>
            </a:solidFill>
          </p:spPr>
          <p:txBody>
            <a:bodyPr wrap="square" rtlCol="0">
              <a:spAutoFit/>
            </a:bodyPr>
            <a:lstStyle/>
            <a:p>
              <a:r>
                <a:rPr lang="en-CH" sz="2000" dirty="0">
                  <a:solidFill>
                    <a:srgbClr val="56D72C"/>
                  </a:solidFill>
                </a:rPr>
                <a:t>O(n)</a:t>
              </a:r>
            </a:p>
          </p:txBody>
        </p:sp>
        <p:sp>
          <p:nvSpPr>
            <p:cNvPr id="10" name="TextBox 9">
              <a:extLst>
                <a:ext uri="{FF2B5EF4-FFF2-40B4-BE49-F238E27FC236}">
                  <a16:creationId xmlns:a16="http://schemas.microsoft.com/office/drawing/2014/main" id="{6E13CADC-8927-73E6-4D6C-9FB7B0F77DE8}"/>
                </a:ext>
              </a:extLst>
            </p:cNvPr>
            <p:cNvSpPr txBox="1"/>
            <p:nvPr/>
          </p:nvSpPr>
          <p:spPr>
            <a:xfrm>
              <a:off x="10920536" y="3993700"/>
              <a:ext cx="1080120" cy="400110"/>
            </a:xfrm>
            <a:prstGeom prst="rect">
              <a:avLst/>
            </a:prstGeom>
            <a:solidFill>
              <a:schemeClr val="bg1"/>
            </a:solidFill>
          </p:spPr>
          <p:txBody>
            <a:bodyPr wrap="square" rtlCol="0">
              <a:spAutoFit/>
            </a:bodyPr>
            <a:lstStyle/>
            <a:p>
              <a:r>
                <a:rPr lang="en-CH" sz="2000" dirty="0">
                  <a:solidFill>
                    <a:srgbClr val="0295FF"/>
                  </a:solidFill>
                </a:rPr>
                <a:t>O(log n)</a:t>
              </a:r>
            </a:p>
          </p:txBody>
        </p:sp>
        <p:sp>
          <p:nvSpPr>
            <p:cNvPr id="12" name="TextBox 11">
              <a:extLst>
                <a:ext uri="{FF2B5EF4-FFF2-40B4-BE49-F238E27FC236}">
                  <a16:creationId xmlns:a16="http://schemas.microsoft.com/office/drawing/2014/main" id="{567A70DA-9496-138C-D0A3-9DEAEA3CB351}"/>
                </a:ext>
              </a:extLst>
            </p:cNvPr>
            <p:cNvSpPr txBox="1"/>
            <p:nvPr/>
          </p:nvSpPr>
          <p:spPr>
            <a:xfrm>
              <a:off x="10920536" y="4491468"/>
              <a:ext cx="1080120" cy="400110"/>
            </a:xfrm>
            <a:prstGeom prst="rect">
              <a:avLst/>
            </a:prstGeom>
            <a:solidFill>
              <a:schemeClr val="bg1"/>
            </a:solidFill>
          </p:spPr>
          <p:txBody>
            <a:bodyPr wrap="square" rtlCol="0">
              <a:spAutoFit/>
            </a:bodyPr>
            <a:lstStyle/>
            <a:p>
              <a:r>
                <a:rPr lang="en-CH" sz="2000" dirty="0">
                  <a:solidFill>
                    <a:srgbClr val="0020FF"/>
                  </a:solidFill>
                </a:rPr>
                <a:t>O(1)</a:t>
              </a:r>
            </a:p>
          </p:txBody>
        </p:sp>
        <p:sp>
          <p:nvSpPr>
            <p:cNvPr id="13" name="TextBox 12">
              <a:extLst>
                <a:ext uri="{FF2B5EF4-FFF2-40B4-BE49-F238E27FC236}">
                  <a16:creationId xmlns:a16="http://schemas.microsoft.com/office/drawing/2014/main" id="{00748C42-37AD-707B-F64F-928FD7CA0E45}"/>
                </a:ext>
              </a:extLst>
            </p:cNvPr>
            <p:cNvSpPr txBox="1"/>
            <p:nvPr/>
          </p:nvSpPr>
          <p:spPr>
            <a:xfrm>
              <a:off x="10380476" y="1425112"/>
              <a:ext cx="1260140" cy="400110"/>
            </a:xfrm>
            <a:prstGeom prst="rect">
              <a:avLst/>
            </a:prstGeom>
            <a:solidFill>
              <a:schemeClr val="bg1"/>
            </a:solidFill>
          </p:spPr>
          <p:txBody>
            <a:bodyPr wrap="square" rtlCol="0">
              <a:spAutoFit/>
            </a:bodyPr>
            <a:lstStyle/>
            <a:p>
              <a:r>
                <a:rPr lang="en-CH" sz="2000" dirty="0">
                  <a:solidFill>
                    <a:srgbClr val="FF8CD8"/>
                  </a:solidFill>
                </a:rPr>
                <a:t>O(n log n)</a:t>
              </a:r>
            </a:p>
          </p:txBody>
        </p:sp>
        <p:sp>
          <p:nvSpPr>
            <p:cNvPr id="15" name="TextBox 14">
              <a:extLst>
                <a:ext uri="{FF2B5EF4-FFF2-40B4-BE49-F238E27FC236}">
                  <a16:creationId xmlns:a16="http://schemas.microsoft.com/office/drawing/2014/main" id="{F894B366-E44B-9EA6-ECA3-B761A26C4317}"/>
                </a:ext>
              </a:extLst>
            </p:cNvPr>
            <p:cNvSpPr txBox="1"/>
            <p:nvPr/>
          </p:nvSpPr>
          <p:spPr>
            <a:xfrm>
              <a:off x="9412267" y="1357742"/>
              <a:ext cx="788189" cy="400110"/>
            </a:xfrm>
            <a:prstGeom prst="rect">
              <a:avLst/>
            </a:prstGeom>
            <a:solidFill>
              <a:schemeClr val="bg1"/>
            </a:solidFill>
          </p:spPr>
          <p:txBody>
            <a:bodyPr wrap="square" rtlCol="0">
              <a:spAutoFit/>
            </a:bodyPr>
            <a:lstStyle/>
            <a:p>
              <a:r>
                <a:rPr lang="en-CH" sz="2000" dirty="0">
                  <a:solidFill>
                    <a:srgbClr val="FF8B00"/>
                  </a:solidFill>
                </a:rPr>
                <a:t>O(n</a:t>
              </a:r>
              <a:r>
                <a:rPr lang="en-CH" sz="2000" baseline="30000" dirty="0">
                  <a:solidFill>
                    <a:srgbClr val="FF8B00"/>
                  </a:solidFill>
                </a:rPr>
                <a:t>2</a:t>
              </a:r>
              <a:r>
                <a:rPr lang="en-CH" sz="2000" dirty="0">
                  <a:solidFill>
                    <a:srgbClr val="FF8B00"/>
                  </a:solidFill>
                </a:rPr>
                <a:t>)</a:t>
              </a:r>
            </a:p>
          </p:txBody>
        </p:sp>
        <p:sp>
          <p:nvSpPr>
            <p:cNvPr id="16" name="TextBox 15">
              <a:extLst>
                <a:ext uri="{FF2B5EF4-FFF2-40B4-BE49-F238E27FC236}">
                  <a16:creationId xmlns:a16="http://schemas.microsoft.com/office/drawing/2014/main" id="{DD61754C-FB6E-5DBD-79EF-0027219F702E}"/>
                </a:ext>
              </a:extLst>
            </p:cNvPr>
            <p:cNvSpPr txBox="1"/>
            <p:nvPr/>
          </p:nvSpPr>
          <p:spPr>
            <a:xfrm>
              <a:off x="8294757" y="1357742"/>
              <a:ext cx="788189" cy="400110"/>
            </a:xfrm>
            <a:prstGeom prst="rect">
              <a:avLst/>
            </a:prstGeom>
            <a:solidFill>
              <a:schemeClr val="bg1"/>
            </a:solidFill>
          </p:spPr>
          <p:txBody>
            <a:bodyPr wrap="square" rtlCol="0">
              <a:spAutoFit/>
            </a:bodyPr>
            <a:lstStyle/>
            <a:p>
              <a:r>
                <a:rPr lang="en-CH" sz="2000" dirty="0">
                  <a:solidFill>
                    <a:srgbClr val="FF0000"/>
                  </a:solidFill>
                </a:rPr>
                <a:t>O(2</a:t>
              </a:r>
              <a:r>
                <a:rPr lang="en-CH" sz="2000" baseline="30000" dirty="0">
                  <a:solidFill>
                    <a:srgbClr val="FF0000"/>
                  </a:solidFill>
                </a:rPr>
                <a:t>n</a:t>
              </a:r>
              <a:r>
                <a:rPr lang="en-CH" sz="2000" dirty="0">
                  <a:solidFill>
                    <a:srgbClr val="FF0000"/>
                  </a:solidFill>
                </a:rPr>
                <a:t>)</a:t>
              </a:r>
            </a:p>
          </p:txBody>
        </p:sp>
      </p:grpSp>
      <p:graphicFrame>
        <p:nvGraphicFramePr>
          <p:cNvPr id="14" name="Table 13">
            <a:extLst>
              <a:ext uri="{FF2B5EF4-FFF2-40B4-BE49-F238E27FC236}">
                <a16:creationId xmlns:a16="http://schemas.microsoft.com/office/drawing/2014/main" id="{7653617D-61E3-4589-3DD8-3CBB47B50DCA}"/>
              </a:ext>
            </a:extLst>
          </p:cNvPr>
          <p:cNvGraphicFramePr>
            <a:graphicFrameLocks noGrp="1"/>
          </p:cNvGraphicFramePr>
          <p:nvPr>
            <p:extLst>
              <p:ext uri="{D42A27DB-BD31-4B8C-83A1-F6EECF244321}">
                <p14:modId xmlns:p14="http://schemas.microsoft.com/office/powerpoint/2010/main" val="1637101289"/>
              </p:ext>
            </p:extLst>
          </p:nvPr>
        </p:nvGraphicFramePr>
        <p:xfrm>
          <a:off x="751384" y="3957955"/>
          <a:ext cx="5632648" cy="2530260"/>
        </p:xfrm>
        <a:graphic>
          <a:graphicData uri="http://schemas.openxmlformats.org/drawingml/2006/table">
            <a:tbl>
              <a:tblPr firstRow="1" bandRow="1">
                <a:tableStyleId>{5C22544A-7EE6-4342-B048-85BDC9FD1C3A}</a:tableStyleId>
              </a:tblPr>
              <a:tblGrid>
                <a:gridCol w="1408471">
                  <a:extLst>
                    <a:ext uri="{9D8B030D-6E8A-4147-A177-3AD203B41FA5}">
                      <a16:colId xmlns:a16="http://schemas.microsoft.com/office/drawing/2014/main" val="2060215517"/>
                    </a:ext>
                  </a:extLst>
                </a:gridCol>
                <a:gridCol w="4224177">
                  <a:extLst>
                    <a:ext uri="{9D8B030D-6E8A-4147-A177-3AD203B41FA5}">
                      <a16:colId xmlns:a16="http://schemas.microsoft.com/office/drawing/2014/main" val="3738325131"/>
                    </a:ext>
                  </a:extLst>
                </a:gridCol>
              </a:tblGrid>
              <a:tr h="411900">
                <a:tc>
                  <a:txBody>
                    <a:bodyPr/>
                    <a:lstStyle/>
                    <a:p>
                      <a:r>
                        <a:rPr lang="en-US" dirty="0">
                          <a:solidFill>
                            <a:schemeClr val="bg2">
                              <a:lumMod val="25000"/>
                            </a:schemeClr>
                          </a:solidFill>
                        </a:rPr>
                        <a:t>B</a:t>
                      </a:r>
                      <a:r>
                        <a:rPr lang="en-CH" dirty="0">
                          <a:solidFill>
                            <a:schemeClr val="bg2">
                              <a:lumMod val="25000"/>
                            </a:schemeClr>
                          </a:solidFill>
                        </a:rPr>
                        <a:t>ig-O 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CH" dirty="0">
                          <a:solidFill>
                            <a:schemeClr val="bg2">
                              <a:lumMod val="25000"/>
                            </a:schemeClr>
                          </a:solidFill>
                        </a:rPr>
                        <a:t>Operation on lists that scales this way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16493350"/>
                  </a:ext>
                </a:extLst>
              </a:tr>
              <a:tr h="370840">
                <a:tc>
                  <a:txBody>
                    <a:bodyPr/>
                    <a:lstStyle/>
                    <a:p>
                      <a:r>
                        <a:rPr lang="en-CH" b="1" dirty="0">
                          <a:solidFill>
                            <a:srgbClr val="1F45FF"/>
                          </a:solidFill>
                        </a:rPr>
                        <a:t>O(1)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H" dirty="0"/>
                        <a:t>Getting an element by its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0070366"/>
                  </a:ext>
                </a:extLst>
              </a:tr>
              <a:tr h="370840">
                <a:tc>
                  <a:txBody>
                    <a:bodyPr/>
                    <a:lstStyle/>
                    <a:p>
                      <a:r>
                        <a:rPr lang="en-CH" b="1" dirty="0">
                          <a:solidFill>
                            <a:srgbClr val="56D72C"/>
                          </a:solidFill>
                        </a:rPr>
                        <a: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H" dirty="0"/>
                        <a:t>Summing elements in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7992344"/>
                  </a:ext>
                </a:extLst>
              </a:tr>
              <a:tr h="370840">
                <a:tc>
                  <a:txBody>
                    <a:bodyPr/>
                    <a:lstStyle/>
                    <a:p>
                      <a:r>
                        <a:rPr lang="en-CH" b="1" dirty="0">
                          <a:solidFill>
                            <a:srgbClr val="FF8B00"/>
                          </a:solidFill>
                        </a:rPr>
                        <a:t>O</a:t>
                      </a:r>
                      <a:r>
                        <a:rPr lang="en-CH" b="1">
                          <a:solidFill>
                            <a:srgbClr val="FF8B00"/>
                          </a:solidFill>
                        </a:rPr>
                        <a:t>(n</a:t>
                      </a:r>
                      <a:r>
                        <a:rPr lang="en-CH" b="1" baseline="30000">
                          <a:solidFill>
                            <a:srgbClr val="FF8B00"/>
                          </a:solidFill>
                        </a:rPr>
                        <a:t>2</a:t>
                      </a:r>
                      <a:r>
                        <a:rPr lang="en-CH" b="1" dirty="0">
                          <a:solidFill>
                            <a:srgbClr val="FF8B0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H" dirty="0"/>
                        <a:t>Computing distance between all pairs o</a:t>
                      </a:r>
                      <a:r>
                        <a:rPr lang="en-US" dirty="0"/>
                        <a:t>f</a:t>
                      </a:r>
                      <a:r>
                        <a:rPr lang="en-CH" dirty="0"/>
                        <a:t> elements in the list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67025948"/>
                  </a:ext>
                </a:extLst>
              </a:tr>
              <a:tr h="370840">
                <a:tc>
                  <a:txBody>
                    <a:bodyPr/>
                    <a:lstStyle/>
                    <a:p>
                      <a:r>
                        <a:rPr lang="en-CH" b="1" dirty="0">
                          <a:solidFill>
                            <a:srgbClr val="FF8CD8"/>
                          </a:solidFill>
                        </a:rPr>
                        <a:t>O(n * log 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H" dirty="0"/>
                        <a:t>Sorting the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2769138"/>
                  </a:ext>
                </a:extLst>
              </a:tr>
              <a:tr h="0">
                <a:tc>
                  <a:txBody>
                    <a:bodyPr/>
                    <a:lstStyle/>
                    <a:p>
                      <a:r>
                        <a:rPr lang="en-CH" b="1" dirty="0">
                          <a:solidFill>
                            <a:srgbClr val="0092FF"/>
                          </a:solidFill>
                        </a:rPr>
                        <a:t>O(log 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H" dirty="0"/>
                        <a:t>Searching an element in a sorted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21720873"/>
                  </a:ext>
                </a:extLst>
              </a:tr>
            </a:tbl>
          </a:graphicData>
        </a:graphic>
      </p:graphicFrame>
      <p:sp>
        <p:nvSpPr>
          <p:cNvPr id="19" name="Rectangle 18">
            <a:extLst>
              <a:ext uri="{FF2B5EF4-FFF2-40B4-BE49-F238E27FC236}">
                <a16:creationId xmlns:a16="http://schemas.microsoft.com/office/drawing/2014/main" id="{4BC7B416-592F-8FE2-1250-AEF3B02D7DDE}"/>
              </a:ext>
            </a:extLst>
          </p:cNvPr>
          <p:cNvSpPr/>
          <p:nvPr/>
        </p:nvSpPr>
        <p:spPr>
          <a:xfrm>
            <a:off x="11052383" y="205950"/>
            <a:ext cx="827981" cy="702769"/>
          </a:xfrm>
          <a:prstGeom prst="rect">
            <a:avLst/>
          </a:prstGeom>
          <a:solidFill>
            <a:schemeClr val="accent6">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latin typeface="Courier New" panose="02070309020205020404" pitchFamily="49" charset="0"/>
              <a:cs typeface="Courier New" panose="02070309020205020404" pitchFamily="49" charset="0"/>
            </a:endParaRPr>
          </a:p>
        </p:txBody>
      </p:sp>
      <p:pic>
        <p:nvPicPr>
          <p:cNvPr id="20" name="Graphic 19">
            <a:extLst>
              <a:ext uri="{FF2B5EF4-FFF2-40B4-BE49-F238E27FC236}">
                <a16:creationId xmlns:a16="http://schemas.microsoft.com/office/drawing/2014/main" id="{4153C0E7-C1EC-3A3A-9D5E-ADBF371D36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19144" y="279550"/>
            <a:ext cx="694459" cy="555568"/>
          </a:xfrm>
          <a:prstGeom prst="rect">
            <a:avLst/>
          </a:prstGeom>
        </p:spPr>
      </p:pic>
    </p:spTree>
    <p:extLst>
      <p:ext uri="{BB962C8B-B14F-4D97-AF65-F5344CB8AC3E}">
        <p14:creationId xmlns:p14="http://schemas.microsoft.com/office/powerpoint/2010/main" val="1721465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1034A-CA3C-57A5-780C-81F9CD3FD6F5}"/>
              </a:ext>
            </a:extLst>
          </p:cNvPr>
          <p:cNvSpPr>
            <a:spLocks noGrp="1"/>
          </p:cNvSpPr>
          <p:nvPr>
            <p:ph type="title"/>
          </p:nvPr>
        </p:nvSpPr>
        <p:spPr/>
        <p:txBody>
          <a:bodyPr>
            <a:normAutofit/>
          </a:bodyPr>
          <a:lstStyle/>
          <a:p>
            <a:r>
              <a:rPr lang="en-CH" dirty="0"/>
              <a:t>Example: Find common words</a:t>
            </a:r>
          </a:p>
        </p:txBody>
      </p:sp>
      <p:sp>
        <p:nvSpPr>
          <p:cNvPr id="3" name="Content Placeholder 2">
            <a:extLst>
              <a:ext uri="{FF2B5EF4-FFF2-40B4-BE49-F238E27FC236}">
                <a16:creationId xmlns:a16="http://schemas.microsoft.com/office/drawing/2014/main" id="{E93096AB-3E1B-8BD5-B098-628CCF7902AB}"/>
              </a:ext>
            </a:extLst>
          </p:cNvPr>
          <p:cNvSpPr>
            <a:spLocks noGrp="1"/>
          </p:cNvSpPr>
          <p:nvPr>
            <p:ph idx="1"/>
          </p:nvPr>
        </p:nvSpPr>
        <p:spPr>
          <a:xfrm>
            <a:off x="838200" y="1607027"/>
            <a:ext cx="10515600" cy="4692179"/>
          </a:xfrm>
        </p:spPr>
        <p:txBody>
          <a:bodyPr>
            <a:normAutofit/>
          </a:bodyPr>
          <a:lstStyle/>
          <a:p>
            <a:pPr marL="0" indent="0">
              <a:buNone/>
            </a:pPr>
            <a:r>
              <a:rPr lang="en-CH" dirty="0"/>
              <a:t>Given two lists of words, extract all the words that are in common</a:t>
            </a:r>
            <a:br>
              <a:rPr lang="en-CH" dirty="0"/>
            </a:br>
            <a:endParaRPr lang="en-CH" dirty="0"/>
          </a:p>
          <a:p>
            <a:endParaRPr lang="en-CH" dirty="0"/>
          </a:p>
          <a:p>
            <a:endParaRPr lang="en-CH" dirty="0"/>
          </a:p>
          <a:p>
            <a:endParaRPr lang="en-CH" dirty="0"/>
          </a:p>
          <a:p>
            <a:endParaRPr lang="en-CH" dirty="0"/>
          </a:p>
          <a:p>
            <a:endParaRPr lang="en-CH" dirty="0"/>
          </a:p>
        </p:txBody>
      </p:sp>
      <p:sp>
        <p:nvSpPr>
          <p:cNvPr id="4" name="Date Placeholder 3">
            <a:extLst>
              <a:ext uri="{FF2B5EF4-FFF2-40B4-BE49-F238E27FC236}">
                <a16:creationId xmlns:a16="http://schemas.microsoft.com/office/drawing/2014/main" id="{D07E1988-0A43-3863-6FD1-EDFDCFE712AF}"/>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0927217D-1932-F000-4B8F-B2E4392A75B7}"/>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C1AC604F-D5BB-05EC-848F-12418C5E6791}"/>
              </a:ext>
            </a:extLst>
          </p:cNvPr>
          <p:cNvSpPr>
            <a:spLocks noGrp="1"/>
          </p:cNvSpPr>
          <p:nvPr>
            <p:ph type="sldNum" sz="quarter" idx="12"/>
          </p:nvPr>
        </p:nvSpPr>
        <p:spPr/>
        <p:txBody>
          <a:bodyPr/>
          <a:lstStyle/>
          <a:p>
            <a:fld id="{EF79ADEA-B933-47CC-A4E9-04E6298B917C}" type="slidenum">
              <a:rPr lang="en-US" smtClean="0"/>
              <a:pPr/>
              <a:t>17</a:t>
            </a:fld>
            <a:endParaRPr lang="en-US"/>
          </a:p>
        </p:txBody>
      </p:sp>
      <p:pic>
        <p:nvPicPr>
          <p:cNvPr id="17" name="Picture 16">
            <a:extLst>
              <a:ext uri="{FF2B5EF4-FFF2-40B4-BE49-F238E27FC236}">
                <a16:creationId xmlns:a16="http://schemas.microsoft.com/office/drawing/2014/main" id="{AFEEF298-37F3-520E-558F-3EF9D4F027D6}"/>
              </a:ext>
            </a:extLst>
          </p:cNvPr>
          <p:cNvPicPr>
            <a:picLocks noChangeAspect="1"/>
          </p:cNvPicPr>
          <p:nvPr/>
        </p:nvPicPr>
        <p:blipFill>
          <a:blip r:embed="rId2"/>
          <a:stretch>
            <a:fillRect/>
          </a:stretch>
        </p:blipFill>
        <p:spPr>
          <a:xfrm>
            <a:off x="1703512" y="2636912"/>
            <a:ext cx="8784976" cy="648072"/>
          </a:xfrm>
          <a:prstGeom prst="rect">
            <a:avLst/>
          </a:prstGeom>
        </p:spPr>
      </p:pic>
      <p:sp>
        <p:nvSpPr>
          <p:cNvPr id="9" name="TextBox 8">
            <a:extLst>
              <a:ext uri="{FF2B5EF4-FFF2-40B4-BE49-F238E27FC236}">
                <a16:creationId xmlns:a16="http://schemas.microsoft.com/office/drawing/2014/main" id="{B59B32F1-3A78-3E01-9EE6-FC7FF356AD8B}"/>
              </a:ext>
            </a:extLst>
          </p:cNvPr>
          <p:cNvSpPr txBox="1"/>
          <p:nvPr/>
        </p:nvSpPr>
        <p:spPr>
          <a:xfrm>
            <a:off x="1559496" y="3429000"/>
            <a:ext cx="7560840" cy="461665"/>
          </a:xfrm>
          <a:prstGeom prst="rect">
            <a:avLst/>
          </a:prstGeom>
          <a:noFill/>
        </p:spPr>
        <p:txBody>
          <a:bodyPr wrap="square" rtlCol="0">
            <a:spAutoFit/>
          </a:bodyPr>
          <a:lstStyle/>
          <a:p>
            <a:r>
              <a:rPr lang="en-CH" sz="2400" dirty="0"/>
              <a:t>Expected result: </a:t>
            </a:r>
            <a:r>
              <a:rPr lang="en-US" sz="2400" dirty="0">
                <a:latin typeface="Consolas" panose="020B0609020204030204" pitchFamily="49" charset="0"/>
                <a:cs typeface="Consolas" panose="020B0609020204030204" pitchFamily="49" charset="0"/>
              </a:rPr>
              <a:t>['apple', 'orange', 'banana']</a:t>
            </a:r>
            <a:endParaRPr lang="en-CH" sz="24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290334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1034A-CA3C-57A5-780C-81F9CD3FD6F5}"/>
              </a:ext>
            </a:extLst>
          </p:cNvPr>
          <p:cNvSpPr>
            <a:spLocks noGrp="1"/>
          </p:cNvSpPr>
          <p:nvPr>
            <p:ph type="title"/>
          </p:nvPr>
        </p:nvSpPr>
        <p:spPr/>
        <p:txBody>
          <a:bodyPr>
            <a:normAutofit/>
          </a:bodyPr>
          <a:lstStyle/>
          <a:p>
            <a:r>
              <a:rPr lang="en-US" dirty="0"/>
              <a:t>Implementation with two</a:t>
            </a:r>
            <a:r>
              <a:rPr lang="en-CH" dirty="0"/>
              <a:t> for-loops</a:t>
            </a:r>
          </a:p>
        </p:txBody>
      </p:sp>
      <p:sp>
        <p:nvSpPr>
          <p:cNvPr id="4" name="Date Placeholder 3">
            <a:extLst>
              <a:ext uri="{FF2B5EF4-FFF2-40B4-BE49-F238E27FC236}">
                <a16:creationId xmlns:a16="http://schemas.microsoft.com/office/drawing/2014/main" id="{D07E1988-0A43-3863-6FD1-EDFDCFE712AF}"/>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0927217D-1932-F000-4B8F-B2E4392A75B7}"/>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C1AC604F-D5BB-05EC-848F-12418C5E6791}"/>
              </a:ext>
            </a:extLst>
          </p:cNvPr>
          <p:cNvSpPr>
            <a:spLocks noGrp="1"/>
          </p:cNvSpPr>
          <p:nvPr>
            <p:ph type="sldNum" sz="quarter" idx="12"/>
          </p:nvPr>
        </p:nvSpPr>
        <p:spPr/>
        <p:txBody>
          <a:bodyPr/>
          <a:lstStyle/>
          <a:p>
            <a:fld id="{EF79ADEA-B933-47CC-A4E9-04E6298B917C}" type="slidenum">
              <a:rPr lang="en-US" smtClean="0"/>
              <a:pPr/>
              <a:t>18</a:t>
            </a:fld>
            <a:endParaRPr lang="en-US"/>
          </a:p>
        </p:txBody>
      </p:sp>
      <p:pic>
        <p:nvPicPr>
          <p:cNvPr id="11" name="Picture 10">
            <a:extLst>
              <a:ext uri="{FF2B5EF4-FFF2-40B4-BE49-F238E27FC236}">
                <a16:creationId xmlns:a16="http://schemas.microsoft.com/office/drawing/2014/main" id="{AE408B0A-1188-7D54-5322-43BEF2DCE4C0}"/>
              </a:ext>
            </a:extLst>
          </p:cNvPr>
          <p:cNvPicPr>
            <a:picLocks noChangeAspect="1"/>
          </p:cNvPicPr>
          <p:nvPr/>
        </p:nvPicPr>
        <p:blipFill>
          <a:blip r:embed="rId2"/>
          <a:stretch>
            <a:fillRect/>
          </a:stretch>
        </p:blipFill>
        <p:spPr>
          <a:xfrm>
            <a:off x="551384" y="1841500"/>
            <a:ext cx="6235700" cy="1587500"/>
          </a:xfrm>
          <a:prstGeom prst="rect">
            <a:avLst/>
          </a:prstGeom>
        </p:spPr>
      </p:pic>
      <p:sp>
        <p:nvSpPr>
          <p:cNvPr id="12" name="TextBox 11">
            <a:extLst>
              <a:ext uri="{FF2B5EF4-FFF2-40B4-BE49-F238E27FC236}">
                <a16:creationId xmlns:a16="http://schemas.microsoft.com/office/drawing/2014/main" id="{D5D19004-863D-BC80-19B1-16582CF786DC}"/>
              </a:ext>
            </a:extLst>
          </p:cNvPr>
          <p:cNvSpPr txBox="1"/>
          <p:nvPr/>
        </p:nvSpPr>
        <p:spPr>
          <a:xfrm>
            <a:off x="564908" y="4860869"/>
            <a:ext cx="9721080" cy="523220"/>
          </a:xfrm>
          <a:prstGeom prst="rect">
            <a:avLst/>
          </a:prstGeom>
          <a:noFill/>
        </p:spPr>
        <p:txBody>
          <a:bodyPr wrap="square" rtlCol="0">
            <a:spAutoFit/>
          </a:bodyPr>
          <a:lstStyle/>
          <a:p>
            <a:r>
              <a:rPr lang="en-CH" sz="2800" dirty="0"/>
              <a:t>What is the big-O complexity of this implementation?</a:t>
            </a:r>
          </a:p>
        </p:txBody>
      </p:sp>
    </p:spTree>
    <p:extLst>
      <p:ext uri="{BB962C8B-B14F-4D97-AF65-F5344CB8AC3E}">
        <p14:creationId xmlns:p14="http://schemas.microsoft.com/office/powerpoint/2010/main" val="3805309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A5CD3A75-B76C-DFC8-68AB-018F37ABF99F}"/>
              </a:ext>
            </a:extLst>
          </p:cNvPr>
          <p:cNvPicPr>
            <a:picLocks noChangeAspect="1"/>
          </p:cNvPicPr>
          <p:nvPr/>
        </p:nvPicPr>
        <p:blipFill>
          <a:blip r:embed="rId2"/>
          <a:stretch>
            <a:fillRect/>
          </a:stretch>
        </p:blipFill>
        <p:spPr>
          <a:xfrm>
            <a:off x="7829509" y="1132854"/>
            <a:ext cx="4027131" cy="3780572"/>
          </a:xfrm>
          <a:prstGeom prst="rect">
            <a:avLst/>
          </a:prstGeom>
        </p:spPr>
      </p:pic>
      <p:sp>
        <p:nvSpPr>
          <p:cNvPr id="2" name="Title 1">
            <a:extLst>
              <a:ext uri="{FF2B5EF4-FFF2-40B4-BE49-F238E27FC236}">
                <a16:creationId xmlns:a16="http://schemas.microsoft.com/office/drawing/2014/main" id="{AFD1034A-CA3C-57A5-780C-81F9CD3FD6F5}"/>
              </a:ext>
            </a:extLst>
          </p:cNvPr>
          <p:cNvSpPr>
            <a:spLocks noGrp="1"/>
          </p:cNvSpPr>
          <p:nvPr>
            <p:ph type="title"/>
          </p:nvPr>
        </p:nvSpPr>
        <p:spPr/>
        <p:txBody>
          <a:bodyPr>
            <a:normAutofit/>
          </a:bodyPr>
          <a:lstStyle/>
          <a:p>
            <a:r>
              <a:rPr lang="en-US" dirty="0"/>
              <a:t>Implementation with two</a:t>
            </a:r>
            <a:r>
              <a:rPr lang="en-CH" dirty="0"/>
              <a:t> for-loops</a:t>
            </a:r>
          </a:p>
        </p:txBody>
      </p:sp>
      <p:sp>
        <p:nvSpPr>
          <p:cNvPr id="4" name="Date Placeholder 3">
            <a:extLst>
              <a:ext uri="{FF2B5EF4-FFF2-40B4-BE49-F238E27FC236}">
                <a16:creationId xmlns:a16="http://schemas.microsoft.com/office/drawing/2014/main" id="{D07E1988-0A43-3863-6FD1-EDFDCFE712AF}"/>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0927217D-1932-F000-4B8F-B2E4392A75B7}"/>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C1AC604F-D5BB-05EC-848F-12418C5E6791}"/>
              </a:ext>
            </a:extLst>
          </p:cNvPr>
          <p:cNvSpPr>
            <a:spLocks noGrp="1"/>
          </p:cNvSpPr>
          <p:nvPr>
            <p:ph type="sldNum" sz="quarter" idx="12"/>
          </p:nvPr>
        </p:nvSpPr>
        <p:spPr/>
        <p:txBody>
          <a:bodyPr/>
          <a:lstStyle/>
          <a:p>
            <a:fld id="{EF79ADEA-B933-47CC-A4E9-04E6298B917C}" type="slidenum">
              <a:rPr lang="en-US" smtClean="0"/>
              <a:pPr/>
              <a:t>19</a:t>
            </a:fld>
            <a:endParaRPr lang="en-US"/>
          </a:p>
        </p:txBody>
      </p:sp>
      <p:pic>
        <p:nvPicPr>
          <p:cNvPr id="11" name="Picture 10">
            <a:extLst>
              <a:ext uri="{FF2B5EF4-FFF2-40B4-BE49-F238E27FC236}">
                <a16:creationId xmlns:a16="http://schemas.microsoft.com/office/drawing/2014/main" id="{AE408B0A-1188-7D54-5322-43BEF2DCE4C0}"/>
              </a:ext>
            </a:extLst>
          </p:cNvPr>
          <p:cNvPicPr>
            <a:picLocks noChangeAspect="1"/>
          </p:cNvPicPr>
          <p:nvPr/>
        </p:nvPicPr>
        <p:blipFill>
          <a:blip r:embed="rId3"/>
          <a:stretch>
            <a:fillRect/>
          </a:stretch>
        </p:blipFill>
        <p:spPr>
          <a:xfrm>
            <a:off x="551384" y="1841500"/>
            <a:ext cx="6235700" cy="1587500"/>
          </a:xfrm>
          <a:prstGeom prst="rect">
            <a:avLst/>
          </a:prstGeom>
        </p:spPr>
      </p:pic>
      <p:pic>
        <p:nvPicPr>
          <p:cNvPr id="8" name="Picture 7">
            <a:extLst>
              <a:ext uri="{FF2B5EF4-FFF2-40B4-BE49-F238E27FC236}">
                <a16:creationId xmlns:a16="http://schemas.microsoft.com/office/drawing/2014/main" id="{079ED022-E373-ADC5-00EF-F26759B1D98C}"/>
              </a:ext>
            </a:extLst>
          </p:cNvPr>
          <p:cNvPicPr>
            <a:picLocks noChangeAspect="1"/>
          </p:cNvPicPr>
          <p:nvPr/>
        </p:nvPicPr>
        <p:blipFill>
          <a:blip r:embed="rId4"/>
          <a:stretch>
            <a:fillRect/>
          </a:stretch>
        </p:blipFill>
        <p:spPr>
          <a:xfrm>
            <a:off x="3098800" y="2705100"/>
            <a:ext cx="939800" cy="723900"/>
          </a:xfrm>
          <a:prstGeom prst="rect">
            <a:avLst/>
          </a:prstGeom>
        </p:spPr>
      </p:pic>
      <p:sp>
        <p:nvSpPr>
          <p:cNvPr id="14" name="TextBox 13">
            <a:extLst>
              <a:ext uri="{FF2B5EF4-FFF2-40B4-BE49-F238E27FC236}">
                <a16:creationId xmlns:a16="http://schemas.microsoft.com/office/drawing/2014/main" id="{508622A7-1C3A-3458-8ABF-345406BFB37B}"/>
              </a:ext>
            </a:extLst>
          </p:cNvPr>
          <p:cNvSpPr txBox="1"/>
          <p:nvPr/>
        </p:nvSpPr>
        <p:spPr>
          <a:xfrm>
            <a:off x="564908" y="4860869"/>
            <a:ext cx="9721080" cy="954107"/>
          </a:xfrm>
          <a:prstGeom prst="rect">
            <a:avLst/>
          </a:prstGeom>
          <a:noFill/>
        </p:spPr>
        <p:txBody>
          <a:bodyPr wrap="square" rtlCol="0">
            <a:spAutoFit/>
          </a:bodyPr>
          <a:lstStyle/>
          <a:p>
            <a:r>
              <a:rPr lang="en-CH" sz="2800" dirty="0"/>
              <a:t>What is the big-O complexity of this implementation?</a:t>
            </a:r>
          </a:p>
          <a:p>
            <a:r>
              <a:rPr lang="en-CH" sz="2800" dirty="0"/>
              <a:t>N * N  ~  </a:t>
            </a:r>
            <a:r>
              <a:rPr lang="en-CH" sz="2800" b="1" dirty="0"/>
              <a:t>O(N</a:t>
            </a:r>
            <a:r>
              <a:rPr lang="en-CH" sz="2800" b="1" baseline="30000" dirty="0"/>
              <a:t>2</a:t>
            </a:r>
            <a:r>
              <a:rPr lang="en-CH" sz="2800" b="1" dirty="0"/>
              <a:t>)</a:t>
            </a:r>
            <a:r>
              <a:rPr lang="en-CH" sz="2800" dirty="0"/>
              <a:t> </a:t>
            </a:r>
          </a:p>
        </p:txBody>
      </p:sp>
    </p:spTree>
    <p:extLst>
      <p:ext uri="{BB962C8B-B14F-4D97-AF65-F5344CB8AC3E}">
        <p14:creationId xmlns:p14="http://schemas.microsoft.com/office/powerpoint/2010/main" val="2490441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DE9E3BF-854D-6098-C201-82820D725472}"/>
              </a:ext>
            </a:extLst>
          </p:cNvPr>
          <p:cNvPicPr>
            <a:picLocks noChangeAspect="1"/>
          </p:cNvPicPr>
          <p:nvPr/>
        </p:nvPicPr>
        <p:blipFill rotWithShape="1">
          <a:blip r:embed="rId2"/>
          <a:srcRect l="179" r="20883"/>
          <a:stretch/>
        </p:blipFill>
        <p:spPr>
          <a:xfrm>
            <a:off x="568897" y="1315080"/>
            <a:ext cx="7027203" cy="3194039"/>
          </a:xfrm>
          <a:prstGeom prst="rect">
            <a:avLst/>
          </a:prstGeom>
        </p:spPr>
      </p:pic>
      <p:sp>
        <p:nvSpPr>
          <p:cNvPr id="2" name="Title 1">
            <a:extLst>
              <a:ext uri="{FF2B5EF4-FFF2-40B4-BE49-F238E27FC236}">
                <a16:creationId xmlns:a16="http://schemas.microsoft.com/office/drawing/2014/main" id="{AFD1034A-CA3C-57A5-780C-81F9CD3FD6F5}"/>
              </a:ext>
            </a:extLst>
          </p:cNvPr>
          <p:cNvSpPr>
            <a:spLocks noGrp="1"/>
          </p:cNvSpPr>
          <p:nvPr>
            <p:ph type="title"/>
          </p:nvPr>
        </p:nvSpPr>
        <p:spPr/>
        <p:txBody>
          <a:bodyPr>
            <a:normAutofit/>
          </a:bodyPr>
          <a:lstStyle/>
          <a:p>
            <a:r>
              <a:rPr lang="en-US" dirty="0"/>
              <a:t>Implementation with sorted lists</a:t>
            </a:r>
            <a:endParaRPr lang="en-CH" dirty="0"/>
          </a:p>
        </p:txBody>
      </p:sp>
      <p:sp>
        <p:nvSpPr>
          <p:cNvPr id="4" name="Date Placeholder 3">
            <a:extLst>
              <a:ext uri="{FF2B5EF4-FFF2-40B4-BE49-F238E27FC236}">
                <a16:creationId xmlns:a16="http://schemas.microsoft.com/office/drawing/2014/main" id="{D07E1988-0A43-3863-6FD1-EDFDCFE712AF}"/>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0927217D-1932-F000-4B8F-B2E4392A75B7}"/>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C1AC604F-D5BB-05EC-848F-12418C5E6791}"/>
              </a:ext>
            </a:extLst>
          </p:cNvPr>
          <p:cNvSpPr>
            <a:spLocks noGrp="1"/>
          </p:cNvSpPr>
          <p:nvPr>
            <p:ph type="sldNum" sz="quarter" idx="12"/>
          </p:nvPr>
        </p:nvSpPr>
        <p:spPr/>
        <p:txBody>
          <a:bodyPr/>
          <a:lstStyle/>
          <a:p>
            <a:fld id="{EF79ADEA-B933-47CC-A4E9-04E6298B917C}" type="slidenum">
              <a:rPr lang="en-US" smtClean="0"/>
              <a:pPr/>
              <a:t>20</a:t>
            </a:fld>
            <a:endParaRPr lang="en-US"/>
          </a:p>
        </p:txBody>
      </p:sp>
      <p:sp>
        <p:nvSpPr>
          <p:cNvPr id="10" name="TextBox 9">
            <a:extLst>
              <a:ext uri="{FF2B5EF4-FFF2-40B4-BE49-F238E27FC236}">
                <a16:creationId xmlns:a16="http://schemas.microsoft.com/office/drawing/2014/main" id="{0F5CCBAD-DF15-3934-FCCB-CB656B12AE22}"/>
              </a:ext>
            </a:extLst>
          </p:cNvPr>
          <p:cNvSpPr txBox="1"/>
          <p:nvPr/>
        </p:nvSpPr>
        <p:spPr>
          <a:xfrm>
            <a:off x="564908" y="4860869"/>
            <a:ext cx="9721080" cy="523220"/>
          </a:xfrm>
          <a:prstGeom prst="rect">
            <a:avLst/>
          </a:prstGeom>
          <a:noFill/>
        </p:spPr>
        <p:txBody>
          <a:bodyPr wrap="square" rtlCol="0">
            <a:spAutoFit/>
          </a:bodyPr>
          <a:lstStyle/>
          <a:p>
            <a:r>
              <a:rPr lang="en-CH" sz="2800" dirty="0"/>
              <a:t>What is the big-O complexity of this implementation? </a:t>
            </a:r>
          </a:p>
        </p:txBody>
      </p:sp>
      <p:pic>
        <p:nvPicPr>
          <p:cNvPr id="11" name="Picture 10">
            <a:extLst>
              <a:ext uri="{FF2B5EF4-FFF2-40B4-BE49-F238E27FC236}">
                <a16:creationId xmlns:a16="http://schemas.microsoft.com/office/drawing/2014/main" id="{ABAF7E96-D296-85F9-5926-32A56DC21092}"/>
              </a:ext>
            </a:extLst>
          </p:cNvPr>
          <p:cNvPicPr>
            <a:picLocks noChangeAspect="1"/>
          </p:cNvPicPr>
          <p:nvPr/>
        </p:nvPicPr>
        <p:blipFill>
          <a:blip r:embed="rId3"/>
          <a:stretch>
            <a:fillRect/>
          </a:stretch>
        </p:blipFill>
        <p:spPr>
          <a:xfrm>
            <a:off x="2783632" y="1844824"/>
            <a:ext cx="4824536" cy="474725"/>
          </a:xfrm>
          <a:prstGeom prst="rect">
            <a:avLst/>
          </a:prstGeom>
        </p:spPr>
      </p:pic>
    </p:spTree>
    <p:extLst>
      <p:ext uri="{BB962C8B-B14F-4D97-AF65-F5344CB8AC3E}">
        <p14:creationId xmlns:p14="http://schemas.microsoft.com/office/powerpoint/2010/main" val="1625295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DE9E3BF-854D-6098-C201-82820D725472}"/>
              </a:ext>
            </a:extLst>
          </p:cNvPr>
          <p:cNvPicPr>
            <a:picLocks noChangeAspect="1"/>
          </p:cNvPicPr>
          <p:nvPr/>
        </p:nvPicPr>
        <p:blipFill rotWithShape="1">
          <a:blip r:embed="rId2"/>
          <a:srcRect l="179" r="20883"/>
          <a:stretch/>
        </p:blipFill>
        <p:spPr>
          <a:xfrm>
            <a:off x="568897" y="1315080"/>
            <a:ext cx="7027203" cy="3194039"/>
          </a:xfrm>
          <a:prstGeom prst="rect">
            <a:avLst/>
          </a:prstGeom>
        </p:spPr>
      </p:pic>
      <p:sp>
        <p:nvSpPr>
          <p:cNvPr id="2" name="Title 1">
            <a:extLst>
              <a:ext uri="{FF2B5EF4-FFF2-40B4-BE49-F238E27FC236}">
                <a16:creationId xmlns:a16="http://schemas.microsoft.com/office/drawing/2014/main" id="{AFD1034A-CA3C-57A5-780C-81F9CD3FD6F5}"/>
              </a:ext>
            </a:extLst>
          </p:cNvPr>
          <p:cNvSpPr>
            <a:spLocks noGrp="1"/>
          </p:cNvSpPr>
          <p:nvPr>
            <p:ph type="title"/>
          </p:nvPr>
        </p:nvSpPr>
        <p:spPr/>
        <p:txBody>
          <a:bodyPr>
            <a:normAutofit/>
          </a:bodyPr>
          <a:lstStyle/>
          <a:p>
            <a:r>
              <a:rPr lang="en-US" dirty="0"/>
              <a:t>Implementation with sorted lists</a:t>
            </a:r>
            <a:endParaRPr lang="en-CH" dirty="0"/>
          </a:p>
        </p:txBody>
      </p:sp>
      <p:sp>
        <p:nvSpPr>
          <p:cNvPr id="4" name="Date Placeholder 3">
            <a:extLst>
              <a:ext uri="{FF2B5EF4-FFF2-40B4-BE49-F238E27FC236}">
                <a16:creationId xmlns:a16="http://schemas.microsoft.com/office/drawing/2014/main" id="{D07E1988-0A43-3863-6FD1-EDFDCFE712AF}"/>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0927217D-1932-F000-4B8F-B2E4392A75B7}"/>
              </a:ext>
            </a:extLst>
          </p:cNvPr>
          <p:cNvSpPr>
            <a:spLocks noGrp="1"/>
          </p:cNvSpPr>
          <p:nvPr>
            <p:ph type="ftr" sz="quarter" idx="11"/>
          </p:nvPr>
        </p:nvSpPr>
        <p:spPr/>
        <p:txBody>
          <a:bodyPr/>
          <a:lstStyle/>
          <a:p>
            <a:r>
              <a:rPr lang="en-US"/>
              <a:t>Data, v3.0</a:t>
            </a:r>
            <a:endParaRPr lang="en-US" dirty="0"/>
          </a:p>
        </p:txBody>
      </p:sp>
      <p:sp>
        <p:nvSpPr>
          <p:cNvPr id="6" name="Slide Number Placeholder 5">
            <a:extLst>
              <a:ext uri="{FF2B5EF4-FFF2-40B4-BE49-F238E27FC236}">
                <a16:creationId xmlns:a16="http://schemas.microsoft.com/office/drawing/2014/main" id="{C1AC604F-D5BB-05EC-848F-12418C5E6791}"/>
              </a:ext>
            </a:extLst>
          </p:cNvPr>
          <p:cNvSpPr>
            <a:spLocks noGrp="1"/>
          </p:cNvSpPr>
          <p:nvPr>
            <p:ph type="sldNum" sz="quarter" idx="12"/>
          </p:nvPr>
        </p:nvSpPr>
        <p:spPr/>
        <p:txBody>
          <a:bodyPr/>
          <a:lstStyle/>
          <a:p>
            <a:fld id="{EF79ADEA-B933-47CC-A4E9-04E6298B917C}" type="slidenum">
              <a:rPr lang="en-US" smtClean="0"/>
              <a:pPr/>
              <a:t>21</a:t>
            </a:fld>
            <a:endParaRPr lang="en-US"/>
          </a:p>
        </p:txBody>
      </p:sp>
      <p:sp>
        <p:nvSpPr>
          <p:cNvPr id="10" name="TextBox 9">
            <a:extLst>
              <a:ext uri="{FF2B5EF4-FFF2-40B4-BE49-F238E27FC236}">
                <a16:creationId xmlns:a16="http://schemas.microsoft.com/office/drawing/2014/main" id="{0F5CCBAD-DF15-3934-FCCB-CB656B12AE22}"/>
              </a:ext>
            </a:extLst>
          </p:cNvPr>
          <p:cNvSpPr txBox="1"/>
          <p:nvPr/>
        </p:nvSpPr>
        <p:spPr>
          <a:xfrm>
            <a:off x="564908" y="4860869"/>
            <a:ext cx="8073954" cy="954107"/>
          </a:xfrm>
          <a:prstGeom prst="rect">
            <a:avLst/>
          </a:prstGeom>
          <a:noFill/>
        </p:spPr>
        <p:txBody>
          <a:bodyPr wrap="square" rtlCol="0">
            <a:spAutoFit/>
          </a:bodyPr>
          <a:lstStyle/>
          <a:p>
            <a:r>
              <a:rPr lang="en-CH" sz="2800" dirty="0"/>
              <a:t>What is the big-O complexity of this implementation?</a:t>
            </a:r>
          </a:p>
          <a:p>
            <a:r>
              <a:rPr lang="en-CH" sz="2800" dirty="0"/>
              <a:t>2 * (N * log(N)) + 2 * N  ~ </a:t>
            </a:r>
            <a:r>
              <a:rPr lang="en-CH" sz="2800" b="1" dirty="0"/>
              <a:t>O(N log N) </a:t>
            </a:r>
          </a:p>
        </p:txBody>
      </p:sp>
      <p:pic>
        <p:nvPicPr>
          <p:cNvPr id="11" name="Picture 10">
            <a:extLst>
              <a:ext uri="{FF2B5EF4-FFF2-40B4-BE49-F238E27FC236}">
                <a16:creationId xmlns:a16="http://schemas.microsoft.com/office/drawing/2014/main" id="{ABAF7E96-D296-85F9-5926-32A56DC21092}"/>
              </a:ext>
            </a:extLst>
          </p:cNvPr>
          <p:cNvPicPr>
            <a:picLocks noChangeAspect="1"/>
          </p:cNvPicPr>
          <p:nvPr/>
        </p:nvPicPr>
        <p:blipFill>
          <a:blip r:embed="rId3"/>
          <a:stretch>
            <a:fillRect/>
          </a:stretch>
        </p:blipFill>
        <p:spPr>
          <a:xfrm>
            <a:off x="2783632" y="1844824"/>
            <a:ext cx="4824536" cy="474725"/>
          </a:xfrm>
          <a:prstGeom prst="rect">
            <a:avLst/>
          </a:prstGeom>
        </p:spPr>
      </p:pic>
      <p:pic>
        <p:nvPicPr>
          <p:cNvPr id="9" name="Picture 8">
            <a:extLst>
              <a:ext uri="{FF2B5EF4-FFF2-40B4-BE49-F238E27FC236}">
                <a16:creationId xmlns:a16="http://schemas.microsoft.com/office/drawing/2014/main" id="{D8251C76-F828-4571-D8A2-B98952587F94}"/>
              </a:ext>
            </a:extLst>
          </p:cNvPr>
          <p:cNvPicPr>
            <a:picLocks noChangeAspect="1"/>
          </p:cNvPicPr>
          <p:nvPr/>
        </p:nvPicPr>
        <p:blipFill>
          <a:blip r:embed="rId4"/>
          <a:stretch>
            <a:fillRect/>
          </a:stretch>
        </p:blipFill>
        <p:spPr>
          <a:xfrm>
            <a:off x="7748586" y="1108296"/>
            <a:ext cx="4124497" cy="3858852"/>
          </a:xfrm>
          <a:prstGeom prst="rect">
            <a:avLst/>
          </a:prstGeom>
        </p:spPr>
      </p:pic>
      <p:pic>
        <p:nvPicPr>
          <p:cNvPr id="12" name="Picture 11">
            <a:extLst>
              <a:ext uri="{FF2B5EF4-FFF2-40B4-BE49-F238E27FC236}">
                <a16:creationId xmlns:a16="http://schemas.microsoft.com/office/drawing/2014/main" id="{822CAEE9-9100-1F79-6A32-542F10970CFB}"/>
              </a:ext>
            </a:extLst>
          </p:cNvPr>
          <p:cNvPicPr>
            <a:picLocks noChangeAspect="1"/>
          </p:cNvPicPr>
          <p:nvPr/>
        </p:nvPicPr>
        <p:blipFill>
          <a:blip r:embed="rId5"/>
          <a:stretch>
            <a:fillRect/>
          </a:stretch>
        </p:blipFill>
        <p:spPr>
          <a:xfrm>
            <a:off x="8638862" y="1339564"/>
            <a:ext cx="1727324" cy="558840"/>
          </a:xfrm>
          <a:prstGeom prst="rect">
            <a:avLst/>
          </a:prstGeom>
        </p:spPr>
      </p:pic>
      <p:pic>
        <p:nvPicPr>
          <p:cNvPr id="3" name="Picture 2">
            <a:extLst>
              <a:ext uri="{FF2B5EF4-FFF2-40B4-BE49-F238E27FC236}">
                <a16:creationId xmlns:a16="http://schemas.microsoft.com/office/drawing/2014/main" id="{1F6F4E27-F463-E601-C8EE-7EB44BF2D9D6}"/>
              </a:ext>
            </a:extLst>
          </p:cNvPr>
          <p:cNvPicPr>
            <a:picLocks noChangeAspect="1"/>
          </p:cNvPicPr>
          <p:nvPr/>
        </p:nvPicPr>
        <p:blipFill rotWithShape="1">
          <a:blip r:embed="rId6"/>
          <a:srcRect r="21078"/>
          <a:stretch/>
        </p:blipFill>
        <p:spPr>
          <a:xfrm>
            <a:off x="595603" y="1898404"/>
            <a:ext cx="7000497" cy="2610715"/>
          </a:xfrm>
          <a:prstGeom prst="rect">
            <a:avLst/>
          </a:prstGeom>
        </p:spPr>
      </p:pic>
    </p:spTree>
    <p:extLst>
      <p:ext uri="{BB962C8B-B14F-4D97-AF65-F5344CB8AC3E}">
        <p14:creationId xmlns:p14="http://schemas.microsoft.com/office/powerpoint/2010/main" val="2876129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1034A-CA3C-57A5-780C-81F9CD3FD6F5}"/>
              </a:ext>
            </a:extLst>
          </p:cNvPr>
          <p:cNvSpPr>
            <a:spLocks noGrp="1"/>
          </p:cNvSpPr>
          <p:nvPr>
            <p:ph type="title"/>
          </p:nvPr>
        </p:nvSpPr>
        <p:spPr/>
        <p:txBody>
          <a:bodyPr>
            <a:normAutofit/>
          </a:bodyPr>
          <a:lstStyle/>
          <a:p>
            <a:r>
              <a:rPr lang="en-CH" dirty="0"/>
              <a:t>Implementation with sets</a:t>
            </a:r>
          </a:p>
        </p:txBody>
      </p:sp>
      <p:sp>
        <p:nvSpPr>
          <p:cNvPr id="4" name="Date Placeholder 3">
            <a:extLst>
              <a:ext uri="{FF2B5EF4-FFF2-40B4-BE49-F238E27FC236}">
                <a16:creationId xmlns:a16="http://schemas.microsoft.com/office/drawing/2014/main" id="{D07E1988-0A43-3863-6FD1-EDFDCFE712AF}"/>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0927217D-1932-F000-4B8F-B2E4392A75B7}"/>
              </a:ext>
            </a:extLst>
          </p:cNvPr>
          <p:cNvSpPr>
            <a:spLocks noGrp="1"/>
          </p:cNvSpPr>
          <p:nvPr>
            <p:ph type="ftr" sz="quarter" idx="11"/>
          </p:nvPr>
        </p:nvSpPr>
        <p:spPr/>
        <p:txBody>
          <a:bodyPr/>
          <a:lstStyle/>
          <a:p>
            <a:r>
              <a:rPr lang="en-US"/>
              <a:t>Data, v3.0</a:t>
            </a:r>
            <a:endParaRPr lang="en-US" dirty="0"/>
          </a:p>
        </p:txBody>
      </p:sp>
      <p:sp>
        <p:nvSpPr>
          <p:cNvPr id="6" name="Slide Number Placeholder 5">
            <a:extLst>
              <a:ext uri="{FF2B5EF4-FFF2-40B4-BE49-F238E27FC236}">
                <a16:creationId xmlns:a16="http://schemas.microsoft.com/office/drawing/2014/main" id="{C1AC604F-D5BB-05EC-848F-12418C5E6791}"/>
              </a:ext>
            </a:extLst>
          </p:cNvPr>
          <p:cNvSpPr>
            <a:spLocks noGrp="1"/>
          </p:cNvSpPr>
          <p:nvPr>
            <p:ph type="sldNum" sz="quarter" idx="12"/>
          </p:nvPr>
        </p:nvSpPr>
        <p:spPr/>
        <p:txBody>
          <a:bodyPr/>
          <a:lstStyle/>
          <a:p>
            <a:fld id="{EF79ADEA-B933-47CC-A4E9-04E6298B917C}" type="slidenum">
              <a:rPr lang="en-US" smtClean="0"/>
              <a:pPr/>
              <a:t>22</a:t>
            </a:fld>
            <a:endParaRPr lang="en-US"/>
          </a:p>
        </p:txBody>
      </p:sp>
      <p:pic>
        <p:nvPicPr>
          <p:cNvPr id="12" name="Picture 11">
            <a:extLst>
              <a:ext uri="{FF2B5EF4-FFF2-40B4-BE49-F238E27FC236}">
                <a16:creationId xmlns:a16="http://schemas.microsoft.com/office/drawing/2014/main" id="{B144A70E-3E75-9841-9803-8CFD99245E3C}"/>
              </a:ext>
            </a:extLst>
          </p:cNvPr>
          <p:cNvPicPr>
            <a:picLocks noChangeAspect="1"/>
          </p:cNvPicPr>
          <p:nvPr/>
        </p:nvPicPr>
        <p:blipFill rotWithShape="1">
          <a:blip r:embed="rId2"/>
          <a:srcRect l="216"/>
          <a:stretch/>
        </p:blipFill>
        <p:spPr>
          <a:xfrm>
            <a:off x="564908" y="1311377"/>
            <a:ext cx="6247576" cy="2095500"/>
          </a:xfrm>
          <a:prstGeom prst="rect">
            <a:avLst/>
          </a:prstGeom>
        </p:spPr>
      </p:pic>
      <p:sp>
        <p:nvSpPr>
          <p:cNvPr id="9" name="TextBox 8">
            <a:extLst>
              <a:ext uri="{FF2B5EF4-FFF2-40B4-BE49-F238E27FC236}">
                <a16:creationId xmlns:a16="http://schemas.microsoft.com/office/drawing/2014/main" id="{F4649BF9-8273-D87E-97E3-3ECCF86D8F56}"/>
              </a:ext>
            </a:extLst>
          </p:cNvPr>
          <p:cNvSpPr txBox="1"/>
          <p:nvPr/>
        </p:nvSpPr>
        <p:spPr>
          <a:xfrm>
            <a:off x="564908" y="4860869"/>
            <a:ext cx="9721080" cy="523220"/>
          </a:xfrm>
          <a:prstGeom prst="rect">
            <a:avLst/>
          </a:prstGeom>
          <a:noFill/>
        </p:spPr>
        <p:txBody>
          <a:bodyPr wrap="square" rtlCol="0">
            <a:spAutoFit/>
          </a:bodyPr>
          <a:lstStyle/>
          <a:p>
            <a:r>
              <a:rPr lang="en-CH" sz="2800" dirty="0"/>
              <a:t>What is the big-O complexity of this implementation?</a:t>
            </a:r>
          </a:p>
        </p:txBody>
      </p:sp>
    </p:spTree>
    <p:extLst>
      <p:ext uri="{BB962C8B-B14F-4D97-AF65-F5344CB8AC3E}">
        <p14:creationId xmlns:p14="http://schemas.microsoft.com/office/powerpoint/2010/main" val="22125698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57DA803-8BE6-6F02-036F-24B087F40167}"/>
              </a:ext>
            </a:extLst>
          </p:cNvPr>
          <p:cNvPicPr>
            <a:picLocks noChangeAspect="1"/>
          </p:cNvPicPr>
          <p:nvPr/>
        </p:nvPicPr>
        <p:blipFill>
          <a:blip r:embed="rId2"/>
          <a:stretch>
            <a:fillRect/>
          </a:stretch>
        </p:blipFill>
        <p:spPr>
          <a:xfrm>
            <a:off x="7748585" y="1102940"/>
            <a:ext cx="4146511" cy="3858851"/>
          </a:xfrm>
          <a:prstGeom prst="rect">
            <a:avLst/>
          </a:prstGeom>
        </p:spPr>
      </p:pic>
      <p:sp>
        <p:nvSpPr>
          <p:cNvPr id="2" name="Title 1">
            <a:extLst>
              <a:ext uri="{FF2B5EF4-FFF2-40B4-BE49-F238E27FC236}">
                <a16:creationId xmlns:a16="http://schemas.microsoft.com/office/drawing/2014/main" id="{AFD1034A-CA3C-57A5-780C-81F9CD3FD6F5}"/>
              </a:ext>
            </a:extLst>
          </p:cNvPr>
          <p:cNvSpPr>
            <a:spLocks noGrp="1"/>
          </p:cNvSpPr>
          <p:nvPr>
            <p:ph type="title"/>
          </p:nvPr>
        </p:nvSpPr>
        <p:spPr/>
        <p:txBody>
          <a:bodyPr>
            <a:normAutofit/>
          </a:bodyPr>
          <a:lstStyle/>
          <a:p>
            <a:r>
              <a:rPr lang="en-CH" dirty="0"/>
              <a:t>Implementation with sets</a:t>
            </a:r>
          </a:p>
        </p:txBody>
      </p:sp>
      <p:sp>
        <p:nvSpPr>
          <p:cNvPr id="4" name="Date Placeholder 3">
            <a:extLst>
              <a:ext uri="{FF2B5EF4-FFF2-40B4-BE49-F238E27FC236}">
                <a16:creationId xmlns:a16="http://schemas.microsoft.com/office/drawing/2014/main" id="{D07E1988-0A43-3863-6FD1-EDFDCFE712AF}"/>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0927217D-1932-F000-4B8F-B2E4392A75B7}"/>
              </a:ext>
            </a:extLst>
          </p:cNvPr>
          <p:cNvSpPr>
            <a:spLocks noGrp="1"/>
          </p:cNvSpPr>
          <p:nvPr>
            <p:ph type="ftr" sz="quarter" idx="11"/>
          </p:nvPr>
        </p:nvSpPr>
        <p:spPr/>
        <p:txBody>
          <a:bodyPr/>
          <a:lstStyle/>
          <a:p>
            <a:r>
              <a:rPr lang="en-US"/>
              <a:t>Data, v3.0</a:t>
            </a:r>
            <a:endParaRPr lang="en-US" dirty="0"/>
          </a:p>
        </p:txBody>
      </p:sp>
      <p:sp>
        <p:nvSpPr>
          <p:cNvPr id="6" name="Slide Number Placeholder 5">
            <a:extLst>
              <a:ext uri="{FF2B5EF4-FFF2-40B4-BE49-F238E27FC236}">
                <a16:creationId xmlns:a16="http://schemas.microsoft.com/office/drawing/2014/main" id="{C1AC604F-D5BB-05EC-848F-12418C5E6791}"/>
              </a:ext>
            </a:extLst>
          </p:cNvPr>
          <p:cNvSpPr>
            <a:spLocks noGrp="1"/>
          </p:cNvSpPr>
          <p:nvPr>
            <p:ph type="sldNum" sz="quarter" idx="12"/>
          </p:nvPr>
        </p:nvSpPr>
        <p:spPr/>
        <p:txBody>
          <a:bodyPr/>
          <a:lstStyle/>
          <a:p>
            <a:fld id="{EF79ADEA-B933-47CC-A4E9-04E6298B917C}" type="slidenum">
              <a:rPr lang="en-US" smtClean="0"/>
              <a:pPr/>
              <a:t>23</a:t>
            </a:fld>
            <a:endParaRPr lang="en-US"/>
          </a:p>
        </p:txBody>
      </p:sp>
      <p:sp>
        <p:nvSpPr>
          <p:cNvPr id="9" name="TextBox 8">
            <a:extLst>
              <a:ext uri="{FF2B5EF4-FFF2-40B4-BE49-F238E27FC236}">
                <a16:creationId xmlns:a16="http://schemas.microsoft.com/office/drawing/2014/main" id="{F4649BF9-8273-D87E-97E3-3ECCF86D8F56}"/>
              </a:ext>
            </a:extLst>
          </p:cNvPr>
          <p:cNvSpPr txBox="1"/>
          <p:nvPr/>
        </p:nvSpPr>
        <p:spPr>
          <a:xfrm>
            <a:off x="564908" y="4860869"/>
            <a:ext cx="9721080" cy="954107"/>
          </a:xfrm>
          <a:prstGeom prst="rect">
            <a:avLst/>
          </a:prstGeom>
          <a:noFill/>
        </p:spPr>
        <p:txBody>
          <a:bodyPr wrap="square" rtlCol="0">
            <a:spAutoFit/>
          </a:bodyPr>
          <a:lstStyle/>
          <a:p>
            <a:r>
              <a:rPr lang="en-CH" sz="2800" dirty="0"/>
              <a:t>What is the big-O complexity of this implementation?</a:t>
            </a:r>
          </a:p>
          <a:p>
            <a:r>
              <a:rPr lang="en-CH" sz="2800" dirty="0"/>
              <a:t>N + N ~ </a:t>
            </a:r>
            <a:r>
              <a:rPr lang="en-CH" sz="2800" b="1" dirty="0"/>
              <a:t>O(N)</a:t>
            </a:r>
          </a:p>
        </p:txBody>
      </p:sp>
      <p:pic>
        <p:nvPicPr>
          <p:cNvPr id="3" name="Picture 2">
            <a:extLst>
              <a:ext uri="{FF2B5EF4-FFF2-40B4-BE49-F238E27FC236}">
                <a16:creationId xmlns:a16="http://schemas.microsoft.com/office/drawing/2014/main" id="{FA818456-8998-58CC-848D-F631BF4B62FA}"/>
              </a:ext>
            </a:extLst>
          </p:cNvPr>
          <p:cNvPicPr>
            <a:picLocks noChangeAspect="1"/>
          </p:cNvPicPr>
          <p:nvPr/>
        </p:nvPicPr>
        <p:blipFill>
          <a:blip r:embed="rId3"/>
          <a:stretch>
            <a:fillRect/>
          </a:stretch>
        </p:blipFill>
        <p:spPr>
          <a:xfrm>
            <a:off x="8621654" y="1311142"/>
            <a:ext cx="1675388" cy="809771"/>
          </a:xfrm>
          <a:prstGeom prst="rect">
            <a:avLst/>
          </a:prstGeom>
        </p:spPr>
      </p:pic>
      <p:pic>
        <p:nvPicPr>
          <p:cNvPr id="8" name="Picture 7">
            <a:extLst>
              <a:ext uri="{FF2B5EF4-FFF2-40B4-BE49-F238E27FC236}">
                <a16:creationId xmlns:a16="http://schemas.microsoft.com/office/drawing/2014/main" id="{0804C377-8D83-80FD-D7CF-7B23C74FB774}"/>
              </a:ext>
            </a:extLst>
          </p:cNvPr>
          <p:cNvPicPr>
            <a:picLocks noChangeAspect="1"/>
          </p:cNvPicPr>
          <p:nvPr/>
        </p:nvPicPr>
        <p:blipFill rotWithShape="1">
          <a:blip r:embed="rId4"/>
          <a:srcRect l="216"/>
          <a:stretch/>
        </p:blipFill>
        <p:spPr>
          <a:xfrm>
            <a:off x="564908" y="1311377"/>
            <a:ext cx="6247576" cy="2095500"/>
          </a:xfrm>
          <a:prstGeom prst="rect">
            <a:avLst/>
          </a:prstGeom>
        </p:spPr>
      </p:pic>
      <p:pic>
        <p:nvPicPr>
          <p:cNvPr id="10" name="Picture 9">
            <a:extLst>
              <a:ext uri="{FF2B5EF4-FFF2-40B4-BE49-F238E27FC236}">
                <a16:creationId xmlns:a16="http://schemas.microsoft.com/office/drawing/2014/main" id="{B5EB69C5-8D47-01E6-E3A7-EE9430B720A2}"/>
              </a:ext>
            </a:extLst>
          </p:cNvPr>
          <p:cNvPicPr>
            <a:picLocks noChangeAspect="1"/>
          </p:cNvPicPr>
          <p:nvPr/>
        </p:nvPicPr>
        <p:blipFill rotWithShape="1">
          <a:blip r:embed="rId5"/>
          <a:srcRect t="1893"/>
          <a:stretch/>
        </p:blipFill>
        <p:spPr>
          <a:xfrm>
            <a:off x="564908" y="1997131"/>
            <a:ext cx="3802900" cy="1418962"/>
          </a:xfrm>
          <a:prstGeom prst="rect">
            <a:avLst/>
          </a:prstGeom>
        </p:spPr>
      </p:pic>
    </p:spTree>
    <p:extLst>
      <p:ext uri="{BB962C8B-B14F-4D97-AF65-F5344CB8AC3E}">
        <p14:creationId xmlns:p14="http://schemas.microsoft.com/office/powerpoint/2010/main" val="141140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AC27B-1D47-E39D-6546-CF0FC38B137E}"/>
              </a:ext>
            </a:extLst>
          </p:cNvPr>
          <p:cNvSpPr>
            <a:spLocks noGrp="1"/>
          </p:cNvSpPr>
          <p:nvPr>
            <p:ph type="title"/>
          </p:nvPr>
        </p:nvSpPr>
        <p:spPr/>
        <p:txBody>
          <a:bodyPr>
            <a:normAutofit fontScale="90000"/>
          </a:bodyPr>
          <a:lstStyle/>
          <a:p>
            <a:r>
              <a:rPr lang="en-CH" dirty="0"/>
              <a:t>Basic reference sheet about Python data structures </a:t>
            </a:r>
          </a:p>
        </p:txBody>
      </p:sp>
      <p:sp>
        <p:nvSpPr>
          <p:cNvPr id="4" name="Date Placeholder 3">
            <a:extLst>
              <a:ext uri="{FF2B5EF4-FFF2-40B4-BE49-F238E27FC236}">
                <a16:creationId xmlns:a16="http://schemas.microsoft.com/office/drawing/2014/main" id="{19E5C14D-DDBE-16B6-8D1D-1F2CF1B17DA5}"/>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9F13B8E0-4B28-E234-E0F8-CDB4CC6AC703}"/>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85AFFD0B-66E6-6176-3B92-998E3AFB5B4C}"/>
              </a:ext>
            </a:extLst>
          </p:cNvPr>
          <p:cNvSpPr>
            <a:spLocks noGrp="1"/>
          </p:cNvSpPr>
          <p:nvPr>
            <p:ph type="sldNum" sz="quarter" idx="12"/>
          </p:nvPr>
        </p:nvSpPr>
        <p:spPr/>
        <p:txBody>
          <a:bodyPr/>
          <a:lstStyle/>
          <a:p>
            <a:fld id="{EF79ADEA-B933-47CC-A4E9-04E6298B917C}" type="slidenum">
              <a:rPr lang="en-US" smtClean="0"/>
              <a:pPr/>
              <a:t>24</a:t>
            </a:fld>
            <a:endParaRPr lang="en-US"/>
          </a:p>
        </p:txBody>
      </p:sp>
      <p:sp>
        <p:nvSpPr>
          <p:cNvPr id="8" name="TextBox 7">
            <a:extLst>
              <a:ext uri="{FF2B5EF4-FFF2-40B4-BE49-F238E27FC236}">
                <a16:creationId xmlns:a16="http://schemas.microsoft.com/office/drawing/2014/main" id="{569F19D1-8CCA-3700-3F5F-91DF92543041}"/>
              </a:ext>
            </a:extLst>
          </p:cNvPr>
          <p:cNvSpPr txBox="1"/>
          <p:nvPr/>
        </p:nvSpPr>
        <p:spPr>
          <a:xfrm>
            <a:off x="6672064" y="6021226"/>
            <a:ext cx="5688632" cy="369332"/>
          </a:xfrm>
          <a:prstGeom prst="rect">
            <a:avLst/>
          </a:prstGeom>
          <a:noFill/>
        </p:spPr>
        <p:txBody>
          <a:bodyPr wrap="square">
            <a:spAutoFit/>
          </a:bodyPr>
          <a:lstStyle/>
          <a:p>
            <a:r>
              <a:rPr lang="en-CH" dirty="0"/>
              <a:t>See also: https://wiki.python.org/moin/TimeComplexity</a:t>
            </a:r>
          </a:p>
        </p:txBody>
      </p:sp>
      <p:graphicFrame>
        <p:nvGraphicFramePr>
          <p:cNvPr id="9" name="Table 8">
            <a:extLst>
              <a:ext uri="{FF2B5EF4-FFF2-40B4-BE49-F238E27FC236}">
                <a16:creationId xmlns:a16="http://schemas.microsoft.com/office/drawing/2014/main" id="{41AC80FD-AE39-8B91-97E1-F61B7CFA57D2}"/>
              </a:ext>
            </a:extLst>
          </p:cNvPr>
          <p:cNvGraphicFramePr>
            <a:graphicFrameLocks noGrp="1"/>
          </p:cNvGraphicFramePr>
          <p:nvPr>
            <p:extLst>
              <p:ext uri="{D42A27DB-BD31-4B8C-83A1-F6EECF244321}">
                <p14:modId xmlns:p14="http://schemas.microsoft.com/office/powerpoint/2010/main" val="1349957797"/>
              </p:ext>
            </p:extLst>
          </p:nvPr>
        </p:nvGraphicFramePr>
        <p:xfrm>
          <a:off x="551384" y="2344857"/>
          <a:ext cx="5256584" cy="3336433"/>
        </p:xfrm>
        <a:graphic>
          <a:graphicData uri="http://schemas.openxmlformats.org/drawingml/2006/table">
            <a:tbl>
              <a:tblPr firstRow="1" bandRow="1">
                <a:tableStyleId>{5C22544A-7EE6-4342-B048-85BDC9FD1C3A}</a:tableStyleId>
              </a:tblPr>
              <a:tblGrid>
                <a:gridCol w="3714092">
                  <a:extLst>
                    <a:ext uri="{9D8B030D-6E8A-4147-A177-3AD203B41FA5}">
                      <a16:colId xmlns:a16="http://schemas.microsoft.com/office/drawing/2014/main" val="2387749546"/>
                    </a:ext>
                  </a:extLst>
                </a:gridCol>
                <a:gridCol w="1542492">
                  <a:extLst>
                    <a:ext uri="{9D8B030D-6E8A-4147-A177-3AD203B41FA5}">
                      <a16:colId xmlns:a16="http://schemas.microsoft.com/office/drawing/2014/main" val="142807779"/>
                    </a:ext>
                  </a:extLst>
                </a:gridCol>
              </a:tblGrid>
              <a:tr h="578315">
                <a:tc>
                  <a:txBody>
                    <a:bodyPr/>
                    <a:lstStyle/>
                    <a:p>
                      <a:r>
                        <a:rPr lang="en-CH" sz="2000" b="0" dirty="0">
                          <a:solidFill>
                            <a:schemeClr val="tx1"/>
                          </a:solidFill>
                        </a:rPr>
                        <a:t>Getting an element by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CH" sz="2000" b="0" dirty="0">
                          <a:solidFill>
                            <a:schemeClr val="tx1"/>
                          </a:solidFill>
                        </a:rPr>
                        <a:t>O(1)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8958593"/>
                  </a:ext>
                </a:extLst>
              </a:tr>
              <a:tr h="578315">
                <a:tc>
                  <a:txBody>
                    <a:bodyPr/>
                    <a:lstStyle/>
                    <a:p>
                      <a:r>
                        <a:rPr lang="en-CH" sz="2000" b="0" dirty="0">
                          <a:solidFill>
                            <a:schemeClr val="tx1"/>
                          </a:solidFill>
                        </a:rPr>
                        <a:t>Appending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CH" sz="2000" b="0" dirty="0">
                          <a:solidFill>
                            <a:schemeClr val="tx1"/>
                          </a:solidFill>
                        </a:rPr>
                        <a:t>O(1)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1647670"/>
                  </a:ext>
                </a:extLst>
              </a:tr>
              <a:tr h="578315">
                <a:tc>
                  <a:txBody>
                    <a:bodyPr/>
                    <a:lstStyle/>
                    <a:p>
                      <a:r>
                        <a:rPr lang="en-CH" sz="2000" b="0" dirty="0">
                          <a:solidFill>
                            <a:schemeClr val="tx1"/>
                          </a:solidFill>
                        </a:rPr>
                        <a:t>Inserting an element at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CH" sz="2000" b="0" dirty="0">
                          <a:solidFill>
                            <a:schemeClr val="tx1"/>
                          </a:solidFill>
                        </a:rPr>
                        <a:t>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619153"/>
                  </a:ext>
                </a:extLst>
              </a:tr>
              <a:tr h="578315">
                <a:tc>
                  <a:txBody>
                    <a:bodyPr/>
                    <a:lstStyle/>
                    <a:p>
                      <a:r>
                        <a:rPr lang="en-CH" sz="2000" b="0" dirty="0">
                          <a:solidFill>
                            <a:schemeClr val="tx1"/>
                          </a:solidFill>
                        </a:rPr>
                        <a:t>Sorting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CH" sz="2000" b="0" dirty="0">
                          <a:solidFill>
                            <a:schemeClr val="tx1"/>
                          </a:solidFill>
                        </a:rPr>
                        <a:t>O(n log 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11291073"/>
                  </a:ext>
                </a:extLst>
              </a:tr>
              <a:tr h="1023173">
                <a:tc>
                  <a:txBody>
                    <a:bodyPr/>
                    <a:lstStyle/>
                    <a:p>
                      <a:r>
                        <a:rPr lang="en-CH" sz="2000" b="0" dirty="0">
                          <a:solidFill>
                            <a:schemeClr val="tx1"/>
                          </a:solidFill>
                        </a:rPr>
                        <a:t>Finding an element</a:t>
                      </a:r>
                      <a:br>
                        <a:rPr lang="en-CH" sz="2000" b="0" dirty="0">
                          <a:solidFill>
                            <a:schemeClr val="tx1"/>
                          </a:solidFill>
                        </a:rPr>
                      </a:br>
                      <a:r>
                        <a:rPr lang="en-CH" sz="2000" b="0" dirty="0">
                          <a:solidFill>
                            <a:schemeClr val="tx1"/>
                          </a:solidFill>
                        </a:rPr>
                        <a:t>(e.g., “if element in my_list: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CH" sz="2000" b="0" dirty="0">
                          <a:solidFill>
                            <a:schemeClr val="tx1"/>
                          </a:solidFill>
                        </a:rPr>
                        <a:t>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2679385"/>
                  </a:ext>
                </a:extLst>
              </a:tr>
            </a:tbl>
          </a:graphicData>
        </a:graphic>
      </p:graphicFrame>
      <p:sp>
        <p:nvSpPr>
          <p:cNvPr id="11" name="TextBox 10">
            <a:extLst>
              <a:ext uri="{FF2B5EF4-FFF2-40B4-BE49-F238E27FC236}">
                <a16:creationId xmlns:a16="http://schemas.microsoft.com/office/drawing/2014/main" id="{55CAB7A3-C29E-B358-1016-89BD96C28AB6}"/>
              </a:ext>
            </a:extLst>
          </p:cNvPr>
          <p:cNvSpPr txBox="1"/>
          <p:nvPr/>
        </p:nvSpPr>
        <p:spPr>
          <a:xfrm>
            <a:off x="434540" y="1270824"/>
            <a:ext cx="5013388" cy="954107"/>
          </a:xfrm>
          <a:prstGeom prst="rect">
            <a:avLst/>
          </a:prstGeom>
          <a:noFill/>
        </p:spPr>
        <p:txBody>
          <a:bodyPr wrap="square">
            <a:spAutoFit/>
          </a:bodyPr>
          <a:lstStyle/>
          <a:p>
            <a:r>
              <a:rPr lang="en-CH" sz="2800" dirty="0"/>
              <a:t>Lists: collection of ordered, arbitrary data</a:t>
            </a:r>
          </a:p>
        </p:txBody>
      </p:sp>
      <p:graphicFrame>
        <p:nvGraphicFramePr>
          <p:cNvPr id="12" name="Table 11">
            <a:extLst>
              <a:ext uri="{FF2B5EF4-FFF2-40B4-BE49-F238E27FC236}">
                <a16:creationId xmlns:a16="http://schemas.microsoft.com/office/drawing/2014/main" id="{F0DC731C-E9DA-1AAF-00C1-F5E27E1410EF}"/>
              </a:ext>
            </a:extLst>
          </p:cNvPr>
          <p:cNvGraphicFramePr>
            <a:graphicFrameLocks noGrp="1"/>
          </p:cNvGraphicFramePr>
          <p:nvPr>
            <p:extLst>
              <p:ext uri="{D42A27DB-BD31-4B8C-83A1-F6EECF244321}">
                <p14:modId xmlns:p14="http://schemas.microsoft.com/office/powerpoint/2010/main" val="3574988210"/>
              </p:ext>
            </p:extLst>
          </p:nvPr>
        </p:nvGraphicFramePr>
        <p:xfrm>
          <a:off x="6312024" y="1971558"/>
          <a:ext cx="5256584" cy="1097280"/>
        </p:xfrm>
        <a:graphic>
          <a:graphicData uri="http://schemas.openxmlformats.org/drawingml/2006/table">
            <a:tbl>
              <a:tblPr firstRow="1" bandRow="1">
                <a:tableStyleId>{5C22544A-7EE6-4342-B048-85BDC9FD1C3A}</a:tableStyleId>
              </a:tblPr>
              <a:tblGrid>
                <a:gridCol w="3714092">
                  <a:extLst>
                    <a:ext uri="{9D8B030D-6E8A-4147-A177-3AD203B41FA5}">
                      <a16:colId xmlns:a16="http://schemas.microsoft.com/office/drawing/2014/main" val="2387749546"/>
                    </a:ext>
                  </a:extLst>
                </a:gridCol>
                <a:gridCol w="1542492">
                  <a:extLst>
                    <a:ext uri="{9D8B030D-6E8A-4147-A177-3AD203B41FA5}">
                      <a16:colId xmlns:a16="http://schemas.microsoft.com/office/drawing/2014/main" val="142807779"/>
                    </a:ext>
                  </a:extLst>
                </a:gridCol>
              </a:tblGrid>
              <a:tr h="351438">
                <a:tc>
                  <a:txBody>
                    <a:bodyPr/>
                    <a:lstStyle/>
                    <a:p>
                      <a:r>
                        <a:rPr lang="en-CH" sz="2000" b="0" dirty="0">
                          <a:solidFill>
                            <a:schemeClr val="tx1"/>
                          </a:solidFill>
                        </a:rPr>
                        <a:t>Inserting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CH" sz="2000" b="0" dirty="0">
                          <a:solidFill>
                            <a:schemeClr val="tx1"/>
                          </a:solidFill>
                        </a:rPr>
                        <a:t>O(1)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8958593"/>
                  </a:ext>
                </a:extLst>
              </a:tr>
              <a:tr h="612978">
                <a:tc>
                  <a:txBody>
                    <a:bodyPr/>
                    <a:lstStyle/>
                    <a:p>
                      <a:r>
                        <a:rPr lang="en-CH" sz="2000" b="0" dirty="0">
                          <a:solidFill>
                            <a:schemeClr val="tx1"/>
                          </a:solidFill>
                        </a:rPr>
                        <a:t>Finding a value by key</a:t>
                      </a:r>
                      <a:br>
                        <a:rPr lang="en-CH" sz="2000" b="0" dirty="0">
                          <a:solidFill>
                            <a:schemeClr val="tx1"/>
                          </a:solidFill>
                        </a:rPr>
                      </a:br>
                      <a:r>
                        <a:rPr lang="en-CH" sz="2000" b="0" dirty="0">
                          <a:solidFill>
                            <a:schemeClr val="tx1"/>
                          </a:solidFill>
                        </a:rPr>
                        <a:t>(e.g., “if element in my_dict: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CH" sz="2000" b="0" dirty="0">
                          <a:solidFill>
                            <a:schemeClr val="tx1"/>
                          </a:solidFill>
                        </a:rPr>
                        <a:t>O(1)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2679385"/>
                  </a:ext>
                </a:extLst>
              </a:tr>
            </a:tbl>
          </a:graphicData>
        </a:graphic>
      </p:graphicFrame>
      <p:graphicFrame>
        <p:nvGraphicFramePr>
          <p:cNvPr id="13" name="Table 12">
            <a:extLst>
              <a:ext uri="{FF2B5EF4-FFF2-40B4-BE49-F238E27FC236}">
                <a16:creationId xmlns:a16="http://schemas.microsoft.com/office/drawing/2014/main" id="{2D1302DB-2769-C2C3-D3E9-1844EA82FD80}"/>
              </a:ext>
            </a:extLst>
          </p:cNvPr>
          <p:cNvGraphicFramePr>
            <a:graphicFrameLocks noGrp="1"/>
          </p:cNvGraphicFramePr>
          <p:nvPr>
            <p:extLst>
              <p:ext uri="{D42A27DB-BD31-4B8C-83A1-F6EECF244321}">
                <p14:modId xmlns:p14="http://schemas.microsoft.com/office/powerpoint/2010/main" val="1263736964"/>
              </p:ext>
            </p:extLst>
          </p:nvPr>
        </p:nvGraphicFramePr>
        <p:xfrm>
          <a:off x="6312024" y="4195632"/>
          <a:ext cx="5256584" cy="1097280"/>
        </p:xfrm>
        <a:graphic>
          <a:graphicData uri="http://schemas.openxmlformats.org/drawingml/2006/table">
            <a:tbl>
              <a:tblPr firstRow="1" bandRow="1">
                <a:tableStyleId>{5C22544A-7EE6-4342-B048-85BDC9FD1C3A}</a:tableStyleId>
              </a:tblPr>
              <a:tblGrid>
                <a:gridCol w="3714092">
                  <a:extLst>
                    <a:ext uri="{9D8B030D-6E8A-4147-A177-3AD203B41FA5}">
                      <a16:colId xmlns:a16="http://schemas.microsoft.com/office/drawing/2014/main" val="2387749546"/>
                    </a:ext>
                  </a:extLst>
                </a:gridCol>
                <a:gridCol w="1542492">
                  <a:extLst>
                    <a:ext uri="{9D8B030D-6E8A-4147-A177-3AD203B41FA5}">
                      <a16:colId xmlns:a16="http://schemas.microsoft.com/office/drawing/2014/main" val="142807779"/>
                    </a:ext>
                  </a:extLst>
                </a:gridCol>
              </a:tblGrid>
              <a:tr h="351438">
                <a:tc>
                  <a:txBody>
                    <a:bodyPr/>
                    <a:lstStyle/>
                    <a:p>
                      <a:r>
                        <a:rPr lang="en-CH" sz="2000" b="0" dirty="0">
                          <a:solidFill>
                            <a:schemeClr val="tx1"/>
                          </a:solidFill>
                        </a:rPr>
                        <a:t>Inserting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CH" sz="2000" b="0" dirty="0">
                          <a:solidFill>
                            <a:schemeClr val="tx1"/>
                          </a:solidFill>
                        </a:rPr>
                        <a:t>O(1)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8958593"/>
                  </a:ext>
                </a:extLst>
              </a:tr>
              <a:tr h="612978">
                <a:tc>
                  <a:txBody>
                    <a:bodyPr/>
                    <a:lstStyle/>
                    <a:p>
                      <a:r>
                        <a:rPr lang="en-CH" sz="2000" b="0" dirty="0">
                          <a:solidFill>
                            <a:schemeClr val="tx1"/>
                          </a:solidFill>
                        </a:rPr>
                        <a:t>Finding a value by key</a:t>
                      </a:r>
                      <a:br>
                        <a:rPr lang="en-CH" sz="2000" b="0" dirty="0">
                          <a:solidFill>
                            <a:schemeClr val="tx1"/>
                          </a:solidFill>
                        </a:rPr>
                      </a:br>
                      <a:r>
                        <a:rPr lang="en-CH" sz="2000" b="0" dirty="0">
                          <a:solidFill>
                            <a:schemeClr val="tx1"/>
                          </a:solidFill>
                        </a:rPr>
                        <a:t>(e.g., “if element in my_set: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CH" sz="2000" b="0" dirty="0">
                          <a:solidFill>
                            <a:schemeClr val="tx1"/>
                          </a:solidFill>
                        </a:rPr>
                        <a:t>O(1)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2679385"/>
                  </a:ext>
                </a:extLst>
              </a:tr>
            </a:tbl>
          </a:graphicData>
        </a:graphic>
      </p:graphicFrame>
      <p:sp>
        <p:nvSpPr>
          <p:cNvPr id="14" name="TextBox 13">
            <a:extLst>
              <a:ext uri="{FF2B5EF4-FFF2-40B4-BE49-F238E27FC236}">
                <a16:creationId xmlns:a16="http://schemas.microsoft.com/office/drawing/2014/main" id="{0044821F-7BCB-8BE0-FEA6-781383B6DAE8}"/>
              </a:ext>
            </a:extLst>
          </p:cNvPr>
          <p:cNvSpPr txBox="1"/>
          <p:nvPr/>
        </p:nvSpPr>
        <p:spPr>
          <a:xfrm>
            <a:off x="6240016" y="1331723"/>
            <a:ext cx="5013388" cy="523220"/>
          </a:xfrm>
          <a:prstGeom prst="rect">
            <a:avLst/>
          </a:prstGeom>
          <a:noFill/>
        </p:spPr>
        <p:txBody>
          <a:bodyPr wrap="square">
            <a:spAutoFit/>
          </a:bodyPr>
          <a:lstStyle/>
          <a:p>
            <a:r>
              <a:rPr lang="en-CH" sz="2800" dirty="0"/>
              <a:t>Dictionaries (“hashmaps”)</a:t>
            </a:r>
          </a:p>
        </p:txBody>
      </p:sp>
      <p:sp>
        <p:nvSpPr>
          <p:cNvPr id="15" name="TextBox 14">
            <a:extLst>
              <a:ext uri="{FF2B5EF4-FFF2-40B4-BE49-F238E27FC236}">
                <a16:creationId xmlns:a16="http://schemas.microsoft.com/office/drawing/2014/main" id="{4A3EAB94-DEBE-222C-2E6B-A5E1579EE7BC}"/>
              </a:ext>
            </a:extLst>
          </p:cNvPr>
          <p:cNvSpPr txBox="1"/>
          <p:nvPr/>
        </p:nvSpPr>
        <p:spPr>
          <a:xfrm>
            <a:off x="6240016" y="3627669"/>
            <a:ext cx="5688632" cy="523220"/>
          </a:xfrm>
          <a:prstGeom prst="rect">
            <a:avLst/>
          </a:prstGeom>
          <a:noFill/>
        </p:spPr>
        <p:txBody>
          <a:bodyPr wrap="square">
            <a:spAutoFit/>
          </a:bodyPr>
          <a:lstStyle/>
          <a:p>
            <a:r>
              <a:rPr lang="en-CH" sz="2800" dirty="0"/>
              <a:t>Sets: </a:t>
            </a:r>
            <a:r>
              <a:rPr lang="en-US" sz="2800" dirty="0"/>
              <a:t>it’s dictionaries without values</a:t>
            </a:r>
            <a:endParaRPr lang="en-CH" sz="2800" dirty="0"/>
          </a:p>
        </p:txBody>
      </p:sp>
    </p:spTree>
    <p:extLst>
      <p:ext uri="{BB962C8B-B14F-4D97-AF65-F5344CB8AC3E}">
        <p14:creationId xmlns:p14="http://schemas.microsoft.com/office/powerpoint/2010/main" val="9142070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8DFBD88-A407-BCCE-86D5-035B157D4265}"/>
              </a:ext>
            </a:extLst>
          </p:cNvPr>
          <p:cNvSpPr/>
          <p:nvPr/>
        </p:nvSpPr>
        <p:spPr>
          <a:xfrm>
            <a:off x="7428258" y="205950"/>
            <a:ext cx="4539047" cy="990187"/>
          </a:xfrm>
          <a:prstGeom prst="rect">
            <a:avLst/>
          </a:prstGeom>
          <a:solidFill>
            <a:schemeClr val="accent6">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latin typeface="Courier New" panose="02070309020205020404" pitchFamily="49" charset="0"/>
              <a:cs typeface="Courier New" panose="02070309020205020404" pitchFamily="49" charset="0"/>
            </a:endParaRPr>
          </a:p>
        </p:txBody>
      </p:sp>
      <p:sp>
        <p:nvSpPr>
          <p:cNvPr id="3" name="Content Placeholder 2">
            <a:extLst>
              <a:ext uri="{FF2B5EF4-FFF2-40B4-BE49-F238E27FC236}">
                <a16:creationId xmlns:a16="http://schemas.microsoft.com/office/drawing/2014/main" id="{5ECD4441-6525-41C6-BE74-BF0FD43E7305}"/>
              </a:ext>
            </a:extLst>
          </p:cNvPr>
          <p:cNvSpPr>
            <a:spLocks noGrp="1"/>
          </p:cNvSpPr>
          <p:nvPr>
            <p:ph idx="1"/>
          </p:nvPr>
        </p:nvSpPr>
        <p:spPr>
          <a:xfrm>
            <a:off x="838200" y="1772816"/>
            <a:ext cx="10515600" cy="4404147"/>
          </a:xfrm>
        </p:spPr>
        <p:txBody>
          <a:bodyPr/>
          <a:lstStyle/>
          <a:p>
            <a:r>
              <a:rPr lang="en-CH" dirty="0"/>
              <a:t>Open the notebook </a:t>
            </a:r>
            <a:r>
              <a:rPr lang="en-CH" dirty="0">
                <a:latin typeface="Consolas" panose="020B0609020204030204" pitchFamily="49" charset="0"/>
                <a:cs typeface="Consolas" panose="020B0609020204030204" pitchFamily="49" charset="0"/>
              </a:rPr>
              <a:t>match_tarots</a:t>
            </a:r>
            <a:r>
              <a:rPr lang="en-CH" dirty="0"/>
              <a:t>, and follow the instructions!</a:t>
            </a:r>
          </a:p>
          <a:p>
            <a:pPr marL="0" indent="0">
              <a:buNone/>
            </a:pPr>
            <a:endParaRPr lang="en-CH" dirty="0"/>
          </a:p>
          <a:p>
            <a:r>
              <a:rPr lang="en-US" dirty="0"/>
              <a:t>Submit a PR for Issue #7 on </a:t>
            </a:r>
            <a:br>
              <a:rPr lang="en-US" dirty="0"/>
            </a:br>
            <a:r>
              <a:rPr lang="en-US" noProof="1">
                <a:latin typeface="Consolas" panose="020B0609020204030204" pitchFamily="49" charset="0"/>
                <a:cs typeface="Consolas" panose="020B0609020204030204" pitchFamily="49" charset="0"/>
              </a:rPr>
              <a:t>git.aspp.school</a:t>
            </a:r>
            <a:r>
              <a:rPr lang="en-US" dirty="0">
                <a:latin typeface="Consolas" panose="020B0609020204030204" pitchFamily="49" charset="0"/>
                <a:cs typeface="Consolas" panose="020B0609020204030204" pitchFamily="49" charset="0"/>
              </a:rPr>
              <a:t>/ASPP/2024-heraklion-data</a:t>
            </a:r>
          </a:p>
          <a:p>
            <a:pPr marL="0" indent="0">
              <a:buNone/>
            </a:pPr>
            <a:endParaRPr lang="en-CH" dirty="0"/>
          </a:p>
          <a:p>
            <a:endParaRPr lang="en-US" dirty="0"/>
          </a:p>
          <a:p>
            <a:endParaRPr lang="en-CH" dirty="0"/>
          </a:p>
        </p:txBody>
      </p:sp>
      <p:sp>
        <p:nvSpPr>
          <p:cNvPr id="4" name="Date Placeholder 3">
            <a:extLst>
              <a:ext uri="{FF2B5EF4-FFF2-40B4-BE49-F238E27FC236}">
                <a16:creationId xmlns:a16="http://schemas.microsoft.com/office/drawing/2014/main" id="{E8C84DEF-DCEF-7DAB-2DDF-ACBFCD4688DC}"/>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2C3C5D9D-450C-CD41-DC4B-A75684895E79}"/>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9F61D35E-DD39-AE70-A8D5-44192757D511}"/>
              </a:ext>
            </a:extLst>
          </p:cNvPr>
          <p:cNvSpPr>
            <a:spLocks noGrp="1"/>
          </p:cNvSpPr>
          <p:nvPr>
            <p:ph type="sldNum" sz="quarter" idx="12"/>
          </p:nvPr>
        </p:nvSpPr>
        <p:spPr/>
        <p:txBody>
          <a:bodyPr/>
          <a:lstStyle/>
          <a:p>
            <a:fld id="{EF79ADEA-B933-47CC-A4E9-04E6298B917C}" type="slidenum">
              <a:rPr lang="en-US" smtClean="0"/>
              <a:pPr/>
              <a:t>25</a:t>
            </a:fld>
            <a:endParaRPr lang="en-US"/>
          </a:p>
        </p:txBody>
      </p:sp>
      <p:sp>
        <p:nvSpPr>
          <p:cNvPr id="9" name="TextBox 8">
            <a:extLst>
              <a:ext uri="{FF2B5EF4-FFF2-40B4-BE49-F238E27FC236}">
                <a16:creationId xmlns:a16="http://schemas.microsoft.com/office/drawing/2014/main" id="{BB65695B-C9BD-A37B-E7AA-E696393008D2}"/>
              </a:ext>
            </a:extLst>
          </p:cNvPr>
          <p:cNvSpPr txBox="1"/>
          <p:nvPr/>
        </p:nvSpPr>
        <p:spPr>
          <a:xfrm>
            <a:off x="7930760" y="224587"/>
            <a:ext cx="1779374" cy="369332"/>
          </a:xfrm>
          <a:prstGeom prst="rect">
            <a:avLst/>
          </a:prstGeom>
          <a:noFill/>
        </p:spPr>
        <p:txBody>
          <a:bodyPr wrap="square">
            <a:spAutoFit/>
          </a:bodyPr>
          <a:lstStyle/>
          <a:p>
            <a:pPr algn="ctr"/>
            <a:r>
              <a:rPr lang="en-DE" b="1">
                <a:solidFill>
                  <a:schemeClr val="tx1"/>
                </a:solidFill>
                <a:latin typeface="Courier New" panose="02070309020205020404" pitchFamily="49" charset="0"/>
                <a:cs typeface="Courier New" panose="02070309020205020404" pitchFamily="49" charset="0"/>
              </a:rPr>
              <a:t>Exercise</a:t>
            </a:r>
          </a:p>
        </p:txBody>
      </p:sp>
      <p:pic>
        <p:nvPicPr>
          <p:cNvPr id="11" name="Graphic 10">
            <a:extLst>
              <a:ext uri="{FF2B5EF4-FFF2-40B4-BE49-F238E27FC236}">
                <a16:creationId xmlns:a16="http://schemas.microsoft.com/office/drawing/2014/main" id="{4100A633-F8F2-E59B-7BE8-C5F21118AEF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74831" y="274016"/>
            <a:ext cx="694459" cy="555568"/>
          </a:xfrm>
          <a:prstGeom prst="rect">
            <a:avLst/>
          </a:prstGeom>
        </p:spPr>
      </p:pic>
      <p:sp>
        <p:nvSpPr>
          <p:cNvPr id="13" name="TextBox 12">
            <a:extLst>
              <a:ext uri="{FF2B5EF4-FFF2-40B4-BE49-F238E27FC236}">
                <a16:creationId xmlns:a16="http://schemas.microsoft.com/office/drawing/2014/main" id="{53320516-5013-5786-E680-1CD41D26764D}"/>
              </a:ext>
            </a:extLst>
          </p:cNvPr>
          <p:cNvSpPr txBox="1"/>
          <p:nvPr/>
        </p:nvSpPr>
        <p:spPr>
          <a:xfrm>
            <a:off x="8302028" y="542883"/>
            <a:ext cx="3482604" cy="307777"/>
          </a:xfrm>
          <a:prstGeom prst="rect">
            <a:avLst/>
          </a:prstGeom>
          <a:noFill/>
        </p:spPr>
        <p:txBody>
          <a:bodyPr wrap="square">
            <a:spAutoFit/>
          </a:bodyPr>
          <a:lstStyle/>
          <a:p>
            <a:pPr algn="ctr"/>
            <a:r>
              <a:rPr lang="en-GB" sz="1400" dirty="0">
                <a:solidFill>
                  <a:schemeClr val="tx1"/>
                </a:solidFill>
                <a:latin typeface="Courier New" panose="02070309020205020404" pitchFamily="49" charset="0"/>
                <a:cs typeface="Courier New" panose="02070309020205020404" pitchFamily="49" charset="0"/>
              </a:rPr>
              <a:t>exercises/</a:t>
            </a:r>
            <a:r>
              <a:rPr lang="en-GB" sz="1400" dirty="0" err="1">
                <a:solidFill>
                  <a:schemeClr val="tx1"/>
                </a:solidFill>
                <a:latin typeface="Courier New" panose="02070309020205020404" pitchFamily="49" charset="0"/>
                <a:cs typeface="Courier New" panose="02070309020205020404" pitchFamily="49" charset="0"/>
              </a:rPr>
              <a:t>match_tarots</a:t>
            </a:r>
            <a:endParaRPr lang="en-DE" sz="1400">
              <a:solidFill>
                <a:schemeClr val="tx1"/>
              </a:solidFill>
              <a:latin typeface="Courier New" panose="02070309020205020404" pitchFamily="49" charset="0"/>
              <a:cs typeface="Courier New" panose="02070309020205020404" pitchFamily="49" charset="0"/>
            </a:endParaRPr>
          </a:p>
        </p:txBody>
      </p:sp>
      <p:sp>
        <p:nvSpPr>
          <p:cNvPr id="17" name="Title 3">
            <a:extLst>
              <a:ext uri="{FF2B5EF4-FFF2-40B4-BE49-F238E27FC236}">
                <a16:creationId xmlns:a16="http://schemas.microsoft.com/office/drawing/2014/main" id="{0082FB03-B5BF-D4F7-5592-04D6D43828A1}"/>
              </a:ext>
            </a:extLst>
          </p:cNvPr>
          <p:cNvSpPr>
            <a:spLocks noGrp="1"/>
          </p:cNvSpPr>
          <p:nvPr>
            <p:ph type="title"/>
          </p:nvPr>
        </p:nvSpPr>
        <p:spPr>
          <a:xfrm>
            <a:off x="346841" y="365126"/>
            <a:ext cx="6757271" cy="953312"/>
          </a:xfrm>
        </p:spPr>
        <p:txBody>
          <a:bodyPr>
            <a:normAutofit fontScale="90000"/>
          </a:bodyPr>
          <a:lstStyle/>
          <a:p>
            <a:r>
              <a:rPr lang="en-US" b="1" dirty="0"/>
              <a:t>Hands-on</a:t>
            </a:r>
            <a:br>
              <a:rPr lang="en-US" b="1" dirty="0"/>
            </a:br>
            <a:endParaRPr lang="en-CH" sz="3600" dirty="0"/>
          </a:p>
        </p:txBody>
      </p:sp>
    </p:spTree>
    <p:extLst>
      <p:ext uri="{BB962C8B-B14F-4D97-AF65-F5344CB8AC3E}">
        <p14:creationId xmlns:p14="http://schemas.microsoft.com/office/powerpoint/2010/main" val="2571986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4A0E4E1-DC90-7F56-5328-B8BA4BD16E2C}"/>
              </a:ext>
            </a:extLst>
          </p:cNvPr>
          <p:cNvSpPr>
            <a:spLocks noGrp="1"/>
          </p:cNvSpPr>
          <p:nvPr>
            <p:ph type="title"/>
          </p:nvPr>
        </p:nvSpPr>
        <p:spPr/>
        <p:txBody>
          <a:bodyPr>
            <a:normAutofit fontScale="90000"/>
          </a:bodyPr>
          <a:lstStyle/>
          <a:p>
            <a:r>
              <a:rPr lang="en-CH" dirty="0"/>
              <a:t>H</a:t>
            </a:r>
            <a:r>
              <a:rPr lang="en-CH" sz="4400" dirty="0"/>
              <a:t>ow does rewriting in C change the performance?</a:t>
            </a:r>
            <a:br>
              <a:rPr lang="en-CH" sz="4400" dirty="0"/>
            </a:br>
            <a:r>
              <a:rPr lang="en-CH" sz="3100" dirty="0"/>
              <a:t>(rewriting in C, parallelization; same algorithm)</a:t>
            </a:r>
            <a:endParaRPr lang="en-CH" dirty="0"/>
          </a:p>
        </p:txBody>
      </p:sp>
      <p:sp>
        <p:nvSpPr>
          <p:cNvPr id="4" name="Date Placeholder 3">
            <a:extLst>
              <a:ext uri="{FF2B5EF4-FFF2-40B4-BE49-F238E27FC236}">
                <a16:creationId xmlns:a16="http://schemas.microsoft.com/office/drawing/2014/main" id="{CFCDCFE1-ED01-88FC-4AAB-4F1F9FD089FE}"/>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CF8EEBE0-5A80-5353-4F83-8E53F2F22577}"/>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4CC8EA09-85E0-5A2C-8E1F-4F1FAC62E18B}"/>
              </a:ext>
            </a:extLst>
          </p:cNvPr>
          <p:cNvSpPr>
            <a:spLocks noGrp="1"/>
          </p:cNvSpPr>
          <p:nvPr>
            <p:ph type="sldNum" sz="quarter" idx="12"/>
          </p:nvPr>
        </p:nvSpPr>
        <p:spPr/>
        <p:txBody>
          <a:bodyPr/>
          <a:lstStyle/>
          <a:p>
            <a:fld id="{EF79ADEA-B933-47CC-A4E9-04E6298B917C}" type="slidenum">
              <a:rPr lang="en-US" smtClean="0"/>
              <a:pPr/>
              <a:t>26</a:t>
            </a:fld>
            <a:endParaRPr lang="en-US" dirty="0"/>
          </a:p>
        </p:txBody>
      </p:sp>
      <p:pic>
        <p:nvPicPr>
          <p:cNvPr id="3074" name="Picture 2" descr="Image">
            <a:extLst>
              <a:ext uri="{FF2B5EF4-FFF2-40B4-BE49-F238E27FC236}">
                <a16:creationId xmlns:a16="http://schemas.microsoft.com/office/drawing/2014/main" id="{E1C28902-E062-ED21-A6B8-E688BEA74D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8088" y="1484784"/>
            <a:ext cx="4522812" cy="452281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C82FAB4-F531-1E26-57A6-A20E14B2D0C9}"/>
              </a:ext>
            </a:extLst>
          </p:cNvPr>
          <p:cNvSpPr txBox="1"/>
          <p:nvPr/>
        </p:nvSpPr>
        <p:spPr>
          <a:xfrm>
            <a:off x="8153400" y="1946879"/>
            <a:ext cx="1649025" cy="830997"/>
          </a:xfrm>
          <a:prstGeom prst="rect">
            <a:avLst/>
          </a:prstGeom>
          <a:noFill/>
        </p:spPr>
        <p:txBody>
          <a:bodyPr wrap="square" rtlCol="0">
            <a:spAutoFit/>
          </a:bodyPr>
          <a:lstStyle/>
          <a:p>
            <a:pPr algn="ctr"/>
            <a:r>
              <a:rPr lang="en-CH" sz="2400" b="1" dirty="0">
                <a:solidFill>
                  <a:srgbClr val="FFFF00"/>
                </a:solidFill>
                <a:effectLst>
                  <a:outerShdw blurRad="50800" dist="38100" dir="5400000" algn="t" rotWithShape="0">
                    <a:prstClr val="black">
                      <a:alpha val="40000"/>
                    </a:prstClr>
                  </a:outerShdw>
                </a:effectLst>
              </a:rPr>
              <a:t>Fast code</a:t>
            </a:r>
          </a:p>
          <a:p>
            <a:pPr algn="ctr"/>
            <a:r>
              <a:rPr lang="en-CH" sz="2400" b="1" dirty="0">
                <a:solidFill>
                  <a:srgbClr val="FFFF00"/>
                </a:solidFill>
                <a:effectLst>
                  <a:outerShdw blurRad="50800" dist="38100" dir="5400000" algn="t" rotWithShape="0">
                    <a:prstClr val="black">
                      <a:alpha val="40000"/>
                    </a:prstClr>
                  </a:outerShdw>
                </a:effectLst>
              </a:rPr>
              <a:t>O(n</a:t>
            </a:r>
            <a:r>
              <a:rPr lang="en-CH" sz="2400" b="1" baseline="30000" dirty="0">
                <a:solidFill>
                  <a:srgbClr val="FFFF00"/>
                </a:solidFill>
                <a:effectLst>
                  <a:outerShdw blurRad="50800" dist="38100" dir="5400000" algn="t" rotWithShape="0">
                    <a:prstClr val="black">
                      <a:alpha val="40000"/>
                    </a:prstClr>
                  </a:outerShdw>
                </a:effectLst>
              </a:rPr>
              <a:t>2</a:t>
            </a:r>
            <a:r>
              <a:rPr lang="en-CH" sz="2400" b="1" dirty="0">
                <a:solidFill>
                  <a:srgbClr val="FFFF00"/>
                </a:solidFill>
                <a:effectLst>
                  <a:outerShdw blurRad="50800" dist="38100" dir="5400000" algn="t" rotWithShape="0">
                    <a:prstClr val="black">
                      <a:alpha val="40000"/>
                    </a:prstClr>
                  </a:outerShdw>
                </a:effectLst>
              </a:rPr>
              <a:t>)</a:t>
            </a:r>
          </a:p>
        </p:txBody>
      </p:sp>
      <p:sp>
        <p:nvSpPr>
          <p:cNvPr id="8" name="TextBox 7">
            <a:extLst>
              <a:ext uri="{FF2B5EF4-FFF2-40B4-BE49-F238E27FC236}">
                <a16:creationId xmlns:a16="http://schemas.microsoft.com/office/drawing/2014/main" id="{C7971566-3187-BA1E-C09B-A41ADED985F7}"/>
              </a:ext>
            </a:extLst>
          </p:cNvPr>
          <p:cNvSpPr txBox="1"/>
          <p:nvPr/>
        </p:nvSpPr>
        <p:spPr>
          <a:xfrm>
            <a:off x="9306175" y="3013501"/>
            <a:ext cx="1899579" cy="830997"/>
          </a:xfrm>
          <a:prstGeom prst="rect">
            <a:avLst/>
          </a:prstGeom>
          <a:noFill/>
        </p:spPr>
        <p:txBody>
          <a:bodyPr wrap="square" rtlCol="0">
            <a:spAutoFit/>
          </a:bodyPr>
          <a:lstStyle/>
          <a:p>
            <a:pPr algn="ctr"/>
            <a:r>
              <a:rPr lang="en-CH" sz="2400" b="1" dirty="0">
                <a:solidFill>
                  <a:srgbClr val="FFFF00"/>
                </a:solidFill>
                <a:effectLst>
                  <a:outerShdw blurRad="50800" dist="38100" dir="5400000" algn="t" rotWithShape="0">
                    <a:prstClr val="black">
                      <a:alpha val="40000"/>
                    </a:prstClr>
                  </a:outerShdw>
                </a:effectLst>
              </a:rPr>
              <a:t>Regular code</a:t>
            </a:r>
          </a:p>
          <a:p>
            <a:pPr algn="ctr"/>
            <a:r>
              <a:rPr lang="en-CH" sz="2400" b="1" dirty="0">
                <a:solidFill>
                  <a:srgbClr val="FFFF00"/>
                </a:solidFill>
                <a:effectLst>
                  <a:outerShdw blurRad="50800" dist="38100" dir="5400000" algn="t" rotWithShape="0">
                    <a:prstClr val="black">
                      <a:alpha val="40000"/>
                    </a:prstClr>
                  </a:outerShdw>
                </a:effectLst>
              </a:rPr>
              <a:t>O(n log n)</a:t>
            </a:r>
          </a:p>
        </p:txBody>
      </p:sp>
      <p:pic>
        <p:nvPicPr>
          <p:cNvPr id="3" name="Picture 2">
            <a:extLst>
              <a:ext uri="{FF2B5EF4-FFF2-40B4-BE49-F238E27FC236}">
                <a16:creationId xmlns:a16="http://schemas.microsoft.com/office/drawing/2014/main" id="{19992BFF-0069-6745-6E0A-1835196DE632}"/>
              </a:ext>
            </a:extLst>
          </p:cNvPr>
          <p:cNvPicPr>
            <a:picLocks noChangeAspect="1"/>
          </p:cNvPicPr>
          <p:nvPr/>
        </p:nvPicPr>
        <p:blipFill>
          <a:blip r:embed="rId4"/>
          <a:stretch>
            <a:fillRect/>
          </a:stretch>
        </p:blipFill>
        <p:spPr>
          <a:xfrm>
            <a:off x="986246" y="1484784"/>
            <a:ext cx="4656221" cy="4365697"/>
          </a:xfrm>
          <a:prstGeom prst="rect">
            <a:avLst/>
          </a:prstGeom>
        </p:spPr>
      </p:pic>
      <p:sp>
        <p:nvSpPr>
          <p:cNvPr id="2" name="TextBox 1">
            <a:extLst>
              <a:ext uri="{FF2B5EF4-FFF2-40B4-BE49-F238E27FC236}">
                <a16:creationId xmlns:a16="http://schemas.microsoft.com/office/drawing/2014/main" id="{98BC9CFD-36AB-2F66-78B3-5E08B12722DD}"/>
              </a:ext>
            </a:extLst>
          </p:cNvPr>
          <p:cNvSpPr txBox="1"/>
          <p:nvPr/>
        </p:nvSpPr>
        <p:spPr>
          <a:xfrm>
            <a:off x="3647728" y="4005064"/>
            <a:ext cx="1615008" cy="830997"/>
          </a:xfrm>
          <a:prstGeom prst="rect">
            <a:avLst/>
          </a:prstGeom>
          <a:noFill/>
        </p:spPr>
        <p:txBody>
          <a:bodyPr wrap="square" rtlCol="0">
            <a:spAutoFit/>
          </a:bodyPr>
          <a:lstStyle/>
          <a:p>
            <a:pPr algn="ctr"/>
            <a:r>
              <a:rPr lang="en-CH" sz="1600" b="1" dirty="0">
                <a:solidFill>
                  <a:srgbClr val="1E76B4"/>
                </a:solidFill>
              </a:rPr>
              <a:t>Fast execution</a:t>
            </a:r>
          </a:p>
          <a:p>
            <a:pPr algn="ctr"/>
            <a:r>
              <a:rPr lang="en-CH" sz="1600" b="1" dirty="0">
                <a:solidFill>
                  <a:srgbClr val="1E76B4"/>
                </a:solidFill>
              </a:rPr>
              <a:t>Slow scaling </a:t>
            </a:r>
            <a:br>
              <a:rPr lang="en-CH" sz="1600" b="1" dirty="0">
                <a:solidFill>
                  <a:srgbClr val="1E76B4"/>
                </a:solidFill>
              </a:rPr>
            </a:br>
            <a:r>
              <a:rPr lang="en-CH" sz="1600" b="1" dirty="0">
                <a:solidFill>
                  <a:srgbClr val="1E76B4"/>
                </a:solidFill>
              </a:rPr>
              <a:t>O(n</a:t>
            </a:r>
            <a:r>
              <a:rPr lang="en-CH" sz="1600" b="1" baseline="30000" dirty="0">
                <a:solidFill>
                  <a:srgbClr val="1E76B4"/>
                </a:solidFill>
              </a:rPr>
              <a:t>2</a:t>
            </a:r>
            <a:r>
              <a:rPr lang="en-CH" sz="1600" b="1" dirty="0">
                <a:solidFill>
                  <a:srgbClr val="1E76B4"/>
                </a:solidFill>
              </a:rPr>
              <a:t>)</a:t>
            </a:r>
          </a:p>
        </p:txBody>
      </p:sp>
      <p:sp>
        <p:nvSpPr>
          <p:cNvPr id="9" name="TextBox 8">
            <a:extLst>
              <a:ext uri="{FF2B5EF4-FFF2-40B4-BE49-F238E27FC236}">
                <a16:creationId xmlns:a16="http://schemas.microsoft.com/office/drawing/2014/main" id="{E43108AB-C798-BDB8-ED67-4C8C104DD76D}"/>
              </a:ext>
            </a:extLst>
          </p:cNvPr>
          <p:cNvSpPr txBox="1"/>
          <p:nvPr/>
        </p:nvSpPr>
        <p:spPr>
          <a:xfrm>
            <a:off x="2027937" y="3454609"/>
            <a:ext cx="1517848" cy="830997"/>
          </a:xfrm>
          <a:prstGeom prst="rect">
            <a:avLst/>
          </a:prstGeom>
          <a:noFill/>
        </p:spPr>
        <p:txBody>
          <a:bodyPr wrap="square" rtlCol="0">
            <a:spAutoFit/>
          </a:bodyPr>
          <a:lstStyle/>
          <a:p>
            <a:pPr algn="ctr"/>
            <a:r>
              <a:rPr lang="en-CH" sz="1600" b="1" dirty="0">
                <a:solidFill>
                  <a:srgbClr val="FF7F0E"/>
                </a:solidFill>
              </a:rPr>
              <a:t>Slow execution</a:t>
            </a:r>
          </a:p>
          <a:p>
            <a:pPr algn="ctr"/>
            <a:r>
              <a:rPr lang="en-CH" sz="1600" b="1" dirty="0">
                <a:solidFill>
                  <a:srgbClr val="FF7F0E"/>
                </a:solidFill>
              </a:rPr>
              <a:t>Fast scaling </a:t>
            </a:r>
            <a:br>
              <a:rPr lang="en-CH" sz="1600" b="1" dirty="0">
                <a:solidFill>
                  <a:srgbClr val="FF7F0E"/>
                </a:solidFill>
              </a:rPr>
            </a:br>
            <a:r>
              <a:rPr lang="en-CH" sz="1600" b="1" dirty="0">
                <a:solidFill>
                  <a:srgbClr val="FF7F0E"/>
                </a:solidFill>
              </a:rPr>
              <a:t>O(n log n)</a:t>
            </a:r>
          </a:p>
        </p:txBody>
      </p:sp>
    </p:spTree>
    <p:extLst>
      <p:ext uri="{BB962C8B-B14F-4D97-AF65-F5344CB8AC3E}">
        <p14:creationId xmlns:p14="http://schemas.microsoft.com/office/powerpoint/2010/main" val="953904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F0BACC5-0DED-E5BA-9C97-D932693C0117}"/>
              </a:ext>
            </a:extLst>
          </p:cNvPr>
          <p:cNvPicPr>
            <a:picLocks noChangeAspect="1"/>
          </p:cNvPicPr>
          <p:nvPr/>
        </p:nvPicPr>
        <p:blipFill>
          <a:blip r:embed="rId3"/>
          <a:stretch>
            <a:fillRect/>
          </a:stretch>
        </p:blipFill>
        <p:spPr>
          <a:xfrm>
            <a:off x="986246" y="1484784"/>
            <a:ext cx="4656221" cy="4313049"/>
          </a:xfrm>
          <a:prstGeom prst="rect">
            <a:avLst/>
          </a:prstGeom>
        </p:spPr>
      </p:pic>
      <p:sp>
        <p:nvSpPr>
          <p:cNvPr id="10" name="Title 9">
            <a:extLst>
              <a:ext uri="{FF2B5EF4-FFF2-40B4-BE49-F238E27FC236}">
                <a16:creationId xmlns:a16="http://schemas.microsoft.com/office/drawing/2014/main" id="{04A0E4E1-DC90-7F56-5328-B8BA4BD16E2C}"/>
              </a:ext>
            </a:extLst>
          </p:cNvPr>
          <p:cNvSpPr>
            <a:spLocks noGrp="1"/>
          </p:cNvSpPr>
          <p:nvPr>
            <p:ph type="title"/>
          </p:nvPr>
        </p:nvSpPr>
        <p:spPr/>
        <p:txBody>
          <a:bodyPr>
            <a:normAutofit fontScale="90000"/>
          </a:bodyPr>
          <a:lstStyle/>
          <a:p>
            <a:r>
              <a:rPr kumimoji="0" lang="en-CH" sz="4400" b="0" i="0" u="none" strike="noStrike" kern="1200" cap="none" spc="0" normalizeH="0" baseline="0" noProof="0" dirty="0">
                <a:ln>
                  <a:noFill/>
                </a:ln>
                <a:solidFill>
                  <a:prstClr val="black"/>
                </a:solidFill>
                <a:effectLst/>
                <a:uLnTx/>
                <a:uFillTx/>
                <a:latin typeface="Calibri Light" panose="020F0302020204030204"/>
                <a:ea typeface="+mj-ea"/>
                <a:cs typeface="+mj-cs"/>
              </a:rPr>
              <a:t>How does rewriting in C change the performance?</a:t>
            </a:r>
            <a:br>
              <a:rPr kumimoji="0" lang="en-CH" sz="44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CH" sz="3100" b="0" i="0" u="none" strike="noStrike" kern="1200" cap="none" spc="0" normalizeH="0" baseline="0" noProof="0" dirty="0">
                <a:ln>
                  <a:noFill/>
                </a:ln>
                <a:solidFill>
                  <a:prstClr val="black"/>
                </a:solidFill>
                <a:effectLst/>
                <a:uLnTx/>
                <a:uFillTx/>
                <a:latin typeface="Calibri Light" panose="020F0302020204030204"/>
                <a:ea typeface="+mj-ea"/>
                <a:cs typeface="+mj-cs"/>
              </a:rPr>
              <a:t>(rewriting in C, parallelization; same algorithm)</a:t>
            </a:r>
            <a:endParaRPr lang="en-CH" dirty="0"/>
          </a:p>
        </p:txBody>
      </p:sp>
      <p:sp>
        <p:nvSpPr>
          <p:cNvPr id="4" name="Date Placeholder 3">
            <a:extLst>
              <a:ext uri="{FF2B5EF4-FFF2-40B4-BE49-F238E27FC236}">
                <a16:creationId xmlns:a16="http://schemas.microsoft.com/office/drawing/2014/main" id="{CFCDCFE1-ED01-88FC-4AAB-4F1F9FD089FE}"/>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CF8EEBE0-5A80-5353-4F83-8E53F2F22577}"/>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4CC8EA09-85E0-5A2C-8E1F-4F1FAC62E18B}"/>
              </a:ext>
            </a:extLst>
          </p:cNvPr>
          <p:cNvSpPr>
            <a:spLocks noGrp="1"/>
          </p:cNvSpPr>
          <p:nvPr>
            <p:ph type="sldNum" sz="quarter" idx="12"/>
          </p:nvPr>
        </p:nvSpPr>
        <p:spPr/>
        <p:txBody>
          <a:bodyPr/>
          <a:lstStyle/>
          <a:p>
            <a:fld id="{EF79ADEA-B933-47CC-A4E9-04E6298B917C}" type="slidenum">
              <a:rPr lang="en-US" smtClean="0"/>
              <a:pPr/>
              <a:t>27</a:t>
            </a:fld>
            <a:endParaRPr lang="en-US" dirty="0"/>
          </a:p>
        </p:txBody>
      </p:sp>
      <p:pic>
        <p:nvPicPr>
          <p:cNvPr id="3074" name="Picture 2" descr="Image">
            <a:extLst>
              <a:ext uri="{FF2B5EF4-FFF2-40B4-BE49-F238E27FC236}">
                <a16:creationId xmlns:a16="http://schemas.microsoft.com/office/drawing/2014/main" id="{E1C28902-E062-ED21-A6B8-E688BEA74D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8088" y="1484784"/>
            <a:ext cx="4522812" cy="452281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C82FAB4-F531-1E26-57A6-A20E14B2D0C9}"/>
              </a:ext>
            </a:extLst>
          </p:cNvPr>
          <p:cNvSpPr txBox="1"/>
          <p:nvPr/>
        </p:nvSpPr>
        <p:spPr>
          <a:xfrm>
            <a:off x="8153400" y="1946879"/>
            <a:ext cx="1649025" cy="830997"/>
          </a:xfrm>
          <a:prstGeom prst="rect">
            <a:avLst/>
          </a:prstGeom>
          <a:noFill/>
        </p:spPr>
        <p:txBody>
          <a:bodyPr wrap="square" rtlCol="0">
            <a:spAutoFit/>
          </a:bodyPr>
          <a:lstStyle/>
          <a:p>
            <a:pPr algn="ctr"/>
            <a:r>
              <a:rPr lang="en-CH" sz="2400" b="1" dirty="0">
                <a:solidFill>
                  <a:srgbClr val="FFFF00"/>
                </a:solidFill>
                <a:effectLst>
                  <a:outerShdw blurRad="50800" dist="38100" dir="5400000" algn="t" rotWithShape="0">
                    <a:prstClr val="black">
                      <a:alpha val="40000"/>
                    </a:prstClr>
                  </a:outerShdw>
                </a:effectLst>
              </a:rPr>
              <a:t>Fast code</a:t>
            </a:r>
          </a:p>
          <a:p>
            <a:pPr algn="ctr"/>
            <a:r>
              <a:rPr lang="en-CH" sz="2400" b="1" dirty="0">
                <a:solidFill>
                  <a:srgbClr val="FFFF00"/>
                </a:solidFill>
                <a:effectLst>
                  <a:outerShdw blurRad="50800" dist="38100" dir="5400000" algn="t" rotWithShape="0">
                    <a:prstClr val="black">
                      <a:alpha val="40000"/>
                    </a:prstClr>
                  </a:outerShdw>
                </a:effectLst>
              </a:rPr>
              <a:t>O(n</a:t>
            </a:r>
            <a:r>
              <a:rPr lang="en-CH" sz="2400" b="1" baseline="30000" dirty="0">
                <a:solidFill>
                  <a:srgbClr val="FFFF00"/>
                </a:solidFill>
                <a:effectLst>
                  <a:outerShdw blurRad="50800" dist="38100" dir="5400000" algn="t" rotWithShape="0">
                    <a:prstClr val="black">
                      <a:alpha val="40000"/>
                    </a:prstClr>
                  </a:outerShdw>
                </a:effectLst>
              </a:rPr>
              <a:t>2</a:t>
            </a:r>
            <a:r>
              <a:rPr lang="en-CH" sz="2400" b="1" dirty="0">
                <a:solidFill>
                  <a:srgbClr val="FFFF00"/>
                </a:solidFill>
                <a:effectLst>
                  <a:outerShdw blurRad="50800" dist="38100" dir="5400000" algn="t" rotWithShape="0">
                    <a:prstClr val="black">
                      <a:alpha val="40000"/>
                    </a:prstClr>
                  </a:outerShdw>
                </a:effectLst>
              </a:rPr>
              <a:t>)</a:t>
            </a:r>
          </a:p>
        </p:txBody>
      </p:sp>
      <p:sp>
        <p:nvSpPr>
          <p:cNvPr id="14" name="Down Arrow 13">
            <a:extLst>
              <a:ext uri="{FF2B5EF4-FFF2-40B4-BE49-F238E27FC236}">
                <a16:creationId xmlns:a16="http://schemas.microsoft.com/office/drawing/2014/main" id="{CAB6235C-D02E-237C-2CAF-17D54EEACB99}"/>
              </a:ext>
            </a:extLst>
          </p:cNvPr>
          <p:cNvSpPr/>
          <p:nvPr/>
        </p:nvSpPr>
        <p:spPr>
          <a:xfrm>
            <a:off x="4439816" y="3256025"/>
            <a:ext cx="274118" cy="588473"/>
          </a:xfrm>
          <a:prstGeom prst="downArrow">
            <a:avLst/>
          </a:prstGeom>
          <a:solidFill>
            <a:srgbClr val="2076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 name="Down Arrow 14">
            <a:extLst>
              <a:ext uri="{FF2B5EF4-FFF2-40B4-BE49-F238E27FC236}">
                <a16:creationId xmlns:a16="http://schemas.microsoft.com/office/drawing/2014/main" id="{C5B012DB-0F8A-48E4-0D7D-D992331FE85C}"/>
              </a:ext>
            </a:extLst>
          </p:cNvPr>
          <p:cNvSpPr/>
          <p:nvPr/>
        </p:nvSpPr>
        <p:spPr>
          <a:xfrm>
            <a:off x="3901541" y="3933056"/>
            <a:ext cx="274118" cy="383087"/>
          </a:xfrm>
          <a:prstGeom prst="downArrow">
            <a:avLst/>
          </a:prstGeom>
          <a:solidFill>
            <a:srgbClr val="2076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 name="Down Arrow 15">
            <a:extLst>
              <a:ext uri="{FF2B5EF4-FFF2-40B4-BE49-F238E27FC236}">
                <a16:creationId xmlns:a16="http://schemas.microsoft.com/office/drawing/2014/main" id="{62E9110D-1431-CD67-6F7C-2896D2689A02}"/>
              </a:ext>
            </a:extLst>
          </p:cNvPr>
          <p:cNvSpPr/>
          <p:nvPr/>
        </p:nvSpPr>
        <p:spPr>
          <a:xfrm>
            <a:off x="4934783" y="2564904"/>
            <a:ext cx="274118" cy="810899"/>
          </a:xfrm>
          <a:prstGeom prst="downArrow">
            <a:avLst/>
          </a:prstGeom>
          <a:solidFill>
            <a:srgbClr val="2076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 name="TextBox 2">
            <a:extLst>
              <a:ext uri="{FF2B5EF4-FFF2-40B4-BE49-F238E27FC236}">
                <a16:creationId xmlns:a16="http://schemas.microsoft.com/office/drawing/2014/main" id="{8D626128-704D-A703-00B1-C2DDFB95C5E6}"/>
              </a:ext>
            </a:extLst>
          </p:cNvPr>
          <p:cNvSpPr txBox="1"/>
          <p:nvPr/>
        </p:nvSpPr>
        <p:spPr>
          <a:xfrm>
            <a:off x="9306175" y="3013501"/>
            <a:ext cx="1899579" cy="830997"/>
          </a:xfrm>
          <a:prstGeom prst="rect">
            <a:avLst/>
          </a:prstGeom>
          <a:noFill/>
        </p:spPr>
        <p:txBody>
          <a:bodyPr wrap="square" rtlCol="0">
            <a:spAutoFit/>
          </a:bodyPr>
          <a:lstStyle/>
          <a:p>
            <a:pPr algn="ctr"/>
            <a:r>
              <a:rPr lang="en-CH" sz="2400" b="1" dirty="0">
                <a:solidFill>
                  <a:srgbClr val="FFFF00"/>
                </a:solidFill>
                <a:effectLst>
                  <a:outerShdw blurRad="50800" dist="38100" dir="5400000" algn="t" rotWithShape="0">
                    <a:prstClr val="black">
                      <a:alpha val="40000"/>
                    </a:prstClr>
                  </a:outerShdw>
                </a:effectLst>
              </a:rPr>
              <a:t>Regular code</a:t>
            </a:r>
          </a:p>
          <a:p>
            <a:pPr algn="ctr"/>
            <a:r>
              <a:rPr lang="en-CH" sz="2400" b="1" dirty="0">
                <a:solidFill>
                  <a:srgbClr val="FFFF00"/>
                </a:solidFill>
                <a:effectLst>
                  <a:outerShdw blurRad="50800" dist="38100" dir="5400000" algn="t" rotWithShape="0">
                    <a:prstClr val="black">
                      <a:alpha val="40000"/>
                    </a:prstClr>
                  </a:outerShdw>
                </a:effectLst>
              </a:rPr>
              <a:t>O(n log n)</a:t>
            </a:r>
          </a:p>
        </p:txBody>
      </p:sp>
      <p:sp>
        <p:nvSpPr>
          <p:cNvPr id="9" name="TextBox 8">
            <a:extLst>
              <a:ext uri="{FF2B5EF4-FFF2-40B4-BE49-F238E27FC236}">
                <a16:creationId xmlns:a16="http://schemas.microsoft.com/office/drawing/2014/main" id="{E90B8732-E905-12A7-164C-5624E027F382}"/>
              </a:ext>
            </a:extLst>
          </p:cNvPr>
          <p:cNvSpPr txBox="1"/>
          <p:nvPr/>
        </p:nvSpPr>
        <p:spPr>
          <a:xfrm>
            <a:off x="5205635" y="1977092"/>
            <a:ext cx="1615008" cy="1077218"/>
          </a:xfrm>
          <a:prstGeom prst="rect">
            <a:avLst/>
          </a:prstGeom>
          <a:noFill/>
        </p:spPr>
        <p:txBody>
          <a:bodyPr wrap="square" rtlCol="0">
            <a:spAutoFit/>
          </a:bodyPr>
          <a:lstStyle/>
          <a:p>
            <a:pPr algn="ctr"/>
            <a:r>
              <a:rPr lang="en-CH" sz="1600" b="1" dirty="0">
                <a:solidFill>
                  <a:srgbClr val="1E76B4"/>
                </a:solidFill>
              </a:rPr>
              <a:t>Faster language increases performance for fixed N</a:t>
            </a:r>
          </a:p>
        </p:txBody>
      </p:sp>
    </p:spTree>
    <p:extLst>
      <p:ext uri="{BB962C8B-B14F-4D97-AF65-F5344CB8AC3E}">
        <p14:creationId xmlns:p14="http://schemas.microsoft.com/office/powerpoint/2010/main" val="7177396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9648DC7-0876-BF42-A932-2E8E296354CE}"/>
              </a:ext>
            </a:extLst>
          </p:cNvPr>
          <p:cNvPicPr>
            <a:picLocks noChangeAspect="1"/>
          </p:cNvPicPr>
          <p:nvPr/>
        </p:nvPicPr>
        <p:blipFill>
          <a:blip r:embed="rId3"/>
          <a:stretch>
            <a:fillRect/>
          </a:stretch>
        </p:blipFill>
        <p:spPr>
          <a:xfrm>
            <a:off x="986247" y="1484784"/>
            <a:ext cx="4708670" cy="4313049"/>
          </a:xfrm>
          <a:prstGeom prst="rect">
            <a:avLst/>
          </a:prstGeom>
        </p:spPr>
      </p:pic>
      <p:sp>
        <p:nvSpPr>
          <p:cNvPr id="10" name="Title 9">
            <a:extLst>
              <a:ext uri="{FF2B5EF4-FFF2-40B4-BE49-F238E27FC236}">
                <a16:creationId xmlns:a16="http://schemas.microsoft.com/office/drawing/2014/main" id="{04A0E4E1-DC90-7F56-5328-B8BA4BD16E2C}"/>
              </a:ext>
            </a:extLst>
          </p:cNvPr>
          <p:cNvSpPr>
            <a:spLocks noGrp="1"/>
          </p:cNvSpPr>
          <p:nvPr>
            <p:ph type="title"/>
          </p:nvPr>
        </p:nvSpPr>
        <p:spPr/>
        <p:txBody>
          <a:bodyPr>
            <a:normAutofit fontScale="90000"/>
          </a:bodyPr>
          <a:lstStyle/>
          <a:p>
            <a:r>
              <a:rPr kumimoji="0" lang="en-CH" sz="4400" b="0" i="0" u="none" strike="noStrike" kern="1200" cap="none" spc="0" normalizeH="0" baseline="0" noProof="0" dirty="0">
                <a:ln>
                  <a:noFill/>
                </a:ln>
                <a:solidFill>
                  <a:prstClr val="black"/>
                </a:solidFill>
                <a:effectLst/>
                <a:uLnTx/>
                <a:uFillTx/>
                <a:latin typeface="Calibri Light" panose="020F0302020204030204"/>
                <a:ea typeface="+mj-ea"/>
                <a:cs typeface="+mj-cs"/>
              </a:rPr>
              <a:t>How does rewriting in C change the performance?</a:t>
            </a:r>
            <a:br>
              <a:rPr kumimoji="0" lang="en-CH" sz="44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CH" sz="3100" b="0" i="0" u="none" strike="noStrike" kern="1200" cap="none" spc="0" normalizeH="0" baseline="0" noProof="0" dirty="0">
                <a:ln>
                  <a:noFill/>
                </a:ln>
                <a:solidFill>
                  <a:prstClr val="black"/>
                </a:solidFill>
                <a:effectLst/>
                <a:uLnTx/>
                <a:uFillTx/>
                <a:latin typeface="Calibri Light" panose="020F0302020204030204"/>
                <a:ea typeface="+mj-ea"/>
                <a:cs typeface="+mj-cs"/>
              </a:rPr>
              <a:t>(rewriting in C, parallelization; same algorithm)</a:t>
            </a:r>
            <a:endParaRPr lang="en-CH" dirty="0"/>
          </a:p>
        </p:txBody>
      </p:sp>
      <p:sp>
        <p:nvSpPr>
          <p:cNvPr id="4" name="Date Placeholder 3">
            <a:extLst>
              <a:ext uri="{FF2B5EF4-FFF2-40B4-BE49-F238E27FC236}">
                <a16:creationId xmlns:a16="http://schemas.microsoft.com/office/drawing/2014/main" id="{CFCDCFE1-ED01-88FC-4AAB-4F1F9FD089FE}"/>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CF8EEBE0-5A80-5353-4F83-8E53F2F22577}"/>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4CC8EA09-85E0-5A2C-8E1F-4F1FAC62E18B}"/>
              </a:ext>
            </a:extLst>
          </p:cNvPr>
          <p:cNvSpPr>
            <a:spLocks noGrp="1"/>
          </p:cNvSpPr>
          <p:nvPr>
            <p:ph type="sldNum" sz="quarter" idx="12"/>
          </p:nvPr>
        </p:nvSpPr>
        <p:spPr/>
        <p:txBody>
          <a:bodyPr/>
          <a:lstStyle/>
          <a:p>
            <a:fld id="{EF79ADEA-B933-47CC-A4E9-04E6298B917C}" type="slidenum">
              <a:rPr lang="en-US" smtClean="0"/>
              <a:pPr/>
              <a:t>28</a:t>
            </a:fld>
            <a:endParaRPr lang="en-US" dirty="0"/>
          </a:p>
        </p:txBody>
      </p:sp>
      <p:pic>
        <p:nvPicPr>
          <p:cNvPr id="3074" name="Picture 2" descr="Image">
            <a:extLst>
              <a:ext uri="{FF2B5EF4-FFF2-40B4-BE49-F238E27FC236}">
                <a16:creationId xmlns:a16="http://schemas.microsoft.com/office/drawing/2014/main" id="{E1C28902-E062-ED21-A6B8-E688BEA74D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8088" y="1484784"/>
            <a:ext cx="4522812" cy="452281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C82FAB4-F531-1E26-57A6-A20E14B2D0C9}"/>
              </a:ext>
            </a:extLst>
          </p:cNvPr>
          <p:cNvSpPr txBox="1"/>
          <p:nvPr/>
        </p:nvSpPr>
        <p:spPr>
          <a:xfrm>
            <a:off x="8153400" y="1946879"/>
            <a:ext cx="1649025" cy="830997"/>
          </a:xfrm>
          <a:prstGeom prst="rect">
            <a:avLst/>
          </a:prstGeom>
          <a:noFill/>
        </p:spPr>
        <p:txBody>
          <a:bodyPr wrap="square" rtlCol="0">
            <a:spAutoFit/>
          </a:bodyPr>
          <a:lstStyle/>
          <a:p>
            <a:pPr algn="ctr"/>
            <a:r>
              <a:rPr lang="en-CH" sz="2400" b="1" dirty="0">
                <a:solidFill>
                  <a:srgbClr val="FFFF00"/>
                </a:solidFill>
                <a:effectLst>
                  <a:outerShdw blurRad="50800" dist="38100" dir="5400000" algn="t" rotWithShape="0">
                    <a:prstClr val="black">
                      <a:alpha val="40000"/>
                    </a:prstClr>
                  </a:outerShdw>
                </a:effectLst>
              </a:rPr>
              <a:t>Fast code</a:t>
            </a:r>
          </a:p>
          <a:p>
            <a:pPr algn="ctr"/>
            <a:r>
              <a:rPr lang="en-CH" sz="2400" b="1" dirty="0">
                <a:solidFill>
                  <a:srgbClr val="FFFF00"/>
                </a:solidFill>
                <a:effectLst>
                  <a:outerShdw blurRad="50800" dist="38100" dir="5400000" algn="t" rotWithShape="0">
                    <a:prstClr val="black">
                      <a:alpha val="40000"/>
                    </a:prstClr>
                  </a:outerShdw>
                </a:effectLst>
              </a:rPr>
              <a:t>O(n</a:t>
            </a:r>
            <a:r>
              <a:rPr lang="en-CH" sz="2400" b="1" baseline="30000" dirty="0">
                <a:solidFill>
                  <a:srgbClr val="FFFF00"/>
                </a:solidFill>
                <a:effectLst>
                  <a:outerShdw blurRad="50800" dist="38100" dir="5400000" algn="t" rotWithShape="0">
                    <a:prstClr val="black">
                      <a:alpha val="40000"/>
                    </a:prstClr>
                  </a:outerShdw>
                </a:effectLst>
              </a:rPr>
              <a:t>2</a:t>
            </a:r>
            <a:r>
              <a:rPr lang="en-CH" sz="2400" b="1" dirty="0">
                <a:solidFill>
                  <a:srgbClr val="FFFF00"/>
                </a:solidFill>
                <a:effectLst>
                  <a:outerShdw blurRad="50800" dist="38100" dir="5400000" algn="t" rotWithShape="0">
                    <a:prstClr val="black">
                      <a:alpha val="40000"/>
                    </a:prstClr>
                  </a:outerShdw>
                </a:effectLst>
              </a:rPr>
              <a:t>)</a:t>
            </a:r>
          </a:p>
        </p:txBody>
      </p:sp>
      <p:sp>
        <p:nvSpPr>
          <p:cNvPr id="2" name="TextBox 1">
            <a:extLst>
              <a:ext uri="{FF2B5EF4-FFF2-40B4-BE49-F238E27FC236}">
                <a16:creationId xmlns:a16="http://schemas.microsoft.com/office/drawing/2014/main" id="{863FFC43-3EE6-C89C-0DDC-BF26C3998C5D}"/>
              </a:ext>
            </a:extLst>
          </p:cNvPr>
          <p:cNvSpPr txBox="1"/>
          <p:nvPr/>
        </p:nvSpPr>
        <p:spPr>
          <a:xfrm>
            <a:off x="9306175" y="3013501"/>
            <a:ext cx="1899579" cy="830997"/>
          </a:xfrm>
          <a:prstGeom prst="rect">
            <a:avLst/>
          </a:prstGeom>
          <a:noFill/>
        </p:spPr>
        <p:txBody>
          <a:bodyPr wrap="square" rtlCol="0">
            <a:spAutoFit/>
          </a:bodyPr>
          <a:lstStyle/>
          <a:p>
            <a:pPr algn="ctr"/>
            <a:r>
              <a:rPr lang="en-CH" sz="2400" b="1" dirty="0">
                <a:solidFill>
                  <a:srgbClr val="FFFF00"/>
                </a:solidFill>
                <a:effectLst>
                  <a:outerShdw blurRad="50800" dist="38100" dir="5400000" algn="t" rotWithShape="0">
                    <a:prstClr val="black">
                      <a:alpha val="40000"/>
                    </a:prstClr>
                  </a:outerShdw>
                </a:effectLst>
              </a:rPr>
              <a:t>Regular code</a:t>
            </a:r>
          </a:p>
          <a:p>
            <a:pPr algn="ctr"/>
            <a:r>
              <a:rPr lang="en-CH" sz="2400" b="1" dirty="0">
                <a:solidFill>
                  <a:srgbClr val="FFFF00"/>
                </a:solidFill>
                <a:effectLst>
                  <a:outerShdw blurRad="50800" dist="38100" dir="5400000" algn="t" rotWithShape="0">
                    <a:prstClr val="black">
                      <a:alpha val="40000"/>
                    </a:prstClr>
                  </a:outerShdw>
                </a:effectLst>
              </a:rPr>
              <a:t>O(n log n)</a:t>
            </a:r>
          </a:p>
        </p:txBody>
      </p:sp>
      <p:sp>
        <p:nvSpPr>
          <p:cNvPr id="3" name="Rectangle 2">
            <a:extLst>
              <a:ext uri="{FF2B5EF4-FFF2-40B4-BE49-F238E27FC236}">
                <a16:creationId xmlns:a16="http://schemas.microsoft.com/office/drawing/2014/main" id="{9B92A623-8289-4D9D-C2FB-7FA7B0F98CA6}"/>
              </a:ext>
            </a:extLst>
          </p:cNvPr>
          <p:cNvSpPr/>
          <p:nvPr/>
        </p:nvSpPr>
        <p:spPr>
          <a:xfrm>
            <a:off x="1919536" y="4077072"/>
            <a:ext cx="1800200" cy="1152128"/>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25379792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9648DC7-0876-BF42-A932-2E8E296354CE}"/>
              </a:ext>
            </a:extLst>
          </p:cNvPr>
          <p:cNvPicPr>
            <a:picLocks noChangeAspect="1"/>
          </p:cNvPicPr>
          <p:nvPr/>
        </p:nvPicPr>
        <p:blipFill>
          <a:blip r:embed="rId3"/>
          <a:stretch>
            <a:fillRect/>
          </a:stretch>
        </p:blipFill>
        <p:spPr>
          <a:xfrm>
            <a:off x="986247" y="1484784"/>
            <a:ext cx="4708670" cy="4313049"/>
          </a:xfrm>
          <a:prstGeom prst="rect">
            <a:avLst/>
          </a:prstGeom>
        </p:spPr>
      </p:pic>
      <p:sp>
        <p:nvSpPr>
          <p:cNvPr id="10" name="Title 9">
            <a:extLst>
              <a:ext uri="{FF2B5EF4-FFF2-40B4-BE49-F238E27FC236}">
                <a16:creationId xmlns:a16="http://schemas.microsoft.com/office/drawing/2014/main" id="{04A0E4E1-DC90-7F56-5328-B8BA4BD16E2C}"/>
              </a:ext>
            </a:extLst>
          </p:cNvPr>
          <p:cNvSpPr>
            <a:spLocks noGrp="1"/>
          </p:cNvSpPr>
          <p:nvPr>
            <p:ph type="title"/>
          </p:nvPr>
        </p:nvSpPr>
        <p:spPr/>
        <p:txBody>
          <a:bodyPr>
            <a:normAutofit fontScale="90000"/>
          </a:bodyPr>
          <a:lstStyle/>
          <a:p>
            <a:r>
              <a:rPr kumimoji="0" lang="en-CH" sz="4400" b="0" i="0" u="none" strike="noStrike" kern="1200" cap="none" spc="0" normalizeH="0" baseline="0" noProof="0" dirty="0">
                <a:ln>
                  <a:noFill/>
                </a:ln>
                <a:solidFill>
                  <a:prstClr val="black"/>
                </a:solidFill>
                <a:effectLst/>
                <a:uLnTx/>
                <a:uFillTx/>
                <a:latin typeface="Calibri Light" panose="020F0302020204030204"/>
                <a:ea typeface="+mj-ea"/>
                <a:cs typeface="+mj-cs"/>
              </a:rPr>
              <a:t>How does rewriting in C change the performance?</a:t>
            </a:r>
            <a:br>
              <a:rPr kumimoji="0" lang="en-CH" sz="44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CH" sz="3100" b="0" i="0" u="none" strike="noStrike" kern="1200" cap="none" spc="0" normalizeH="0" baseline="0" noProof="0" dirty="0">
                <a:ln>
                  <a:noFill/>
                </a:ln>
                <a:solidFill>
                  <a:prstClr val="black"/>
                </a:solidFill>
                <a:effectLst/>
                <a:uLnTx/>
                <a:uFillTx/>
                <a:latin typeface="Calibri Light" panose="020F0302020204030204"/>
                <a:ea typeface="+mj-ea"/>
                <a:cs typeface="+mj-cs"/>
              </a:rPr>
              <a:t>(rewriting in C, parallelization; same algorithm)</a:t>
            </a:r>
            <a:endParaRPr lang="en-CH" dirty="0"/>
          </a:p>
        </p:txBody>
      </p:sp>
      <p:sp>
        <p:nvSpPr>
          <p:cNvPr id="4" name="Date Placeholder 3">
            <a:extLst>
              <a:ext uri="{FF2B5EF4-FFF2-40B4-BE49-F238E27FC236}">
                <a16:creationId xmlns:a16="http://schemas.microsoft.com/office/drawing/2014/main" id="{CFCDCFE1-ED01-88FC-4AAB-4F1F9FD089FE}"/>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CF8EEBE0-5A80-5353-4F83-8E53F2F22577}"/>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4CC8EA09-85E0-5A2C-8E1F-4F1FAC62E18B}"/>
              </a:ext>
            </a:extLst>
          </p:cNvPr>
          <p:cNvSpPr>
            <a:spLocks noGrp="1"/>
          </p:cNvSpPr>
          <p:nvPr>
            <p:ph type="sldNum" sz="quarter" idx="12"/>
          </p:nvPr>
        </p:nvSpPr>
        <p:spPr/>
        <p:txBody>
          <a:bodyPr/>
          <a:lstStyle/>
          <a:p>
            <a:fld id="{EF79ADEA-B933-47CC-A4E9-04E6298B917C}" type="slidenum">
              <a:rPr lang="en-US" smtClean="0"/>
              <a:pPr/>
              <a:t>29</a:t>
            </a:fld>
            <a:endParaRPr lang="en-US" dirty="0"/>
          </a:p>
        </p:txBody>
      </p:sp>
      <p:pic>
        <p:nvPicPr>
          <p:cNvPr id="3074" name="Picture 2" descr="Image">
            <a:extLst>
              <a:ext uri="{FF2B5EF4-FFF2-40B4-BE49-F238E27FC236}">
                <a16:creationId xmlns:a16="http://schemas.microsoft.com/office/drawing/2014/main" id="{E1C28902-E062-ED21-A6B8-E688BEA74D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8088" y="1484784"/>
            <a:ext cx="4522812" cy="452281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C82FAB4-F531-1E26-57A6-A20E14B2D0C9}"/>
              </a:ext>
            </a:extLst>
          </p:cNvPr>
          <p:cNvSpPr txBox="1"/>
          <p:nvPr/>
        </p:nvSpPr>
        <p:spPr>
          <a:xfrm>
            <a:off x="8153400" y="1946879"/>
            <a:ext cx="1649025" cy="830997"/>
          </a:xfrm>
          <a:prstGeom prst="rect">
            <a:avLst/>
          </a:prstGeom>
          <a:noFill/>
        </p:spPr>
        <p:txBody>
          <a:bodyPr wrap="square" rtlCol="0">
            <a:spAutoFit/>
          </a:bodyPr>
          <a:lstStyle/>
          <a:p>
            <a:pPr algn="ctr"/>
            <a:r>
              <a:rPr lang="en-CH" sz="2400" b="1" dirty="0">
                <a:solidFill>
                  <a:srgbClr val="FFFF00"/>
                </a:solidFill>
                <a:effectLst>
                  <a:outerShdw blurRad="50800" dist="38100" dir="5400000" algn="t" rotWithShape="0">
                    <a:prstClr val="black">
                      <a:alpha val="40000"/>
                    </a:prstClr>
                  </a:outerShdw>
                </a:effectLst>
              </a:rPr>
              <a:t>Fast code</a:t>
            </a:r>
          </a:p>
          <a:p>
            <a:pPr algn="ctr"/>
            <a:r>
              <a:rPr lang="en-CH" sz="2400" b="1" dirty="0">
                <a:solidFill>
                  <a:srgbClr val="FFFF00"/>
                </a:solidFill>
                <a:effectLst>
                  <a:outerShdw blurRad="50800" dist="38100" dir="5400000" algn="t" rotWithShape="0">
                    <a:prstClr val="black">
                      <a:alpha val="40000"/>
                    </a:prstClr>
                  </a:outerShdw>
                </a:effectLst>
              </a:rPr>
              <a:t>O(n</a:t>
            </a:r>
            <a:r>
              <a:rPr lang="en-CH" sz="2400" b="1" baseline="30000" dirty="0">
                <a:solidFill>
                  <a:srgbClr val="FFFF00"/>
                </a:solidFill>
                <a:effectLst>
                  <a:outerShdw blurRad="50800" dist="38100" dir="5400000" algn="t" rotWithShape="0">
                    <a:prstClr val="black">
                      <a:alpha val="40000"/>
                    </a:prstClr>
                  </a:outerShdw>
                </a:effectLst>
              </a:rPr>
              <a:t>2</a:t>
            </a:r>
            <a:r>
              <a:rPr lang="en-CH" sz="2400" b="1" dirty="0">
                <a:solidFill>
                  <a:srgbClr val="FFFF00"/>
                </a:solidFill>
                <a:effectLst>
                  <a:outerShdw blurRad="50800" dist="38100" dir="5400000" algn="t" rotWithShape="0">
                    <a:prstClr val="black">
                      <a:alpha val="40000"/>
                    </a:prstClr>
                  </a:outerShdw>
                </a:effectLst>
              </a:rPr>
              <a:t>)</a:t>
            </a:r>
          </a:p>
        </p:txBody>
      </p:sp>
      <p:sp>
        <p:nvSpPr>
          <p:cNvPr id="3" name="TextBox 2">
            <a:extLst>
              <a:ext uri="{FF2B5EF4-FFF2-40B4-BE49-F238E27FC236}">
                <a16:creationId xmlns:a16="http://schemas.microsoft.com/office/drawing/2014/main" id="{1D33A5E3-17A0-6084-EC79-5CDACAB78D27}"/>
              </a:ext>
            </a:extLst>
          </p:cNvPr>
          <p:cNvSpPr txBox="1"/>
          <p:nvPr/>
        </p:nvSpPr>
        <p:spPr>
          <a:xfrm>
            <a:off x="9306175" y="3013501"/>
            <a:ext cx="1899579" cy="830997"/>
          </a:xfrm>
          <a:prstGeom prst="rect">
            <a:avLst/>
          </a:prstGeom>
          <a:noFill/>
        </p:spPr>
        <p:txBody>
          <a:bodyPr wrap="square" rtlCol="0">
            <a:spAutoFit/>
          </a:bodyPr>
          <a:lstStyle/>
          <a:p>
            <a:pPr algn="ctr"/>
            <a:r>
              <a:rPr lang="en-CH" sz="2400" b="1" dirty="0">
                <a:solidFill>
                  <a:srgbClr val="FFFF00"/>
                </a:solidFill>
                <a:effectLst>
                  <a:outerShdw blurRad="50800" dist="38100" dir="5400000" algn="t" rotWithShape="0">
                    <a:prstClr val="black">
                      <a:alpha val="40000"/>
                    </a:prstClr>
                  </a:outerShdw>
                </a:effectLst>
              </a:rPr>
              <a:t>Regular code</a:t>
            </a:r>
          </a:p>
          <a:p>
            <a:pPr algn="ctr"/>
            <a:r>
              <a:rPr lang="en-CH" sz="2400" b="1" dirty="0">
                <a:solidFill>
                  <a:srgbClr val="FFFF00"/>
                </a:solidFill>
                <a:effectLst>
                  <a:outerShdw blurRad="50800" dist="38100" dir="5400000" algn="t" rotWithShape="0">
                    <a:prstClr val="black">
                      <a:alpha val="40000"/>
                    </a:prstClr>
                  </a:outerShdw>
                </a:effectLst>
              </a:rPr>
              <a:t>O(n log n)</a:t>
            </a:r>
          </a:p>
        </p:txBody>
      </p:sp>
      <p:sp>
        <p:nvSpPr>
          <p:cNvPr id="8" name="Rectangle 7">
            <a:extLst>
              <a:ext uri="{FF2B5EF4-FFF2-40B4-BE49-F238E27FC236}">
                <a16:creationId xmlns:a16="http://schemas.microsoft.com/office/drawing/2014/main" id="{36EDFED0-F92E-7DA3-18EA-239BC6A86CAE}"/>
              </a:ext>
            </a:extLst>
          </p:cNvPr>
          <p:cNvSpPr/>
          <p:nvPr/>
        </p:nvSpPr>
        <p:spPr>
          <a:xfrm>
            <a:off x="1919536" y="4077072"/>
            <a:ext cx="1800200" cy="1152128"/>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 name="TextBox 1">
            <a:extLst>
              <a:ext uri="{FF2B5EF4-FFF2-40B4-BE49-F238E27FC236}">
                <a16:creationId xmlns:a16="http://schemas.microsoft.com/office/drawing/2014/main" id="{5F39213B-463F-647D-5E38-3C452A037080}"/>
              </a:ext>
            </a:extLst>
          </p:cNvPr>
          <p:cNvSpPr txBox="1"/>
          <p:nvPr/>
        </p:nvSpPr>
        <p:spPr>
          <a:xfrm>
            <a:off x="2563219" y="2132856"/>
            <a:ext cx="3234271" cy="2380332"/>
          </a:xfrm>
          <a:custGeom>
            <a:avLst/>
            <a:gdLst>
              <a:gd name="csX0" fmla="*/ 0 w 3234271"/>
              <a:gd name="csY0" fmla="*/ 0 h 2380332"/>
              <a:gd name="csX1" fmla="*/ 582169 w 3234271"/>
              <a:gd name="csY1" fmla="*/ 0 h 2380332"/>
              <a:gd name="csX2" fmla="*/ 1261366 w 3234271"/>
              <a:gd name="csY2" fmla="*/ 0 h 2380332"/>
              <a:gd name="csX3" fmla="*/ 1875877 w 3234271"/>
              <a:gd name="csY3" fmla="*/ 0 h 2380332"/>
              <a:gd name="csX4" fmla="*/ 2458046 w 3234271"/>
              <a:gd name="csY4" fmla="*/ 0 h 2380332"/>
              <a:gd name="csX5" fmla="*/ 3234271 w 3234271"/>
              <a:gd name="csY5" fmla="*/ 0 h 2380332"/>
              <a:gd name="csX6" fmla="*/ 3234271 w 3234271"/>
              <a:gd name="csY6" fmla="*/ 595083 h 2380332"/>
              <a:gd name="csX7" fmla="*/ 3234271 w 3234271"/>
              <a:gd name="csY7" fmla="*/ 1190166 h 2380332"/>
              <a:gd name="csX8" fmla="*/ 3234271 w 3234271"/>
              <a:gd name="csY8" fmla="*/ 1737642 h 2380332"/>
              <a:gd name="csX9" fmla="*/ 3234271 w 3234271"/>
              <a:gd name="csY9" fmla="*/ 2380332 h 2380332"/>
              <a:gd name="csX10" fmla="*/ 2652102 w 3234271"/>
              <a:gd name="csY10" fmla="*/ 2380332 h 2380332"/>
              <a:gd name="csX11" fmla="*/ 2102276 w 3234271"/>
              <a:gd name="csY11" fmla="*/ 2380332 h 2380332"/>
              <a:gd name="csX12" fmla="*/ 1423079 w 3234271"/>
              <a:gd name="csY12" fmla="*/ 2380332 h 2380332"/>
              <a:gd name="csX13" fmla="*/ 840910 w 3234271"/>
              <a:gd name="csY13" fmla="*/ 2380332 h 2380332"/>
              <a:gd name="csX14" fmla="*/ 0 w 3234271"/>
              <a:gd name="csY14" fmla="*/ 2380332 h 2380332"/>
              <a:gd name="csX15" fmla="*/ 0 w 3234271"/>
              <a:gd name="csY15" fmla="*/ 1737642 h 2380332"/>
              <a:gd name="csX16" fmla="*/ 0 w 3234271"/>
              <a:gd name="csY16" fmla="*/ 1190166 h 2380332"/>
              <a:gd name="csX17" fmla="*/ 0 w 3234271"/>
              <a:gd name="csY17" fmla="*/ 571280 h 2380332"/>
              <a:gd name="csX18" fmla="*/ 0 w 3234271"/>
              <a:gd name="csY18" fmla="*/ 0 h 2380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234271" h="2380332" fill="none" extrusionOk="0">
                <a:moveTo>
                  <a:pt x="0" y="0"/>
                </a:moveTo>
                <a:cubicBezTo>
                  <a:pt x="141820" y="6212"/>
                  <a:pt x="399183" y="10531"/>
                  <a:pt x="582169" y="0"/>
                </a:cubicBezTo>
                <a:cubicBezTo>
                  <a:pt x="765155" y="-10531"/>
                  <a:pt x="944164" y="-14576"/>
                  <a:pt x="1261366" y="0"/>
                </a:cubicBezTo>
                <a:cubicBezTo>
                  <a:pt x="1578568" y="14576"/>
                  <a:pt x="1718422" y="-25452"/>
                  <a:pt x="1875877" y="0"/>
                </a:cubicBezTo>
                <a:cubicBezTo>
                  <a:pt x="2033332" y="25452"/>
                  <a:pt x="2176506" y="6714"/>
                  <a:pt x="2458046" y="0"/>
                </a:cubicBezTo>
                <a:cubicBezTo>
                  <a:pt x="2739586" y="-6714"/>
                  <a:pt x="2933680" y="-9318"/>
                  <a:pt x="3234271" y="0"/>
                </a:cubicBezTo>
                <a:cubicBezTo>
                  <a:pt x="3205438" y="121495"/>
                  <a:pt x="3241329" y="423799"/>
                  <a:pt x="3234271" y="595083"/>
                </a:cubicBezTo>
                <a:cubicBezTo>
                  <a:pt x="3227213" y="766367"/>
                  <a:pt x="3224714" y="1069953"/>
                  <a:pt x="3234271" y="1190166"/>
                </a:cubicBezTo>
                <a:cubicBezTo>
                  <a:pt x="3243828" y="1310379"/>
                  <a:pt x="3260495" y="1567629"/>
                  <a:pt x="3234271" y="1737642"/>
                </a:cubicBezTo>
                <a:cubicBezTo>
                  <a:pt x="3208047" y="1907655"/>
                  <a:pt x="3209416" y="2064839"/>
                  <a:pt x="3234271" y="2380332"/>
                </a:cubicBezTo>
                <a:cubicBezTo>
                  <a:pt x="3083979" y="2374067"/>
                  <a:pt x="2821818" y="2354162"/>
                  <a:pt x="2652102" y="2380332"/>
                </a:cubicBezTo>
                <a:cubicBezTo>
                  <a:pt x="2482386" y="2406502"/>
                  <a:pt x="2324165" y="2385213"/>
                  <a:pt x="2102276" y="2380332"/>
                </a:cubicBezTo>
                <a:cubicBezTo>
                  <a:pt x="1880387" y="2375451"/>
                  <a:pt x="1754755" y="2381412"/>
                  <a:pt x="1423079" y="2380332"/>
                </a:cubicBezTo>
                <a:cubicBezTo>
                  <a:pt x="1091403" y="2379252"/>
                  <a:pt x="1026233" y="2407988"/>
                  <a:pt x="840910" y="2380332"/>
                </a:cubicBezTo>
                <a:cubicBezTo>
                  <a:pt x="655587" y="2352676"/>
                  <a:pt x="391831" y="2403014"/>
                  <a:pt x="0" y="2380332"/>
                </a:cubicBezTo>
                <a:cubicBezTo>
                  <a:pt x="-19650" y="2220379"/>
                  <a:pt x="8283" y="2016283"/>
                  <a:pt x="0" y="1737642"/>
                </a:cubicBezTo>
                <a:cubicBezTo>
                  <a:pt x="-8283" y="1459001"/>
                  <a:pt x="-4408" y="1387841"/>
                  <a:pt x="0" y="1190166"/>
                </a:cubicBezTo>
                <a:cubicBezTo>
                  <a:pt x="4408" y="992491"/>
                  <a:pt x="29513" y="802698"/>
                  <a:pt x="0" y="571280"/>
                </a:cubicBezTo>
                <a:cubicBezTo>
                  <a:pt x="-29513" y="339862"/>
                  <a:pt x="20335" y="190159"/>
                  <a:pt x="0" y="0"/>
                </a:cubicBezTo>
                <a:close/>
              </a:path>
              <a:path w="3234271" h="2380332" stroke="0" extrusionOk="0">
                <a:moveTo>
                  <a:pt x="0" y="0"/>
                </a:moveTo>
                <a:cubicBezTo>
                  <a:pt x="161645" y="17740"/>
                  <a:pt x="391222" y="-12056"/>
                  <a:pt x="614511" y="0"/>
                </a:cubicBezTo>
                <a:cubicBezTo>
                  <a:pt x="837800" y="12056"/>
                  <a:pt x="915682" y="-18068"/>
                  <a:pt x="1164338" y="0"/>
                </a:cubicBezTo>
                <a:cubicBezTo>
                  <a:pt x="1412994" y="18068"/>
                  <a:pt x="1707949" y="29967"/>
                  <a:pt x="1875877" y="0"/>
                </a:cubicBezTo>
                <a:cubicBezTo>
                  <a:pt x="2043805" y="-29967"/>
                  <a:pt x="2296864" y="28030"/>
                  <a:pt x="2490389" y="0"/>
                </a:cubicBezTo>
                <a:cubicBezTo>
                  <a:pt x="2683914" y="-28030"/>
                  <a:pt x="3034064" y="25786"/>
                  <a:pt x="3234271" y="0"/>
                </a:cubicBezTo>
                <a:cubicBezTo>
                  <a:pt x="3228434" y="262458"/>
                  <a:pt x="3203608" y="440216"/>
                  <a:pt x="3234271" y="642690"/>
                </a:cubicBezTo>
                <a:cubicBezTo>
                  <a:pt x="3264935" y="845164"/>
                  <a:pt x="3209277" y="1051895"/>
                  <a:pt x="3234271" y="1237773"/>
                </a:cubicBezTo>
                <a:cubicBezTo>
                  <a:pt x="3259265" y="1423651"/>
                  <a:pt x="3208960" y="1617586"/>
                  <a:pt x="3234271" y="1832856"/>
                </a:cubicBezTo>
                <a:cubicBezTo>
                  <a:pt x="3259582" y="2048126"/>
                  <a:pt x="3212211" y="2138186"/>
                  <a:pt x="3234271" y="2380332"/>
                </a:cubicBezTo>
                <a:cubicBezTo>
                  <a:pt x="3069336" y="2396615"/>
                  <a:pt x="2929223" y="2398413"/>
                  <a:pt x="2652102" y="2380332"/>
                </a:cubicBezTo>
                <a:cubicBezTo>
                  <a:pt x="2374981" y="2362251"/>
                  <a:pt x="2189830" y="2371468"/>
                  <a:pt x="2005248" y="2380332"/>
                </a:cubicBezTo>
                <a:cubicBezTo>
                  <a:pt x="1820666" y="2389196"/>
                  <a:pt x="1545412" y="2381858"/>
                  <a:pt x="1390737" y="2380332"/>
                </a:cubicBezTo>
                <a:cubicBezTo>
                  <a:pt x="1236062" y="2378806"/>
                  <a:pt x="955329" y="2409241"/>
                  <a:pt x="679197" y="2380332"/>
                </a:cubicBezTo>
                <a:cubicBezTo>
                  <a:pt x="403065" y="2351423"/>
                  <a:pt x="181539" y="2392730"/>
                  <a:pt x="0" y="2380332"/>
                </a:cubicBezTo>
                <a:cubicBezTo>
                  <a:pt x="-25526" y="2163408"/>
                  <a:pt x="-16296" y="1968065"/>
                  <a:pt x="0" y="1832856"/>
                </a:cubicBezTo>
                <a:cubicBezTo>
                  <a:pt x="16296" y="1697647"/>
                  <a:pt x="8461" y="1492598"/>
                  <a:pt x="0" y="1237773"/>
                </a:cubicBezTo>
                <a:cubicBezTo>
                  <a:pt x="-8461" y="982948"/>
                  <a:pt x="-22828" y="846559"/>
                  <a:pt x="0" y="666493"/>
                </a:cubicBezTo>
                <a:cubicBezTo>
                  <a:pt x="22828" y="486427"/>
                  <a:pt x="-27514" y="325933"/>
                  <a:pt x="0" y="0"/>
                </a:cubicBezTo>
                <a:close/>
              </a:path>
            </a:pathLst>
          </a:custGeom>
          <a:solidFill>
            <a:schemeClr val="bg2"/>
          </a:solidFill>
          <a:ln w="38100">
            <a:solidFill>
              <a:schemeClr val="tx1"/>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txBody>
          <a:bodyPr wrap="square">
            <a:spAutoFit/>
          </a:bodyPr>
          <a:lstStyle/>
          <a:p>
            <a:r>
              <a:rPr lang="en-CH" sz="2400" dirty="0"/>
              <a:t>We need to distinguish between “fast” in absolute terms for a fixed problem size, and “fast” in the sense of how well it scales</a:t>
            </a:r>
          </a:p>
        </p:txBody>
      </p:sp>
    </p:spTree>
    <p:extLst>
      <p:ext uri="{BB962C8B-B14F-4D97-AF65-F5344CB8AC3E}">
        <p14:creationId xmlns:p14="http://schemas.microsoft.com/office/powerpoint/2010/main" val="17915151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98EA9-22F5-16DF-63A1-0180EF71D553}"/>
              </a:ext>
            </a:extLst>
          </p:cNvPr>
          <p:cNvSpPr>
            <a:spLocks noGrp="1"/>
          </p:cNvSpPr>
          <p:nvPr>
            <p:ph type="title"/>
          </p:nvPr>
        </p:nvSpPr>
        <p:spPr>
          <a:xfrm>
            <a:off x="838200" y="2708920"/>
            <a:ext cx="10515600" cy="903635"/>
          </a:xfrm>
        </p:spPr>
        <p:txBody>
          <a:bodyPr>
            <a:normAutofit fontScale="90000"/>
          </a:bodyPr>
          <a:lstStyle/>
          <a:p>
            <a:pPr algn="ctr"/>
            <a:r>
              <a:rPr lang="en-CH" sz="5400" dirty="0"/>
              <a:t>COMING UP NEXT: </a:t>
            </a:r>
            <a:br>
              <a:rPr lang="en-CH" sz="5400" dirty="0"/>
            </a:br>
            <a:r>
              <a:rPr lang="en-CH" sz="5400" dirty="0"/>
              <a:t>NumPy and the array data structure</a:t>
            </a:r>
          </a:p>
        </p:txBody>
      </p:sp>
      <p:sp>
        <p:nvSpPr>
          <p:cNvPr id="3" name="Date Placeholder 2">
            <a:extLst>
              <a:ext uri="{FF2B5EF4-FFF2-40B4-BE49-F238E27FC236}">
                <a16:creationId xmlns:a16="http://schemas.microsoft.com/office/drawing/2014/main" id="{F459BBE2-A2A2-7EE1-1120-58A5181C884B}"/>
              </a:ext>
            </a:extLst>
          </p:cNvPr>
          <p:cNvSpPr>
            <a:spLocks noGrp="1"/>
          </p:cNvSpPr>
          <p:nvPr>
            <p:ph type="dt" sz="half" idx="10"/>
          </p:nvPr>
        </p:nvSpPr>
        <p:spPr/>
        <p:txBody>
          <a:bodyPr/>
          <a:lstStyle/>
          <a:p>
            <a:r>
              <a:rPr lang="de-CH"/>
              <a:t>July 2026, CC BY-SA 4.0</a:t>
            </a:r>
            <a:endParaRPr lang="en-US"/>
          </a:p>
        </p:txBody>
      </p:sp>
      <p:sp>
        <p:nvSpPr>
          <p:cNvPr id="4" name="Footer Placeholder 3">
            <a:extLst>
              <a:ext uri="{FF2B5EF4-FFF2-40B4-BE49-F238E27FC236}">
                <a16:creationId xmlns:a16="http://schemas.microsoft.com/office/drawing/2014/main" id="{3FCE048C-7643-4E0F-0055-1AF14D9F2051}"/>
              </a:ext>
            </a:extLst>
          </p:cNvPr>
          <p:cNvSpPr>
            <a:spLocks noGrp="1"/>
          </p:cNvSpPr>
          <p:nvPr>
            <p:ph type="ftr" sz="quarter" idx="11"/>
          </p:nvPr>
        </p:nvSpPr>
        <p:spPr/>
        <p:txBody>
          <a:bodyPr/>
          <a:lstStyle/>
          <a:p>
            <a:r>
              <a:rPr lang="en-US"/>
              <a:t>Data, v3.0</a:t>
            </a:r>
          </a:p>
        </p:txBody>
      </p:sp>
      <p:sp>
        <p:nvSpPr>
          <p:cNvPr id="5" name="Slide Number Placeholder 4">
            <a:extLst>
              <a:ext uri="{FF2B5EF4-FFF2-40B4-BE49-F238E27FC236}">
                <a16:creationId xmlns:a16="http://schemas.microsoft.com/office/drawing/2014/main" id="{397B6057-C196-6FBD-FEB5-531621B24D79}"/>
              </a:ext>
            </a:extLst>
          </p:cNvPr>
          <p:cNvSpPr>
            <a:spLocks noGrp="1"/>
          </p:cNvSpPr>
          <p:nvPr>
            <p:ph type="sldNum" sz="quarter" idx="12"/>
          </p:nvPr>
        </p:nvSpPr>
        <p:spPr/>
        <p:txBody>
          <a:bodyPr/>
          <a:lstStyle/>
          <a:p>
            <a:fld id="{EF79ADEA-B933-47CC-A4E9-04E6298B917C}" type="slidenum">
              <a:rPr lang="en-US" smtClean="0"/>
              <a:pPr/>
              <a:t>30</a:t>
            </a:fld>
            <a:endParaRPr lang="en-US"/>
          </a:p>
        </p:txBody>
      </p:sp>
    </p:spTree>
    <p:extLst>
      <p:ext uri="{BB962C8B-B14F-4D97-AF65-F5344CB8AC3E}">
        <p14:creationId xmlns:p14="http://schemas.microsoft.com/office/powerpoint/2010/main" val="23562657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de-CH"/>
              <a:t>July 2026, CC BY-SA 4.0</a:t>
            </a:r>
            <a:endParaRPr lang="en-US"/>
          </a:p>
        </p:txBody>
      </p:sp>
      <p:sp>
        <p:nvSpPr>
          <p:cNvPr id="3" name="Footer Placeholder 2"/>
          <p:cNvSpPr>
            <a:spLocks noGrp="1"/>
          </p:cNvSpPr>
          <p:nvPr>
            <p:ph type="ftr" sz="quarter" idx="11"/>
          </p:nvPr>
        </p:nvSpPr>
        <p:spPr/>
        <p:txBody>
          <a:bodyPr/>
          <a:lstStyle/>
          <a:p>
            <a:r>
              <a:rPr lang="en-US"/>
              <a:t>Data, v3.0</a:t>
            </a:r>
          </a:p>
        </p:txBody>
      </p:sp>
      <p:sp>
        <p:nvSpPr>
          <p:cNvPr id="4" name="Slide Number Placeholder 3">
            <a:extLst>
              <a:ext uri="{FF2B5EF4-FFF2-40B4-BE49-F238E27FC236}">
                <a16:creationId xmlns:a16="http://schemas.microsoft.com/office/drawing/2014/main" id="{BFDC436E-642E-707E-1798-D9059C4A6AFE}"/>
              </a:ext>
            </a:extLst>
          </p:cNvPr>
          <p:cNvSpPr>
            <a:spLocks noGrp="1"/>
          </p:cNvSpPr>
          <p:nvPr>
            <p:ph type="sldNum" sz="quarter" idx="12"/>
          </p:nvPr>
        </p:nvSpPr>
        <p:spPr/>
        <p:txBody>
          <a:bodyPr/>
          <a:lstStyle/>
          <a:p>
            <a:fld id="{EF79ADEA-B933-47CC-A4E9-04E6298B917C}"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9515C-7D99-9023-9C3D-5CBBCFA211A2}"/>
              </a:ext>
            </a:extLst>
          </p:cNvPr>
          <p:cNvSpPr>
            <a:spLocks noGrp="1"/>
          </p:cNvSpPr>
          <p:nvPr>
            <p:ph type="title"/>
          </p:nvPr>
        </p:nvSpPr>
        <p:spPr/>
        <p:txBody>
          <a:bodyPr/>
          <a:lstStyle/>
          <a:p>
            <a:r>
              <a:rPr lang="en-CH" dirty="0"/>
              <a:t>Some data structures</a:t>
            </a:r>
          </a:p>
        </p:txBody>
      </p:sp>
      <p:sp>
        <p:nvSpPr>
          <p:cNvPr id="3" name="Content Placeholder 2">
            <a:extLst>
              <a:ext uri="{FF2B5EF4-FFF2-40B4-BE49-F238E27FC236}">
                <a16:creationId xmlns:a16="http://schemas.microsoft.com/office/drawing/2014/main" id="{E22AC8BC-2D2E-EE2F-1BF8-004DFDC990AC}"/>
              </a:ext>
            </a:extLst>
          </p:cNvPr>
          <p:cNvSpPr>
            <a:spLocks noGrp="1"/>
          </p:cNvSpPr>
          <p:nvPr>
            <p:ph idx="1"/>
          </p:nvPr>
        </p:nvSpPr>
        <p:spPr/>
        <p:txBody>
          <a:bodyPr>
            <a:normAutofit fontScale="92500" lnSpcReduction="20000"/>
          </a:bodyPr>
          <a:lstStyle/>
          <a:p>
            <a:r>
              <a:rPr lang="en-CH" dirty="0"/>
              <a:t>list: ordered, heterogeneous storage, stack/queue, fast access by index, slow search</a:t>
            </a:r>
          </a:p>
          <a:p>
            <a:r>
              <a:rPr lang="en-CH" dirty="0"/>
              <a:t>set: unordered</a:t>
            </a:r>
          </a:p>
          <a:p>
            <a:r>
              <a:rPr lang="en-CH" dirty="0"/>
              <a:t>dictionary</a:t>
            </a:r>
          </a:p>
          <a:p>
            <a:r>
              <a:rPr lang="en-CH" dirty="0"/>
              <a:t>arrays: e.g. numpy, HDF5</a:t>
            </a:r>
          </a:p>
          <a:p>
            <a:r>
              <a:rPr lang="en-CH" dirty="0"/>
              <a:t>tables: e.g. pandas, dask, spark, SQL</a:t>
            </a:r>
          </a:p>
          <a:p>
            <a:r>
              <a:rPr lang="en-CH" dirty="0"/>
              <a:t>graph: social network structure</a:t>
            </a:r>
          </a:p>
          <a:p>
            <a:r>
              <a:rPr lang="en-CH" dirty="0"/>
              <a:t>tree: to rapidly search a dataset</a:t>
            </a:r>
          </a:p>
          <a:p>
            <a:r>
              <a:rPr lang="en-CH" dirty="0"/>
              <a:t>heap</a:t>
            </a:r>
          </a:p>
          <a:p>
            <a:r>
              <a:rPr lang="en-CH" dirty="0"/>
              <a:t>stack</a:t>
            </a:r>
          </a:p>
          <a:p>
            <a:r>
              <a:rPr lang="en-CH" dirty="0"/>
              <a:t>queue</a:t>
            </a:r>
          </a:p>
          <a:p>
            <a:r>
              <a:rPr lang="en-CH" dirty="0"/>
              <a:t>priority  queue</a:t>
            </a:r>
          </a:p>
          <a:p>
            <a:endParaRPr lang="en-CH" dirty="0"/>
          </a:p>
        </p:txBody>
      </p:sp>
      <p:sp>
        <p:nvSpPr>
          <p:cNvPr id="4" name="Date Placeholder 3">
            <a:extLst>
              <a:ext uri="{FF2B5EF4-FFF2-40B4-BE49-F238E27FC236}">
                <a16:creationId xmlns:a16="http://schemas.microsoft.com/office/drawing/2014/main" id="{D4EE8F24-C040-069D-3781-7A64F9F50CEC}"/>
              </a:ext>
            </a:extLst>
          </p:cNvPr>
          <p:cNvSpPr>
            <a:spLocks noGrp="1"/>
          </p:cNvSpPr>
          <p:nvPr>
            <p:ph type="dt" sz="half" idx="10"/>
          </p:nvPr>
        </p:nvSpPr>
        <p:spPr/>
        <p:txBody>
          <a:bodyPr/>
          <a:lstStyle/>
          <a:p>
            <a:r>
              <a:rPr lang="de-CH"/>
              <a:t>July 2026, CC BY-SA 4.0</a:t>
            </a:r>
            <a:endParaRPr lang="en-US"/>
          </a:p>
        </p:txBody>
      </p:sp>
      <p:sp>
        <p:nvSpPr>
          <p:cNvPr id="5" name="Footer Placeholder 4">
            <a:extLst>
              <a:ext uri="{FF2B5EF4-FFF2-40B4-BE49-F238E27FC236}">
                <a16:creationId xmlns:a16="http://schemas.microsoft.com/office/drawing/2014/main" id="{8EF72508-C792-BDB2-E7F2-9A730516205B}"/>
              </a:ext>
            </a:extLst>
          </p:cNvPr>
          <p:cNvSpPr>
            <a:spLocks noGrp="1"/>
          </p:cNvSpPr>
          <p:nvPr>
            <p:ph type="ftr" sz="quarter" idx="11"/>
          </p:nvPr>
        </p:nvSpPr>
        <p:spPr/>
        <p:txBody>
          <a:bodyPr/>
          <a:lstStyle/>
          <a:p>
            <a:r>
              <a:rPr lang="en-US"/>
              <a:t>Data, v3.0</a:t>
            </a:r>
          </a:p>
        </p:txBody>
      </p:sp>
      <p:sp>
        <p:nvSpPr>
          <p:cNvPr id="6" name="Slide Number Placeholder 5">
            <a:extLst>
              <a:ext uri="{FF2B5EF4-FFF2-40B4-BE49-F238E27FC236}">
                <a16:creationId xmlns:a16="http://schemas.microsoft.com/office/drawing/2014/main" id="{BA7EFFF3-AA8D-50AA-184B-7C58AC566301}"/>
              </a:ext>
            </a:extLst>
          </p:cNvPr>
          <p:cNvSpPr>
            <a:spLocks noGrp="1"/>
          </p:cNvSpPr>
          <p:nvPr>
            <p:ph type="sldNum" sz="quarter" idx="12"/>
          </p:nvPr>
        </p:nvSpPr>
        <p:spPr/>
        <p:txBody>
          <a:bodyPr/>
          <a:lstStyle/>
          <a:p>
            <a:fld id="{EF79ADEA-B933-47CC-A4E9-04E6298B917C}" type="slidenum">
              <a:rPr lang="en-US" smtClean="0"/>
              <a:pPr/>
              <a:t>32</a:t>
            </a:fld>
            <a:endParaRPr lang="en-US"/>
          </a:p>
        </p:txBody>
      </p:sp>
    </p:spTree>
    <p:extLst>
      <p:ext uri="{BB962C8B-B14F-4D97-AF65-F5344CB8AC3E}">
        <p14:creationId xmlns:p14="http://schemas.microsoft.com/office/powerpoint/2010/main" val="32630270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103122</TotalTime>
  <Words>2010</Words>
  <Application>Microsoft Macintosh PowerPoint</Application>
  <PresentationFormat>Widescreen</PresentationFormat>
  <Paragraphs>382</Paragraphs>
  <Slides>32</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Calibri Light</vt:lpstr>
      <vt:lpstr>Consolas</vt:lpstr>
      <vt:lpstr>Courier New</vt:lpstr>
      <vt:lpstr>Wingdings</vt:lpstr>
      <vt:lpstr>Office Theme</vt:lpstr>
      <vt:lpstr>PowerPoint Presentation</vt:lpstr>
      <vt:lpstr>Things one thinks about when thinking about data</vt:lpstr>
      <vt:lpstr>Things one thinks about when thinking about data</vt:lpstr>
      <vt:lpstr>Hands-on What data structure would you use to represent…</vt:lpstr>
      <vt:lpstr>Hands-on What data structure would you use to represent…</vt:lpstr>
      <vt:lpstr>Hands-on What data structure would you use to represent…</vt:lpstr>
      <vt:lpstr>Hands-on What data structure would you use to represent…</vt:lpstr>
      <vt:lpstr>Hands-on What data structure would you use to represent…</vt:lpstr>
      <vt:lpstr>Hands-on What data structure would you use to represent…</vt:lpstr>
      <vt:lpstr>Hands-on What data structure would you use to represent…</vt:lpstr>
      <vt:lpstr>Hands-on What data structure would you use to represent…</vt:lpstr>
      <vt:lpstr>Hands-on What data structure would you use to represent…</vt:lpstr>
      <vt:lpstr>You develop your code on a small data set, how is it going to scale to the complete data set? </vt:lpstr>
      <vt:lpstr>How performance scales: big-O</vt:lpstr>
      <vt:lpstr>Hands-on: Operations on lists</vt:lpstr>
      <vt:lpstr>Hands-on: Operations on lists</vt:lpstr>
      <vt:lpstr>Example: Find common words</vt:lpstr>
      <vt:lpstr>Implementation with two for-loops</vt:lpstr>
      <vt:lpstr>Implementation with two for-loops</vt:lpstr>
      <vt:lpstr>Implementation with sorted lists</vt:lpstr>
      <vt:lpstr>Implementation with sorted lists</vt:lpstr>
      <vt:lpstr>Implementation with sets</vt:lpstr>
      <vt:lpstr>Implementation with sets</vt:lpstr>
      <vt:lpstr>Basic reference sheet about Python data structures </vt:lpstr>
      <vt:lpstr>Hands-on </vt:lpstr>
      <vt:lpstr>How does rewriting in C change the performance? (rewriting in C, parallelization; same algorithm)</vt:lpstr>
      <vt:lpstr>How does rewriting in C change the performance? (rewriting in C, parallelization; same algorithm)</vt:lpstr>
      <vt:lpstr>How does rewriting in C change the performance? (rewriting in C, parallelization; same algorithm)</vt:lpstr>
      <vt:lpstr>How does rewriting in C change the performance? (rewriting in C, parallelization; same algorithm)</vt:lpstr>
      <vt:lpstr>COMING UP NEXT:  NumPy and the array data structure</vt:lpstr>
      <vt:lpstr>PowerPoint Presentation</vt:lpstr>
      <vt:lpstr>Some data structures</vt:lpstr>
    </vt:vector>
  </TitlesOfParts>
  <Company>University of Pennsylvania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Pietro Berkes</dc:creator>
  <cp:lastModifiedBy>Pietro Berkes</cp:lastModifiedBy>
  <cp:revision>1624</cp:revision>
  <cp:lastPrinted>2017-08-28T05:46:03Z</cp:lastPrinted>
  <dcterms:created xsi:type="dcterms:W3CDTF">2010-10-01T16:09:12Z</dcterms:created>
  <dcterms:modified xsi:type="dcterms:W3CDTF">2026-07-17T09:39:08Z</dcterms:modified>
</cp:coreProperties>
</file>