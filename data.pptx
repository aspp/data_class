
<file path=[Content_Types].xml><?xml version="1.0" encoding="utf-8"?>
<Types xmlns="http://schemas.openxmlformats.org/package/2006/content-types">
  <Default Extension="jpeg" ContentType="image/jpeg"/>
  <Default Extension="png" ContentType="image/png"/>
  <Default Extension="rels" ContentType="application/vnd.openxmlformats-package.relationships+xml"/>
  <Default Extension="svg" ContentType="image/svg+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howSpecialPlsOnTitleSld="0" strictFirstAndLastChars="0" saveSubsetFonts="1">
  <p:sldMasterIdLst>
    <p:sldMasterId id="2147483672" r:id="rId1"/>
  </p:sldMasterIdLst>
  <p:notesMasterIdLst>
    <p:notesMasterId r:id="rId33"/>
  </p:notesMasterIdLst>
  <p:handoutMasterIdLst>
    <p:handoutMasterId r:id="rId34"/>
  </p:handoutMasterIdLst>
  <p:sldIdLst>
    <p:sldId id="680" r:id="rId2"/>
    <p:sldId id="656" r:id="rId3"/>
    <p:sldId id="689" r:id="rId4"/>
    <p:sldId id="609" r:id="rId5"/>
    <p:sldId id="664" r:id="rId6"/>
    <p:sldId id="681" r:id="rId7"/>
    <p:sldId id="687" r:id="rId8"/>
    <p:sldId id="688" r:id="rId9"/>
    <p:sldId id="661" r:id="rId10"/>
    <p:sldId id="683" r:id="rId11"/>
    <p:sldId id="684" r:id="rId12"/>
    <p:sldId id="662" r:id="rId13"/>
    <p:sldId id="563" r:id="rId14"/>
    <p:sldId id="571" r:id="rId15"/>
    <p:sldId id="587" r:id="rId16"/>
    <p:sldId id="666" r:id="rId17"/>
    <p:sldId id="588" r:id="rId18"/>
    <p:sldId id="667" r:id="rId19"/>
    <p:sldId id="589" r:id="rId20"/>
    <p:sldId id="671" r:id="rId21"/>
    <p:sldId id="690" r:id="rId22"/>
    <p:sldId id="673" r:id="rId23"/>
    <p:sldId id="674" r:id="rId24"/>
    <p:sldId id="675" r:id="rId25"/>
    <p:sldId id="678" r:id="rId26"/>
    <p:sldId id="658" r:id="rId27"/>
    <p:sldId id="590" r:id="rId28"/>
    <p:sldId id="623" r:id="rId29"/>
    <p:sldId id="627" r:id="rId30"/>
    <p:sldId id="298" r:id="rId31"/>
    <p:sldId id="549" r:id="rId32"/>
  </p:sldIdLst>
  <p:sldSz cx="12192000" cy="6858000"/>
  <p:notesSz cx="6858000" cy="9144000"/>
  <p:defaultText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Untitled Section" id="{BAA15BF6-FE96-3445-86D7-BE737DCC358B}">
          <p14:sldIdLst>
            <p14:sldId id="680"/>
            <p14:sldId id="656"/>
            <p14:sldId id="689"/>
            <p14:sldId id="609"/>
            <p14:sldId id="664"/>
            <p14:sldId id="681"/>
            <p14:sldId id="687"/>
            <p14:sldId id="688"/>
            <p14:sldId id="661"/>
            <p14:sldId id="683"/>
            <p14:sldId id="684"/>
            <p14:sldId id="662"/>
            <p14:sldId id="563"/>
            <p14:sldId id="571"/>
            <p14:sldId id="587"/>
            <p14:sldId id="666"/>
            <p14:sldId id="588"/>
            <p14:sldId id="667"/>
            <p14:sldId id="589"/>
            <p14:sldId id="671"/>
            <p14:sldId id="690"/>
            <p14:sldId id="673"/>
            <p14:sldId id="674"/>
            <p14:sldId id="675"/>
            <p14:sldId id="678"/>
            <p14:sldId id="658"/>
            <p14:sldId id="590"/>
            <p14:sldId id="623"/>
            <p14:sldId id="627"/>
            <p14:sldId id="298"/>
            <p14:sldId id="549"/>
          </p14:sldIdLst>
        </p14:section>
      </p14:sectionLst>
    </p:ext>
    <p:ext uri="{EFAFB233-063F-42B5-8137-9DF3F51BA10A}">
      <p15:sldGuideLst xmlns:p15="http://schemas.microsoft.com/office/powerpoint/2012/main">
        <p15:guide id="1" orient="horz" pos="2160" userDrawn="1">
          <p15:clr>
            <a:srgbClr val="A4A3A4"/>
          </p15:clr>
        </p15:guide>
        <p15:guide id="2" pos="384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prnPr/>
  <p:clrMru>
    <a:srgbClr val="F7F7F7"/>
    <a:srgbClr val="F0D0D5"/>
    <a:srgbClr val="E2F0D9"/>
    <a:srgbClr val="EDC196"/>
    <a:srgbClr val="D53DD7"/>
    <a:srgbClr val="FF8CD8"/>
    <a:srgbClr val="0295FF"/>
    <a:srgbClr val="1E76B4"/>
    <a:srgbClr val="FF7F0E"/>
    <a:srgbClr val="FFFF00"/>
  </p:clrMru>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616DA210-FB5B-4158-B5E0-FEB733F419BA}" styleName="Light Style 3">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band1H>
      <a:tcStyle>
        <a:tcBdr/>
        <a:fill>
          <a:solidFill>
            <a:schemeClr val="tx1">
              <a:alpha val="20000"/>
            </a:schemeClr>
          </a:solidFill>
        </a:fill>
      </a:tcStyle>
    </a:band1H>
    <a:band1V>
      <a:tcStyle>
        <a:tcBdr/>
        <a:fill>
          <a:solidFill>
            <a:schemeClr val="tx1">
              <a:alpha val="20000"/>
            </a:schemeClr>
          </a:solidFill>
        </a:fill>
      </a:tcStyle>
    </a:band1V>
    <a:lastCol>
      <a:tcTxStyle b="on"/>
      <a:tcStyle>
        <a:tcBdr/>
      </a:tcStyle>
    </a:lastCol>
    <a:firstCol>
      <a:tcTxStyle b="on"/>
      <a:tcStyle>
        <a:tcBdr/>
      </a:tcStyle>
    </a:firstCol>
    <a:lastRow>
      <a:tcTxStyle b="on"/>
      <a:tcStyle>
        <a:tcBdr>
          <a:top>
            <a:ln w="50800" cmpd="dbl">
              <a:solidFill>
                <a:schemeClr val="tx1"/>
              </a:solidFill>
            </a:ln>
          </a:top>
        </a:tcBdr>
        <a:fill>
          <a:noFill/>
        </a:fill>
      </a:tcStyle>
    </a:lastRow>
    <a:firstRow>
      <a:tcTxStyle b="on"/>
      <a:tcStyle>
        <a:tcBdr>
          <a:bottom>
            <a:ln w="25400" cmpd="sng">
              <a:solidFill>
                <a:schemeClr val="tx1"/>
              </a:solidFill>
            </a:ln>
          </a:bottom>
        </a:tcBdr>
        <a:fill>
          <a:noFill/>
        </a:fill>
      </a:tcStyle>
    </a:firstRow>
  </a:tblStyle>
  <a:tblStyle styleId="{F2DE63D5-997A-4646-A377-4702673A728D}" styleName="Light Style 2 - Accent 3">
    <a:wholeTbl>
      <a:tcTxStyle>
        <a:fontRef idx="minor">
          <a:scrgbClr r="0" g="0" b="0"/>
        </a:fontRef>
        <a:schemeClr val="tx1"/>
      </a:tcTxStyle>
      <a:tcStyle>
        <a:tcBdr>
          <a:left>
            <a:lnRef idx="1">
              <a:schemeClr val="accent3"/>
            </a:lnRef>
          </a:left>
          <a:right>
            <a:lnRef idx="1">
              <a:schemeClr val="accent3"/>
            </a:lnRef>
          </a:right>
          <a:top>
            <a:lnRef idx="1">
              <a:schemeClr val="accent3"/>
            </a:lnRef>
          </a:top>
          <a:bottom>
            <a:lnRef idx="1">
              <a:schemeClr val="accent3"/>
            </a:lnRef>
          </a:bottom>
          <a:insideH>
            <a:ln>
              <a:noFill/>
            </a:ln>
          </a:insideH>
          <a:insideV>
            <a:ln>
              <a:noFill/>
            </a:ln>
          </a:insideV>
        </a:tcBdr>
        <a:fill>
          <a:noFill/>
        </a:fill>
      </a:tcStyle>
    </a:wholeTbl>
    <a:band1H>
      <a:tcStyle>
        <a:tcBdr>
          <a:top>
            <a:lnRef idx="1">
              <a:schemeClr val="accent3"/>
            </a:lnRef>
          </a:top>
          <a:bottom>
            <a:lnRef idx="1">
              <a:schemeClr val="accent3"/>
            </a:lnRef>
          </a:bottom>
        </a:tcBdr>
      </a:tcStyle>
    </a:band1H>
    <a:band1V>
      <a:tcStyle>
        <a:tcBdr>
          <a:left>
            <a:lnRef idx="1">
              <a:schemeClr val="accent3"/>
            </a:lnRef>
          </a:left>
          <a:right>
            <a:lnRef idx="1">
              <a:schemeClr val="accent3"/>
            </a:lnRef>
          </a:right>
        </a:tcBdr>
      </a:tcStyle>
    </a:band1V>
    <a:band2V>
      <a:tcStyle>
        <a:tcBdr>
          <a:left>
            <a:lnRef idx="1">
              <a:schemeClr val="accent3"/>
            </a:lnRef>
          </a:left>
          <a:right>
            <a:lnRef idx="1">
              <a:schemeClr val="accent3"/>
            </a:lnRef>
          </a:right>
        </a:tcBdr>
      </a:tcStyle>
    </a:band2V>
    <a:lastCol>
      <a:tcTxStyle b="on"/>
      <a:tcStyle>
        <a:tcBdr/>
      </a:tcStyle>
    </a:lastCol>
    <a:firstCol>
      <a:tcTxStyle b="on"/>
      <a:tcStyle>
        <a:tcBdr/>
      </a:tcStyle>
    </a:firstCol>
    <a:lastRow>
      <a:tcTxStyle b="on"/>
      <a:tcStyle>
        <a:tcBdr>
          <a:top>
            <a:ln w="50800" cmpd="dbl">
              <a:solidFill>
                <a:schemeClr val="accent3"/>
              </a:solidFill>
            </a:ln>
          </a:top>
        </a:tcBdr>
      </a:tcStyle>
    </a:lastRow>
    <a:firstRow>
      <a:tcTxStyle b="on">
        <a:fontRef idx="minor">
          <a:scrgbClr r="0" g="0" b="0"/>
        </a:fontRef>
        <a:schemeClr val="bg1"/>
      </a:tcTxStyle>
      <a:tcStyle>
        <a:tcBdr/>
        <a:fillRef idx="1">
          <a:schemeClr val="accent3"/>
        </a:fillRef>
      </a:tcStyle>
    </a:firstRow>
  </a:tblStyle>
  <a:tblStyle styleId="{5940675A-B579-460E-94D1-54222C63F5DA}" styleName="No Style, Table Grid">
    <a:wholeTbl>
      <a:tcTxStyle>
        <a:fontRef idx="minor">
          <a:scrgbClr r="0" g="0" b="0"/>
        </a:fontRef>
        <a:schemeClr val="tx1"/>
      </a:tcTxStyle>
      <a:tcStyle>
        <a:tcBdr>
          <a:left>
            <a:ln w="12700" cmpd="sng">
              <a:solidFill>
                <a:schemeClr val="tx1"/>
              </a:solidFill>
            </a:ln>
          </a:left>
          <a:right>
            <a:ln w="12700" cmpd="sng">
              <a:solidFill>
                <a:schemeClr val="tx1"/>
              </a:solidFill>
            </a:ln>
          </a:right>
          <a:top>
            <a:ln w="12700" cmpd="sng">
              <a:solidFill>
                <a:schemeClr val="tx1"/>
              </a:solidFill>
            </a:ln>
          </a:top>
          <a:bottom>
            <a:ln w="12700" cmpd="sng">
              <a:solidFill>
                <a:schemeClr val="tx1"/>
              </a:solidFill>
            </a:ln>
          </a:bottom>
          <a:insideH>
            <a:ln w="12700" cmpd="sng">
              <a:solidFill>
                <a:schemeClr val="tx1"/>
              </a:solidFill>
            </a:ln>
          </a:insideH>
          <a:insideV>
            <a:ln w="12700" cmpd="sng">
              <a:solidFill>
                <a:schemeClr val="tx1"/>
              </a:solidFill>
            </a:ln>
          </a:insideV>
        </a:tcBdr>
        <a:fill>
          <a:noFill/>
        </a:fill>
      </a:tcStyle>
    </a:wholeTbl>
  </a:tblStyle>
  <a:tblStyle styleId="{7E9639D4-E3E2-4D34-9284-5A2195B3D0D7}" styleName="Light Style 2">
    <a:wholeTbl>
      <a:tcTxStyle>
        <a:fontRef idx="minor">
          <a:scrgbClr r="0" g="0" b="0"/>
        </a:fontRef>
        <a:schemeClr val="tx1"/>
      </a:tcTxStyle>
      <a:tcStyle>
        <a:tcBdr>
          <a:left>
            <a:lnRef idx="1">
              <a:schemeClr val="tx1"/>
            </a:lnRef>
          </a:left>
          <a:right>
            <a:lnRef idx="1">
              <a:schemeClr val="tx1"/>
            </a:lnRef>
          </a:right>
          <a:top>
            <a:lnRef idx="1">
              <a:schemeClr val="tx1"/>
            </a:lnRef>
          </a:top>
          <a:bottom>
            <a:lnRef idx="1">
              <a:schemeClr val="tx1"/>
            </a:lnRef>
          </a:bottom>
          <a:insideH>
            <a:ln>
              <a:noFill/>
            </a:ln>
          </a:insideH>
          <a:insideV>
            <a:ln>
              <a:noFill/>
            </a:ln>
          </a:insideV>
        </a:tcBdr>
        <a:fill>
          <a:noFill/>
        </a:fill>
      </a:tcStyle>
    </a:wholeTbl>
    <a:band1H>
      <a:tcStyle>
        <a:tcBdr>
          <a:top>
            <a:lnRef idx="1">
              <a:schemeClr val="tx1"/>
            </a:lnRef>
          </a:top>
          <a:bottom>
            <a:lnRef idx="1">
              <a:schemeClr val="tx1"/>
            </a:lnRef>
          </a:bottom>
        </a:tcBdr>
      </a:tcStyle>
    </a:band1H>
    <a:band1V>
      <a:tcStyle>
        <a:tcBdr>
          <a:left>
            <a:lnRef idx="1">
              <a:schemeClr val="tx1"/>
            </a:lnRef>
          </a:left>
          <a:right>
            <a:lnRef idx="1">
              <a:schemeClr val="tx1"/>
            </a:lnRef>
          </a:right>
        </a:tcBdr>
      </a:tcStyle>
    </a:band1V>
    <a:band2V>
      <a:tcStyle>
        <a:tcBdr>
          <a:left>
            <a:lnRef idx="1">
              <a:schemeClr val="tx1"/>
            </a:lnRef>
          </a:left>
          <a:right>
            <a:lnRef idx="1">
              <a:schemeClr val="tx1"/>
            </a:lnRef>
          </a:right>
        </a:tcBdr>
      </a:tcStyle>
    </a:band2V>
    <a:lastCol>
      <a:tcTxStyle b="on"/>
      <a:tcStyle>
        <a:tcBdr/>
      </a:tcStyle>
    </a:lastCol>
    <a:firstCol>
      <a:tcTxStyle b="on"/>
      <a:tcStyle>
        <a:tcBdr/>
      </a:tcStyle>
    </a:firstCol>
    <a:lastRow>
      <a:tcTxStyle b="on"/>
      <a:tcStyle>
        <a:tcBdr>
          <a:top>
            <a:ln w="50800" cmpd="dbl">
              <a:solidFill>
                <a:schemeClr val="tx1"/>
              </a:solidFill>
            </a:ln>
          </a:top>
        </a:tcBdr>
      </a:tcStyle>
    </a:lastRow>
    <a:firstRow>
      <a:tcTxStyle b="on">
        <a:fontRef idx="minor">
          <a:scrgbClr r="0" g="0" b="0"/>
        </a:fontRef>
        <a:schemeClr val="bg1"/>
      </a:tcTxStyle>
      <a:tcStyle>
        <a:tcBdr/>
        <a:fillRef idx="1">
          <a:schemeClr val="tx1"/>
        </a:fillRef>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0188" autoAdjust="0"/>
    <p:restoredTop sz="97262" autoAdjust="0"/>
  </p:normalViewPr>
  <p:slideViewPr>
    <p:cSldViewPr>
      <p:cViewPr varScale="1">
        <p:scale>
          <a:sx n="127" d="100"/>
          <a:sy n="127" d="100"/>
        </p:scale>
        <p:origin x="880" y="192"/>
      </p:cViewPr>
      <p:guideLst>
        <p:guide orient="horz" pos="2160"/>
        <p:guide pos="3840"/>
      </p:guideLst>
    </p:cSldViewPr>
  </p:slideViewPr>
  <p:outlineViewPr>
    <p:cViewPr>
      <p:scale>
        <a:sx n="33" d="100"/>
        <a:sy n="33" d="100"/>
      </p:scale>
      <p:origin x="0" y="-696"/>
    </p:cViewPr>
  </p:outlineViewPr>
  <p:notesTextViewPr>
    <p:cViewPr>
      <p:scale>
        <a:sx n="100" d="100"/>
        <a:sy n="100" d="100"/>
      </p:scale>
      <p:origin x="0" y="0"/>
    </p:cViewPr>
  </p:notesTextViewPr>
  <p:sorterViewPr>
    <p:cViewPr varScale="1">
      <p:scale>
        <a:sx n="1" d="1"/>
        <a:sy n="1" d="1"/>
      </p:scale>
      <p:origin x="0" y="34176"/>
    </p:cViewPr>
  </p:sorterViewPr>
  <p:gridSpacing cx="72008" cy="72008"/>
</p:viewPr>
</file>

<file path=ppt/_rels/presentation.xml.rels><?xml version="1.0" encoding="UTF-8" standalone="yes"?>
<Relationships xmlns="http://schemas.openxmlformats.org/package/2006/relationships"><Relationship Id="rId13" Type="http://schemas.openxmlformats.org/officeDocument/2006/relationships/slide" Target="slides/slide12.xml"/><Relationship Id="rId18" Type="http://schemas.openxmlformats.org/officeDocument/2006/relationships/slide" Target="slides/slide17.xml"/><Relationship Id="rId26" Type="http://schemas.openxmlformats.org/officeDocument/2006/relationships/slide" Target="slides/slide25.xml"/><Relationship Id="rId21" Type="http://schemas.openxmlformats.org/officeDocument/2006/relationships/slide" Target="slides/slide20.xml"/><Relationship Id="rId34" Type="http://schemas.openxmlformats.org/officeDocument/2006/relationships/handoutMaster" Target="handoutMasters/handoutMaster1.xml"/><Relationship Id="rId7" Type="http://schemas.openxmlformats.org/officeDocument/2006/relationships/slide" Target="slides/slide6.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notesMaster" Target="notesMasters/notesMaster1.xml"/><Relationship Id="rId38" Type="http://schemas.openxmlformats.org/officeDocument/2006/relationships/tableStyles" Target="tableStyles.xml"/><Relationship Id="rId2" Type="http://schemas.openxmlformats.org/officeDocument/2006/relationships/slide" Target="slides/slide1.xml"/><Relationship Id="rId16" Type="http://schemas.openxmlformats.org/officeDocument/2006/relationships/slide" Target="slides/slide15.xml"/><Relationship Id="rId20" Type="http://schemas.openxmlformats.org/officeDocument/2006/relationships/slide" Target="slides/slide19.xml"/><Relationship Id="rId29" Type="http://schemas.openxmlformats.org/officeDocument/2006/relationships/slide" Target="slides/slide28.xml"/><Relationship Id="rId1" Type="http://schemas.openxmlformats.org/officeDocument/2006/relationships/slideMaster" Target="slideMasters/slideMaster1.xml"/><Relationship Id="rId6" Type="http://schemas.openxmlformats.org/officeDocument/2006/relationships/slide" Target="slides/slide5.xml"/><Relationship Id="rId11" Type="http://schemas.openxmlformats.org/officeDocument/2006/relationships/slide" Target="slides/slide10.xml"/><Relationship Id="rId24" Type="http://schemas.openxmlformats.org/officeDocument/2006/relationships/slide" Target="slides/slide23.xml"/><Relationship Id="rId32" Type="http://schemas.openxmlformats.org/officeDocument/2006/relationships/slide" Target="slides/slide31.xml"/><Relationship Id="rId37" Type="http://schemas.openxmlformats.org/officeDocument/2006/relationships/theme" Target="theme/theme1.xml"/><Relationship Id="rId5" Type="http://schemas.openxmlformats.org/officeDocument/2006/relationships/slide" Target="slides/slide4.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viewProps" Target="viewProps.xml"/><Relationship Id="rId10" Type="http://schemas.openxmlformats.org/officeDocument/2006/relationships/slide" Target="slides/slide9.xml"/><Relationship Id="rId19" Type="http://schemas.openxmlformats.org/officeDocument/2006/relationships/slide" Target="slides/slide18.xml"/><Relationship Id="rId31" Type="http://schemas.openxmlformats.org/officeDocument/2006/relationships/slide" Target="slides/slide30.xml"/><Relationship Id="rId4" Type="http://schemas.openxmlformats.org/officeDocument/2006/relationships/slide" Target="slides/slide3.xml"/><Relationship Id="rId9" Type="http://schemas.openxmlformats.org/officeDocument/2006/relationships/slide" Target="slides/slide8.xml"/><Relationship Id="rId14" Type="http://schemas.openxmlformats.org/officeDocument/2006/relationships/slide" Target="slides/slide13.xml"/><Relationship Id="rId22" Type="http://schemas.openxmlformats.org/officeDocument/2006/relationships/slide" Target="slides/slide21.xml"/><Relationship Id="rId27" Type="http://schemas.openxmlformats.org/officeDocument/2006/relationships/slide" Target="slides/slide26.xml"/><Relationship Id="rId30" Type="http://schemas.openxmlformats.org/officeDocument/2006/relationships/slide" Target="slides/slide29.xml"/><Relationship Id="rId35" Type="http://schemas.openxmlformats.org/officeDocument/2006/relationships/presProps" Target="presProps.xml"/><Relationship Id="rId8" Type="http://schemas.openxmlformats.org/officeDocument/2006/relationships/slide" Target="slides/slide7.xml"/><Relationship Id="rId3" Type="http://schemas.openxmlformats.org/officeDocument/2006/relationships/slide" Target="slides/slide2.xml"/></Relationships>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sz="quarter" idx="1"/>
          </p:nvPr>
        </p:nvSpPr>
        <p:spPr>
          <a:xfrm>
            <a:off x="3884613" y="0"/>
            <a:ext cx="2971800" cy="457200"/>
          </a:xfrm>
          <a:prstGeom prst="rect">
            <a:avLst/>
          </a:prstGeom>
        </p:spPr>
        <p:txBody>
          <a:bodyPr vert="horz" lIns="91440" tIns="45720" rIns="91440" bIns="45720" rtlCol="0"/>
          <a:lstStyle>
            <a:lvl1pPr algn="r">
              <a:defRPr sz="1200"/>
            </a:lvl1pPr>
          </a:lstStyle>
          <a:p>
            <a:fld id="{80AC11AF-147E-0A48-A5B0-8DA858D84551}" type="datetimeFigureOut">
              <a:rPr lang="en-US" smtClean="0"/>
              <a:pPr/>
              <a:t>8/31/26</a:t>
            </a:fld>
            <a:endParaRPr lang="en-US"/>
          </a:p>
        </p:txBody>
      </p:sp>
      <p:sp>
        <p:nvSpPr>
          <p:cNvPr id="4" name="Footer Placeholder 3"/>
          <p:cNvSpPr>
            <a:spLocks noGrp="1"/>
          </p:cNvSpPr>
          <p:nvPr>
            <p:ph type="ftr" sz="quarter" idx="2"/>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5" name="Slide Number Placeholder 4"/>
          <p:cNvSpPr>
            <a:spLocks noGrp="1"/>
          </p:cNvSpPr>
          <p:nvPr>
            <p:ph type="sldNum" sz="quarter" idx="3"/>
          </p:nvPr>
        </p:nvSpPr>
        <p:spPr>
          <a:xfrm>
            <a:off x="3884613" y="8685213"/>
            <a:ext cx="2971800" cy="457200"/>
          </a:xfrm>
          <a:prstGeom prst="rect">
            <a:avLst/>
          </a:prstGeom>
        </p:spPr>
        <p:txBody>
          <a:bodyPr vert="horz" lIns="91440" tIns="45720" rIns="91440" bIns="45720" rtlCol="0" anchor="b"/>
          <a:lstStyle>
            <a:lvl1pPr algn="r">
              <a:defRPr sz="1200"/>
            </a:lvl1pPr>
          </a:lstStyle>
          <a:p>
            <a:fld id="{E106F090-DD87-7740-9678-0E1C7887DC6D}" type="slidenum">
              <a:rPr lang="en-US" smtClean="0"/>
              <a:pPr/>
              <a:t>‹#›</a:t>
            </a:fld>
            <a:endParaRPr lang="en-US"/>
          </a:p>
        </p:txBody>
      </p:sp>
    </p:spTree>
    <p:extLst>
      <p:ext uri="{BB962C8B-B14F-4D97-AF65-F5344CB8AC3E}">
        <p14:creationId xmlns:p14="http://schemas.microsoft.com/office/powerpoint/2010/main" val="3441251477"/>
      </p:ext>
    </p:extLst>
  </p:cSld>
  <p:clrMap bg1="lt1" tx1="dk1" bg2="lt2" tx2="dk2" accent1="accent1" accent2="accent2" accent3="accent3" accent4="accent4" accent5="accent5" accent6="accent6" hlink="hlink" folHlink="folHlink"/>
  <p:hf hdr="0" ftr="0" dt="0"/>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Pr>
        <a:solidFill>
          <a:schemeClr val="bg1"/>
        </a:solidFill>
        <a:effectLst/>
      </p:bgPr>
    </p:bg>
    <p:spTree>
      <p:nvGrpSpPr>
        <p:cNvPr id="1" name=""/>
        <p:cNvGrpSpPr/>
        <p:nvPr/>
      </p:nvGrpSpPr>
      <p:grpSpPr>
        <a:xfrm>
          <a:off x="0" y="0"/>
          <a:ext cx="0" cy="0"/>
          <a:chOff x="0" y="0"/>
          <a:chExt cx="0" cy="0"/>
        </a:xfrm>
      </p:grpSpPr>
      <p:sp>
        <p:nvSpPr>
          <p:cNvPr id="16386" name="Rectangle 2"/>
          <p:cNvSpPr>
            <a:spLocks noGrp="1" noChangeArrowheads="1"/>
          </p:cNvSpPr>
          <p:nvPr>
            <p:ph type="hdr" sz="quarter"/>
          </p:nvPr>
        </p:nvSpPr>
        <p:spPr bwMode="auto">
          <a:xfrm>
            <a:off x="0" y="0"/>
            <a:ext cx="29718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defRPr sz="1200"/>
            </a:lvl1pPr>
          </a:lstStyle>
          <a:p>
            <a:endParaRPr lang="en-US"/>
          </a:p>
        </p:txBody>
      </p:sp>
      <p:sp>
        <p:nvSpPr>
          <p:cNvPr id="16387" name="Rectangle 3"/>
          <p:cNvSpPr>
            <a:spLocks noGrp="1" noChangeArrowheads="1"/>
          </p:cNvSpPr>
          <p:nvPr>
            <p:ph type="dt" idx="1"/>
          </p:nvPr>
        </p:nvSpPr>
        <p:spPr bwMode="auto">
          <a:xfrm>
            <a:off x="3886200" y="0"/>
            <a:ext cx="2971800" cy="4572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lvl1pPr algn="r">
              <a:defRPr sz="1200"/>
            </a:lvl1pPr>
          </a:lstStyle>
          <a:p>
            <a:endParaRPr lang="en-US"/>
          </a:p>
        </p:txBody>
      </p:sp>
      <p:sp>
        <p:nvSpPr>
          <p:cNvPr id="16388" name="Rectangle 4"/>
          <p:cNvSpPr>
            <a:spLocks noGrp="1" noRot="1" noChangeAspect="1" noChangeArrowheads="1" noTextEdit="1"/>
          </p:cNvSpPr>
          <p:nvPr>
            <p:ph type="sldImg" idx="2"/>
          </p:nvPr>
        </p:nvSpPr>
        <p:spPr bwMode="auto">
          <a:xfrm>
            <a:off x="381000" y="685800"/>
            <a:ext cx="6096000" cy="3429000"/>
          </a:xfrm>
          <a:prstGeom prst="rect">
            <a:avLst/>
          </a:prstGeom>
          <a:noFill/>
          <a:ln w="9525">
            <a:solidFill>
              <a:srgbClr val="000000"/>
            </a:solidFill>
            <a:miter lim="800000"/>
            <a:headEnd/>
            <a:tailEnd/>
          </a:ln>
          <a:effectLst/>
        </p:spPr>
      </p:sp>
      <p:sp>
        <p:nvSpPr>
          <p:cNvPr id="16389" name="Rectangle 5"/>
          <p:cNvSpPr>
            <a:spLocks noGrp="1" noChangeArrowheads="1"/>
          </p:cNvSpPr>
          <p:nvPr>
            <p:ph type="body" sz="quarter" idx="3"/>
          </p:nvPr>
        </p:nvSpPr>
        <p:spPr bwMode="auto">
          <a:xfrm>
            <a:off x="914400" y="4343400"/>
            <a:ext cx="5029200" cy="4114800"/>
          </a:xfrm>
          <a:prstGeom prst="rect">
            <a:avLst/>
          </a:prstGeom>
          <a:noFill/>
          <a:ln w="9525">
            <a:noFill/>
            <a:miter lim="800000"/>
            <a:headEnd/>
            <a:tailEnd/>
          </a:ln>
        </p:spPr>
        <p:txBody>
          <a:bodyPr vert="horz" wrap="square" lIns="91440" tIns="45720" rIns="91440" bIns="45720" numCol="1" anchor="t" anchorCtr="0" compatLnSpc="1">
            <a:prstTxWarp prst="textNoShape">
              <a:avLst/>
            </a:prstTxWarp>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16390" name="Rectangle 6"/>
          <p:cNvSpPr>
            <a:spLocks noGrp="1" noChangeArrowheads="1"/>
          </p:cNvSpPr>
          <p:nvPr>
            <p:ph type="ftr" sz="quarter" idx="4"/>
          </p:nvPr>
        </p:nvSpPr>
        <p:spPr bwMode="auto">
          <a:xfrm>
            <a:off x="0" y="8686800"/>
            <a:ext cx="29718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defRPr sz="1200"/>
            </a:lvl1pPr>
          </a:lstStyle>
          <a:p>
            <a:endParaRPr lang="en-US"/>
          </a:p>
        </p:txBody>
      </p:sp>
      <p:sp>
        <p:nvSpPr>
          <p:cNvPr id="16391" name="Rectangle 7"/>
          <p:cNvSpPr>
            <a:spLocks noGrp="1" noChangeArrowheads="1"/>
          </p:cNvSpPr>
          <p:nvPr>
            <p:ph type="sldNum" sz="quarter" idx="5"/>
          </p:nvPr>
        </p:nvSpPr>
        <p:spPr bwMode="auto">
          <a:xfrm>
            <a:off x="3886200" y="8686800"/>
            <a:ext cx="2971800" cy="457200"/>
          </a:xfrm>
          <a:prstGeom prst="rect">
            <a:avLst/>
          </a:prstGeom>
          <a:noFill/>
          <a:ln w="9525">
            <a:noFill/>
            <a:miter lim="800000"/>
            <a:headEnd/>
            <a:tailEnd/>
          </a:ln>
        </p:spPr>
        <p:txBody>
          <a:bodyPr vert="horz" wrap="square" lIns="91440" tIns="45720" rIns="91440" bIns="45720" numCol="1" anchor="b" anchorCtr="0" compatLnSpc="1">
            <a:prstTxWarp prst="textNoShape">
              <a:avLst/>
            </a:prstTxWarp>
          </a:bodyPr>
          <a:lstStyle>
            <a:lvl1pPr algn="r">
              <a:defRPr sz="1200"/>
            </a:lvl1pPr>
          </a:lstStyle>
          <a:p>
            <a:fld id="{99B30722-7DAA-4E93-8206-71F83E275281}" type="slidenum">
              <a:rPr lang="en-US"/>
              <a:pPr/>
              <a:t>‹#›</a:t>
            </a:fld>
            <a:endParaRPr lang="en-US"/>
          </a:p>
        </p:txBody>
      </p:sp>
    </p:spTree>
    <p:extLst>
      <p:ext uri="{BB962C8B-B14F-4D97-AF65-F5344CB8AC3E}">
        <p14:creationId xmlns:p14="http://schemas.microsoft.com/office/powerpoint/2010/main" val="1074340422"/>
      </p:ext>
    </p:extLst>
  </p:cSld>
  <p:clrMap bg1="lt1" tx1="dk1" bg2="lt2" tx2="dk2" accent1="accent1" accent2="accent2" accent3="accent3" accent4="accent4" accent5="accent5" accent6="accent6" hlink="hlink" folHlink="folHlink"/>
  <p:hf hdr="0" ftr="0" dt="0"/>
  <p:notesStyle>
    <a:lvl1pPr algn="l" rtl="0" fontAlgn="base">
      <a:spcBef>
        <a:spcPct val="30000"/>
      </a:spcBef>
      <a:spcAft>
        <a:spcPct val="0"/>
      </a:spcAft>
      <a:defRPr sz="1200" kern="1200">
        <a:solidFill>
          <a:schemeClr val="tx1"/>
        </a:solidFill>
        <a:latin typeface="Arial" charset="0"/>
        <a:ea typeface="ＭＳ Ｐゴシック" pitchFamily="80" charset="-128"/>
        <a:cs typeface="+mn-cs"/>
      </a:defRPr>
    </a:lvl1pPr>
    <a:lvl2pPr marL="457200" algn="l" rtl="0" fontAlgn="base">
      <a:spcBef>
        <a:spcPct val="30000"/>
      </a:spcBef>
      <a:spcAft>
        <a:spcPct val="0"/>
      </a:spcAft>
      <a:defRPr sz="1200" kern="1200">
        <a:solidFill>
          <a:schemeClr val="tx1"/>
        </a:solidFill>
        <a:latin typeface="Arial" charset="0"/>
        <a:ea typeface="ＭＳ Ｐゴシック" pitchFamily="80" charset="-128"/>
        <a:cs typeface="+mn-cs"/>
      </a:defRPr>
    </a:lvl2pPr>
    <a:lvl3pPr marL="914400" algn="l" rtl="0" fontAlgn="base">
      <a:spcBef>
        <a:spcPct val="30000"/>
      </a:spcBef>
      <a:spcAft>
        <a:spcPct val="0"/>
      </a:spcAft>
      <a:defRPr sz="1200" kern="1200">
        <a:solidFill>
          <a:schemeClr val="tx1"/>
        </a:solidFill>
        <a:latin typeface="Arial" charset="0"/>
        <a:ea typeface="ＭＳ Ｐゴシック" pitchFamily="80" charset="-128"/>
        <a:cs typeface="+mn-cs"/>
      </a:defRPr>
    </a:lvl3pPr>
    <a:lvl4pPr marL="1371600" algn="l" rtl="0" fontAlgn="base">
      <a:spcBef>
        <a:spcPct val="30000"/>
      </a:spcBef>
      <a:spcAft>
        <a:spcPct val="0"/>
      </a:spcAft>
      <a:defRPr sz="1200" kern="1200">
        <a:solidFill>
          <a:schemeClr val="tx1"/>
        </a:solidFill>
        <a:latin typeface="Arial" charset="0"/>
        <a:ea typeface="ＭＳ Ｐゴシック" pitchFamily="80" charset="-128"/>
        <a:cs typeface="+mn-cs"/>
      </a:defRPr>
    </a:lvl4pPr>
    <a:lvl5pPr marL="1828800" algn="l" rtl="0" fontAlgn="base">
      <a:spcBef>
        <a:spcPct val="30000"/>
      </a:spcBef>
      <a:spcAft>
        <a:spcPct val="0"/>
      </a:spcAft>
      <a:defRPr sz="1200" kern="1200">
        <a:solidFill>
          <a:schemeClr val="tx1"/>
        </a:solidFill>
        <a:latin typeface="Arial" charset="0"/>
        <a:ea typeface="ＭＳ Ｐゴシック" pitchFamily="80" charset="-128"/>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13.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22.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2" Type="http://schemas.openxmlformats.org/officeDocument/2006/relationships/slide" Target="../slides/slide25.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27.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a:xfrm>
            <a:off x="381000" y="685800"/>
            <a:ext cx="6096000" cy="3429000"/>
          </a:xfrm>
        </p:spPr>
      </p:sp>
      <p:sp>
        <p:nvSpPr>
          <p:cNvPr id="3" name="Notes Placeholder 2"/>
          <p:cNvSpPr>
            <a:spLocks noGrp="1"/>
          </p:cNvSpPr>
          <p:nvPr>
            <p:ph type="body" idx="1"/>
          </p:nvPr>
        </p:nvSpPr>
        <p:spPr/>
        <p:txBody>
          <a:bodyPr>
            <a:normAutofit/>
          </a:bodyPr>
          <a:lstStyle/>
          <a:p>
            <a:endParaRPr lang="en-US" baseline="0" dirty="0"/>
          </a:p>
        </p:txBody>
      </p:sp>
      <p:sp>
        <p:nvSpPr>
          <p:cNvPr id="4" name="Slide Number Placeholder 3"/>
          <p:cNvSpPr>
            <a:spLocks noGrp="1"/>
          </p:cNvSpPr>
          <p:nvPr>
            <p:ph type="sldNum" sz="quarter" idx="10"/>
          </p:nvPr>
        </p:nvSpPr>
        <p:spPr/>
        <p:txBody>
          <a:bodyPr/>
          <a:lstStyle/>
          <a:p>
            <a:fld id="{99B30722-7DAA-4E93-8206-71F83E275281}" type="slidenum">
              <a:rPr lang="en-US" smtClean="0"/>
              <a:pPr/>
              <a:t>1</a:t>
            </a:fld>
            <a:endParaRPr lang="en-US"/>
          </a:p>
        </p:txBody>
      </p:sp>
    </p:spTree>
    <p:extLst>
      <p:ext uri="{BB962C8B-B14F-4D97-AF65-F5344CB8AC3E}">
        <p14:creationId xmlns:p14="http://schemas.microsoft.com/office/powerpoint/2010/main" val="1613313035"/>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Data and code are related. </a:t>
            </a:r>
          </a:p>
          <a:p>
            <a:endParaRPr lang="en-US" dirty="0"/>
          </a:p>
          <a:p>
            <a:r>
              <a:rPr lang="en-US" dirty="0"/>
              <a:t>Nice transition from the last question. In extreme case, when the relations in the graph are dynamic/ changing a lot </a:t>
            </a:r>
            <a:r>
              <a:rPr lang="en-US" dirty="0">
                <a:sym typeface="Wingdings" pitchFamily="2" charset="2"/>
              </a:rPr>
              <a:t>using a dictionary is not a good solution. Instead, when small dataset and we are mainly interested in visualizing the relations, it might be.</a:t>
            </a:r>
          </a:p>
          <a:p>
            <a:r>
              <a:rPr lang="en-US" dirty="0">
                <a:sym typeface="Wingdings" pitchFamily="2" charset="2"/>
              </a:rPr>
              <a:t>The NumPy array solutions, scales much better, in case there are hundreds of dynamically changing relations to inspect.</a:t>
            </a:r>
          </a:p>
        </p:txBody>
      </p:sp>
      <p:sp>
        <p:nvSpPr>
          <p:cNvPr id="4" name="Slide Number Placeholder 3"/>
          <p:cNvSpPr>
            <a:spLocks noGrp="1"/>
          </p:cNvSpPr>
          <p:nvPr>
            <p:ph type="sldNum" sz="quarter" idx="5"/>
          </p:nvPr>
        </p:nvSpPr>
        <p:spPr/>
        <p:txBody>
          <a:bodyPr/>
          <a:lstStyle/>
          <a:p>
            <a:fld id="{99B30722-7DAA-4E93-8206-71F83E275281}" type="slidenum">
              <a:rPr lang="en-US" smtClean="0"/>
              <a:pPr/>
              <a:t>13</a:t>
            </a:fld>
            <a:endParaRPr lang="en-US"/>
          </a:p>
        </p:txBody>
      </p:sp>
    </p:spTree>
    <p:extLst>
      <p:ext uri="{BB962C8B-B14F-4D97-AF65-F5344CB8AC3E}">
        <p14:creationId xmlns:p14="http://schemas.microsoft.com/office/powerpoint/2010/main" val="58700909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22</a:t>
            </a:fld>
            <a:endParaRPr lang="en-US"/>
          </a:p>
        </p:txBody>
      </p:sp>
    </p:spTree>
    <p:extLst>
      <p:ext uri="{BB962C8B-B14F-4D97-AF65-F5344CB8AC3E}">
        <p14:creationId xmlns:p14="http://schemas.microsoft.com/office/powerpoint/2010/main" val="148595889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23</a:t>
            </a:fld>
            <a:endParaRPr lang="en-US"/>
          </a:p>
        </p:txBody>
      </p:sp>
    </p:spTree>
    <p:extLst>
      <p:ext uri="{BB962C8B-B14F-4D97-AF65-F5344CB8AC3E}">
        <p14:creationId xmlns:p14="http://schemas.microsoft.com/office/powerpoint/2010/main" val="782249095"/>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24</a:t>
            </a:fld>
            <a:endParaRPr lang="en-US"/>
          </a:p>
        </p:txBody>
      </p:sp>
    </p:spTree>
    <p:extLst>
      <p:ext uri="{BB962C8B-B14F-4D97-AF65-F5344CB8AC3E}">
        <p14:creationId xmlns:p14="http://schemas.microsoft.com/office/powerpoint/2010/main" val="1544522198"/>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Parallelization lowers the curves. </a:t>
            </a:r>
          </a:p>
          <a:p>
            <a:r>
              <a:rPr lang="en-US" dirty="0"/>
              <a:t>For a fixed code, linear code is no necessarily faster. </a:t>
            </a:r>
          </a:p>
          <a:p>
            <a:r>
              <a:rPr lang="en-US" dirty="0"/>
              <a:t>Important when n is growing</a:t>
            </a:r>
          </a:p>
          <a:p>
            <a:r>
              <a:rPr lang="en-US" dirty="0"/>
              <a:t>Parallelization/ optimization </a:t>
            </a:r>
            <a:r>
              <a:rPr lang="en-US" dirty="0">
                <a:sym typeface="Wingdings" pitchFamily="2" charset="2"/>
              </a:rPr>
              <a:t> you can make the code faster for any fixed N, but the shape (of growth) can never change</a:t>
            </a:r>
            <a:endParaRPr lang="en-US"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25</a:t>
            </a:fld>
            <a:endParaRPr lang="en-US"/>
          </a:p>
        </p:txBody>
      </p:sp>
    </p:spTree>
    <p:extLst>
      <p:ext uri="{BB962C8B-B14F-4D97-AF65-F5344CB8AC3E}">
        <p14:creationId xmlns:p14="http://schemas.microsoft.com/office/powerpoint/2010/main" val="97212743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CH" dirty="0"/>
              <a:t>Note that there may be different implementations of these data structures with different complexities, these are for the Python implementation.</a:t>
            </a:r>
          </a:p>
          <a:p>
            <a:endParaRPr lang="en-CH" dirty="0"/>
          </a:p>
          <a:p>
            <a:r>
              <a:rPr lang="en-CH" dirty="0"/>
              <a:t>E.g., if finding an element in a list is important, one could implement it as two dictionaries, one mapping indices to data, one mapping data to indices. Finding out the complexities of all the operations with this implementation is left as a homework.</a:t>
            </a:r>
          </a:p>
          <a:p>
            <a:endParaRPr lang="en-CH" dirty="0"/>
          </a:p>
        </p:txBody>
      </p:sp>
      <p:sp>
        <p:nvSpPr>
          <p:cNvPr id="4" name="Slide Number Placeholder 3"/>
          <p:cNvSpPr>
            <a:spLocks noGrp="1"/>
          </p:cNvSpPr>
          <p:nvPr>
            <p:ph type="sldNum" sz="quarter" idx="5"/>
          </p:nvPr>
        </p:nvSpPr>
        <p:spPr/>
        <p:txBody>
          <a:bodyPr/>
          <a:lstStyle/>
          <a:p>
            <a:fld id="{99B30722-7DAA-4E93-8206-71F83E275281}" type="slidenum">
              <a:rPr lang="en-US" smtClean="0"/>
              <a:pPr/>
              <a:t>27</a:t>
            </a:fld>
            <a:endParaRPr lang="en-US"/>
          </a:p>
        </p:txBody>
      </p:sp>
    </p:spTree>
    <p:extLst>
      <p:ext uri="{BB962C8B-B14F-4D97-AF65-F5344CB8AC3E}">
        <p14:creationId xmlns:p14="http://schemas.microsoft.com/office/powerpoint/2010/main" val="388296272"/>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6B8E0D4-3906-5E84-9A66-DB37BEBD61AA}"/>
              </a:ext>
            </a:extLst>
          </p:cNvPr>
          <p:cNvSpPr>
            <a:spLocks noGrp="1"/>
          </p:cNvSpPr>
          <p:nvPr>
            <p:ph type="ctrTitle"/>
          </p:nvPr>
        </p:nvSpPr>
        <p:spPr>
          <a:xfrm>
            <a:off x="1524000" y="1122363"/>
            <a:ext cx="9144000" cy="2387600"/>
          </a:xfrm>
        </p:spPr>
        <p:txBody>
          <a:bodyPr anchor="b"/>
          <a:lstStyle>
            <a:lvl1pPr algn="ctr">
              <a:defRPr sz="6000"/>
            </a:lvl1pPr>
          </a:lstStyle>
          <a:p>
            <a:r>
              <a:rPr lang="en-US"/>
              <a:t>Click to edit Master title style</a:t>
            </a:r>
            <a:endParaRPr lang="en-CH"/>
          </a:p>
        </p:txBody>
      </p:sp>
      <p:sp>
        <p:nvSpPr>
          <p:cNvPr id="3" name="Subtitle 2">
            <a:extLst>
              <a:ext uri="{FF2B5EF4-FFF2-40B4-BE49-F238E27FC236}">
                <a16:creationId xmlns:a16="http://schemas.microsoft.com/office/drawing/2014/main" id="{C777B22A-8A05-AD52-8CD6-5F2450701FEA}"/>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en-US"/>
              <a:t>Click to edit Master subtitle style</a:t>
            </a:r>
            <a:endParaRPr lang="en-CH"/>
          </a:p>
        </p:txBody>
      </p:sp>
      <p:sp>
        <p:nvSpPr>
          <p:cNvPr id="4" name="Date Placeholder 3">
            <a:extLst>
              <a:ext uri="{FF2B5EF4-FFF2-40B4-BE49-F238E27FC236}">
                <a16:creationId xmlns:a16="http://schemas.microsoft.com/office/drawing/2014/main" id="{694885C7-A8EA-280C-CFBA-89A4A205E2F5}"/>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647C72EE-FDE1-C1F3-4957-207508BA3B3E}"/>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67DDE409-FF3D-5A1F-DCB8-2A1521C622F8}"/>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874263860"/>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743B289-AB40-9846-F843-B96332043E98}"/>
              </a:ext>
            </a:extLst>
          </p:cNvPr>
          <p:cNvSpPr>
            <a:spLocks noGrp="1"/>
          </p:cNvSpPr>
          <p:nvPr>
            <p:ph type="title"/>
          </p:nvPr>
        </p:nvSpPr>
        <p:spPr>
          <a:xfrm>
            <a:off x="407368" y="229219"/>
            <a:ext cx="11377264" cy="903635"/>
          </a:xfrm>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7A32DB23-192C-438B-D8F3-D8A1D25927A1}"/>
              </a:ext>
            </a:extLst>
          </p:cNvPr>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86B6A9C4-05FD-10D3-FE4B-76DC2AFFDAC6}"/>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6606A97E-49EC-5507-F31A-8468F501929B}"/>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A6260223-066B-A525-B45F-4A4427D4F4C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473253854"/>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11291EF-8D9D-352A-F2A6-BD2861237B46}"/>
              </a:ext>
            </a:extLst>
          </p:cNvPr>
          <p:cNvSpPr>
            <a:spLocks noGrp="1"/>
          </p:cNvSpPr>
          <p:nvPr>
            <p:ph type="title"/>
          </p:nvPr>
        </p:nvSpPr>
        <p:spPr>
          <a:xfrm>
            <a:off x="831850" y="1709738"/>
            <a:ext cx="10515600" cy="2852737"/>
          </a:xfrm>
        </p:spPr>
        <p:txBody>
          <a:bodyPr anchor="b"/>
          <a:lstStyle>
            <a:lvl1pPr>
              <a:defRPr sz="6000"/>
            </a:lvl1pPr>
          </a:lstStyle>
          <a:p>
            <a:r>
              <a:rPr lang="en-US"/>
              <a:t>Click to edit Master title style</a:t>
            </a:r>
            <a:endParaRPr lang="en-CH"/>
          </a:p>
        </p:txBody>
      </p:sp>
      <p:sp>
        <p:nvSpPr>
          <p:cNvPr id="3" name="Text Placeholder 2">
            <a:extLst>
              <a:ext uri="{FF2B5EF4-FFF2-40B4-BE49-F238E27FC236}">
                <a16:creationId xmlns:a16="http://schemas.microsoft.com/office/drawing/2014/main" id="{D4076055-D9A9-9CE9-1AA6-7B4562B1A7BC}"/>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en-US"/>
              <a:t>Click to edit Master text styles</a:t>
            </a:r>
          </a:p>
        </p:txBody>
      </p:sp>
      <p:sp>
        <p:nvSpPr>
          <p:cNvPr id="4" name="Date Placeholder 3">
            <a:extLst>
              <a:ext uri="{FF2B5EF4-FFF2-40B4-BE49-F238E27FC236}">
                <a16:creationId xmlns:a16="http://schemas.microsoft.com/office/drawing/2014/main" id="{11D27972-6FA4-CF11-473A-DD997E31BDCD}"/>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78A8CE54-DDB9-AF26-27D0-3987F176487A}"/>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87F0F92-78DB-2A78-9A43-9F2F501A3448}"/>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990629600"/>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6A86131E-9D33-D5F2-A451-A9FAA49A46A2}"/>
              </a:ext>
            </a:extLst>
          </p:cNvPr>
          <p:cNvSpPr>
            <a:spLocks noGrp="1"/>
          </p:cNvSpPr>
          <p:nvPr>
            <p:ph type="title"/>
          </p:nvPr>
        </p:nvSpPr>
        <p:spPr/>
        <p:txBody>
          <a:bodyPr/>
          <a:lstStyle/>
          <a:p>
            <a:r>
              <a:rPr lang="en-US"/>
              <a:t>Click to edit Master title style</a:t>
            </a:r>
            <a:endParaRPr lang="en-CH"/>
          </a:p>
        </p:txBody>
      </p:sp>
      <p:sp>
        <p:nvSpPr>
          <p:cNvPr id="3" name="Content Placeholder 2">
            <a:extLst>
              <a:ext uri="{FF2B5EF4-FFF2-40B4-BE49-F238E27FC236}">
                <a16:creationId xmlns:a16="http://schemas.microsoft.com/office/drawing/2014/main" id="{E0D2941E-A496-3834-EA97-689CF2086473}"/>
              </a:ext>
            </a:extLst>
          </p:cNvPr>
          <p:cNvSpPr>
            <a:spLocks noGrp="1"/>
          </p:cNvSpPr>
          <p:nvPr>
            <p:ph sz="half" idx="1"/>
          </p:nvPr>
        </p:nvSpPr>
        <p:spPr>
          <a:xfrm>
            <a:off x="838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Content Placeholder 3">
            <a:extLst>
              <a:ext uri="{FF2B5EF4-FFF2-40B4-BE49-F238E27FC236}">
                <a16:creationId xmlns:a16="http://schemas.microsoft.com/office/drawing/2014/main" id="{B30604C0-AB24-E0A9-4DDF-255BC4244A5B}"/>
              </a:ext>
            </a:extLst>
          </p:cNvPr>
          <p:cNvSpPr>
            <a:spLocks noGrp="1"/>
          </p:cNvSpPr>
          <p:nvPr>
            <p:ph sz="half" idx="2"/>
          </p:nvPr>
        </p:nvSpPr>
        <p:spPr>
          <a:xfrm>
            <a:off x="6172200" y="1825625"/>
            <a:ext cx="5181600" cy="435133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Date Placeholder 4">
            <a:extLst>
              <a:ext uri="{FF2B5EF4-FFF2-40B4-BE49-F238E27FC236}">
                <a16:creationId xmlns:a16="http://schemas.microsoft.com/office/drawing/2014/main" id="{59A237F5-1F8D-43F2-27CB-3E0D305071FF}"/>
              </a:ext>
            </a:extLst>
          </p:cNvPr>
          <p:cNvSpPr>
            <a:spLocks noGrp="1"/>
          </p:cNvSpPr>
          <p:nvPr>
            <p:ph type="dt" sz="half" idx="10"/>
          </p:nvPr>
        </p:nvSpPr>
        <p:spPr/>
        <p:txBody>
          <a:bodyPr/>
          <a:lstStyle/>
          <a:p>
            <a:r>
              <a:rPr lang="de-CH"/>
              <a:t>August 2026, CC BY-SA 4.0</a:t>
            </a:r>
            <a:endParaRPr lang="en-US"/>
          </a:p>
        </p:txBody>
      </p:sp>
      <p:sp>
        <p:nvSpPr>
          <p:cNvPr id="6" name="Footer Placeholder 5">
            <a:extLst>
              <a:ext uri="{FF2B5EF4-FFF2-40B4-BE49-F238E27FC236}">
                <a16:creationId xmlns:a16="http://schemas.microsoft.com/office/drawing/2014/main" id="{84262D06-9CA1-5B96-505F-4EC2B7478141}"/>
              </a:ext>
            </a:extLst>
          </p:cNvPr>
          <p:cNvSpPr>
            <a:spLocks noGrp="1"/>
          </p:cNvSpPr>
          <p:nvPr>
            <p:ph type="ftr" sz="quarter" idx="11"/>
          </p:nvPr>
        </p:nvSpPr>
        <p:spPr/>
        <p:txBody>
          <a:bodyPr/>
          <a:lstStyle/>
          <a:p>
            <a:r>
              <a:rPr lang="en-US"/>
              <a:t>Data, v4.0</a:t>
            </a:r>
          </a:p>
        </p:txBody>
      </p:sp>
      <p:sp>
        <p:nvSpPr>
          <p:cNvPr id="7" name="Slide Number Placeholder 6">
            <a:extLst>
              <a:ext uri="{FF2B5EF4-FFF2-40B4-BE49-F238E27FC236}">
                <a16:creationId xmlns:a16="http://schemas.microsoft.com/office/drawing/2014/main" id="{B9E361F3-6C74-C343-9F66-2607C7CD6210}"/>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073330752"/>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CE2A5BB-68A9-92ED-B0E4-AD639F117ECF}"/>
              </a:ext>
            </a:extLst>
          </p:cNvPr>
          <p:cNvSpPr>
            <a:spLocks noGrp="1"/>
          </p:cNvSpPr>
          <p:nvPr>
            <p:ph type="title"/>
          </p:nvPr>
        </p:nvSpPr>
        <p:spPr>
          <a:xfrm>
            <a:off x="839788" y="365125"/>
            <a:ext cx="10515600" cy="1325563"/>
          </a:xfrm>
        </p:spPr>
        <p:txBody>
          <a:bodyPr/>
          <a:lstStyle/>
          <a:p>
            <a:r>
              <a:rPr lang="en-US"/>
              <a:t>Click to edit Master title style</a:t>
            </a:r>
            <a:endParaRPr lang="en-CH"/>
          </a:p>
        </p:txBody>
      </p:sp>
      <p:sp>
        <p:nvSpPr>
          <p:cNvPr id="3" name="Text Placeholder 2">
            <a:extLst>
              <a:ext uri="{FF2B5EF4-FFF2-40B4-BE49-F238E27FC236}">
                <a16:creationId xmlns:a16="http://schemas.microsoft.com/office/drawing/2014/main" id="{00859D9A-BCC6-4F00-12E7-FC7B981692E9}"/>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4" name="Content Placeholder 3">
            <a:extLst>
              <a:ext uri="{FF2B5EF4-FFF2-40B4-BE49-F238E27FC236}">
                <a16:creationId xmlns:a16="http://schemas.microsoft.com/office/drawing/2014/main" id="{F90AE4DE-A60C-1E47-B575-073B1493F0FF}"/>
              </a:ext>
            </a:extLst>
          </p:cNvPr>
          <p:cNvSpPr>
            <a:spLocks noGrp="1"/>
          </p:cNvSpPr>
          <p:nvPr>
            <p:ph sz="half" idx="2"/>
          </p:nvPr>
        </p:nvSpPr>
        <p:spPr>
          <a:xfrm>
            <a:off x="839788" y="2505075"/>
            <a:ext cx="5157787"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5" name="Text Placeholder 4">
            <a:extLst>
              <a:ext uri="{FF2B5EF4-FFF2-40B4-BE49-F238E27FC236}">
                <a16:creationId xmlns:a16="http://schemas.microsoft.com/office/drawing/2014/main" id="{3FC32752-23D6-3CDD-042B-A0DA0A60B9B4}"/>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a:t>Click to edit Master text styles</a:t>
            </a:r>
          </a:p>
        </p:txBody>
      </p:sp>
      <p:sp>
        <p:nvSpPr>
          <p:cNvPr id="6" name="Content Placeholder 5">
            <a:extLst>
              <a:ext uri="{FF2B5EF4-FFF2-40B4-BE49-F238E27FC236}">
                <a16:creationId xmlns:a16="http://schemas.microsoft.com/office/drawing/2014/main" id="{204EF0C3-AE4A-AC37-F13D-6EA3B422D69A}"/>
              </a:ext>
            </a:extLst>
          </p:cNvPr>
          <p:cNvSpPr>
            <a:spLocks noGrp="1"/>
          </p:cNvSpPr>
          <p:nvPr>
            <p:ph sz="quarter" idx="4"/>
          </p:nvPr>
        </p:nvSpPr>
        <p:spPr>
          <a:xfrm>
            <a:off x="6172200" y="2505075"/>
            <a:ext cx="5183188" cy="3684588"/>
          </a:xfrm>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7" name="Date Placeholder 6">
            <a:extLst>
              <a:ext uri="{FF2B5EF4-FFF2-40B4-BE49-F238E27FC236}">
                <a16:creationId xmlns:a16="http://schemas.microsoft.com/office/drawing/2014/main" id="{904ED2CC-8C47-56B3-0219-30A82DB48EAB}"/>
              </a:ext>
            </a:extLst>
          </p:cNvPr>
          <p:cNvSpPr>
            <a:spLocks noGrp="1"/>
          </p:cNvSpPr>
          <p:nvPr>
            <p:ph type="dt" sz="half" idx="10"/>
          </p:nvPr>
        </p:nvSpPr>
        <p:spPr/>
        <p:txBody>
          <a:bodyPr/>
          <a:lstStyle/>
          <a:p>
            <a:r>
              <a:rPr lang="de-CH"/>
              <a:t>August 2026, CC BY-SA 4.0</a:t>
            </a:r>
            <a:endParaRPr lang="en-US"/>
          </a:p>
        </p:txBody>
      </p:sp>
      <p:sp>
        <p:nvSpPr>
          <p:cNvPr id="8" name="Footer Placeholder 7">
            <a:extLst>
              <a:ext uri="{FF2B5EF4-FFF2-40B4-BE49-F238E27FC236}">
                <a16:creationId xmlns:a16="http://schemas.microsoft.com/office/drawing/2014/main" id="{F6E62C63-AE32-D166-FDFA-942C7FAB4E9D}"/>
              </a:ext>
            </a:extLst>
          </p:cNvPr>
          <p:cNvSpPr>
            <a:spLocks noGrp="1"/>
          </p:cNvSpPr>
          <p:nvPr>
            <p:ph type="ftr" sz="quarter" idx="11"/>
          </p:nvPr>
        </p:nvSpPr>
        <p:spPr/>
        <p:txBody>
          <a:bodyPr/>
          <a:lstStyle/>
          <a:p>
            <a:r>
              <a:rPr lang="en-US"/>
              <a:t>Data, v4.0</a:t>
            </a:r>
          </a:p>
        </p:txBody>
      </p:sp>
      <p:sp>
        <p:nvSpPr>
          <p:cNvPr id="9" name="Slide Number Placeholder 8">
            <a:extLst>
              <a:ext uri="{FF2B5EF4-FFF2-40B4-BE49-F238E27FC236}">
                <a16:creationId xmlns:a16="http://schemas.microsoft.com/office/drawing/2014/main" id="{497C64B2-A0A4-B777-5580-EB5CAFB9084F}"/>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74140270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DD6E62AF-FB55-10D2-20BC-6ED7F2F39626}"/>
              </a:ext>
            </a:extLst>
          </p:cNvPr>
          <p:cNvSpPr>
            <a:spLocks noGrp="1"/>
          </p:cNvSpPr>
          <p:nvPr>
            <p:ph type="title"/>
          </p:nvPr>
        </p:nvSpPr>
        <p:spPr/>
        <p:txBody>
          <a:bodyPr/>
          <a:lstStyle/>
          <a:p>
            <a:r>
              <a:rPr lang="en-US"/>
              <a:t>Click to edit Master title style</a:t>
            </a:r>
            <a:endParaRPr lang="en-CH"/>
          </a:p>
        </p:txBody>
      </p:sp>
      <p:sp>
        <p:nvSpPr>
          <p:cNvPr id="3" name="Date Placeholder 2">
            <a:extLst>
              <a:ext uri="{FF2B5EF4-FFF2-40B4-BE49-F238E27FC236}">
                <a16:creationId xmlns:a16="http://schemas.microsoft.com/office/drawing/2014/main" id="{A2077EB3-EC84-48C9-39A4-AE836F3AA333}"/>
              </a:ext>
            </a:extLst>
          </p:cNvPr>
          <p:cNvSpPr>
            <a:spLocks noGrp="1"/>
          </p:cNvSpPr>
          <p:nvPr>
            <p:ph type="dt" sz="half" idx="10"/>
          </p:nvPr>
        </p:nvSpPr>
        <p:spPr/>
        <p:txBody>
          <a:bodyPr/>
          <a:lstStyle/>
          <a:p>
            <a:r>
              <a:rPr lang="de-CH"/>
              <a:t>August 2026, CC BY-SA 4.0</a:t>
            </a:r>
            <a:endParaRPr lang="en-US"/>
          </a:p>
        </p:txBody>
      </p:sp>
      <p:sp>
        <p:nvSpPr>
          <p:cNvPr id="4" name="Footer Placeholder 3">
            <a:extLst>
              <a:ext uri="{FF2B5EF4-FFF2-40B4-BE49-F238E27FC236}">
                <a16:creationId xmlns:a16="http://schemas.microsoft.com/office/drawing/2014/main" id="{CF7C5FB1-8638-CA18-69ED-E51801C8F020}"/>
              </a:ext>
            </a:extLst>
          </p:cNvPr>
          <p:cNvSpPr>
            <a:spLocks noGrp="1"/>
          </p:cNvSpPr>
          <p:nvPr>
            <p:ph type="ftr" sz="quarter" idx="11"/>
          </p:nvPr>
        </p:nvSpPr>
        <p:spPr/>
        <p:txBody>
          <a:bodyPr/>
          <a:lstStyle/>
          <a:p>
            <a:r>
              <a:rPr lang="en-US"/>
              <a:t>Data, v4.0</a:t>
            </a:r>
          </a:p>
        </p:txBody>
      </p:sp>
      <p:sp>
        <p:nvSpPr>
          <p:cNvPr id="5" name="Slide Number Placeholder 4">
            <a:extLst>
              <a:ext uri="{FF2B5EF4-FFF2-40B4-BE49-F238E27FC236}">
                <a16:creationId xmlns:a16="http://schemas.microsoft.com/office/drawing/2014/main" id="{B51BA662-99E8-5C9E-0EE1-72A62BD388C2}"/>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144003549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a:extLst>
              <a:ext uri="{FF2B5EF4-FFF2-40B4-BE49-F238E27FC236}">
                <a16:creationId xmlns:a16="http://schemas.microsoft.com/office/drawing/2014/main" id="{1F3510B7-9A36-B2EE-F43B-2E6DADD6EC51}"/>
              </a:ext>
            </a:extLst>
          </p:cNvPr>
          <p:cNvSpPr>
            <a:spLocks noGrp="1"/>
          </p:cNvSpPr>
          <p:nvPr>
            <p:ph type="dt" sz="half" idx="10"/>
          </p:nvPr>
        </p:nvSpPr>
        <p:spPr/>
        <p:txBody>
          <a:bodyPr/>
          <a:lstStyle/>
          <a:p>
            <a:r>
              <a:rPr lang="de-CH"/>
              <a:t>August 2026, CC BY-SA 4.0</a:t>
            </a:r>
            <a:endParaRPr lang="en-US"/>
          </a:p>
        </p:txBody>
      </p:sp>
      <p:sp>
        <p:nvSpPr>
          <p:cNvPr id="3" name="Footer Placeholder 2">
            <a:extLst>
              <a:ext uri="{FF2B5EF4-FFF2-40B4-BE49-F238E27FC236}">
                <a16:creationId xmlns:a16="http://schemas.microsoft.com/office/drawing/2014/main" id="{DD03A99F-D0DE-3DFF-8075-E31B20756147}"/>
              </a:ext>
            </a:extLst>
          </p:cNvPr>
          <p:cNvSpPr>
            <a:spLocks noGrp="1"/>
          </p:cNvSpPr>
          <p:nvPr>
            <p:ph type="ftr" sz="quarter" idx="11"/>
          </p:nvPr>
        </p:nvSpPr>
        <p:spPr/>
        <p:txBody>
          <a:bodyPr/>
          <a:lstStyle/>
          <a:p>
            <a:r>
              <a:rPr lang="en-US"/>
              <a:t>Data, v4.0</a:t>
            </a:r>
          </a:p>
        </p:txBody>
      </p:sp>
      <p:sp>
        <p:nvSpPr>
          <p:cNvPr id="4" name="Slide Number Placeholder 3">
            <a:extLst>
              <a:ext uri="{FF2B5EF4-FFF2-40B4-BE49-F238E27FC236}">
                <a16:creationId xmlns:a16="http://schemas.microsoft.com/office/drawing/2014/main" id="{37F04033-CFD7-5273-4BFF-CFEA173C4F6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4178493996"/>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A252616-2FB4-0349-153A-78EC93B3177F}"/>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Content Placeholder 2">
            <a:extLst>
              <a:ext uri="{FF2B5EF4-FFF2-40B4-BE49-F238E27FC236}">
                <a16:creationId xmlns:a16="http://schemas.microsoft.com/office/drawing/2014/main" id="{1979301E-B075-A49D-41D1-7B2E7866DD13}"/>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Text Placeholder 3">
            <a:extLst>
              <a:ext uri="{FF2B5EF4-FFF2-40B4-BE49-F238E27FC236}">
                <a16:creationId xmlns:a16="http://schemas.microsoft.com/office/drawing/2014/main" id="{834903C4-83F2-7123-E293-EC7B61AF6A64}"/>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FD93B7A2-3957-6F98-E6EB-6478DC36FE31}"/>
              </a:ext>
            </a:extLst>
          </p:cNvPr>
          <p:cNvSpPr>
            <a:spLocks noGrp="1"/>
          </p:cNvSpPr>
          <p:nvPr>
            <p:ph type="dt" sz="half" idx="10"/>
          </p:nvPr>
        </p:nvSpPr>
        <p:spPr/>
        <p:txBody>
          <a:bodyPr/>
          <a:lstStyle/>
          <a:p>
            <a:r>
              <a:rPr lang="de-CH"/>
              <a:t>August 2026, CC BY-SA 4.0</a:t>
            </a:r>
            <a:endParaRPr lang="en-US"/>
          </a:p>
        </p:txBody>
      </p:sp>
      <p:sp>
        <p:nvSpPr>
          <p:cNvPr id="6" name="Footer Placeholder 5">
            <a:extLst>
              <a:ext uri="{FF2B5EF4-FFF2-40B4-BE49-F238E27FC236}">
                <a16:creationId xmlns:a16="http://schemas.microsoft.com/office/drawing/2014/main" id="{ED9AA7F2-AE66-8BB8-9043-2077AF0F6233}"/>
              </a:ext>
            </a:extLst>
          </p:cNvPr>
          <p:cNvSpPr>
            <a:spLocks noGrp="1"/>
          </p:cNvSpPr>
          <p:nvPr>
            <p:ph type="ftr" sz="quarter" idx="11"/>
          </p:nvPr>
        </p:nvSpPr>
        <p:spPr/>
        <p:txBody>
          <a:bodyPr/>
          <a:lstStyle/>
          <a:p>
            <a:r>
              <a:rPr lang="en-US"/>
              <a:t>Data, v4.0</a:t>
            </a:r>
          </a:p>
        </p:txBody>
      </p:sp>
      <p:sp>
        <p:nvSpPr>
          <p:cNvPr id="7" name="Slide Number Placeholder 6">
            <a:extLst>
              <a:ext uri="{FF2B5EF4-FFF2-40B4-BE49-F238E27FC236}">
                <a16:creationId xmlns:a16="http://schemas.microsoft.com/office/drawing/2014/main" id="{E8142501-2BAE-5ADC-8E80-79889635B3A5}"/>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19678264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40E30D7-5025-56CE-7573-AB28A2D31EE2}"/>
              </a:ext>
            </a:extLst>
          </p:cNvPr>
          <p:cNvSpPr>
            <a:spLocks noGrp="1"/>
          </p:cNvSpPr>
          <p:nvPr>
            <p:ph type="title"/>
          </p:nvPr>
        </p:nvSpPr>
        <p:spPr>
          <a:xfrm>
            <a:off x="839788" y="457200"/>
            <a:ext cx="3932237" cy="1600200"/>
          </a:xfrm>
        </p:spPr>
        <p:txBody>
          <a:bodyPr anchor="b"/>
          <a:lstStyle>
            <a:lvl1pPr>
              <a:defRPr sz="3200"/>
            </a:lvl1pPr>
          </a:lstStyle>
          <a:p>
            <a:r>
              <a:rPr lang="en-US"/>
              <a:t>Click to edit Master title style</a:t>
            </a:r>
            <a:endParaRPr lang="en-CH"/>
          </a:p>
        </p:txBody>
      </p:sp>
      <p:sp>
        <p:nvSpPr>
          <p:cNvPr id="3" name="Picture Placeholder 2">
            <a:extLst>
              <a:ext uri="{FF2B5EF4-FFF2-40B4-BE49-F238E27FC236}">
                <a16:creationId xmlns:a16="http://schemas.microsoft.com/office/drawing/2014/main" id="{4375BA7C-0CB7-CD9E-9918-BBB143F0476E}"/>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CH"/>
          </a:p>
        </p:txBody>
      </p:sp>
      <p:sp>
        <p:nvSpPr>
          <p:cNvPr id="4" name="Text Placeholder 3">
            <a:extLst>
              <a:ext uri="{FF2B5EF4-FFF2-40B4-BE49-F238E27FC236}">
                <a16:creationId xmlns:a16="http://schemas.microsoft.com/office/drawing/2014/main" id="{FD86F301-A243-6206-7894-FDA327B67E9F}"/>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en-US"/>
              <a:t>Click to edit Master text styles</a:t>
            </a:r>
          </a:p>
        </p:txBody>
      </p:sp>
      <p:sp>
        <p:nvSpPr>
          <p:cNvPr id="5" name="Date Placeholder 4">
            <a:extLst>
              <a:ext uri="{FF2B5EF4-FFF2-40B4-BE49-F238E27FC236}">
                <a16:creationId xmlns:a16="http://schemas.microsoft.com/office/drawing/2014/main" id="{88C103FE-41C2-E0C4-9695-65B1712293BF}"/>
              </a:ext>
            </a:extLst>
          </p:cNvPr>
          <p:cNvSpPr>
            <a:spLocks noGrp="1"/>
          </p:cNvSpPr>
          <p:nvPr>
            <p:ph type="dt" sz="half" idx="10"/>
          </p:nvPr>
        </p:nvSpPr>
        <p:spPr/>
        <p:txBody>
          <a:bodyPr/>
          <a:lstStyle/>
          <a:p>
            <a:r>
              <a:rPr lang="de-CH"/>
              <a:t>August 2026, CC BY-SA 4.0</a:t>
            </a:r>
            <a:endParaRPr lang="en-US"/>
          </a:p>
        </p:txBody>
      </p:sp>
      <p:sp>
        <p:nvSpPr>
          <p:cNvPr id="6" name="Footer Placeholder 5">
            <a:extLst>
              <a:ext uri="{FF2B5EF4-FFF2-40B4-BE49-F238E27FC236}">
                <a16:creationId xmlns:a16="http://schemas.microsoft.com/office/drawing/2014/main" id="{D63BF643-E0F9-EDBB-B372-4995A01384DC}"/>
              </a:ext>
            </a:extLst>
          </p:cNvPr>
          <p:cNvSpPr>
            <a:spLocks noGrp="1"/>
          </p:cNvSpPr>
          <p:nvPr>
            <p:ph type="ftr" sz="quarter" idx="11"/>
          </p:nvPr>
        </p:nvSpPr>
        <p:spPr/>
        <p:txBody>
          <a:bodyPr/>
          <a:lstStyle/>
          <a:p>
            <a:r>
              <a:rPr lang="en-US"/>
              <a:t>Data, v4.0</a:t>
            </a:r>
          </a:p>
        </p:txBody>
      </p:sp>
      <p:sp>
        <p:nvSpPr>
          <p:cNvPr id="7" name="Slide Number Placeholder 6">
            <a:extLst>
              <a:ext uri="{FF2B5EF4-FFF2-40B4-BE49-F238E27FC236}">
                <a16:creationId xmlns:a16="http://schemas.microsoft.com/office/drawing/2014/main" id="{3DB6E0D1-EBAD-C691-0DD4-170EF4A8DC33}"/>
              </a:ext>
            </a:extLst>
          </p:cNvPr>
          <p:cNvSpPr>
            <a:spLocks noGrp="1"/>
          </p:cNvSpPr>
          <p:nvPr>
            <p:ph type="sldNum" sz="quarter" idx="12"/>
          </p:nvPr>
        </p:nvSpPr>
        <p:spPr/>
        <p:txBody>
          <a:bodyPr/>
          <a:lstStyle/>
          <a:p>
            <a:fld id="{231AB8C0-1AFE-4AD2-A399-FC2954A1949B}" type="slidenum">
              <a:rPr lang="en-US" smtClean="0"/>
              <a:pPr/>
              <a:t>‹#›</a:t>
            </a:fld>
            <a:endParaRPr lang="en-US"/>
          </a:p>
        </p:txBody>
      </p:sp>
    </p:spTree>
    <p:extLst>
      <p:ext uri="{BB962C8B-B14F-4D97-AF65-F5344CB8AC3E}">
        <p14:creationId xmlns:p14="http://schemas.microsoft.com/office/powerpoint/2010/main" val="2836517210"/>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1A37998-4DFB-949C-9946-44ABA06DA356}"/>
              </a:ext>
            </a:extLst>
          </p:cNvPr>
          <p:cNvSpPr>
            <a:spLocks noGrp="1"/>
          </p:cNvSpPr>
          <p:nvPr>
            <p:ph type="title"/>
          </p:nvPr>
        </p:nvSpPr>
        <p:spPr/>
        <p:txBody>
          <a:bodyPr/>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90AF8318-8086-2300-EBA3-6BD9655BE5CB}"/>
              </a:ext>
            </a:extLst>
          </p:cNvPr>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61543218-1C1C-8ECD-A72E-EED3A3D75E02}"/>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B6338D7D-503F-65D1-2659-739E6A188D81}"/>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77739E4B-F73D-F0A8-9E9B-E60A9F31EDDB}"/>
              </a:ext>
            </a:extLst>
          </p:cNvPr>
          <p:cNvSpPr>
            <a:spLocks noGrp="1"/>
          </p:cNvSpPr>
          <p:nvPr>
            <p:ph type="sldNum" sz="quarter" idx="12"/>
          </p:nvPr>
        </p:nvSpPr>
        <p:spPr/>
        <p:txBody>
          <a:bodyPr/>
          <a:lstStyle/>
          <a:p>
            <a:fld id="{FF05A131-7E6B-4BFA-A2D4-3B708019D05F}" type="slidenum">
              <a:rPr lang="en-US" smtClean="0"/>
              <a:pPr/>
              <a:t>‹#›</a:t>
            </a:fld>
            <a:endParaRPr lang="en-US"/>
          </a:p>
        </p:txBody>
      </p:sp>
    </p:spTree>
    <p:extLst>
      <p:ext uri="{BB962C8B-B14F-4D97-AF65-F5344CB8AC3E}">
        <p14:creationId xmlns:p14="http://schemas.microsoft.com/office/powerpoint/2010/main" val="46532009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a:extLst>
              <a:ext uri="{FF2B5EF4-FFF2-40B4-BE49-F238E27FC236}">
                <a16:creationId xmlns:a16="http://schemas.microsoft.com/office/drawing/2014/main" id="{D6320345-524B-8751-BCE7-58AFCFD2B7EA}"/>
              </a:ext>
            </a:extLst>
          </p:cNvPr>
          <p:cNvSpPr>
            <a:spLocks noGrp="1"/>
          </p:cNvSpPr>
          <p:nvPr>
            <p:ph type="title" orient="vert"/>
          </p:nvPr>
        </p:nvSpPr>
        <p:spPr>
          <a:xfrm>
            <a:off x="8724900" y="365125"/>
            <a:ext cx="2628900" cy="5811838"/>
          </a:xfrm>
        </p:spPr>
        <p:txBody>
          <a:bodyPr vert="eaVert"/>
          <a:lstStyle/>
          <a:p>
            <a:r>
              <a:rPr lang="en-US"/>
              <a:t>Click to edit Master title style</a:t>
            </a:r>
            <a:endParaRPr lang="en-CH"/>
          </a:p>
        </p:txBody>
      </p:sp>
      <p:sp>
        <p:nvSpPr>
          <p:cNvPr id="3" name="Vertical Text Placeholder 2">
            <a:extLst>
              <a:ext uri="{FF2B5EF4-FFF2-40B4-BE49-F238E27FC236}">
                <a16:creationId xmlns:a16="http://schemas.microsoft.com/office/drawing/2014/main" id="{1847C1A7-E700-E428-197C-BDCDADD7C3BB}"/>
              </a:ext>
            </a:extLst>
          </p:cNvPr>
          <p:cNvSpPr>
            <a:spLocks noGrp="1"/>
          </p:cNvSpPr>
          <p:nvPr>
            <p:ph type="body" orient="vert" idx="1"/>
          </p:nvPr>
        </p:nvSpPr>
        <p:spPr>
          <a:xfrm>
            <a:off x="838200" y="365125"/>
            <a:ext cx="7734300" cy="5811838"/>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E40B8320-916C-734C-F2BE-F0C29D855489}"/>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9D6AD22D-995A-2177-AEFB-2B97C7188C40}"/>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EA7E489E-1D46-1DD9-1A3C-47EC27CC7221}"/>
              </a:ext>
            </a:extLst>
          </p:cNvPr>
          <p:cNvSpPr>
            <a:spLocks noGrp="1"/>
          </p:cNvSpPr>
          <p:nvPr>
            <p:ph type="sldNum" sz="quarter" idx="12"/>
          </p:nvPr>
        </p:nvSpPr>
        <p:spPr/>
        <p:txBody>
          <a:bodyPr/>
          <a:lstStyle/>
          <a:p>
            <a:fld id="{EF79ADEA-B933-47CC-A4E9-04E6298B917C}" type="slidenum">
              <a:rPr lang="en-US" smtClean="0"/>
              <a:pPr/>
              <a:t>‹#›</a:t>
            </a:fld>
            <a:endParaRPr lang="en-US"/>
          </a:p>
        </p:txBody>
      </p:sp>
    </p:spTree>
    <p:extLst>
      <p:ext uri="{BB962C8B-B14F-4D97-AF65-F5344CB8AC3E}">
        <p14:creationId xmlns:p14="http://schemas.microsoft.com/office/powerpoint/2010/main" val="2327080349"/>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a:extLst>
              <a:ext uri="{FF2B5EF4-FFF2-40B4-BE49-F238E27FC236}">
                <a16:creationId xmlns:a16="http://schemas.microsoft.com/office/drawing/2014/main" id="{46F4ECE4-3DA8-E41F-11D2-43FCEDC7CEA5}"/>
              </a:ext>
            </a:extLst>
          </p:cNvPr>
          <p:cNvSpPr>
            <a:spLocks noGrp="1"/>
          </p:cNvSpPr>
          <p:nvPr>
            <p:ph type="title"/>
          </p:nvPr>
        </p:nvSpPr>
        <p:spPr>
          <a:xfrm>
            <a:off x="407368" y="229219"/>
            <a:ext cx="11305256" cy="903635"/>
          </a:xfrm>
          <a:prstGeom prst="rect">
            <a:avLst/>
          </a:prstGeom>
        </p:spPr>
        <p:txBody>
          <a:bodyPr vert="horz" lIns="91440" tIns="45720" rIns="91440" bIns="45720" rtlCol="0" anchor="ctr">
            <a:normAutofit/>
          </a:bodyPr>
          <a:lstStyle/>
          <a:p>
            <a:r>
              <a:rPr lang="en-US"/>
              <a:t>Click to edit Master title style</a:t>
            </a:r>
            <a:endParaRPr lang="en-CH"/>
          </a:p>
        </p:txBody>
      </p:sp>
      <p:sp>
        <p:nvSpPr>
          <p:cNvPr id="3" name="Text Placeholder 2">
            <a:extLst>
              <a:ext uri="{FF2B5EF4-FFF2-40B4-BE49-F238E27FC236}">
                <a16:creationId xmlns:a16="http://schemas.microsoft.com/office/drawing/2014/main" id="{D5A1490D-9724-58BB-AD71-515B6AB11E50}"/>
              </a:ext>
            </a:extLst>
          </p:cNvPr>
          <p:cNvSpPr>
            <a:spLocks noGrp="1"/>
          </p:cNvSpPr>
          <p:nvPr>
            <p:ph type="body" idx="1"/>
          </p:nvPr>
        </p:nvSpPr>
        <p:spPr>
          <a:xfrm>
            <a:off x="838200" y="1484784"/>
            <a:ext cx="10515600" cy="4692179"/>
          </a:xfrm>
          <a:prstGeom prst="rect">
            <a:avLst/>
          </a:prstGeom>
        </p:spPr>
        <p:txBody>
          <a:bodyPr vert="horz" lIns="91440" tIns="45720" rIns="91440" bIns="45720" rtlCol="0">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endParaRPr lang="en-CH"/>
          </a:p>
        </p:txBody>
      </p:sp>
      <p:sp>
        <p:nvSpPr>
          <p:cNvPr id="4" name="Date Placeholder 3">
            <a:extLst>
              <a:ext uri="{FF2B5EF4-FFF2-40B4-BE49-F238E27FC236}">
                <a16:creationId xmlns:a16="http://schemas.microsoft.com/office/drawing/2014/main" id="{13AB7A2D-647B-C07A-70E3-1B633820BD62}"/>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r>
              <a:rPr lang="de-CH"/>
              <a:t>August 2026, CC BY-SA 4.0</a:t>
            </a:r>
            <a:endParaRPr lang="en-US"/>
          </a:p>
        </p:txBody>
      </p:sp>
      <p:sp>
        <p:nvSpPr>
          <p:cNvPr id="5" name="Footer Placeholder 4">
            <a:extLst>
              <a:ext uri="{FF2B5EF4-FFF2-40B4-BE49-F238E27FC236}">
                <a16:creationId xmlns:a16="http://schemas.microsoft.com/office/drawing/2014/main" id="{505343BC-648B-7077-AF70-1F5B996DECF2}"/>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r>
              <a:rPr lang="en-US"/>
              <a:t>Data, v4.0</a:t>
            </a:r>
          </a:p>
        </p:txBody>
      </p:sp>
      <p:sp>
        <p:nvSpPr>
          <p:cNvPr id="6" name="Slide Number Placeholder 5">
            <a:extLst>
              <a:ext uri="{FF2B5EF4-FFF2-40B4-BE49-F238E27FC236}">
                <a16:creationId xmlns:a16="http://schemas.microsoft.com/office/drawing/2014/main" id="{532DD780-2E37-97CA-6F6B-10CB932FDB06}"/>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EF79ADEA-B933-47CC-A4E9-04E6298B917C}" type="slidenum">
              <a:rPr lang="en-US" smtClean="0"/>
              <a:pPr/>
              <a:t>‹#›</a:t>
            </a:fld>
            <a:endParaRPr lang="en-US"/>
          </a:p>
        </p:txBody>
      </p:sp>
    </p:spTree>
    <p:extLst>
      <p:ext uri="{BB962C8B-B14F-4D97-AF65-F5344CB8AC3E}">
        <p14:creationId xmlns:p14="http://schemas.microsoft.com/office/powerpoint/2010/main" val="3662222968"/>
      </p:ext>
    </p:extLst>
  </p:cSld>
  <p:clrMap bg1="lt1" tx1="dk1" bg2="lt2" tx2="dk2" accent1="accent1" accent2="accent2" accent3="accent3" accent4="accent4" accent5="accent5" accent6="accent6" hlink="hlink" folHlink="folHlink"/>
  <p:sldLayoutIdLst>
    <p:sldLayoutId id="2147483673" r:id="rId1"/>
    <p:sldLayoutId id="2147483674" r:id="rId2"/>
    <p:sldLayoutId id="2147483675" r:id="rId3"/>
    <p:sldLayoutId id="2147483676" r:id="rId4"/>
    <p:sldLayoutId id="2147483677" r:id="rId5"/>
    <p:sldLayoutId id="2147483678" r:id="rId6"/>
    <p:sldLayoutId id="2147483679" r:id="rId7"/>
    <p:sldLayoutId id="2147483680" r:id="rId8"/>
    <p:sldLayoutId id="2147483681" r:id="rId9"/>
    <p:sldLayoutId id="2147483682" r:id="rId10"/>
    <p:sldLayoutId id="2147483683" r:id="rId11"/>
  </p:sldLayoutIdLst>
  <p:hf hdr="0"/>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en-CH"/>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image" Target="../media/image1.png"/><Relationship Id="rId2" Type="http://schemas.openxmlformats.org/officeDocument/2006/relationships/notesSlide" Target="../notesSlides/notesSlide1.xml"/><Relationship Id="rId1" Type="http://schemas.openxmlformats.org/officeDocument/2006/relationships/slideLayout" Target="../slideLayouts/slideLayout7.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4.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5.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6.xml.rels><?xml version="1.0" encoding="UTF-8" standalone="yes"?>
<Relationships xmlns="http://schemas.openxmlformats.org/package/2006/relationships"><Relationship Id="rId3" Type="http://schemas.openxmlformats.org/officeDocument/2006/relationships/image" Target="../media/image3.png"/><Relationship Id="rId2" Type="http://schemas.openxmlformats.org/officeDocument/2006/relationships/image" Target="../media/image2.svg"/><Relationship Id="rId1" Type="http://schemas.openxmlformats.org/officeDocument/2006/relationships/slideLayout" Target="../slideLayouts/slideLayout6.xml"/><Relationship Id="rId4" Type="http://schemas.openxmlformats.org/officeDocument/2006/relationships/image" Target="../media/image4.png"/></Relationships>
</file>

<file path=ppt/slides/_rels/slide7.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8.xml.rels><?xml version="1.0" encoding="UTF-8" standalone="yes"?>
<Relationships xmlns="http://schemas.openxmlformats.org/package/2006/relationships"><Relationship Id="rId3" Type="http://schemas.openxmlformats.org/officeDocument/2006/relationships/image" Target="../media/image5.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9.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6.xml"/></Relationships>
</file>

<file path=ppt/slides/_rels/slide10.xml.rels><?xml version="1.0" encoding="UTF-8" standalone="yes"?>
<Relationships xmlns="http://schemas.openxmlformats.org/package/2006/relationships"><Relationship Id="rId3" Type="http://schemas.openxmlformats.org/officeDocument/2006/relationships/image" Target="../media/image6.jpeg"/><Relationship Id="rId2" Type="http://schemas.openxmlformats.org/officeDocument/2006/relationships/image" Target="../media/image2.svg"/><Relationship Id="rId1" Type="http://schemas.openxmlformats.org/officeDocument/2006/relationships/slideLayout" Target="../slideLayouts/slideLayout6.xml"/><Relationship Id="rId4" Type="http://schemas.openxmlformats.org/officeDocument/2006/relationships/image" Target="../media/image7.png"/></Relationships>
</file>

<file path=ppt/slides/_rels/slide11.xml.rels><?xml version="1.0" encoding="UTF-8" standalone="yes"?>
<Relationships xmlns="http://schemas.openxmlformats.org/package/2006/relationships"><Relationship Id="rId3" Type="http://schemas.openxmlformats.org/officeDocument/2006/relationships/image" Target="../media/image8.png"/><Relationship Id="rId7" Type="http://schemas.openxmlformats.org/officeDocument/2006/relationships/image" Target="../media/image12.png"/><Relationship Id="rId2" Type="http://schemas.openxmlformats.org/officeDocument/2006/relationships/image" Target="../media/image2.svg"/><Relationship Id="rId1" Type="http://schemas.openxmlformats.org/officeDocument/2006/relationships/slideLayout" Target="../slideLayouts/slideLayout6.xml"/><Relationship Id="rId6" Type="http://schemas.openxmlformats.org/officeDocument/2006/relationships/image" Target="../media/image11.png"/><Relationship Id="rId5" Type="http://schemas.openxmlformats.org/officeDocument/2006/relationships/image" Target="../media/image10.png"/><Relationship Id="rId4" Type="http://schemas.openxmlformats.org/officeDocument/2006/relationships/image" Target="../media/image9.png"/></Relationships>
</file>

<file path=ppt/slides/_rels/slide12.xml.rels><?xml version="1.0" encoding="UTF-8" standalone="yes"?>
<Relationships xmlns="http://schemas.openxmlformats.org/package/2006/relationships"><Relationship Id="rId8" Type="http://schemas.openxmlformats.org/officeDocument/2006/relationships/image" Target="../media/image11.png"/><Relationship Id="rId3" Type="http://schemas.openxmlformats.org/officeDocument/2006/relationships/image" Target="../media/image13.png"/><Relationship Id="rId7" Type="http://schemas.openxmlformats.org/officeDocument/2006/relationships/image" Target="../media/image10.png"/><Relationship Id="rId2" Type="http://schemas.openxmlformats.org/officeDocument/2006/relationships/image" Target="../media/image2.svg"/><Relationship Id="rId1" Type="http://schemas.openxmlformats.org/officeDocument/2006/relationships/slideLayout" Target="../slideLayouts/slideLayout6.xml"/><Relationship Id="rId6" Type="http://schemas.openxmlformats.org/officeDocument/2006/relationships/image" Target="../media/image9.png"/><Relationship Id="rId5" Type="http://schemas.openxmlformats.org/officeDocument/2006/relationships/image" Target="../media/image8.png"/><Relationship Id="rId4" Type="http://schemas.openxmlformats.org/officeDocument/2006/relationships/image" Target="../media/image14.png"/><Relationship Id="rId9" Type="http://schemas.openxmlformats.org/officeDocument/2006/relationships/image" Target="../media/image12.png"/></Relationships>
</file>

<file path=ppt/slides/_rels/slide13.xml.rels><?xml version="1.0" encoding="UTF-8" standalone="yes"?>
<Relationships xmlns="http://schemas.openxmlformats.org/package/2006/relationships"><Relationship Id="rId2" Type="http://schemas.openxmlformats.org/officeDocument/2006/relationships/notesSlide" Target="../notesSlides/notesSlide2.xml"/><Relationship Id="rId1" Type="http://schemas.openxmlformats.org/officeDocument/2006/relationships/slideLayout" Target="../slideLayouts/slideLayout6.xml"/></Relationships>
</file>

<file path=ppt/slides/_rels/slide14.xml.rels><?xml version="1.0" encoding="UTF-8" standalone="yes"?>
<Relationships xmlns="http://schemas.openxmlformats.org/package/2006/relationships"><Relationship Id="rId2" Type="http://schemas.openxmlformats.org/officeDocument/2006/relationships/image" Target="../media/image15.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2" Type="http://schemas.openxmlformats.org/officeDocument/2006/relationships/image" Target="../media/image16.png"/><Relationship Id="rId1" Type="http://schemas.openxmlformats.org/officeDocument/2006/relationships/slideLayout" Target="../slideLayouts/slideLayout6.xml"/></Relationships>
</file>

<file path=ppt/slides/_rels/slide16.xml.rels><?xml version="1.0" encoding="UTF-8" standalone="yes"?>
<Relationships xmlns="http://schemas.openxmlformats.org/package/2006/relationships"><Relationship Id="rId3" Type="http://schemas.openxmlformats.org/officeDocument/2006/relationships/image" Target="../media/image16.png"/><Relationship Id="rId2" Type="http://schemas.openxmlformats.org/officeDocument/2006/relationships/image" Target="../media/image17.png"/><Relationship Id="rId1" Type="http://schemas.openxmlformats.org/officeDocument/2006/relationships/slideLayout" Target="../slideLayouts/slideLayout6.xml"/></Relationships>
</file>

<file path=ppt/slides/_rels/slide17.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s>
</file>

<file path=ppt/slides/_rels/slide18.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image" Target="../media/image18.png"/><Relationship Id="rId1" Type="http://schemas.openxmlformats.org/officeDocument/2006/relationships/slideLayout" Target="../slideLayouts/slideLayout6.xml"/><Relationship Id="rId6" Type="http://schemas.openxmlformats.org/officeDocument/2006/relationships/image" Target="../media/image22.png"/><Relationship Id="rId5" Type="http://schemas.openxmlformats.org/officeDocument/2006/relationships/image" Target="../media/image21.png"/><Relationship Id="rId4" Type="http://schemas.openxmlformats.org/officeDocument/2006/relationships/image" Target="../media/image20.png"/></Relationships>
</file>

<file path=ppt/slides/_rels/slide19.xml.rels><?xml version="1.0" encoding="UTF-8" standalone="yes"?>
<Relationships xmlns="http://schemas.openxmlformats.org/package/2006/relationships"><Relationship Id="rId2" Type="http://schemas.openxmlformats.org/officeDocument/2006/relationships/image" Target="../media/image23.png"/><Relationship Id="rId1" Type="http://schemas.openxmlformats.org/officeDocument/2006/relationships/slideLayout" Target="../slideLayouts/slideLayout6.xml"/></Relationships>
</file>

<file path=ppt/slides/_rels/slide20.xml.rels><?xml version="1.0" encoding="UTF-8" standalone="yes"?>
<Relationships xmlns="http://schemas.openxmlformats.org/package/2006/relationships"><Relationship Id="rId3" Type="http://schemas.openxmlformats.org/officeDocument/2006/relationships/image" Target="../media/image25.png"/><Relationship Id="rId2" Type="http://schemas.openxmlformats.org/officeDocument/2006/relationships/image" Target="../media/image24.png"/><Relationship Id="rId1" Type="http://schemas.openxmlformats.org/officeDocument/2006/relationships/slideLayout" Target="../slideLayouts/slideLayout6.xml"/><Relationship Id="rId4" Type="http://schemas.openxmlformats.org/officeDocument/2006/relationships/image" Target="../media/image23.png"/></Relationships>
</file>

<file path=ppt/slides/_rels/slide21.xml.rels><?xml version="1.0" encoding="UTF-8" standalone="yes"?>
<Relationships xmlns="http://schemas.openxmlformats.org/package/2006/relationships"><Relationship Id="rId3" Type="http://schemas.openxmlformats.org/officeDocument/2006/relationships/image" Target="../media/image26.png"/><Relationship Id="rId2" Type="http://schemas.openxmlformats.org/officeDocument/2006/relationships/image" Target="../media/image23.png"/><Relationship Id="rId1" Type="http://schemas.openxmlformats.org/officeDocument/2006/relationships/slideLayout" Target="../slideLayouts/slideLayout6.xml"/><Relationship Id="rId4" Type="http://schemas.openxmlformats.org/officeDocument/2006/relationships/image" Target="../media/image16.png"/></Relationships>
</file>

<file path=ppt/slides/_rels/slide22.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3.xml"/><Relationship Id="rId1" Type="http://schemas.openxmlformats.org/officeDocument/2006/relationships/slideLayout" Target="../slideLayouts/slideLayout6.xml"/><Relationship Id="rId4" Type="http://schemas.openxmlformats.org/officeDocument/2006/relationships/image" Target="../media/image28.png"/></Relationships>
</file>

<file path=ppt/slides/_rels/slide23.xml.rels><?xml version="1.0" encoding="UTF-8" standalone="yes"?>
<Relationships xmlns="http://schemas.openxmlformats.org/package/2006/relationships"><Relationship Id="rId3" Type="http://schemas.openxmlformats.org/officeDocument/2006/relationships/image" Target="../media/image29.png"/><Relationship Id="rId2" Type="http://schemas.openxmlformats.org/officeDocument/2006/relationships/notesSlide" Target="../notesSlides/notesSlide4.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5.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5.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6.xml"/><Relationship Id="rId1" Type="http://schemas.openxmlformats.org/officeDocument/2006/relationships/slideLayout" Target="../slideLayouts/slideLayout6.xml"/><Relationship Id="rId4" Type="http://schemas.openxmlformats.org/officeDocument/2006/relationships/image" Target="../media/image27.png"/></Relationships>
</file>

<file path=ppt/slides/_rels/slide26.xml.rels><?xml version="1.0" encoding="UTF-8" standalone="yes"?>
<Relationships xmlns="http://schemas.openxmlformats.org/package/2006/relationships"><Relationship Id="rId2" Type="http://schemas.openxmlformats.org/officeDocument/2006/relationships/image" Target="../media/image31.png"/><Relationship Id="rId1" Type="http://schemas.openxmlformats.org/officeDocument/2006/relationships/slideLayout" Target="../slideLayouts/slideLayout2.xml"/></Relationships>
</file>

<file path=ppt/slides/_rels/slide27.xml.rels><?xml version="1.0" encoding="UTF-8" standalone="yes"?>
<Relationships xmlns="http://schemas.openxmlformats.org/package/2006/relationships"><Relationship Id="rId2" Type="http://schemas.openxmlformats.org/officeDocument/2006/relationships/notesSlide" Target="../notesSlides/notesSlide7.xml"/><Relationship Id="rId1" Type="http://schemas.openxmlformats.org/officeDocument/2006/relationships/slideLayout" Target="../slideLayouts/slideLayout6.xml"/></Relationships>
</file>

<file path=ppt/slides/_rels/slide28.xml.rels><?xml version="1.0" encoding="UTF-8" standalone="yes"?>
<Relationships xmlns="http://schemas.openxmlformats.org/package/2006/relationships"><Relationship Id="rId2" Type="http://schemas.openxmlformats.org/officeDocument/2006/relationships/image" Target="../media/image2.svg"/><Relationship Id="rId1" Type="http://schemas.openxmlformats.org/officeDocument/2006/relationships/slideLayout" Target="../slideLayouts/slideLayout2.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6.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34" name="Picture 10" descr="Image">
            <a:extLst>
              <a:ext uri="{FF2B5EF4-FFF2-40B4-BE49-F238E27FC236}">
                <a16:creationId xmlns:a16="http://schemas.microsoft.com/office/drawing/2014/main" id="{F6E42A27-D61A-A59C-CFE4-ECE6CA77B1E5}"/>
              </a:ext>
            </a:extLst>
          </p:cNvPr>
          <p:cNvPicPr>
            <a:picLocks noChangeAspect="1" noChangeArrowheads="1"/>
          </p:cNvPicPr>
          <p:nvPr/>
        </p:nvPicPr>
        <p:blipFill rotWithShape="1">
          <a:blip r:embed="rId3">
            <a:clrChange>
              <a:clrFrom>
                <a:srgbClr val="FEFFFF"/>
              </a:clrFrom>
              <a:clrTo>
                <a:srgbClr val="FEFFFF">
                  <a:alpha val="0"/>
                </a:srgbClr>
              </a:clrTo>
            </a:clrChange>
            <a:extLst>
              <a:ext uri="{28A0092B-C50C-407E-A947-70E740481C1C}">
                <a14:useLocalDpi xmlns:a14="http://schemas.microsoft.com/office/drawing/2010/main" val="0"/>
              </a:ext>
            </a:extLst>
          </a:blip>
          <a:srcRect l="459" r="-1" b="4762"/>
          <a:stretch/>
        </p:blipFill>
        <p:spPr bwMode="auto">
          <a:xfrm>
            <a:off x="1176772" y="1484784"/>
            <a:ext cx="9838455" cy="5275307"/>
          </a:xfrm>
          <a:prstGeom prst="rect">
            <a:avLst/>
          </a:prstGeom>
          <a:noFill/>
          <a:extLst>
            <a:ext uri="{909E8E84-426E-40DD-AFC4-6F175D3DCCD1}">
              <a14:hiddenFill xmlns:a14="http://schemas.microsoft.com/office/drawing/2010/main">
                <a:solidFill>
                  <a:srgbClr val="FFFFFF"/>
                </a:solidFill>
              </a14:hiddenFill>
            </a:ext>
          </a:extLst>
        </p:spPr>
      </p:pic>
      <p:sp>
        <p:nvSpPr>
          <p:cNvPr id="8" name="Title 1">
            <a:extLst>
              <a:ext uri="{FF2B5EF4-FFF2-40B4-BE49-F238E27FC236}">
                <a16:creationId xmlns:a16="http://schemas.microsoft.com/office/drawing/2014/main" id="{79B30C8B-B7EA-E43D-12A0-28FE49F4C559}"/>
              </a:ext>
            </a:extLst>
          </p:cNvPr>
          <p:cNvSpPr txBox="1">
            <a:spLocks/>
          </p:cNvSpPr>
          <p:nvPr/>
        </p:nvSpPr>
        <p:spPr>
          <a:xfrm>
            <a:off x="263352" y="0"/>
            <a:ext cx="6696744" cy="1484784"/>
          </a:xfrm>
          <a:prstGeom prst="rect">
            <a:avLst/>
          </a:prstGeom>
          <a:noFill/>
        </p:spPr>
        <p:txBody>
          <a:bodyPr vert="horz" lIns="91440" tIns="45720" rIns="91440" bIns="45720" rtlCol="0" anchor="b">
            <a:noAutofit/>
          </a:bodyPr>
          <a:lstStyle>
            <a:lvl1pPr algn="ctr" defTabSz="914400" rtl="0" eaLnBrk="1" latinLnBrk="0" hangingPunct="1">
              <a:lnSpc>
                <a:spcPct val="90000"/>
              </a:lnSpc>
              <a:spcBef>
                <a:spcPct val="0"/>
              </a:spcBef>
              <a:buNone/>
              <a:defRPr sz="6000" kern="1200">
                <a:solidFill>
                  <a:schemeClr val="tx1"/>
                </a:solidFill>
                <a:latin typeface="+mj-lt"/>
                <a:ea typeface="+mj-ea"/>
                <a:cs typeface="+mj-cs"/>
              </a:defRPr>
            </a:lvl1pPr>
          </a:lstStyle>
          <a:p>
            <a:pPr algn="l"/>
            <a:r>
              <a:rPr lang="en-US" sz="8000" b="1" dirty="0"/>
              <a:t>The data class</a:t>
            </a:r>
            <a:endParaRPr lang="en-GB" sz="4000" dirty="0"/>
          </a:p>
        </p:txBody>
      </p:sp>
      <p:sp>
        <p:nvSpPr>
          <p:cNvPr id="10" name="Subtitle 2">
            <a:extLst>
              <a:ext uri="{FF2B5EF4-FFF2-40B4-BE49-F238E27FC236}">
                <a16:creationId xmlns:a16="http://schemas.microsoft.com/office/drawing/2014/main" id="{1B3065C6-8368-ADA9-51D1-56948C3C7FCC}"/>
              </a:ext>
            </a:extLst>
          </p:cNvPr>
          <p:cNvSpPr txBox="1">
            <a:spLocks/>
          </p:cNvSpPr>
          <p:nvPr/>
        </p:nvSpPr>
        <p:spPr>
          <a:xfrm>
            <a:off x="335360" y="1308550"/>
            <a:ext cx="5921896" cy="548285"/>
          </a:xfrm>
          <a:prstGeom prst="rect">
            <a:avLst/>
          </a:prstGeom>
          <a:noFill/>
        </p:spPr>
        <p:txBody>
          <a:bodyPr vert="horz" lIns="91440" tIns="45720" rIns="91440" bIns="45720" rtlCol="0">
            <a:normAutofit/>
          </a:bodyPr>
          <a:lstStyle>
            <a:lvl1pPr marL="0" indent="0" algn="ctr" defTabSz="914400" rtl="0" eaLnBrk="1" latinLnBrk="0" hangingPunct="1">
              <a:lnSpc>
                <a:spcPct val="90000"/>
              </a:lnSpc>
              <a:spcBef>
                <a:spcPts val="1000"/>
              </a:spcBef>
              <a:buFont typeface="Arial" panose="020B0604020202020204" pitchFamily="34" charset="0"/>
              <a:buNone/>
              <a:defRPr sz="2400" kern="1200">
                <a:solidFill>
                  <a:schemeClr val="tx1"/>
                </a:solidFill>
                <a:latin typeface="+mn-lt"/>
                <a:ea typeface="+mn-ea"/>
                <a:cs typeface="+mn-cs"/>
              </a:defRPr>
            </a:lvl1pPr>
            <a:lvl2pPr marL="457200" indent="0" algn="ctr" defTabSz="914400" rtl="0" eaLnBrk="1" latinLnBrk="0" hangingPunct="1">
              <a:lnSpc>
                <a:spcPct val="90000"/>
              </a:lnSpc>
              <a:spcBef>
                <a:spcPts val="500"/>
              </a:spcBef>
              <a:buFont typeface="Arial" panose="020B0604020202020204" pitchFamily="34" charset="0"/>
              <a:buNone/>
              <a:defRPr sz="2000" kern="1200">
                <a:solidFill>
                  <a:schemeClr val="tx1"/>
                </a:solidFill>
                <a:latin typeface="+mn-lt"/>
                <a:ea typeface="+mn-ea"/>
                <a:cs typeface="+mn-cs"/>
              </a:defRPr>
            </a:lvl2pPr>
            <a:lvl3pPr marL="914400" indent="0" algn="ctr" defTabSz="914400" rtl="0" eaLnBrk="1" latinLnBrk="0" hangingPunct="1">
              <a:lnSpc>
                <a:spcPct val="90000"/>
              </a:lnSpc>
              <a:spcBef>
                <a:spcPts val="500"/>
              </a:spcBef>
              <a:buFont typeface="Arial" panose="020B0604020202020204" pitchFamily="34" charset="0"/>
              <a:buNone/>
              <a:defRPr sz="1800" kern="1200">
                <a:solidFill>
                  <a:schemeClr val="tx1"/>
                </a:solidFill>
                <a:latin typeface="+mn-lt"/>
                <a:ea typeface="+mn-ea"/>
                <a:cs typeface="+mn-cs"/>
              </a:defRPr>
            </a:lvl3pPr>
            <a:lvl4pPr marL="1371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4pPr>
            <a:lvl5pPr marL="18288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5pPr>
            <a:lvl6pPr marL="22860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6pPr>
            <a:lvl7pPr marL="27432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7pPr>
            <a:lvl8pPr marL="32004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8pPr>
            <a:lvl9pPr marL="3657600" indent="0" algn="ctr" defTabSz="914400" rtl="0" eaLnBrk="1" latinLnBrk="0" hangingPunct="1">
              <a:lnSpc>
                <a:spcPct val="90000"/>
              </a:lnSpc>
              <a:spcBef>
                <a:spcPts val="500"/>
              </a:spcBef>
              <a:buFont typeface="Arial" panose="020B0604020202020204" pitchFamily="34" charset="0"/>
              <a:buNone/>
              <a:defRPr sz="1600" kern="1200">
                <a:solidFill>
                  <a:schemeClr val="tx1"/>
                </a:solidFill>
                <a:latin typeface="+mn-lt"/>
                <a:ea typeface="+mn-ea"/>
                <a:cs typeface="+mn-cs"/>
              </a:defRPr>
            </a:lvl9pPr>
          </a:lstStyle>
          <a:p>
            <a:pPr algn="l"/>
            <a:r>
              <a:rPr lang="en-GB" sz="2800" noProof="1"/>
              <a:t>Pietro Berkes &amp; Verjinia Metodieva</a:t>
            </a:r>
          </a:p>
        </p:txBody>
      </p:sp>
      <p:sp>
        <p:nvSpPr>
          <p:cNvPr id="2" name="TextBox 1">
            <a:extLst>
              <a:ext uri="{FF2B5EF4-FFF2-40B4-BE49-F238E27FC236}">
                <a16:creationId xmlns:a16="http://schemas.microsoft.com/office/drawing/2014/main" id="{C5770D2C-CE72-8C97-3885-7C4B621C5DDA}"/>
              </a:ext>
            </a:extLst>
          </p:cNvPr>
          <p:cNvSpPr txBox="1"/>
          <p:nvPr/>
        </p:nvSpPr>
        <p:spPr>
          <a:xfrm>
            <a:off x="8040216" y="196338"/>
            <a:ext cx="3946765" cy="1200329"/>
          </a:xfrm>
          <a:prstGeom prst="rect">
            <a:avLst/>
          </a:prstGeom>
          <a:solidFill>
            <a:srgbClr val="F0D0D5"/>
          </a:solidFill>
        </p:spPr>
        <p:txBody>
          <a:bodyPr wrap="square" rtlCol="0">
            <a:spAutoFit/>
          </a:bodyPr>
          <a:lstStyle/>
          <a:p>
            <a:r>
              <a:rPr lang="en-US" sz="2400" dirty="0"/>
              <a:t>Fork and clone repository</a:t>
            </a:r>
          </a:p>
          <a:p>
            <a:r>
              <a:rPr lang="en-US" sz="2400" dirty="0"/>
              <a:t>https://</a:t>
            </a:r>
            <a:r>
              <a:rPr lang="en-US" sz="2400" dirty="0" err="1"/>
              <a:t>git.aspp.school</a:t>
            </a:r>
            <a:r>
              <a:rPr lang="en-US" sz="2400" dirty="0"/>
              <a:t>/ASPP/2026-latam-data</a:t>
            </a:r>
          </a:p>
        </p:txBody>
      </p:sp>
      <p:sp>
        <p:nvSpPr>
          <p:cNvPr id="3" name="Date Placeholder 2">
            <a:extLst>
              <a:ext uri="{FF2B5EF4-FFF2-40B4-BE49-F238E27FC236}">
                <a16:creationId xmlns:a16="http://schemas.microsoft.com/office/drawing/2014/main" id="{D27A2D24-AC0B-2E08-8D4D-371E44E303C4}"/>
              </a:ext>
            </a:extLst>
          </p:cNvPr>
          <p:cNvSpPr>
            <a:spLocks noGrp="1"/>
          </p:cNvSpPr>
          <p:nvPr>
            <p:ph type="dt" sz="half" idx="10"/>
          </p:nvPr>
        </p:nvSpPr>
        <p:spPr/>
        <p:txBody>
          <a:bodyPr/>
          <a:lstStyle/>
          <a:p>
            <a:r>
              <a:rPr lang="de-CH"/>
              <a:t>August 2026, CC BY-SA 4.0</a:t>
            </a:r>
            <a:endParaRPr lang="en-US"/>
          </a:p>
        </p:txBody>
      </p:sp>
      <p:sp>
        <p:nvSpPr>
          <p:cNvPr id="4" name="Footer Placeholder 3">
            <a:extLst>
              <a:ext uri="{FF2B5EF4-FFF2-40B4-BE49-F238E27FC236}">
                <a16:creationId xmlns:a16="http://schemas.microsoft.com/office/drawing/2014/main" id="{226F1862-EE2B-EEF6-9649-C8F972F24C0A}"/>
              </a:ext>
            </a:extLst>
          </p:cNvPr>
          <p:cNvSpPr>
            <a:spLocks noGrp="1"/>
          </p:cNvSpPr>
          <p:nvPr>
            <p:ph type="ftr" sz="quarter" idx="11"/>
          </p:nvPr>
        </p:nvSpPr>
        <p:spPr/>
        <p:txBody>
          <a:bodyPr/>
          <a:lstStyle/>
          <a:p>
            <a:r>
              <a:rPr lang="en-US"/>
              <a:t>Data, v4.0</a:t>
            </a:r>
          </a:p>
        </p:txBody>
      </p:sp>
      <p:sp>
        <p:nvSpPr>
          <p:cNvPr id="5" name="Slide Number Placeholder 4">
            <a:extLst>
              <a:ext uri="{FF2B5EF4-FFF2-40B4-BE49-F238E27FC236}">
                <a16:creationId xmlns:a16="http://schemas.microsoft.com/office/drawing/2014/main" id="{619095A5-B693-45CA-16EA-FD77DC459EB9}"/>
              </a:ext>
            </a:extLst>
          </p:cNvPr>
          <p:cNvSpPr>
            <a:spLocks noGrp="1"/>
          </p:cNvSpPr>
          <p:nvPr>
            <p:ph type="sldNum" sz="quarter" idx="12"/>
          </p:nvPr>
        </p:nvSpPr>
        <p:spPr/>
        <p:txBody>
          <a:bodyPr/>
          <a:lstStyle/>
          <a:p>
            <a:fld id="{EF79ADEA-B933-47CC-A4E9-04E6298B917C}" type="slidenum">
              <a:rPr lang="en-US" smtClean="0"/>
              <a:pPr/>
              <a:t>1</a:t>
            </a:fld>
            <a:endParaRPr lang="en-US"/>
          </a:p>
        </p:txBody>
      </p:sp>
    </p:spTree>
    <p:extLst>
      <p:ext uri="{BB962C8B-B14F-4D97-AF65-F5344CB8AC3E}">
        <p14:creationId xmlns:p14="http://schemas.microsoft.com/office/powerpoint/2010/main" val="3891822778"/>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grpSp>
        <p:nvGrpSpPr>
          <p:cNvPr id="18" name="Group 17">
            <a:extLst>
              <a:ext uri="{FF2B5EF4-FFF2-40B4-BE49-F238E27FC236}">
                <a16:creationId xmlns:a16="http://schemas.microsoft.com/office/drawing/2014/main" id="{B577FDDB-A9EF-6DDD-947A-D655777D4A54}"/>
              </a:ext>
            </a:extLst>
          </p:cNvPr>
          <p:cNvGrpSpPr/>
          <p:nvPr/>
        </p:nvGrpSpPr>
        <p:grpSpPr>
          <a:xfrm>
            <a:off x="4674077" y="1440014"/>
            <a:ext cx="2839213" cy="4303548"/>
            <a:chOff x="2370668" y="2025135"/>
            <a:chExt cx="2362200" cy="2572266"/>
          </a:xfrm>
        </p:grpSpPr>
        <p:sp>
          <p:nvSpPr>
            <p:cNvPr id="19" name="Rectangle 18">
              <a:extLst>
                <a:ext uri="{FF2B5EF4-FFF2-40B4-BE49-F238E27FC236}">
                  <a16:creationId xmlns:a16="http://schemas.microsoft.com/office/drawing/2014/main" id="{47D46AEB-0E34-4185-A14F-6B12DC1FC0D4}"/>
                </a:ext>
              </a:extLst>
            </p:cNvPr>
            <p:cNvSpPr/>
            <p:nvPr/>
          </p:nvSpPr>
          <p:spPr>
            <a:xfrm>
              <a:off x="2370668" y="2531534"/>
              <a:ext cx="2362200" cy="206586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Efficient processing </a:t>
              </a:r>
              <a:br>
                <a:rPr lang="en-US" sz="2400" dirty="0">
                  <a:solidFill>
                    <a:schemeClr val="tx1"/>
                  </a:solidFill>
                </a:rPr>
              </a:br>
              <a:endParaRPr lang="en-US" sz="2400" dirty="0">
                <a:solidFill>
                  <a:schemeClr val="tx1"/>
                </a:solidFill>
              </a:endParaRPr>
            </a:p>
            <a:p>
              <a:pPr marL="285744" indent="-285744">
                <a:buFont typeface="Arial" panose="020B0604020202020204" pitchFamily="34" charset="0"/>
                <a:buChar char="•"/>
              </a:pPr>
              <a:r>
                <a:rPr lang="en-US" sz="2400" dirty="0">
                  <a:solidFill>
                    <a:schemeClr val="tx1"/>
                  </a:solidFill>
                </a:rPr>
                <a:t>Organizing data so that analyses are easy</a:t>
              </a:r>
            </a:p>
          </p:txBody>
        </p:sp>
        <p:sp>
          <p:nvSpPr>
            <p:cNvPr id="20" name="Rectangle 19">
              <a:extLst>
                <a:ext uri="{FF2B5EF4-FFF2-40B4-BE49-F238E27FC236}">
                  <a16:creationId xmlns:a16="http://schemas.microsoft.com/office/drawing/2014/main" id="{11835EFC-8F88-AF0B-16E7-A95ABDD6578B}"/>
                </a:ext>
              </a:extLst>
            </p:cNvPr>
            <p:cNvSpPr/>
            <p:nvPr/>
          </p:nvSpPr>
          <p:spPr>
            <a:xfrm>
              <a:off x="2370668" y="2025135"/>
              <a:ext cx="2362200" cy="506400"/>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Processing</a:t>
              </a:r>
              <a:endParaRPr lang="en-CH" b="1" dirty="0">
                <a:solidFill>
                  <a:schemeClr val="tx1"/>
                </a:solidFill>
              </a:endParaRPr>
            </a:p>
          </p:txBody>
        </p:sp>
      </p:grpSp>
      <p:sp>
        <p:nvSpPr>
          <p:cNvPr id="2" name="Title 1">
            <a:extLst>
              <a:ext uri="{FF2B5EF4-FFF2-40B4-BE49-F238E27FC236}">
                <a16:creationId xmlns:a16="http://schemas.microsoft.com/office/drawing/2014/main" id="{5BA0FCD9-AF8E-A04C-9FB9-6BD7716CE367}"/>
              </a:ext>
            </a:extLst>
          </p:cNvPr>
          <p:cNvSpPr>
            <a:spLocks noGrp="1"/>
          </p:cNvSpPr>
          <p:nvPr>
            <p:ph type="title"/>
          </p:nvPr>
        </p:nvSpPr>
        <p:spPr/>
        <p:txBody>
          <a:bodyPr>
            <a:normAutofit fontScale="90000"/>
          </a:bodyPr>
          <a:lstStyle/>
          <a:p>
            <a:r>
              <a:rPr lang="en-CH" dirty="0"/>
              <a:t>Things one thinks about when thinking about data</a:t>
            </a:r>
          </a:p>
        </p:txBody>
      </p:sp>
      <p:sp>
        <p:nvSpPr>
          <p:cNvPr id="4" name="Date Placeholder 3">
            <a:extLst>
              <a:ext uri="{FF2B5EF4-FFF2-40B4-BE49-F238E27FC236}">
                <a16:creationId xmlns:a16="http://schemas.microsoft.com/office/drawing/2014/main" id="{9C3F6D2C-8568-75B2-5DA6-9D96D5E01790}"/>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5F8ECBDF-014C-301E-2FD7-3574CD7C4F4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722BCDEC-892A-1E58-C606-12D7CD60B8AE}"/>
              </a:ext>
            </a:extLst>
          </p:cNvPr>
          <p:cNvSpPr>
            <a:spLocks noGrp="1"/>
          </p:cNvSpPr>
          <p:nvPr>
            <p:ph type="sldNum" sz="quarter" idx="12"/>
          </p:nvPr>
        </p:nvSpPr>
        <p:spPr>
          <a:xfrm>
            <a:off x="8610600" y="6376243"/>
            <a:ext cx="2743200" cy="365125"/>
          </a:xfrm>
        </p:spPr>
        <p:txBody>
          <a:bodyPr/>
          <a:lstStyle/>
          <a:p>
            <a:fld id="{EF79ADEA-B933-47CC-A4E9-04E6298B917C}" type="slidenum">
              <a:rPr lang="en-US" smtClean="0"/>
              <a:pPr/>
              <a:t>2</a:t>
            </a:fld>
            <a:endParaRPr lang="en-US" dirty="0"/>
          </a:p>
        </p:txBody>
      </p:sp>
      <p:grpSp>
        <p:nvGrpSpPr>
          <p:cNvPr id="3" name="Group 2">
            <a:extLst>
              <a:ext uri="{FF2B5EF4-FFF2-40B4-BE49-F238E27FC236}">
                <a16:creationId xmlns:a16="http://schemas.microsoft.com/office/drawing/2014/main" id="{88551AC0-E64B-10BA-4A93-8095149365AE}"/>
              </a:ext>
            </a:extLst>
          </p:cNvPr>
          <p:cNvGrpSpPr/>
          <p:nvPr/>
        </p:nvGrpSpPr>
        <p:grpSpPr>
          <a:xfrm>
            <a:off x="1078229" y="1440014"/>
            <a:ext cx="2839213" cy="4303548"/>
            <a:chOff x="1701801" y="2008201"/>
            <a:chExt cx="2362200" cy="2572266"/>
          </a:xfrm>
        </p:grpSpPr>
        <p:sp>
          <p:nvSpPr>
            <p:cNvPr id="7" name="Rectangle 6">
              <a:extLst>
                <a:ext uri="{FF2B5EF4-FFF2-40B4-BE49-F238E27FC236}">
                  <a16:creationId xmlns:a16="http://schemas.microsoft.com/office/drawing/2014/main" id="{0FF5F64F-15BA-05FB-1AAB-3FD93F5C034D}"/>
                </a:ext>
              </a:extLst>
            </p:cNvPr>
            <p:cNvSpPr/>
            <p:nvPr/>
          </p:nvSpPr>
          <p:spPr>
            <a:xfrm>
              <a:off x="1701801" y="2514600"/>
              <a:ext cx="2362200" cy="2065867"/>
            </a:xfrm>
            <a:prstGeom prst="rect">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CH" sz="2400" dirty="0">
                  <a:solidFill>
                    <a:schemeClr val="tx1"/>
                  </a:solidFill>
                </a:rPr>
                <a:t>Size</a:t>
              </a:r>
            </a:p>
            <a:p>
              <a:pPr marL="285744" indent="-285744">
                <a:buFont typeface="Arial" panose="020B0604020202020204" pitchFamily="34" charset="0"/>
                <a:buChar char="•"/>
              </a:pPr>
              <a:r>
                <a:rPr lang="en-CH" sz="2400" dirty="0">
                  <a:solidFill>
                    <a:schemeClr val="tx1"/>
                  </a:solidFill>
                </a:rPr>
                <a:t>Access ease</a:t>
              </a:r>
            </a:p>
            <a:p>
              <a:pPr marL="285744" indent="-285744">
                <a:buFont typeface="Arial" panose="020B0604020202020204" pitchFamily="34" charset="0"/>
                <a:buChar char="•"/>
              </a:pPr>
              <a:r>
                <a:rPr lang="en-CH" sz="2400" dirty="0">
                  <a:solidFill>
                    <a:schemeClr val="tx1"/>
                  </a:solidFill>
                </a:rPr>
                <a:t>Access time</a:t>
              </a:r>
            </a:p>
            <a:p>
              <a:endParaRPr lang="en-CH" sz="2400" dirty="0">
                <a:solidFill>
                  <a:schemeClr val="tx1"/>
                </a:solidFill>
              </a:endParaRPr>
            </a:p>
            <a:p>
              <a:pPr marL="285744" indent="-285744">
                <a:buFont typeface="Arial" panose="020B0604020202020204" pitchFamily="34" charset="0"/>
                <a:buChar char="•"/>
              </a:pPr>
              <a:endParaRPr lang="en-CH" sz="2400" dirty="0">
                <a:solidFill>
                  <a:schemeClr val="tx1"/>
                </a:solidFill>
              </a:endParaRPr>
            </a:p>
          </p:txBody>
        </p:sp>
        <p:sp>
          <p:nvSpPr>
            <p:cNvPr id="8" name="Rectangle 7">
              <a:extLst>
                <a:ext uri="{FF2B5EF4-FFF2-40B4-BE49-F238E27FC236}">
                  <a16:creationId xmlns:a16="http://schemas.microsoft.com/office/drawing/2014/main" id="{C9B7608A-6067-51DD-3F1D-8BE01A519010}"/>
                </a:ext>
              </a:extLst>
            </p:cNvPr>
            <p:cNvSpPr/>
            <p:nvPr/>
          </p:nvSpPr>
          <p:spPr>
            <a:xfrm>
              <a:off x="1701801" y="2008201"/>
              <a:ext cx="2362200" cy="506399"/>
            </a:xfrm>
            <a:prstGeom prst="rect">
              <a:avLst/>
            </a:prstGeom>
            <a:solidFill>
              <a:schemeClr val="accent1">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Storage</a:t>
              </a:r>
            </a:p>
          </p:txBody>
        </p:sp>
      </p:grpSp>
      <p:grpSp>
        <p:nvGrpSpPr>
          <p:cNvPr id="21" name="Group 20">
            <a:extLst>
              <a:ext uri="{FF2B5EF4-FFF2-40B4-BE49-F238E27FC236}">
                <a16:creationId xmlns:a16="http://schemas.microsoft.com/office/drawing/2014/main" id="{3AAA0686-1522-D489-C48C-D96E450DA13A}"/>
              </a:ext>
            </a:extLst>
          </p:cNvPr>
          <p:cNvGrpSpPr/>
          <p:nvPr/>
        </p:nvGrpSpPr>
        <p:grpSpPr>
          <a:xfrm>
            <a:off x="8274558" y="1440014"/>
            <a:ext cx="2839213" cy="4303548"/>
            <a:chOff x="5283201" y="2074335"/>
            <a:chExt cx="2362200" cy="2523066"/>
          </a:xfrm>
        </p:grpSpPr>
        <p:sp>
          <p:nvSpPr>
            <p:cNvPr id="22" name="Rectangle 21">
              <a:extLst>
                <a:ext uri="{FF2B5EF4-FFF2-40B4-BE49-F238E27FC236}">
                  <a16:creationId xmlns:a16="http://schemas.microsoft.com/office/drawing/2014/main" id="{AFEF5E98-D15A-071E-6FCE-8FC062D2AAD5}"/>
                </a:ext>
              </a:extLst>
            </p:cNvPr>
            <p:cNvSpPr/>
            <p:nvPr/>
          </p:nvSpPr>
          <p:spPr>
            <a:xfrm>
              <a:off x="5283201" y="2531534"/>
              <a:ext cx="2362200" cy="2065867"/>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Versioning</a:t>
              </a:r>
            </a:p>
            <a:p>
              <a:pPr marL="285744" indent="-285744">
                <a:buFont typeface="Arial" panose="020B0604020202020204" pitchFamily="34" charset="0"/>
                <a:buChar char="•"/>
              </a:pPr>
              <a:r>
                <a:rPr lang="en-US" sz="2400" dirty="0">
                  <a:solidFill>
                    <a:schemeClr val="tx1"/>
                  </a:solidFill>
                </a:rPr>
                <a:t>Lineage tracing (which script / other data was used to generate this?)</a:t>
              </a:r>
            </a:p>
            <a:p>
              <a:pPr marL="285744" indent="-285744">
                <a:buFont typeface="Arial" panose="020B0604020202020204" pitchFamily="34" charset="0"/>
                <a:buChar char="•"/>
              </a:pPr>
              <a:r>
                <a:rPr lang="en-US" sz="2400" dirty="0">
                  <a:solidFill>
                    <a:schemeClr val="tx1"/>
                  </a:solidFill>
                </a:rPr>
                <a:t>Ease of sharing</a:t>
              </a:r>
            </a:p>
          </p:txBody>
        </p:sp>
        <p:sp>
          <p:nvSpPr>
            <p:cNvPr id="23" name="Rectangle 22">
              <a:extLst>
                <a:ext uri="{FF2B5EF4-FFF2-40B4-BE49-F238E27FC236}">
                  <a16:creationId xmlns:a16="http://schemas.microsoft.com/office/drawing/2014/main" id="{417C9F24-16F9-BD1B-E285-142428502DD8}"/>
                </a:ext>
              </a:extLst>
            </p:cNvPr>
            <p:cNvSpPr/>
            <p:nvPr/>
          </p:nvSpPr>
          <p:spPr>
            <a:xfrm>
              <a:off x="5283201" y="2074335"/>
              <a:ext cx="2362200" cy="457200"/>
            </a:xfrm>
            <a:prstGeom prst="rect">
              <a:avLst/>
            </a:prstGeom>
            <a:solidFill>
              <a:schemeClr val="accent2">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Reproducibility and collaboration</a:t>
              </a:r>
              <a:endParaRPr lang="en-CH" b="1" dirty="0">
                <a:solidFill>
                  <a:schemeClr val="tx1"/>
                </a:solidFill>
              </a:endParaRPr>
            </a:p>
          </p:txBody>
        </p:sp>
      </p:grpSp>
    </p:spTree>
    <p:extLst>
      <p:ext uri="{BB962C8B-B14F-4D97-AF65-F5344CB8AC3E}">
        <p14:creationId xmlns:p14="http://schemas.microsoft.com/office/powerpoint/2010/main" val="295377604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70BCC2B-84ED-25DF-E94B-3C5FBFB1E6BC}"/>
            </a:ext>
          </a:extLst>
        </p:cNvPr>
        <p:cNvGrpSpPr/>
        <p:nvPr/>
      </p:nvGrpSpPr>
      <p:grpSpPr>
        <a:xfrm>
          <a:off x="0" y="0"/>
          <a:ext cx="0" cy="0"/>
          <a:chOff x="0" y="0"/>
          <a:chExt cx="0" cy="0"/>
        </a:xfrm>
      </p:grpSpPr>
      <p:grpSp>
        <p:nvGrpSpPr>
          <p:cNvPr id="18" name="Group 17">
            <a:extLst>
              <a:ext uri="{FF2B5EF4-FFF2-40B4-BE49-F238E27FC236}">
                <a16:creationId xmlns:a16="http://schemas.microsoft.com/office/drawing/2014/main" id="{74B91F2F-1B42-9179-DBEA-656FCA1EED4A}"/>
              </a:ext>
            </a:extLst>
          </p:cNvPr>
          <p:cNvGrpSpPr/>
          <p:nvPr/>
        </p:nvGrpSpPr>
        <p:grpSpPr>
          <a:xfrm>
            <a:off x="4674077" y="1440014"/>
            <a:ext cx="2839213" cy="4303548"/>
            <a:chOff x="2370668" y="2025135"/>
            <a:chExt cx="2362200" cy="2572266"/>
          </a:xfrm>
        </p:grpSpPr>
        <p:sp>
          <p:nvSpPr>
            <p:cNvPr id="19" name="Rectangle 18">
              <a:extLst>
                <a:ext uri="{FF2B5EF4-FFF2-40B4-BE49-F238E27FC236}">
                  <a16:creationId xmlns:a16="http://schemas.microsoft.com/office/drawing/2014/main" id="{38F8647F-F349-5E7A-9862-98CFC7B87422}"/>
                </a:ext>
              </a:extLst>
            </p:cNvPr>
            <p:cNvSpPr/>
            <p:nvPr/>
          </p:nvSpPr>
          <p:spPr>
            <a:xfrm>
              <a:off x="2370668" y="2531534"/>
              <a:ext cx="2362200" cy="2065867"/>
            </a:xfrm>
            <a:prstGeom prst="rect">
              <a:avLst/>
            </a:prstGeom>
            <a:solidFill>
              <a:schemeClr val="accent6">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Efficient processing </a:t>
              </a:r>
              <a:br>
                <a:rPr lang="en-US" sz="2400" dirty="0">
                  <a:solidFill>
                    <a:schemeClr val="tx1"/>
                  </a:solidFill>
                </a:rPr>
              </a:br>
              <a:endParaRPr lang="en-US" sz="2400" dirty="0">
                <a:solidFill>
                  <a:schemeClr val="tx1"/>
                </a:solidFill>
              </a:endParaRPr>
            </a:p>
            <a:p>
              <a:pPr marL="285744" indent="-285744">
                <a:buFont typeface="Arial" panose="020B0604020202020204" pitchFamily="34" charset="0"/>
                <a:buChar char="•"/>
              </a:pPr>
              <a:r>
                <a:rPr lang="en-US" sz="2400" dirty="0">
                  <a:solidFill>
                    <a:schemeClr val="tx1"/>
                  </a:solidFill>
                </a:rPr>
                <a:t>Organizing data so that analyses are easy</a:t>
              </a:r>
            </a:p>
          </p:txBody>
        </p:sp>
        <p:sp>
          <p:nvSpPr>
            <p:cNvPr id="20" name="Rectangle 19">
              <a:extLst>
                <a:ext uri="{FF2B5EF4-FFF2-40B4-BE49-F238E27FC236}">
                  <a16:creationId xmlns:a16="http://schemas.microsoft.com/office/drawing/2014/main" id="{74C4A7EB-0B07-2BEA-A70F-0C7D4F82822F}"/>
                </a:ext>
              </a:extLst>
            </p:cNvPr>
            <p:cNvSpPr/>
            <p:nvPr/>
          </p:nvSpPr>
          <p:spPr>
            <a:xfrm>
              <a:off x="2370668" y="2025135"/>
              <a:ext cx="2362200" cy="506400"/>
            </a:xfrm>
            <a:prstGeom prst="rect">
              <a:avLst/>
            </a:prstGeom>
            <a:solidFill>
              <a:schemeClr val="accent6">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Processing</a:t>
              </a:r>
              <a:endParaRPr lang="en-CH" b="1" dirty="0">
                <a:solidFill>
                  <a:schemeClr val="tx1"/>
                </a:solidFill>
              </a:endParaRPr>
            </a:p>
          </p:txBody>
        </p:sp>
      </p:grpSp>
      <p:sp>
        <p:nvSpPr>
          <p:cNvPr id="9" name="Rectangle 8">
            <a:extLst>
              <a:ext uri="{FF2B5EF4-FFF2-40B4-BE49-F238E27FC236}">
                <a16:creationId xmlns:a16="http://schemas.microsoft.com/office/drawing/2014/main" id="{0F599EBF-7667-EFC2-7798-C8986EA46A63}"/>
              </a:ext>
            </a:extLst>
          </p:cNvPr>
          <p:cNvSpPr/>
          <p:nvPr/>
        </p:nvSpPr>
        <p:spPr>
          <a:xfrm>
            <a:off x="4329487" y="1132854"/>
            <a:ext cx="3528392" cy="4960442"/>
          </a:xfrm>
          <a:prstGeom prst="rect">
            <a:avLst/>
          </a:prstGeom>
          <a:solidFill>
            <a:srgbClr val="FFFF00">
              <a:alpha val="23137"/>
            </a:srgbClr>
          </a:solid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dirty="0"/>
          </a:p>
        </p:txBody>
      </p:sp>
      <p:sp>
        <p:nvSpPr>
          <p:cNvPr id="2" name="Title 1">
            <a:extLst>
              <a:ext uri="{FF2B5EF4-FFF2-40B4-BE49-F238E27FC236}">
                <a16:creationId xmlns:a16="http://schemas.microsoft.com/office/drawing/2014/main" id="{C61C9873-ACD3-6EFB-B8A5-D93371019952}"/>
              </a:ext>
            </a:extLst>
          </p:cNvPr>
          <p:cNvSpPr>
            <a:spLocks noGrp="1"/>
          </p:cNvSpPr>
          <p:nvPr>
            <p:ph type="title"/>
          </p:nvPr>
        </p:nvSpPr>
        <p:spPr/>
        <p:txBody>
          <a:bodyPr>
            <a:normAutofit fontScale="90000"/>
          </a:bodyPr>
          <a:lstStyle/>
          <a:p>
            <a:r>
              <a:rPr lang="en-CH" dirty="0"/>
              <a:t>Things one thinks about when thinking about data</a:t>
            </a:r>
          </a:p>
        </p:txBody>
      </p:sp>
      <p:sp>
        <p:nvSpPr>
          <p:cNvPr id="4" name="Date Placeholder 3">
            <a:extLst>
              <a:ext uri="{FF2B5EF4-FFF2-40B4-BE49-F238E27FC236}">
                <a16:creationId xmlns:a16="http://schemas.microsoft.com/office/drawing/2014/main" id="{501F9391-DEE2-82DE-F5A0-D1B801300670}"/>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FDA5D7B-0BDE-E18E-59DF-DB9E1CA63B0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78667000-C0E4-BD89-53A1-0E24B027C321}"/>
              </a:ext>
            </a:extLst>
          </p:cNvPr>
          <p:cNvSpPr>
            <a:spLocks noGrp="1"/>
          </p:cNvSpPr>
          <p:nvPr>
            <p:ph type="sldNum" sz="quarter" idx="12"/>
          </p:nvPr>
        </p:nvSpPr>
        <p:spPr/>
        <p:txBody>
          <a:bodyPr/>
          <a:lstStyle/>
          <a:p>
            <a:fld id="{EF79ADEA-B933-47CC-A4E9-04E6298B917C}" type="slidenum">
              <a:rPr lang="en-US" smtClean="0"/>
              <a:pPr/>
              <a:t>3</a:t>
            </a:fld>
            <a:endParaRPr lang="en-US" dirty="0"/>
          </a:p>
        </p:txBody>
      </p:sp>
      <p:grpSp>
        <p:nvGrpSpPr>
          <p:cNvPr id="3" name="Group 2">
            <a:extLst>
              <a:ext uri="{FF2B5EF4-FFF2-40B4-BE49-F238E27FC236}">
                <a16:creationId xmlns:a16="http://schemas.microsoft.com/office/drawing/2014/main" id="{061B40CE-2ABC-025D-A1F8-DF7C6BE4DBBE}"/>
              </a:ext>
            </a:extLst>
          </p:cNvPr>
          <p:cNvGrpSpPr/>
          <p:nvPr/>
        </p:nvGrpSpPr>
        <p:grpSpPr>
          <a:xfrm>
            <a:off x="1078229" y="1440014"/>
            <a:ext cx="2839213" cy="4303548"/>
            <a:chOff x="1701801" y="2008201"/>
            <a:chExt cx="2362200" cy="2572266"/>
          </a:xfrm>
        </p:grpSpPr>
        <p:sp>
          <p:nvSpPr>
            <p:cNvPr id="7" name="Rectangle 6">
              <a:extLst>
                <a:ext uri="{FF2B5EF4-FFF2-40B4-BE49-F238E27FC236}">
                  <a16:creationId xmlns:a16="http://schemas.microsoft.com/office/drawing/2014/main" id="{A03C1DDA-B6BD-A68D-E444-D37F8C969D42}"/>
                </a:ext>
              </a:extLst>
            </p:cNvPr>
            <p:cNvSpPr/>
            <p:nvPr/>
          </p:nvSpPr>
          <p:spPr>
            <a:xfrm>
              <a:off x="1701801" y="2514600"/>
              <a:ext cx="2362200" cy="2065867"/>
            </a:xfrm>
            <a:prstGeom prst="rect">
              <a:avLst/>
            </a:prstGeom>
            <a:solidFill>
              <a:schemeClr val="accent1">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CH" sz="2400" dirty="0">
                  <a:solidFill>
                    <a:schemeClr val="tx1"/>
                  </a:solidFill>
                </a:rPr>
                <a:t>Size</a:t>
              </a:r>
            </a:p>
            <a:p>
              <a:pPr marL="285744" indent="-285744">
                <a:buFont typeface="Arial" panose="020B0604020202020204" pitchFamily="34" charset="0"/>
                <a:buChar char="•"/>
              </a:pPr>
              <a:r>
                <a:rPr lang="en-CH" sz="2400" dirty="0">
                  <a:solidFill>
                    <a:schemeClr val="tx1"/>
                  </a:solidFill>
                </a:rPr>
                <a:t>Access ease</a:t>
              </a:r>
            </a:p>
            <a:p>
              <a:pPr marL="285744" indent="-285744">
                <a:buFont typeface="Arial" panose="020B0604020202020204" pitchFamily="34" charset="0"/>
                <a:buChar char="•"/>
              </a:pPr>
              <a:r>
                <a:rPr lang="en-CH" sz="2400" dirty="0">
                  <a:solidFill>
                    <a:schemeClr val="tx1"/>
                  </a:solidFill>
                </a:rPr>
                <a:t>Access time</a:t>
              </a:r>
            </a:p>
            <a:p>
              <a:endParaRPr lang="en-CH" sz="2400" dirty="0">
                <a:solidFill>
                  <a:schemeClr val="tx1"/>
                </a:solidFill>
              </a:endParaRPr>
            </a:p>
            <a:p>
              <a:pPr marL="285744" indent="-285744">
                <a:buFont typeface="Arial" panose="020B0604020202020204" pitchFamily="34" charset="0"/>
                <a:buChar char="•"/>
              </a:pPr>
              <a:endParaRPr lang="en-CH" sz="2400" dirty="0">
                <a:solidFill>
                  <a:schemeClr val="tx1"/>
                </a:solidFill>
              </a:endParaRPr>
            </a:p>
          </p:txBody>
        </p:sp>
        <p:sp>
          <p:nvSpPr>
            <p:cNvPr id="8" name="Rectangle 7">
              <a:extLst>
                <a:ext uri="{FF2B5EF4-FFF2-40B4-BE49-F238E27FC236}">
                  <a16:creationId xmlns:a16="http://schemas.microsoft.com/office/drawing/2014/main" id="{7DD37CB0-5D48-DCB0-FA7A-D9008557FC7D}"/>
                </a:ext>
              </a:extLst>
            </p:cNvPr>
            <p:cNvSpPr/>
            <p:nvPr/>
          </p:nvSpPr>
          <p:spPr>
            <a:xfrm>
              <a:off x="1701801" y="2008201"/>
              <a:ext cx="2362200" cy="506399"/>
            </a:xfrm>
            <a:prstGeom prst="rect">
              <a:avLst/>
            </a:prstGeom>
            <a:solidFill>
              <a:schemeClr val="accent1">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Storage</a:t>
              </a:r>
            </a:p>
          </p:txBody>
        </p:sp>
      </p:grpSp>
      <p:grpSp>
        <p:nvGrpSpPr>
          <p:cNvPr id="21" name="Group 20">
            <a:extLst>
              <a:ext uri="{FF2B5EF4-FFF2-40B4-BE49-F238E27FC236}">
                <a16:creationId xmlns:a16="http://schemas.microsoft.com/office/drawing/2014/main" id="{E381C9FC-69E3-DA3E-4B34-9599338C6C25}"/>
              </a:ext>
            </a:extLst>
          </p:cNvPr>
          <p:cNvGrpSpPr/>
          <p:nvPr/>
        </p:nvGrpSpPr>
        <p:grpSpPr>
          <a:xfrm>
            <a:off x="8274558" y="1440014"/>
            <a:ext cx="2839213" cy="4303548"/>
            <a:chOff x="5283201" y="2074335"/>
            <a:chExt cx="2362200" cy="2523066"/>
          </a:xfrm>
        </p:grpSpPr>
        <p:sp>
          <p:nvSpPr>
            <p:cNvPr id="22" name="Rectangle 21">
              <a:extLst>
                <a:ext uri="{FF2B5EF4-FFF2-40B4-BE49-F238E27FC236}">
                  <a16:creationId xmlns:a16="http://schemas.microsoft.com/office/drawing/2014/main" id="{8CE2A4E1-D4D6-5609-3282-58044EE482F0}"/>
                </a:ext>
              </a:extLst>
            </p:cNvPr>
            <p:cNvSpPr/>
            <p:nvPr/>
          </p:nvSpPr>
          <p:spPr>
            <a:xfrm>
              <a:off x="5283201" y="2531534"/>
              <a:ext cx="2362200" cy="2065867"/>
            </a:xfrm>
            <a:prstGeom prst="rect">
              <a:avLst/>
            </a:prstGeom>
            <a:solidFill>
              <a:schemeClr val="accent2">
                <a:lumMod val="20000"/>
                <a:lumOff val="8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marL="285744" indent="-285744">
                <a:buFont typeface="Arial" panose="020B0604020202020204" pitchFamily="34" charset="0"/>
                <a:buChar char="•"/>
              </a:pPr>
              <a:r>
                <a:rPr lang="en-US" sz="2400" dirty="0">
                  <a:solidFill>
                    <a:schemeClr val="tx1"/>
                  </a:solidFill>
                </a:rPr>
                <a:t>Versioning</a:t>
              </a:r>
            </a:p>
            <a:p>
              <a:pPr marL="285744" indent="-285744">
                <a:buFont typeface="Arial" panose="020B0604020202020204" pitchFamily="34" charset="0"/>
                <a:buChar char="•"/>
              </a:pPr>
              <a:r>
                <a:rPr lang="en-US" sz="2400" dirty="0">
                  <a:solidFill>
                    <a:schemeClr val="tx1"/>
                  </a:solidFill>
                </a:rPr>
                <a:t>Lineage tracing (which script / other data was used to generate this?)</a:t>
              </a:r>
            </a:p>
            <a:p>
              <a:pPr marL="285744" indent="-285744">
                <a:buFont typeface="Arial" panose="020B0604020202020204" pitchFamily="34" charset="0"/>
                <a:buChar char="•"/>
              </a:pPr>
              <a:r>
                <a:rPr lang="en-US" sz="2400" dirty="0">
                  <a:solidFill>
                    <a:schemeClr val="tx1"/>
                  </a:solidFill>
                </a:rPr>
                <a:t>Ease of sharing</a:t>
              </a:r>
            </a:p>
          </p:txBody>
        </p:sp>
        <p:sp>
          <p:nvSpPr>
            <p:cNvPr id="23" name="Rectangle 22">
              <a:extLst>
                <a:ext uri="{FF2B5EF4-FFF2-40B4-BE49-F238E27FC236}">
                  <a16:creationId xmlns:a16="http://schemas.microsoft.com/office/drawing/2014/main" id="{51674B81-C608-01BE-A62C-86F8D68DB907}"/>
                </a:ext>
              </a:extLst>
            </p:cNvPr>
            <p:cNvSpPr/>
            <p:nvPr/>
          </p:nvSpPr>
          <p:spPr>
            <a:xfrm>
              <a:off x="5283201" y="2074335"/>
              <a:ext cx="2362200" cy="457200"/>
            </a:xfrm>
            <a:prstGeom prst="rect">
              <a:avLst/>
            </a:prstGeom>
            <a:solidFill>
              <a:schemeClr val="accent2">
                <a:lumMod val="60000"/>
                <a:lumOff val="40000"/>
              </a:schemeClr>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t"/>
            <a:lstStyle/>
            <a:p>
              <a:pPr algn="ctr"/>
              <a:r>
                <a:rPr lang="en-CH" sz="2400" b="1" dirty="0">
                  <a:solidFill>
                    <a:schemeClr val="tx1"/>
                  </a:solidFill>
                </a:rPr>
                <a:t>Reproducibility and collaboration</a:t>
              </a:r>
              <a:endParaRPr lang="en-CH" b="1" dirty="0">
                <a:solidFill>
                  <a:schemeClr val="tx1"/>
                </a:solidFill>
              </a:endParaRPr>
            </a:p>
          </p:txBody>
        </p:sp>
      </p:grpSp>
      <p:sp>
        <p:nvSpPr>
          <p:cNvPr id="10" name="TextBox 9">
            <a:extLst>
              <a:ext uri="{FF2B5EF4-FFF2-40B4-BE49-F238E27FC236}">
                <a16:creationId xmlns:a16="http://schemas.microsoft.com/office/drawing/2014/main" id="{2CD01566-4BA2-1965-42FF-E0C29DE84B17}"/>
              </a:ext>
            </a:extLst>
          </p:cNvPr>
          <p:cNvSpPr txBox="1"/>
          <p:nvPr/>
        </p:nvSpPr>
        <p:spPr>
          <a:xfrm>
            <a:off x="4590633" y="2002676"/>
            <a:ext cx="3006099" cy="523220"/>
          </a:xfrm>
          <a:prstGeom prst="rect">
            <a:avLst/>
          </a:prstGeom>
          <a:solidFill>
            <a:schemeClr val="bg1"/>
          </a:solidFill>
          <a:ln w="38100">
            <a:solidFill>
              <a:schemeClr val="tx1"/>
            </a:solidFill>
          </a:ln>
        </p:spPr>
        <p:txBody>
          <a:bodyPr wrap="square" rtlCol="0">
            <a:spAutoFit/>
          </a:bodyPr>
          <a:lstStyle/>
          <a:p>
            <a:pPr algn="ctr"/>
            <a:r>
              <a:rPr lang="en-US" sz="2800" dirty="0"/>
              <a:t>Data structures</a:t>
            </a:r>
          </a:p>
        </p:txBody>
      </p:sp>
    </p:spTree>
    <p:extLst>
      <p:ext uri="{BB962C8B-B14F-4D97-AF65-F5344CB8AC3E}">
        <p14:creationId xmlns:p14="http://schemas.microsoft.com/office/powerpoint/2010/main" val="389396349"/>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4</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Tree>
    <p:extLst>
      <p:ext uri="{BB962C8B-B14F-4D97-AF65-F5344CB8AC3E}">
        <p14:creationId xmlns:p14="http://schemas.microsoft.com/office/powerpoint/2010/main" val="658294805"/>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5</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2109005" y="1828691"/>
            <a:ext cx="2501322" cy="400110"/>
          </a:xfrm>
          <a:prstGeom prst="rect">
            <a:avLst/>
          </a:prstGeom>
          <a:solidFill>
            <a:srgbClr val="F0D0D5"/>
          </a:solidFill>
        </p:spPr>
        <p:txBody>
          <a:bodyPr wrap="square" rtlCol="0">
            <a:spAutoFit/>
          </a:bodyPr>
          <a:lstStyle/>
          <a:p>
            <a:pPr algn="ctr"/>
            <a:r>
              <a:rPr lang="en-US" sz="2000" dirty="0"/>
              <a:t>A sound wave?</a:t>
            </a:r>
            <a:endParaRPr lang="en-CH" sz="2000" dirty="0"/>
          </a:p>
        </p:txBody>
      </p:sp>
      <p:pic>
        <p:nvPicPr>
          <p:cNvPr id="1026" name="Picture 2">
            <a:extLst>
              <a:ext uri="{FF2B5EF4-FFF2-40B4-BE49-F238E27FC236}">
                <a16:creationId xmlns:a16="http://schemas.microsoft.com/office/drawing/2014/main" id="{8BBD0FAD-1848-E607-9694-5E7BF6524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9973" y="2469653"/>
            <a:ext cx="4259386" cy="286523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707811048"/>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6</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2109005" y="1828691"/>
            <a:ext cx="2501322" cy="400110"/>
          </a:xfrm>
          <a:prstGeom prst="rect">
            <a:avLst/>
          </a:prstGeom>
          <a:solidFill>
            <a:srgbClr val="F0D0D5"/>
          </a:solidFill>
        </p:spPr>
        <p:txBody>
          <a:bodyPr wrap="square" rtlCol="0">
            <a:spAutoFit/>
          </a:bodyPr>
          <a:lstStyle/>
          <a:p>
            <a:pPr algn="ctr"/>
            <a:r>
              <a:rPr lang="en-US" sz="2000" dirty="0"/>
              <a:t>A sound wave?</a:t>
            </a:r>
            <a:endParaRPr lang="en-CH" sz="2000" dirty="0"/>
          </a:p>
        </p:txBody>
      </p:sp>
      <p:sp>
        <p:nvSpPr>
          <p:cNvPr id="20" name="TextBox 19">
            <a:extLst>
              <a:ext uri="{FF2B5EF4-FFF2-40B4-BE49-F238E27FC236}">
                <a16:creationId xmlns:a16="http://schemas.microsoft.com/office/drawing/2014/main" id="{CD933E50-6498-7AF2-901E-B9DFAACAAF4F}"/>
              </a:ext>
            </a:extLst>
          </p:cNvPr>
          <p:cNvSpPr txBox="1"/>
          <p:nvPr/>
        </p:nvSpPr>
        <p:spPr>
          <a:xfrm>
            <a:off x="7376450" y="1828691"/>
            <a:ext cx="2529222" cy="400110"/>
          </a:xfrm>
          <a:prstGeom prst="rect">
            <a:avLst/>
          </a:prstGeom>
          <a:solidFill>
            <a:schemeClr val="accent6">
              <a:lumMod val="20000"/>
              <a:lumOff val="80000"/>
            </a:schemeClr>
          </a:solidFill>
        </p:spPr>
        <p:txBody>
          <a:bodyPr wrap="square">
            <a:spAutoFit/>
          </a:bodyPr>
          <a:lstStyle/>
          <a:p>
            <a:pPr algn="ctr"/>
            <a:r>
              <a:rPr lang="en-US" sz="2000" dirty="0"/>
              <a:t>NumPy array</a:t>
            </a:r>
            <a:endParaRPr lang="en-CH" sz="1400" dirty="0"/>
          </a:p>
        </p:txBody>
      </p:sp>
      <p:pic>
        <p:nvPicPr>
          <p:cNvPr id="1026" name="Picture 2">
            <a:extLst>
              <a:ext uri="{FF2B5EF4-FFF2-40B4-BE49-F238E27FC236}">
                <a16:creationId xmlns:a16="http://schemas.microsoft.com/office/drawing/2014/main" id="{8BBD0FAD-1848-E607-9694-5E7BF652496B}"/>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29973" y="2469653"/>
            <a:ext cx="4259386" cy="2865236"/>
          </a:xfrm>
          <a:prstGeom prst="rect">
            <a:avLst/>
          </a:prstGeom>
          <a:noFill/>
          <a:extLst>
            <a:ext uri="{909E8E84-426E-40DD-AFC4-6F175D3DCCD1}">
              <a14:hiddenFill xmlns:a14="http://schemas.microsoft.com/office/drawing/2010/main">
                <a:solidFill>
                  <a:srgbClr val="FFFFFF"/>
                </a:solidFill>
              </a14:hiddenFill>
            </a:ext>
          </a:extLst>
        </p:spPr>
      </p:pic>
      <p:pic>
        <p:nvPicPr>
          <p:cNvPr id="2" name="Picture 1">
            <a:extLst>
              <a:ext uri="{FF2B5EF4-FFF2-40B4-BE49-F238E27FC236}">
                <a16:creationId xmlns:a16="http://schemas.microsoft.com/office/drawing/2014/main" id="{6A5EB302-471C-3A1F-90B7-A0CF11BB263B}"/>
              </a:ext>
            </a:extLst>
          </p:cNvPr>
          <p:cNvPicPr>
            <a:picLocks noChangeAspect="1"/>
          </p:cNvPicPr>
          <p:nvPr/>
        </p:nvPicPr>
        <p:blipFill>
          <a:blip r:embed="rId4"/>
          <a:stretch>
            <a:fillRect/>
          </a:stretch>
        </p:blipFill>
        <p:spPr>
          <a:xfrm>
            <a:off x="6240016" y="2554072"/>
            <a:ext cx="4802090" cy="2696398"/>
          </a:xfrm>
          <a:prstGeom prst="rect">
            <a:avLst/>
          </a:prstGeom>
        </p:spPr>
      </p:pic>
    </p:spTree>
    <p:extLst>
      <p:ext uri="{BB962C8B-B14F-4D97-AF65-F5344CB8AC3E}">
        <p14:creationId xmlns:p14="http://schemas.microsoft.com/office/powerpoint/2010/main" val="996809809"/>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7</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1474379" y="1846186"/>
            <a:ext cx="3960440" cy="707886"/>
          </a:xfrm>
          <a:prstGeom prst="rect">
            <a:avLst/>
          </a:prstGeom>
          <a:solidFill>
            <a:srgbClr val="F0D0D5"/>
          </a:solidFill>
        </p:spPr>
        <p:txBody>
          <a:bodyPr wrap="square" rtlCol="0">
            <a:spAutoFit/>
          </a:bodyPr>
          <a:lstStyle/>
          <a:p>
            <a:pPr algn="ctr"/>
            <a:r>
              <a:rPr lang="en-US" sz="2000" dirty="0"/>
              <a:t>A map between color names and RGB values? </a:t>
            </a:r>
            <a:endParaRPr lang="en-CH" sz="2000" dirty="0"/>
          </a:p>
        </p:txBody>
      </p:sp>
      <p:pic>
        <p:nvPicPr>
          <p:cNvPr id="3" name="Picture 2" descr="PANTONE® USA | Pantone Color of the Year 2022 / Palette Exploration">
            <a:extLst>
              <a:ext uri="{FF2B5EF4-FFF2-40B4-BE49-F238E27FC236}">
                <a16:creationId xmlns:a16="http://schemas.microsoft.com/office/drawing/2014/main" id="{F0C06A53-B43D-6C0F-5313-2B2161A9C1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1464" y="2820799"/>
            <a:ext cx="4366270" cy="294355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66656537"/>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8</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16" name="TextBox 15">
            <a:extLst>
              <a:ext uri="{FF2B5EF4-FFF2-40B4-BE49-F238E27FC236}">
                <a16:creationId xmlns:a16="http://schemas.microsoft.com/office/drawing/2014/main" id="{8FA08EE9-A1C8-13B0-D6B0-E8AD7454C69E}"/>
              </a:ext>
            </a:extLst>
          </p:cNvPr>
          <p:cNvSpPr txBox="1"/>
          <p:nvPr/>
        </p:nvSpPr>
        <p:spPr>
          <a:xfrm>
            <a:off x="1474379" y="1846186"/>
            <a:ext cx="3960440" cy="707886"/>
          </a:xfrm>
          <a:prstGeom prst="rect">
            <a:avLst/>
          </a:prstGeom>
          <a:solidFill>
            <a:srgbClr val="F0D0D5"/>
          </a:solidFill>
        </p:spPr>
        <p:txBody>
          <a:bodyPr wrap="square" rtlCol="0">
            <a:spAutoFit/>
          </a:bodyPr>
          <a:lstStyle/>
          <a:p>
            <a:pPr algn="ctr"/>
            <a:r>
              <a:rPr lang="en-US" sz="2000" dirty="0"/>
              <a:t>A map between color names and RGB values? </a:t>
            </a:r>
            <a:endParaRPr lang="en-CH" sz="2000" dirty="0"/>
          </a:p>
        </p:txBody>
      </p:sp>
      <p:sp>
        <p:nvSpPr>
          <p:cNvPr id="20" name="TextBox 19">
            <a:extLst>
              <a:ext uri="{FF2B5EF4-FFF2-40B4-BE49-F238E27FC236}">
                <a16:creationId xmlns:a16="http://schemas.microsoft.com/office/drawing/2014/main" id="{CD933E50-6498-7AF2-901E-B9DFAACAAF4F}"/>
              </a:ext>
            </a:extLst>
          </p:cNvPr>
          <p:cNvSpPr txBox="1"/>
          <p:nvPr/>
        </p:nvSpPr>
        <p:spPr>
          <a:xfrm>
            <a:off x="7376450" y="1828691"/>
            <a:ext cx="2529222" cy="400110"/>
          </a:xfrm>
          <a:prstGeom prst="rect">
            <a:avLst/>
          </a:prstGeom>
          <a:solidFill>
            <a:schemeClr val="accent6">
              <a:lumMod val="20000"/>
              <a:lumOff val="80000"/>
            </a:schemeClr>
          </a:solidFill>
        </p:spPr>
        <p:txBody>
          <a:bodyPr wrap="square">
            <a:spAutoFit/>
          </a:bodyPr>
          <a:lstStyle/>
          <a:p>
            <a:pPr algn="ctr"/>
            <a:r>
              <a:rPr lang="en-US" sz="2000" dirty="0"/>
              <a:t>Dictionary</a:t>
            </a:r>
            <a:endParaRPr lang="en-CH" sz="1400" dirty="0"/>
          </a:p>
        </p:txBody>
      </p:sp>
      <p:pic>
        <p:nvPicPr>
          <p:cNvPr id="3" name="Picture 2" descr="PANTONE® USA | Pantone Color of the Year 2022 / Palette Exploration">
            <a:extLst>
              <a:ext uri="{FF2B5EF4-FFF2-40B4-BE49-F238E27FC236}">
                <a16:creationId xmlns:a16="http://schemas.microsoft.com/office/drawing/2014/main" id="{F0C06A53-B43D-6C0F-5313-2B2161A9C1BF}"/>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1271464" y="2820799"/>
            <a:ext cx="4366270" cy="2943553"/>
          </a:xfrm>
          <a:prstGeom prst="rect">
            <a:avLst/>
          </a:prstGeom>
          <a:noFill/>
          <a:extLst>
            <a:ext uri="{909E8E84-426E-40DD-AFC4-6F175D3DCCD1}">
              <a14:hiddenFill xmlns:a14="http://schemas.microsoft.com/office/drawing/2010/main">
                <a:solidFill>
                  <a:srgbClr val="FFFFFF"/>
                </a:solidFill>
              </a14:hiddenFill>
            </a:ext>
          </a:extLst>
        </p:spPr>
      </p:pic>
      <p:sp>
        <p:nvSpPr>
          <p:cNvPr id="9" name="TextBox 8">
            <a:extLst>
              <a:ext uri="{FF2B5EF4-FFF2-40B4-BE49-F238E27FC236}">
                <a16:creationId xmlns:a16="http://schemas.microsoft.com/office/drawing/2014/main" id="{16218BC3-3334-B4E5-E3FF-78034A0812B5}"/>
              </a:ext>
            </a:extLst>
          </p:cNvPr>
          <p:cNvSpPr txBox="1"/>
          <p:nvPr/>
        </p:nvSpPr>
        <p:spPr>
          <a:xfrm>
            <a:off x="6583661" y="2820799"/>
            <a:ext cx="4114800" cy="2031325"/>
          </a:xfrm>
          <a:prstGeom prst="rect">
            <a:avLst/>
          </a:prstGeom>
          <a:noFill/>
        </p:spPr>
        <p:txBody>
          <a:bodyPr wrap="square">
            <a:spAutoFit/>
          </a:bodyPr>
          <a:lstStyle/>
          <a:p>
            <a:r>
              <a:rPr lang="en-US" noProof="1">
                <a:latin typeface="Consolas" panose="020B0609020204030204" pitchFamily="49" charset="0"/>
                <a:cs typeface="Consolas" panose="020B0609020204030204" pitchFamily="49" charset="0"/>
              </a:rPr>
              <a:t>colors_hex = {</a:t>
            </a:r>
            <a:br>
              <a:rPr lang="en-US" noProof="1">
                <a:latin typeface="Consolas" panose="020B0609020204030204" pitchFamily="49" charset="0"/>
                <a:cs typeface="Consolas" panose="020B0609020204030204" pitchFamily="49" charset="0"/>
              </a:rPr>
            </a:br>
            <a:r>
              <a:rPr lang="en-US" noProof="1">
                <a:latin typeface="Consolas" panose="020B0609020204030204" pitchFamily="49" charset="0"/>
                <a:cs typeface="Consolas" panose="020B0609020204030204" pitchFamily="49" charset="0"/>
              </a:rPr>
              <a:t>   "tawny orange": "#CD5700", </a:t>
            </a:r>
          </a:p>
          <a:p>
            <a:r>
              <a:rPr lang="en-US" noProof="1">
                <a:latin typeface="Consolas" panose="020B0609020204030204" pitchFamily="49" charset="0"/>
                <a:cs typeface="Consolas" panose="020B0609020204030204" pitchFamily="49" charset="0"/>
              </a:rPr>
              <a:t>   "very peri": "#6667AB", </a:t>
            </a:r>
          </a:p>
          <a:p>
            <a:r>
              <a:rPr lang="en-US" noProof="1">
                <a:latin typeface="Consolas" panose="020B0609020204030204" pitchFamily="49" charset="0"/>
                <a:cs typeface="Consolas" panose="020B0609020204030204" pitchFamily="49" charset="0"/>
              </a:rPr>
              <a:t>   "iced coffee": "#C5A582”,</a:t>
            </a:r>
          </a:p>
          <a:p>
            <a:r>
              <a:rPr lang="en-US" noProof="1">
                <a:latin typeface="Consolas" panose="020B0609020204030204" pitchFamily="49" charset="0"/>
                <a:cs typeface="Consolas" panose="020B0609020204030204" pitchFamily="49" charset="0"/>
              </a:rPr>
              <a:t>   "pink flambé": "#DC4C8B”,</a:t>
            </a:r>
          </a:p>
          <a:p>
            <a:r>
              <a:rPr lang="en-US" noProof="1">
                <a:latin typeface="Consolas" panose="020B0609020204030204" pitchFamily="49" charset="0"/>
                <a:cs typeface="Consolas" panose="020B0609020204030204" pitchFamily="49" charset="0"/>
              </a:rPr>
              <a:t>   # …</a:t>
            </a:r>
          </a:p>
          <a:p>
            <a:r>
              <a:rPr lang="en-US" noProof="1">
                <a:latin typeface="Consolas" panose="020B0609020204030204" pitchFamily="49" charset="0"/>
                <a:cs typeface="Consolas" panose="020B0609020204030204" pitchFamily="49" charset="0"/>
              </a:rPr>
              <a:t>}</a:t>
            </a:r>
          </a:p>
        </p:txBody>
      </p:sp>
    </p:spTree>
    <p:extLst>
      <p:ext uri="{BB962C8B-B14F-4D97-AF65-F5344CB8AC3E}">
        <p14:creationId xmlns:p14="http://schemas.microsoft.com/office/powerpoint/2010/main" val="1647409913"/>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9</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26" name="TextBox 25">
            <a:extLst>
              <a:ext uri="{FF2B5EF4-FFF2-40B4-BE49-F238E27FC236}">
                <a16:creationId xmlns:a16="http://schemas.microsoft.com/office/drawing/2014/main" id="{171D3103-EDD5-BFED-1F53-7E642923253A}"/>
              </a:ext>
            </a:extLst>
          </p:cNvPr>
          <p:cNvSpPr txBox="1"/>
          <p:nvPr/>
        </p:nvSpPr>
        <p:spPr>
          <a:xfrm>
            <a:off x="1585111" y="1886436"/>
            <a:ext cx="3681662" cy="400110"/>
          </a:xfrm>
          <a:prstGeom prst="rect">
            <a:avLst/>
          </a:prstGeom>
          <a:solidFill>
            <a:srgbClr val="F0D0D5"/>
          </a:solidFill>
        </p:spPr>
        <p:txBody>
          <a:bodyPr wrap="square" rtlCol="0">
            <a:spAutoFit/>
          </a:bodyPr>
          <a:lstStyle/>
          <a:p>
            <a:pPr algn="ctr"/>
            <a:r>
              <a:rPr lang="en-US" sz="2000" dirty="0"/>
              <a:t>Phone book entries?</a:t>
            </a:r>
            <a:endParaRPr lang="en-CH" sz="2000" dirty="0"/>
          </a:p>
        </p:txBody>
      </p:sp>
      <p:pic>
        <p:nvPicPr>
          <p:cNvPr id="27" name="Picture 2" descr="Local US telephone directory - Fonts In Use">
            <a:extLst>
              <a:ext uri="{FF2B5EF4-FFF2-40B4-BE49-F238E27FC236}">
                <a16:creationId xmlns:a16="http://schemas.microsoft.com/office/drawing/2014/main" id="{D5123390-ACB2-9891-CFF1-F217D2A0F58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44928" r="34134" b="27385"/>
          <a:stretch/>
        </p:blipFill>
        <p:spPr bwMode="auto">
          <a:xfrm>
            <a:off x="983432" y="2708920"/>
            <a:ext cx="4885020" cy="152895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38053455"/>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10</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sp>
        <p:nvSpPr>
          <p:cNvPr id="24" name="TextBox 23">
            <a:extLst>
              <a:ext uri="{FF2B5EF4-FFF2-40B4-BE49-F238E27FC236}">
                <a16:creationId xmlns:a16="http://schemas.microsoft.com/office/drawing/2014/main" id="{13610419-F7FB-35C8-B4AA-30A8C342C763}"/>
              </a:ext>
            </a:extLst>
          </p:cNvPr>
          <p:cNvSpPr txBox="1"/>
          <p:nvPr/>
        </p:nvSpPr>
        <p:spPr>
          <a:xfrm>
            <a:off x="7752183" y="1886436"/>
            <a:ext cx="2461055" cy="400110"/>
          </a:xfrm>
          <a:prstGeom prst="rect">
            <a:avLst/>
          </a:prstGeom>
          <a:solidFill>
            <a:schemeClr val="accent6">
              <a:lumMod val="20000"/>
              <a:lumOff val="80000"/>
            </a:schemeClr>
          </a:solidFill>
        </p:spPr>
        <p:txBody>
          <a:bodyPr wrap="square">
            <a:spAutoFit/>
          </a:bodyPr>
          <a:lstStyle/>
          <a:p>
            <a:pPr algn="ctr"/>
            <a:r>
              <a:rPr lang="en-US" sz="2000" dirty="0"/>
              <a:t>Pandas </a:t>
            </a:r>
            <a:r>
              <a:rPr lang="en-US" sz="2000" dirty="0" err="1"/>
              <a:t>DataFrame</a:t>
            </a:r>
            <a:endParaRPr lang="en-CH" sz="1400" dirty="0"/>
          </a:p>
        </p:txBody>
      </p:sp>
      <p:sp>
        <p:nvSpPr>
          <p:cNvPr id="26" name="TextBox 25">
            <a:extLst>
              <a:ext uri="{FF2B5EF4-FFF2-40B4-BE49-F238E27FC236}">
                <a16:creationId xmlns:a16="http://schemas.microsoft.com/office/drawing/2014/main" id="{171D3103-EDD5-BFED-1F53-7E642923253A}"/>
              </a:ext>
            </a:extLst>
          </p:cNvPr>
          <p:cNvSpPr txBox="1"/>
          <p:nvPr/>
        </p:nvSpPr>
        <p:spPr>
          <a:xfrm>
            <a:off x="1585111" y="1886436"/>
            <a:ext cx="3681662" cy="400110"/>
          </a:xfrm>
          <a:prstGeom prst="rect">
            <a:avLst/>
          </a:prstGeom>
          <a:solidFill>
            <a:srgbClr val="F0D0D5"/>
          </a:solidFill>
        </p:spPr>
        <p:txBody>
          <a:bodyPr wrap="square" rtlCol="0">
            <a:spAutoFit/>
          </a:bodyPr>
          <a:lstStyle/>
          <a:p>
            <a:pPr algn="ctr"/>
            <a:r>
              <a:rPr lang="en-US" sz="2000" dirty="0"/>
              <a:t>Phone book entries?</a:t>
            </a:r>
            <a:endParaRPr lang="en-CH" sz="2000" dirty="0"/>
          </a:p>
        </p:txBody>
      </p:sp>
      <p:pic>
        <p:nvPicPr>
          <p:cNvPr id="27" name="Picture 2" descr="Local US telephone directory - Fonts In Use">
            <a:extLst>
              <a:ext uri="{FF2B5EF4-FFF2-40B4-BE49-F238E27FC236}">
                <a16:creationId xmlns:a16="http://schemas.microsoft.com/office/drawing/2014/main" id="{D5123390-ACB2-9891-CFF1-F217D2A0F581}"/>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23" t="44928" r="34134" b="27385"/>
          <a:stretch/>
        </p:blipFill>
        <p:spPr bwMode="auto">
          <a:xfrm>
            <a:off x="983432" y="2708920"/>
            <a:ext cx="4885020" cy="1528955"/>
          </a:xfrm>
          <a:prstGeom prst="rect">
            <a:avLst/>
          </a:prstGeom>
          <a:noFill/>
          <a:extLst>
            <a:ext uri="{909E8E84-426E-40DD-AFC4-6F175D3DCCD1}">
              <a14:hiddenFill xmlns:a14="http://schemas.microsoft.com/office/drawing/2010/main">
                <a:solidFill>
                  <a:srgbClr val="FFFFFF"/>
                </a:solidFill>
              </a14:hiddenFill>
            </a:ext>
          </a:extLst>
        </p:spPr>
      </p:pic>
      <p:pic>
        <p:nvPicPr>
          <p:cNvPr id="7" name="Picture 6">
            <a:extLst>
              <a:ext uri="{FF2B5EF4-FFF2-40B4-BE49-F238E27FC236}">
                <a16:creationId xmlns:a16="http://schemas.microsoft.com/office/drawing/2014/main" id="{80E5F60C-AF66-905E-B474-1AD414558378}"/>
              </a:ext>
            </a:extLst>
          </p:cNvPr>
          <p:cNvPicPr>
            <a:picLocks noChangeAspect="1"/>
          </p:cNvPicPr>
          <p:nvPr/>
        </p:nvPicPr>
        <p:blipFill>
          <a:blip r:embed="rId4"/>
          <a:stretch>
            <a:fillRect/>
          </a:stretch>
        </p:blipFill>
        <p:spPr>
          <a:xfrm>
            <a:off x="6540201" y="2472850"/>
            <a:ext cx="4885020" cy="2001093"/>
          </a:xfrm>
          <a:prstGeom prst="rect">
            <a:avLst/>
          </a:prstGeom>
        </p:spPr>
      </p:pic>
    </p:spTree>
    <p:extLst>
      <p:ext uri="{BB962C8B-B14F-4D97-AF65-F5344CB8AC3E}">
        <p14:creationId xmlns:p14="http://schemas.microsoft.com/office/powerpoint/2010/main" val="2208310474"/>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11</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grpSp>
        <p:nvGrpSpPr>
          <p:cNvPr id="63" name="Group 62">
            <a:extLst>
              <a:ext uri="{FF2B5EF4-FFF2-40B4-BE49-F238E27FC236}">
                <a16:creationId xmlns:a16="http://schemas.microsoft.com/office/drawing/2014/main" id="{F5D280C4-15D0-1A23-0BE8-78C174B75831}"/>
              </a:ext>
            </a:extLst>
          </p:cNvPr>
          <p:cNvGrpSpPr/>
          <p:nvPr/>
        </p:nvGrpSpPr>
        <p:grpSpPr>
          <a:xfrm>
            <a:off x="1538289" y="2737705"/>
            <a:ext cx="2322314" cy="1843700"/>
            <a:chOff x="896055" y="1934422"/>
            <a:chExt cx="2322314" cy="1843700"/>
          </a:xfrm>
        </p:grpSpPr>
        <p:pic>
          <p:nvPicPr>
            <p:cNvPr id="22" name="Picture 21">
              <a:extLst>
                <a:ext uri="{FF2B5EF4-FFF2-40B4-BE49-F238E27FC236}">
                  <a16:creationId xmlns:a16="http://schemas.microsoft.com/office/drawing/2014/main" id="{40EABA42-504D-040F-2F4D-EAFCE2233D0E}"/>
                </a:ext>
              </a:extLst>
            </p:cNvPr>
            <p:cNvPicPr>
              <a:picLocks noChangeAspect="1"/>
            </p:cNvPicPr>
            <p:nvPr/>
          </p:nvPicPr>
          <p:blipFill>
            <a:blip r:embed="rId3"/>
            <a:stretch>
              <a:fillRect/>
            </a:stretch>
          </p:blipFill>
          <p:spPr>
            <a:xfrm>
              <a:off x="896055" y="2584517"/>
              <a:ext cx="557316" cy="569301"/>
            </a:xfrm>
            <a:prstGeom prst="rect">
              <a:avLst/>
            </a:prstGeom>
          </p:spPr>
        </p:pic>
        <p:pic>
          <p:nvPicPr>
            <p:cNvPr id="23" name="Picture 22">
              <a:extLst>
                <a:ext uri="{FF2B5EF4-FFF2-40B4-BE49-F238E27FC236}">
                  <a16:creationId xmlns:a16="http://schemas.microsoft.com/office/drawing/2014/main" id="{0065ABCE-CF01-1953-BF4E-607AF9C2B97C}"/>
                </a:ext>
              </a:extLst>
            </p:cNvPr>
            <p:cNvPicPr>
              <a:picLocks noChangeAspect="1"/>
            </p:cNvPicPr>
            <p:nvPr/>
          </p:nvPicPr>
          <p:blipFill>
            <a:blip r:embed="rId4"/>
            <a:stretch>
              <a:fillRect/>
            </a:stretch>
          </p:blipFill>
          <p:spPr>
            <a:xfrm>
              <a:off x="1703512" y="1934422"/>
              <a:ext cx="557316" cy="569432"/>
            </a:xfrm>
            <a:prstGeom prst="rect">
              <a:avLst/>
            </a:prstGeom>
          </p:spPr>
        </p:pic>
        <p:pic>
          <p:nvPicPr>
            <p:cNvPr id="24" name="Picture 23">
              <a:extLst>
                <a:ext uri="{FF2B5EF4-FFF2-40B4-BE49-F238E27FC236}">
                  <a16:creationId xmlns:a16="http://schemas.microsoft.com/office/drawing/2014/main" id="{729BB2E1-3FE2-F851-EF24-B07E9ACE5BC7}"/>
                </a:ext>
              </a:extLst>
            </p:cNvPr>
            <p:cNvPicPr>
              <a:picLocks noChangeAspect="1"/>
            </p:cNvPicPr>
            <p:nvPr/>
          </p:nvPicPr>
          <p:blipFill>
            <a:blip r:embed="rId5"/>
            <a:stretch>
              <a:fillRect/>
            </a:stretch>
          </p:blipFill>
          <p:spPr>
            <a:xfrm>
              <a:off x="1703512" y="3208690"/>
              <a:ext cx="557316" cy="569432"/>
            </a:xfrm>
            <a:prstGeom prst="rect">
              <a:avLst/>
            </a:prstGeom>
          </p:spPr>
        </p:pic>
        <p:pic>
          <p:nvPicPr>
            <p:cNvPr id="25" name="Picture 24">
              <a:extLst>
                <a:ext uri="{FF2B5EF4-FFF2-40B4-BE49-F238E27FC236}">
                  <a16:creationId xmlns:a16="http://schemas.microsoft.com/office/drawing/2014/main" id="{D16687D0-09B4-1C8B-C64E-8EB9BFE04517}"/>
                </a:ext>
              </a:extLst>
            </p:cNvPr>
            <p:cNvPicPr>
              <a:picLocks noChangeAspect="1"/>
            </p:cNvPicPr>
            <p:nvPr/>
          </p:nvPicPr>
          <p:blipFill>
            <a:blip r:embed="rId6"/>
            <a:stretch>
              <a:fillRect/>
            </a:stretch>
          </p:blipFill>
          <p:spPr>
            <a:xfrm>
              <a:off x="2653563" y="1990743"/>
              <a:ext cx="557568" cy="600458"/>
            </a:xfrm>
            <a:prstGeom prst="rect">
              <a:avLst/>
            </a:prstGeom>
          </p:spPr>
        </p:pic>
        <p:pic>
          <p:nvPicPr>
            <p:cNvPr id="27" name="Picture 26">
              <a:extLst>
                <a:ext uri="{FF2B5EF4-FFF2-40B4-BE49-F238E27FC236}">
                  <a16:creationId xmlns:a16="http://schemas.microsoft.com/office/drawing/2014/main" id="{5BA6A656-3C7C-1CB8-A483-EAEBF4A6A330}"/>
                </a:ext>
              </a:extLst>
            </p:cNvPr>
            <p:cNvPicPr>
              <a:picLocks noChangeAspect="1"/>
            </p:cNvPicPr>
            <p:nvPr/>
          </p:nvPicPr>
          <p:blipFill>
            <a:blip r:embed="rId7"/>
            <a:stretch>
              <a:fillRect/>
            </a:stretch>
          </p:blipFill>
          <p:spPr>
            <a:xfrm>
              <a:off x="2661052" y="2879977"/>
              <a:ext cx="557317" cy="613049"/>
            </a:xfrm>
            <a:prstGeom prst="rect">
              <a:avLst/>
            </a:prstGeom>
          </p:spPr>
        </p:pic>
        <p:cxnSp>
          <p:nvCxnSpPr>
            <p:cNvPr id="30" name="Straight Arrow Connector 29">
              <a:extLst>
                <a:ext uri="{FF2B5EF4-FFF2-40B4-BE49-F238E27FC236}">
                  <a16:creationId xmlns:a16="http://schemas.microsoft.com/office/drawing/2014/main" id="{ABCDD4EB-5B91-1C44-FF95-142778105BAD}"/>
                </a:ext>
              </a:extLst>
            </p:cNvPr>
            <p:cNvCxnSpPr>
              <a:cxnSpLocks/>
            </p:cNvCxnSpPr>
            <p:nvPr/>
          </p:nvCxnSpPr>
          <p:spPr>
            <a:xfrm flipV="1">
              <a:off x="1353185" y="2342543"/>
              <a:ext cx="350327" cy="3377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89413D4-7EAC-CB5E-EBFB-541E71358E95}"/>
                </a:ext>
              </a:extLst>
            </p:cNvPr>
            <p:cNvCxnSpPr>
              <a:cxnSpLocks/>
            </p:cNvCxnSpPr>
            <p:nvPr/>
          </p:nvCxnSpPr>
          <p:spPr>
            <a:xfrm>
              <a:off x="1403278" y="3025161"/>
              <a:ext cx="372242" cy="2802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A8E8F9-86B0-DC4A-939F-F4015001F599}"/>
                </a:ext>
              </a:extLst>
            </p:cNvPr>
            <p:cNvCxnSpPr>
              <a:cxnSpLocks/>
              <a:stCxn id="23" idx="2"/>
              <a:endCxn id="24" idx="0"/>
            </p:cNvCxnSpPr>
            <p:nvPr/>
          </p:nvCxnSpPr>
          <p:spPr>
            <a:xfrm>
              <a:off x="1982170" y="2503854"/>
              <a:ext cx="0" cy="70483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78F6202-5B2A-8CB4-BFB1-118AEE6337CE}"/>
                </a:ext>
              </a:extLst>
            </p:cNvPr>
            <p:cNvCxnSpPr>
              <a:cxnSpLocks/>
              <a:endCxn id="25" idx="1"/>
            </p:cNvCxnSpPr>
            <p:nvPr/>
          </p:nvCxnSpPr>
          <p:spPr>
            <a:xfrm>
              <a:off x="2260828" y="2219138"/>
              <a:ext cx="392735" cy="718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2AE2E09-644E-5139-806A-4906C5922DE4}"/>
                </a:ext>
              </a:extLst>
            </p:cNvPr>
            <p:cNvCxnSpPr>
              <a:cxnSpLocks/>
              <a:endCxn id="27" idx="1"/>
            </p:cNvCxnSpPr>
            <p:nvPr/>
          </p:nvCxnSpPr>
          <p:spPr>
            <a:xfrm flipV="1">
              <a:off x="2256095" y="3186502"/>
              <a:ext cx="404957" cy="30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A255DA8-EA99-1B72-FFCA-2854B161529D}"/>
                </a:ext>
              </a:extLst>
            </p:cNvPr>
            <p:cNvCxnSpPr>
              <a:cxnSpLocks/>
              <a:stCxn id="27" idx="0"/>
              <a:endCxn id="25" idx="2"/>
            </p:cNvCxnSpPr>
            <p:nvPr/>
          </p:nvCxnSpPr>
          <p:spPr>
            <a:xfrm flipH="1" flipV="1">
              <a:off x="2932347" y="2591201"/>
              <a:ext cx="7364" cy="28877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a:extLst>
              <a:ext uri="{FF2B5EF4-FFF2-40B4-BE49-F238E27FC236}">
                <a16:creationId xmlns:a16="http://schemas.microsoft.com/office/drawing/2014/main" id="{5DBF2BB3-DE17-A327-0B6B-0A32211A3414}"/>
              </a:ext>
            </a:extLst>
          </p:cNvPr>
          <p:cNvSpPr txBox="1"/>
          <p:nvPr/>
        </p:nvSpPr>
        <p:spPr>
          <a:xfrm>
            <a:off x="1387734" y="1907458"/>
            <a:ext cx="2473339" cy="400110"/>
          </a:xfrm>
          <a:prstGeom prst="rect">
            <a:avLst/>
          </a:prstGeom>
          <a:solidFill>
            <a:srgbClr val="F0D0D5"/>
          </a:solidFill>
        </p:spPr>
        <p:txBody>
          <a:bodyPr wrap="square" rtlCol="0">
            <a:spAutoFit/>
          </a:bodyPr>
          <a:lstStyle/>
          <a:p>
            <a:pPr algn="ctr"/>
            <a:r>
              <a:rPr lang="en-US" sz="2000" dirty="0"/>
              <a:t>Friendship relations?</a:t>
            </a:r>
            <a:endParaRPr lang="en-CH" sz="2000" dirty="0"/>
          </a:p>
        </p:txBody>
      </p:sp>
    </p:spTree>
    <p:extLst>
      <p:ext uri="{BB962C8B-B14F-4D97-AF65-F5344CB8AC3E}">
        <p14:creationId xmlns:p14="http://schemas.microsoft.com/office/powerpoint/2010/main" val="185475879"/>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11052383" y="205950"/>
            <a:ext cx="827981" cy="702769"/>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p:txBody>
          <a:bodyPr>
            <a:normAutofit fontScale="90000"/>
          </a:bodyPr>
          <a:lstStyle/>
          <a:p>
            <a:r>
              <a:rPr lang="en-US" b="1" dirty="0"/>
              <a:t>Hands-on</a:t>
            </a:r>
            <a:br>
              <a:rPr lang="en-US" b="1" dirty="0"/>
            </a:br>
            <a:r>
              <a:rPr lang="en-US" sz="3600" dirty="0"/>
              <a:t>What data structure would you use to represent…</a:t>
            </a:r>
            <a:endParaRPr lang="en-CH" sz="3600"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12</a:t>
            </a:fld>
            <a:endParaRPr lang="en-US"/>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11119144" y="279550"/>
            <a:ext cx="694459" cy="555568"/>
          </a:xfrm>
          <a:prstGeom prst="rect">
            <a:avLst/>
          </a:prstGeom>
        </p:spPr>
      </p:pic>
      <p:grpSp>
        <p:nvGrpSpPr>
          <p:cNvPr id="10" name="Group 9">
            <a:extLst>
              <a:ext uri="{FF2B5EF4-FFF2-40B4-BE49-F238E27FC236}">
                <a16:creationId xmlns:a16="http://schemas.microsoft.com/office/drawing/2014/main" id="{1A709E09-F4F0-1EA7-3D17-131521DB0BEC}"/>
              </a:ext>
            </a:extLst>
          </p:cNvPr>
          <p:cNvGrpSpPr/>
          <p:nvPr/>
        </p:nvGrpSpPr>
        <p:grpSpPr>
          <a:xfrm>
            <a:off x="8841002" y="1646570"/>
            <a:ext cx="2263552" cy="2445133"/>
            <a:chOff x="3125712" y="1331713"/>
            <a:chExt cx="2263552" cy="2445133"/>
          </a:xfrm>
        </p:grpSpPr>
        <p:pic>
          <p:nvPicPr>
            <p:cNvPr id="15" name="Picture 4" descr="Graphs and Trees">
              <a:extLst>
                <a:ext uri="{FF2B5EF4-FFF2-40B4-BE49-F238E27FC236}">
                  <a16:creationId xmlns:a16="http://schemas.microsoft.com/office/drawing/2014/main" id="{21E050BE-4CE8-CBD1-A7DC-DB3C719D1376}"/>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52883" t="13312" r="3650" b="9432"/>
            <a:stretch/>
          </p:blipFill>
          <p:spPr bwMode="auto">
            <a:xfrm>
              <a:off x="3213372" y="1331713"/>
              <a:ext cx="2088232" cy="1774546"/>
            </a:xfrm>
            <a:prstGeom prst="rect">
              <a:avLst/>
            </a:prstGeom>
            <a:noFill/>
            <a:extLst>
              <a:ext uri="{909E8E84-426E-40DD-AFC4-6F175D3DCCD1}">
                <a14:hiddenFill xmlns:a14="http://schemas.microsoft.com/office/drawing/2010/main">
                  <a:solidFill>
                    <a:srgbClr val="FFFFFF"/>
                  </a:solidFill>
                </a14:hiddenFill>
              </a:ext>
            </a:extLst>
          </p:spPr>
        </p:pic>
        <p:sp>
          <p:nvSpPr>
            <p:cNvPr id="16" name="TextBox 15">
              <a:extLst>
                <a:ext uri="{FF2B5EF4-FFF2-40B4-BE49-F238E27FC236}">
                  <a16:creationId xmlns:a16="http://schemas.microsoft.com/office/drawing/2014/main" id="{DD54E6D7-5DFE-FBC8-C286-DFB5BA358B0F}"/>
                </a:ext>
              </a:extLst>
            </p:cNvPr>
            <p:cNvSpPr txBox="1"/>
            <p:nvPr/>
          </p:nvSpPr>
          <p:spPr>
            <a:xfrm>
              <a:off x="3125712" y="3068960"/>
              <a:ext cx="2263552" cy="707886"/>
            </a:xfrm>
            <a:prstGeom prst="rect">
              <a:avLst/>
            </a:prstGeom>
            <a:solidFill>
              <a:schemeClr val="accent4">
                <a:lumMod val="40000"/>
                <a:lumOff val="60000"/>
              </a:schemeClr>
            </a:solidFill>
          </p:spPr>
          <p:txBody>
            <a:bodyPr wrap="square">
              <a:spAutoFit/>
            </a:bodyPr>
            <a:lstStyle/>
            <a:p>
              <a:pPr algn="ctr"/>
              <a:r>
                <a:rPr lang="en-US" sz="2000" dirty="0"/>
                <a:t>Adjacency matrix (array)</a:t>
              </a:r>
              <a:endParaRPr lang="en-CH" sz="1400" dirty="0"/>
            </a:p>
          </p:txBody>
        </p:sp>
      </p:grpSp>
      <p:grpSp>
        <p:nvGrpSpPr>
          <p:cNvPr id="18" name="Group 17">
            <a:extLst>
              <a:ext uri="{FF2B5EF4-FFF2-40B4-BE49-F238E27FC236}">
                <a16:creationId xmlns:a16="http://schemas.microsoft.com/office/drawing/2014/main" id="{282FCE45-920A-A901-73BA-AB588EDA95CF}"/>
              </a:ext>
            </a:extLst>
          </p:cNvPr>
          <p:cNvGrpSpPr/>
          <p:nvPr/>
        </p:nvGrpSpPr>
        <p:grpSpPr>
          <a:xfrm>
            <a:off x="9293895" y="4329948"/>
            <a:ext cx="1334346" cy="2009511"/>
            <a:chOff x="8153400" y="1322067"/>
            <a:chExt cx="1334346" cy="2009511"/>
          </a:xfrm>
        </p:grpSpPr>
        <p:pic>
          <p:nvPicPr>
            <p:cNvPr id="19" name="Picture 18">
              <a:extLst>
                <a:ext uri="{FF2B5EF4-FFF2-40B4-BE49-F238E27FC236}">
                  <a16:creationId xmlns:a16="http://schemas.microsoft.com/office/drawing/2014/main" id="{46004093-E567-5794-6169-B0A869476794}"/>
                </a:ext>
              </a:extLst>
            </p:cNvPr>
            <p:cNvPicPr>
              <a:picLocks noChangeAspect="1"/>
            </p:cNvPicPr>
            <p:nvPr/>
          </p:nvPicPr>
          <p:blipFill>
            <a:blip r:embed="rId4"/>
            <a:stretch>
              <a:fillRect/>
            </a:stretch>
          </p:blipFill>
          <p:spPr>
            <a:xfrm>
              <a:off x="8153400" y="1322067"/>
              <a:ext cx="1334346" cy="1509918"/>
            </a:xfrm>
            <a:prstGeom prst="rect">
              <a:avLst/>
            </a:prstGeom>
          </p:spPr>
        </p:pic>
        <p:sp>
          <p:nvSpPr>
            <p:cNvPr id="20" name="TextBox 19">
              <a:extLst>
                <a:ext uri="{FF2B5EF4-FFF2-40B4-BE49-F238E27FC236}">
                  <a16:creationId xmlns:a16="http://schemas.microsoft.com/office/drawing/2014/main" id="{9AA187DE-3E67-222A-5AE7-A9FCDBA1B7E8}"/>
                </a:ext>
              </a:extLst>
            </p:cNvPr>
            <p:cNvSpPr txBox="1"/>
            <p:nvPr/>
          </p:nvSpPr>
          <p:spPr>
            <a:xfrm>
              <a:off x="8153400" y="2931468"/>
              <a:ext cx="1334346" cy="400110"/>
            </a:xfrm>
            <a:prstGeom prst="rect">
              <a:avLst/>
            </a:prstGeom>
            <a:solidFill>
              <a:schemeClr val="accent4">
                <a:lumMod val="40000"/>
                <a:lumOff val="60000"/>
              </a:schemeClr>
            </a:solidFill>
          </p:spPr>
          <p:txBody>
            <a:bodyPr wrap="square">
              <a:spAutoFit/>
            </a:bodyPr>
            <a:lstStyle/>
            <a:p>
              <a:pPr algn="ctr"/>
              <a:r>
                <a:rPr lang="en-US" sz="2000" dirty="0"/>
                <a:t>Dictionary</a:t>
              </a:r>
              <a:endParaRPr lang="en-CH" sz="1400" dirty="0"/>
            </a:p>
          </p:txBody>
        </p:sp>
      </p:grpSp>
      <p:sp>
        <p:nvSpPr>
          <p:cNvPr id="21" name="TextBox 20">
            <a:extLst>
              <a:ext uri="{FF2B5EF4-FFF2-40B4-BE49-F238E27FC236}">
                <a16:creationId xmlns:a16="http://schemas.microsoft.com/office/drawing/2014/main" id="{51F4795F-0E46-712F-0C93-84CFFAE65A2A}"/>
              </a:ext>
            </a:extLst>
          </p:cNvPr>
          <p:cNvSpPr txBox="1"/>
          <p:nvPr/>
        </p:nvSpPr>
        <p:spPr>
          <a:xfrm>
            <a:off x="9025715" y="1238015"/>
            <a:ext cx="1870705" cy="400110"/>
          </a:xfrm>
          <a:prstGeom prst="rect">
            <a:avLst/>
          </a:prstGeom>
          <a:noFill/>
        </p:spPr>
        <p:txBody>
          <a:bodyPr wrap="none" rtlCol="0">
            <a:spAutoFit/>
          </a:bodyPr>
          <a:lstStyle/>
          <a:p>
            <a:pPr algn="ctr"/>
            <a:r>
              <a:rPr lang="en-US" sz="2000" dirty="0"/>
              <a:t>Implemented as</a:t>
            </a:r>
          </a:p>
        </p:txBody>
      </p:sp>
      <p:pic>
        <p:nvPicPr>
          <p:cNvPr id="45" name="Picture 4" descr="Graphs and Trees">
            <a:extLst>
              <a:ext uri="{FF2B5EF4-FFF2-40B4-BE49-F238E27FC236}">
                <a16:creationId xmlns:a16="http://schemas.microsoft.com/office/drawing/2014/main" id="{9D7D42CD-F690-B9D9-DBF1-17DD44EF9E2E}"/>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r="47117"/>
          <a:stretch/>
        </p:blipFill>
        <p:spPr bwMode="auto">
          <a:xfrm>
            <a:off x="5303912" y="2530851"/>
            <a:ext cx="2268016" cy="2050554"/>
          </a:xfrm>
          <a:prstGeom prst="rect">
            <a:avLst/>
          </a:prstGeom>
          <a:noFill/>
          <a:extLst>
            <a:ext uri="{909E8E84-426E-40DD-AFC4-6F175D3DCCD1}">
              <a14:hiddenFill xmlns:a14="http://schemas.microsoft.com/office/drawing/2010/main">
                <a:solidFill>
                  <a:srgbClr val="FFFFFF"/>
                </a:solidFill>
              </a14:hiddenFill>
            </a:ext>
          </a:extLst>
        </p:spPr>
      </p:pic>
      <p:grpSp>
        <p:nvGrpSpPr>
          <p:cNvPr id="63" name="Group 62">
            <a:extLst>
              <a:ext uri="{FF2B5EF4-FFF2-40B4-BE49-F238E27FC236}">
                <a16:creationId xmlns:a16="http://schemas.microsoft.com/office/drawing/2014/main" id="{F5D280C4-15D0-1A23-0BE8-78C174B75831}"/>
              </a:ext>
            </a:extLst>
          </p:cNvPr>
          <p:cNvGrpSpPr/>
          <p:nvPr/>
        </p:nvGrpSpPr>
        <p:grpSpPr>
          <a:xfrm>
            <a:off x="1538289" y="2737705"/>
            <a:ext cx="2322314" cy="1843700"/>
            <a:chOff x="896055" y="1934422"/>
            <a:chExt cx="2322314" cy="1843700"/>
          </a:xfrm>
        </p:grpSpPr>
        <p:pic>
          <p:nvPicPr>
            <p:cNvPr id="22" name="Picture 21">
              <a:extLst>
                <a:ext uri="{FF2B5EF4-FFF2-40B4-BE49-F238E27FC236}">
                  <a16:creationId xmlns:a16="http://schemas.microsoft.com/office/drawing/2014/main" id="{40EABA42-504D-040F-2F4D-EAFCE2233D0E}"/>
                </a:ext>
              </a:extLst>
            </p:cNvPr>
            <p:cNvPicPr>
              <a:picLocks noChangeAspect="1"/>
            </p:cNvPicPr>
            <p:nvPr/>
          </p:nvPicPr>
          <p:blipFill>
            <a:blip r:embed="rId5"/>
            <a:stretch>
              <a:fillRect/>
            </a:stretch>
          </p:blipFill>
          <p:spPr>
            <a:xfrm>
              <a:off x="896055" y="2584517"/>
              <a:ext cx="557316" cy="569301"/>
            </a:xfrm>
            <a:prstGeom prst="rect">
              <a:avLst/>
            </a:prstGeom>
          </p:spPr>
        </p:pic>
        <p:pic>
          <p:nvPicPr>
            <p:cNvPr id="23" name="Picture 22">
              <a:extLst>
                <a:ext uri="{FF2B5EF4-FFF2-40B4-BE49-F238E27FC236}">
                  <a16:creationId xmlns:a16="http://schemas.microsoft.com/office/drawing/2014/main" id="{0065ABCE-CF01-1953-BF4E-607AF9C2B97C}"/>
                </a:ext>
              </a:extLst>
            </p:cNvPr>
            <p:cNvPicPr>
              <a:picLocks noChangeAspect="1"/>
            </p:cNvPicPr>
            <p:nvPr/>
          </p:nvPicPr>
          <p:blipFill>
            <a:blip r:embed="rId6"/>
            <a:stretch>
              <a:fillRect/>
            </a:stretch>
          </p:blipFill>
          <p:spPr>
            <a:xfrm>
              <a:off x="1703512" y="1934422"/>
              <a:ext cx="557316" cy="569432"/>
            </a:xfrm>
            <a:prstGeom prst="rect">
              <a:avLst/>
            </a:prstGeom>
          </p:spPr>
        </p:pic>
        <p:pic>
          <p:nvPicPr>
            <p:cNvPr id="24" name="Picture 23">
              <a:extLst>
                <a:ext uri="{FF2B5EF4-FFF2-40B4-BE49-F238E27FC236}">
                  <a16:creationId xmlns:a16="http://schemas.microsoft.com/office/drawing/2014/main" id="{729BB2E1-3FE2-F851-EF24-B07E9ACE5BC7}"/>
                </a:ext>
              </a:extLst>
            </p:cNvPr>
            <p:cNvPicPr>
              <a:picLocks noChangeAspect="1"/>
            </p:cNvPicPr>
            <p:nvPr/>
          </p:nvPicPr>
          <p:blipFill>
            <a:blip r:embed="rId7"/>
            <a:stretch>
              <a:fillRect/>
            </a:stretch>
          </p:blipFill>
          <p:spPr>
            <a:xfrm>
              <a:off x="1703512" y="3208690"/>
              <a:ext cx="557316" cy="569432"/>
            </a:xfrm>
            <a:prstGeom prst="rect">
              <a:avLst/>
            </a:prstGeom>
          </p:spPr>
        </p:pic>
        <p:pic>
          <p:nvPicPr>
            <p:cNvPr id="25" name="Picture 24">
              <a:extLst>
                <a:ext uri="{FF2B5EF4-FFF2-40B4-BE49-F238E27FC236}">
                  <a16:creationId xmlns:a16="http://schemas.microsoft.com/office/drawing/2014/main" id="{D16687D0-09B4-1C8B-C64E-8EB9BFE04517}"/>
                </a:ext>
              </a:extLst>
            </p:cNvPr>
            <p:cNvPicPr>
              <a:picLocks noChangeAspect="1"/>
            </p:cNvPicPr>
            <p:nvPr/>
          </p:nvPicPr>
          <p:blipFill>
            <a:blip r:embed="rId8"/>
            <a:stretch>
              <a:fillRect/>
            </a:stretch>
          </p:blipFill>
          <p:spPr>
            <a:xfrm>
              <a:off x="2653563" y="1990743"/>
              <a:ext cx="557568" cy="600458"/>
            </a:xfrm>
            <a:prstGeom prst="rect">
              <a:avLst/>
            </a:prstGeom>
          </p:spPr>
        </p:pic>
        <p:pic>
          <p:nvPicPr>
            <p:cNvPr id="27" name="Picture 26">
              <a:extLst>
                <a:ext uri="{FF2B5EF4-FFF2-40B4-BE49-F238E27FC236}">
                  <a16:creationId xmlns:a16="http://schemas.microsoft.com/office/drawing/2014/main" id="{5BA6A656-3C7C-1CB8-A483-EAEBF4A6A330}"/>
                </a:ext>
              </a:extLst>
            </p:cNvPr>
            <p:cNvPicPr>
              <a:picLocks noChangeAspect="1"/>
            </p:cNvPicPr>
            <p:nvPr/>
          </p:nvPicPr>
          <p:blipFill>
            <a:blip r:embed="rId9"/>
            <a:stretch>
              <a:fillRect/>
            </a:stretch>
          </p:blipFill>
          <p:spPr>
            <a:xfrm>
              <a:off x="2661052" y="2879977"/>
              <a:ext cx="557317" cy="613049"/>
            </a:xfrm>
            <a:prstGeom prst="rect">
              <a:avLst/>
            </a:prstGeom>
          </p:spPr>
        </p:pic>
        <p:cxnSp>
          <p:nvCxnSpPr>
            <p:cNvPr id="30" name="Straight Arrow Connector 29">
              <a:extLst>
                <a:ext uri="{FF2B5EF4-FFF2-40B4-BE49-F238E27FC236}">
                  <a16:creationId xmlns:a16="http://schemas.microsoft.com/office/drawing/2014/main" id="{ABCDD4EB-5B91-1C44-FF95-142778105BAD}"/>
                </a:ext>
              </a:extLst>
            </p:cNvPr>
            <p:cNvCxnSpPr>
              <a:cxnSpLocks/>
            </p:cNvCxnSpPr>
            <p:nvPr/>
          </p:nvCxnSpPr>
          <p:spPr>
            <a:xfrm flipV="1">
              <a:off x="1353185" y="2342543"/>
              <a:ext cx="350327" cy="337778"/>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2" name="Straight Arrow Connector 31">
              <a:extLst>
                <a:ext uri="{FF2B5EF4-FFF2-40B4-BE49-F238E27FC236}">
                  <a16:creationId xmlns:a16="http://schemas.microsoft.com/office/drawing/2014/main" id="{A89413D4-7EAC-CB5E-EBFB-541E71358E95}"/>
                </a:ext>
              </a:extLst>
            </p:cNvPr>
            <p:cNvCxnSpPr>
              <a:cxnSpLocks/>
            </p:cNvCxnSpPr>
            <p:nvPr/>
          </p:nvCxnSpPr>
          <p:spPr>
            <a:xfrm>
              <a:off x="1403278" y="3025161"/>
              <a:ext cx="372242" cy="280261"/>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47" name="Straight Arrow Connector 46">
              <a:extLst>
                <a:ext uri="{FF2B5EF4-FFF2-40B4-BE49-F238E27FC236}">
                  <a16:creationId xmlns:a16="http://schemas.microsoft.com/office/drawing/2014/main" id="{84A8E8F9-86B0-DC4A-939F-F4015001F599}"/>
                </a:ext>
              </a:extLst>
            </p:cNvPr>
            <p:cNvCxnSpPr>
              <a:cxnSpLocks/>
              <a:stCxn id="23" idx="2"/>
              <a:endCxn id="24" idx="0"/>
            </p:cNvCxnSpPr>
            <p:nvPr/>
          </p:nvCxnSpPr>
          <p:spPr>
            <a:xfrm>
              <a:off x="1982170" y="2503854"/>
              <a:ext cx="0" cy="70483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0" name="Straight Arrow Connector 49">
              <a:extLst>
                <a:ext uri="{FF2B5EF4-FFF2-40B4-BE49-F238E27FC236}">
                  <a16:creationId xmlns:a16="http://schemas.microsoft.com/office/drawing/2014/main" id="{678F6202-5B2A-8CB4-BFB1-118AEE6337CE}"/>
                </a:ext>
              </a:extLst>
            </p:cNvPr>
            <p:cNvCxnSpPr>
              <a:cxnSpLocks/>
              <a:endCxn id="25" idx="1"/>
            </p:cNvCxnSpPr>
            <p:nvPr/>
          </p:nvCxnSpPr>
          <p:spPr>
            <a:xfrm>
              <a:off x="2260828" y="2219138"/>
              <a:ext cx="392735" cy="7183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2" name="Straight Arrow Connector 51">
              <a:extLst>
                <a:ext uri="{FF2B5EF4-FFF2-40B4-BE49-F238E27FC236}">
                  <a16:creationId xmlns:a16="http://schemas.microsoft.com/office/drawing/2014/main" id="{F2AE2E09-644E-5139-806A-4906C5922DE4}"/>
                </a:ext>
              </a:extLst>
            </p:cNvPr>
            <p:cNvCxnSpPr>
              <a:cxnSpLocks/>
              <a:endCxn id="27" idx="1"/>
            </p:cNvCxnSpPr>
            <p:nvPr/>
          </p:nvCxnSpPr>
          <p:spPr>
            <a:xfrm flipV="1">
              <a:off x="2256095" y="3186502"/>
              <a:ext cx="404957" cy="306524"/>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54" name="Straight Arrow Connector 53">
              <a:extLst>
                <a:ext uri="{FF2B5EF4-FFF2-40B4-BE49-F238E27FC236}">
                  <a16:creationId xmlns:a16="http://schemas.microsoft.com/office/drawing/2014/main" id="{FA255DA8-EA99-1B72-FFCA-2854B161529D}"/>
                </a:ext>
              </a:extLst>
            </p:cNvPr>
            <p:cNvCxnSpPr>
              <a:cxnSpLocks/>
              <a:stCxn id="27" idx="0"/>
              <a:endCxn id="25" idx="2"/>
            </p:cNvCxnSpPr>
            <p:nvPr/>
          </p:nvCxnSpPr>
          <p:spPr>
            <a:xfrm flipH="1" flipV="1">
              <a:off x="2932347" y="2591201"/>
              <a:ext cx="7364" cy="288776"/>
            </a:xfrm>
            <a:prstGeom prst="straightConnector1">
              <a:avLst/>
            </a:prstGeom>
            <a:ln w="38100">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56" name="TextBox 55">
            <a:extLst>
              <a:ext uri="{FF2B5EF4-FFF2-40B4-BE49-F238E27FC236}">
                <a16:creationId xmlns:a16="http://schemas.microsoft.com/office/drawing/2014/main" id="{5DBF2BB3-DE17-A327-0B6B-0A32211A3414}"/>
              </a:ext>
            </a:extLst>
          </p:cNvPr>
          <p:cNvSpPr txBox="1"/>
          <p:nvPr/>
        </p:nvSpPr>
        <p:spPr>
          <a:xfrm>
            <a:off x="1387734" y="1907458"/>
            <a:ext cx="2473339" cy="400110"/>
          </a:xfrm>
          <a:prstGeom prst="rect">
            <a:avLst/>
          </a:prstGeom>
          <a:solidFill>
            <a:srgbClr val="F0D0D5"/>
          </a:solidFill>
        </p:spPr>
        <p:txBody>
          <a:bodyPr wrap="square" rtlCol="0">
            <a:spAutoFit/>
          </a:bodyPr>
          <a:lstStyle/>
          <a:p>
            <a:pPr algn="ctr"/>
            <a:r>
              <a:rPr lang="en-US" sz="2000" dirty="0"/>
              <a:t>Friendship relations?</a:t>
            </a:r>
            <a:endParaRPr lang="en-CH" sz="2000" dirty="0"/>
          </a:p>
        </p:txBody>
      </p:sp>
      <p:sp>
        <p:nvSpPr>
          <p:cNvPr id="4096" name="TextBox 4095">
            <a:extLst>
              <a:ext uri="{FF2B5EF4-FFF2-40B4-BE49-F238E27FC236}">
                <a16:creationId xmlns:a16="http://schemas.microsoft.com/office/drawing/2014/main" id="{4A3B416D-97FF-6574-C154-E6C622182AC5}"/>
              </a:ext>
            </a:extLst>
          </p:cNvPr>
          <p:cNvSpPr txBox="1"/>
          <p:nvPr/>
        </p:nvSpPr>
        <p:spPr>
          <a:xfrm>
            <a:off x="5303912" y="1867569"/>
            <a:ext cx="2461055" cy="400110"/>
          </a:xfrm>
          <a:prstGeom prst="rect">
            <a:avLst/>
          </a:prstGeom>
          <a:solidFill>
            <a:schemeClr val="accent6">
              <a:lumMod val="20000"/>
              <a:lumOff val="80000"/>
            </a:schemeClr>
          </a:solidFill>
        </p:spPr>
        <p:txBody>
          <a:bodyPr wrap="square">
            <a:spAutoFit/>
          </a:bodyPr>
          <a:lstStyle/>
          <a:p>
            <a:pPr algn="ctr"/>
            <a:r>
              <a:rPr lang="en-US" sz="2000" dirty="0"/>
              <a:t>Graph</a:t>
            </a:r>
            <a:endParaRPr lang="en-CH" sz="1400" dirty="0"/>
          </a:p>
        </p:txBody>
      </p:sp>
    </p:spTree>
    <p:extLst>
      <p:ext uri="{BB962C8B-B14F-4D97-AF65-F5344CB8AC3E}">
        <p14:creationId xmlns:p14="http://schemas.microsoft.com/office/powerpoint/2010/main" val="2888128416"/>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noAutofit/>
          </a:bodyPr>
          <a:lstStyle/>
          <a:p>
            <a:r>
              <a:rPr lang="en-US" sz="3600" dirty="0"/>
              <a:t>You develop your code on a </a:t>
            </a:r>
            <a:r>
              <a:rPr lang="en-CH" sz="3600" dirty="0"/>
              <a:t>small data set, how is it going to scale to the complete data set?</a:t>
            </a:r>
            <a:r>
              <a:rPr lang="en-US" sz="3600" dirty="0"/>
              <a:t> </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August 2026, CC BY-SA 4.0</a:t>
            </a:r>
            <a:endParaRPr lang="en-US" dirty="0"/>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13</a:t>
            </a:fld>
            <a:endParaRPr lang="en-US"/>
          </a:p>
        </p:txBody>
      </p:sp>
      <p:graphicFrame>
        <p:nvGraphicFramePr>
          <p:cNvPr id="10" name="Table 9">
            <a:extLst>
              <a:ext uri="{FF2B5EF4-FFF2-40B4-BE49-F238E27FC236}">
                <a16:creationId xmlns:a16="http://schemas.microsoft.com/office/drawing/2014/main" id="{4192A762-AB0A-B599-3CFD-A8BED3E0955B}"/>
              </a:ext>
            </a:extLst>
          </p:cNvPr>
          <p:cNvGraphicFramePr>
            <a:graphicFrameLocks noGrp="1"/>
          </p:cNvGraphicFramePr>
          <p:nvPr>
            <p:extLst>
              <p:ext uri="{D42A27DB-BD31-4B8C-83A1-F6EECF244321}">
                <p14:modId xmlns:p14="http://schemas.microsoft.com/office/powerpoint/2010/main" val="2666301468"/>
              </p:ext>
            </p:extLst>
          </p:nvPr>
        </p:nvGraphicFramePr>
        <p:xfrm>
          <a:off x="2622162" y="2340969"/>
          <a:ext cx="899004" cy="907644"/>
        </p:xfrm>
        <a:graphic>
          <a:graphicData uri="http://schemas.openxmlformats.org/drawingml/2006/table">
            <a:tbl>
              <a:tblPr firstRow="1" bandRow="1">
                <a:tableStyleId>{5C22544A-7EE6-4342-B048-85BDC9FD1C3A}</a:tableStyleId>
              </a:tblPr>
              <a:tblGrid>
                <a:gridCol w="299668">
                  <a:extLst>
                    <a:ext uri="{9D8B030D-6E8A-4147-A177-3AD203B41FA5}">
                      <a16:colId xmlns:a16="http://schemas.microsoft.com/office/drawing/2014/main" val="271409997"/>
                    </a:ext>
                  </a:extLst>
                </a:gridCol>
                <a:gridCol w="299668">
                  <a:extLst>
                    <a:ext uri="{9D8B030D-6E8A-4147-A177-3AD203B41FA5}">
                      <a16:colId xmlns:a16="http://schemas.microsoft.com/office/drawing/2014/main" val="3628711874"/>
                    </a:ext>
                  </a:extLst>
                </a:gridCol>
                <a:gridCol w="299668">
                  <a:extLst>
                    <a:ext uri="{9D8B030D-6E8A-4147-A177-3AD203B41FA5}">
                      <a16:colId xmlns:a16="http://schemas.microsoft.com/office/drawing/2014/main" val="418691767"/>
                    </a:ext>
                  </a:extLst>
                </a:gridCol>
              </a:tblGrid>
              <a:tr h="301781">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796856282"/>
                  </a:ext>
                </a:extLst>
              </a:tr>
              <a:tr h="301781">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687898"/>
                  </a:ext>
                </a:extLst>
              </a:tr>
              <a:tr h="301781">
                <a:tc>
                  <a:txBody>
                    <a:bodyPr/>
                    <a:lstStyle/>
                    <a:p>
                      <a:endParaRPr lang="en-CH" sz="150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3948" marR="73948" marT="36974" marB="36974">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60825043"/>
                  </a:ext>
                </a:extLst>
              </a:tr>
            </a:tbl>
          </a:graphicData>
        </a:graphic>
      </p:graphicFrame>
      <p:graphicFrame>
        <p:nvGraphicFramePr>
          <p:cNvPr id="11" name="Table 10">
            <a:extLst>
              <a:ext uri="{FF2B5EF4-FFF2-40B4-BE49-F238E27FC236}">
                <a16:creationId xmlns:a16="http://schemas.microsoft.com/office/drawing/2014/main" id="{27C1F86E-32F0-FD2D-643E-317A1CCBFC89}"/>
              </a:ext>
            </a:extLst>
          </p:cNvPr>
          <p:cNvGraphicFramePr>
            <a:graphicFrameLocks noGrp="1"/>
          </p:cNvGraphicFramePr>
          <p:nvPr>
            <p:extLst>
              <p:ext uri="{D42A27DB-BD31-4B8C-83A1-F6EECF244321}">
                <p14:modId xmlns:p14="http://schemas.microsoft.com/office/powerpoint/2010/main" val="1367180532"/>
              </p:ext>
            </p:extLst>
          </p:nvPr>
        </p:nvGraphicFramePr>
        <p:xfrm>
          <a:off x="6157048" y="2340969"/>
          <a:ext cx="4486419" cy="1793616"/>
        </p:xfrm>
        <a:graphic>
          <a:graphicData uri="http://schemas.openxmlformats.org/drawingml/2006/table">
            <a:tbl>
              <a:tblPr firstRow="1" bandRow="1">
                <a:tableStyleId>{5C22544A-7EE6-4342-B048-85BDC9FD1C3A}</a:tableStyleId>
              </a:tblPr>
              <a:tblGrid>
                <a:gridCol w="311003">
                  <a:extLst>
                    <a:ext uri="{9D8B030D-6E8A-4147-A177-3AD203B41FA5}">
                      <a16:colId xmlns:a16="http://schemas.microsoft.com/office/drawing/2014/main" val="271409997"/>
                    </a:ext>
                  </a:extLst>
                </a:gridCol>
                <a:gridCol w="298244">
                  <a:extLst>
                    <a:ext uri="{9D8B030D-6E8A-4147-A177-3AD203B41FA5}">
                      <a16:colId xmlns:a16="http://schemas.microsoft.com/office/drawing/2014/main" val="3628711874"/>
                    </a:ext>
                  </a:extLst>
                </a:gridCol>
                <a:gridCol w="298244">
                  <a:extLst>
                    <a:ext uri="{9D8B030D-6E8A-4147-A177-3AD203B41FA5}">
                      <a16:colId xmlns:a16="http://schemas.microsoft.com/office/drawing/2014/main" val="418691767"/>
                    </a:ext>
                  </a:extLst>
                </a:gridCol>
                <a:gridCol w="298244">
                  <a:extLst>
                    <a:ext uri="{9D8B030D-6E8A-4147-A177-3AD203B41FA5}">
                      <a16:colId xmlns:a16="http://schemas.microsoft.com/office/drawing/2014/main" val="3545934758"/>
                    </a:ext>
                  </a:extLst>
                </a:gridCol>
                <a:gridCol w="298244">
                  <a:extLst>
                    <a:ext uri="{9D8B030D-6E8A-4147-A177-3AD203B41FA5}">
                      <a16:colId xmlns:a16="http://schemas.microsoft.com/office/drawing/2014/main" val="3047711499"/>
                    </a:ext>
                  </a:extLst>
                </a:gridCol>
                <a:gridCol w="298244">
                  <a:extLst>
                    <a:ext uri="{9D8B030D-6E8A-4147-A177-3AD203B41FA5}">
                      <a16:colId xmlns:a16="http://schemas.microsoft.com/office/drawing/2014/main" val="3472330921"/>
                    </a:ext>
                  </a:extLst>
                </a:gridCol>
                <a:gridCol w="298244">
                  <a:extLst>
                    <a:ext uri="{9D8B030D-6E8A-4147-A177-3AD203B41FA5}">
                      <a16:colId xmlns:a16="http://schemas.microsoft.com/office/drawing/2014/main" val="1921929230"/>
                    </a:ext>
                  </a:extLst>
                </a:gridCol>
                <a:gridCol w="298244">
                  <a:extLst>
                    <a:ext uri="{9D8B030D-6E8A-4147-A177-3AD203B41FA5}">
                      <a16:colId xmlns:a16="http://schemas.microsoft.com/office/drawing/2014/main" val="1391632754"/>
                    </a:ext>
                  </a:extLst>
                </a:gridCol>
                <a:gridCol w="298244">
                  <a:extLst>
                    <a:ext uri="{9D8B030D-6E8A-4147-A177-3AD203B41FA5}">
                      <a16:colId xmlns:a16="http://schemas.microsoft.com/office/drawing/2014/main" val="3428786151"/>
                    </a:ext>
                  </a:extLst>
                </a:gridCol>
                <a:gridCol w="298244">
                  <a:extLst>
                    <a:ext uri="{9D8B030D-6E8A-4147-A177-3AD203B41FA5}">
                      <a16:colId xmlns:a16="http://schemas.microsoft.com/office/drawing/2014/main" val="1694490787"/>
                    </a:ext>
                  </a:extLst>
                </a:gridCol>
                <a:gridCol w="298244">
                  <a:extLst>
                    <a:ext uri="{9D8B030D-6E8A-4147-A177-3AD203B41FA5}">
                      <a16:colId xmlns:a16="http://schemas.microsoft.com/office/drawing/2014/main" val="3706367088"/>
                    </a:ext>
                  </a:extLst>
                </a:gridCol>
                <a:gridCol w="298244">
                  <a:extLst>
                    <a:ext uri="{9D8B030D-6E8A-4147-A177-3AD203B41FA5}">
                      <a16:colId xmlns:a16="http://schemas.microsoft.com/office/drawing/2014/main" val="828271367"/>
                    </a:ext>
                  </a:extLst>
                </a:gridCol>
                <a:gridCol w="298244">
                  <a:extLst>
                    <a:ext uri="{9D8B030D-6E8A-4147-A177-3AD203B41FA5}">
                      <a16:colId xmlns:a16="http://schemas.microsoft.com/office/drawing/2014/main" val="434137152"/>
                    </a:ext>
                  </a:extLst>
                </a:gridCol>
                <a:gridCol w="298244">
                  <a:extLst>
                    <a:ext uri="{9D8B030D-6E8A-4147-A177-3AD203B41FA5}">
                      <a16:colId xmlns:a16="http://schemas.microsoft.com/office/drawing/2014/main" val="3268435576"/>
                    </a:ext>
                  </a:extLst>
                </a:gridCol>
                <a:gridCol w="298244">
                  <a:extLst>
                    <a:ext uri="{9D8B030D-6E8A-4147-A177-3AD203B41FA5}">
                      <a16:colId xmlns:a16="http://schemas.microsoft.com/office/drawing/2014/main" val="19851295"/>
                    </a:ext>
                  </a:extLst>
                </a:gridCol>
              </a:tblGrid>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796856282"/>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36687898"/>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extLst>
                  <a:ext uri="{0D108BD9-81ED-4DB2-BD59-A6C34878D82A}">
                    <a16:rowId xmlns:a16="http://schemas.microsoft.com/office/drawing/2014/main" val="1960825043"/>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127090437"/>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0344918"/>
                  </a:ext>
                </a:extLst>
              </a:tr>
              <a:tr h="294190">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40000"/>
                        <a:lumOff val="6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tc>
                  <a:txBody>
                    <a:bodyPr/>
                    <a:lstStyle/>
                    <a:p>
                      <a:endParaRPr lang="en-CH" sz="1500" dirty="0"/>
                    </a:p>
                  </a:txBody>
                  <a:tcPr marL="70334" marR="70334" marT="35168" marB="35168">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accent6">
                        <a:lumMod val="20000"/>
                        <a:lumOff val="80000"/>
                      </a:schemeClr>
                    </a:solidFill>
                  </a:tcPr>
                </a:tc>
                <a:extLst>
                  <a:ext uri="{0D108BD9-81ED-4DB2-BD59-A6C34878D82A}">
                    <a16:rowId xmlns:a16="http://schemas.microsoft.com/office/drawing/2014/main" val="2263683157"/>
                  </a:ext>
                </a:extLst>
              </a:tr>
            </a:tbl>
          </a:graphicData>
        </a:graphic>
      </p:graphicFrame>
      <p:sp>
        <p:nvSpPr>
          <p:cNvPr id="12" name="TextBox 11">
            <a:extLst>
              <a:ext uri="{FF2B5EF4-FFF2-40B4-BE49-F238E27FC236}">
                <a16:creationId xmlns:a16="http://schemas.microsoft.com/office/drawing/2014/main" id="{BADA8640-351D-8CBB-70A8-A935F570E2EA}"/>
              </a:ext>
            </a:extLst>
          </p:cNvPr>
          <p:cNvSpPr txBox="1"/>
          <p:nvPr/>
        </p:nvSpPr>
        <p:spPr>
          <a:xfrm>
            <a:off x="1487488" y="4404638"/>
            <a:ext cx="3168352" cy="830997"/>
          </a:xfrm>
          <a:prstGeom prst="rect">
            <a:avLst/>
          </a:prstGeom>
          <a:noFill/>
        </p:spPr>
        <p:txBody>
          <a:bodyPr wrap="square" rtlCol="0">
            <a:spAutoFit/>
          </a:bodyPr>
          <a:lstStyle/>
          <a:p>
            <a:pPr algn="ctr"/>
            <a:r>
              <a:rPr lang="en-CH" sz="2400" dirty="0"/>
              <a:t>N data points,</a:t>
            </a:r>
          </a:p>
          <a:p>
            <a:pPr algn="ctr"/>
            <a:r>
              <a:rPr lang="en-CH" sz="2400" dirty="0"/>
              <a:t>Processing time T</a:t>
            </a:r>
          </a:p>
        </p:txBody>
      </p:sp>
      <p:sp>
        <p:nvSpPr>
          <p:cNvPr id="13" name="TextBox 12">
            <a:extLst>
              <a:ext uri="{FF2B5EF4-FFF2-40B4-BE49-F238E27FC236}">
                <a16:creationId xmlns:a16="http://schemas.microsoft.com/office/drawing/2014/main" id="{3DE94A0F-6552-2155-D875-E374F36AB29E}"/>
              </a:ext>
            </a:extLst>
          </p:cNvPr>
          <p:cNvSpPr txBox="1"/>
          <p:nvPr/>
        </p:nvSpPr>
        <p:spPr>
          <a:xfrm>
            <a:off x="6816080" y="4404638"/>
            <a:ext cx="3168352" cy="830997"/>
          </a:xfrm>
          <a:prstGeom prst="rect">
            <a:avLst/>
          </a:prstGeom>
          <a:noFill/>
        </p:spPr>
        <p:txBody>
          <a:bodyPr wrap="square" rtlCol="0">
            <a:spAutoFit/>
          </a:bodyPr>
          <a:lstStyle/>
          <a:p>
            <a:pPr algn="ctr"/>
            <a:r>
              <a:rPr lang="en-CH" sz="2400" dirty="0"/>
              <a:t>10x N data points</a:t>
            </a:r>
          </a:p>
          <a:p>
            <a:pPr algn="ctr"/>
            <a:r>
              <a:rPr lang="en-CH" sz="2400" b="1" dirty="0">
                <a:solidFill>
                  <a:srgbClr val="FF0000"/>
                </a:solidFill>
              </a:rPr>
              <a:t>Processing time -&gt; ?</a:t>
            </a:r>
          </a:p>
        </p:txBody>
      </p:sp>
      <p:sp>
        <p:nvSpPr>
          <p:cNvPr id="15" name="TextBox 14">
            <a:extLst>
              <a:ext uri="{FF2B5EF4-FFF2-40B4-BE49-F238E27FC236}">
                <a16:creationId xmlns:a16="http://schemas.microsoft.com/office/drawing/2014/main" id="{BF67523E-0FCA-52E8-61C0-0C8B25400F0B}"/>
              </a:ext>
            </a:extLst>
          </p:cNvPr>
          <p:cNvSpPr txBox="1"/>
          <p:nvPr/>
        </p:nvSpPr>
        <p:spPr>
          <a:xfrm>
            <a:off x="1216662" y="1730348"/>
            <a:ext cx="3710004" cy="523220"/>
          </a:xfrm>
          <a:prstGeom prst="rect">
            <a:avLst/>
          </a:prstGeom>
          <a:noFill/>
        </p:spPr>
        <p:txBody>
          <a:bodyPr wrap="square">
            <a:spAutoFit/>
          </a:bodyPr>
          <a:lstStyle/>
          <a:p>
            <a:pPr algn="ctr"/>
            <a:r>
              <a:rPr lang="en-CH" sz="2800" b="1" dirty="0"/>
              <a:t>Development data </a:t>
            </a:r>
          </a:p>
        </p:txBody>
      </p:sp>
      <p:sp>
        <p:nvSpPr>
          <p:cNvPr id="17" name="TextBox 16">
            <a:extLst>
              <a:ext uri="{FF2B5EF4-FFF2-40B4-BE49-F238E27FC236}">
                <a16:creationId xmlns:a16="http://schemas.microsoft.com/office/drawing/2014/main" id="{9E652F59-3A23-6A14-3781-82043BCF40C4}"/>
              </a:ext>
            </a:extLst>
          </p:cNvPr>
          <p:cNvSpPr txBox="1"/>
          <p:nvPr/>
        </p:nvSpPr>
        <p:spPr>
          <a:xfrm>
            <a:off x="7073990" y="1730348"/>
            <a:ext cx="2652533" cy="523220"/>
          </a:xfrm>
          <a:prstGeom prst="rect">
            <a:avLst/>
          </a:prstGeom>
          <a:noFill/>
        </p:spPr>
        <p:txBody>
          <a:bodyPr wrap="square">
            <a:spAutoFit/>
          </a:bodyPr>
          <a:lstStyle/>
          <a:p>
            <a:pPr algn="ctr"/>
            <a:r>
              <a:rPr lang="en-CH" sz="2800" b="1" dirty="0"/>
              <a:t>Real data</a:t>
            </a:r>
          </a:p>
        </p:txBody>
      </p:sp>
      <p:sp>
        <p:nvSpPr>
          <p:cNvPr id="14" name="TextBox 13">
            <a:extLst>
              <a:ext uri="{FF2B5EF4-FFF2-40B4-BE49-F238E27FC236}">
                <a16:creationId xmlns:a16="http://schemas.microsoft.com/office/drawing/2014/main" id="{FE4BE662-AB81-D24A-BC1E-6FF7C5E758B1}"/>
              </a:ext>
            </a:extLst>
          </p:cNvPr>
          <p:cNvSpPr txBox="1"/>
          <p:nvPr/>
        </p:nvSpPr>
        <p:spPr>
          <a:xfrm>
            <a:off x="3008750" y="5733256"/>
            <a:ext cx="6102492" cy="461665"/>
          </a:xfrm>
          <a:custGeom>
            <a:avLst/>
            <a:gdLst>
              <a:gd name="csX0" fmla="*/ 0 w 6102492"/>
              <a:gd name="csY0" fmla="*/ 0 h 461665"/>
              <a:gd name="csX1" fmla="*/ 556005 w 6102492"/>
              <a:gd name="csY1" fmla="*/ 0 h 461665"/>
              <a:gd name="csX2" fmla="*/ 1173035 w 6102492"/>
              <a:gd name="csY2" fmla="*/ 0 h 461665"/>
              <a:gd name="csX3" fmla="*/ 1729039 w 6102492"/>
              <a:gd name="csY3" fmla="*/ 0 h 461665"/>
              <a:gd name="csX4" fmla="*/ 2468119 w 6102492"/>
              <a:gd name="csY4" fmla="*/ 0 h 461665"/>
              <a:gd name="csX5" fmla="*/ 3146174 w 6102492"/>
              <a:gd name="csY5" fmla="*/ 0 h 461665"/>
              <a:gd name="csX6" fmla="*/ 3824228 w 6102492"/>
              <a:gd name="csY6" fmla="*/ 0 h 461665"/>
              <a:gd name="csX7" fmla="*/ 4624333 w 6102492"/>
              <a:gd name="csY7" fmla="*/ 0 h 461665"/>
              <a:gd name="csX8" fmla="*/ 5363412 w 6102492"/>
              <a:gd name="csY8" fmla="*/ 0 h 461665"/>
              <a:gd name="csX9" fmla="*/ 6102492 w 6102492"/>
              <a:gd name="csY9" fmla="*/ 0 h 461665"/>
              <a:gd name="csX10" fmla="*/ 6102492 w 6102492"/>
              <a:gd name="csY10" fmla="*/ 461665 h 461665"/>
              <a:gd name="csX11" fmla="*/ 5607512 w 6102492"/>
              <a:gd name="csY11" fmla="*/ 461665 h 461665"/>
              <a:gd name="csX12" fmla="*/ 5051507 w 6102492"/>
              <a:gd name="csY12" fmla="*/ 461665 h 461665"/>
              <a:gd name="csX13" fmla="*/ 4312428 w 6102492"/>
              <a:gd name="csY13" fmla="*/ 461665 h 461665"/>
              <a:gd name="csX14" fmla="*/ 3512323 w 6102492"/>
              <a:gd name="csY14" fmla="*/ 461665 h 461665"/>
              <a:gd name="csX15" fmla="*/ 2895293 w 6102492"/>
              <a:gd name="csY15" fmla="*/ 461665 h 461665"/>
              <a:gd name="csX16" fmla="*/ 2095189 w 6102492"/>
              <a:gd name="csY16" fmla="*/ 461665 h 461665"/>
              <a:gd name="csX17" fmla="*/ 1539184 w 6102492"/>
              <a:gd name="csY17" fmla="*/ 461665 h 461665"/>
              <a:gd name="csX18" fmla="*/ 1044204 w 6102492"/>
              <a:gd name="csY18" fmla="*/ 461665 h 461665"/>
              <a:gd name="csX19" fmla="*/ 0 w 6102492"/>
              <a:gd name="csY19" fmla="*/ 461665 h 461665"/>
              <a:gd name="csX20" fmla="*/ 0 w 6102492"/>
              <a:gd name="csY20" fmla="*/ 0 h 461665"/>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 ang="0">
                <a:pos x="csX19" y="csY19"/>
              </a:cxn>
              <a:cxn ang="0">
                <a:pos x="csX20" y="csY20"/>
              </a:cxn>
            </a:cxnLst>
            <a:rect l="l" t="t" r="r" b="b"/>
            <a:pathLst>
              <a:path w="6102492" h="461665" fill="none" extrusionOk="0">
                <a:moveTo>
                  <a:pt x="0" y="0"/>
                </a:moveTo>
                <a:cubicBezTo>
                  <a:pt x="243709" y="22296"/>
                  <a:pt x="300093" y="-1042"/>
                  <a:pt x="556005" y="0"/>
                </a:cubicBezTo>
                <a:cubicBezTo>
                  <a:pt x="811917" y="1042"/>
                  <a:pt x="981497" y="-12440"/>
                  <a:pt x="1173035" y="0"/>
                </a:cubicBezTo>
                <a:cubicBezTo>
                  <a:pt x="1364573" y="12440"/>
                  <a:pt x="1593685" y="6200"/>
                  <a:pt x="1729039" y="0"/>
                </a:cubicBezTo>
                <a:cubicBezTo>
                  <a:pt x="1864393" y="-6200"/>
                  <a:pt x="2204293" y="29298"/>
                  <a:pt x="2468119" y="0"/>
                </a:cubicBezTo>
                <a:cubicBezTo>
                  <a:pt x="2731945" y="-29298"/>
                  <a:pt x="2829813" y="107"/>
                  <a:pt x="3146174" y="0"/>
                </a:cubicBezTo>
                <a:cubicBezTo>
                  <a:pt x="3462535" y="-107"/>
                  <a:pt x="3568265" y="9801"/>
                  <a:pt x="3824228" y="0"/>
                </a:cubicBezTo>
                <a:cubicBezTo>
                  <a:pt x="4080191" y="-9801"/>
                  <a:pt x="4242359" y="-23072"/>
                  <a:pt x="4624333" y="0"/>
                </a:cubicBezTo>
                <a:cubicBezTo>
                  <a:pt x="5006308" y="23072"/>
                  <a:pt x="5033932" y="-23009"/>
                  <a:pt x="5363412" y="0"/>
                </a:cubicBezTo>
                <a:cubicBezTo>
                  <a:pt x="5692892" y="23009"/>
                  <a:pt x="5842200" y="-32297"/>
                  <a:pt x="6102492" y="0"/>
                </a:cubicBezTo>
                <a:cubicBezTo>
                  <a:pt x="6122671" y="157204"/>
                  <a:pt x="6091518" y="315611"/>
                  <a:pt x="6102492" y="461665"/>
                </a:cubicBezTo>
                <a:cubicBezTo>
                  <a:pt x="5958930" y="482370"/>
                  <a:pt x="5776034" y="485946"/>
                  <a:pt x="5607512" y="461665"/>
                </a:cubicBezTo>
                <a:cubicBezTo>
                  <a:pt x="5438990" y="437384"/>
                  <a:pt x="5165024" y="456927"/>
                  <a:pt x="5051507" y="461665"/>
                </a:cubicBezTo>
                <a:cubicBezTo>
                  <a:pt x="4937991" y="466403"/>
                  <a:pt x="4572247" y="491013"/>
                  <a:pt x="4312428" y="461665"/>
                </a:cubicBezTo>
                <a:cubicBezTo>
                  <a:pt x="4052609" y="432317"/>
                  <a:pt x="3739662" y="490303"/>
                  <a:pt x="3512323" y="461665"/>
                </a:cubicBezTo>
                <a:cubicBezTo>
                  <a:pt x="3284985" y="433027"/>
                  <a:pt x="3124496" y="465146"/>
                  <a:pt x="2895293" y="461665"/>
                </a:cubicBezTo>
                <a:cubicBezTo>
                  <a:pt x="2666090" y="458185"/>
                  <a:pt x="2451658" y="451648"/>
                  <a:pt x="2095189" y="461665"/>
                </a:cubicBezTo>
                <a:cubicBezTo>
                  <a:pt x="1738720" y="471682"/>
                  <a:pt x="1713597" y="439450"/>
                  <a:pt x="1539184" y="461665"/>
                </a:cubicBezTo>
                <a:cubicBezTo>
                  <a:pt x="1364772" y="483880"/>
                  <a:pt x="1161495" y="485897"/>
                  <a:pt x="1044204" y="461665"/>
                </a:cubicBezTo>
                <a:cubicBezTo>
                  <a:pt x="926913" y="437433"/>
                  <a:pt x="302746" y="419328"/>
                  <a:pt x="0" y="461665"/>
                </a:cubicBezTo>
                <a:cubicBezTo>
                  <a:pt x="4108" y="252334"/>
                  <a:pt x="-5091" y="225359"/>
                  <a:pt x="0" y="0"/>
                </a:cubicBezTo>
                <a:close/>
              </a:path>
              <a:path w="6102492" h="461665" stroke="0" extrusionOk="0">
                <a:moveTo>
                  <a:pt x="0" y="0"/>
                </a:moveTo>
                <a:cubicBezTo>
                  <a:pt x="230651" y="2535"/>
                  <a:pt x="422907" y="-22708"/>
                  <a:pt x="617030" y="0"/>
                </a:cubicBezTo>
                <a:cubicBezTo>
                  <a:pt x="811153" y="22708"/>
                  <a:pt x="918338" y="12720"/>
                  <a:pt x="1112010" y="0"/>
                </a:cubicBezTo>
                <a:cubicBezTo>
                  <a:pt x="1305682" y="-12720"/>
                  <a:pt x="1542123" y="-867"/>
                  <a:pt x="1912114" y="0"/>
                </a:cubicBezTo>
                <a:cubicBezTo>
                  <a:pt x="2282105" y="867"/>
                  <a:pt x="2375580" y="-15658"/>
                  <a:pt x="2529144" y="0"/>
                </a:cubicBezTo>
                <a:cubicBezTo>
                  <a:pt x="2682708" y="15658"/>
                  <a:pt x="2963309" y="-19412"/>
                  <a:pt x="3146174" y="0"/>
                </a:cubicBezTo>
                <a:cubicBezTo>
                  <a:pt x="3329039" y="19412"/>
                  <a:pt x="3622179" y="14660"/>
                  <a:pt x="3946278" y="0"/>
                </a:cubicBezTo>
                <a:cubicBezTo>
                  <a:pt x="4270377" y="-14660"/>
                  <a:pt x="4339224" y="-22070"/>
                  <a:pt x="4502283" y="0"/>
                </a:cubicBezTo>
                <a:cubicBezTo>
                  <a:pt x="4665342" y="22070"/>
                  <a:pt x="4977686" y="33390"/>
                  <a:pt x="5302387" y="0"/>
                </a:cubicBezTo>
                <a:cubicBezTo>
                  <a:pt x="5627088" y="-33390"/>
                  <a:pt x="5869885" y="-29837"/>
                  <a:pt x="6102492" y="0"/>
                </a:cubicBezTo>
                <a:cubicBezTo>
                  <a:pt x="6089142" y="178584"/>
                  <a:pt x="6092500" y="304996"/>
                  <a:pt x="6102492" y="461665"/>
                </a:cubicBezTo>
                <a:cubicBezTo>
                  <a:pt x="5963416" y="438609"/>
                  <a:pt x="5752403" y="428331"/>
                  <a:pt x="5424437" y="461665"/>
                </a:cubicBezTo>
                <a:cubicBezTo>
                  <a:pt x="5096471" y="494999"/>
                  <a:pt x="4958208" y="469976"/>
                  <a:pt x="4807408" y="461665"/>
                </a:cubicBezTo>
                <a:cubicBezTo>
                  <a:pt x="4656608" y="453354"/>
                  <a:pt x="4303168" y="453800"/>
                  <a:pt x="4007303" y="461665"/>
                </a:cubicBezTo>
                <a:cubicBezTo>
                  <a:pt x="3711438" y="469530"/>
                  <a:pt x="3477611" y="472908"/>
                  <a:pt x="3207199" y="461665"/>
                </a:cubicBezTo>
                <a:cubicBezTo>
                  <a:pt x="2936787" y="450422"/>
                  <a:pt x="2768222" y="489090"/>
                  <a:pt x="2651194" y="461665"/>
                </a:cubicBezTo>
                <a:cubicBezTo>
                  <a:pt x="2534167" y="434240"/>
                  <a:pt x="2154934" y="459907"/>
                  <a:pt x="1973139" y="461665"/>
                </a:cubicBezTo>
                <a:cubicBezTo>
                  <a:pt x="1791344" y="463423"/>
                  <a:pt x="1404080" y="471029"/>
                  <a:pt x="1173035" y="461665"/>
                </a:cubicBezTo>
                <a:cubicBezTo>
                  <a:pt x="941990" y="452301"/>
                  <a:pt x="306306" y="431118"/>
                  <a:pt x="0" y="461665"/>
                </a:cubicBezTo>
                <a:cubicBezTo>
                  <a:pt x="-2462" y="300802"/>
                  <a:pt x="-2149" y="122032"/>
                  <a:pt x="0" y="0"/>
                </a:cubicBezTo>
                <a:close/>
              </a:path>
            </a:pathLst>
          </a:custGeom>
          <a:solidFill>
            <a:schemeClr val="bg2"/>
          </a:solidFill>
          <a:ln w="38100">
            <a:solidFill>
              <a:schemeClr val="tx1"/>
            </a:solidFill>
            <a:extLst>
              <a:ext uri="{C807C97D-BFC1-408E-A445-0C87EB9F89A2}">
                <ask:lineSketchStyleProps xmlns:ask="http://schemas.microsoft.com/office/drawing/2018/sketchyshapes" sd="1219033472">
                  <a:prstGeom prst="rect">
                    <a:avLst/>
                  </a:prstGeom>
                  <ask:type>
                    <ask:lineSketchFreehand/>
                  </ask:type>
                </ask:lineSketchStyleProps>
              </a:ext>
            </a:extLst>
          </a:ln>
        </p:spPr>
        <p:txBody>
          <a:bodyPr wrap="square">
            <a:spAutoFit/>
          </a:bodyPr>
          <a:lstStyle/>
          <a:p>
            <a:pPr algn="ctr"/>
            <a:r>
              <a:rPr lang="en-CH" sz="2400" dirty="0"/>
              <a:t>We’re interested in orders of magnitude</a:t>
            </a:r>
          </a:p>
        </p:txBody>
      </p:sp>
    </p:spTree>
    <p:extLst>
      <p:ext uri="{BB962C8B-B14F-4D97-AF65-F5344CB8AC3E}">
        <p14:creationId xmlns:p14="http://schemas.microsoft.com/office/powerpoint/2010/main" val="162134063"/>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Example: Find common words</a:t>
            </a:r>
          </a:p>
        </p:txBody>
      </p:sp>
      <p:sp>
        <p:nvSpPr>
          <p:cNvPr id="3" name="Content Placeholder 2">
            <a:extLst>
              <a:ext uri="{FF2B5EF4-FFF2-40B4-BE49-F238E27FC236}">
                <a16:creationId xmlns:a16="http://schemas.microsoft.com/office/drawing/2014/main" id="{E93096AB-3E1B-8BD5-B098-628CCF7902AB}"/>
              </a:ext>
            </a:extLst>
          </p:cNvPr>
          <p:cNvSpPr>
            <a:spLocks noGrp="1"/>
          </p:cNvSpPr>
          <p:nvPr>
            <p:ph idx="1"/>
          </p:nvPr>
        </p:nvSpPr>
        <p:spPr>
          <a:xfrm>
            <a:off x="838200" y="1607027"/>
            <a:ext cx="10515600" cy="4692179"/>
          </a:xfrm>
        </p:spPr>
        <p:txBody>
          <a:bodyPr>
            <a:normAutofit/>
          </a:bodyPr>
          <a:lstStyle/>
          <a:p>
            <a:pPr marL="0" indent="0">
              <a:buNone/>
            </a:pPr>
            <a:r>
              <a:rPr lang="en-CH" dirty="0"/>
              <a:t>Given two lists of words, extract all the words that are in common</a:t>
            </a:r>
            <a:br>
              <a:rPr lang="en-CH" dirty="0"/>
            </a:br>
            <a:endParaRPr lang="en-CH" dirty="0"/>
          </a:p>
          <a:p>
            <a:endParaRPr lang="en-CH" dirty="0"/>
          </a:p>
          <a:p>
            <a:endParaRPr lang="en-CH" dirty="0"/>
          </a:p>
          <a:p>
            <a:endParaRPr lang="en-CH" dirty="0"/>
          </a:p>
          <a:p>
            <a:endParaRPr lang="en-CH" dirty="0"/>
          </a:p>
          <a:p>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14</a:t>
            </a:fld>
            <a:endParaRPr lang="en-US"/>
          </a:p>
        </p:txBody>
      </p:sp>
      <p:pic>
        <p:nvPicPr>
          <p:cNvPr id="17" name="Picture 16">
            <a:extLst>
              <a:ext uri="{FF2B5EF4-FFF2-40B4-BE49-F238E27FC236}">
                <a16:creationId xmlns:a16="http://schemas.microsoft.com/office/drawing/2014/main" id="{AFEEF298-37F3-520E-558F-3EF9D4F027D6}"/>
              </a:ext>
            </a:extLst>
          </p:cNvPr>
          <p:cNvPicPr>
            <a:picLocks noChangeAspect="1"/>
          </p:cNvPicPr>
          <p:nvPr/>
        </p:nvPicPr>
        <p:blipFill>
          <a:blip r:embed="rId2"/>
          <a:stretch>
            <a:fillRect/>
          </a:stretch>
        </p:blipFill>
        <p:spPr>
          <a:xfrm>
            <a:off x="1703512" y="2636912"/>
            <a:ext cx="8784976" cy="648072"/>
          </a:xfrm>
          <a:prstGeom prst="rect">
            <a:avLst/>
          </a:prstGeom>
        </p:spPr>
      </p:pic>
      <p:sp>
        <p:nvSpPr>
          <p:cNvPr id="9" name="TextBox 8">
            <a:extLst>
              <a:ext uri="{FF2B5EF4-FFF2-40B4-BE49-F238E27FC236}">
                <a16:creationId xmlns:a16="http://schemas.microsoft.com/office/drawing/2014/main" id="{B59B32F1-3A78-3E01-9EE6-FC7FF356AD8B}"/>
              </a:ext>
            </a:extLst>
          </p:cNvPr>
          <p:cNvSpPr txBox="1"/>
          <p:nvPr/>
        </p:nvSpPr>
        <p:spPr>
          <a:xfrm>
            <a:off x="1559496" y="3429000"/>
            <a:ext cx="7560840" cy="461665"/>
          </a:xfrm>
          <a:prstGeom prst="rect">
            <a:avLst/>
          </a:prstGeom>
          <a:noFill/>
        </p:spPr>
        <p:txBody>
          <a:bodyPr wrap="square" rtlCol="0">
            <a:spAutoFit/>
          </a:bodyPr>
          <a:lstStyle/>
          <a:p>
            <a:r>
              <a:rPr lang="en-CH" sz="2400" dirty="0"/>
              <a:t>Expected result: </a:t>
            </a:r>
            <a:r>
              <a:rPr lang="en-US" sz="2400" dirty="0">
                <a:latin typeface="Consolas" panose="020B0609020204030204" pitchFamily="49" charset="0"/>
                <a:cs typeface="Consolas" panose="020B0609020204030204" pitchFamily="49" charset="0"/>
              </a:rPr>
              <a:t>['apple', 'orange', 'banana']</a:t>
            </a:r>
            <a:endParaRPr lang="en-CH" sz="2400" dirty="0">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290334316"/>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two</a:t>
            </a:r>
            <a:r>
              <a:rPr lang="en-CH" dirty="0"/>
              <a:t> for-loops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15</a:t>
            </a:fld>
            <a:endParaRPr lang="en-US"/>
          </a:p>
        </p:txBody>
      </p:sp>
      <p:pic>
        <p:nvPicPr>
          <p:cNvPr id="11" name="Picture 10">
            <a:extLst>
              <a:ext uri="{FF2B5EF4-FFF2-40B4-BE49-F238E27FC236}">
                <a16:creationId xmlns:a16="http://schemas.microsoft.com/office/drawing/2014/main" id="{AE408B0A-1188-7D54-5322-43BEF2DCE4C0}"/>
              </a:ext>
            </a:extLst>
          </p:cNvPr>
          <p:cNvPicPr>
            <a:picLocks noChangeAspect="1"/>
          </p:cNvPicPr>
          <p:nvPr/>
        </p:nvPicPr>
        <p:blipFill>
          <a:blip r:embed="rId2"/>
          <a:stretch>
            <a:fillRect/>
          </a:stretch>
        </p:blipFill>
        <p:spPr>
          <a:xfrm>
            <a:off x="551384" y="1841500"/>
            <a:ext cx="6235700" cy="1587500"/>
          </a:xfrm>
          <a:prstGeom prst="rect">
            <a:avLst/>
          </a:prstGeom>
        </p:spPr>
      </p:pic>
      <p:sp>
        <p:nvSpPr>
          <p:cNvPr id="12" name="TextBox 11">
            <a:extLst>
              <a:ext uri="{FF2B5EF4-FFF2-40B4-BE49-F238E27FC236}">
                <a16:creationId xmlns:a16="http://schemas.microsoft.com/office/drawing/2014/main" id="{D5D19004-863D-BC80-19B1-16582CF786DC}"/>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spTree>
    <p:extLst>
      <p:ext uri="{BB962C8B-B14F-4D97-AF65-F5344CB8AC3E}">
        <p14:creationId xmlns:p14="http://schemas.microsoft.com/office/powerpoint/2010/main" val="3805309063"/>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6" name="Picture 15">
            <a:extLst>
              <a:ext uri="{FF2B5EF4-FFF2-40B4-BE49-F238E27FC236}">
                <a16:creationId xmlns:a16="http://schemas.microsoft.com/office/drawing/2014/main" id="{A5CD3A75-B76C-DFC8-68AB-018F37ABF99F}"/>
              </a:ext>
            </a:extLst>
          </p:cNvPr>
          <p:cNvPicPr>
            <a:picLocks noChangeAspect="1"/>
          </p:cNvPicPr>
          <p:nvPr/>
        </p:nvPicPr>
        <p:blipFill>
          <a:blip r:embed="rId2"/>
          <a:stretch>
            <a:fillRect/>
          </a:stretch>
        </p:blipFill>
        <p:spPr>
          <a:xfrm>
            <a:off x="7829509" y="1132854"/>
            <a:ext cx="4027131" cy="3780572"/>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two</a:t>
            </a:r>
            <a:r>
              <a:rPr lang="en-CH" dirty="0"/>
              <a:t> for-loops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16</a:t>
            </a:fld>
            <a:endParaRPr lang="en-US"/>
          </a:p>
        </p:txBody>
      </p:sp>
      <p:pic>
        <p:nvPicPr>
          <p:cNvPr id="11" name="Picture 10">
            <a:extLst>
              <a:ext uri="{FF2B5EF4-FFF2-40B4-BE49-F238E27FC236}">
                <a16:creationId xmlns:a16="http://schemas.microsoft.com/office/drawing/2014/main" id="{AE408B0A-1188-7D54-5322-43BEF2DCE4C0}"/>
              </a:ext>
            </a:extLst>
          </p:cNvPr>
          <p:cNvPicPr>
            <a:picLocks noChangeAspect="1"/>
          </p:cNvPicPr>
          <p:nvPr/>
        </p:nvPicPr>
        <p:blipFill>
          <a:blip r:embed="rId3"/>
          <a:stretch>
            <a:fillRect/>
          </a:stretch>
        </p:blipFill>
        <p:spPr>
          <a:xfrm>
            <a:off x="551384" y="1841500"/>
            <a:ext cx="6235700" cy="1587500"/>
          </a:xfrm>
          <a:prstGeom prst="rect">
            <a:avLst/>
          </a:prstGeom>
        </p:spPr>
      </p:pic>
      <p:sp>
        <p:nvSpPr>
          <p:cNvPr id="14" name="TextBox 13">
            <a:extLst>
              <a:ext uri="{FF2B5EF4-FFF2-40B4-BE49-F238E27FC236}">
                <a16:creationId xmlns:a16="http://schemas.microsoft.com/office/drawing/2014/main" id="{508622A7-1C3A-3458-8ABF-345406BFB37B}"/>
              </a:ext>
            </a:extLst>
          </p:cNvPr>
          <p:cNvSpPr txBox="1"/>
          <p:nvPr/>
        </p:nvSpPr>
        <p:spPr>
          <a:xfrm>
            <a:off x="564908" y="4860869"/>
            <a:ext cx="9721080" cy="954107"/>
          </a:xfrm>
          <a:prstGeom prst="rect">
            <a:avLst/>
          </a:prstGeom>
          <a:noFill/>
        </p:spPr>
        <p:txBody>
          <a:bodyPr wrap="square" rtlCol="0">
            <a:spAutoFit/>
          </a:bodyPr>
          <a:lstStyle/>
          <a:p>
            <a:r>
              <a:rPr lang="en-CH" sz="2800" dirty="0"/>
              <a:t>How does this implementation scale?</a:t>
            </a:r>
          </a:p>
          <a:p>
            <a:r>
              <a:rPr lang="en-CH" sz="2800" dirty="0"/>
              <a:t>N * N  =&gt; 10x more data ~= 100x more time</a:t>
            </a:r>
          </a:p>
        </p:txBody>
      </p:sp>
      <p:sp>
        <p:nvSpPr>
          <p:cNvPr id="3" name="TextBox 2">
            <a:extLst>
              <a:ext uri="{FF2B5EF4-FFF2-40B4-BE49-F238E27FC236}">
                <a16:creationId xmlns:a16="http://schemas.microsoft.com/office/drawing/2014/main" id="{AD6BEDE2-4B85-2EDC-855B-7797E6DF14B7}"/>
              </a:ext>
            </a:extLst>
          </p:cNvPr>
          <p:cNvSpPr txBox="1"/>
          <p:nvPr/>
        </p:nvSpPr>
        <p:spPr>
          <a:xfrm>
            <a:off x="3287688" y="2635250"/>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 (1 operation)</a:t>
            </a:r>
          </a:p>
        </p:txBody>
      </p:sp>
    </p:spTree>
    <p:extLst>
      <p:ext uri="{BB962C8B-B14F-4D97-AF65-F5344CB8AC3E}">
        <p14:creationId xmlns:p14="http://schemas.microsoft.com/office/powerpoint/2010/main" val="249044104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DE9E3BF-854D-6098-C201-82820D725472}"/>
              </a:ext>
            </a:extLst>
          </p:cNvPr>
          <p:cNvPicPr>
            <a:picLocks noChangeAspect="1"/>
          </p:cNvPicPr>
          <p:nvPr/>
        </p:nvPicPr>
        <p:blipFill rotWithShape="1">
          <a:blip r:embed="rId2"/>
          <a:srcRect l="179" r="20883"/>
          <a:stretch/>
        </p:blipFill>
        <p:spPr>
          <a:xfrm>
            <a:off x="568897" y="1315080"/>
            <a:ext cx="7027203" cy="3194039"/>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sorted lists</a:t>
            </a:r>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17</a:t>
            </a:fld>
            <a:endParaRPr lang="en-US"/>
          </a:p>
        </p:txBody>
      </p:sp>
      <p:sp>
        <p:nvSpPr>
          <p:cNvPr id="10" name="TextBox 9">
            <a:extLst>
              <a:ext uri="{FF2B5EF4-FFF2-40B4-BE49-F238E27FC236}">
                <a16:creationId xmlns:a16="http://schemas.microsoft.com/office/drawing/2014/main" id="{0F5CCBAD-DF15-3934-FCCB-CB656B12AE22}"/>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pic>
        <p:nvPicPr>
          <p:cNvPr id="11" name="Picture 10">
            <a:extLst>
              <a:ext uri="{FF2B5EF4-FFF2-40B4-BE49-F238E27FC236}">
                <a16:creationId xmlns:a16="http://schemas.microsoft.com/office/drawing/2014/main" id="{ABAF7E96-D296-85F9-5926-32A56DC21092}"/>
              </a:ext>
            </a:extLst>
          </p:cNvPr>
          <p:cNvPicPr>
            <a:picLocks noChangeAspect="1"/>
          </p:cNvPicPr>
          <p:nvPr/>
        </p:nvPicPr>
        <p:blipFill>
          <a:blip r:embed="rId3"/>
          <a:stretch>
            <a:fillRect/>
          </a:stretch>
        </p:blipFill>
        <p:spPr>
          <a:xfrm>
            <a:off x="2783632" y="1844824"/>
            <a:ext cx="4824536" cy="474725"/>
          </a:xfrm>
          <a:prstGeom prst="rect">
            <a:avLst/>
          </a:prstGeom>
        </p:spPr>
      </p:pic>
    </p:spTree>
    <p:extLst>
      <p:ext uri="{BB962C8B-B14F-4D97-AF65-F5344CB8AC3E}">
        <p14:creationId xmlns:p14="http://schemas.microsoft.com/office/powerpoint/2010/main" val="1625295439"/>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4DE9E3BF-854D-6098-C201-82820D725472}"/>
              </a:ext>
            </a:extLst>
          </p:cNvPr>
          <p:cNvPicPr>
            <a:picLocks noChangeAspect="1"/>
          </p:cNvPicPr>
          <p:nvPr/>
        </p:nvPicPr>
        <p:blipFill rotWithShape="1">
          <a:blip r:embed="rId2"/>
          <a:srcRect l="179" r="20883"/>
          <a:stretch/>
        </p:blipFill>
        <p:spPr>
          <a:xfrm>
            <a:off x="568897" y="1315080"/>
            <a:ext cx="7027203" cy="3194039"/>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US" dirty="0"/>
              <a:t>Implementation with sorted lists</a:t>
            </a:r>
            <a:endParaRPr lang="en-CH" dirty="0"/>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18</a:t>
            </a:fld>
            <a:endParaRPr lang="en-US"/>
          </a:p>
        </p:txBody>
      </p:sp>
      <p:sp>
        <p:nvSpPr>
          <p:cNvPr id="10" name="TextBox 9">
            <a:extLst>
              <a:ext uri="{FF2B5EF4-FFF2-40B4-BE49-F238E27FC236}">
                <a16:creationId xmlns:a16="http://schemas.microsoft.com/office/drawing/2014/main" id="{0F5CCBAD-DF15-3934-FCCB-CB656B12AE22}"/>
              </a:ext>
            </a:extLst>
          </p:cNvPr>
          <p:cNvSpPr txBox="1"/>
          <p:nvPr/>
        </p:nvSpPr>
        <p:spPr>
          <a:xfrm>
            <a:off x="564908" y="4860869"/>
            <a:ext cx="8073954" cy="954107"/>
          </a:xfrm>
          <a:prstGeom prst="rect">
            <a:avLst/>
          </a:prstGeom>
          <a:noFill/>
        </p:spPr>
        <p:txBody>
          <a:bodyPr wrap="square" rtlCol="0">
            <a:spAutoFit/>
          </a:bodyPr>
          <a:lstStyle/>
          <a:p>
            <a:r>
              <a:rPr lang="en-CH" sz="2800" dirty="0"/>
              <a:t>How does this implementation scale?</a:t>
            </a:r>
          </a:p>
          <a:p>
            <a:r>
              <a:rPr lang="en-CH" sz="2800" dirty="0"/>
              <a:t>N * log(N) =&gt; 10x more data ~= 23x more time</a:t>
            </a:r>
            <a:endParaRPr lang="en-CH" sz="2800" b="1" dirty="0"/>
          </a:p>
        </p:txBody>
      </p:sp>
      <p:pic>
        <p:nvPicPr>
          <p:cNvPr id="11" name="Picture 10">
            <a:extLst>
              <a:ext uri="{FF2B5EF4-FFF2-40B4-BE49-F238E27FC236}">
                <a16:creationId xmlns:a16="http://schemas.microsoft.com/office/drawing/2014/main" id="{ABAF7E96-D296-85F9-5926-32A56DC21092}"/>
              </a:ext>
            </a:extLst>
          </p:cNvPr>
          <p:cNvPicPr>
            <a:picLocks noChangeAspect="1"/>
          </p:cNvPicPr>
          <p:nvPr/>
        </p:nvPicPr>
        <p:blipFill>
          <a:blip r:embed="rId3"/>
          <a:stretch>
            <a:fillRect/>
          </a:stretch>
        </p:blipFill>
        <p:spPr>
          <a:xfrm>
            <a:off x="2783632" y="1844824"/>
            <a:ext cx="4824536" cy="474725"/>
          </a:xfrm>
          <a:prstGeom prst="rect">
            <a:avLst/>
          </a:prstGeom>
        </p:spPr>
      </p:pic>
      <p:pic>
        <p:nvPicPr>
          <p:cNvPr id="9" name="Picture 8">
            <a:extLst>
              <a:ext uri="{FF2B5EF4-FFF2-40B4-BE49-F238E27FC236}">
                <a16:creationId xmlns:a16="http://schemas.microsoft.com/office/drawing/2014/main" id="{D8251C76-F828-4571-D8A2-B98952587F94}"/>
              </a:ext>
            </a:extLst>
          </p:cNvPr>
          <p:cNvPicPr>
            <a:picLocks noChangeAspect="1"/>
          </p:cNvPicPr>
          <p:nvPr/>
        </p:nvPicPr>
        <p:blipFill>
          <a:blip r:embed="rId4"/>
          <a:stretch>
            <a:fillRect/>
          </a:stretch>
        </p:blipFill>
        <p:spPr>
          <a:xfrm>
            <a:off x="7748586" y="1108296"/>
            <a:ext cx="4124497" cy="3858852"/>
          </a:xfrm>
          <a:prstGeom prst="rect">
            <a:avLst/>
          </a:prstGeom>
        </p:spPr>
      </p:pic>
      <p:pic>
        <p:nvPicPr>
          <p:cNvPr id="12" name="Picture 11">
            <a:extLst>
              <a:ext uri="{FF2B5EF4-FFF2-40B4-BE49-F238E27FC236}">
                <a16:creationId xmlns:a16="http://schemas.microsoft.com/office/drawing/2014/main" id="{822CAEE9-9100-1F79-6A32-542F10970CFB}"/>
              </a:ext>
            </a:extLst>
          </p:cNvPr>
          <p:cNvPicPr>
            <a:picLocks noChangeAspect="1"/>
          </p:cNvPicPr>
          <p:nvPr/>
        </p:nvPicPr>
        <p:blipFill>
          <a:blip r:embed="rId5"/>
          <a:stretch>
            <a:fillRect/>
          </a:stretch>
        </p:blipFill>
        <p:spPr>
          <a:xfrm>
            <a:off x="8638862" y="1339564"/>
            <a:ext cx="1727324" cy="558840"/>
          </a:xfrm>
          <a:prstGeom prst="rect">
            <a:avLst/>
          </a:prstGeom>
        </p:spPr>
      </p:pic>
      <p:pic>
        <p:nvPicPr>
          <p:cNvPr id="3" name="Picture 2">
            <a:extLst>
              <a:ext uri="{FF2B5EF4-FFF2-40B4-BE49-F238E27FC236}">
                <a16:creationId xmlns:a16="http://schemas.microsoft.com/office/drawing/2014/main" id="{1F6F4E27-F463-E601-C8EE-7EB44BF2D9D6}"/>
              </a:ext>
            </a:extLst>
          </p:cNvPr>
          <p:cNvPicPr>
            <a:picLocks noChangeAspect="1"/>
          </p:cNvPicPr>
          <p:nvPr/>
        </p:nvPicPr>
        <p:blipFill rotWithShape="1">
          <a:blip r:embed="rId6"/>
          <a:srcRect l="-1" r="23183"/>
          <a:stretch>
            <a:fillRect/>
          </a:stretch>
        </p:blipFill>
        <p:spPr>
          <a:xfrm>
            <a:off x="561951" y="1816650"/>
            <a:ext cx="7027203" cy="2692469"/>
          </a:xfrm>
          <a:prstGeom prst="rect">
            <a:avLst/>
          </a:prstGeom>
        </p:spPr>
      </p:pic>
      <p:sp>
        <p:nvSpPr>
          <p:cNvPr id="8" name="TextBox 7">
            <a:extLst>
              <a:ext uri="{FF2B5EF4-FFF2-40B4-BE49-F238E27FC236}">
                <a16:creationId xmlns:a16="http://schemas.microsoft.com/office/drawing/2014/main" id="{88BBE109-A84B-2AB0-783B-62C6CD1382BC}"/>
              </a:ext>
            </a:extLst>
          </p:cNvPr>
          <p:cNvSpPr txBox="1"/>
          <p:nvPr/>
        </p:nvSpPr>
        <p:spPr>
          <a:xfrm>
            <a:off x="3073337" y="1789394"/>
            <a:ext cx="3168352" cy="523220"/>
          </a:xfrm>
          <a:prstGeom prst="rect">
            <a:avLst/>
          </a:prstGeom>
          <a:solidFill>
            <a:srgbClr val="F7F7F7"/>
          </a:solidFill>
        </p:spPr>
        <p:txBody>
          <a:bodyPr wrap="square" rtlCol="0">
            <a:spAutoFit/>
          </a:bodyPr>
          <a:lstStyle/>
          <a:p>
            <a:r>
              <a:rPr lang="en-CH" sz="1400" i="1" dirty="0">
                <a:solidFill>
                  <a:schemeClr val="accent6">
                    <a:lumMod val="75000"/>
                  </a:schemeClr>
                </a:solidFill>
                <a:latin typeface="Consolas" panose="020B0609020204030204" pitchFamily="49" charset="0"/>
                <a:cs typeface="Consolas" panose="020B0609020204030204" pitchFamily="49" charset="0"/>
              </a:rPr>
              <a:t># N * log(N) operations</a:t>
            </a:r>
          </a:p>
          <a:p>
            <a:r>
              <a:rPr lang="en-CH" sz="1400" i="1" dirty="0">
                <a:solidFill>
                  <a:schemeClr val="accent6">
                    <a:lumMod val="75000"/>
                  </a:schemeClr>
                </a:solidFill>
                <a:latin typeface="Consolas" panose="020B0609020204030204" pitchFamily="49" charset="0"/>
                <a:cs typeface="Consolas" panose="020B0609020204030204" pitchFamily="49" charset="0"/>
              </a:rPr>
              <a:t># N * log(N) operations</a:t>
            </a:r>
          </a:p>
        </p:txBody>
      </p:sp>
      <p:sp>
        <p:nvSpPr>
          <p:cNvPr id="13" name="TextBox 12">
            <a:extLst>
              <a:ext uri="{FF2B5EF4-FFF2-40B4-BE49-F238E27FC236}">
                <a16:creationId xmlns:a16="http://schemas.microsoft.com/office/drawing/2014/main" id="{9FC68568-C80A-E5C7-9356-02BE56D1F5DD}"/>
              </a:ext>
            </a:extLst>
          </p:cNvPr>
          <p:cNvSpPr txBox="1"/>
          <p:nvPr/>
        </p:nvSpPr>
        <p:spPr>
          <a:xfrm>
            <a:off x="5303912" y="2679929"/>
            <a:ext cx="2234819" cy="738664"/>
          </a:xfrm>
          <a:prstGeom prst="rect">
            <a:avLst/>
          </a:prstGeom>
          <a:solidFill>
            <a:srgbClr val="F7F7F7"/>
          </a:solidFill>
        </p:spPr>
        <p:txBody>
          <a:bodyPr wrap="square" rtlCol="0">
            <a:spAutoFit/>
          </a:bodyPr>
          <a:lstStyle/>
          <a:p>
            <a:r>
              <a:rPr lang="en-CH" sz="1400" i="1" dirty="0">
                <a:solidFill>
                  <a:schemeClr val="accent6">
                    <a:lumMod val="75000"/>
                  </a:schemeClr>
                </a:solidFill>
                <a:latin typeface="Consolas" panose="020B0609020204030204" pitchFamily="49" charset="0"/>
                <a:cs typeface="Consolas" panose="020B0609020204030204" pitchFamily="49" charset="0"/>
              </a:rPr>
              <a:t># We traverse both </a:t>
            </a:r>
          </a:p>
          <a:p>
            <a:r>
              <a:rPr lang="en-CH" sz="1400" i="1" dirty="0">
                <a:solidFill>
                  <a:schemeClr val="accent6">
                    <a:lumMod val="75000"/>
                  </a:schemeClr>
                </a:solidFill>
                <a:latin typeface="Consolas" panose="020B0609020204030204" pitchFamily="49" charset="0"/>
                <a:cs typeface="Consolas" panose="020B0609020204030204" pitchFamily="49" charset="0"/>
              </a:rPr>
              <a:t># lists once: </a:t>
            </a:r>
          </a:p>
          <a:p>
            <a:r>
              <a:rPr lang="en-CH" sz="1400" i="1" dirty="0">
                <a:solidFill>
                  <a:schemeClr val="accent6">
                    <a:lumMod val="75000"/>
                  </a:schemeClr>
                </a:solidFill>
                <a:latin typeface="Consolas" panose="020B0609020204030204" pitchFamily="49" charset="0"/>
                <a:cs typeface="Consolas" panose="020B0609020204030204" pitchFamily="49" charset="0"/>
              </a:rPr>
              <a:t># N + N operations</a:t>
            </a:r>
          </a:p>
        </p:txBody>
      </p:sp>
      <p:sp>
        <p:nvSpPr>
          <p:cNvPr id="14" name="TextBox 13">
            <a:extLst>
              <a:ext uri="{FF2B5EF4-FFF2-40B4-BE49-F238E27FC236}">
                <a16:creationId xmlns:a16="http://schemas.microsoft.com/office/drawing/2014/main" id="{E199E252-AAA0-8FD5-95E1-158FC8D0F5CF}"/>
              </a:ext>
            </a:extLst>
          </p:cNvPr>
          <p:cNvSpPr txBox="1"/>
          <p:nvPr/>
        </p:nvSpPr>
        <p:spPr>
          <a:xfrm>
            <a:off x="3073337" y="3443109"/>
            <a:ext cx="3168352" cy="307777"/>
          </a:xfrm>
          <a:prstGeom prst="rect">
            <a:avLst/>
          </a:prstGeom>
          <a:solidFill>
            <a:srgbClr val="F7F7F7"/>
          </a:solidFill>
        </p:spPr>
        <p:txBody>
          <a:bodyPr wrap="square" rtlCol="0">
            <a:spAutoFit/>
          </a:bodyPr>
          <a:lstStyle/>
          <a:p>
            <a:endParaRPr lang="en-CH" sz="1400" i="1" dirty="0">
              <a:solidFill>
                <a:schemeClr val="accent6">
                  <a:lumMod val="75000"/>
                </a:schemeClr>
              </a:solidFill>
              <a:latin typeface="Consolas" panose="020B0609020204030204" pitchFamily="49" charset="0"/>
              <a:cs typeface="Consolas" panose="020B0609020204030204" pitchFamily="49" charset="0"/>
            </a:endParaRPr>
          </a:p>
        </p:txBody>
      </p:sp>
      <p:sp>
        <p:nvSpPr>
          <p:cNvPr id="15" name="TextBox 14">
            <a:extLst>
              <a:ext uri="{FF2B5EF4-FFF2-40B4-BE49-F238E27FC236}">
                <a16:creationId xmlns:a16="http://schemas.microsoft.com/office/drawing/2014/main" id="{166E774F-6C50-DC41-6987-71CE7B199EEF}"/>
              </a:ext>
            </a:extLst>
          </p:cNvPr>
          <p:cNvSpPr txBox="1"/>
          <p:nvPr/>
        </p:nvSpPr>
        <p:spPr>
          <a:xfrm>
            <a:off x="3073337" y="4011718"/>
            <a:ext cx="3168352" cy="307777"/>
          </a:xfrm>
          <a:prstGeom prst="rect">
            <a:avLst/>
          </a:prstGeom>
          <a:solidFill>
            <a:srgbClr val="F7F7F7"/>
          </a:solidFill>
        </p:spPr>
        <p:txBody>
          <a:bodyPr wrap="square" rtlCol="0">
            <a:spAutoFit/>
          </a:bodyPr>
          <a:lstStyle/>
          <a:p>
            <a:endParaRPr lang="en-CH" sz="1400" i="1" dirty="0">
              <a:solidFill>
                <a:schemeClr val="accent6">
                  <a:lumMod val="75000"/>
                </a:schemeClr>
              </a:solidFill>
              <a:latin typeface="Consolas" panose="020B0609020204030204" pitchFamily="49" charset="0"/>
              <a:cs typeface="Consolas" panose="020B0609020204030204" pitchFamily="49" charset="0"/>
            </a:endParaRPr>
          </a:p>
        </p:txBody>
      </p:sp>
    </p:spTree>
    <p:extLst>
      <p:ext uri="{BB962C8B-B14F-4D97-AF65-F5344CB8AC3E}">
        <p14:creationId xmlns:p14="http://schemas.microsoft.com/office/powerpoint/2010/main" val="28761294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Implementation with sets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19</a:t>
            </a:fld>
            <a:endParaRPr lang="en-US"/>
          </a:p>
        </p:txBody>
      </p:sp>
      <p:pic>
        <p:nvPicPr>
          <p:cNvPr id="12" name="Picture 11">
            <a:extLst>
              <a:ext uri="{FF2B5EF4-FFF2-40B4-BE49-F238E27FC236}">
                <a16:creationId xmlns:a16="http://schemas.microsoft.com/office/drawing/2014/main" id="{B144A70E-3E75-9841-9803-8CFD99245E3C}"/>
              </a:ext>
            </a:extLst>
          </p:cNvPr>
          <p:cNvPicPr>
            <a:picLocks noChangeAspect="1"/>
          </p:cNvPicPr>
          <p:nvPr/>
        </p:nvPicPr>
        <p:blipFill rotWithShape="1">
          <a:blip r:embed="rId2"/>
          <a:srcRect l="216"/>
          <a:stretch/>
        </p:blipFill>
        <p:spPr>
          <a:xfrm>
            <a:off x="564908" y="1311377"/>
            <a:ext cx="6247576" cy="2095500"/>
          </a:xfrm>
          <a:prstGeom prst="rect">
            <a:avLst/>
          </a:prstGeom>
        </p:spPr>
      </p:pic>
      <p:sp>
        <p:nvSpPr>
          <p:cNvPr id="9" name="TextBox 8">
            <a:extLst>
              <a:ext uri="{FF2B5EF4-FFF2-40B4-BE49-F238E27FC236}">
                <a16:creationId xmlns:a16="http://schemas.microsoft.com/office/drawing/2014/main" id="{F4649BF9-8273-D87E-97E3-3ECCF86D8F56}"/>
              </a:ext>
            </a:extLst>
          </p:cNvPr>
          <p:cNvSpPr txBox="1"/>
          <p:nvPr/>
        </p:nvSpPr>
        <p:spPr>
          <a:xfrm>
            <a:off x="564908" y="4860869"/>
            <a:ext cx="9721080" cy="523220"/>
          </a:xfrm>
          <a:prstGeom prst="rect">
            <a:avLst/>
          </a:prstGeom>
          <a:noFill/>
        </p:spPr>
        <p:txBody>
          <a:bodyPr wrap="square" rtlCol="0">
            <a:spAutoFit/>
          </a:bodyPr>
          <a:lstStyle/>
          <a:p>
            <a:r>
              <a:rPr lang="en-CH" sz="2800" dirty="0"/>
              <a:t>How does this implementation scale?</a:t>
            </a:r>
          </a:p>
        </p:txBody>
      </p:sp>
      <p:sp>
        <p:nvSpPr>
          <p:cNvPr id="3" name="TextBox 2">
            <a:extLst>
              <a:ext uri="{FF2B5EF4-FFF2-40B4-BE49-F238E27FC236}">
                <a16:creationId xmlns:a16="http://schemas.microsoft.com/office/drawing/2014/main" id="{88EF601B-D8DF-764B-5579-12236BBBF59B}"/>
              </a:ext>
            </a:extLst>
          </p:cNvPr>
          <p:cNvSpPr txBox="1"/>
          <p:nvPr/>
        </p:nvSpPr>
        <p:spPr>
          <a:xfrm>
            <a:off x="3287688" y="2598003"/>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7" name="TextBox 6">
            <a:extLst>
              <a:ext uri="{FF2B5EF4-FFF2-40B4-BE49-F238E27FC236}">
                <a16:creationId xmlns:a16="http://schemas.microsoft.com/office/drawing/2014/main" id="{7D82D2C3-8DBB-7FCB-ED09-015BFADDCA4F}"/>
              </a:ext>
            </a:extLst>
          </p:cNvPr>
          <p:cNvSpPr txBox="1"/>
          <p:nvPr/>
        </p:nvSpPr>
        <p:spPr>
          <a:xfrm>
            <a:off x="3287688" y="1943628"/>
            <a:ext cx="3168352" cy="338554"/>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spTree>
    <p:extLst>
      <p:ext uri="{BB962C8B-B14F-4D97-AF65-F5344CB8AC3E}">
        <p14:creationId xmlns:p14="http://schemas.microsoft.com/office/powerpoint/2010/main" val="2212569886"/>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7" name="Picture 6">
            <a:extLst>
              <a:ext uri="{FF2B5EF4-FFF2-40B4-BE49-F238E27FC236}">
                <a16:creationId xmlns:a16="http://schemas.microsoft.com/office/drawing/2014/main" id="{957DA803-8BE6-6F02-036F-24B087F40167}"/>
              </a:ext>
            </a:extLst>
          </p:cNvPr>
          <p:cNvPicPr>
            <a:picLocks noChangeAspect="1"/>
          </p:cNvPicPr>
          <p:nvPr/>
        </p:nvPicPr>
        <p:blipFill>
          <a:blip r:embed="rId2"/>
          <a:stretch>
            <a:fillRect/>
          </a:stretch>
        </p:blipFill>
        <p:spPr>
          <a:xfrm>
            <a:off x="7748585" y="1102940"/>
            <a:ext cx="4146511" cy="3858851"/>
          </a:xfrm>
          <a:prstGeom prst="rect">
            <a:avLst/>
          </a:prstGeom>
        </p:spPr>
      </p:pic>
      <p:sp>
        <p:nvSpPr>
          <p:cNvPr id="2" name="Title 1">
            <a:extLst>
              <a:ext uri="{FF2B5EF4-FFF2-40B4-BE49-F238E27FC236}">
                <a16:creationId xmlns:a16="http://schemas.microsoft.com/office/drawing/2014/main" id="{AFD1034A-CA3C-57A5-780C-81F9CD3FD6F5}"/>
              </a:ext>
            </a:extLst>
          </p:cNvPr>
          <p:cNvSpPr>
            <a:spLocks noGrp="1"/>
          </p:cNvSpPr>
          <p:nvPr>
            <p:ph type="title"/>
          </p:nvPr>
        </p:nvSpPr>
        <p:spPr/>
        <p:txBody>
          <a:bodyPr>
            <a:normAutofit/>
          </a:bodyPr>
          <a:lstStyle/>
          <a:p>
            <a:r>
              <a:rPr lang="en-CH" dirty="0"/>
              <a:t>Implementation with sets</a:t>
            </a:r>
          </a:p>
        </p:txBody>
      </p:sp>
      <p:sp>
        <p:nvSpPr>
          <p:cNvPr id="4" name="Date Placeholder 3">
            <a:extLst>
              <a:ext uri="{FF2B5EF4-FFF2-40B4-BE49-F238E27FC236}">
                <a16:creationId xmlns:a16="http://schemas.microsoft.com/office/drawing/2014/main" id="{D07E1988-0A43-3863-6FD1-EDFDCFE712AF}"/>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0927217D-1932-F000-4B8F-B2E4392A75B7}"/>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C1AC604F-D5BB-05EC-848F-12418C5E6791}"/>
              </a:ext>
            </a:extLst>
          </p:cNvPr>
          <p:cNvSpPr>
            <a:spLocks noGrp="1"/>
          </p:cNvSpPr>
          <p:nvPr>
            <p:ph type="sldNum" sz="quarter" idx="12"/>
          </p:nvPr>
        </p:nvSpPr>
        <p:spPr/>
        <p:txBody>
          <a:bodyPr/>
          <a:lstStyle/>
          <a:p>
            <a:fld id="{EF79ADEA-B933-47CC-A4E9-04E6298B917C}" type="slidenum">
              <a:rPr lang="en-US" smtClean="0"/>
              <a:pPr/>
              <a:t>20</a:t>
            </a:fld>
            <a:endParaRPr lang="en-US"/>
          </a:p>
        </p:txBody>
      </p:sp>
      <p:sp>
        <p:nvSpPr>
          <p:cNvPr id="9" name="TextBox 8">
            <a:extLst>
              <a:ext uri="{FF2B5EF4-FFF2-40B4-BE49-F238E27FC236}">
                <a16:creationId xmlns:a16="http://schemas.microsoft.com/office/drawing/2014/main" id="{F4649BF9-8273-D87E-97E3-3ECCF86D8F56}"/>
              </a:ext>
            </a:extLst>
          </p:cNvPr>
          <p:cNvSpPr txBox="1"/>
          <p:nvPr/>
        </p:nvSpPr>
        <p:spPr>
          <a:xfrm>
            <a:off x="564908" y="4860869"/>
            <a:ext cx="9721080" cy="954107"/>
          </a:xfrm>
          <a:prstGeom prst="rect">
            <a:avLst/>
          </a:prstGeom>
          <a:noFill/>
        </p:spPr>
        <p:txBody>
          <a:bodyPr wrap="square" rtlCol="0">
            <a:spAutoFit/>
          </a:bodyPr>
          <a:lstStyle/>
          <a:p>
            <a:r>
              <a:rPr lang="en-CH" sz="2800" dirty="0"/>
              <a:t>How does this implementation scale?</a:t>
            </a:r>
          </a:p>
          <a:p>
            <a:r>
              <a:rPr lang="en-CH" sz="2800" dirty="0"/>
              <a:t>N =&gt; 10x more data ~= 10x more time</a:t>
            </a:r>
            <a:endParaRPr lang="en-CH" sz="2800" b="1" dirty="0"/>
          </a:p>
        </p:txBody>
      </p:sp>
      <p:pic>
        <p:nvPicPr>
          <p:cNvPr id="3" name="Picture 2">
            <a:extLst>
              <a:ext uri="{FF2B5EF4-FFF2-40B4-BE49-F238E27FC236}">
                <a16:creationId xmlns:a16="http://schemas.microsoft.com/office/drawing/2014/main" id="{FA818456-8998-58CC-848D-F631BF4B62FA}"/>
              </a:ext>
            </a:extLst>
          </p:cNvPr>
          <p:cNvPicPr>
            <a:picLocks noChangeAspect="1"/>
          </p:cNvPicPr>
          <p:nvPr/>
        </p:nvPicPr>
        <p:blipFill>
          <a:blip r:embed="rId3"/>
          <a:stretch>
            <a:fillRect/>
          </a:stretch>
        </p:blipFill>
        <p:spPr>
          <a:xfrm>
            <a:off x="8621654" y="1311142"/>
            <a:ext cx="1675388" cy="809771"/>
          </a:xfrm>
          <a:prstGeom prst="rect">
            <a:avLst/>
          </a:prstGeom>
        </p:spPr>
      </p:pic>
      <p:pic>
        <p:nvPicPr>
          <p:cNvPr id="8" name="Picture 7">
            <a:extLst>
              <a:ext uri="{FF2B5EF4-FFF2-40B4-BE49-F238E27FC236}">
                <a16:creationId xmlns:a16="http://schemas.microsoft.com/office/drawing/2014/main" id="{0804C377-8D83-80FD-D7CF-7B23C74FB774}"/>
              </a:ext>
            </a:extLst>
          </p:cNvPr>
          <p:cNvPicPr>
            <a:picLocks noChangeAspect="1"/>
          </p:cNvPicPr>
          <p:nvPr/>
        </p:nvPicPr>
        <p:blipFill rotWithShape="1">
          <a:blip r:embed="rId4"/>
          <a:srcRect l="216"/>
          <a:stretch/>
        </p:blipFill>
        <p:spPr>
          <a:xfrm>
            <a:off x="564908" y="1311377"/>
            <a:ext cx="6247576" cy="2095500"/>
          </a:xfrm>
          <a:prstGeom prst="rect">
            <a:avLst/>
          </a:prstGeom>
        </p:spPr>
      </p:pic>
      <p:sp>
        <p:nvSpPr>
          <p:cNvPr id="11" name="TextBox 10">
            <a:extLst>
              <a:ext uri="{FF2B5EF4-FFF2-40B4-BE49-F238E27FC236}">
                <a16:creationId xmlns:a16="http://schemas.microsoft.com/office/drawing/2014/main" id="{04B82839-FF45-60CD-F3A0-EA882FDCD9DF}"/>
              </a:ext>
            </a:extLst>
          </p:cNvPr>
          <p:cNvSpPr txBox="1"/>
          <p:nvPr/>
        </p:nvSpPr>
        <p:spPr>
          <a:xfrm>
            <a:off x="3287688" y="2598003"/>
            <a:ext cx="3168352" cy="830997"/>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2" name="TextBox 11">
            <a:extLst>
              <a:ext uri="{FF2B5EF4-FFF2-40B4-BE49-F238E27FC236}">
                <a16:creationId xmlns:a16="http://schemas.microsoft.com/office/drawing/2014/main" id="{6FA1302A-6057-E546-4200-1D9570E0F97B}"/>
              </a:ext>
            </a:extLst>
          </p:cNvPr>
          <p:cNvSpPr txBox="1"/>
          <p:nvPr/>
        </p:nvSpPr>
        <p:spPr>
          <a:xfrm>
            <a:off x="3287688" y="1943628"/>
            <a:ext cx="3168352" cy="338554"/>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spTree>
    <p:extLst>
      <p:ext uri="{BB962C8B-B14F-4D97-AF65-F5344CB8AC3E}">
        <p14:creationId xmlns:p14="http://schemas.microsoft.com/office/powerpoint/2010/main" val="141140284"/>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158A7BC-1ABB-0700-8C5F-C6A9608C6D48}"/>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6ADFFD25-7D00-5B29-F029-46078E8B48AB}"/>
              </a:ext>
            </a:extLst>
          </p:cNvPr>
          <p:cNvSpPr>
            <a:spLocks noGrp="1"/>
          </p:cNvSpPr>
          <p:nvPr>
            <p:ph type="title"/>
          </p:nvPr>
        </p:nvSpPr>
        <p:spPr/>
        <p:txBody>
          <a:bodyPr>
            <a:normAutofit/>
          </a:bodyPr>
          <a:lstStyle/>
          <a:p>
            <a:r>
              <a:rPr lang="en-CH" dirty="0"/>
              <a:t>What difference does it make? N = 1’000’000</a:t>
            </a:r>
          </a:p>
        </p:txBody>
      </p:sp>
      <p:sp>
        <p:nvSpPr>
          <p:cNvPr id="4" name="Date Placeholder 3">
            <a:extLst>
              <a:ext uri="{FF2B5EF4-FFF2-40B4-BE49-F238E27FC236}">
                <a16:creationId xmlns:a16="http://schemas.microsoft.com/office/drawing/2014/main" id="{B4C73719-50EA-A6BB-977F-63B24D60C6F5}"/>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EE6CF9C9-2926-2CA5-8DFE-45BAC628A94C}"/>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57E4E7DD-0E3C-5EFF-084F-6E09E91848F7}"/>
              </a:ext>
            </a:extLst>
          </p:cNvPr>
          <p:cNvSpPr>
            <a:spLocks noGrp="1"/>
          </p:cNvSpPr>
          <p:nvPr>
            <p:ph type="sldNum" sz="quarter" idx="12"/>
          </p:nvPr>
        </p:nvSpPr>
        <p:spPr/>
        <p:txBody>
          <a:bodyPr/>
          <a:lstStyle/>
          <a:p>
            <a:fld id="{EF79ADEA-B933-47CC-A4E9-04E6298B917C}" type="slidenum">
              <a:rPr lang="en-US" smtClean="0"/>
              <a:pPr/>
              <a:t>21</a:t>
            </a:fld>
            <a:endParaRPr lang="en-US"/>
          </a:p>
        </p:txBody>
      </p:sp>
      <p:pic>
        <p:nvPicPr>
          <p:cNvPr id="13" name="Picture 12">
            <a:extLst>
              <a:ext uri="{FF2B5EF4-FFF2-40B4-BE49-F238E27FC236}">
                <a16:creationId xmlns:a16="http://schemas.microsoft.com/office/drawing/2014/main" id="{F40DD0B5-B229-AA84-EF92-A0CF59FDDB3B}"/>
              </a:ext>
            </a:extLst>
          </p:cNvPr>
          <p:cNvPicPr>
            <a:picLocks noChangeAspect="1"/>
          </p:cNvPicPr>
          <p:nvPr/>
        </p:nvPicPr>
        <p:blipFill rotWithShape="1">
          <a:blip r:embed="rId2"/>
          <a:srcRect l="216"/>
          <a:stretch/>
        </p:blipFill>
        <p:spPr>
          <a:xfrm>
            <a:off x="564908" y="3859490"/>
            <a:ext cx="6247576" cy="2095500"/>
          </a:xfrm>
          <a:prstGeom prst="rect">
            <a:avLst/>
          </a:prstGeom>
        </p:spPr>
      </p:pic>
      <p:pic>
        <p:nvPicPr>
          <p:cNvPr id="14" name="Picture 13">
            <a:extLst>
              <a:ext uri="{FF2B5EF4-FFF2-40B4-BE49-F238E27FC236}">
                <a16:creationId xmlns:a16="http://schemas.microsoft.com/office/drawing/2014/main" id="{61401886-267B-7659-6204-5787DC6439F8}"/>
              </a:ext>
            </a:extLst>
          </p:cNvPr>
          <p:cNvPicPr>
            <a:picLocks noChangeAspect="1"/>
          </p:cNvPicPr>
          <p:nvPr/>
        </p:nvPicPr>
        <p:blipFill rotWithShape="1">
          <a:blip r:embed="rId3"/>
          <a:srcRect t="1893"/>
          <a:stretch/>
        </p:blipFill>
        <p:spPr>
          <a:xfrm>
            <a:off x="564908" y="4545244"/>
            <a:ext cx="3802900" cy="1418962"/>
          </a:xfrm>
          <a:prstGeom prst="rect">
            <a:avLst/>
          </a:prstGeom>
        </p:spPr>
      </p:pic>
      <p:sp>
        <p:nvSpPr>
          <p:cNvPr id="15" name="TextBox 14">
            <a:extLst>
              <a:ext uri="{FF2B5EF4-FFF2-40B4-BE49-F238E27FC236}">
                <a16:creationId xmlns:a16="http://schemas.microsoft.com/office/drawing/2014/main" id="{A7F72004-B5BE-1751-EA9D-B70D7893178F}"/>
              </a:ext>
            </a:extLst>
          </p:cNvPr>
          <p:cNvSpPr txBox="1"/>
          <p:nvPr/>
        </p:nvSpPr>
        <p:spPr>
          <a:xfrm>
            <a:off x="3287688" y="5146116"/>
            <a:ext cx="3168352" cy="830997"/>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6" name="TextBox 15">
            <a:extLst>
              <a:ext uri="{FF2B5EF4-FFF2-40B4-BE49-F238E27FC236}">
                <a16:creationId xmlns:a16="http://schemas.microsoft.com/office/drawing/2014/main" id="{29226FCE-34E7-DE91-18C6-5013AD63DB42}"/>
              </a:ext>
            </a:extLst>
          </p:cNvPr>
          <p:cNvSpPr txBox="1"/>
          <p:nvPr/>
        </p:nvSpPr>
        <p:spPr>
          <a:xfrm>
            <a:off x="3287688" y="4491741"/>
            <a:ext cx="3168352" cy="338554"/>
          </a:xfrm>
          <a:prstGeom prst="rect">
            <a:avLst/>
          </a:prstGeom>
          <a:solidFill>
            <a:srgbClr val="F7F7F7"/>
          </a:solid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p:txBody>
      </p:sp>
      <p:pic>
        <p:nvPicPr>
          <p:cNvPr id="17" name="Picture 16">
            <a:extLst>
              <a:ext uri="{FF2B5EF4-FFF2-40B4-BE49-F238E27FC236}">
                <a16:creationId xmlns:a16="http://schemas.microsoft.com/office/drawing/2014/main" id="{11CFBDE9-BE0A-E9AC-4205-0FA65D23B82E}"/>
              </a:ext>
            </a:extLst>
          </p:cNvPr>
          <p:cNvPicPr>
            <a:picLocks noChangeAspect="1"/>
          </p:cNvPicPr>
          <p:nvPr/>
        </p:nvPicPr>
        <p:blipFill>
          <a:blip r:embed="rId4"/>
          <a:stretch>
            <a:fillRect/>
          </a:stretch>
        </p:blipFill>
        <p:spPr>
          <a:xfrm>
            <a:off x="561685" y="1561389"/>
            <a:ext cx="6235700" cy="1587500"/>
          </a:xfrm>
          <a:prstGeom prst="rect">
            <a:avLst/>
          </a:prstGeom>
        </p:spPr>
      </p:pic>
      <p:sp>
        <p:nvSpPr>
          <p:cNvPr id="18" name="TextBox 17">
            <a:extLst>
              <a:ext uri="{FF2B5EF4-FFF2-40B4-BE49-F238E27FC236}">
                <a16:creationId xmlns:a16="http://schemas.microsoft.com/office/drawing/2014/main" id="{AD419BEB-9023-7979-959B-F915CE53BB4E}"/>
              </a:ext>
            </a:extLst>
          </p:cNvPr>
          <p:cNvSpPr txBox="1"/>
          <p:nvPr/>
        </p:nvSpPr>
        <p:spPr>
          <a:xfrm>
            <a:off x="3297989" y="2355139"/>
            <a:ext cx="3168352" cy="830997"/>
          </a:xfrm>
          <a:prstGeom prst="rect">
            <a:avLst/>
          </a:prstGeom>
          <a:noFill/>
        </p:spPr>
        <p:txBody>
          <a:bodyPr wrap="square" rtlCol="0">
            <a:spAutoFit/>
          </a:bodyPr>
          <a:lstStyle/>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N operations</a:t>
            </a:r>
          </a:p>
          <a:p>
            <a:r>
              <a:rPr lang="en-CH" sz="1600" i="1" dirty="0">
                <a:solidFill>
                  <a:schemeClr val="accent6">
                    <a:lumMod val="75000"/>
                  </a:schemeClr>
                </a:solidFill>
                <a:latin typeface="Consolas" panose="020B0609020204030204" pitchFamily="49" charset="0"/>
                <a:cs typeface="Consolas" panose="020B0609020204030204" pitchFamily="49" charset="0"/>
              </a:rPr>
              <a:t># constant</a:t>
            </a:r>
          </a:p>
        </p:txBody>
      </p:sp>
      <p:sp>
        <p:nvSpPr>
          <p:cNvPr id="19" name="TextBox 18">
            <a:extLst>
              <a:ext uri="{FF2B5EF4-FFF2-40B4-BE49-F238E27FC236}">
                <a16:creationId xmlns:a16="http://schemas.microsoft.com/office/drawing/2014/main" id="{BE69DB25-1C02-D99E-F971-2664DC772CCE}"/>
              </a:ext>
            </a:extLst>
          </p:cNvPr>
          <p:cNvSpPr txBox="1"/>
          <p:nvPr/>
        </p:nvSpPr>
        <p:spPr>
          <a:xfrm>
            <a:off x="7608167" y="1534214"/>
            <a:ext cx="4022147" cy="1569660"/>
          </a:xfrm>
          <a:prstGeom prst="rect">
            <a:avLst/>
          </a:prstGeom>
          <a:noFill/>
        </p:spPr>
        <p:txBody>
          <a:bodyPr wrap="square" rtlCol="0">
            <a:spAutoFit/>
          </a:bodyPr>
          <a:lstStyle/>
          <a:p>
            <a:r>
              <a:rPr lang="en-GB" sz="2400" b="1" dirty="0"/>
              <a:t>t</a:t>
            </a:r>
            <a:r>
              <a:rPr lang="en-CH" sz="2400" b="1" dirty="0"/>
              <a:t>ime x 1’000’000 x 1’000’000</a:t>
            </a:r>
          </a:p>
          <a:p>
            <a:r>
              <a:rPr lang="en-GB" sz="2400" dirty="0"/>
              <a:t>This w</a:t>
            </a:r>
            <a:r>
              <a:rPr lang="en-CH" sz="2400" dirty="0"/>
              <a:t>ill never complete, even if you parallelize on 1’000 machines</a:t>
            </a:r>
          </a:p>
        </p:txBody>
      </p:sp>
      <p:sp>
        <p:nvSpPr>
          <p:cNvPr id="20" name="TextBox 19">
            <a:extLst>
              <a:ext uri="{FF2B5EF4-FFF2-40B4-BE49-F238E27FC236}">
                <a16:creationId xmlns:a16="http://schemas.microsoft.com/office/drawing/2014/main" id="{357DB084-DAB3-E3FE-599F-7BFF424EB74B}"/>
              </a:ext>
            </a:extLst>
          </p:cNvPr>
          <p:cNvSpPr txBox="1"/>
          <p:nvPr/>
        </p:nvSpPr>
        <p:spPr>
          <a:xfrm>
            <a:off x="7608168" y="3822139"/>
            <a:ext cx="4018924" cy="830997"/>
          </a:xfrm>
          <a:prstGeom prst="rect">
            <a:avLst/>
          </a:prstGeom>
          <a:noFill/>
        </p:spPr>
        <p:txBody>
          <a:bodyPr wrap="square" rtlCol="0">
            <a:spAutoFit/>
          </a:bodyPr>
          <a:lstStyle/>
          <a:p>
            <a:r>
              <a:rPr lang="en-GB" sz="2400" b="1" dirty="0"/>
              <a:t>t</a:t>
            </a:r>
            <a:r>
              <a:rPr lang="en-CH" sz="2400" b="1" dirty="0"/>
              <a:t>ime x 1’000’000</a:t>
            </a:r>
          </a:p>
          <a:p>
            <a:r>
              <a:rPr lang="en-GB" sz="2400" dirty="0"/>
              <a:t>Whis will</a:t>
            </a:r>
            <a:r>
              <a:rPr lang="en-CH" sz="2400" dirty="0"/>
              <a:t> complete in seconds</a:t>
            </a:r>
          </a:p>
        </p:txBody>
      </p:sp>
    </p:spTree>
    <p:extLst>
      <p:ext uri="{BB962C8B-B14F-4D97-AF65-F5344CB8AC3E}">
        <p14:creationId xmlns:p14="http://schemas.microsoft.com/office/powerpoint/2010/main" val="2830056807"/>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lang="en-CH" dirty="0"/>
              <a:t>H</a:t>
            </a:r>
            <a:r>
              <a:rPr lang="en-CH" sz="4400" dirty="0"/>
              <a:t>ow does parallelizing change the performance?</a:t>
            </a:r>
            <a:br>
              <a:rPr lang="en-CH" sz="4400" dirty="0"/>
            </a:br>
            <a:r>
              <a:rPr lang="en-CH" sz="3100" dirty="0"/>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22</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8" name="TextBox 7">
            <a:extLst>
              <a:ext uri="{FF2B5EF4-FFF2-40B4-BE49-F238E27FC236}">
                <a16:creationId xmlns:a16="http://schemas.microsoft.com/office/drawing/2014/main" id="{C7971566-3187-BA1E-C09B-A41ADED985F7}"/>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pic>
        <p:nvPicPr>
          <p:cNvPr id="3" name="Picture 2">
            <a:extLst>
              <a:ext uri="{FF2B5EF4-FFF2-40B4-BE49-F238E27FC236}">
                <a16:creationId xmlns:a16="http://schemas.microsoft.com/office/drawing/2014/main" id="{19992BFF-0069-6745-6E0A-1835196DE632}"/>
              </a:ext>
            </a:extLst>
          </p:cNvPr>
          <p:cNvPicPr>
            <a:picLocks noChangeAspect="1"/>
          </p:cNvPicPr>
          <p:nvPr/>
        </p:nvPicPr>
        <p:blipFill>
          <a:blip r:embed="rId4"/>
          <a:stretch>
            <a:fillRect/>
          </a:stretch>
        </p:blipFill>
        <p:spPr>
          <a:xfrm>
            <a:off x="986246" y="1484784"/>
            <a:ext cx="4656221" cy="4365697"/>
          </a:xfrm>
          <a:prstGeom prst="rect">
            <a:avLst/>
          </a:prstGeom>
        </p:spPr>
      </p:pic>
    </p:spTree>
    <p:extLst>
      <p:ext uri="{BB962C8B-B14F-4D97-AF65-F5344CB8AC3E}">
        <p14:creationId xmlns:p14="http://schemas.microsoft.com/office/powerpoint/2010/main" val="95390452"/>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Picture 1">
            <a:extLst>
              <a:ext uri="{FF2B5EF4-FFF2-40B4-BE49-F238E27FC236}">
                <a16:creationId xmlns:a16="http://schemas.microsoft.com/office/drawing/2014/main" id="{7F0BACC5-0DED-E5BA-9C97-D932693C0117}"/>
              </a:ext>
            </a:extLst>
          </p:cNvPr>
          <p:cNvPicPr>
            <a:picLocks noChangeAspect="1"/>
          </p:cNvPicPr>
          <p:nvPr/>
        </p:nvPicPr>
        <p:blipFill>
          <a:blip r:embed="rId3"/>
          <a:stretch>
            <a:fillRect/>
          </a:stretch>
        </p:blipFill>
        <p:spPr>
          <a:xfrm>
            <a:off x="986246" y="1484784"/>
            <a:ext cx="4656221"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23</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14" name="Down Arrow 13">
            <a:extLst>
              <a:ext uri="{FF2B5EF4-FFF2-40B4-BE49-F238E27FC236}">
                <a16:creationId xmlns:a16="http://schemas.microsoft.com/office/drawing/2014/main" id="{CAB6235C-D02E-237C-2CAF-17D54EEACB99}"/>
              </a:ext>
            </a:extLst>
          </p:cNvPr>
          <p:cNvSpPr/>
          <p:nvPr/>
        </p:nvSpPr>
        <p:spPr>
          <a:xfrm>
            <a:off x="4439816" y="3256025"/>
            <a:ext cx="274118" cy="588473"/>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5" name="Down Arrow 14">
            <a:extLst>
              <a:ext uri="{FF2B5EF4-FFF2-40B4-BE49-F238E27FC236}">
                <a16:creationId xmlns:a16="http://schemas.microsoft.com/office/drawing/2014/main" id="{C5B012DB-0F8A-48E4-0D7D-D992331FE85C}"/>
              </a:ext>
            </a:extLst>
          </p:cNvPr>
          <p:cNvSpPr/>
          <p:nvPr/>
        </p:nvSpPr>
        <p:spPr>
          <a:xfrm>
            <a:off x="3901541" y="3933056"/>
            <a:ext cx="274118" cy="383087"/>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16" name="Down Arrow 15">
            <a:extLst>
              <a:ext uri="{FF2B5EF4-FFF2-40B4-BE49-F238E27FC236}">
                <a16:creationId xmlns:a16="http://schemas.microsoft.com/office/drawing/2014/main" id="{62E9110D-1431-CD67-6F7C-2896D2689A02}"/>
              </a:ext>
            </a:extLst>
          </p:cNvPr>
          <p:cNvSpPr/>
          <p:nvPr/>
        </p:nvSpPr>
        <p:spPr>
          <a:xfrm>
            <a:off x="4934783" y="2564904"/>
            <a:ext cx="274118" cy="810899"/>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3" name="TextBox 2">
            <a:extLst>
              <a:ext uri="{FF2B5EF4-FFF2-40B4-BE49-F238E27FC236}">
                <a16:creationId xmlns:a16="http://schemas.microsoft.com/office/drawing/2014/main" id="{8D626128-704D-A703-00B1-C2DDFB95C5E6}"/>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9" name="TextBox 8">
            <a:extLst>
              <a:ext uri="{FF2B5EF4-FFF2-40B4-BE49-F238E27FC236}">
                <a16:creationId xmlns:a16="http://schemas.microsoft.com/office/drawing/2014/main" id="{E90B8732-E905-12A7-164C-5624E027F382}"/>
              </a:ext>
            </a:extLst>
          </p:cNvPr>
          <p:cNvSpPr txBox="1"/>
          <p:nvPr/>
        </p:nvSpPr>
        <p:spPr>
          <a:xfrm>
            <a:off x="5205635" y="1977092"/>
            <a:ext cx="1615008" cy="1077218"/>
          </a:xfrm>
          <a:prstGeom prst="rect">
            <a:avLst/>
          </a:prstGeom>
          <a:noFill/>
        </p:spPr>
        <p:txBody>
          <a:bodyPr wrap="square" rtlCol="0">
            <a:spAutoFit/>
          </a:bodyPr>
          <a:lstStyle/>
          <a:p>
            <a:pPr algn="ctr"/>
            <a:r>
              <a:rPr lang="en-CH" sz="1600" b="1" dirty="0">
                <a:solidFill>
                  <a:srgbClr val="1E76B4"/>
                </a:solidFill>
              </a:rPr>
              <a:t>Parallelization</a:t>
            </a:r>
          </a:p>
          <a:p>
            <a:pPr algn="ctr"/>
            <a:r>
              <a:rPr lang="en-CH" sz="1600" b="1" dirty="0">
                <a:solidFill>
                  <a:srgbClr val="1E76B4"/>
                </a:solidFill>
              </a:rPr>
              <a:t>increases performance for fixed N</a:t>
            </a:r>
          </a:p>
        </p:txBody>
      </p:sp>
    </p:spTree>
    <p:extLst>
      <p:ext uri="{BB962C8B-B14F-4D97-AF65-F5344CB8AC3E}">
        <p14:creationId xmlns:p14="http://schemas.microsoft.com/office/powerpoint/2010/main" val="3952379208"/>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648DC7-0876-BF42-A932-2E8E296354CE}"/>
              </a:ext>
            </a:extLst>
          </p:cNvPr>
          <p:cNvPicPr>
            <a:picLocks noChangeAspect="1"/>
          </p:cNvPicPr>
          <p:nvPr/>
        </p:nvPicPr>
        <p:blipFill>
          <a:blip r:embed="rId3"/>
          <a:stretch>
            <a:fillRect/>
          </a:stretch>
        </p:blipFill>
        <p:spPr>
          <a:xfrm>
            <a:off x="986247" y="1484784"/>
            <a:ext cx="4708670"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24</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2" name="TextBox 1">
            <a:extLst>
              <a:ext uri="{FF2B5EF4-FFF2-40B4-BE49-F238E27FC236}">
                <a16:creationId xmlns:a16="http://schemas.microsoft.com/office/drawing/2014/main" id="{863FFC43-3EE6-C89C-0DDC-BF26C3998C5D}"/>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3" name="Rectangle 2">
            <a:extLst>
              <a:ext uri="{FF2B5EF4-FFF2-40B4-BE49-F238E27FC236}">
                <a16:creationId xmlns:a16="http://schemas.microsoft.com/office/drawing/2014/main" id="{9B92A623-8289-4D9D-C2FB-7FA7B0F98CA6}"/>
              </a:ext>
            </a:extLst>
          </p:cNvPr>
          <p:cNvSpPr/>
          <p:nvPr/>
        </p:nvSpPr>
        <p:spPr>
          <a:xfrm>
            <a:off x="1919536" y="4077072"/>
            <a:ext cx="1800200" cy="1152128"/>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8" name="Down Arrow 7">
            <a:extLst>
              <a:ext uri="{FF2B5EF4-FFF2-40B4-BE49-F238E27FC236}">
                <a16:creationId xmlns:a16="http://schemas.microsoft.com/office/drawing/2014/main" id="{BA139292-EDCB-EF3B-2297-BB3428EDCF45}"/>
              </a:ext>
            </a:extLst>
          </p:cNvPr>
          <p:cNvSpPr/>
          <p:nvPr/>
        </p:nvSpPr>
        <p:spPr>
          <a:xfrm>
            <a:off x="3066464" y="4725143"/>
            <a:ext cx="221224" cy="216025"/>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9" name="Down Arrow 8">
            <a:extLst>
              <a:ext uri="{FF2B5EF4-FFF2-40B4-BE49-F238E27FC236}">
                <a16:creationId xmlns:a16="http://schemas.microsoft.com/office/drawing/2014/main" id="{17B0767F-81FB-FADC-CD7A-03349369E489}"/>
              </a:ext>
            </a:extLst>
          </p:cNvPr>
          <p:cNvSpPr/>
          <p:nvPr/>
        </p:nvSpPr>
        <p:spPr>
          <a:xfrm>
            <a:off x="3463137" y="4365104"/>
            <a:ext cx="221224" cy="288032"/>
          </a:xfrm>
          <a:prstGeom prst="downArrow">
            <a:avLst/>
          </a:prstGeom>
          <a:solidFill>
            <a:srgbClr val="2076B5"/>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Tree>
    <p:extLst>
      <p:ext uri="{BB962C8B-B14F-4D97-AF65-F5344CB8AC3E}">
        <p14:creationId xmlns:p14="http://schemas.microsoft.com/office/powerpoint/2010/main" val="294249763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7" name="Picture 16">
            <a:extLst>
              <a:ext uri="{FF2B5EF4-FFF2-40B4-BE49-F238E27FC236}">
                <a16:creationId xmlns:a16="http://schemas.microsoft.com/office/drawing/2014/main" id="{59648DC7-0876-BF42-A932-2E8E296354CE}"/>
              </a:ext>
            </a:extLst>
          </p:cNvPr>
          <p:cNvPicPr>
            <a:picLocks noChangeAspect="1"/>
          </p:cNvPicPr>
          <p:nvPr/>
        </p:nvPicPr>
        <p:blipFill>
          <a:blip r:embed="rId3"/>
          <a:stretch>
            <a:fillRect/>
          </a:stretch>
        </p:blipFill>
        <p:spPr>
          <a:xfrm>
            <a:off x="986247" y="1484784"/>
            <a:ext cx="4708670" cy="4313049"/>
          </a:xfrm>
          <a:prstGeom prst="rect">
            <a:avLst/>
          </a:prstGeom>
        </p:spPr>
      </p:pic>
      <p:sp>
        <p:nvSpPr>
          <p:cNvPr id="10" name="Title 9">
            <a:extLst>
              <a:ext uri="{FF2B5EF4-FFF2-40B4-BE49-F238E27FC236}">
                <a16:creationId xmlns:a16="http://schemas.microsoft.com/office/drawing/2014/main" id="{04A0E4E1-DC90-7F56-5328-B8BA4BD16E2C}"/>
              </a:ext>
            </a:extLst>
          </p:cNvPr>
          <p:cNvSpPr>
            <a:spLocks noGrp="1"/>
          </p:cNvSpPr>
          <p:nvPr>
            <p:ph type="title"/>
          </p:nvPr>
        </p:nvSpPr>
        <p:spPr/>
        <p:txBody>
          <a:bodyPr>
            <a:normAutofit fontScale="90000"/>
          </a:bodyPr>
          <a:lstStyle/>
          <a:p>
            <a: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t>How does parallelizing change the performance?</a:t>
            </a:r>
            <a:br>
              <a:rPr kumimoji="0" lang="en-CH" sz="4400" b="0" i="0" u="none" strike="noStrike" kern="1200" cap="none" spc="0" normalizeH="0" baseline="0" noProof="0" dirty="0">
                <a:ln>
                  <a:noFill/>
                </a:ln>
                <a:solidFill>
                  <a:prstClr val="black"/>
                </a:solidFill>
                <a:effectLst/>
                <a:uLnTx/>
                <a:uFillTx/>
                <a:latin typeface="Calibri Light" panose="020F0302020204030204"/>
                <a:ea typeface="+mj-ea"/>
                <a:cs typeface="+mj-cs"/>
              </a:rPr>
            </a:br>
            <a:r>
              <a:rPr kumimoji="0" lang="en-CH" sz="3100" b="0" i="0" u="none" strike="noStrike" kern="1200" cap="none" spc="0" normalizeH="0" baseline="0" noProof="0" dirty="0">
                <a:ln>
                  <a:noFill/>
                </a:ln>
                <a:solidFill>
                  <a:prstClr val="black"/>
                </a:solidFill>
                <a:effectLst/>
                <a:uLnTx/>
                <a:uFillTx/>
                <a:latin typeface="Calibri Light" panose="020F0302020204030204"/>
                <a:ea typeface="+mj-ea"/>
                <a:cs typeface="+mj-cs"/>
              </a:rPr>
              <a:t>(rewriting in C, parallelization; same algorithm)</a:t>
            </a:r>
            <a:endParaRPr lang="en-CH" dirty="0"/>
          </a:p>
        </p:txBody>
      </p:sp>
      <p:sp>
        <p:nvSpPr>
          <p:cNvPr id="4" name="Date Placeholder 3">
            <a:extLst>
              <a:ext uri="{FF2B5EF4-FFF2-40B4-BE49-F238E27FC236}">
                <a16:creationId xmlns:a16="http://schemas.microsoft.com/office/drawing/2014/main" id="{CFCDCFE1-ED01-88FC-4AAB-4F1F9FD089FE}"/>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CF8EEBE0-5A80-5353-4F83-8E53F2F22577}"/>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4CC8EA09-85E0-5A2C-8E1F-4F1FAC62E18B}"/>
              </a:ext>
            </a:extLst>
          </p:cNvPr>
          <p:cNvSpPr>
            <a:spLocks noGrp="1"/>
          </p:cNvSpPr>
          <p:nvPr>
            <p:ph type="sldNum" sz="quarter" idx="12"/>
          </p:nvPr>
        </p:nvSpPr>
        <p:spPr/>
        <p:txBody>
          <a:bodyPr/>
          <a:lstStyle/>
          <a:p>
            <a:fld id="{EF79ADEA-B933-47CC-A4E9-04E6298B917C}" type="slidenum">
              <a:rPr lang="en-US" smtClean="0"/>
              <a:pPr/>
              <a:t>25</a:t>
            </a:fld>
            <a:endParaRPr lang="en-US" dirty="0"/>
          </a:p>
        </p:txBody>
      </p:sp>
      <p:pic>
        <p:nvPicPr>
          <p:cNvPr id="3074" name="Picture 2" descr="Image">
            <a:extLst>
              <a:ext uri="{FF2B5EF4-FFF2-40B4-BE49-F238E27FC236}">
                <a16:creationId xmlns:a16="http://schemas.microsoft.com/office/drawing/2014/main" id="{E1C28902-E062-ED21-A6B8-E688BEA74DF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888088" y="1484784"/>
            <a:ext cx="4522812" cy="4522812"/>
          </a:xfrm>
          <a:prstGeom prst="rect">
            <a:avLst/>
          </a:prstGeom>
          <a:noFill/>
          <a:extLst>
            <a:ext uri="{909E8E84-426E-40DD-AFC4-6F175D3DCCD1}">
              <a14:hiddenFill xmlns:a14="http://schemas.microsoft.com/office/drawing/2010/main">
                <a:solidFill>
                  <a:srgbClr val="FFFFFF"/>
                </a:solidFill>
              </a14:hiddenFill>
            </a:ext>
          </a:extLst>
        </p:spPr>
      </p:pic>
      <p:sp>
        <p:nvSpPr>
          <p:cNvPr id="7" name="TextBox 6">
            <a:extLst>
              <a:ext uri="{FF2B5EF4-FFF2-40B4-BE49-F238E27FC236}">
                <a16:creationId xmlns:a16="http://schemas.microsoft.com/office/drawing/2014/main" id="{9C82FAB4-F531-1E26-57A6-A20E14B2D0C9}"/>
              </a:ext>
            </a:extLst>
          </p:cNvPr>
          <p:cNvSpPr txBox="1"/>
          <p:nvPr/>
        </p:nvSpPr>
        <p:spPr>
          <a:xfrm>
            <a:off x="8153400" y="1946879"/>
            <a:ext cx="1649025"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Fast code</a:t>
            </a:r>
          </a:p>
          <a:p>
            <a:pPr algn="ctr"/>
            <a:r>
              <a:rPr lang="en-CH" sz="2400" b="1" dirty="0">
                <a:solidFill>
                  <a:srgbClr val="FFFF00"/>
                </a:solidFill>
                <a:effectLst>
                  <a:outerShdw blurRad="50800" dist="38100" dir="5400000" algn="t" rotWithShape="0">
                    <a:prstClr val="black">
                      <a:alpha val="40000"/>
                    </a:prstClr>
                  </a:outerShdw>
                </a:effectLst>
              </a:rPr>
              <a:t>n</a:t>
            </a:r>
            <a:r>
              <a:rPr lang="en-CH" sz="2400" b="1" baseline="30000" dirty="0">
                <a:solidFill>
                  <a:srgbClr val="FFFF00"/>
                </a:solidFill>
                <a:effectLst>
                  <a:outerShdw blurRad="50800" dist="38100" dir="5400000" algn="t" rotWithShape="0">
                    <a:prstClr val="black">
                      <a:alpha val="40000"/>
                    </a:prstClr>
                  </a:outerShdw>
                </a:effectLst>
              </a:rPr>
              <a:t>2</a:t>
            </a:r>
            <a:endParaRPr lang="en-CH" sz="2400" b="1" dirty="0">
              <a:solidFill>
                <a:srgbClr val="FFFF00"/>
              </a:solidFill>
              <a:effectLst>
                <a:outerShdw blurRad="50800" dist="38100" dir="5400000" algn="t" rotWithShape="0">
                  <a:prstClr val="black">
                    <a:alpha val="40000"/>
                  </a:prstClr>
                </a:outerShdw>
              </a:effectLst>
            </a:endParaRPr>
          </a:p>
        </p:txBody>
      </p:sp>
      <p:sp>
        <p:nvSpPr>
          <p:cNvPr id="3" name="TextBox 2">
            <a:extLst>
              <a:ext uri="{FF2B5EF4-FFF2-40B4-BE49-F238E27FC236}">
                <a16:creationId xmlns:a16="http://schemas.microsoft.com/office/drawing/2014/main" id="{1D33A5E3-17A0-6084-EC79-5CDACAB78D27}"/>
              </a:ext>
            </a:extLst>
          </p:cNvPr>
          <p:cNvSpPr txBox="1"/>
          <p:nvPr/>
        </p:nvSpPr>
        <p:spPr>
          <a:xfrm>
            <a:off x="9306175" y="3013501"/>
            <a:ext cx="1899579" cy="830997"/>
          </a:xfrm>
          <a:prstGeom prst="rect">
            <a:avLst/>
          </a:prstGeom>
          <a:noFill/>
        </p:spPr>
        <p:txBody>
          <a:bodyPr wrap="square" rtlCol="0">
            <a:spAutoFit/>
          </a:bodyPr>
          <a:lstStyle/>
          <a:p>
            <a:pPr algn="ctr"/>
            <a:r>
              <a:rPr lang="en-CH" sz="2400" b="1" dirty="0">
                <a:solidFill>
                  <a:srgbClr val="FFFF00"/>
                </a:solidFill>
                <a:effectLst>
                  <a:outerShdw blurRad="50800" dist="38100" dir="5400000" algn="t" rotWithShape="0">
                    <a:prstClr val="black">
                      <a:alpha val="40000"/>
                    </a:prstClr>
                  </a:outerShdw>
                </a:effectLst>
              </a:rPr>
              <a:t>Regular code</a:t>
            </a:r>
          </a:p>
          <a:p>
            <a:pPr algn="ctr"/>
            <a:r>
              <a:rPr lang="en-CH" sz="2400" b="1" dirty="0">
                <a:solidFill>
                  <a:srgbClr val="FFFF00"/>
                </a:solidFill>
                <a:effectLst>
                  <a:outerShdw blurRad="50800" dist="38100" dir="5400000" algn="t" rotWithShape="0">
                    <a:prstClr val="black">
                      <a:alpha val="40000"/>
                    </a:prstClr>
                  </a:outerShdw>
                </a:effectLst>
              </a:rPr>
              <a:t>n log n</a:t>
            </a:r>
          </a:p>
        </p:txBody>
      </p:sp>
      <p:sp>
        <p:nvSpPr>
          <p:cNvPr id="8" name="Rectangle 7">
            <a:extLst>
              <a:ext uri="{FF2B5EF4-FFF2-40B4-BE49-F238E27FC236}">
                <a16:creationId xmlns:a16="http://schemas.microsoft.com/office/drawing/2014/main" id="{36EDFED0-F92E-7DA3-18EA-239BC6A86CAE}"/>
              </a:ext>
            </a:extLst>
          </p:cNvPr>
          <p:cNvSpPr/>
          <p:nvPr/>
        </p:nvSpPr>
        <p:spPr>
          <a:xfrm>
            <a:off x="1919536" y="4077072"/>
            <a:ext cx="1800200" cy="1152128"/>
          </a:xfrm>
          <a:prstGeom prst="rect">
            <a:avLst/>
          </a:prstGeom>
          <a:noFill/>
          <a:ln w="38100">
            <a:solidFill>
              <a:srgbClr val="FF0000"/>
            </a:solidFill>
            <a:prstDash val="sysDot"/>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CH"/>
          </a:p>
        </p:txBody>
      </p:sp>
      <p:sp>
        <p:nvSpPr>
          <p:cNvPr id="2" name="TextBox 1">
            <a:extLst>
              <a:ext uri="{FF2B5EF4-FFF2-40B4-BE49-F238E27FC236}">
                <a16:creationId xmlns:a16="http://schemas.microsoft.com/office/drawing/2014/main" id="{5F39213B-463F-647D-5E38-3C452A037080}"/>
              </a:ext>
            </a:extLst>
          </p:cNvPr>
          <p:cNvSpPr txBox="1"/>
          <p:nvPr/>
        </p:nvSpPr>
        <p:spPr>
          <a:xfrm>
            <a:off x="2563219" y="2132856"/>
            <a:ext cx="3234271" cy="2380332"/>
          </a:xfrm>
          <a:custGeom>
            <a:avLst/>
            <a:gdLst>
              <a:gd name="csX0" fmla="*/ 0 w 3234271"/>
              <a:gd name="csY0" fmla="*/ 0 h 2380332"/>
              <a:gd name="csX1" fmla="*/ 582169 w 3234271"/>
              <a:gd name="csY1" fmla="*/ 0 h 2380332"/>
              <a:gd name="csX2" fmla="*/ 1261366 w 3234271"/>
              <a:gd name="csY2" fmla="*/ 0 h 2380332"/>
              <a:gd name="csX3" fmla="*/ 1875877 w 3234271"/>
              <a:gd name="csY3" fmla="*/ 0 h 2380332"/>
              <a:gd name="csX4" fmla="*/ 2458046 w 3234271"/>
              <a:gd name="csY4" fmla="*/ 0 h 2380332"/>
              <a:gd name="csX5" fmla="*/ 3234271 w 3234271"/>
              <a:gd name="csY5" fmla="*/ 0 h 2380332"/>
              <a:gd name="csX6" fmla="*/ 3234271 w 3234271"/>
              <a:gd name="csY6" fmla="*/ 595083 h 2380332"/>
              <a:gd name="csX7" fmla="*/ 3234271 w 3234271"/>
              <a:gd name="csY7" fmla="*/ 1190166 h 2380332"/>
              <a:gd name="csX8" fmla="*/ 3234271 w 3234271"/>
              <a:gd name="csY8" fmla="*/ 1737642 h 2380332"/>
              <a:gd name="csX9" fmla="*/ 3234271 w 3234271"/>
              <a:gd name="csY9" fmla="*/ 2380332 h 2380332"/>
              <a:gd name="csX10" fmla="*/ 2652102 w 3234271"/>
              <a:gd name="csY10" fmla="*/ 2380332 h 2380332"/>
              <a:gd name="csX11" fmla="*/ 2102276 w 3234271"/>
              <a:gd name="csY11" fmla="*/ 2380332 h 2380332"/>
              <a:gd name="csX12" fmla="*/ 1423079 w 3234271"/>
              <a:gd name="csY12" fmla="*/ 2380332 h 2380332"/>
              <a:gd name="csX13" fmla="*/ 840910 w 3234271"/>
              <a:gd name="csY13" fmla="*/ 2380332 h 2380332"/>
              <a:gd name="csX14" fmla="*/ 0 w 3234271"/>
              <a:gd name="csY14" fmla="*/ 2380332 h 2380332"/>
              <a:gd name="csX15" fmla="*/ 0 w 3234271"/>
              <a:gd name="csY15" fmla="*/ 1737642 h 2380332"/>
              <a:gd name="csX16" fmla="*/ 0 w 3234271"/>
              <a:gd name="csY16" fmla="*/ 1190166 h 2380332"/>
              <a:gd name="csX17" fmla="*/ 0 w 3234271"/>
              <a:gd name="csY17" fmla="*/ 571280 h 2380332"/>
              <a:gd name="csX18" fmla="*/ 0 w 3234271"/>
              <a:gd name="csY18" fmla="*/ 0 h 2380332"/>
            </a:gdLst>
            <a:ahLst/>
            <a:cxnLst>
              <a:cxn ang="0">
                <a:pos x="csX0" y="csY0"/>
              </a:cxn>
              <a:cxn ang="0">
                <a:pos x="csX1" y="csY1"/>
              </a:cxn>
              <a:cxn ang="0">
                <a:pos x="csX2" y="csY2"/>
              </a:cxn>
              <a:cxn ang="0">
                <a:pos x="csX3" y="csY3"/>
              </a:cxn>
              <a:cxn ang="0">
                <a:pos x="csX4" y="csY4"/>
              </a:cxn>
              <a:cxn ang="0">
                <a:pos x="csX5" y="csY5"/>
              </a:cxn>
              <a:cxn ang="0">
                <a:pos x="csX6" y="csY6"/>
              </a:cxn>
              <a:cxn ang="0">
                <a:pos x="csX7" y="csY7"/>
              </a:cxn>
              <a:cxn ang="0">
                <a:pos x="csX8" y="csY8"/>
              </a:cxn>
              <a:cxn ang="0">
                <a:pos x="csX9" y="csY9"/>
              </a:cxn>
              <a:cxn ang="0">
                <a:pos x="csX10" y="csY10"/>
              </a:cxn>
              <a:cxn ang="0">
                <a:pos x="csX11" y="csY11"/>
              </a:cxn>
              <a:cxn ang="0">
                <a:pos x="csX12" y="csY12"/>
              </a:cxn>
              <a:cxn ang="0">
                <a:pos x="csX13" y="csY13"/>
              </a:cxn>
              <a:cxn ang="0">
                <a:pos x="csX14" y="csY14"/>
              </a:cxn>
              <a:cxn ang="0">
                <a:pos x="csX15" y="csY15"/>
              </a:cxn>
              <a:cxn ang="0">
                <a:pos x="csX16" y="csY16"/>
              </a:cxn>
              <a:cxn ang="0">
                <a:pos x="csX17" y="csY17"/>
              </a:cxn>
              <a:cxn ang="0">
                <a:pos x="csX18" y="csY18"/>
              </a:cxn>
            </a:cxnLst>
            <a:rect l="l" t="t" r="r" b="b"/>
            <a:pathLst>
              <a:path w="3234271" h="2380332" fill="none" extrusionOk="0">
                <a:moveTo>
                  <a:pt x="0" y="0"/>
                </a:moveTo>
                <a:cubicBezTo>
                  <a:pt x="141820" y="6212"/>
                  <a:pt x="399183" y="10531"/>
                  <a:pt x="582169" y="0"/>
                </a:cubicBezTo>
                <a:cubicBezTo>
                  <a:pt x="765155" y="-10531"/>
                  <a:pt x="944164" y="-14576"/>
                  <a:pt x="1261366" y="0"/>
                </a:cubicBezTo>
                <a:cubicBezTo>
                  <a:pt x="1578568" y="14576"/>
                  <a:pt x="1718422" y="-25452"/>
                  <a:pt x="1875877" y="0"/>
                </a:cubicBezTo>
                <a:cubicBezTo>
                  <a:pt x="2033332" y="25452"/>
                  <a:pt x="2176506" y="6714"/>
                  <a:pt x="2458046" y="0"/>
                </a:cubicBezTo>
                <a:cubicBezTo>
                  <a:pt x="2739586" y="-6714"/>
                  <a:pt x="2933680" y="-9318"/>
                  <a:pt x="3234271" y="0"/>
                </a:cubicBezTo>
                <a:cubicBezTo>
                  <a:pt x="3205438" y="121495"/>
                  <a:pt x="3241329" y="423799"/>
                  <a:pt x="3234271" y="595083"/>
                </a:cubicBezTo>
                <a:cubicBezTo>
                  <a:pt x="3227213" y="766367"/>
                  <a:pt x="3224714" y="1069953"/>
                  <a:pt x="3234271" y="1190166"/>
                </a:cubicBezTo>
                <a:cubicBezTo>
                  <a:pt x="3243828" y="1310379"/>
                  <a:pt x="3260495" y="1567629"/>
                  <a:pt x="3234271" y="1737642"/>
                </a:cubicBezTo>
                <a:cubicBezTo>
                  <a:pt x="3208047" y="1907655"/>
                  <a:pt x="3209416" y="2064839"/>
                  <a:pt x="3234271" y="2380332"/>
                </a:cubicBezTo>
                <a:cubicBezTo>
                  <a:pt x="3083979" y="2374067"/>
                  <a:pt x="2821818" y="2354162"/>
                  <a:pt x="2652102" y="2380332"/>
                </a:cubicBezTo>
                <a:cubicBezTo>
                  <a:pt x="2482386" y="2406502"/>
                  <a:pt x="2324165" y="2385213"/>
                  <a:pt x="2102276" y="2380332"/>
                </a:cubicBezTo>
                <a:cubicBezTo>
                  <a:pt x="1880387" y="2375451"/>
                  <a:pt x="1754755" y="2381412"/>
                  <a:pt x="1423079" y="2380332"/>
                </a:cubicBezTo>
                <a:cubicBezTo>
                  <a:pt x="1091403" y="2379252"/>
                  <a:pt x="1026233" y="2407988"/>
                  <a:pt x="840910" y="2380332"/>
                </a:cubicBezTo>
                <a:cubicBezTo>
                  <a:pt x="655587" y="2352676"/>
                  <a:pt x="391831" y="2403014"/>
                  <a:pt x="0" y="2380332"/>
                </a:cubicBezTo>
                <a:cubicBezTo>
                  <a:pt x="-19650" y="2220379"/>
                  <a:pt x="8283" y="2016283"/>
                  <a:pt x="0" y="1737642"/>
                </a:cubicBezTo>
                <a:cubicBezTo>
                  <a:pt x="-8283" y="1459001"/>
                  <a:pt x="-4408" y="1387841"/>
                  <a:pt x="0" y="1190166"/>
                </a:cubicBezTo>
                <a:cubicBezTo>
                  <a:pt x="4408" y="992491"/>
                  <a:pt x="29513" y="802698"/>
                  <a:pt x="0" y="571280"/>
                </a:cubicBezTo>
                <a:cubicBezTo>
                  <a:pt x="-29513" y="339862"/>
                  <a:pt x="20335" y="190159"/>
                  <a:pt x="0" y="0"/>
                </a:cubicBezTo>
                <a:close/>
              </a:path>
              <a:path w="3234271" h="2380332" stroke="0" extrusionOk="0">
                <a:moveTo>
                  <a:pt x="0" y="0"/>
                </a:moveTo>
                <a:cubicBezTo>
                  <a:pt x="161645" y="17740"/>
                  <a:pt x="391222" y="-12056"/>
                  <a:pt x="614511" y="0"/>
                </a:cubicBezTo>
                <a:cubicBezTo>
                  <a:pt x="837800" y="12056"/>
                  <a:pt x="915682" y="-18068"/>
                  <a:pt x="1164338" y="0"/>
                </a:cubicBezTo>
                <a:cubicBezTo>
                  <a:pt x="1412994" y="18068"/>
                  <a:pt x="1707949" y="29967"/>
                  <a:pt x="1875877" y="0"/>
                </a:cubicBezTo>
                <a:cubicBezTo>
                  <a:pt x="2043805" y="-29967"/>
                  <a:pt x="2296864" y="28030"/>
                  <a:pt x="2490389" y="0"/>
                </a:cubicBezTo>
                <a:cubicBezTo>
                  <a:pt x="2683914" y="-28030"/>
                  <a:pt x="3034064" y="25786"/>
                  <a:pt x="3234271" y="0"/>
                </a:cubicBezTo>
                <a:cubicBezTo>
                  <a:pt x="3228434" y="262458"/>
                  <a:pt x="3203608" y="440216"/>
                  <a:pt x="3234271" y="642690"/>
                </a:cubicBezTo>
                <a:cubicBezTo>
                  <a:pt x="3264935" y="845164"/>
                  <a:pt x="3209277" y="1051895"/>
                  <a:pt x="3234271" y="1237773"/>
                </a:cubicBezTo>
                <a:cubicBezTo>
                  <a:pt x="3259265" y="1423651"/>
                  <a:pt x="3208960" y="1617586"/>
                  <a:pt x="3234271" y="1832856"/>
                </a:cubicBezTo>
                <a:cubicBezTo>
                  <a:pt x="3259582" y="2048126"/>
                  <a:pt x="3212211" y="2138186"/>
                  <a:pt x="3234271" y="2380332"/>
                </a:cubicBezTo>
                <a:cubicBezTo>
                  <a:pt x="3069336" y="2396615"/>
                  <a:pt x="2929223" y="2398413"/>
                  <a:pt x="2652102" y="2380332"/>
                </a:cubicBezTo>
                <a:cubicBezTo>
                  <a:pt x="2374981" y="2362251"/>
                  <a:pt x="2189830" y="2371468"/>
                  <a:pt x="2005248" y="2380332"/>
                </a:cubicBezTo>
                <a:cubicBezTo>
                  <a:pt x="1820666" y="2389196"/>
                  <a:pt x="1545412" y="2381858"/>
                  <a:pt x="1390737" y="2380332"/>
                </a:cubicBezTo>
                <a:cubicBezTo>
                  <a:pt x="1236062" y="2378806"/>
                  <a:pt x="955329" y="2409241"/>
                  <a:pt x="679197" y="2380332"/>
                </a:cubicBezTo>
                <a:cubicBezTo>
                  <a:pt x="403065" y="2351423"/>
                  <a:pt x="181539" y="2392730"/>
                  <a:pt x="0" y="2380332"/>
                </a:cubicBezTo>
                <a:cubicBezTo>
                  <a:pt x="-25526" y="2163408"/>
                  <a:pt x="-16296" y="1968065"/>
                  <a:pt x="0" y="1832856"/>
                </a:cubicBezTo>
                <a:cubicBezTo>
                  <a:pt x="16296" y="1697647"/>
                  <a:pt x="8461" y="1492598"/>
                  <a:pt x="0" y="1237773"/>
                </a:cubicBezTo>
                <a:cubicBezTo>
                  <a:pt x="-8461" y="982948"/>
                  <a:pt x="-22828" y="846559"/>
                  <a:pt x="0" y="666493"/>
                </a:cubicBezTo>
                <a:cubicBezTo>
                  <a:pt x="22828" y="486427"/>
                  <a:pt x="-27514" y="325933"/>
                  <a:pt x="0" y="0"/>
                </a:cubicBezTo>
                <a:close/>
              </a:path>
            </a:pathLst>
          </a:custGeom>
          <a:solidFill>
            <a:schemeClr val="bg2"/>
          </a:solidFill>
          <a:ln w="38100">
            <a:solidFill>
              <a:schemeClr val="tx1"/>
            </a:solidFill>
            <a:extLst>
              <a:ext uri="{C807C97D-BFC1-408E-A445-0C87EB9F89A2}">
                <ask:lineSketchStyleProps xmlns:ask="http://schemas.microsoft.com/office/drawing/2018/sketchyshapes" sd="1219033472">
                  <a:prstGeom prst="rect">
                    <a:avLst/>
                  </a:prstGeom>
                  <ask:type>
                    <ask:lineSketchFreehand/>
                  </ask:type>
                </ask:lineSketchStyleProps>
              </a:ext>
            </a:extLst>
          </a:ln>
        </p:spPr>
        <p:txBody>
          <a:bodyPr wrap="square">
            <a:spAutoFit/>
          </a:bodyPr>
          <a:lstStyle/>
          <a:p>
            <a:r>
              <a:rPr lang="en-CH" sz="2400" dirty="0"/>
              <a:t>We need to distinguish between “fast” in absolute terms for a fixed problem size, and “fast” in the sense of how well it scales</a:t>
            </a:r>
          </a:p>
        </p:txBody>
      </p:sp>
    </p:spTree>
    <p:extLst>
      <p:ext uri="{BB962C8B-B14F-4D97-AF65-F5344CB8AC3E}">
        <p14:creationId xmlns:p14="http://schemas.microsoft.com/office/powerpoint/2010/main" val="1829434608"/>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64F7877-5F5B-84D0-CEB7-C01C57A494FB}"/>
              </a:ext>
            </a:extLst>
          </p:cNvPr>
          <p:cNvSpPr>
            <a:spLocks noGrp="1"/>
          </p:cNvSpPr>
          <p:nvPr>
            <p:ph type="title"/>
          </p:nvPr>
        </p:nvSpPr>
        <p:spPr/>
        <p:txBody>
          <a:bodyPr/>
          <a:lstStyle/>
          <a:p>
            <a:r>
              <a:rPr lang="en-CH" dirty="0"/>
              <a:t>How performance scales: big-O</a:t>
            </a:r>
          </a:p>
        </p:txBody>
      </p:sp>
      <p:sp>
        <p:nvSpPr>
          <p:cNvPr id="4" name="Date Placeholder 3">
            <a:extLst>
              <a:ext uri="{FF2B5EF4-FFF2-40B4-BE49-F238E27FC236}">
                <a16:creationId xmlns:a16="http://schemas.microsoft.com/office/drawing/2014/main" id="{7E704AA7-E172-E202-BF28-C2A93195BF34}"/>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D55C74D7-9954-B6EE-29AD-33296B345ECB}"/>
              </a:ext>
            </a:extLst>
          </p:cNvPr>
          <p:cNvSpPr>
            <a:spLocks noGrp="1"/>
          </p:cNvSpPr>
          <p:nvPr>
            <p:ph type="ftr" sz="quarter" idx="11"/>
          </p:nvPr>
        </p:nvSpPr>
        <p:spPr/>
        <p:txBody>
          <a:bodyPr/>
          <a:lstStyle/>
          <a:p>
            <a:r>
              <a:rPr lang="en-US"/>
              <a:t>Data, v4.0</a:t>
            </a:r>
            <a:endParaRPr lang="en-US" dirty="0"/>
          </a:p>
        </p:txBody>
      </p:sp>
      <p:sp>
        <p:nvSpPr>
          <p:cNvPr id="6" name="Slide Number Placeholder 5">
            <a:extLst>
              <a:ext uri="{FF2B5EF4-FFF2-40B4-BE49-F238E27FC236}">
                <a16:creationId xmlns:a16="http://schemas.microsoft.com/office/drawing/2014/main" id="{AFEE3AA8-4168-EDB7-48CB-5C264024277E}"/>
              </a:ext>
            </a:extLst>
          </p:cNvPr>
          <p:cNvSpPr>
            <a:spLocks noGrp="1"/>
          </p:cNvSpPr>
          <p:nvPr>
            <p:ph type="sldNum" sz="quarter" idx="12"/>
          </p:nvPr>
        </p:nvSpPr>
        <p:spPr/>
        <p:txBody>
          <a:bodyPr/>
          <a:lstStyle/>
          <a:p>
            <a:fld id="{EF79ADEA-B933-47CC-A4E9-04E6298B917C}" type="slidenum">
              <a:rPr lang="en-US" smtClean="0"/>
              <a:pPr/>
              <a:t>26</a:t>
            </a:fld>
            <a:endParaRPr lang="en-US"/>
          </a:p>
        </p:txBody>
      </p:sp>
      <p:graphicFrame>
        <p:nvGraphicFramePr>
          <p:cNvPr id="8" name="Table 7">
            <a:extLst>
              <a:ext uri="{FF2B5EF4-FFF2-40B4-BE49-F238E27FC236}">
                <a16:creationId xmlns:a16="http://schemas.microsoft.com/office/drawing/2014/main" id="{9F4D7767-8D38-9EC2-E9DE-CB44B2A754DB}"/>
              </a:ext>
            </a:extLst>
          </p:cNvPr>
          <p:cNvGraphicFramePr>
            <a:graphicFrameLocks noGrp="1"/>
          </p:cNvGraphicFramePr>
          <p:nvPr/>
        </p:nvGraphicFramePr>
        <p:xfrm>
          <a:off x="751384" y="1258760"/>
          <a:ext cx="5632648" cy="2123440"/>
        </p:xfrm>
        <a:graphic>
          <a:graphicData uri="http://schemas.openxmlformats.org/drawingml/2006/table">
            <a:tbl>
              <a:tblPr firstRow="1" bandRow="1">
                <a:tableStyleId>{5C22544A-7EE6-4342-B048-85BDC9FD1C3A}</a:tableStyleId>
              </a:tblPr>
              <a:tblGrid>
                <a:gridCol w="1401770">
                  <a:extLst>
                    <a:ext uri="{9D8B030D-6E8A-4147-A177-3AD203B41FA5}">
                      <a16:colId xmlns:a16="http://schemas.microsoft.com/office/drawing/2014/main" val="2060215517"/>
                    </a:ext>
                  </a:extLst>
                </a:gridCol>
                <a:gridCol w="1638590">
                  <a:extLst>
                    <a:ext uri="{9D8B030D-6E8A-4147-A177-3AD203B41FA5}">
                      <a16:colId xmlns:a16="http://schemas.microsoft.com/office/drawing/2014/main" val="3200531112"/>
                    </a:ext>
                  </a:extLst>
                </a:gridCol>
                <a:gridCol w="2592288">
                  <a:extLst>
                    <a:ext uri="{9D8B030D-6E8A-4147-A177-3AD203B41FA5}">
                      <a16:colId xmlns:a16="http://schemas.microsoft.com/office/drawing/2014/main" val="1401730132"/>
                    </a:ext>
                  </a:extLst>
                </a:gridCol>
              </a:tblGrid>
              <a:tr h="419521">
                <a:tc>
                  <a:txBody>
                    <a:bodyPr/>
                    <a:lstStyle/>
                    <a:p>
                      <a:r>
                        <a:rPr lang="en-US" dirty="0">
                          <a:solidFill>
                            <a:schemeClr val="bg2">
                              <a:lumMod val="25000"/>
                            </a:schemeClr>
                          </a:solidFill>
                        </a:rPr>
                        <a:t>B</a:t>
                      </a:r>
                      <a:r>
                        <a:rPr lang="en-CH" dirty="0">
                          <a:solidFill>
                            <a:schemeClr val="bg2">
                              <a:lumMod val="25000"/>
                            </a:schemeClr>
                          </a:solidFill>
                        </a:rPr>
                        <a:t>ig-O class</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What we call it</a:t>
                      </a:r>
                      <a:endParaRPr lang="en-CH" dirty="0">
                        <a:solidFill>
                          <a:schemeClr val="bg2">
                            <a:lumMod val="25000"/>
                          </a:schemeClr>
                        </a:solidFill>
                      </a:endParaRP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tc>
                  <a:txBody>
                    <a:bodyPr/>
                    <a:lstStyle/>
                    <a:p>
                      <a:r>
                        <a:rPr lang="en-US" dirty="0">
                          <a:solidFill>
                            <a:schemeClr val="bg2">
                              <a:lumMod val="25000"/>
                            </a:schemeClr>
                          </a:solidFill>
                        </a:rPr>
                        <a:t>T</a:t>
                      </a:r>
                      <a:r>
                        <a:rPr lang="en-CH" dirty="0">
                          <a:solidFill>
                            <a:schemeClr val="bg2">
                              <a:lumMod val="25000"/>
                            </a:schemeClr>
                          </a:solidFill>
                        </a:rPr>
                        <a:t>ime increase</a:t>
                      </a:r>
                      <a:r>
                        <a:rPr lang="en-US" dirty="0">
                          <a:solidFill>
                            <a:schemeClr val="bg2">
                              <a:lumMod val="25000"/>
                            </a:schemeClr>
                          </a:solidFill>
                        </a:rPr>
                        <a:t>,</a:t>
                      </a:r>
                      <a:r>
                        <a:rPr lang="en-CH" dirty="0">
                          <a:solidFill>
                            <a:schemeClr val="bg2">
                              <a:lumMod val="25000"/>
                            </a:schemeClr>
                          </a:solidFill>
                        </a:rPr>
                        <a:t> </a:t>
                      </a:r>
                      <a:r>
                        <a:rPr lang="en-US" dirty="0">
                          <a:solidFill>
                            <a:schemeClr val="bg2">
                              <a:lumMod val="25000"/>
                            </a:schemeClr>
                          </a:solidFill>
                        </a:rPr>
                        <a:t>when</a:t>
                      </a:r>
                      <a:r>
                        <a:rPr lang="en-CH" dirty="0">
                          <a:solidFill>
                            <a:schemeClr val="bg2">
                              <a:lumMod val="25000"/>
                            </a:schemeClr>
                          </a:solidFill>
                        </a:rPr>
                        <a:t> data increases 10x</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lumMod val="95000"/>
                      </a:schemeClr>
                    </a:solidFill>
                  </a:tcPr>
                </a:tc>
                <a:extLst>
                  <a:ext uri="{0D108BD9-81ED-4DB2-BD59-A6C34878D82A}">
                    <a16:rowId xmlns:a16="http://schemas.microsoft.com/office/drawing/2014/main" val="1816493350"/>
                  </a:ext>
                </a:extLst>
              </a:tr>
              <a:tr h="370840">
                <a:tc>
                  <a:txBody>
                    <a:bodyPr/>
                    <a:lstStyle/>
                    <a:p>
                      <a:r>
                        <a:rPr lang="en-CH" b="1" dirty="0">
                          <a:solidFill>
                            <a:srgbClr val="1F45FF"/>
                          </a:solidFill>
                        </a:rPr>
                        <a:t>O(1)</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constant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390070366"/>
                  </a:ext>
                </a:extLst>
              </a:tr>
              <a:tr h="370840">
                <a:tc>
                  <a:txBody>
                    <a:bodyPr/>
                    <a:lstStyle/>
                    <a:p>
                      <a:r>
                        <a:rPr lang="en-CH" b="1" dirty="0">
                          <a:solidFill>
                            <a:srgbClr val="56D72C"/>
                          </a:solidFill>
                        </a:rPr>
                        <a:t>O(n)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897992344"/>
                  </a:ext>
                </a:extLst>
              </a:tr>
              <a:tr h="370840">
                <a:tc>
                  <a:txBody>
                    <a:bodyPr/>
                    <a:lstStyle/>
                    <a:p>
                      <a:r>
                        <a:rPr lang="en-CH" b="1" dirty="0">
                          <a:solidFill>
                            <a:srgbClr val="FF8B00"/>
                          </a:solidFill>
                        </a:rPr>
                        <a:t>O(n</a:t>
                      </a:r>
                      <a:r>
                        <a:rPr lang="en-CH" b="1" baseline="30000" dirty="0">
                          <a:solidFill>
                            <a:srgbClr val="FF8B00"/>
                          </a:solidFill>
                        </a:rPr>
                        <a:t>2</a:t>
                      </a:r>
                      <a:r>
                        <a:rPr lang="en-CH" b="1" dirty="0">
                          <a:solidFill>
                            <a:srgbClr val="FF8B00"/>
                          </a:solidFill>
                        </a:rPr>
                        <a:t>)</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quadratic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667025948"/>
                  </a:ext>
                </a:extLst>
              </a:tr>
              <a:tr h="370840">
                <a:tc>
                  <a:txBody>
                    <a:bodyPr/>
                    <a:lstStyle/>
                    <a:p>
                      <a:r>
                        <a:rPr lang="en-CH" b="1" dirty="0">
                          <a:solidFill>
                            <a:srgbClr val="FF8CD8"/>
                          </a:solidFill>
                        </a:rPr>
                        <a:t>O(n * log n)</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linearithmic</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r>
                        <a:rPr lang="en-CH" dirty="0"/>
                        <a:t>~10-20x time</a:t>
                      </a:r>
                    </a:p>
                  </a:txBody>
                  <a:tcP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22769138"/>
                  </a:ext>
                </a:extLst>
              </a:tr>
            </a:tbl>
          </a:graphicData>
        </a:graphic>
      </p:graphicFrame>
      <p:grpSp>
        <p:nvGrpSpPr>
          <p:cNvPr id="17" name="Group 16">
            <a:extLst>
              <a:ext uri="{FF2B5EF4-FFF2-40B4-BE49-F238E27FC236}">
                <a16:creationId xmlns:a16="http://schemas.microsoft.com/office/drawing/2014/main" id="{D393E11A-0940-7F3E-8EF2-42DBDBE2BA36}"/>
              </a:ext>
            </a:extLst>
          </p:cNvPr>
          <p:cNvGrpSpPr/>
          <p:nvPr/>
        </p:nvGrpSpPr>
        <p:grpSpPr>
          <a:xfrm>
            <a:off x="7032103" y="1216973"/>
            <a:ext cx="4968553" cy="4423960"/>
            <a:chOff x="7032103" y="1216973"/>
            <a:chExt cx="4968553" cy="4423960"/>
          </a:xfrm>
        </p:grpSpPr>
        <p:pic>
          <p:nvPicPr>
            <p:cNvPr id="11" name="Picture 4" descr="Big O notation- What is it good for? – The Craft of Coding">
              <a:extLst>
                <a:ext uri="{FF2B5EF4-FFF2-40B4-BE49-F238E27FC236}">
                  <a16:creationId xmlns:a16="http://schemas.microsoft.com/office/drawing/2014/main" id="{88B64CF8-480D-6156-D60C-0F8D5DCC0C1D}"/>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176120" y="1216973"/>
              <a:ext cx="4464496" cy="4252838"/>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9B3CB49A-07A0-C3B9-4A2C-A7BA1017B6E3}"/>
                </a:ext>
              </a:extLst>
            </p:cNvPr>
            <p:cNvSpPr txBox="1"/>
            <p:nvPr/>
          </p:nvSpPr>
          <p:spPr>
            <a:xfrm rot="16200000">
              <a:off x="6095392" y="3112559"/>
              <a:ext cx="2335088" cy="461665"/>
            </a:xfrm>
            <a:prstGeom prst="rect">
              <a:avLst/>
            </a:prstGeom>
            <a:solidFill>
              <a:schemeClr val="bg1"/>
            </a:solidFill>
          </p:spPr>
          <p:txBody>
            <a:bodyPr wrap="square" rtlCol="0">
              <a:spAutoFit/>
            </a:bodyPr>
            <a:lstStyle/>
            <a:p>
              <a:pPr algn="ctr"/>
              <a:r>
                <a:rPr lang="en-CH" sz="2400" dirty="0"/>
                <a:t>Time</a:t>
              </a:r>
            </a:p>
          </p:txBody>
        </p:sp>
        <p:sp>
          <p:nvSpPr>
            <p:cNvPr id="7" name="TextBox 6">
              <a:extLst>
                <a:ext uri="{FF2B5EF4-FFF2-40B4-BE49-F238E27FC236}">
                  <a16:creationId xmlns:a16="http://schemas.microsoft.com/office/drawing/2014/main" id="{4FD25CA8-C5A0-9846-314B-26B0FE7E72DC}"/>
                </a:ext>
              </a:extLst>
            </p:cNvPr>
            <p:cNvSpPr txBox="1"/>
            <p:nvPr/>
          </p:nvSpPr>
          <p:spPr>
            <a:xfrm>
              <a:off x="8240824" y="5179268"/>
              <a:ext cx="2335088" cy="461665"/>
            </a:xfrm>
            <a:prstGeom prst="rect">
              <a:avLst/>
            </a:prstGeom>
            <a:solidFill>
              <a:schemeClr val="bg1"/>
            </a:solidFill>
          </p:spPr>
          <p:txBody>
            <a:bodyPr wrap="square" rtlCol="0">
              <a:spAutoFit/>
            </a:bodyPr>
            <a:lstStyle/>
            <a:p>
              <a:pPr algn="ctr"/>
              <a:r>
                <a:rPr lang="en-CH" sz="2400" dirty="0"/>
                <a:t>Input size, n</a:t>
              </a:r>
            </a:p>
          </p:txBody>
        </p:sp>
        <p:sp>
          <p:nvSpPr>
            <p:cNvPr id="9" name="TextBox 8">
              <a:extLst>
                <a:ext uri="{FF2B5EF4-FFF2-40B4-BE49-F238E27FC236}">
                  <a16:creationId xmlns:a16="http://schemas.microsoft.com/office/drawing/2014/main" id="{2426D3F2-FE80-E41C-D58F-6AB0CA6BD5CF}"/>
                </a:ext>
              </a:extLst>
            </p:cNvPr>
            <p:cNvSpPr txBox="1"/>
            <p:nvPr/>
          </p:nvSpPr>
          <p:spPr>
            <a:xfrm>
              <a:off x="10920536" y="2917700"/>
              <a:ext cx="799120" cy="400110"/>
            </a:xfrm>
            <a:prstGeom prst="rect">
              <a:avLst/>
            </a:prstGeom>
            <a:solidFill>
              <a:schemeClr val="bg1"/>
            </a:solidFill>
          </p:spPr>
          <p:txBody>
            <a:bodyPr wrap="square" rtlCol="0">
              <a:spAutoFit/>
            </a:bodyPr>
            <a:lstStyle/>
            <a:p>
              <a:r>
                <a:rPr lang="en-CH" sz="2000" dirty="0">
                  <a:solidFill>
                    <a:srgbClr val="56D72C"/>
                  </a:solidFill>
                </a:rPr>
                <a:t>O(n)</a:t>
              </a:r>
            </a:p>
          </p:txBody>
        </p:sp>
        <p:sp>
          <p:nvSpPr>
            <p:cNvPr id="10" name="TextBox 9">
              <a:extLst>
                <a:ext uri="{FF2B5EF4-FFF2-40B4-BE49-F238E27FC236}">
                  <a16:creationId xmlns:a16="http://schemas.microsoft.com/office/drawing/2014/main" id="{6E13CADC-8927-73E6-4D6C-9FB7B0F77DE8}"/>
                </a:ext>
              </a:extLst>
            </p:cNvPr>
            <p:cNvSpPr txBox="1"/>
            <p:nvPr/>
          </p:nvSpPr>
          <p:spPr>
            <a:xfrm>
              <a:off x="10920536" y="3993700"/>
              <a:ext cx="1080120" cy="400110"/>
            </a:xfrm>
            <a:prstGeom prst="rect">
              <a:avLst/>
            </a:prstGeom>
            <a:solidFill>
              <a:schemeClr val="bg1"/>
            </a:solidFill>
          </p:spPr>
          <p:txBody>
            <a:bodyPr wrap="square" rtlCol="0">
              <a:spAutoFit/>
            </a:bodyPr>
            <a:lstStyle/>
            <a:p>
              <a:r>
                <a:rPr lang="en-CH" sz="2000" dirty="0">
                  <a:solidFill>
                    <a:srgbClr val="0295FF"/>
                  </a:solidFill>
                </a:rPr>
                <a:t>O(log n)</a:t>
              </a:r>
            </a:p>
          </p:txBody>
        </p:sp>
        <p:sp>
          <p:nvSpPr>
            <p:cNvPr id="12" name="TextBox 11">
              <a:extLst>
                <a:ext uri="{FF2B5EF4-FFF2-40B4-BE49-F238E27FC236}">
                  <a16:creationId xmlns:a16="http://schemas.microsoft.com/office/drawing/2014/main" id="{567A70DA-9496-138C-D0A3-9DEAEA3CB351}"/>
                </a:ext>
              </a:extLst>
            </p:cNvPr>
            <p:cNvSpPr txBox="1"/>
            <p:nvPr/>
          </p:nvSpPr>
          <p:spPr>
            <a:xfrm>
              <a:off x="10920536" y="4491468"/>
              <a:ext cx="1080120" cy="400110"/>
            </a:xfrm>
            <a:prstGeom prst="rect">
              <a:avLst/>
            </a:prstGeom>
            <a:solidFill>
              <a:schemeClr val="bg1"/>
            </a:solidFill>
          </p:spPr>
          <p:txBody>
            <a:bodyPr wrap="square" rtlCol="0">
              <a:spAutoFit/>
            </a:bodyPr>
            <a:lstStyle/>
            <a:p>
              <a:r>
                <a:rPr lang="en-CH" sz="2000" dirty="0">
                  <a:solidFill>
                    <a:srgbClr val="0020FF"/>
                  </a:solidFill>
                </a:rPr>
                <a:t>O(1)</a:t>
              </a:r>
            </a:p>
          </p:txBody>
        </p:sp>
        <p:sp>
          <p:nvSpPr>
            <p:cNvPr id="13" name="TextBox 12">
              <a:extLst>
                <a:ext uri="{FF2B5EF4-FFF2-40B4-BE49-F238E27FC236}">
                  <a16:creationId xmlns:a16="http://schemas.microsoft.com/office/drawing/2014/main" id="{00748C42-37AD-707B-F64F-928FD7CA0E45}"/>
                </a:ext>
              </a:extLst>
            </p:cNvPr>
            <p:cNvSpPr txBox="1"/>
            <p:nvPr/>
          </p:nvSpPr>
          <p:spPr>
            <a:xfrm>
              <a:off x="10380476" y="1425112"/>
              <a:ext cx="1260140" cy="400110"/>
            </a:xfrm>
            <a:prstGeom prst="rect">
              <a:avLst/>
            </a:prstGeom>
            <a:solidFill>
              <a:schemeClr val="bg1"/>
            </a:solidFill>
          </p:spPr>
          <p:txBody>
            <a:bodyPr wrap="square" rtlCol="0">
              <a:spAutoFit/>
            </a:bodyPr>
            <a:lstStyle/>
            <a:p>
              <a:r>
                <a:rPr lang="en-CH" sz="2000" dirty="0">
                  <a:solidFill>
                    <a:srgbClr val="FF8CD8"/>
                  </a:solidFill>
                </a:rPr>
                <a:t>O(n log n)</a:t>
              </a:r>
            </a:p>
          </p:txBody>
        </p:sp>
        <p:sp>
          <p:nvSpPr>
            <p:cNvPr id="15" name="TextBox 14">
              <a:extLst>
                <a:ext uri="{FF2B5EF4-FFF2-40B4-BE49-F238E27FC236}">
                  <a16:creationId xmlns:a16="http://schemas.microsoft.com/office/drawing/2014/main" id="{F894B366-E44B-9EA6-ECA3-B761A26C4317}"/>
                </a:ext>
              </a:extLst>
            </p:cNvPr>
            <p:cNvSpPr txBox="1"/>
            <p:nvPr/>
          </p:nvSpPr>
          <p:spPr>
            <a:xfrm>
              <a:off x="9412267" y="1357742"/>
              <a:ext cx="788189" cy="400110"/>
            </a:xfrm>
            <a:prstGeom prst="rect">
              <a:avLst/>
            </a:prstGeom>
            <a:solidFill>
              <a:schemeClr val="bg1"/>
            </a:solidFill>
          </p:spPr>
          <p:txBody>
            <a:bodyPr wrap="square" rtlCol="0">
              <a:spAutoFit/>
            </a:bodyPr>
            <a:lstStyle/>
            <a:p>
              <a:r>
                <a:rPr lang="en-CH" sz="2000" dirty="0">
                  <a:solidFill>
                    <a:srgbClr val="FF8B00"/>
                  </a:solidFill>
                </a:rPr>
                <a:t>O(n</a:t>
              </a:r>
              <a:r>
                <a:rPr lang="en-CH" sz="2000" baseline="30000" dirty="0">
                  <a:solidFill>
                    <a:srgbClr val="FF8B00"/>
                  </a:solidFill>
                </a:rPr>
                <a:t>2</a:t>
              </a:r>
              <a:r>
                <a:rPr lang="en-CH" sz="2000" dirty="0">
                  <a:solidFill>
                    <a:srgbClr val="FF8B00"/>
                  </a:solidFill>
                </a:rPr>
                <a:t>)</a:t>
              </a:r>
            </a:p>
          </p:txBody>
        </p:sp>
        <p:sp>
          <p:nvSpPr>
            <p:cNvPr id="16" name="TextBox 15">
              <a:extLst>
                <a:ext uri="{FF2B5EF4-FFF2-40B4-BE49-F238E27FC236}">
                  <a16:creationId xmlns:a16="http://schemas.microsoft.com/office/drawing/2014/main" id="{DD61754C-FB6E-5DBD-79EF-0027219F702E}"/>
                </a:ext>
              </a:extLst>
            </p:cNvPr>
            <p:cNvSpPr txBox="1"/>
            <p:nvPr/>
          </p:nvSpPr>
          <p:spPr>
            <a:xfrm>
              <a:off x="8294757" y="1357742"/>
              <a:ext cx="788189" cy="400110"/>
            </a:xfrm>
            <a:prstGeom prst="rect">
              <a:avLst/>
            </a:prstGeom>
            <a:solidFill>
              <a:schemeClr val="bg1"/>
            </a:solidFill>
          </p:spPr>
          <p:txBody>
            <a:bodyPr wrap="square" rtlCol="0">
              <a:spAutoFit/>
            </a:bodyPr>
            <a:lstStyle/>
            <a:p>
              <a:r>
                <a:rPr lang="en-CH" sz="2000" dirty="0">
                  <a:solidFill>
                    <a:srgbClr val="FF0000"/>
                  </a:solidFill>
                </a:rPr>
                <a:t>O(2</a:t>
              </a:r>
              <a:r>
                <a:rPr lang="en-CH" sz="2000" baseline="30000" dirty="0">
                  <a:solidFill>
                    <a:srgbClr val="FF0000"/>
                  </a:solidFill>
                </a:rPr>
                <a:t>n</a:t>
              </a:r>
              <a:r>
                <a:rPr lang="en-CH" sz="2000" dirty="0">
                  <a:solidFill>
                    <a:srgbClr val="FF0000"/>
                  </a:solidFill>
                </a:rPr>
                <a:t>)</a:t>
              </a:r>
            </a:p>
          </p:txBody>
        </p:sp>
      </p:grpSp>
    </p:spTree>
    <p:extLst>
      <p:ext uri="{BB962C8B-B14F-4D97-AF65-F5344CB8AC3E}">
        <p14:creationId xmlns:p14="http://schemas.microsoft.com/office/powerpoint/2010/main" val="792465860"/>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6CAC27B-1D47-E39D-6546-CF0FC38B137E}"/>
              </a:ext>
            </a:extLst>
          </p:cNvPr>
          <p:cNvSpPr>
            <a:spLocks noGrp="1"/>
          </p:cNvSpPr>
          <p:nvPr>
            <p:ph type="title"/>
          </p:nvPr>
        </p:nvSpPr>
        <p:spPr/>
        <p:txBody>
          <a:bodyPr>
            <a:normAutofit fontScale="90000"/>
          </a:bodyPr>
          <a:lstStyle/>
          <a:p>
            <a:r>
              <a:rPr lang="en-CH" dirty="0"/>
              <a:t>Basic reference sheet about Python data structures </a:t>
            </a:r>
          </a:p>
        </p:txBody>
      </p:sp>
      <p:sp>
        <p:nvSpPr>
          <p:cNvPr id="4" name="Date Placeholder 3">
            <a:extLst>
              <a:ext uri="{FF2B5EF4-FFF2-40B4-BE49-F238E27FC236}">
                <a16:creationId xmlns:a16="http://schemas.microsoft.com/office/drawing/2014/main" id="{19E5C14D-DDBE-16B6-8D1D-1F2CF1B17DA5}"/>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9F13B8E0-4B28-E234-E0F8-CDB4CC6AC703}"/>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85AFFD0B-66E6-6176-3B92-998E3AFB5B4C}"/>
              </a:ext>
            </a:extLst>
          </p:cNvPr>
          <p:cNvSpPr>
            <a:spLocks noGrp="1"/>
          </p:cNvSpPr>
          <p:nvPr>
            <p:ph type="sldNum" sz="quarter" idx="12"/>
          </p:nvPr>
        </p:nvSpPr>
        <p:spPr/>
        <p:txBody>
          <a:bodyPr/>
          <a:lstStyle/>
          <a:p>
            <a:fld id="{EF79ADEA-B933-47CC-A4E9-04E6298B917C}" type="slidenum">
              <a:rPr lang="en-US" smtClean="0"/>
              <a:pPr/>
              <a:t>27</a:t>
            </a:fld>
            <a:endParaRPr lang="en-US"/>
          </a:p>
        </p:txBody>
      </p:sp>
      <p:sp>
        <p:nvSpPr>
          <p:cNvPr id="8" name="TextBox 7">
            <a:extLst>
              <a:ext uri="{FF2B5EF4-FFF2-40B4-BE49-F238E27FC236}">
                <a16:creationId xmlns:a16="http://schemas.microsoft.com/office/drawing/2014/main" id="{569F19D1-8CCA-3700-3F5F-91DF92543041}"/>
              </a:ext>
            </a:extLst>
          </p:cNvPr>
          <p:cNvSpPr txBox="1"/>
          <p:nvPr/>
        </p:nvSpPr>
        <p:spPr>
          <a:xfrm>
            <a:off x="6672064" y="6021226"/>
            <a:ext cx="5688632" cy="369332"/>
          </a:xfrm>
          <a:prstGeom prst="rect">
            <a:avLst/>
          </a:prstGeom>
          <a:noFill/>
        </p:spPr>
        <p:txBody>
          <a:bodyPr wrap="square">
            <a:spAutoFit/>
          </a:bodyPr>
          <a:lstStyle/>
          <a:p>
            <a:r>
              <a:rPr lang="en-CH" dirty="0"/>
              <a:t>See also: https://wiki.python.org/moin/TimeComplexity</a:t>
            </a:r>
          </a:p>
        </p:txBody>
      </p:sp>
      <p:graphicFrame>
        <p:nvGraphicFramePr>
          <p:cNvPr id="9" name="Table 8">
            <a:extLst>
              <a:ext uri="{FF2B5EF4-FFF2-40B4-BE49-F238E27FC236}">
                <a16:creationId xmlns:a16="http://schemas.microsoft.com/office/drawing/2014/main" id="{41AC80FD-AE39-8B91-97E1-F61B7CFA57D2}"/>
              </a:ext>
            </a:extLst>
          </p:cNvPr>
          <p:cNvGraphicFramePr>
            <a:graphicFrameLocks noGrp="1"/>
          </p:cNvGraphicFramePr>
          <p:nvPr>
            <p:extLst>
              <p:ext uri="{D42A27DB-BD31-4B8C-83A1-F6EECF244321}">
                <p14:modId xmlns:p14="http://schemas.microsoft.com/office/powerpoint/2010/main" val="2348167205"/>
              </p:ext>
            </p:extLst>
          </p:nvPr>
        </p:nvGraphicFramePr>
        <p:xfrm>
          <a:off x="551384" y="2344857"/>
          <a:ext cx="5256584" cy="3336433"/>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542492">
                  <a:extLst>
                    <a:ext uri="{9D8B030D-6E8A-4147-A177-3AD203B41FA5}">
                      <a16:colId xmlns:a16="http://schemas.microsoft.com/office/drawing/2014/main" val="142807779"/>
                    </a:ext>
                  </a:extLst>
                </a:gridCol>
              </a:tblGrid>
              <a:tr h="578315">
                <a:tc>
                  <a:txBody>
                    <a:bodyPr/>
                    <a:lstStyle/>
                    <a:p>
                      <a:r>
                        <a:rPr lang="en-CH" sz="2000" b="0" dirty="0">
                          <a:solidFill>
                            <a:schemeClr val="tx1"/>
                          </a:solidFill>
                        </a:rPr>
                        <a:t>Getting an element by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578315">
                <a:tc>
                  <a:txBody>
                    <a:bodyPr/>
                    <a:lstStyle/>
                    <a:p>
                      <a:r>
                        <a:rPr lang="en-CH" sz="2000" b="0" dirty="0">
                          <a:solidFill>
                            <a:schemeClr val="tx1"/>
                          </a:solidFill>
                        </a:rPr>
                        <a:t>Appending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3121647670"/>
                  </a:ext>
                </a:extLst>
              </a:tr>
              <a:tr h="578315">
                <a:tc>
                  <a:txBody>
                    <a:bodyPr/>
                    <a:lstStyle/>
                    <a:p>
                      <a:r>
                        <a:rPr lang="en-CH" sz="2000" b="0" dirty="0">
                          <a:solidFill>
                            <a:schemeClr val="tx1"/>
                          </a:solidFill>
                        </a:rPr>
                        <a:t>Inserting an element at index</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181619153"/>
                  </a:ext>
                </a:extLst>
              </a:tr>
              <a:tr h="578315">
                <a:tc>
                  <a:txBody>
                    <a:bodyPr/>
                    <a:lstStyle/>
                    <a:p>
                      <a:r>
                        <a:rPr lang="en-CH" sz="2000" b="0" dirty="0">
                          <a:solidFill>
                            <a:schemeClr val="tx1"/>
                          </a:solidFill>
                        </a:rPr>
                        <a:t>Sorting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n log n</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511291073"/>
                  </a:ext>
                </a:extLst>
              </a:tr>
              <a:tr h="1023173">
                <a:tc>
                  <a:txBody>
                    <a:bodyPr/>
                    <a:lstStyle/>
                    <a:p>
                      <a:r>
                        <a:rPr lang="en-CH" sz="2000" b="0" dirty="0">
                          <a:solidFill>
                            <a:schemeClr val="tx1"/>
                          </a:solidFill>
                        </a:rPr>
                        <a:t>Finding an element</a:t>
                      </a:r>
                      <a:br>
                        <a:rPr lang="en-CH" sz="2000" b="0" dirty="0">
                          <a:solidFill>
                            <a:schemeClr val="tx1"/>
                          </a:solidFill>
                        </a:rPr>
                      </a:br>
                      <a:r>
                        <a:rPr lang="en-CH" sz="2000" b="0" dirty="0">
                          <a:solidFill>
                            <a:schemeClr val="tx1"/>
                          </a:solidFill>
                        </a:rPr>
                        <a:t>(e.g., “if element in my_list: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linear</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sp>
        <p:nvSpPr>
          <p:cNvPr id="11" name="TextBox 10">
            <a:extLst>
              <a:ext uri="{FF2B5EF4-FFF2-40B4-BE49-F238E27FC236}">
                <a16:creationId xmlns:a16="http://schemas.microsoft.com/office/drawing/2014/main" id="{55CAB7A3-C29E-B358-1016-89BD96C28AB6}"/>
              </a:ext>
            </a:extLst>
          </p:cNvPr>
          <p:cNvSpPr txBox="1"/>
          <p:nvPr/>
        </p:nvSpPr>
        <p:spPr>
          <a:xfrm>
            <a:off x="434540" y="1270824"/>
            <a:ext cx="5013388" cy="954107"/>
          </a:xfrm>
          <a:prstGeom prst="rect">
            <a:avLst/>
          </a:prstGeom>
          <a:noFill/>
        </p:spPr>
        <p:txBody>
          <a:bodyPr wrap="square">
            <a:spAutoFit/>
          </a:bodyPr>
          <a:lstStyle/>
          <a:p>
            <a:r>
              <a:rPr lang="en-CH" sz="2800" dirty="0"/>
              <a:t>Lists: collection of ordered, arbitrary data</a:t>
            </a:r>
          </a:p>
        </p:txBody>
      </p:sp>
      <p:graphicFrame>
        <p:nvGraphicFramePr>
          <p:cNvPr id="12" name="Table 11">
            <a:extLst>
              <a:ext uri="{FF2B5EF4-FFF2-40B4-BE49-F238E27FC236}">
                <a16:creationId xmlns:a16="http://schemas.microsoft.com/office/drawing/2014/main" id="{F0DC731C-E9DA-1AAF-00C1-F5E27E1410EF}"/>
              </a:ext>
            </a:extLst>
          </p:cNvPr>
          <p:cNvGraphicFramePr>
            <a:graphicFrameLocks noGrp="1"/>
          </p:cNvGraphicFramePr>
          <p:nvPr>
            <p:extLst>
              <p:ext uri="{D42A27DB-BD31-4B8C-83A1-F6EECF244321}">
                <p14:modId xmlns:p14="http://schemas.microsoft.com/office/powerpoint/2010/main" val="1166875626"/>
              </p:ext>
            </p:extLst>
          </p:nvPr>
        </p:nvGraphicFramePr>
        <p:xfrm>
          <a:off x="6312024" y="1971558"/>
          <a:ext cx="5256584" cy="1097280"/>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542492">
                  <a:extLst>
                    <a:ext uri="{9D8B030D-6E8A-4147-A177-3AD203B41FA5}">
                      <a16:colId xmlns:a16="http://schemas.microsoft.com/office/drawing/2014/main" val="142807779"/>
                    </a:ext>
                  </a:extLst>
                </a:gridCol>
              </a:tblGrid>
              <a:tr h="351438">
                <a:tc>
                  <a:txBody>
                    <a:bodyPr/>
                    <a:lstStyle/>
                    <a:p>
                      <a:r>
                        <a:rPr lang="en-CH" sz="2000" b="0" dirty="0">
                          <a:solidFill>
                            <a:schemeClr val="tx1"/>
                          </a:solidFill>
                        </a:rPr>
                        <a:t>Inserting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612978">
                <a:tc>
                  <a:txBody>
                    <a:bodyPr/>
                    <a:lstStyle/>
                    <a:p>
                      <a:r>
                        <a:rPr lang="en-CH" sz="2000" b="0" dirty="0">
                          <a:solidFill>
                            <a:schemeClr val="tx1"/>
                          </a:solidFill>
                        </a:rPr>
                        <a:t>Finding a value by key</a:t>
                      </a:r>
                      <a:br>
                        <a:rPr lang="en-CH" sz="2000" b="0" dirty="0">
                          <a:solidFill>
                            <a:schemeClr val="tx1"/>
                          </a:solidFill>
                        </a:rPr>
                      </a:br>
                      <a:r>
                        <a:rPr lang="en-CH" sz="2000" b="0" dirty="0">
                          <a:solidFill>
                            <a:schemeClr val="tx1"/>
                          </a:solidFill>
                        </a:rPr>
                        <a:t>(e.g., “if element in my_dict: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graphicFrame>
        <p:nvGraphicFramePr>
          <p:cNvPr id="13" name="Table 12">
            <a:extLst>
              <a:ext uri="{FF2B5EF4-FFF2-40B4-BE49-F238E27FC236}">
                <a16:creationId xmlns:a16="http://schemas.microsoft.com/office/drawing/2014/main" id="{2D1302DB-2769-C2C3-D3E9-1844EA82FD80}"/>
              </a:ext>
            </a:extLst>
          </p:cNvPr>
          <p:cNvGraphicFramePr>
            <a:graphicFrameLocks noGrp="1"/>
          </p:cNvGraphicFramePr>
          <p:nvPr>
            <p:extLst>
              <p:ext uri="{D42A27DB-BD31-4B8C-83A1-F6EECF244321}">
                <p14:modId xmlns:p14="http://schemas.microsoft.com/office/powerpoint/2010/main" val="1830630465"/>
              </p:ext>
            </p:extLst>
          </p:nvPr>
        </p:nvGraphicFramePr>
        <p:xfrm>
          <a:off x="6312024" y="4195632"/>
          <a:ext cx="5256584" cy="1097280"/>
        </p:xfrm>
        <a:graphic>
          <a:graphicData uri="http://schemas.openxmlformats.org/drawingml/2006/table">
            <a:tbl>
              <a:tblPr firstRow="1" bandRow="1">
                <a:tableStyleId>{5C22544A-7EE6-4342-B048-85BDC9FD1C3A}</a:tableStyleId>
              </a:tblPr>
              <a:tblGrid>
                <a:gridCol w="3714092">
                  <a:extLst>
                    <a:ext uri="{9D8B030D-6E8A-4147-A177-3AD203B41FA5}">
                      <a16:colId xmlns:a16="http://schemas.microsoft.com/office/drawing/2014/main" val="2387749546"/>
                    </a:ext>
                  </a:extLst>
                </a:gridCol>
                <a:gridCol w="1542492">
                  <a:extLst>
                    <a:ext uri="{9D8B030D-6E8A-4147-A177-3AD203B41FA5}">
                      <a16:colId xmlns:a16="http://schemas.microsoft.com/office/drawing/2014/main" val="142807779"/>
                    </a:ext>
                  </a:extLst>
                </a:gridCol>
              </a:tblGrid>
              <a:tr h="351438">
                <a:tc>
                  <a:txBody>
                    <a:bodyPr/>
                    <a:lstStyle/>
                    <a:p>
                      <a:r>
                        <a:rPr lang="en-CH" sz="2000" b="0" dirty="0">
                          <a:solidFill>
                            <a:schemeClr val="tx1"/>
                          </a:solidFill>
                        </a:rPr>
                        <a:t>Inserting</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748958593"/>
                  </a:ext>
                </a:extLst>
              </a:tr>
              <a:tr h="612978">
                <a:tc>
                  <a:txBody>
                    <a:bodyPr/>
                    <a:lstStyle/>
                    <a:p>
                      <a:r>
                        <a:rPr lang="en-CH" sz="2000" b="0" dirty="0">
                          <a:solidFill>
                            <a:schemeClr val="tx1"/>
                          </a:solidFill>
                        </a:rPr>
                        <a:t>Finding a value by key</a:t>
                      </a:r>
                      <a:br>
                        <a:rPr lang="en-CH" sz="2000" b="0" dirty="0">
                          <a:solidFill>
                            <a:schemeClr val="tx1"/>
                          </a:solidFill>
                        </a:rPr>
                      </a:br>
                      <a:r>
                        <a:rPr lang="en-CH" sz="2000" b="0" dirty="0">
                          <a:solidFill>
                            <a:schemeClr val="tx1"/>
                          </a:solidFill>
                        </a:rPr>
                        <a:t>(e.g., “if element in my_set: …”)</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tc>
                  <a:txBody>
                    <a:bodyPr/>
                    <a:lstStyle/>
                    <a:p>
                      <a:r>
                        <a:rPr lang="en-CH" sz="2000" b="0" dirty="0">
                          <a:solidFill>
                            <a:schemeClr val="tx1"/>
                          </a:solidFill>
                        </a:rPr>
                        <a:t>constant</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solidFill>
                      <a:schemeClr val="bg1"/>
                    </a:solidFill>
                  </a:tcPr>
                </a:tc>
                <a:extLst>
                  <a:ext uri="{0D108BD9-81ED-4DB2-BD59-A6C34878D82A}">
                    <a16:rowId xmlns:a16="http://schemas.microsoft.com/office/drawing/2014/main" val="2622679385"/>
                  </a:ext>
                </a:extLst>
              </a:tr>
            </a:tbl>
          </a:graphicData>
        </a:graphic>
      </p:graphicFrame>
      <p:sp>
        <p:nvSpPr>
          <p:cNvPr id="14" name="TextBox 13">
            <a:extLst>
              <a:ext uri="{FF2B5EF4-FFF2-40B4-BE49-F238E27FC236}">
                <a16:creationId xmlns:a16="http://schemas.microsoft.com/office/drawing/2014/main" id="{0044821F-7BCB-8BE0-FEA6-781383B6DAE8}"/>
              </a:ext>
            </a:extLst>
          </p:cNvPr>
          <p:cNvSpPr txBox="1"/>
          <p:nvPr/>
        </p:nvSpPr>
        <p:spPr>
          <a:xfrm>
            <a:off x="6240016" y="1331723"/>
            <a:ext cx="5013388" cy="523220"/>
          </a:xfrm>
          <a:prstGeom prst="rect">
            <a:avLst/>
          </a:prstGeom>
          <a:noFill/>
        </p:spPr>
        <p:txBody>
          <a:bodyPr wrap="square">
            <a:spAutoFit/>
          </a:bodyPr>
          <a:lstStyle/>
          <a:p>
            <a:r>
              <a:rPr lang="en-CH" sz="2800" dirty="0"/>
              <a:t>Dictionaries (“hashmaps”)</a:t>
            </a:r>
          </a:p>
        </p:txBody>
      </p:sp>
      <p:sp>
        <p:nvSpPr>
          <p:cNvPr id="15" name="TextBox 14">
            <a:extLst>
              <a:ext uri="{FF2B5EF4-FFF2-40B4-BE49-F238E27FC236}">
                <a16:creationId xmlns:a16="http://schemas.microsoft.com/office/drawing/2014/main" id="{4A3EAB94-DEBE-222C-2E6B-A5E1579EE7BC}"/>
              </a:ext>
            </a:extLst>
          </p:cNvPr>
          <p:cNvSpPr txBox="1"/>
          <p:nvPr/>
        </p:nvSpPr>
        <p:spPr>
          <a:xfrm>
            <a:off x="6240016" y="3627669"/>
            <a:ext cx="5688632" cy="523220"/>
          </a:xfrm>
          <a:prstGeom prst="rect">
            <a:avLst/>
          </a:prstGeom>
          <a:noFill/>
        </p:spPr>
        <p:txBody>
          <a:bodyPr wrap="square">
            <a:spAutoFit/>
          </a:bodyPr>
          <a:lstStyle/>
          <a:p>
            <a:r>
              <a:rPr lang="en-CH" sz="2800" dirty="0"/>
              <a:t>Sets: </a:t>
            </a:r>
            <a:r>
              <a:rPr lang="en-US" sz="2800" dirty="0"/>
              <a:t>it’s dictionaries without values</a:t>
            </a:r>
            <a:endParaRPr lang="en-CH" sz="2800" dirty="0"/>
          </a:p>
        </p:txBody>
      </p:sp>
    </p:spTree>
    <p:extLst>
      <p:ext uri="{BB962C8B-B14F-4D97-AF65-F5344CB8AC3E}">
        <p14:creationId xmlns:p14="http://schemas.microsoft.com/office/powerpoint/2010/main" val="914207064"/>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8" name="Rectangle 7">
            <a:extLst>
              <a:ext uri="{FF2B5EF4-FFF2-40B4-BE49-F238E27FC236}">
                <a16:creationId xmlns:a16="http://schemas.microsoft.com/office/drawing/2014/main" id="{98DFBD88-A407-BCCE-86D5-035B157D4265}"/>
              </a:ext>
            </a:extLst>
          </p:cNvPr>
          <p:cNvSpPr/>
          <p:nvPr/>
        </p:nvSpPr>
        <p:spPr>
          <a:xfrm>
            <a:off x="7428258" y="205950"/>
            <a:ext cx="4539047" cy="990187"/>
          </a:xfrm>
          <a:prstGeom prst="rect">
            <a:avLst/>
          </a:prstGeom>
          <a:solidFill>
            <a:schemeClr val="accent6">
              <a:lumMod val="40000"/>
              <a:lumOff val="60000"/>
            </a:schemeClr>
          </a:solidFill>
          <a:ln w="38100">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DE">
              <a:solidFill>
                <a:schemeClr val="tx1"/>
              </a:solidFill>
              <a:latin typeface="Courier New" panose="02070309020205020404" pitchFamily="49" charset="0"/>
              <a:cs typeface="Courier New" panose="02070309020205020404" pitchFamily="49" charset="0"/>
            </a:endParaRPr>
          </a:p>
        </p:txBody>
      </p:sp>
      <p:sp>
        <p:nvSpPr>
          <p:cNvPr id="3" name="Content Placeholder 2">
            <a:extLst>
              <a:ext uri="{FF2B5EF4-FFF2-40B4-BE49-F238E27FC236}">
                <a16:creationId xmlns:a16="http://schemas.microsoft.com/office/drawing/2014/main" id="{5ECD4441-6525-41C6-BE74-BF0FD43E7305}"/>
              </a:ext>
            </a:extLst>
          </p:cNvPr>
          <p:cNvSpPr>
            <a:spLocks noGrp="1"/>
          </p:cNvSpPr>
          <p:nvPr>
            <p:ph idx="1"/>
          </p:nvPr>
        </p:nvSpPr>
        <p:spPr>
          <a:xfrm>
            <a:off x="838200" y="1772816"/>
            <a:ext cx="10515600" cy="4404147"/>
          </a:xfrm>
        </p:spPr>
        <p:txBody>
          <a:bodyPr/>
          <a:lstStyle/>
          <a:p>
            <a:r>
              <a:rPr lang="en-CH" dirty="0"/>
              <a:t>Open the notebook </a:t>
            </a:r>
            <a:r>
              <a:rPr lang="en-CH" dirty="0">
                <a:latin typeface="Consolas" panose="020B0609020204030204" pitchFamily="49" charset="0"/>
                <a:cs typeface="Consolas" panose="020B0609020204030204" pitchFamily="49" charset="0"/>
              </a:rPr>
              <a:t>match_tarots</a:t>
            </a:r>
            <a:r>
              <a:rPr lang="en-CH" dirty="0"/>
              <a:t>, and follow the instructions!</a:t>
            </a:r>
          </a:p>
          <a:p>
            <a:pPr marL="0" indent="0">
              <a:buNone/>
            </a:pPr>
            <a:endParaRPr lang="en-CH" dirty="0"/>
          </a:p>
          <a:p>
            <a:r>
              <a:rPr lang="en-US" dirty="0"/>
              <a:t>Submit a PR for Issue #1 on </a:t>
            </a:r>
            <a:br>
              <a:rPr lang="en-US" dirty="0"/>
            </a:br>
            <a:r>
              <a:rPr lang="en-US" noProof="1">
                <a:latin typeface="Consolas" panose="020B0609020204030204" pitchFamily="49" charset="0"/>
                <a:cs typeface="Consolas" panose="020B0609020204030204" pitchFamily="49" charset="0"/>
              </a:rPr>
              <a:t>git.aspp.school</a:t>
            </a:r>
            <a:r>
              <a:rPr lang="en-US" dirty="0">
                <a:latin typeface="Consolas" panose="020B0609020204030204" pitchFamily="49" charset="0"/>
                <a:cs typeface="Consolas" panose="020B0609020204030204" pitchFamily="49" charset="0"/>
              </a:rPr>
              <a:t>/ASPP/2026-latam-data</a:t>
            </a:r>
          </a:p>
          <a:p>
            <a:pPr marL="0" indent="0">
              <a:buNone/>
            </a:pPr>
            <a:endParaRPr lang="en-CH" dirty="0"/>
          </a:p>
          <a:p>
            <a:endParaRPr lang="en-US" dirty="0"/>
          </a:p>
          <a:p>
            <a:endParaRPr lang="en-CH" dirty="0"/>
          </a:p>
        </p:txBody>
      </p:sp>
      <p:sp>
        <p:nvSpPr>
          <p:cNvPr id="4" name="Date Placeholder 3">
            <a:extLst>
              <a:ext uri="{FF2B5EF4-FFF2-40B4-BE49-F238E27FC236}">
                <a16:creationId xmlns:a16="http://schemas.microsoft.com/office/drawing/2014/main" id="{E8C84DEF-DCEF-7DAB-2DDF-ACBFCD4688D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2C3C5D9D-450C-CD41-DC4B-A75684895E79}"/>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9F61D35E-DD39-AE70-A8D5-44192757D511}"/>
              </a:ext>
            </a:extLst>
          </p:cNvPr>
          <p:cNvSpPr>
            <a:spLocks noGrp="1"/>
          </p:cNvSpPr>
          <p:nvPr>
            <p:ph type="sldNum" sz="quarter" idx="12"/>
          </p:nvPr>
        </p:nvSpPr>
        <p:spPr/>
        <p:txBody>
          <a:bodyPr/>
          <a:lstStyle/>
          <a:p>
            <a:fld id="{EF79ADEA-B933-47CC-A4E9-04E6298B917C}" type="slidenum">
              <a:rPr lang="en-US" smtClean="0"/>
              <a:pPr/>
              <a:t>28</a:t>
            </a:fld>
            <a:endParaRPr lang="en-US"/>
          </a:p>
        </p:txBody>
      </p:sp>
      <p:sp>
        <p:nvSpPr>
          <p:cNvPr id="9" name="TextBox 8">
            <a:extLst>
              <a:ext uri="{FF2B5EF4-FFF2-40B4-BE49-F238E27FC236}">
                <a16:creationId xmlns:a16="http://schemas.microsoft.com/office/drawing/2014/main" id="{BB65695B-C9BD-A37B-E7AA-E696393008D2}"/>
              </a:ext>
            </a:extLst>
          </p:cNvPr>
          <p:cNvSpPr txBox="1"/>
          <p:nvPr/>
        </p:nvSpPr>
        <p:spPr>
          <a:xfrm>
            <a:off x="7930760" y="224587"/>
            <a:ext cx="1779374" cy="369332"/>
          </a:xfrm>
          <a:prstGeom prst="rect">
            <a:avLst/>
          </a:prstGeom>
          <a:noFill/>
        </p:spPr>
        <p:txBody>
          <a:bodyPr wrap="square">
            <a:spAutoFit/>
          </a:bodyPr>
          <a:lstStyle/>
          <a:p>
            <a:pPr algn="ctr"/>
            <a:r>
              <a:rPr lang="en-DE" b="1">
                <a:solidFill>
                  <a:schemeClr val="tx1"/>
                </a:solidFill>
                <a:latin typeface="Courier New" panose="02070309020205020404" pitchFamily="49" charset="0"/>
                <a:cs typeface="Courier New" panose="02070309020205020404" pitchFamily="49" charset="0"/>
              </a:rPr>
              <a:t>Exercise</a:t>
            </a:r>
          </a:p>
        </p:txBody>
      </p:sp>
      <p:pic>
        <p:nvPicPr>
          <p:cNvPr id="11" name="Graphic 10">
            <a:extLst>
              <a:ext uri="{FF2B5EF4-FFF2-40B4-BE49-F238E27FC236}">
                <a16:creationId xmlns:a16="http://schemas.microsoft.com/office/drawing/2014/main" id="{4100A633-F8F2-E59B-7BE8-C5F21118AEF6}"/>
              </a:ext>
            </a:extLst>
          </p:cNvPr>
          <p:cNvPicPr>
            <a:picLocks noChangeAspect="1"/>
          </p:cNvPicPr>
          <p:nvPr/>
        </p:nvPicPr>
        <p:blipFill>
          <a:blip>
            <a:extLst>
              <a:ext uri="{96DAC541-7B7A-43D3-8B79-37D633B846F1}">
                <asvg:svgBlip xmlns:asvg="http://schemas.microsoft.com/office/drawing/2016/SVG/main" r:embed="rId2"/>
              </a:ext>
            </a:extLst>
          </a:blip>
          <a:stretch>
            <a:fillRect/>
          </a:stretch>
        </p:blipFill>
        <p:spPr>
          <a:xfrm>
            <a:off x="7474831" y="274016"/>
            <a:ext cx="694459" cy="555568"/>
          </a:xfrm>
          <a:prstGeom prst="rect">
            <a:avLst/>
          </a:prstGeom>
        </p:spPr>
      </p:pic>
      <p:sp>
        <p:nvSpPr>
          <p:cNvPr id="13" name="TextBox 12">
            <a:extLst>
              <a:ext uri="{FF2B5EF4-FFF2-40B4-BE49-F238E27FC236}">
                <a16:creationId xmlns:a16="http://schemas.microsoft.com/office/drawing/2014/main" id="{53320516-5013-5786-E680-1CD41D26764D}"/>
              </a:ext>
            </a:extLst>
          </p:cNvPr>
          <p:cNvSpPr txBox="1"/>
          <p:nvPr/>
        </p:nvSpPr>
        <p:spPr>
          <a:xfrm>
            <a:off x="8302028" y="542883"/>
            <a:ext cx="3482604" cy="307777"/>
          </a:xfrm>
          <a:prstGeom prst="rect">
            <a:avLst/>
          </a:prstGeom>
          <a:noFill/>
        </p:spPr>
        <p:txBody>
          <a:bodyPr wrap="square">
            <a:spAutoFit/>
          </a:bodyPr>
          <a:lstStyle/>
          <a:p>
            <a:pPr algn="ctr"/>
            <a:r>
              <a:rPr lang="en-GB" sz="1400" dirty="0">
                <a:solidFill>
                  <a:schemeClr val="tx1"/>
                </a:solidFill>
                <a:latin typeface="Courier New" panose="02070309020205020404" pitchFamily="49" charset="0"/>
                <a:cs typeface="Courier New" panose="02070309020205020404" pitchFamily="49" charset="0"/>
              </a:rPr>
              <a:t>exercises/</a:t>
            </a:r>
            <a:r>
              <a:rPr lang="en-GB" sz="1400" dirty="0" err="1">
                <a:solidFill>
                  <a:schemeClr val="tx1"/>
                </a:solidFill>
                <a:latin typeface="Courier New" panose="02070309020205020404" pitchFamily="49" charset="0"/>
                <a:cs typeface="Courier New" panose="02070309020205020404" pitchFamily="49" charset="0"/>
              </a:rPr>
              <a:t>match_tarots</a:t>
            </a:r>
            <a:endParaRPr lang="en-DE" sz="1400">
              <a:solidFill>
                <a:schemeClr val="tx1"/>
              </a:solidFill>
              <a:latin typeface="Courier New" panose="02070309020205020404" pitchFamily="49" charset="0"/>
              <a:cs typeface="Courier New" panose="02070309020205020404" pitchFamily="49" charset="0"/>
            </a:endParaRPr>
          </a:p>
        </p:txBody>
      </p:sp>
      <p:sp>
        <p:nvSpPr>
          <p:cNvPr id="17" name="Title 3">
            <a:extLst>
              <a:ext uri="{FF2B5EF4-FFF2-40B4-BE49-F238E27FC236}">
                <a16:creationId xmlns:a16="http://schemas.microsoft.com/office/drawing/2014/main" id="{0082FB03-B5BF-D4F7-5592-04D6D43828A1}"/>
              </a:ext>
            </a:extLst>
          </p:cNvPr>
          <p:cNvSpPr>
            <a:spLocks noGrp="1"/>
          </p:cNvSpPr>
          <p:nvPr>
            <p:ph type="title"/>
          </p:nvPr>
        </p:nvSpPr>
        <p:spPr>
          <a:xfrm>
            <a:off x="346841" y="365126"/>
            <a:ext cx="6757271" cy="953312"/>
          </a:xfrm>
        </p:spPr>
        <p:txBody>
          <a:bodyPr>
            <a:normAutofit fontScale="90000"/>
          </a:bodyPr>
          <a:lstStyle/>
          <a:p>
            <a:r>
              <a:rPr lang="en-US" b="1" dirty="0"/>
              <a:t>Hands-on</a:t>
            </a:r>
            <a:br>
              <a:rPr lang="en-US" b="1" dirty="0"/>
            </a:br>
            <a:endParaRPr lang="en-CH" sz="3600" dirty="0"/>
          </a:p>
        </p:txBody>
      </p:sp>
    </p:spTree>
    <p:extLst>
      <p:ext uri="{BB962C8B-B14F-4D97-AF65-F5344CB8AC3E}">
        <p14:creationId xmlns:p14="http://schemas.microsoft.com/office/powerpoint/2010/main" val="2571986408"/>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99898EA9-22F5-16DF-63A1-0180EF71D553}"/>
              </a:ext>
            </a:extLst>
          </p:cNvPr>
          <p:cNvSpPr>
            <a:spLocks noGrp="1"/>
          </p:cNvSpPr>
          <p:nvPr>
            <p:ph type="title"/>
          </p:nvPr>
        </p:nvSpPr>
        <p:spPr>
          <a:xfrm>
            <a:off x="838200" y="2708920"/>
            <a:ext cx="10515600" cy="903635"/>
          </a:xfrm>
        </p:spPr>
        <p:txBody>
          <a:bodyPr>
            <a:normAutofit fontScale="90000"/>
          </a:bodyPr>
          <a:lstStyle/>
          <a:p>
            <a:pPr algn="ctr"/>
            <a:r>
              <a:rPr lang="en-CH" sz="5400" dirty="0"/>
              <a:t>COMING UP NEXT: </a:t>
            </a:r>
            <a:br>
              <a:rPr lang="en-CH" sz="5400" dirty="0"/>
            </a:br>
            <a:r>
              <a:rPr lang="en-CH" sz="5400" dirty="0"/>
              <a:t>NumPy and the array data structure</a:t>
            </a:r>
          </a:p>
        </p:txBody>
      </p:sp>
      <p:sp>
        <p:nvSpPr>
          <p:cNvPr id="3" name="Date Placeholder 2">
            <a:extLst>
              <a:ext uri="{FF2B5EF4-FFF2-40B4-BE49-F238E27FC236}">
                <a16:creationId xmlns:a16="http://schemas.microsoft.com/office/drawing/2014/main" id="{F459BBE2-A2A2-7EE1-1120-58A5181C884B}"/>
              </a:ext>
            </a:extLst>
          </p:cNvPr>
          <p:cNvSpPr>
            <a:spLocks noGrp="1"/>
          </p:cNvSpPr>
          <p:nvPr>
            <p:ph type="dt" sz="half" idx="10"/>
          </p:nvPr>
        </p:nvSpPr>
        <p:spPr/>
        <p:txBody>
          <a:bodyPr/>
          <a:lstStyle/>
          <a:p>
            <a:r>
              <a:rPr lang="de-CH"/>
              <a:t>August 2026, CC BY-SA 4.0</a:t>
            </a:r>
            <a:endParaRPr lang="en-US"/>
          </a:p>
        </p:txBody>
      </p:sp>
      <p:sp>
        <p:nvSpPr>
          <p:cNvPr id="4" name="Footer Placeholder 3">
            <a:extLst>
              <a:ext uri="{FF2B5EF4-FFF2-40B4-BE49-F238E27FC236}">
                <a16:creationId xmlns:a16="http://schemas.microsoft.com/office/drawing/2014/main" id="{3FCE048C-7643-4E0F-0055-1AF14D9F2051}"/>
              </a:ext>
            </a:extLst>
          </p:cNvPr>
          <p:cNvSpPr>
            <a:spLocks noGrp="1"/>
          </p:cNvSpPr>
          <p:nvPr>
            <p:ph type="ftr" sz="quarter" idx="11"/>
          </p:nvPr>
        </p:nvSpPr>
        <p:spPr/>
        <p:txBody>
          <a:bodyPr/>
          <a:lstStyle/>
          <a:p>
            <a:r>
              <a:rPr lang="en-US"/>
              <a:t>Data, v4.0</a:t>
            </a:r>
          </a:p>
        </p:txBody>
      </p:sp>
      <p:sp>
        <p:nvSpPr>
          <p:cNvPr id="5" name="Slide Number Placeholder 4">
            <a:extLst>
              <a:ext uri="{FF2B5EF4-FFF2-40B4-BE49-F238E27FC236}">
                <a16:creationId xmlns:a16="http://schemas.microsoft.com/office/drawing/2014/main" id="{397B6057-C196-6FBD-FEB5-531621B24D79}"/>
              </a:ext>
            </a:extLst>
          </p:cNvPr>
          <p:cNvSpPr>
            <a:spLocks noGrp="1"/>
          </p:cNvSpPr>
          <p:nvPr>
            <p:ph type="sldNum" sz="quarter" idx="12"/>
          </p:nvPr>
        </p:nvSpPr>
        <p:spPr/>
        <p:txBody>
          <a:bodyPr/>
          <a:lstStyle/>
          <a:p>
            <a:fld id="{EF79ADEA-B933-47CC-A4E9-04E6298B917C}" type="slidenum">
              <a:rPr lang="en-US" smtClean="0"/>
              <a:pPr/>
              <a:t>29</a:t>
            </a:fld>
            <a:endParaRPr lang="en-US"/>
          </a:p>
        </p:txBody>
      </p:sp>
    </p:spTree>
    <p:extLst>
      <p:ext uri="{BB962C8B-B14F-4D97-AF65-F5344CB8AC3E}">
        <p14:creationId xmlns:p14="http://schemas.microsoft.com/office/powerpoint/2010/main" val="2356265737"/>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r>
              <a:rPr lang="de-CH"/>
              <a:t>August 2026, CC BY-SA 4.0</a:t>
            </a:r>
            <a:endParaRPr lang="en-US"/>
          </a:p>
        </p:txBody>
      </p:sp>
      <p:sp>
        <p:nvSpPr>
          <p:cNvPr id="3" name="Footer Placeholder 2"/>
          <p:cNvSpPr>
            <a:spLocks noGrp="1"/>
          </p:cNvSpPr>
          <p:nvPr>
            <p:ph type="ftr" sz="quarter" idx="11"/>
          </p:nvPr>
        </p:nvSpPr>
        <p:spPr/>
        <p:txBody>
          <a:bodyPr/>
          <a:lstStyle/>
          <a:p>
            <a:r>
              <a:rPr lang="en-US"/>
              <a:t>Data, v4.0</a:t>
            </a:r>
          </a:p>
        </p:txBody>
      </p:sp>
      <p:sp>
        <p:nvSpPr>
          <p:cNvPr id="4" name="Slide Number Placeholder 3">
            <a:extLst>
              <a:ext uri="{FF2B5EF4-FFF2-40B4-BE49-F238E27FC236}">
                <a16:creationId xmlns:a16="http://schemas.microsoft.com/office/drawing/2014/main" id="{BFDC436E-642E-707E-1798-D9059C4A6AFE}"/>
              </a:ext>
            </a:extLst>
          </p:cNvPr>
          <p:cNvSpPr>
            <a:spLocks noGrp="1"/>
          </p:cNvSpPr>
          <p:nvPr>
            <p:ph type="sldNum" sz="quarter" idx="12"/>
          </p:nvPr>
        </p:nvSpPr>
        <p:spPr/>
        <p:txBody>
          <a:bodyPr/>
          <a:lstStyle/>
          <a:p>
            <a:fld id="{EF79ADEA-B933-47CC-A4E9-04E6298B917C}" type="slidenum">
              <a:rPr lang="en-US" smtClean="0"/>
              <a:pPr/>
              <a:t>30</a:t>
            </a:fld>
            <a:endParaRPr lang="en-US"/>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F9F9515C-7D99-9023-9C3D-5CBBCFA211A2}"/>
              </a:ext>
            </a:extLst>
          </p:cNvPr>
          <p:cNvSpPr>
            <a:spLocks noGrp="1"/>
          </p:cNvSpPr>
          <p:nvPr>
            <p:ph type="title"/>
          </p:nvPr>
        </p:nvSpPr>
        <p:spPr/>
        <p:txBody>
          <a:bodyPr/>
          <a:lstStyle/>
          <a:p>
            <a:r>
              <a:rPr lang="en-CH" dirty="0"/>
              <a:t>Some data structures</a:t>
            </a:r>
          </a:p>
        </p:txBody>
      </p:sp>
      <p:sp>
        <p:nvSpPr>
          <p:cNvPr id="3" name="Content Placeholder 2">
            <a:extLst>
              <a:ext uri="{FF2B5EF4-FFF2-40B4-BE49-F238E27FC236}">
                <a16:creationId xmlns:a16="http://schemas.microsoft.com/office/drawing/2014/main" id="{E22AC8BC-2D2E-EE2F-1BF8-004DFDC990AC}"/>
              </a:ext>
            </a:extLst>
          </p:cNvPr>
          <p:cNvSpPr>
            <a:spLocks noGrp="1"/>
          </p:cNvSpPr>
          <p:nvPr>
            <p:ph idx="1"/>
          </p:nvPr>
        </p:nvSpPr>
        <p:spPr/>
        <p:txBody>
          <a:bodyPr>
            <a:normAutofit fontScale="92500" lnSpcReduction="20000"/>
          </a:bodyPr>
          <a:lstStyle/>
          <a:p>
            <a:r>
              <a:rPr lang="en-CH" dirty="0"/>
              <a:t>list: ordered, heterogeneous storage, stack/queue, fast access by index, slow search</a:t>
            </a:r>
          </a:p>
          <a:p>
            <a:r>
              <a:rPr lang="en-CH" dirty="0"/>
              <a:t>set: unordered</a:t>
            </a:r>
          </a:p>
          <a:p>
            <a:r>
              <a:rPr lang="en-CH" dirty="0"/>
              <a:t>dictionary</a:t>
            </a:r>
          </a:p>
          <a:p>
            <a:r>
              <a:rPr lang="en-CH" dirty="0"/>
              <a:t>arrays: e.g. numpy, HDF5</a:t>
            </a:r>
          </a:p>
          <a:p>
            <a:r>
              <a:rPr lang="en-CH" dirty="0"/>
              <a:t>tables: e.g. pandas, dask, spark, SQL</a:t>
            </a:r>
          </a:p>
          <a:p>
            <a:r>
              <a:rPr lang="en-CH" dirty="0"/>
              <a:t>graph: social network structure</a:t>
            </a:r>
          </a:p>
          <a:p>
            <a:r>
              <a:rPr lang="en-CH" dirty="0"/>
              <a:t>tree: to rapidly search a dataset</a:t>
            </a:r>
          </a:p>
          <a:p>
            <a:r>
              <a:rPr lang="en-CH" dirty="0"/>
              <a:t>heap</a:t>
            </a:r>
          </a:p>
          <a:p>
            <a:r>
              <a:rPr lang="en-CH" dirty="0"/>
              <a:t>stack</a:t>
            </a:r>
          </a:p>
          <a:p>
            <a:r>
              <a:rPr lang="en-CH" dirty="0"/>
              <a:t>queue</a:t>
            </a:r>
          </a:p>
          <a:p>
            <a:r>
              <a:rPr lang="en-CH" dirty="0"/>
              <a:t>priority  queue</a:t>
            </a:r>
          </a:p>
          <a:p>
            <a:endParaRPr lang="en-CH" dirty="0"/>
          </a:p>
        </p:txBody>
      </p:sp>
      <p:sp>
        <p:nvSpPr>
          <p:cNvPr id="4" name="Date Placeholder 3">
            <a:extLst>
              <a:ext uri="{FF2B5EF4-FFF2-40B4-BE49-F238E27FC236}">
                <a16:creationId xmlns:a16="http://schemas.microsoft.com/office/drawing/2014/main" id="{D4EE8F24-C040-069D-3781-7A64F9F50CEC}"/>
              </a:ext>
            </a:extLst>
          </p:cNvPr>
          <p:cNvSpPr>
            <a:spLocks noGrp="1"/>
          </p:cNvSpPr>
          <p:nvPr>
            <p:ph type="dt" sz="half" idx="10"/>
          </p:nvPr>
        </p:nvSpPr>
        <p:spPr/>
        <p:txBody>
          <a:bodyPr/>
          <a:lstStyle/>
          <a:p>
            <a:r>
              <a:rPr lang="de-CH"/>
              <a:t>August 2026, CC BY-SA 4.0</a:t>
            </a:r>
            <a:endParaRPr lang="en-US"/>
          </a:p>
        </p:txBody>
      </p:sp>
      <p:sp>
        <p:nvSpPr>
          <p:cNvPr id="5" name="Footer Placeholder 4">
            <a:extLst>
              <a:ext uri="{FF2B5EF4-FFF2-40B4-BE49-F238E27FC236}">
                <a16:creationId xmlns:a16="http://schemas.microsoft.com/office/drawing/2014/main" id="{8EF72508-C792-BDB2-E7F2-9A730516205B}"/>
              </a:ext>
            </a:extLst>
          </p:cNvPr>
          <p:cNvSpPr>
            <a:spLocks noGrp="1"/>
          </p:cNvSpPr>
          <p:nvPr>
            <p:ph type="ftr" sz="quarter" idx="11"/>
          </p:nvPr>
        </p:nvSpPr>
        <p:spPr/>
        <p:txBody>
          <a:bodyPr/>
          <a:lstStyle/>
          <a:p>
            <a:r>
              <a:rPr lang="en-US"/>
              <a:t>Data, v4.0</a:t>
            </a:r>
          </a:p>
        </p:txBody>
      </p:sp>
      <p:sp>
        <p:nvSpPr>
          <p:cNvPr id="6" name="Slide Number Placeholder 5">
            <a:extLst>
              <a:ext uri="{FF2B5EF4-FFF2-40B4-BE49-F238E27FC236}">
                <a16:creationId xmlns:a16="http://schemas.microsoft.com/office/drawing/2014/main" id="{BA7EFFF3-AA8D-50AA-184B-7C58AC566301}"/>
              </a:ext>
            </a:extLst>
          </p:cNvPr>
          <p:cNvSpPr>
            <a:spLocks noGrp="1"/>
          </p:cNvSpPr>
          <p:nvPr>
            <p:ph type="sldNum" sz="quarter" idx="12"/>
          </p:nvPr>
        </p:nvSpPr>
        <p:spPr/>
        <p:txBody>
          <a:bodyPr/>
          <a:lstStyle/>
          <a:p>
            <a:fld id="{EF79ADEA-B933-47CC-A4E9-04E6298B917C}" type="slidenum">
              <a:rPr lang="en-US" smtClean="0"/>
              <a:pPr/>
              <a:t>31</a:t>
            </a:fld>
            <a:endParaRPr lang="en-US"/>
          </a:p>
        </p:txBody>
      </p:sp>
    </p:spTree>
    <p:extLst>
      <p:ext uri="{BB962C8B-B14F-4D97-AF65-F5344CB8AC3E}">
        <p14:creationId xmlns:p14="http://schemas.microsoft.com/office/powerpoint/2010/main" val="3263027092"/>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
      <a:dk1>
        <a:srgbClr val="000000"/>
      </a:dk1>
      <a:lt1>
        <a:srgbClr val="FFFFFF"/>
      </a:lt1>
      <a:dk2>
        <a:srgbClr val="000000"/>
      </a:dk2>
      <a:lt2>
        <a:srgbClr val="808080"/>
      </a:lt2>
      <a:accent1>
        <a:srgbClr val="BBE0E3"/>
      </a:accent1>
      <a:accent2>
        <a:srgbClr val="333399"/>
      </a:accent2>
      <a:accent3>
        <a:srgbClr val="FFFFFF"/>
      </a:accent3>
      <a:accent4>
        <a:srgbClr val="000000"/>
      </a:accent4>
      <a:accent5>
        <a:srgbClr val="DAEDEF"/>
      </a:accent5>
      <a:accent6>
        <a:srgbClr val="2D2D8A"/>
      </a:accent6>
      <a:hlink>
        <a:srgbClr val="009999"/>
      </a:hlink>
      <a:folHlink>
        <a:srgbClr val="99CC0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shade val="51000"/>
                <a:satMod val="130000"/>
              </a:schemeClr>
            </a:gs>
            <a:gs pos="80000">
              <a:schemeClr val="phClr">
                <a:shade val="93000"/>
                <a:satMod val="130000"/>
              </a:schemeClr>
            </a:gs>
            <a:gs pos="100000">
              <a:schemeClr val="phClr">
                <a:shade val="94000"/>
                <a:satMod val="135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extraClrScheme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emplate/>
  <TotalTime>104457</TotalTime>
  <Words>1712</Words>
  <Application>Microsoft Macintosh PowerPoint</Application>
  <PresentationFormat>Widescreen</PresentationFormat>
  <Paragraphs>329</Paragraphs>
  <Slides>31</Slides>
  <Notes>7</Notes>
  <HiddenSlides>0</HiddenSlides>
  <MMClips>0</MMClips>
  <ScaleCrop>false</ScaleCrop>
  <HeadingPairs>
    <vt:vector size="6" baseType="variant">
      <vt:variant>
        <vt:lpstr>Fonts Used</vt:lpstr>
      </vt:variant>
      <vt:variant>
        <vt:i4>6</vt:i4>
      </vt:variant>
      <vt:variant>
        <vt:lpstr>Theme</vt:lpstr>
      </vt:variant>
      <vt:variant>
        <vt:i4>1</vt:i4>
      </vt:variant>
      <vt:variant>
        <vt:lpstr>Slide Titles</vt:lpstr>
      </vt:variant>
      <vt:variant>
        <vt:i4>31</vt:i4>
      </vt:variant>
    </vt:vector>
  </HeadingPairs>
  <TitlesOfParts>
    <vt:vector size="38" baseType="lpstr">
      <vt:lpstr>Arial</vt:lpstr>
      <vt:lpstr>Calibri</vt:lpstr>
      <vt:lpstr>Calibri Light</vt:lpstr>
      <vt:lpstr>Consolas</vt:lpstr>
      <vt:lpstr>Courier New</vt:lpstr>
      <vt:lpstr>Wingdings</vt:lpstr>
      <vt:lpstr>Office Theme</vt:lpstr>
      <vt:lpstr>PowerPoint Presentation</vt:lpstr>
      <vt:lpstr>Things one thinks about when thinking about data</vt:lpstr>
      <vt:lpstr>Things one thinks about when thinking about data</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Hands-on What data structure would you use to represent…</vt:lpstr>
      <vt:lpstr>You develop your code on a small data set, how is it going to scale to the complete data set? </vt:lpstr>
      <vt:lpstr>Example: Find common words</vt:lpstr>
      <vt:lpstr>Implementation with two for-loops</vt:lpstr>
      <vt:lpstr>Implementation with two for-loops</vt:lpstr>
      <vt:lpstr>Implementation with sorted lists</vt:lpstr>
      <vt:lpstr>Implementation with sorted lists</vt:lpstr>
      <vt:lpstr>Implementation with sets</vt:lpstr>
      <vt:lpstr>Implementation with sets</vt:lpstr>
      <vt:lpstr>What difference does it make? N = 1’000’000</vt:lpstr>
      <vt:lpstr>How does parallelizing change the performance? (rewriting in C, parallelization; same algorithm)</vt:lpstr>
      <vt:lpstr>How does parallelizing change the performance? (rewriting in C, parallelization; same algorithm)</vt:lpstr>
      <vt:lpstr>How does parallelizing change the performance? (rewriting in C, parallelization; same algorithm)</vt:lpstr>
      <vt:lpstr>How does parallelizing change the performance? (rewriting in C, parallelization; same algorithm)</vt:lpstr>
      <vt:lpstr>How performance scales: big-O</vt:lpstr>
      <vt:lpstr>Basic reference sheet about Python data structures </vt:lpstr>
      <vt:lpstr>Hands-on </vt:lpstr>
      <vt:lpstr>COMING UP NEXT:  NumPy and the array data structure</vt:lpstr>
      <vt:lpstr>PowerPoint Presentation</vt:lpstr>
      <vt:lpstr>Some data structures</vt:lpstr>
    </vt:vector>
  </TitlesOfParts>
  <Company>University of Pennsylvania</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PowerPoint Presentation</dc:title>
  <dc:creator>Pietro Berkes</dc:creator>
  <cp:lastModifiedBy>Pietro Berkes</cp:lastModifiedBy>
  <cp:revision>1685</cp:revision>
  <cp:lastPrinted>2017-08-28T05:46:03Z</cp:lastPrinted>
  <dcterms:created xsi:type="dcterms:W3CDTF">2010-10-01T16:09:12Z</dcterms:created>
  <dcterms:modified xsi:type="dcterms:W3CDTF">2026-08-31T08:50:19Z</dcterms:modified>
</cp:coreProperties>
</file>